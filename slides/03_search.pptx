
<file path=[Content_Types].xml><?xml version="1.0" encoding="utf-8"?>
<Types xmlns="http://schemas.openxmlformats.org/package/2006/content-types">
  <Default Extension="gif" ContentType="image/gif"/>
  <Default Extension="jpeg" ContentType="image/jpeg"/>
  <Default Extension="png" ContentType="image/png"/>
  <Default Extension="rels" ContentType="application/vnd.openxmlformats-package.relationships+xml"/>
  <Default Extension="wdp" ContentType="image/vnd.ms-photo"/>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diagrams/data2.xml" ContentType="application/vnd.openxmlformats-officedocument.drawingml.diagramData+xml"/>
  <Override PartName="/ppt/diagrams/layout2.xml" ContentType="application/vnd.openxmlformats-officedocument.drawingml.diagramLayout+xml"/>
  <Override PartName="/ppt/diagrams/quickStyle2.xml" ContentType="application/vnd.openxmlformats-officedocument.drawingml.diagramStyle+xml"/>
  <Override PartName="/ppt/diagrams/colors2.xml" ContentType="application/vnd.openxmlformats-officedocument.drawingml.diagramColors+xml"/>
  <Override PartName="/ppt/diagrams/drawing2.xml" ContentType="application/vnd.ms-office.drawingml.diagramDrawing+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78" r:id="rId1"/>
  </p:sldMasterIdLst>
  <p:notesMasterIdLst>
    <p:notesMasterId r:id="rId98"/>
  </p:notesMasterIdLst>
  <p:sldIdLst>
    <p:sldId id="257" r:id="rId2"/>
    <p:sldId id="434" r:id="rId3"/>
    <p:sldId id="447" r:id="rId4"/>
    <p:sldId id="349" r:id="rId5"/>
    <p:sldId id="282" r:id="rId6"/>
    <p:sldId id="350" r:id="rId7"/>
    <p:sldId id="331" r:id="rId8"/>
    <p:sldId id="427" r:id="rId9"/>
    <p:sldId id="260" r:id="rId10"/>
    <p:sldId id="333" r:id="rId11"/>
    <p:sldId id="271" r:id="rId12"/>
    <p:sldId id="273" r:id="rId13"/>
    <p:sldId id="444" r:id="rId14"/>
    <p:sldId id="401" r:id="rId15"/>
    <p:sldId id="426" r:id="rId16"/>
    <p:sldId id="274" r:id="rId17"/>
    <p:sldId id="415" r:id="rId18"/>
    <p:sldId id="334" r:id="rId19"/>
    <p:sldId id="275" r:id="rId20"/>
    <p:sldId id="315" r:id="rId21"/>
    <p:sldId id="316" r:id="rId22"/>
    <p:sldId id="278" r:id="rId23"/>
    <p:sldId id="418" r:id="rId24"/>
    <p:sldId id="429" r:id="rId25"/>
    <p:sldId id="256" r:id="rId26"/>
    <p:sldId id="419" r:id="rId27"/>
    <p:sldId id="258" r:id="rId28"/>
    <p:sldId id="259" r:id="rId29"/>
    <p:sldId id="425" r:id="rId30"/>
    <p:sldId id="428" r:id="rId31"/>
    <p:sldId id="436" r:id="rId32"/>
    <p:sldId id="430" r:id="rId33"/>
    <p:sldId id="431" r:id="rId34"/>
    <p:sldId id="432" r:id="rId35"/>
    <p:sldId id="448" r:id="rId36"/>
    <p:sldId id="396" r:id="rId37"/>
    <p:sldId id="279" r:id="rId38"/>
    <p:sldId id="413" r:id="rId39"/>
    <p:sldId id="402" r:id="rId40"/>
    <p:sldId id="420" r:id="rId41"/>
    <p:sldId id="399" r:id="rId42"/>
    <p:sldId id="284" r:id="rId43"/>
    <p:sldId id="285" r:id="rId44"/>
    <p:sldId id="407" r:id="rId45"/>
    <p:sldId id="439" r:id="rId46"/>
    <p:sldId id="414" r:id="rId47"/>
    <p:sldId id="405" r:id="rId48"/>
    <p:sldId id="398" r:id="rId49"/>
    <p:sldId id="298" r:id="rId50"/>
    <p:sldId id="300" r:id="rId51"/>
    <p:sldId id="301" r:id="rId52"/>
    <p:sldId id="406" r:id="rId53"/>
    <p:sldId id="306" r:id="rId54"/>
    <p:sldId id="395" r:id="rId55"/>
    <p:sldId id="353" r:id="rId56"/>
    <p:sldId id="354" r:id="rId57"/>
    <p:sldId id="355" r:id="rId58"/>
    <p:sldId id="390" r:id="rId59"/>
    <p:sldId id="358" r:id="rId60"/>
    <p:sldId id="391" r:id="rId61"/>
    <p:sldId id="360" r:id="rId62"/>
    <p:sldId id="362" r:id="rId63"/>
    <p:sldId id="422" r:id="rId64"/>
    <p:sldId id="363" r:id="rId65"/>
    <p:sldId id="441" r:id="rId66"/>
    <p:sldId id="364" r:id="rId67"/>
    <p:sldId id="365" r:id="rId68"/>
    <p:sldId id="366" r:id="rId69"/>
    <p:sldId id="367" r:id="rId70"/>
    <p:sldId id="368" r:id="rId71"/>
    <p:sldId id="369" r:id="rId72"/>
    <p:sldId id="370" r:id="rId73"/>
    <p:sldId id="371" r:id="rId74"/>
    <p:sldId id="386" r:id="rId75"/>
    <p:sldId id="423" r:id="rId76"/>
    <p:sldId id="372" r:id="rId77"/>
    <p:sldId id="382" r:id="rId78"/>
    <p:sldId id="374" r:id="rId79"/>
    <p:sldId id="445" r:id="rId80"/>
    <p:sldId id="442" r:id="rId81"/>
    <p:sldId id="375" r:id="rId82"/>
    <p:sldId id="376" r:id="rId83"/>
    <p:sldId id="404" r:id="rId84"/>
    <p:sldId id="379" r:id="rId85"/>
    <p:sldId id="377" r:id="rId86"/>
    <p:sldId id="380" r:id="rId87"/>
    <p:sldId id="378" r:id="rId88"/>
    <p:sldId id="387" r:id="rId89"/>
    <p:sldId id="392" r:id="rId90"/>
    <p:sldId id="443" r:id="rId91"/>
    <p:sldId id="446" r:id="rId92"/>
    <p:sldId id="288" r:id="rId93"/>
    <p:sldId id="433" r:id="rId94"/>
    <p:sldId id="384" r:id="rId95"/>
    <p:sldId id="416" r:id="rId96"/>
    <p:sldId id="424" r:id="rId97"/>
  </p:sldIdLst>
  <p:sldSz cx="9144000" cy="6858000" type="screen4x3"/>
  <p:notesSz cx="7315200" cy="96012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troduction" id="{28FD3558-7257-4813-90D5-F6826D640FDB}">
          <p14:sldIdLst>
            <p14:sldId id="257"/>
            <p14:sldId id="434"/>
          </p14:sldIdLst>
        </p14:section>
        <p14:section name="Search Problems" id="{62C389E9-A037-4E1B-8469-5E9846784FDE}">
          <p14:sldIdLst>
            <p14:sldId id="447"/>
            <p14:sldId id="349"/>
            <p14:sldId id="282"/>
            <p14:sldId id="350"/>
            <p14:sldId id="331"/>
            <p14:sldId id="427"/>
            <p14:sldId id="260"/>
            <p14:sldId id="333"/>
            <p14:sldId id="271"/>
            <p14:sldId id="273"/>
          </p14:sldIdLst>
        </p14:section>
        <p14:section name="Tree Search" id="{412A62B4-1FE7-4079-ACC5-C0C901B35D7C}">
          <p14:sldIdLst>
            <p14:sldId id="444"/>
            <p14:sldId id="401"/>
            <p14:sldId id="426"/>
            <p14:sldId id="274"/>
            <p14:sldId id="415"/>
            <p14:sldId id="334"/>
            <p14:sldId id="275"/>
            <p14:sldId id="315"/>
            <p14:sldId id="316"/>
            <p14:sldId id="278"/>
          </p14:sldIdLst>
        </p14:section>
        <p14:section name="State Space" id="{060036DA-9511-4E45-9F7A-76D3D68890B2}">
          <p14:sldIdLst>
            <p14:sldId id="418"/>
            <p14:sldId id="429"/>
            <p14:sldId id="256"/>
            <p14:sldId id="419"/>
            <p14:sldId id="258"/>
            <p14:sldId id="259"/>
            <p14:sldId id="425"/>
            <p14:sldId id="428"/>
            <p14:sldId id="436"/>
            <p14:sldId id="430"/>
            <p14:sldId id="431"/>
            <p14:sldId id="432"/>
            <p14:sldId id="448"/>
          </p14:sldIdLst>
        </p14:section>
        <p14:section name="Uninformed Search: Breadth-first strategy" id="{414669F5-57E2-441C-ACC3-212322309E85}">
          <p14:sldIdLst>
            <p14:sldId id="396"/>
            <p14:sldId id="279"/>
            <p14:sldId id="413"/>
            <p14:sldId id="402"/>
            <p14:sldId id="420"/>
            <p14:sldId id="399"/>
            <p14:sldId id="284"/>
            <p14:sldId id="285"/>
            <p14:sldId id="407"/>
          </p14:sldIdLst>
        </p14:section>
        <p14:section name="Uninformed Search: Depth-First Strategy" id="{AB03A99E-5E27-407F-871A-DE2D977F8D72}">
          <p14:sldIdLst>
            <p14:sldId id="439"/>
            <p14:sldId id="414"/>
            <p14:sldId id="405"/>
            <p14:sldId id="398"/>
            <p14:sldId id="298"/>
            <p14:sldId id="300"/>
            <p14:sldId id="301"/>
            <p14:sldId id="406"/>
            <p14:sldId id="306"/>
          </p14:sldIdLst>
        </p14:section>
        <p14:section name="Informed Search: Greedy Best-First Search" id="{E25CABB0-588C-4F8C-8F53-C2939B47CCE5}">
          <p14:sldIdLst>
            <p14:sldId id="395"/>
            <p14:sldId id="353"/>
            <p14:sldId id="354"/>
            <p14:sldId id="355"/>
            <p14:sldId id="390"/>
            <p14:sldId id="358"/>
            <p14:sldId id="391"/>
            <p14:sldId id="360"/>
            <p14:sldId id="362"/>
            <p14:sldId id="422"/>
            <p14:sldId id="363"/>
          </p14:sldIdLst>
        </p14:section>
        <p14:section name="Informed Search: A* Search" id="{898F2598-AA96-4FB6-AC2D-C308043A1C4A}">
          <p14:sldIdLst>
            <p14:sldId id="441"/>
            <p14:sldId id="364"/>
            <p14:sldId id="365"/>
            <p14:sldId id="366"/>
            <p14:sldId id="367"/>
            <p14:sldId id="368"/>
            <p14:sldId id="369"/>
            <p14:sldId id="370"/>
            <p14:sldId id="371"/>
            <p14:sldId id="386"/>
            <p14:sldId id="423"/>
            <p14:sldId id="372"/>
            <p14:sldId id="382"/>
            <p14:sldId id="374"/>
            <p14:sldId id="445"/>
          </p14:sldIdLst>
        </p14:section>
        <p14:section name="Designing Heuristics for Informed Search" id="{1EC0CE7D-150E-44BA-BD6D-B192C6B78443}">
          <p14:sldIdLst>
            <p14:sldId id="442"/>
            <p14:sldId id="375"/>
            <p14:sldId id="376"/>
            <p14:sldId id="404"/>
            <p14:sldId id="379"/>
            <p14:sldId id="377"/>
            <p14:sldId id="380"/>
            <p14:sldId id="378"/>
            <p14:sldId id="387"/>
            <p14:sldId id="392"/>
          </p14:sldIdLst>
        </p14:section>
        <p14:section name="Summary" id="{B419AB6B-658F-48B9-9342-4C02D6BA1150}">
          <p14:sldIdLst>
            <p14:sldId id="443"/>
            <p14:sldId id="446"/>
            <p14:sldId id="288"/>
            <p14:sldId id="433"/>
            <p14:sldId id="384"/>
            <p14:sldId id="416"/>
            <p14:sldId id="424"/>
          </p14:sldIdLst>
        </p14:section>
      </p14:sectionLst>
    </p:ex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BADBEC"/>
    <a:srgbClr val="FFC000"/>
    <a:srgbClr val="CC0099"/>
    <a:srgbClr val="FF0000"/>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1380" autoAdjust="0"/>
    <p:restoredTop sz="86391" autoAdjust="0"/>
  </p:normalViewPr>
  <p:slideViewPr>
    <p:cSldViewPr>
      <p:cViewPr varScale="1">
        <p:scale>
          <a:sx n="139" d="100"/>
          <a:sy n="139" d="100"/>
        </p:scale>
        <p:origin x="2160" y="80"/>
      </p:cViewPr>
      <p:guideLst>
        <p:guide orient="horz" pos="2160"/>
        <p:guide pos="2880"/>
      </p:guideLst>
    </p:cSldViewPr>
  </p:slideViewPr>
  <p:outlineViewPr>
    <p:cViewPr>
      <p:scale>
        <a:sx n="33" d="100"/>
        <a:sy n="33" d="100"/>
      </p:scale>
      <p:origin x="0" y="-684"/>
    </p:cViewPr>
  </p:outlineViewPr>
  <p:notesTextViewPr>
    <p:cViewPr>
      <p:scale>
        <a:sx n="3" d="2"/>
        <a:sy n="3" d="2"/>
      </p:scale>
      <p:origin x="0" y="0"/>
    </p:cViewPr>
  </p:notesTextViewPr>
  <p:sorterViewPr>
    <p:cViewPr>
      <p:scale>
        <a:sx n="100" d="100"/>
        <a:sy n="100" d="100"/>
      </p:scale>
      <p:origin x="0" y="-15724"/>
    </p:cViewPr>
  </p:sorterViewPr>
  <p:gridSpacing cx="76200" cy="76200"/>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slide" Target="slides/slide67.xml"/><Relationship Id="rId84" Type="http://schemas.openxmlformats.org/officeDocument/2006/relationships/slide" Target="slides/slide83.xml"/><Relationship Id="rId89" Type="http://schemas.openxmlformats.org/officeDocument/2006/relationships/slide" Target="slides/slide88.xml"/><Relationship Id="rId16" Type="http://schemas.openxmlformats.org/officeDocument/2006/relationships/slide" Target="slides/slide15.xml"/><Relationship Id="rId11" Type="http://schemas.openxmlformats.org/officeDocument/2006/relationships/slide" Target="slides/slide10.xml"/><Relationship Id="rId32" Type="http://schemas.openxmlformats.org/officeDocument/2006/relationships/slide" Target="slides/slide31.xml"/><Relationship Id="rId37" Type="http://schemas.openxmlformats.org/officeDocument/2006/relationships/slide" Target="slides/slide36.xml"/><Relationship Id="rId53" Type="http://schemas.openxmlformats.org/officeDocument/2006/relationships/slide" Target="slides/slide52.xml"/><Relationship Id="rId58" Type="http://schemas.openxmlformats.org/officeDocument/2006/relationships/slide" Target="slides/slide57.xml"/><Relationship Id="rId74" Type="http://schemas.openxmlformats.org/officeDocument/2006/relationships/slide" Target="slides/slide73.xml"/><Relationship Id="rId79" Type="http://schemas.openxmlformats.org/officeDocument/2006/relationships/slide" Target="slides/slide78.xml"/><Relationship Id="rId102" Type="http://schemas.openxmlformats.org/officeDocument/2006/relationships/tableStyles" Target="tableStyles.xml"/><Relationship Id="rId5" Type="http://schemas.openxmlformats.org/officeDocument/2006/relationships/slide" Target="slides/slide4.xml"/><Relationship Id="rId90" Type="http://schemas.openxmlformats.org/officeDocument/2006/relationships/slide" Target="slides/slide89.xml"/><Relationship Id="rId95" Type="http://schemas.openxmlformats.org/officeDocument/2006/relationships/slide" Target="slides/slide94.xml"/><Relationship Id="rId22" Type="http://schemas.openxmlformats.org/officeDocument/2006/relationships/slide" Target="slides/slide21.xml"/><Relationship Id="rId27" Type="http://schemas.openxmlformats.org/officeDocument/2006/relationships/slide" Target="slides/slide26.xml"/><Relationship Id="rId43" Type="http://schemas.openxmlformats.org/officeDocument/2006/relationships/slide" Target="slides/slide42.xml"/><Relationship Id="rId48" Type="http://schemas.openxmlformats.org/officeDocument/2006/relationships/slide" Target="slides/slide47.xml"/><Relationship Id="rId64" Type="http://schemas.openxmlformats.org/officeDocument/2006/relationships/slide" Target="slides/slide63.xml"/><Relationship Id="rId69" Type="http://schemas.openxmlformats.org/officeDocument/2006/relationships/slide" Target="slides/slide68.xml"/><Relationship Id="rId80" Type="http://schemas.openxmlformats.org/officeDocument/2006/relationships/slide" Target="slides/slide79.xml"/><Relationship Id="rId85" Type="http://schemas.openxmlformats.org/officeDocument/2006/relationships/slide" Target="slides/slide84.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67" Type="http://schemas.openxmlformats.org/officeDocument/2006/relationships/slide" Target="slides/slide66.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slide" Target="slides/slide61.xml"/><Relationship Id="rId70" Type="http://schemas.openxmlformats.org/officeDocument/2006/relationships/slide" Target="slides/slide69.xml"/><Relationship Id="rId75" Type="http://schemas.openxmlformats.org/officeDocument/2006/relationships/slide" Target="slides/slide74.xml"/><Relationship Id="rId83" Type="http://schemas.openxmlformats.org/officeDocument/2006/relationships/slide" Target="slides/slide82.xml"/><Relationship Id="rId88" Type="http://schemas.openxmlformats.org/officeDocument/2006/relationships/slide" Target="slides/slide87.xml"/><Relationship Id="rId91" Type="http://schemas.openxmlformats.org/officeDocument/2006/relationships/slide" Target="slides/slide90.xml"/><Relationship Id="rId96" Type="http://schemas.openxmlformats.org/officeDocument/2006/relationships/slide" Target="slides/slide95.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slide" Target="slides/slide64.xml"/><Relationship Id="rId73" Type="http://schemas.openxmlformats.org/officeDocument/2006/relationships/slide" Target="slides/slide72.xml"/><Relationship Id="rId78" Type="http://schemas.openxmlformats.org/officeDocument/2006/relationships/slide" Target="slides/slide77.xml"/><Relationship Id="rId81" Type="http://schemas.openxmlformats.org/officeDocument/2006/relationships/slide" Target="slides/slide80.xml"/><Relationship Id="rId86" Type="http://schemas.openxmlformats.org/officeDocument/2006/relationships/slide" Target="slides/slide85.xml"/><Relationship Id="rId94" Type="http://schemas.openxmlformats.org/officeDocument/2006/relationships/slide" Target="slides/slide93.xml"/><Relationship Id="rId99" Type="http://schemas.openxmlformats.org/officeDocument/2006/relationships/presProps" Target="presProps.xml"/><Relationship Id="rId101"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slide" Target="slides/slide75.xml"/><Relationship Id="rId97" Type="http://schemas.openxmlformats.org/officeDocument/2006/relationships/slide" Target="slides/slide96.xml"/><Relationship Id="rId7" Type="http://schemas.openxmlformats.org/officeDocument/2006/relationships/slide" Target="slides/slide6.xml"/><Relationship Id="rId71" Type="http://schemas.openxmlformats.org/officeDocument/2006/relationships/slide" Target="slides/slide70.xml"/><Relationship Id="rId92" Type="http://schemas.openxmlformats.org/officeDocument/2006/relationships/slide" Target="slides/slide91.xml"/><Relationship Id="rId2" Type="http://schemas.openxmlformats.org/officeDocument/2006/relationships/slide" Target="slides/slide1.xml"/><Relationship Id="rId29" Type="http://schemas.openxmlformats.org/officeDocument/2006/relationships/slide" Target="slides/slide28.xml"/><Relationship Id="rId24" Type="http://schemas.openxmlformats.org/officeDocument/2006/relationships/slide" Target="slides/slide23.xml"/><Relationship Id="rId40" Type="http://schemas.openxmlformats.org/officeDocument/2006/relationships/slide" Target="slides/slide39.xml"/><Relationship Id="rId45" Type="http://schemas.openxmlformats.org/officeDocument/2006/relationships/slide" Target="slides/slide44.xml"/><Relationship Id="rId66" Type="http://schemas.openxmlformats.org/officeDocument/2006/relationships/slide" Target="slides/slide65.xml"/><Relationship Id="rId87" Type="http://schemas.openxmlformats.org/officeDocument/2006/relationships/slide" Target="slides/slide86.xml"/><Relationship Id="rId61" Type="http://schemas.openxmlformats.org/officeDocument/2006/relationships/slide" Target="slides/slide60.xml"/><Relationship Id="rId82" Type="http://schemas.openxmlformats.org/officeDocument/2006/relationships/slide" Target="slides/slide81.xml"/><Relationship Id="rId19" Type="http://schemas.openxmlformats.org/officeDocument/2006/relationships/slide" Target="slides/slide18.xml"/><Relationship Id="rId14" Type="http://schemas.openxmlformats.org/officeDocument/2006/relationships/slide" Target="slides/slide13.xml"/><Relationship Id="rId30" Type="http://schemas.openxmlformats.org/officeDocument/2006/relationships/slide" Target="slides/slide29.xml"/><Relationship Id="rId35" Type="http://schemas.openxmlformats.org/officeDocument/2006/relationships/slide" Target="slides/slide34.xml"/><Relationship Id="rId56" Type="http://schemas.openxmlformats.org/officeDocument/2006/relationships/slide" Target="slides/slide55.xml"/><Relationship Id="rId77" Type="http://schemas.openxmlformats.org/officeDocument/2006/relationships/slide" Target="slides/slide76.xml"/><Relationship Id="rId100" Type="http://schemas.openxmlformats.org/officeDocument/2006/relationships/viewProps" Target="viewProps.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93" Type="http://schemas.openxmlformats.org/officeDocument/2006/relationships/slide" Target="slides/slide92.xml"/><Relationship Id="rId98" Type="http://schemas.openxmlformats.org/officeDocument/2006/relationships/notesMaster" Target="notesMasters/notesMaster1.xml"/><Relationship Id="rId3" Type="http://schemas.openxmlformats.org/officeDocument/2006/relationships/slide" Target="slides/slide2.xml"/></Relationships>
</file>

<file path=ppt/diagrams/colors1.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277C6803-CA4B-420D-A759-A0176716CDEC}" type="doc">
      <dgm:prSet loTypeId="urn:microsoft.com/office/officeart/2005/8/layout/hProcess9" loCatId="process" qsTypeId="urn:microsoft.com/office/officeart/2005/8/quickstyle/simple1" qsCatId="simple" csTypeId="urn:microsoft.com/office/officeart/2005/8/colors/accent1_2" csCatId="accent1" phldr="1"/>
      <dgm:spPr/>
      <dgm:t>
        <a:bodyPr/>
        <a:lstStyle/>
        <a:p>
          <a:endParaRPr lang="en-US"/>
        </a:p>
      </dgm:t>
    </dgm:pt>
    <dgm:pt modelId="{0BB3CC82-3478-4D41-B047-5280D6218386}">
      <dgm:prSet/>
      <dgm:spPr/>
      <dgm:t>
        <a:bodyPr/>
        <a:lstStyle/>
        <a:p>
          <a:r>
            <a:rPr lang="en-US" dirty="0"/>
            <a:t>What are search problems?</a:t>
          </a:r>
        </a:p>
      </dgm:t>
    </dgm:pt>
    <dgm:pt modelId="{EC9FA683-7C9F-4F3C-9D7B-F4134175B941}" type="parTrans" cxnId="{4D78158A-6127-4485-9228-4830BE8F9308}">
      <dgm:prSet/>
      <dgm:spPr/>
      <dgm:t>
        <a:bodyPr/>
        <a:lstStyle/>
        <a:p>
          <a:endParaRPr lang="en-US"/>
        </a:p>
      </dgm:t>
    </dgm:pt>
    <dgm:pt modelId="{4AA0B62A-EBAA-4094-BAAD-7D30DA2065F6}" type="sibTrans" cxnId="{4D78158A-6127-4485-9228-4830BE8F9308}">
      <dgm:prSet/>
      <dgm:spPr/>
      <dgm:t>
        <a:bodyPr/>
        <a:lstStyle/>
        <a:p>
          <a:endParaRPr lang="en-US"/>
        </a:p>
      </dgm:t>
    </dgm:pt>
    <dgm:pt modelId="{4A686FD9-F517-4034-849B-38895D14ED95}">
      <dgm:prSet>
        <dgm:style>
          <a:lnRef idx="0">
            <a:scrgbClr r="0" g="0" b="0"/>
          </a:lnRef>
          <a:fillRef idx="0">
            <a:scrgbClr r="0" g="0" b="0"/>
          </a:fillRef>
          <a:effectRef idx="0">
            <a:scrgbClr r="0" g="0" b="0"/>
          </a:effectRef>
          <a:fontRef idx="minor">
            <a:schemeClr val="accent1"/>
          </a:fontRef>
        </dgm:style>
      </dgm:prSet>
      <dgm:spPr>
        <a:noFill/>
        <a:ln w="9525" cap="flat" cmpd="sng" algn="ctr">
          <a:solidFill>
            <a:schemeClr val="accent1"/>
          </a:solidFill>
          <a:prstDash val="solid"/>
          <a:round/>
          <a:headEnd type="none" w="med" len="med"/>
          <a:tailEnd type="none" w="med" len="med"/>
        </a:ln>
      </dgm:spPr>
      <dgm:t>
        <a:bodyPr/>
        <a:lstStyle/>
        <a:p>
          <a:r>
            <a:rPr lang="en-US" dirty="0"/>
            <a:t>Tree search</a:t>
          </a:r>
        </a:p>
      </dgm:t>
    </dgm:pt>
    <dgm:pt modelId="{B5AC7067-DFCC-4F66-B792-E6FD34576449}" type="parTrans" cxnId="{9F78771E-D83F-4FE3-A44B-F778098C046F}">
      <dgm:prSet/>
      <dgm:spPr/>
      <dgm:t>
        <a:bodyPr/>
        <a:lstStyle/>
        <a:p>
          <a:endParaRPr lang="en-US"/>
        </a:p>
      </dgm:t>
    </dgm:pt>
    <dgm:pt modelId="{C9797574-41BD-42CD-B50E-64C62694529C}" type="sibTrans" cxnId="{9F78771E-D83F-4FE3-A44B-F778098C046F}">
      <dgm:prSet/>
      <dgm:spPr/>
      <dgm:t>
        <a:bodyPr/>
        <a:lstStyle/>
        <a:p>
          <a:endParaRPr lang="en-US"/>
        </a:p>
      </dgm:t>
    </dgm:pt>
    <dgm:pt modelId="{74B4ED53-1771-488D-ABAD-21D1DA690E51}">
      <dgm:prSet>
        <dgm:style>
          <a:lnRef idx="0">
            <a:scrgbClr r="0" g="0" b="0"/>
          </a:lnRef>
          <a:fillRef idx="0">
            <a:scrgbClr r="0" g="0" b="0"/>
          </a:fillRef>
          <a:effectRef idx="0">
            <a:scrgbClr r="0" g="0" b="0"/>
          </a:effectRef>
          <a:fontRef idx="minor">
            <a:schemeClr val="accent1"/>
          </a:fontRef>
        </dgm:style>
      </dgm:prSet>
      <dgm:spPr>
        <a:noFill/>
        <a:ln w="9525" cap="flat" cmpd="sng" algn="ctr">
          <a:solidFill>
            <a:schemeClr val="accent1"/>
          </a:solidFill>
          <a:prstDash val="solid"/>
          <a:round/>
          <a:headEnd type="none" w="med" len="med"/>
          <a:tailEnd type="none" w="med" len="med"/>
        </a:ln>
      </dgm:spPr>
      <dgm:t>
        <a:bodyPr/>
        <a:lstStyle/>
        <a:p>
          <a:r>
            <a:rPr lang="en-US"/>
            <a:t>Uninformed search</a:t>
          </a:r>
        </a:p>
      </dgm:t>
    </dgm:pt>
    <dgm:pt modelId="{6EE8B661-5343-4B26-B6C6-894D5D8A7773}" type="parTrans" cxnId="{ABB642C9-CEA5-4E8F-847C-482E95851269}">
      <dgm:prSet/>
      <dgm:spPr/>
      <dgm:t>
        <a:bodyPr/>
        <a:lstStyle/>
        <a:p>
          <a:endParaRPr lang="en-US"/>
        </a:p>
      </dgm:t>
    </dgm:pt>
    <dgm:pt modelId="{877A99D1-B351-4E05-99E6-5FAD7B69E1C8}" type="sibTrans" cxnId="{ABB642C9-CEA5-4E8F-847C-482E95851269}">
      <dgm:prSet/>
      <dgm:spPr/>
      <dgm:t>
        <a:bodyPr/>
        <a:lstStyle/>
        <a:p>
          <a:endParaRPr lang="en-US"/>
        </a:p>
      </dgm:t>
    </dgm:pt>
    <dgm:pt modelId="{9227DA0E-23FC-4CFA-8C59-414EB0E01F6C}">
      <dgm:prSet>
        <dgm:style>
          <a:lnRef idx="0">
            <a:scrgbClr r="0" g="0" b="0"/>
          </a:lnRef>
          <a:fillRef idx="0">
            <a:scrgbClr r="0" g="0" b="0"/>
          </a:fillRef>
          <a:effectRef idx="0">
            <a:scrgbClr r="0" g="0" b="0"/>
          </a:effectRef>
          <a:fontRef idx="minor">
            <a:schemeClr val="accent1"/>
          </a:fontRef>
        </dgm:style>
      </dgm:prSet>
      <dgm:spPr>
        <a:noFill/>
        <a:ln w="9525" cap="flat" cmpd="sng" algn="ctr">
          <a:solidFill>
            <a:schemeClr val="accent1"/>
          </a:solidFill>
          <a:prstDash val="solid"/>
          <a:round/>
          <a:headEnd type="none" w="med" len="med"/>
          <a:tailEnd type="none" w="med" len="med"/>
        </a:ln>
      </dgm:spPr>
      <dgm:t>
        <a:bodyPr/>
        <a:lstStyle/>
        <a:p>
          <a:r>
            <a:rPr lang="en-US" dirty="0"/>
            <a:t>Informed search</a:t>
          </a:r>
        </a:p>
      </dgm:t>
    </dgm:pt>
    <dgm:pt modelId="{3DB6186E-4551-43E5-86B1-E1DD65E0DC9E}" type="parTrans" cxnId="{E42A713B-7206-49A5-9A6C-85CF3F2FC3FC}">
      <dgm:prSet/>
      <dgm:spPr/>
      <dgm:t>
        <a:bodyPr/>
        <a:lstStyle/>
        <a:p>
          <a:endParaRPr lang="en-US"/>
        </a:p>
      </dgm:t>
    </dgm:pt>
    <dgm:pt modelId="{5AFFAE01-E256-4EE8-9509-B262F1BD23CD}" type="sibTrans" cxnId="{E42A713B-7206-49A5-9A6C-85CF3F2FC3FC}">
      <dgm:prSet/>
      <dgm:spPr/>
      <dgm:t>
        <a:bodyPr/>
        <a:lstStyle/>
        <a:p>
          <a:endParaRPr lang="en-US"/>
        </a:p>
      </dgm:t>
    </dgm:pt>
    <dgm:pt modelId="{F86F8219-2FDD-4DFD-BFD9-6CB38576F7B8}">
      <dgm:prSet>
        <dgm:style>
          <a:lnRef idx="0">
            <a:scrgbClr r="0" g="0" b="0"/>
          </a:lnRef>
          <a:fillRef idx="0">
            <a:scrgbClr r="0" g="0" b="0"/>
          </a:fillRef>
          <a:effectRef idx="0">
            <a:scrgbClr r="0" g="0" b="0"/>
          </a:effectRef>
          <a:fontRef idx="minor">
            <a:schemeClr val="accent1"/>
          </a:fontRef>
        </dgm:style>
      </dgm:prSet>
      <dgm:spPr>
        <a:noFill/>
        <a:ln w="9525" cap="flat" cmpd="sng" algn="ctr">
          <a:solidFill>
            <a:schemeClr val="accent1"/>
          </a:solidFill>
          <a:prstDash val="solid"/>
          <a:round/>
          <a:headEnd type="none" w="med" len="med"/>
          <a:tailEnd type="none" w="med" len="med"/>
        </a:ln>
      </dgm:spPr>
      <dgm:t>
        <a:bodyPr/>
        <a:lstStyle/>
        <a:p>
          <a:r>
            <a:rPr lang="en-US" dirty="0"/>
            <a:t>Search space</a:t>
          </a:r>
        </a:p>
      </dgm:t>
    </dgm:pt>
    <dgm:pt modelId="{50793A68-1D77-4C48-8709-7C401A40E39D}" type="parTrans" cxnId="{719E5B67-4CA5-4E19-B93D-ADDEBA787C5B}">
      <dgm:prSet/>
      <dgm:spPr/>
      <dgm:t>
        <a:bodyPr/>
        <a:lstStyle/>
        <a:p>
          <a:endParaRPr lang="en-US"/>
        </a:p>
      </dgm:t>
    </dgm:pt>
    <dgm:pt modelId="{A9A567C9-9407-4F5C-B0EF-F889A0E77FBD}" type="sibTrans" cxnId="{719E5B67-4CA5-4E19-B93D-ADDEBA787C5B}">
      <dgm:prSet/>
      <dgm:spPr/>
      <dgm:t>
        <a:bodyPr/>
        <a:lstStyle/>
        <a:p>
          <a:endParaRPr lang="en-US"/>
        </a:p>
      </dgm:t>
    </dgm:pt>
    <dgm:pt modelId="{93623590-CF4A-4CD2-BB6E-ABC5C3F4BECF}" type="pres">
      <dgm:prSet presAssocID="{277C6803-CA4B-420D-A759-A0176716CDEC}" presName="CompostProcess" presStyleCnt="0">
        <dgm:presLayoutVars>
          <dgm:dir/>
          <dgm:resizeHandles val="exact"/>
        </dgm:presLayoutVars>
      </dgm:prSet>
      <dgm:spPr/>
    </dgm:pt>
    <dgm:pt modelId="{9754C195-A9F0-4F0D-A6D2-0DD1520FF8CB}" type="pres">
      <dgm:prSet presAssocID="{277C6803-CA4B-420D-A759-A0176716CDEC}" presName="arrow" presStyleLbl="bgShp" presStyleIdx="0" presStyleCnt="1"/>
      <dgm:spPr/>
    </dgm:pt>
    <dgm:pt modelId="{2940AEB7-E777-4807-BDF0-EF3FA0BEEEC2}" type="pres">
      <dgm:prSet presAssocID="{277C6803-CA4B-420D-A759-A0176716CDEC}" presName="linearProcess" presStyleCnt="0"/>
      <dgm:spPr/>
    </dgm:pt>
    <dgm:pt modelId="{C49C918E-2348-45D8-9BB6-36FC3910AEE6}" type="pres">
      <dgm:prSet presAssocID="{0BB3CC82-3478-4D41-B047-5280D6218386}" presName="textNode" presStyleLbl="node1" presStyleIdx="0" presStyleCnt="5">
        <dgm:presLayoutVars>
          <dgm:bulletEnabled val="1"/>
        </dgm:presLayoutVars>
      </dgm:prSet>
      <dgm:spPr/>
    </dgm:pt>
    <dgm:pt modelId="{C2900225-7812-4D77-ADCE-66E4758CD0CA}" type="pres">
      <dgm:prSet presAssocID="{4AA0B62A-EBAA-4094-BAAD-7D30DA2065F6}" presName="sibTrans" presStyleCnt="0"/>
      <dgm:spPr/>
    </dgm:pt>
    <dgm:pt modelId="{FE566455-4387-4F3B-93FD-63039231E455}" type="pres">
      <dgm:prSet presAssocID="{4A686FD9-F517-4034-849B-38895D14ED95}" presName="textNode" presStyleLbl="node1" presStyleIdx="1" presStyleCnt="5">
        <dgm:presLayoutVars>
          <dgm:bulletEnabled val="1"/>
        </dgm:presLayoutVars>
      </dgm:prSet>
      <dgm:spPr/>
    </dgm:pt>
    <dgm:pt modelId="{7685ED58-3418-4846-9665-E14742C7BD0B}" type="pres">
      <dgm:prSet presAssocID="{C9797574-41BD-42CD-B50E-64C62694529C}" presName="sibTrans" presStyleCnt="0"/>
      <dgm:spPr/>
    </dgm:pt>
    <dgm:pt modelId="{858814D1-FF3C-47B6-8AC7-C86C14DFF8DC}" type="pres">
      <dgm:prSet presAssocID="{F86F8219-2FDD-4DFD-BFD9-6CB38576F7B8}" presName="textNode" presStyleLbl="node1" presStyleIdx="2" presStyleCnt="5">
        <dgm:presLayoutVars>
          <dgm:bulletEnabled val="1"/>
        </dgm:presLayoutVars>
      </dgm:prSet>
      <dgm:spPr/>
    </dgm:pt>
    <dgm:pt modelId="{98F56E57-5C3F-4231-B52D-5758B2D4FF4C}" type="pres">
      <dgm:prSet presAssocID="{A9A567C9-9407-4F5C-B0EF-F889A0E77FBD}" presName="sibTrans" presStyleCnt="0"/>
      <dgm:spPr/>
    </dgm:pt>
    <dgm:pt modelId="{FC3C55A0-84B2-4F6E-AB59-77725D722C40}" type="pres">
      <dgm:prSet presAssocID="{74B4ED53-1771-488D-ABAD-21D1DA690E51}" presName="textNode" presStyleLbl="node1" presStyleIdx="3" presStyleCnt="5">
        <dgm:presLayoutVars>
          <dgm:bulletEnabled val="1"/>
        </dgm:presLayoutVars>
      </dgm:prSet>
      <dgm:spPr/>
    </dgm:pt>
    <dgm:pt modelId="{7FE43F55-AB52-4260-A2ED-9324174B1544}" type="pres">
      <dgm:prSet presAssocID="{877A99D1-B351-4E05-99E6-5FAD7B69E1C8}" presName="sibTrans" presStyleCnt="0"/>
      <dgm:spPr/>
    </dgm:pt>
    <dgm:pt modelId="{06064AD5-8D7F-4BDF-925D-EFA8045701F9}" type="pres">
      <dgm:prSet presAssocID="{9227DA0E-23FC-4CFA-8C59-414EB0E01F6C}" presName="textNode" presStyleLbl="node1" presStyleIdx="4" presStyleCnt="5">
        <dgm:presLayoutVars>
          <dgm:bulletEnabled val="1"/>
        </dgm:presLayoutVars>
      </dgm:prSet>
      <dgm:spPr/>
    </dgm:pt>
  </dgm:ptLst>
  <dgm:cxnLst>
    <dgm:cxn modelId="{9F78771E-D83F-4FE3-A44B-F778098C046F}" srcId="{277C6803-CA4B-420D-A759-A0176716CDEC}" destId="{4A686FD9-F517-4034-849B-38895D14ED95}" srcOrd="1" destOrd="0" parTransId="{B5AC7067-DFCC-4F66-B792-E6FD34576449}" sibTransId="{C9797574-41BD-42CD-B50E-64C62694529C}"/>
    <dgm:cxn modelId="{C2500236-EA4A-468D-BB1C-6B3E83AB6481}" type="presOf" srcId="{4A686FD9-F517-4034-849B-38895D14ED95}" destId="{FE566455-4387-4F3B-93FD-63039231E455}" srcOrd="0" destOrd="0" presId="urn:microsoft.com/office/officeart/2005/8/layout/hProcess9"/>
    <dgm:cxn modelId="{E42A713B-7206-49A5-9A6C-85CF3F2FC3FC}" srcId="{277C6803-CA4B-420D-A759-A0176716CDEC}" destId="{9227DA0E-23FC-4CFA-8C59-414EB0E01F6C}" srcOrd="4" destOrd="0" parTransId="{3DB6186E-4551-43E5-86B1-E1DD65E0DC9E}" sibTransId="{5AFFAE01-E256-4EE8-9509-B262F1BD23CD}"/>
    <dgm:cxn modelId="{719E5B67-4CA5-4E19-B93D-ADDEBA787C5B}" srcId="{277C6803-CA4B-420D-A759-A0176716CDEC}" destId="{F86F8219-2FDD-4DFD-BFD9-6CB38576F7B8}" srcOrd="2" destOrd="0" parTransId="{50793A68-1D77-4C48-8709-7C401A40E39D}" sibTransId="{A9A567C9-9407-4F5C-B0EF-F889A0E77FBD}"/>
    <dgm:cxn modelId="{4D78158A-6127-4485-9228-4830BE8F9308}" srcId="{277C6803-CA4B-420D-A759-A0176716CDEC}" destId="{0BB3CC82-3478-4D41-B047-5280D6218386}" srcOrd="0" destOrd="0" parTransId="{EC9FA683-7C9F-4F3C-9D7B-F4134175B941}" sibTransId="{4AA0B62A-EBAA-4094-BAAD-7D30DA2065F6}"/>
    <dgm:cxn modelId="{98D54D8A-0966-471A-8A03-F463E3E4FD3D}" type="presOf" srcId="{0BB3CC82-3478-4D41-B047-5280D6218386}" destId="{C49C918E-2348-45D8-9BB6-36FC3910AEE6}" srcOrd="0" destOrd="0" presId="urn:microsoft.com/office/officeart/2005/8/layout/hProcess9"/>
    <dgm:cxn modelId="{ABCECA9A-17FD-467A-935A-C65B7431597D}" type="presOf" srcId="{F86F8219-2FDD-4DFD-BFD9-6CB38576F7B8}" destId="{858814D1-FF3C-47B6-8AC7-C86C14DFF8DC}" srcOrd="0" destOrd="0" presId="urn:microsoft.com/office/officeart/2005/8/layout/hProcess9"/>
    <dgm:cxn modelId="{0879C9B3-3FFE-43F3-8448-762C7FD9BC6F}" type="presOf" srcId="{74B4ED53-1771-488D-ABAD-21D1DA690E51}" destId="{FC3C55A0-84B2-4F6E-AB59-77725D722C40}" srcOrd="0" destOrd="0" presId="urn:microsoft.com/office/officeart/2005/8/layout/hProcess9"/>
    <dgm:cxn modelId="{ABB642C9-CEA5-4E8F-847C-482E95851269}" srcId="{277C6803-CA4B-420D-A759-A0176716CDEC}" destId="{74B4ED53-1771-488D-ABAD-21D1DA690E51}" srcOrd="3" destOrd="0" parTransId="{6EE8B661-5343-4B26-B6C6-894D5D8A7773}" sibTransId="{877A99D1-B351-4E05-99E6-5FAD7B69E1C8}"/>
    <dgm:cxn modelId="{20A242CC-255D-4EE4-BD4B-A2F5ED9DCAE9}" type="presOf" srcId="{9227DA0E-23FC-4CFA-8C59-414EB0E01F6C}" destId="{06064AD5-8D7F-4BDF-925D-EFA8045701F9}" srcOrd="0" destOrd="0" presId="urn:microsoft.com/office/officeart/2005/8/layout/hProcess9"/>
    <dgm:cxn modelId="{AA7D7CDF-7AD0-4080-94E1-5E5B41B38130}" type="presOf" srcId="{277C6803-CA4B-420D-A759-A0176716CDEC}" destId="{93623590-CF4A-4CD2-BB6E-ABC5C3F4BECF}" srcOrd="0" destOrd="0" presId="urn:microsoft.com/office/officeart/2005/8/layout/hProcess9"/>
    <dgm:cxn modelId="{04508D0A-E7F3-4AA3-8620-DE44F159C331}" type="presParOf" srcId="{93623590-CF4A-4CD2-BB6E-ABC5C3F4BECF}" destId="{9754C195-A9F0-4F0D-A6D2-0DD1520FF8CB}" srcOrd="0" destOrd="0" presId="urn:microsoft.com/office/officeart/2005/8/layout/hProcess9"/>
    <dgm:cxn modelId="{A97CB21C-F932-44CD-819E-E60A00C0FBE8}" type="presParOf" srcId="{93623590-CF4A-4CD2-BB6E-ABC5C3F4BECF}" destId="{2940AEB7-E777-4807-BDF0-EF3FA0BEEEC2}" srcOrd="1" destOrd="0" presId="urn:microsoft.com/office/officeart/2005/8/layout/hProcess9"/>
    <dgm:cxn modelId="{9F985081-4E40-4F93-88C2-35AF4C953A4F}" type="presParOf" srcId="{2940AEB7-E777-4807-BDF0-EF3FA0BEEEC2}" destId="{C49C918E-2348-45D8-9BB6-36FC3910AEE6}" srcOrd="0" destOrd="0" presId="urn:microsoft.com/office/officeart/2005/8/layout/hProcess9"/>
    <dgm:cxn modelId="{E1E358F4-BD8A-484C-9D85-B88F8CB9FFD4}" type="presParOf" srcId="{2940AEB7-E777-4807-BDF0-EF3FA0BEEEC2}" destId="{C2900225-7812-4D77-ADCE-66E4758CD0CA}" srcOrd="1" destOrd="0" presId="urn:microsoft.com/office/officeart/2005/8/layout/hProcess9"/>
    <dgm:cxn modelId="{2DC080EA-34FA-4231-9E1B-88EF50C76450}" type="presParOf" srcId="{2940AEB7-E777-4807-BDF0-EF3FA0BEEEC2}" destId="{FE566455-4387-4F3B-93FD-63039231E455}" srcOrd="2" destOrd="0" presId="urn:microsoft.com/office/officeart/2005/8/layout/hProcess9"/>
    <dgm:cxn modelId="{85238898-3046-480A-8E6E-7930658D5180}" type="presParOf" srcId="{2940AEB7-E777-4807-BDF0-EF3FA0BEEEC2}" destId="{7685ED58-3418-4846-9665-E14742C7BD0B}" srcOrd="3" destOrd="0" presId="urn:microsoft.com/office/officeart/2005/8/layout/hProcess9"/>
    <dgm:cxn modelId="{9EFE1CB7-7DA6-4675-94ED-D65A69207A2A}" type="presParOf" srcId="{2940AEB7-E777-4807-BDF0-EF3FA0BEEEC2}" destId="{858814D1-FF3C-47B6-8AC7-C86C14DFF8DC}" srcOrd="4" destOrd="0" presId="urn:microsoft.com/office/officeart/2005/8/layout/hProcess9"/>
    <dgm:cxn modelId="{78CCC560-FBCE-47E2-BFCA-EBD806E530BC}" type="presParOf" srcId="{2940AEB7-E777-4807-BDF0-EF3FA0BEEEC2}" destId="{98F56E57-5C3F-4231-B52D-5758B2D4FF4C}" srcOrd="5" destOrd="0" presId="urn:microsoft.com/office/officeart/2005/8/layout/hProcess9"/>
    <dgm:cxn modelId="{16A2F90B-22A4-4C2B-BB52-9B391B6CA0CC}" type="presParOf" srcId="{2940AEB7-E777-4807-BDF0-EF3FA0BEEEC2}" destId="{FC3C55A0-84B2-4F6E-AB59-77725D722C40}" srcOrd="6" destOrd="0" presId="urn:microsoft.com/office/officeart/2005/8/layout/hProcess9"/>
    <dgm:cxn modelId="{0899D7B3-468F-45E2-93F4-858C142C714C}" type="presParOf" srcId="{2940AEB7-E777-4807-BDF0-EF3FA0BEEEC2}" destId="{7FE43F55-AB52-4260-A2ED-9324174B1544}" srcOrd="7" destOrd="0" presId="urn:microsoft.com/office/officeart/2005/8/layout/hProcess9"/>
    <dgm:cxn modelId="{B3E9E043-F09A-4C38-BD91-AEB54C390C3D}" type="presParOf" srcId="{2940AEB7-E777-4807-BDF0-EF3FA0BEEEC2}" destId="{06064AD5-8D7F-4BDF-925D-EFA8045701F9}" srcOrd="8" destOrd="0" presId="urn:microsoft.com/office/officeart/2005/8/layout/hProcess9"/>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xml><?xml version="1.0" encoding="utf-8"?>
<dgm:dataModel xmlns:dgm="http://schemas.openxmlformats.org/drawingml/2006/diagram" xmlns:a="http://schemas.openxmlformats.org/drawingml/2006/main">
  <dgm:ptLst>
    <dgm:pt modelId="{C4CB35F0-DD7C-44B7-A5EE-FA5F074BB79A}" type="doc">
      <dgm:prSet loTypeId="urn:microsoft.com/office/officeart/2005/8/layout/hList1" loCatId="list" qsTypeId="urn:microsoft.com/office/officeart/2005/8/quickstyle/simple1" qsCatId="simple" csTypeId="urn:microsoft.com/office/officeart/2005/8/colors/accent1_2" csCatId="accent1" phldr="1"/>
      <dgm:spPr/>
      <dgm:t>
        <a:bodyPr/>
        <a:lstStyle/>
        <a:p>
          <a:endParaRPr lang="en-US"/>
        </a:p>
      </dgm:t>
    </dgm:pt>
    <dgm:pt modelId="{B09331C5-3173-479A-991A-130DE1C12DC1}">
      <dgm:prSet custT="1"/>
      <dgm:spPr/>
      <dgm:t>
        <a:bodyPr/>
        <a:lstStyle/>
        <a:p>
          <a:r>
            <a:rPr lang="en-US" sz="1600" dirty="0"/>
            <a:t>Given a search problem definition</a:t>
          </a:r>
        </a:p>
      </dgm:t>
    </dgm:pt>
    <dgm:pt modelId="{FB5829C9-BCE3-4442-951E-C2C9542065F6}" type="parTrans" cxnId="{8C2E26C2-0238-4D88-856A-972958EA1005}">
      <dgm:prSet/>
      <dgm:spPr/>
      <dgm:t>
        <a:bodyPr/>
        <a:lstStyle/>
        <a:p>
          <a:endParaRPr lang="en-US"/>
        </a:p>
      </dgm:t>
    </dgm:pt>
    <dgm:pt modelId="{B0DEE2C9-A5A9-485E-AD79-939446786DF5}" type="sibTrans" cxnId="{8C2E26C2-0238-4D88-856A-972958EA1005}">
      <dgm:prSet/>
      <dgm:spPr/>
      <dgm:t>
        <a:bodyPr/>
        <a:lstStyle/>
        <a:p>
          <a:endParaRPr lang="en-US"/>
        </a:p>
      </dgm:t>
    </dgm:pt>
    <dgm:pt modelId="{7830783F-9F12-4D05-BAAA-4021C7065760}">
      <dgm:prSet custT="1"/>
      <dgm:spPr/>
      <dgm:t>
        <a:bodyPr/>
        <a:lstStyle/>
        <a:p>
          <a:r>
            <a:rPr lang="en-US" sz="1600" dirty="0"/>
            <a:t>Initial state</a:t>
          </a:r>
        </a:p>
      </dgm:t>
    </dgm:pt>
    <dgm:pt modelId="{726606B3-11A0-4651-B4CC-860830C1F0EB}" type="parTrans" cxnId="{08CE92E4-9B06-41DE-83CC-15BCC88653FA}">
      <dgm:prSet/>
      <dgm:spPr/>
      <dgm:t>
        <a:bodyPr/>
        <a:lstStyle/>
        <a:p>
          <a:endParaRPr lang="en-US"/>
        </a:p>
      </dgm:t>
    </dgm:pt>
    <dgm:pt modelId="{EC91F9A7-770B-4D17-ACE1-43AD505FAC78}" type="sibTrans" cxnId="{08CE92E4-9B06-41DE-83CC-15BCC88653FA}">
      <dgm:prSet/>
      <dgm:spPr/>
      <dgm:t>
        <a:bodyPr/>
        <a:lstStyle/>
        <a:p>
          <a:endParaRPr lang="en-US"/>
        </a:p>
      </dgm:t>
    </dgm:pt>
    <dgm:pt modelId="{61D9AF60-CC36-477E-88EB-42B03A7530F7}">
      <dgm:prSet custT="1"/>
      <dgm:spPr/>
      <dgm:t>
        <a:bodyPr/>
        <a:lstStyle/>
        <a:p>
          <a:r>
            <a:rPr lang="en-US" sz="1600" dirty="0"/>
            <a:t>Actions</a:t>
          </a:r>
        </a:p>
      </dgm:t>
    </dgm:pt>
    <dgm:pt modelId="{A083548C-B958-42AF-857A-BA52DBA2DEDD}" type="parTrans" cxnId="{FF63512A-B75F-482B-BD9C-09223D0B54CB}">
      <dgm:prSet/>
      <dgm:spPr/>
      <dgm:t>
        <a:bodyPr/>
        <a:lstStyle/>
        <a:p>
          <a:endParaRPr lang="en-US"/>
        </a:p>
      </dgm:t>
    </dgm:pt>
    <dgm:pt modelId="{427F5599-2440-4B96-AC6B-B68DF4D99358}" type="sibTrans" cxnId="{FF63512A-B75F-482B-BD9C-09223D0B54CB}">
      <dgm:prSet/>
      <dgm:spPr/>
      <dgm:t>
        <a:bodyPr/>
        <a:lstStyle/>
        <a:p>
          <a:endParaRPr lang="en-US"/>
        </a:p>
      </dgm:t>
    </dgm:pt>
    <dgm:pt modelId="{A6D83732-67A5-4F7E-9591-F91564075C9F}">
      <dgm:prSet custT="1"/>
      <dgm:spPr/>
      <dgm:t>
        <a:bodyPr/>
        <a:lstStyle/>
        <a:p>
          <a:r>
            <a:rPr lang="en-US" sz="1600" dirty="0"/>
            <a:t>Transition model</a:t>
          </a:r>
        </a:p>
      </dgm:t>
    </dgm:pt>
    <dgm:pt modelId="{F82C7628-CA4F-4405-8BC8-64EAD12D5907}" type="parTrans" cxnId="{AFEA61F9-CDEC-4207-9D8E-9A2BB126CE48}">
      <dgm:prSet/>
      <dgm:spPr/>
      <dgm:t>
        <a:bodyPr/>
        <a:lstStyle/>
        <a:p>
          <a:endParaRPr lang="en-US"/>
        </a:p>
      </dgm:t>
    </dgm:pt>
    <dgm:pt modelId="{75C393A3-9ADF-4939-A2E3-A1407EC30A5E}" type="sibTrans" cxnId="{AFEA61F9-CDEC-4207-9D8E-9A2BB126CE48}">
      <dgm:prSet/>
      <dgm:spPr/>
      <dgm:t>
        <a:bodyPr/>
        <a:lstStyle/>
        <a:p>
          <a:endParaRPr lang="en-US"/>
        </a:p>
      </dgm:t>
    </dgm:pt>
    <dgm:pt modelId="{F0335D94-D374-41AD-8817-3F88B24B6920}">
      <dgm:prSet custT="1"/>
      <dgm:spPr/>
      <dgm:t>
        <a:bodyPr/>
        <a:lstStyle/>
        <a:p>
          <a:r>
            <a:rPr lang="en-US" sz="1600" dirty="0"/>
            <a:t>Goal state</a:t>
          </a:r>
        </a:p>
      </dgm:t>
    </dgm:pt>
    <dgm:pt modelId="{C5C3229C-26EA-4C2B-ADF5-8CE31BFD2B56}" type="parTrans" cxnId="{7C040ABF-F808-4E1A-BCE9-29A065211413}">
      <dgm:prSet/>
      <dgm:spPr/>
      <dgm:t>
        <a:bodyPr/>
        <a:lstStyle/>
        <a:p>
          <a:endParaRPr lang="en-US"/>
        </a:p>
      </dgm:t>
    </dgm:pt>
    <dgm:pt modelId="{DC5FFA83-1564-44FE-A05D-DEC072FB324A}" type="sibTrans" cxnId="{7C040ABF-F808-4E1A-BCE9-29A065211413}">
      <dgm:prSet/>
      <dgm:spPr/>
      <dgm:t>
        <a:bodyPr/>
        <a:lstStyle/>
        <a:p>
          <a:endParaRPr lang="en-US"/>
        </a:p>
      </dgm:t>
    </dgm:pt>
    <dgm:pt modelId="{27D33799-3B04-4365-B080-7CE7041B6744}">
      <dgm:prSet custT="1"/>
      <dgm:spPr/>
      <dgm:t>
        <a:bodyPr/>
        <a:lstStyle/>
        <a:p>
          <a:r>
            <a:rPr lang="en-US" sz="1600" dirty="0"/>
            <a:t>Path cost</a:t>
          </a:r>
        </a:p>
      </dgm:t>
    </dgm:pt>
    <dgm:pt modelId="{9B34E884-74EA-42FF-BD61-5E46FC81D493}" type="parTrans" cxnId="{201E55EB-D9CE-49F4-AD53-991BAF673B02}">
      <dgm:prSet/>
      <dgm:spPr/>
      <dgm:t>
        <a:bodyPr/>
        <a:lstStyle/>
        <a:p>
          <a:endParaRPr lang="en-US"/>
        </a:p>
      </dgm:t>
    </dgm:pt>
    <dgm:pt modelId="{682E82E2-7787-4B51-9E0C-BE9912162640}" type="sibTrans" cxnId="{201E55EB-D9CE-49F4-AD53-991BAF673B02}">
      <dgm:prSet/>
      <dgm:spPr/>
      <dgm:t>
        <a:bodyPr/>
        <a:lstStyle/>
        <a:p>
          <a:endParaRPr lang="en-US"/>
        </a:p>
      </dgm:t>
    </dgm:pt>
    <dgm:pt modelId="{A474BE47-4AC3-4F4F-A58E-4DCA74DCFC50}" type="pres">
      <dgm:prSet presAssocID="{C4CB35F0-DD7C-44B7-A5EE-FA5F074BB79A}" presName="Name0" presStyleCnt="0">
        <dgm:presLayoutVars>
          <dgm:dir/>
          <dgm:animLvl val="lvl"/>
          <dgm:resizeHandles val="exact"/>
        </dgm:presLayoutVars>
      </dgm:prSet>
      <dgm:spPr/>
    </dgm:pt>
    <dgm:pt modelId="{4F716255-B208-4099-8B7B-F8286980C794}" type="pres">
      <dgm:prSet presAssocID="{B09331C5-3173-479A-991A-130DE1C12DC1}" presName="composite" presStyleCnt="0"/>
      <dgm:spPr/>
    </dgm:pt>
    <dgm:pt modelId="{7AB49BB4-A94C-41D3-94D4-8DEFEB2DB72C}" type="pres">
      <dgm:prSet presAssocID="{B09331C5-3173-479A-991A-130DE1C12DC1}" presName="parTx" presStyleLbl="alignNode1" presStyleIdx="0" presStyleCnt="1">
        <dgm:presLayoutVars>
          <dgm:chMax val="0"/>
          <dgm:chPref val="0"/>
          <dgm:bulletEnabled val="1"/>
        </dgm:presLayoutVars>
      </dgm:prSet>
      <dgm:spPr/>
    </dgm:pt>
    <dgm:pt modelId="{75826E61-882F-4E42-B2DE-53BD198C8B82}" type="pres">
      <dgm:prSet presAssocID="{B09331C5-3173-479A-991A-130DE1C12DC1}" presName="desTx" presStyleLbl="alignAccFollowNode1" presStyleIdx="0" presStyleCnt="1">
        <dgm:presLayoutVars>
          <dgm:bulletEnabled val="1"/>
        </dgm:presLayoutVars>
      </dgm:prSet>
      <dgm:spPr/>
    </dgm:pt>
  </dgm:ptLst>
  <dgm:cxnLst>
    <dgm:cxn modelId="{0B13DE07-506D-430A-8094-3CED932A67DF}" type="presOf" srcId="{A6D83732-67A5-4F7E-9591-F91564075C9F}" destId="{75826E61-882F-4E42-B2DE-53BD198C8B82}" srcOrd="0" destOrd="2" presId="urn:microsoft.com/office/officeart/2005/8/layout/hList1"/>
    <dgm:cxn modelId="{9DF7D512-55FA-41AD-8A0A-4993F081FA96}" type="presOf" srcId="{C4CB35F0-DD7C-44B7-A5EE-FA5F074BB79A}" destId="{A474BE47-4AC3-4F4F-A58E-4DCA74DCFC50}" srcOrd="0" destOrd="0" presId="urn:microsoft.com/office/officeart/2005/8/layout/hList1"/>
    <dgm:cxn modelId="{FF63512A-B75F-482B-BD9C-09223D0B54CB}" srcId="{B09331C5-3173-479A-991A-130DE1C12DC1}" destId="{61D9AF60-CC36-477E-88EB-42B03A7530F7}" srcOrd="1" destOrd="0" parTransId="{A083548C-B958-42AF-857A-BA52DBA2DEDD}" sibTransId="{427F5599-2440-4B96-AC6B-B68DF4D99358}"/>
    <dgm:cxn modelId="{F12F0041-9083-4B2F-9479-8A446A63C24E}" type="presOf" srcId="{61D9AF60-CC36-477E-88EB-42B03A7530F7}" destId="{75826E61-882F-4E42-B2DE-53BD198C8B82}" srcOrd="0" destOrd="1" presId="urn:microsoft.com/office/officeart/2005/8/layout/hList1"/>
    <dgm:cxn modelId="{F7199764-38BE-4EE6-979C-5C83910F2A20}" type="presOf" srcId="{B09331C5-3173-479A-991A-130DE1C12DC1}" destId="{7AB49BB4-A94C-41D3-94D4-8DEFEB2DB72C}" srcOrd="0" destOrd="0" presId="urn:microsoft.com/office/officeart/2005/8/layout/hList1"/>
    <dgm:cxn modelId="{1AAA8F4C-BF24-4E52-9000-8B5339ABF60B}" type="presOf" srcId="{27D33799-3B04-4365-B080-7CE7041B6744}" destId="{75826E61-882F-4E42-B2DE-53BD198C8B82}" srcOrd="0" destOrd="4" presId="urn:microsoft.com/office/officeart/2005/8/layout/hList1"/>
    <dgm:cxn modelId="{3B809D72-991F-4357-B1CB-1A73E0D4BC93}" type="presOf" srcId="{7830783F-9F12-4D05-BAAA-4021C7065760}" destId="{75826E61-882F-4E42-B2DE-53BD198C8B82}" srcOrd="0" destOrd="0" presId="urn:microsoft.com/office/officeart/2005/8/layout/hList1"/>
    <dgm:cxn modelId="{64E6F553-7D23-488F-9FAC-DC596BD9BB59}" type="presOf" srcId="{F0335D94-D374-41AD-8817-3F88B24B6920}" destId="{75826E61-882F-4E42-B2DE-53BD198C8B82}" srcOrd="0" destOrd="3" presId="urn:microsoft.com/office/officeart/2005/8/layout/hList1"/>
    <dgm:cxn modelId="{7C040ABF-F808-4E1A-BCE9-29A065211413}" srcId="{B09331C5-3173-479A-991A-130DE1C12DC1}" destId="{F0335D94-D374-41AD-8817-3F88B24B6920}" srcOrd="3" destOrd="0" parTransId="{C5C3229C-26EA-4C2B-ADF5-8CE31BFD2B56}" sibTransId="{DC5FFA83-1564-44FE-A05D-DEC072FB324A}"/>
    <dgm:cxn modelId="{8C2E26C2-0238-4D88-856A-972958EA1005}" srcId="{C4CB35F0-DD7C-44B7-A5EE-FA5F074BB79A}" destId="{B09331C5-3173-479A-991A-130DE1C12DC1}" srcOrd="0" destOrd="0" parTransId="{FB5829C9-BCE3-4442-951E-C2C9542065F6}" sibTransId="{B0DEE2C9-A5A9-485E-AD79-939446786DF5}"/>
    <dgm:cxn modelId="{08CE92E4-9B06-41DE-83CC-15BCC88653FA}" srcId="{B09331C5-3173-479A-991A-130DE1C12DC1}" destId="{7830783F-9F12-4D05-BAAA-4021C7065760}" srcOrd="0" destOrd="0" parTransId="{726606B3-11A0-4651-B4CC-860830C1F0EB}" sibTransId="{EC91F9A7-770B-4D17-ACE1-43AD505FAC78}"/>
    <dgm:cxn modelId="{201E55EB-D9CE-49F4-AD53-991BAF673B02}" srcId="{B09331C5-3173-479A-991A-130DE1C12DC1}" destId="{27D33799-3B04-4365-B080-7CE7041B6744}" srcOrd="4" destOrd="0" parTransId="{9B34E884-74EA-42FF-BD61-5E46FC81D493}" sibTransId="{682E82E2-7787-4B51-9E0C-BE9912162640}"/>
    <dgm:cxn modelId="{AFEA61F9-CDEC-4207-9D8E-9A2BB126CE48}" srcId="{B09331C5-3173-479A-991A-130DE1C12DC1}" destId="{A6D83732-67A5-4F7E-9591-F91564075C9F}" srcOrd="2" destOrd="0" parTransId="{F82C7628-CA4F-4405-8BC8-64EAD12D5907}" sibTransId="{75C393A3-9ADF-4939-A2E3-A1407EC30A5E}"/>
    <dgm:cxn modelId="{BCFC57D9-065A-419B-A19A-801121FE42A3}" type="presParOf" srcId="{A474BE47-4AC3-4F4F-A58E-4DCA74DCFC50}" destId="{4F716255-B208-4099-8B7B-F8286980C794}" srcOrd="0" destOrd="0" presId="urn:microsoft.com/office/officeart/2005/8/layout/hList1"/>
    <dgm:cxn modelId="{A6DD11C1-FCC1-4ECB-B5C5-17028639224F}" type="presParOf" srcId="{4F716255-B208-4099-8B7B-F8286980C794}" destId="{7AB49BB4-A94C-41D3-94D4-8DEFEB2DB72C}" srcOrd="0" destOrd="0" presId="urn:microsoft.com/office/officeart/2005/8/layout/hList1"/>
    <dgm:cxn modelId="{77FE4B48-19A1-4837-AA93-74A7B27413DD}" type="presParOf" srcId="{4F716255-B208-4099-8B7B-F8286980C794}" destId="{75826E61-882F-4E42-B2DE-53BD198C8B82}" srcOrd="1" destOrd="0" presId="urn:microsoft.com/office/officeart/2005/8/layout/hList1"/>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9754C195-A9F0-4F0D-A6D2-0DD1520FF8CB}">
      <dsp:nvSpPr>
        <dsp:cNvPr id="0" name=""/>
        <dsp:cNvSpPr/>
      </dsp:nvSpPr>
      <dsp:spPr>
        <a:xfrm>
          <a:off x="591502" y="0"/>
          <a:ext cx="6703695" cy="4351338"/>
        </a:xfrm>
        <a:prstGeom prst="rightArrow">
          <a:avLst/>
        </a:prstGeom>
        <a:solidFill>
          <a:schemeClr val="accent1">
            <a:tint val="40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C49C918E-2348-45D8-9BB6-36FC3910AEE6}">
      <dsp:nvSpPr>
        <dsp:cNvPr id="0" name=""/>
        <dsp:cNvSpPr/>
      </dsp:nvSpPr>
      <dsp:spPr>
        <a:xfrm>
          <a:off x="3465" y="1305401"/>
          <a:ext cx="1515340" cy="1740535"/>
        </a:xfrm>
        <a:prstGeom prst="roundRect">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72390" tIns="72390" rIns="72390" bIns="72390" numCol="1" spcCol="1270" anchor="ctr" anchorCtr="0">
          <a:noAutofit/>
        </a:bodyPr>
        <a:lstStyle/>
        <a:p>
          <a:pPr marL="0" lvl="0" indent="0" algn="ctr" defTabSz="844550">
            <a:lnSpc>
              <a:spcPct val="90000"/>
            </a:lnSpc>
            <a:spcBef>
              <a:spcPct val="0"/>
            </a:spcBef>
            <a:spcAft>
              <a:spcPct val="35000"/>
            </a:spcAft>
            <a:buNone/>
          </a:pPr>
          <a:r>
            <a:rPr lang="en-US" sz="1900" kern="1200" dirty="0"/>
            <a:t>What are search problems?</a:t>
          </a:r>
        </a:p>
      </dsp:txBody>
      <dsp:txXfrm>
        <a:off x="77438" y="1379374"/>
        <a:ext cx="1367394" cy="1592589"/>
      </dsp:txXfrm>
    </dsp:sp>
    <dsp:sp modelId="{FE566455-4387-4F3B-93FD-63039231E455}">
      <dsp:nvSpPr>
        <dsp:cNvPr id="0" name=""/>
        <dsp:cNvSpPr/>
      </dsp:nvSpPr>
      <dsp:spPr>
        <a:xfrm>
          <a:off x="1594572" y="1305401"/>
          <a:ext cx="1515340" cy="1740535"/>
        </a:xfrm>
        <a:prstGeom prst="roundRect">
          <a:avLst/>
        </a:prstGeom>
        <a:noFill/>
        <a:ln w="9525" cap="flat" cmpd="sng" algn="ctr">
          <a:solidFill>
            <a:schemeClr val="accent1"/>
          </a:solidFill>
          <a:prstDash val="solid"/>
          <a:round/>
          <a:headEnd type="none" w="med" len="med"/>
          <a:tailEnd type="none" w="med" len="med"/>
        </a:ln>
        <a:effectLst/>
      </dsp:spPr>
      <dsp:style>
        <a:lnRef idx="0">
          <a:scrgbClr r="0" g="0" b="0"/>
        </a:lnRef>
        <a:fillRef idx="0">
          <a:scrgbClr r="0" g="0" b="0"/>
        </a:fillRef>
        <a:effectRef idx="0">
          <a:scrgbClr r="0" g="0" b="0"/>
        </a:effectRef>
        <a:fontRef idx="minor">
          <a:schemeClr val="accent1"/>
        </a:fontRef>
      </dsp:style>
      <dsp:txBody>
        <a:bodyPr spcFirstLastPara="0" vert="horz" wrap="square" lIns="72390" tIns="72390" rIns="72390" bIns="72390" numCol="1" spcCol="1270" anchor="ctr" anchorCtr="0">
          <a:noAutofit/>
        </a:bodyPr>
        <a:lstStyle/>
        <a:p>
          <a:pPr marL="0" lvl="0" indent="0" algn="ctr" defTabSz="844550">
            <a:lnSpc>
              <a:spcPct val="90000"/>
            </a:lnSpc>
            <a:spcBef>
              <a:spcPct val="0"/>
            </a:spcBef>
            <a:spcAft>
              <a:spcPct val="35000"/>
            </a:spcAft>
            <a:buNone/>
          </a:pPr>
          <a:r>
            <a:rPr lang="en-US" sz="1900" kern="1200" dirty="0"/>
            <a:t>Tree search</a:t>
          </a:r>
        </a:p>
      </dsp:txBody>
      <dsp:txXfrm>
        <a:off x="1668545" y="1379374"/>
        <a:ext cx="1367394" cy="1592589"/>
      </dsp:txXfrm>
    </dsp:sp>
    <dsp:sp modelId="{858814D1-FF3C-47B6-8AC7-C86C14DFF8DC}">
      <dsp:nvSpPr>
        <dsp:cNvPr id="0" name=""/>
        <dsp:cNvSpPr/>
      </dsp:nvSpPr>
      <dsp:spPr>
        <a:xfrm>
          <a:off x="3185679" y="1305401"/>
          <a:ext cx="1515340" cy="1740535"/>
        </a:xfrm>
        <a:prstGeom prst="roundRect">
          <a:avLst/>
        </a:prstGeom>
        <a:noFill/>
        <a:ln w="9525" cap="flat" cmpd="sng" algn="ctr">
          <a:solidFill>
            <a:schemeClr val="accent1"/>
          </a:solidFill>
          <a:prstDash val="solid"/>
          <a:round/>
          <a:headEnd type="none" w="med" len="med"/>
          <a:tailEnd type="none" w="med" len="med"/>
        </a:ln>
        <a:effectLst/>
      </dsp:spPr>
      <dsp:style>
        <a:lnRef idx="0">
          <a:scrgbClr r="0" g="0" b="0"/>
        </a:lnRef>
        <a:fillRef idx="0">
          <a:scrgbClr r="0" g="0" b="0"/>
        </a:fillRef>
        <a:effectRef idx="0">
          <a:scrgbClr r="0" g="0" b="0"/>
        </a:effectRef>
        <a:fontRef idx="minor">
          <a:schemeClr val="accent1"/>
        </a:fontRef>
      </dsp:style>
      <dsp:txBody>
        <a:bodyPr spcFirstLastPara="0" vert="horz" wrap="square" lIns="72390" tIns="72390" rIns="72390" bIns="72390" numCol="1" spcCol="1270" anchor="ctr" anchorCtr="0">
          <a:noAutofit/>
        </a:bodyPr>
        <a:lstStyle/>
        <a:p>
          <a:pPr marL="0" lvl="0" indent="0" algn="ctr" defTabSz="844550">
            <a:lnSpc>
              <a:spcPct val="90000"/>
            </a:lnSpc>
            <a:spcBef>
              <a:spcPct val="0"/>
            </a:spcBef>
            <a:spcAft>
              <a:spcPct val="35000"/>
            </a:spcAft>
            <a:buNone/>
          </a:pPr>
          <a:r>
            <a:rPr lang="en-US" sz="1900" kern="1200" dirty="0"/>
            <a:t>Search space</a:t>
          </a:r>
        </a:p>
      </dsp:txBody>
      <dsp:txXfrm>
        <a:off x="3259652" y="1379374"/>
        <a:ext cx="1367394" cy="1592589"/>
      </dsp:txXfrm>
    </dsp:sp>
    <dsp:sp modelId="{FC3C55A0-84B2-4F6E-AB59-77725D722C40}">
      <dsp:nvSpPr>
        <dsp:cNvPr id="0" name=""/>
        <dsp:cNvSpPr/>
      </dsp:nvSpPr>
      <dsp:spPr>
        <a:xfrm>
          <a:off x="4776787" y="1305401"/>
          <a:ext cx="1515340" cy="1740535"/>
        </a:xfrm>
        <a:prstGeom prst="roundRect">
          <a:avLst/>
        </a:prstGeom>
        <a:noFill/>
        <a:ln w="9525" cap="flat" cmpd="sng" algn="ctr">
          <a:solidFill>
            <a:schemeClr val="accent1"/>
          </a:solidFill>
          <a:prstDash val="solid"/>
          <a:round/>
          <a:headEnd type="none" w="med" len="med"/>
          <a:tailEnd type="none" w="med" len="med"/>
        </a:ln>
        <a:effectLst/>
      </dsp:spPr>
      <dsp:style>
        <a:lnRef idx="0">
          <a:scrgbClr r="0" g="0" b="0"/>
        </a:lnRef>
        <a:fillRef idx="0">
          <a:scrgbClr r="0" g="0" b="0"/>
        </a:fillRef>
        <a:effectRef idx="0">
          <a:scrgbClr r="0" g="0" b="0"/>
        </a:effectRef>
        <a:fontRef idx="minor">
          <a:schemeClr val="accent1"/>
        </a:fontRef>
      </dsp:style>
      <dsp:txBody>
        <a:bodyPr spcFirstLastPara="0" vert="horz" wrap="square" lIns="72390" tIns="72390" rIns="72390" bIns="72390" numCol="1" spcCol="1270" anchor="ctr" anchorCtr="0">
          <a:noAutofit/>
        </a:bodyPr>
        <a:lstStyle/>
        <a:p>
          <a:pPr marL="0" lvl="0" indent="0" algn="ctr" defTabSz="844550">
            <a:lnSpc>
              <a:spcPct val="90000"/>
            </a:lnSpc>
            <a:spcBef>
              <a:spcPct val="0"/>
            </a:spcBef>
            <a:spcAft>
              <a:spcPct val="35000"/>
            </a:spcAft>
            <a:buNone/>
          </a:pPr>
          <a:r>
            <a:rPr lang="en-US" sz="1900" kern="1200"/>
            <a:t>Uninformed search</a:t>
          </a:r>
        </a:p>
      </dsp:txBody>
      <dsp:txXfrm>
        <a:off x="4850760" y="1379374"/>
        <a:ext cx="1367394" cy="1592589"/>
      </dsp:txXfrm>
    </dsp:sp>
    <dsp:sp modelId="{06064AD5-8D7F-4BDF-925D-EFA8045701F9}">
      <dsp:nvSpPr>
        <dsp:cNvPr id="0" name=""/>
        <dsp:cNvSpPr/>
      </dsp:nvSpPr>
      <dsp:spPr>
        <a:xfrm>
          <a:off x="6367894" y="1305401"/>
          <a:ext cx="1515340" cy="1740535"/>
        </a:xfrm>
        <a:prstGeom prst="roundRect">
          <a:avLst/>
        </a:prstGeom>
        <a:noFill/>
        <a:ln w="9525" cap="flat" cmpd="sng" algn="ctr">
          <a:solidFill>
            <a:schemeClr val="accent1"/>
          </a:solidFill>
          <a:prstDash val="solid"/>
          <a:round/>
          <a:headEnd type="none" w="med" len="med"/>
          <a:tailEnd type="none" w="med" len="med"/>
        </a:ln>
        <a:effectLst/>
      </dsp:spPr>
      <dsp:style>
        <a:lnRef idx="0">
          <a:scrgbClr r="0" g="0" b="0"/>
        </a:lnRef>
        <a:fillRef idx="0">
          <a:scrgbClr r="0" g="0" b="0"/>
        </a:fillRef>
        <a:effectRef idx="0">
          <a:scrgbClr r="0" g="0" b="0"/>
        </a:effectRef>
        <a:fontRef idx="minor">
          <a:schemeClr val="accent1"/>
        </a:fontRef>
      </dsp:style>
      <dsp:txBody>
        <a:bodyPr spcFirstLastPara="0" vert="horz" wrap="square" lIns="72390" tIns="72390" rIns="72390" bIns="72390" numCol="1" spcCol="1270" anchor="ctr" anchorCtr="0">
          <a:noAutofit/>
        </a:bodyPr>
        <a:lstStyle/>
        <a:p>
          <a:pPr marL="0" lvl="0" indent="0" algn="ctr" defTabSz="844550">
            <a:lnSpc>
              <a:spcPct val="90000"/>
            </a:lnSpc>
            <a:spcBef>
              <a:spcPct val="0"/>
            </a:spcBef>
            <a:spcAft>
              <a:spcPct val="35000"/>
            </a:spcAft>
            <a:buNone/>
          </a:pPr>
          <a:r>
            <a:rPr lang="en-US" sz="1900" kern="1200" dirty="0"/>
            <a:t>Informed search</a:t>
          </a:r>
        </a:p>
      </dsp:txBody>
      <dsp:txXfrm>
        <a:off x="6441867" y="1379374"/>
        <a:ext cx="1367394" cy="1592589"/>
      </dsp:txXfrm>
    </dsp:sp>
  </dsp:spTree>
</dsp:drawing>
</file>

<file path=ppt/diagrams/drawing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7AB49BB4-A94C-41D3-94D4-8DEFEB2DB72C}">
      <dsp:nvSpPr>
        <dsp:cNvPr id="0" name=""/>
        <dsp:cNvSpPr/>
      </dsp:nvSpPr>
      <dsp:spPr>
        <a:xfrm>
          <a:off x="0" y="3336"/>
          <a:ext cx="2167520" cy="867008"/>
        </a:xfrm>
        <a:prstGeom prst="rect">
          <a:avLst/>
        </a:prstGeom>
        <a:solidFill>
          <a:schemeClr val="accent1">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13792" tIns="65024" rIns="113792" bIns="65024" numCol="1" spcCol="1270" anchor="ctr" anchorCtr="0">
          <a:noAutofit/>
        </a:bodyPr>
        <a:lstStyle/>
        <a:p>
          <a:pPr marL="0" lvl="0" indent="0" algn="ctr" defTabSz="711200">
            <a:lnSpc>
              <a:spcPct val="90000"/>
            </a:lnSpc>
            <a:spcBef>
              <a:spcPct val="0"/>
            </a:spcBef>
            <a:spcAft>
              <a:spcPct val="35000"/>
            </a:spcAft>
            <a:buNone/>
          </a:pPr>
          <a:r>
            <a:rPr lang="en-US" sz="1600" kern="1200" dirty="0"/>
            <a:t>Given a search problem definition</a:t>
          </a:r>
        </a:p>
      </dsp:txBody>
      <dsp:txXfrm>
        <a:off x="0" y="3336"/>
        <a:ext cx="2167520" cy="867008"/>
      </dsp:txXfrm>
    </dsp:sp>
    <dsp:sp modelId="{75826E61-882F-4E42-B2DE-53BD198C8B82}">
      <dsp:nvSpPr>
        <dsp:cNvPr id="0" name=""/>
        <dsp:cNvSpPr/>
      </dsp:nvSpPr>
      <dsp:spPr>
        <a:xfrm>
          <a:off x="0" y="870344"/>
          <a:ext cx="2167520" cy="1493279"/>
        </a:xfrm>
        <a:prstGeom prst="rect">
          <a:avLst/>
        </a:prstGeom>
        <a:solidFill>
          <a:schemeClr val="accent1">
            <a:alpha val="90000"/>
            <a:tint val="40000"/>
            <a:hueOff val="0"/>
            <a:satOff val="0"/>
            <a:lumOff val="0"/>
            <a:alphaOff val="0"/>
          </a:schemeClr>
        </a:solidFill>
        <a:ln w="12700" cap="flat" cmpd="sng" algn="ctr">
          <a:solidFill>
            <a:schemeClr val="accent1">
              <a:alpha val="90000"/>
              <a:tint val="40000"/>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85344" tIns="85344" rIns="113792" bIns="128016" numCol="1" spcCol="1270" anchor="t" anchorCtr="0">
          <a:noAutofit/>
        </a:bodyPr>
        <a:lstStyle/>
        <a:p>
          <a:pPr marL="171450" lvl="1" indent="-171450" algn="l" defTabSz="711200">
            <a:lnSpc>
              <a:spcPct val="90000"/>
            </a:lnSpc>
            <a:spcBef>
              <a:spcPct val="0"/>
            </a:spcBef>
            <a:spcAft>
              <a:spcPct val="15000"/>
            </a:spcAft>
            <a:buChar char="•"/>
          </a:pPr>
          <a:r>
            <a:rPr lang="en-US" sz="1600" kern="1200" dirty="0"/>
            <a:t>Initial state</a:t>
          </a:r>
        </a:p>
        <a:p>
          <a:pPr marL="171450" lvl="1" indent="-171450" algn="l" defTabSz="711200">
            <a:lnSpc>
              <a:spcPct val="90000"/>
            </a:lnSpc>
            <a:spcBef>
              <a:spcPct val="0"/>
            </a:spcBef>
            <a:spcAft>
              <a:spcPct val="15000"/>
            </a:spcAft>
            <a:buChar char="•"/>
          </a:pPr>
          <a:r>
            <a:rPr lang="en-US" sz="1600" kern="1200" dirty="0"/>
            <a:t>Actions</a:t>
          </a:r>
        </a:p>
        <a:p>
          <a:pPr marL="171450" lvl="1" indent="-171450" algn="l" defTabSz="711200">
            <a:lnSpc>
              <a:spcPct val="90000"/>
            </a:lnSpc>
            <a:spcBef>
              <a:spcPct val="0"/>
            </a:spcBef>
            <a:spcAft>
              <a:spcPct val="15000"/>
            </a:spcAft>
            <a:buChar char="•"/>
          </a:pPr>
          <a:r>
            <a:rPr lang="en-US" sz="1600" kern="1200" dirty="0"/>
            <a:t>Transition model</a:t>
          </a:r>
        </a:p>
        <a:p>
          <a:pPr marL="171450" lvl="1" indent="-171450" algn="l" defTabSz="711200">
            <a:lnSpc>
              <a:spcPct val="90000"/>
            </a:lnSpc>
            <a:spcBef>
              <a:spcPct val="0"/>
            </a:spcBef>
            <a:spcAft>
              <a:spcPct val="15000"/>
            </a:spcAft>
            <a:buChar char="•"/>
          </a:pPr>
          <a:r>
            <a:rPr lang="en-US" sz="1600" kern="1200" dirty="0"/>
            <a:t>Goal state</a:t>
          </a:r>
        </a:p>
        <a:p>
          <a:pPr marL="171450" lvl="1" indent="-171450" algn="l" defTabSz="711200">
            <a:lnSpc>
              <a:spcPct val="90000"/>
            </a:lnSpc>
            <a:spcBef>
              <a:spcPct val="0"/>
            </a:spcBef>
            <a:spcAft>
              <a:spcPct val="15000"/>
            </a:spcAft>
            <a:buChar char="•"/>
          </a:pPr>
          <a:r>
            <a:rPr lang="en-US" sz="1600" kern="1200" dirty="0"/>
            <a:t>Path cost</a:t>
          </a:r>
        </a:p>
      </dsp:txBody>
      <dsp:txXfrm>
        <a:off x="0" y="870344"/>
        <a:ext cx="2167520" cy="1493279"/>
      </dsp:txXfrm>
    </dsp:sp>
  </dsp:spTree>
</dsp:drawing>
</file>

<file path=ppt/diagrams/layout1.xml><?xml version="1.0" encoding="utf-8"?>
<dgm:layoutDef xmlns:dgm="http://schemas.openxmlformats.org/drawingml/2006/diagram" xmlns:a="http://schemas.openxmlformats.org/drawingml/2006/main" uniqueId="urn:microsoft.com/office/officeart/2005/8/layout/hProcess9">
  <dgm:title val=""/>
  <dgm:desc val=""/>
  <dgm:catLst>
    <dgm:cat type="process" pri="5000"/>
    <dgm:cat type="convert" pri="13000"/>
  </dgm:catLst>
  <dgm:sampData useDef="1">
    <dgm:dataModel>
      <dgm:pt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CompostProcess">
    <dgm:varLst>
      <dgm:dir/>
      <dgm:resizeHandles val="exact"/>
    </dgm:varLst>
    <dgm:alg type="composite">
      <dgm:param type="horzAlign" val="ctr"/>
      <dgm:param type="vertAlign" val="mid"/>
    </dgm:alg>
    <dgm:shape xmlns:r="http://schemas.openxmlformats.org/officeDocument/2006/relationships" r:blip="">
      <dgm:adjLst/>
    </dgm:shape>
    <dgm:presOf/>
    <dgm:constrLst>
      <dgm:constr type="w" for="ch" forName="arrow" refType="w" fact="0.85"/>
      <dgm:constr type="h" for="ch" forName="arrow" refType="h"/>
      <dgm:constr type="ctrX" for="ch" forName="arrow" refType="w" fact="0.5"/>
      <dgm:constr type="ctrY" for="ch" forName="arrow" refType="h" fact="0.5"/>
      <dgm:constr type="w" for="ch" forName="linearProcess" refType="w"/>
      <dgm:constr type="h" for="ch" forName="linearProcess" refType="h" fact="0.4"/>
      <dgm:constr type="ctrX" for="ch" forName="linearProcess" refType="w" fact="0.5"/>
      <dgm:constr type="ctrY" for="ch" forName="linearProcess" refType="h" fact="0.5"/>
    </dgm:constrLst>
    <dgm:ruleLst/>
    <dgm:layoutNode name="arrow" styleLbl="bgShp">
      <dgm:alg type="sp"/>
      <dgm:choose name="Name0">
        <dgm:if name="Name1" func="var" arg="dir" op="equ" val="norm">
          <dgm:shape xmlns:r="http://schemas.openxmlformats.org/officeDocument/2006/relationships" type="rightArrow" r:blip="">
            <dgm:adjLst/>
          </dgm:shape>
        </dgm:if>
        <dgm:else name="Name2">
          <dgm:shape xmlns:r="http://schemas.openxmlformats.org/officeDocument/2006/relationships" type="leftArrow" r:blip="">
            <dgm:adjLst/>
          </dgm:shape>
        </dgm:else>
      </dgm:choose>
      <dgm:presOf/>
      <dgm:constrLst/>
      <dgm:ruleLst/>
    </dgm:layoutNode>
    <dgm:layoutNode name="linearProcess">
      <dgm:choose name="Name3">
        <dgm:if name="Name4" func="var" arg="dir" op="equ" val="norm">
          <dgm:alg type="lin"/>
        </dgm:if>
        <dgm:else name="Name5">
          <dgm:alg type="lin">
            <dgm:param type="linDir" val="fromR"/>
          </dgm:alg>
        </dgm:else>
      </dgm:choose>
      <dgm:shape xmlns:r="http://schemas.openxmlformats.org/officeDocument/2006/relationships" r:blip="">
        <dgm:adjLst/>
      </dgm:shape>
      <dgm:presOf/>
      <dgm:constrLst>
        <dgm:constr type="userA" for="ch" ptType="node" refType="w"/>
        <dgm:constr type="h" for="ch" ptType="node" refType="h"/>
        <dgm:constr type="w" for="ch" ptType="node" op="equ"/>
        <dgm:constr type="w" for="ch" forName="sibTrans" refType="w" fact="0.05"/>
        <dgm:constr type="primFontSz" for="ch" ptType="node" op="equ" val="65"/>
      </dgm:constrLst>
      <dgm:ruleLst/>
      <dgm:forEach name="Name6" axis="ch" ptType="node">
        <dgm:layoutNode name="textNode" styleLbl="node1">
          <dgm:varLst>
            <dgm:bulletEnabled val="1"/>
          </dgm:varLst>
          <dgm:alg type="tx"/>
          <dgm:shape xmlns:r="http://schemas.openxmlformats.org/officeDocument/2006/relationships" type="roundRect" r:blip="">
            <dgm:adjLst/>
          </dgm:shape>
          <dgm:presOf axis="desOrSelf" ptType="node"/>
          <dgm:constrLst>
            <dgm:constr type="userA"/>
            <dgm:constr type="w" refType="userA" fact="0.3"/>
            <dgm:constr type="tMarg" refType="primFontSz" fact="0.3"/>
            <dgm:constr type="bMarg" refType="primFontSz" fact="0.3"/>
            <dgm:constr type="lMarg" refType="primFontSz" fact="0.3"/>
            <dgm:constr type="rMarg" refType="primFontSz" fact="0.3"/>
          </dgm:constrLst>
          <dgm:ruleLst>
            <dgm:rule type="w" val="NaN" fact="1" max="NaN"/>
            <dgm:rule type="primFontSz" val="5" fact="NaN" max="NaN"/>
          </dgm:ruleLst>
        </dgm:layoutNode>
        <dgm:forEach name="Name7" axis="followSib" ptType="sibTrans" cnt="1">
          <dgm:layoutNode name="sibTrans">
            <dgm:alg type="sp"/>
            <dgm:shape xmlns:r="http://schemas.openxmlformats.org/officeDocument/2006/relationships" r:blip="">
              <dgm:adjLst/>
            </dgm:shape>
            <dgm:presOf/>
            <dgm:constrLst/>
            <dgm:ruleLst/>
          </dgm:layoutNode>
        </dgm:forEach>
      </dgm:forEach>
    </dgm:layoutNode>
  </dgm:layoutNode>
</dgm:layoutDef>
</file>

<file path=ppt/diagrams/layout2.xml><?xml version="1.0" encoding="utf-8"?>
<dgm:layoutDef xmlns:dgm="http://schemas.openxmlformats.org/drawingml/2006/diagram" xmlns:a="http://schemas.openxmlformats.org/drawingml/2006/main" uniqueId="urn:microsoft.com/office/officeart/2005/8/layout/hList1">
  <dgm:title val=""/>
  <dgm:desc val=""/>
  <dgm:catLst>
    <dgm:cat type="list" pri="5000"/>
    <dgm:cat type="convert" pri="5000"/>
  </dgm:catLst>
  <dgm:sampData>
    <dgm:dataModel>
      <dgm:ptLst>
        <dgm:pt modelId="0" type="doc"/>
        <dgm:pt modelId="1">
          <dgm:prSet phldr="1"/>
        </dgm:pt>
        <dgm:pt modelId="11">
          <dgm:prSet phldr="1"/>
        </dgm:pt>
        <dgm:pt modelId="12">
          <dgm:prSet phldr="1"/>
        </dgm:pt>
        <dgm:pt modelId="2">
          <dgm:prSet phldr="1"/>
        </dgm:pt>
        <dgm:pt modelId="21">
          <dgm:prSet phldr="1"/>
        </dgm:pt>
        <dgm:pt modelId="22">
          <dgm:prSet phldr="1"/>
        </dgm:pt>
        <dgm:pt modelId="3">
          <dgm:prSet phldr="1"/>
        </dgm:pt>
        <dgm:pt modelId="31">
          <dgm:prSet phldr="1"/>
        </dgm:pt>
        <dgm:pt modelId="32">
          <dgm:prSet phldr="1"/>
        </dgm:pt>
      </dgm:ptLst>
      <dgm:cxnLst>
        <dgm:cxn modelId="4" srcId="0" destId="1" srcOrd="0" destOrd="0"/>
        <dgm:cxn modelId="5" srcId="0" destId="2" srcOrd="1" destOrd="0"/>
        <dgm:cxn modelId="6" srcId="0" destId="3" srcOrd="2" destOrd="0"/>
        <dgm:cxn modelId="13" srcId="1" destId="11" srcOrd="0" destOrd="0"/>
        <dgm:cxn modelId="14" srcId="1" destId="12" srcOrd="1" destOrd="0"/>
        <dgm:cxn modelId="23" srcId="2" destId="21" srcOrd="0" destOrd="0"/>
        <dgm:cxn modelId="24" srcId="2" destId="22" srcOrd="1" destOrd="0"/>
        <dgm:cxn modelId="33" srcId="3" destId="31" srcOrd="0" destOrd="0"/>
        <dgm:cxn modelId="34" srcId="3" destId="32" srcOrd="1" destOrd="0"/>
      </dgm:cxnLst>
      <dgm:bg/>
      <dgm:whole/>
    </dgm:dataModel>
  </dgm:sampData>
  <dgm:styleData>
    <dgm:dataModel>
      <dgm:ptLst>
        <dgm:pt modelId="0" type="doc"/>
        <dgm:pt modelId="1">
          <dgm:prSet phldr="1"/>
        </dgm:pt>
        <dgm:pt modelId="2">
          <dgm:prSet phldr="1"/>
        </dgm:pt>
      </dgm:ptLst>
      <dgm:cxnLst>
        <dgm:cxn modelId="3" srcId="0" destId="1" srcOrd="0" destOrd="0"/>
        <dgm:cxn modelId="4" srcId="0" destId="2" srcOrd="1" destOrd="0"/>
      </dgm:cxnLst>
      <dgm:bg/>
      <dgm:whole/>
    </dgm:dataModel>
  </dgm:styleData>
  <dgm:clrData>
    <dgm:dataModel>
      <dgm:ptLst>
        <dgm:pt modelId="0" type="doc"/>
        <dgm:pt modelId="1">
          <dgm:prSet phldr="1"/>
        </dgm:pt>
        <dgm:pt modelId="2">
          <dgm:prSet phldr="1"/>
        </dgm:pt>
        <dgm:pt modelId="3">
          <dgm:prSet phldr="1"/>
        </dgm:pt>
        <dgm:pt modelId="4">
          <dgm:prSet phldr="1"/>
        </dgm:pt>
      </dgm:ptLst>
      <dgm:cxnLst>
        <dgm:cxn modelId="5" srcId="0" destId="1" srcOrd="0" destOrd="0"/>
        <dgm:cxn modelId="6" srcId="0" destId="2" srcOrd="1" destOrd="0"/>
        <dgm:cxn modelId="7" srcId="0" destId="3" srcOrd="2" destOrd="0"/>
        <dgm:cxn modelId="8" srcId="0" destId="4" srcOrd="3" destOrd="0"/>
      </dgm:cxnLst>
      <dgm:bg/>
      <dgm:whole/>
    </dgm:dataModel>
  </dgm:clrData>
  <dgm:layoutNode name="Name0">
    <dgm:varLst>
      <dgm:dir/>
      <dgm:animLvl val="lvl"/>
      <dgm:resizeHandles val="exact"/>
    </dgm:varLst>
    <dgm:choose name="Name1">
      <dgm:if name="Name2" func="var" arg="dir" op="equ" val="norm">
        <dgm:alg type="lin"/>
      </dgm:if>
      <dgm:else name="Name3">
        <dgm:alg type="lin">
          <dgm:param type="linDir" val="fromR"/>
        </dgm:alg>
      </dgm:else>
    </dgm:choose>
    <dgm:shape xmlns:r="http://schemas.openxmlformats.org/officeDocument/2006/relationships" r:blip="">
      <dgm:adjLst/>
    </dgm:shape>
    <dgm:presOf/>
    <dgm:constrLst>
      <dgm:constr type="h" for="ch" forName="composite" refType="h"/>
      <dgm:constr type="w" for="ch" forName="composite" refType="w"/>
      <dgm:constr type="w" for="des" forName="parTx"/>
      <dgm:constr type="h" for="des" forName="parTx" op="equ"/>
      <dgm:constr type="w" for="des" forName="desTx"/>
      <dgm:constr type="h" for="des" forName="desTx" op="equ"/>
      <dgm:constr type="primFontSz" for="des" forName="parTx" val="65"/>
      <dgm:constr type="secFontSz" for="des" forName="desTx" refType="primFontSz" refFor="des" refForName="parTx" op="equ"/>
      <dgm:constr type="h" for="des" forName="parTx" refType="primFontSz" refFor="des" refForName="parTx" fact="0.8"/>
      <dgm:constr type="h" for="des" forName="desTx" refType="primFontSz" refFor="des" refForName="parTx" fact="1.22"/>
      <dgm:constr type="w" for="ch" forName="space" refType="w" refFor="ch" refForName="composite" op="equ" fact="0.14"/>
    </dgm:constrLst>
    <dgm:ruleLst>
      <dgm:rule type="w" for="ch" forName="composite" val="0" fact="NaN" max="NaN"/>
      <dgm:rule type="primFontSz" for="des" forName="parTx" val="5" fact="NaN" max="NaN"/>
    </dgm:ruleLst>
    <dgm:forEach name="Name4" axis="ch" ptType="node">
      <dgm:layoutNode name="composite">
        <dgm:alg type="composite"/>
        <dgm:shape xmlns:r="http://schemas.openxmlformats.org/officeDocument/2006/relationships" r:blip="">
          <dgm:adjLst/>
        </dgm:shape>
        <dgm:presOf/>
        <dgm:constrLst>
          <dgm:constr type="l" for="ch" forName="parTx"/>
          <dgm:constr type="w" for="ch" forName="parTx" refType="w"/>
          <dgm:constr type="t" for="ch" forName="parTx"/>
          <dgm:constr type="l" for="ch" forName="desTx"/>
          <dgm:constr type="w" for="ch" forName="desTx" refType="w" refFor="ch" refForName="parTx"/>
          <dgm:constr type="t" for="ch" forName="desTx" refType="h" refFor="ch" refForName="parTx"/>
        </dgm:constrLst>
        <dgm:ruleLst>
          <dgm:rule type="h" val="INF" fact="NaN" max="NaN"/>
        </dgm:ruleLst>
        <dgm:layoutNode name="parTx" styleLbl="alignNode1">
          <dgm:varLst>
            <dgm:chMax val="0"/>
            <dgm:chPref val="0"/>
            <dgm:bulletEnabled val="1"/>
          </dgm:varLst>
          <dgm:alg type="tx"/>
          <dgm:shape xmlns:r="http://schemas.openxmlformats.org/officeDocument/2006/relationships" type="rect" r:blip="">
            <dgm:adjLst/>
          </dgm:shape>
          <dgm:presOf axis="self" ptType="node"/>
          <dgm:constrLst>
            <dgm:constr type="h" refType="w" op="lte" fact="0.4"/>
            <dgm:constr type="h"/>
            <dgm:constr type="tMarg" refType="primFontSz" fact="0.32"/>
            <dgm:constr type="bMarg" refType="primFontSz" fact="0.32"/>
          </dgm:constrLst>
          <dgm:ruleLst>
            <dgm:rule type="h" val="INF" fact="NaN" max="NaN"/>
          </dgm:ruleLst>
        </dgm:layoutNode>
        <dgm:layoutNode name="desTx" styleLbl="alignAccFollowNode1">
          <dgm:varLst>
            <dgm:bulletEnabled val="1"/>
          </dgm:varLst>
          <dgm:alg type="tx">
            <dgm:param type="stBulletLvl" val="1"/>
          </dgm:alg>
          <dgm:shape xmlns:r="http://schemas.openxmlformats.org/officeDocument/2006/relationships" type="rect" r:blip="">
            <dgm:adjLst/>
          </dgm:shape>
          <dgm:presOf axis="des" ptType="node"/>
          <dgm:constrLst>
            <dgm:constr type="secFontSz" val="65"/>
            <dgm:constr type="primFontSz" refType="secFontSz"/>
            <dgm:constr type="h"/>
            <dgm:constr type="lMarg" refType="primFontSz" fact="0.42"/>
            <dgm:constr type="tMarg" refType="primFontSz" fact="0.42"/>
            <dgm:constr type="bMarg" refType="primFontSz" fact="0.63"/>
          </dgm:constrLst>
          <dgm:ruleLst>
            <dgm:rule type="h" val="INF" fact="NaN" max="NaN"/>
          </dgm:ruleLst>
        </dgm:layoutNode>
      </dgm:layoutNode>
      <dgm:forEach name="Name5" axis="followSib" ptType="sibTrans" cnt="1">
        <dgm:layoutNode name="space">
          <dgm:alg type="sp"/>
          <dgm:shape xmlns:r="http://schemas.openxmlformats.org/officeDocument/2006/relationships" r:blip="">
            <dgm:adjLst/>
          </dgm:shape>
          <dgm:presOf/>
          <dgm:constrLst/>
          <dgm:ruleLst/>
        </dgm:layoutNode>
      </dgm:forEach>
    </dgm:forEach>
  </dgm:layoutNode>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9570" name="Rectangle 2"/>
          <p:cNvSpPr>
            <a:spLocks noGrp="1" noChangeArrowheads="1"/>
          </p:cNvSpPr>
          <p:nvPr>
            <p:ph type="hdr" sz="quarter"/>
          </p:nvPr>
        </p:nvSpPr>
        <p:spPr bwMode="auto">
          <a:xfrm>
            <a:off x="0" y="0"/>
            <a:ext cx="3169920" cy="480060"/>
          </a:xfrm>
          <a:prstGeom prst="rect">
            <a:avLst/>
          </a:prstGeom>
          <a:noFill/>
          <a:ln w="9525">
            <a:noFill/>
            <a:miter lim="800000"/>
            <a:headEnd/>
            <a:tailEnd/>
          </a:ln>
          <a:effectLst/>
        </p:spPr>
        <p:txBody>
          <a:bodyPr vert="horz" wrap="square" lIns="96661" tIns="48331" rIns="96661" bIns="48331" numCol="1" anchor="t" anchorCtr="0" compatLnSpc="1">
            <a:prstTxWarp prst="textNoShape">
              <a:avLst/>
            </a:prstTxWarp>
          </a:bodyPr>
          <a:lstStyle>
            <a:lvl1pPr eaLnBrk="1" hangingPunct="1">
              <a:defRPr sz="1300">
                <a:latin typeface="Calibri" panose="020F0502020204030204" pitchFamily="34" charset="0"/>
              </a:defRPr>
            </a:lvl1pPr>
          </a:lstStyle>
          <a:p>
            <a:endParaRPr lang="en-US" dirty="0"/>
          </a:p>
        </p:txBody>
      </p:sp>
      <p:sp>
        <p:nvSpPr>
          <p:cNvPr id="109571" name="Rectangle 3"/>
          <p:cNvSpPr>
            <a:spLocks noGrp="1" noChangeArrowheads="1"/>
          </p:cNvSpPr>
          <p:nvPr>
            <p:ph type="dt" idx="1"/>
          </p:nvPr>
        </p:nvSpPr>
        <p:spPr bwMode="auto">
          <a:xfrm>
            <a:off x="4143587" y="0"/>
            <a:ext cx="3169920" cy="480060"/>
          </a:xfrm>
          <a:prstGeom prst="rect">
            <a:avLst/>
          </a:prstGeom>
          <a:noFill/>
          <a:ln w="9525">
            <a:noFill/>
            <a:miter lim="800000"/>
            <a:headEnd/>
            <a:tailEnd/>
          </a:ln>
          <a:effectLst/>
        </p:spPr>
        <p:txBody>
          <a:bodyPr vert="horz" wrap="square" lIns="96661" tIns="48331" rIns="96661" bIns="48331" numCol="1" anchor="t" anchorCtr="0" compatLnSpc="1">
            <a:prstTxWarp prst="textNoShape">
              <a:avLst/>
            </a:prstTxWarp>
          </a:bodyPr>
          <a:lstStyle>
            <a:lvl1pPr algn="r" eaLnBrk="1" hangingPunct="1">
              <a:defRPr sz="1300">
                <a:latin typeface="Calibri" panose="020F0502020204030204" pitchFamily="34" charset="0"/>
              </a:defRPr>
            </a:lvl1pPr>
          </a:lstStyle>
          <a:p>
            <a:endParaRPr lang="en-US" dirty="0"/>
          </a:p>
        </p:txBody>
      </p:sp>
      <p:sp>
        <p:nvSpPr>
          <p:cNvPr id="109572" name="Rectangle 4"/>
          <p:cNvSpPr>
            <a:spLocks noGrp="1" noRot="1" noChangeAspect="1" noChangeArrowheads="1" noTextEdit="1"/>
          </p:cNvSpPr>
          <p:nvPr>
            <p:ph type="sldImg" idx="2"/>
          </p:nvPr>
        </p:nvSpPr>
        <p:spPr bwMode="auto">
          <a:xfrm>
            <a:off x="1257300" y="720725"/>
            <a:ext cx="4800600" cy="3600450"/>
          </a:xfrm>
          <a:prstGeom prst="rect">
            <a:avLst/>
          </a:prstGeom>
          <a:noFill/>
          <a:ln w="9525">
            <a:solidFill>
              <a:srgbClr val="000000"/>
            </a:solidFill>
            <a:miter lim="800000"/>
            <a:headEnd/>
            <a:tailEnd/>
          </a:ln>
          <a:effectLst/>
        </p:spPr>
      </p:sp>
      <p:sp>
        <p:nvSpPr>
          <p:cNvPr id="109573" name="Rectangle 5"/>
          <p:cNvSpPr>
            <a:spLocks noGrp="1" noChangeArrowheads="1"/>
          </p:cNvSpPr>
          <p:nvPr>
            <p:ph type="body" sz="quarter" idx="3"/>
          </p:nvPr>
        </p:nvSpPr>
        <p:spPr bwMode="auto">
          <a:xfrm>
            <a:off x="731520" y="4560570"/>
            <a:ext cx="5852160" cy="4320540"/>
          </a:xfrm>
          <a:prstGeom prst="rect">
            <a:avLst/>
          </a:prstGeom>
          <a:noFill/>
          <a:ln w="9525">
            <a:noFill/>
            <a:miter lim="800000"/>
            <a:headEnd/>
            <a:tailEnd/>
          </a:ln>
          <a:effectLst/>
        </p:spPr>
        <p:txBody>
          <a:bodyPr vert="horz" wrap="square" lIns="96661" tIns="48331" rIns="96661" bIns="48331" numCol="1" anchor="t" anchorCtr="0" compatLnSpc="1">
            <a:prstTxWarp prst="textNoShape">
              <a:avLst/>
            </a:prstTxWarp>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09574" name="Rectangle 6"/>
          <p:cNvSpPr>
            <a:spLocks noGrp="1" noChangeArrowheads="1"/>
          </p:cNvSpPr>
          <p:nvPr>
            <p:ph type="ftr" sz="quarter" idx="4"/>
          </p:nvPr>
        </p:nvSpPr>
        <p:spPr bwMode="auto">
          <a:xfrm>
            <a:off x="0" y="9119474"/>
            <a:ext cx="3169920" cy="480060"/>
          </a:xfrm>
          <a:prstGeom prst="rect">
            <a:avLst/>
          </a:prstGeom>
          <a:noFill/>
          <a:ln w="9525">
            <a:noFill/>
            <a:miter lim="800000"/>
            <a:headEnd/>
            <a:tailEnd/>
          </a:ln>
          <a:effectLst/>
        </p:spPr>
        <p:txBody>
          <a:bodyPr vert="horz" wrap="square" lIns="96661" tIns="48331" rIns="96661" bIns="48331" numCol="1" anchor="b" anchorCtr="0" compatLnSpc="1">
            <a:prstTxWarp prst="textNoShape">
              <a:avLst/>
            </a:prstTxWarp>
          </a:bodyPr>
          <a:lstStyle>
            <a:lvl1pPr eaLnBrk="1" hangingPunct="1">
              <a:defRPr sz="1300">
                <a:latin typeface="Calibri" panose="020F0502020204030204" pitchFamily="34" charset="0"/>
              </a:defRPr>
            </a:lvl1pPr>
          </a:lstStyle>
          <a:p>
            <a:endParaRPr lang="en-US" dirty="0"/>
          </a:p>
        </p:txBody>
      </p:sp>
      <p:sp>
        <p:nvSpPr>
          <p:cNvPr id="109575" name="Rectangle 7"/>
          <p:cNvSpPr>
            <a:spLocks noGrp="1" noChangeArrowheads="1"/>
          </p:cNvSpPr>
          <p:nvPr>
            <p:ph type="sldNum" sz="quarter" idx="5"/>
          </p:nvPr>
        </p:nvSpPr>
        <p:spPr bwMode="auto">
          <a:xfrm>
            <a:off x="4143587" y="9119474"/>
            <a:ext cx="3169920" cy="480060"/>
          </a:xfrm>
          <a:prstGeom prst="rect">
            <a:avLst/>
          </a:prstGeom>
          <a:noFill/>
          <a:ln w="9525">
            <a:noFill/>
            <a:miter lim="800000"/>
            <a:headEnd/>
            <a:tailEnd/>
          </a:ln>
          <a:effectLst/>
        </p:spPr>
        <p:txBody>
          <a:bodyPr vert="horz" wrap="square" lIns="96661" tIns="48331" rIns="96661" bIns="48331" numCol="1" anchor="b" anchorCtr="0" compatLnSpc="1">
            <a:prstTxWarp prst="textNoShape">
              <a:avLst/>
            </a:prstTxWarp>
          </a:bodyPr>
          <a:lstStyle>
            <a:lvl1pPr algn="r" eaLnBrk="1" hangingPunct="1">
              <a:defRPr sz="1300">
                <a:latin typeface="Calibri" panose="020F0502020204030204" pitchFamily="34" charset="0"/>
              </a:defRPr>
            </a:lvl1pPr>
          </a:lstStyle>
          <a:p>
            <a:fld id="{3AED0B83-FA1E-482D-AD89-4E224F76AB55}" type="slidenum">
              <a:rPr lang="en-US" smtClean="0"/>
              <a:pPr/>
              <a:t>‹#›</a:t>
            </a:fld>
            <a:endParaRPr lang="en-US" dirty="0"/>
          </a:p>
        </p:txBody>
      </p:sp>
    </p:spTree>
  </p:cSld>
  <p:clrMap bg1="lt1" tx1="dk1" bg2="lt2" tx2="dk2" accent1="accent1" accent2="accent2" accent3="accent3" accent4="accent4" accent5="accent5" accent6="accent6" hlink="hlink" folHlink="folHlink"/>
  <p:notesStyle>
    <a:lvl1pPr algn="l" rtl="0" fontAlgn="base">
      <a:spcBef>
        <a:spcPct val="30000"/>
      </a:spcBef>
      <a:spcAft>
        <a:spcPct val="0"/>
      </a:spcAft>
      <a:defRPr sz="1200" kern="1200">
        <a:solidFill>
          <a:schemeClr val="tx1"/>
        </a:solidFill>
        <a:latin typeface="Calibri" panose="020F0502020204030204" pitchFamily="34" charset="0"/>
        <a:ea typeface="+mn-ea"/>
        <a:cs typeface="+mn-cs"/>
      </a:defRPr>
    </a:lvl1pPr>
    <a:lvl2pPr marL="457200" algn="l" rtl="0" fontAlgn="base">
      <a:spcBef>
        <a:spcPct val="30000"/>
      </a:spcBef>
      <a:spcAft>
        <a:spcPct val="0"/>
      </a:spcAft>
      <a:defRPr sz="1200" kern="1200">
        <a:solidFill>
          <a:schemeClr val="tx1"/>
        </a:solidFill>
        <a:latin typeface="Calibri" panose="020F0502020204030204" pitchFamily="34" charset="0"/>
        <a:ea typeface="+mn-ea"/>
        <a:cs typeface="+mn-cs"/>
      </a:defRPr>
    </a:lvl2pPr>
    <a:lvl3pPr marL="914400" algn="l" rtl="0" fontAlgn="base">
      <a:spcBef>
        <a:spcPct val="30000"/>
      </a:spcBef>
      <a:spcAft>
        <a:spcPct val="0"/>
      </a:spcAft>
      <a:defRPr sz="1200" kern="1200">
        <a:solidFill>
          <a:schemeClr val="tx1"/>
        </a:solidFill>
        <a:latin typeface="Calibri" panose="020F0502020204030204" pitchFamily="34" charset="0"/>
        <a:ea typeface="+mn-ea"/>
        <a:cs typeface="+mn-cs"/>
      </a:defRPr>
    </a:lvl3pPr>
    <a:lvl4pPr marL="1371600" algn="l" rtl="0" fontAlgn="base">
      <a:spcBef>
        <a:spcPct val="30000"/>
      </a:spcBef>
      <a:spcAft>
        <a:spcPct val="0"/>
      </a:spcAft>
      <a:defRPr sz="1200" kern="1200">
        <a:solidFill>
          <a:schemeClr val="tx1"/>
        </a:solidFill>
        <a:latin typeface="Calibri" panose="020F0502020204030204" pitchFamily="34" charset="0"/>
        <a:ea typeface="+mn-ea"/>
        <a:cs typeface="+mn-cs"/>
      </a:defRPr>
    </a:lvl4pPr>
    <a:lvl5pPr marL="1828800" algn="l" rtl="0" fontAlgn="base">
      <a:spcBef>
        <a:spcPct val="30000"/>
      </a:spcBef>
      <a:spcAft>
        <a:spcPct val="0"/>
      </a:spcAft>
      <a:defRPr sz="1200" kern="1200">
        <a:solidFill>
          <a:schemeClr val="tx1"/>
        </a:solidFill>
        <a:latin typeface="Calibri" panose="020F0502020204030204" pitchFamily="34" charset="0"/>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57.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58.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59.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60.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61.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62.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64.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66.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67.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68.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69.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70.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71.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72.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73.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74.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76.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77.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78.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81.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82.xml"/><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2" Type="http://schemas.openxmlformats.org/officeDocument/2006/relationships/slide" Target="../slides/slide83.xml"/><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2" Type="http://schemas.openxmlformats.org/officeDocument/2006/relationships/slide" Target="../slides/slide84.xml"/><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2" Type="http://schemas.openxmlformats.org/officeDocument/2006/relationships/slide" Target="../slides/slide85.xml"/><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2" Type="http://schemas.openxmlformats.org/officeDocument/2006/relationships/slide" Target="../slides/slide86.xml"/><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2" Type="http://schemas.openxmlformats.org/officeDocument/2006/relationships/slide" Target="../slides/slide87.xml"/><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2" Type="http://schemas.openxmlformats.org/officeDocument/2006/relationships/slide" Target="../slides/slide88.xml"/><Relationship Id="rId1" Type="http://schemas.openxmlformats.org/officeDocument/2006/relationships/notesMaster" Target="../notesMasters/notesMaster1.xml"/></Relationships>
</file>

<file path=ppt/notesSlides/_rels/notesSlide60.xml.rels><?xml version="1.0" encoding="UTF-8" standalone="yes"?>
<Relationships xmlns="http://schemas.openxmlformats.org/package/2006/relationships"><Relationship Id="rId2" Type="http://schemas.openxmlformats.org/officeDocument/2006/relationships/slide" Target="../slides/slide89.xml"/><Relationship Id="rId1" Type="http://schemas.openxmlformats.org/officeDocument/2006/relationships/notesMaster" Target="../notesMasters/notesMaster1.xml"/></Relationships>
</file>

<file path=ppt/notesSlides/_rels/notesSlide61.xml.rels><?xml version="1.0" encoding="UTF-8" standalone="yes"?>
<Relationships xmlns="http://schemas.openxmlformats.org/package/2006/relationships"><Relationship Id="rId2" Type="http://schemas.openxmlformats.org/officeDocument/2006/relationships/slide" Target="../slides/slide91.xml"/><Relationship Id="rId1" Type="http://schemas.openxmlformats.org/officeDocument/2006/relationships/notesMaster" Target="../notesMasters/notesMaster1.xml"/></Relationships>
</file>

<file path=ppt/notesSlides/_rels/notesSlide62.xml.rels><?xml version="1.0" encoding="UTF-8" standalone="yes"?>
<Relationships xmlns="http://schemas.openxmlformats.org/package/2006/relationships"><Relationship Id="rId2" Type="http://schemas.openxmlformats.org/officeDocument/2006/relationships/slide" Target="../slides/slide94.xml"/><Relationship Id="rId1" Type="http://schemas.openxmlformats.org/officeDocument/2006/relationships/notesMaster" Target="../notesMasters/notesMaster1.xml"/></Relationships>
</file>

<file path=ppt/notesSlides/_rels/notesSlide63.xml.rels><?xml version="1.0" encoding="UTF-8" standalone="yes"?>
<Relationships xmlns="http://schemas.openxmlformats.org/package/2006/relationships"><Relationship Id="rId2" Type="http://schemas.openxmlformats.org/officeDocument/2006/relationships/slide" Target="../slides/slide9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endParaRPr lang="en-US"/>
          </a:p>
        </p:txBody>
      </p:sp>
      <p:sp>
        <p:nvSpPr>
          <p:cNvPr id="4" name="Slide Number Placeholder 3"/>
          <p:cNvSpPr>
            <a:spLocks noGrp="1"/>
          </p:cNvSpPr>
          <p:nvPr>
            <p:ph type="sldNum" sz="quarter" idx="10"/>
          </p:nvPr>
        </p:nvSpPr>
        <p:spPr/>
        <p:txBody>
          <a:bodyPr/>
          <a:lstStyle/>
          <a:p>
            <a:fld id="{3AED0B83-FA1E-482D-AD89-4E224F76AB55}" type="slidenum">
              <a:rPr lang="en-US" smtClean="0"/>
              <a:pPr/>
              <a:t>1</a:t>
            </a:fld>
            <a:endParaRPr lang="en-US"/>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endParaRPr lang="en-US"/>
          </a:p>
        </p:txBody>
      </p:sp>
      <p:sp>
        <p:nvSpPr>
          <p:cNvPr id="4" name="Slide Number Placeholder 3"/>
          <p:cNvSpPr>
            <a:spLocks noGrp="1"/>
          </p:cNvSpPr>
          <p:nvPr>
            <p:ph type="sldNum" sz="quarter" idx="10"/>
          </p:nvPr>
        </p:nvSpPr>
        <p:spPr/>
        <p:txBody>
          <a:bodyPr/>
          <a:lstStyle/>
          <a:p>
            <a:fld id="{2754576A-F041-465B-B05C-90CC0BF4FA50}" type="slidenum">
              <a:rPr lang="en-US" smtClean="0"/>
              <a:pPr/>
              <a:t>4</a:t>
            </a:fld>
            <a:endParaRPr lang="en-US"/>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endParaRPr lang="en-US"/>
          </a:p>
        </p:txBody>
      </p:sp>
      <p:sp>
        <p:nvSpPr>
          <p:cNvPr id="4" name="Slide Number Placeholder 3"/>
          <p:cNvSpPr>
            <a:spLocks noGrp="1"/>
          </p:cNvSpPr>
          <p:nvPr>
            <p:ph type="sldNum" sz="quarter" idx="10"/>
          </p:nvPr>
        </p:nvSpPr>
        <p:spPr/>
        <p:txBody>
          <a:bodyPr/>
          <a:lstStyle/>
          <a:p>
            <a:fld id="{2754576A-F041-465B-B05C-90CC0BF4FA50}" type="slidenum">
              <a:rPr lang="en-US" smtClean="0"/>
              <a:pPr/>
              <a:t>5</a:t>
            </a:fld>
            <a:endParaRPr lang="en-US"/>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endParaRPr lang="en-US"/>
          </a:p>
        </p:txBody>
      </p:sp>
      <p:sp>
        <p:nvSpPr>
          <p:cNvPr id="4" name="Slide Number Placeholder 3"/>
          <p:cNvSpPr>
            <a:spLocks noGrp="1"/>
          </p:cNvSpPr>
          <p:nvPr>
            <p:ph type="sldNum" sz="quarter" idx="10"/>
          </p:nvPr>
        </p:nvSpPr>
        <p:spPr/>
        <p:txBody>
          <a:bodyPr/>
          <a:lstStyle/>
          <a:p>
            <a:fld id="{2754576A-F041-465B-B05C-90CC0BF4FA50}" type="slidenum">
              <a:rPr lang="en-US" smtClean="0"/>
              <a:pPr/>
              <a:t>6</a:t>
            </a:fld>
            <a:endParaRPr lang="en-US"/>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endParaRPr lang="en-US"/>
          </a:p>
        </p:txBody>
      </p:sp>
      <p:sp>
        <p:nvSpPr>
          <p:cNvPr id="4" name="Slide Number Placeholder 3"/>
          <p:cNvSpPr>
            <a:spLocks noGrp="1"/>
          </p:cNvSpPr>
          <p:nvPr>
            <p:ph type="sldNum" sz="quarter" idx="10"/>
          </p:nvPr>
        </p:nvSpPr>
        <p:spPr/>
        <p:txBody>
          <a:bodyPr/>
          <a:lstStyle/>
          <a:p>
            <a:fld id="{3AED0B83-FA1E-482D-AD89-4E224F76AB55}" type="slidenum">
              <a:rPr lang="en-US" smtClean="0"/>
              <a:pPr/>
              <a:t>7</a:t>
            </a:fld>
            <a:endParaRPr lang="en-US"/>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endParaRPr lang="en-US"/>
          </a:p>
        </p:txBody>
      </p:sp>
      <p:sp>
        <p:nvSpPr>
          <p:cNvPr id="4" name="Slide Number Placeholder 3"/>
          <p:cNvSpPr>
            <a:spLocks noGrp="1"/>
          </p:cNvSpPr>
          <p:nvPr>
            <p:ph type="sldNum" sz="quarter" idx="10"/>
          </p:nvPr>
        </p:nvSpPr>
        <p:spPr/>
        <p:txBody>
          <a:bodyPr/>
          <a:lstStyle/>
          <a:p>
            <a:fld id="{3AED0B83-FA1E-482D-AD89-4E224F76AB55}" type="slidenum">
              <a:rPr lang="en-US" smtClean="0"/>
              <a:pPr/>
              <a:t>8</a:t>
            </a:fld>
            <a:endParaRPr lang="en-US"/>
          </a:p>
        </p:txBody>
      </p:sp>
    </p:spTree>
    <p:extLst>
      <p:ext uri="{BB962C8B-B14F-4D97-AF65-F5344CB8AC3E}">
        <p14:creationId xmlns:p14="http://schemas.microsoft.com/office/powerpoint/2010/main" val="3585520284"/>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endParaRPr lang="en-US"/>
          </a:p>
        </p:txBody>
      </p:sp>
      <p:sp>
        <p:nvSpPr>
          <p:cNvPr id="4" name="Slide Number Placeholder 3"/>
          <p:cNvSpPr>
            <a:spLocks noGrp="1"/>
          </p:cNvSpPr>
          <p:nvPr>
            <p:ph type="sldNum" sz="quarter" idx="10"/>
          </p:nvPr>
        </p:nvSpPr>
        <p:spPr/>
        <p:txBody>
          <a:bodyPr/>
          <a:lstStyle/>
          <a:p>
            <a:fld id="{3AED0B83-FA1E-482D-AD89-4E224F76AB55}" type="slidenum">
              <a:rPr lang="en-US" smtClean="0"/>
              <a:pPr/>
              <a:t>9</a:t>
            </a:fld>
            <a:endParaRPr lang="en-US"/>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endParaRPr lang="en-US" dirty="0"/>
          </a:p>
        </p:txBody>
      </p:sp>
      <p:sp>
        <p:nvSpPr>
          <p:cNvPr id="4" name="Slide Number Placeholder 3"/>
          <p:cNvSpPr>
            <a:spLocks noGrp="1"/>
          </p:cNvSpPr>
          <p:nvPr>
            <p:ph type="sldNum" sz="quarter" idx="10"/>
          </p:nvPr>
        </p:nvSpPr>
        <p:spPr/>
        <p:txBody>
          <a:bodyPr/>
          <a:lstStyle/>
          <a:p>
            <a:fld id="{3AED0B83-FA1E-482D-AD89-4E224F76AB55}" type="slidenum">
              <a:rPr lang="en-US" smtClean="0"/>
              <a:pPr/>
              <a:t>10</a:t>
            </a:fld>
            <a:endParaRPr lang="en-US"/>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endParaRPr lang="en-US"/>
          </a:p>
        </p:txBody>
      </p:sp>
      <p:sp>
        <p:nvSpPr>
          <p:cNvPr id="4" name="Slide Number Placeholder 3"/>
          <p:cNvSpPr>
            <a:spLocks noGrp="1"/>
          </p:cNvSpPr>
          <p:nvPr>
            <p:ph type="sldNum" sz="quarter" idx="10"/>
          </p:nvPr>
        </p:nvSpPr>
        <p:spPr/>
        <p:txBody>
          <a:bodyPr/>
          <a:lstStyle/>
          <a:p>
            <a:fld id="{3AED0B83-FA1E-482D-AD89-4E224F76AB55}" type="slidenum">
              <a:rPr lang="en-US" smtClean="0"/>
              <a:pPr/>
              <a:t>11</a:t>
            </a:fld>
            <a:endParaRPr lang="en-US"/>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endParaRPr lang="en-US"/>
          </a:p>
        </p:txBody>
      </p:sp>
      <p:sp>
        <p:nvSpPr>
          <p:cNvPr id="4" name="Slide Number Placeholder 3"/>
          <p:cNvSpPr>
            <a:spLocks noGrp="1"/>
          </p:cNvSpPr>
          <p:nvPr>
            <p:ph type="sldNum" sz="quarter" idx="10"/>
          </p:nvPr>
        </p:nvSpPr>
        <p:spPr/>
        <p:txBody>
          <a:bodyPr/>
          <a:lstStyle/>
          <a:p>
            <a:fld id="{3AED0B83-FA1E-482D-AD89-4E224F76AB55}" type="slidenum">
              <a:rPr lang="en-US" smtClean="0"/>
              <a:pPr/>
              <a:t>12</a:t>
            </a:fld>
            <a:endParaRPr lang="en-US"/>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3AED0B83-FA1E-482D-AD89-4E224F76AB55}" type="slidenum">
              <a:rPr lang="en-US" smtClean="0"/>
              <a:pPr/>
              <a:t>13</a:t>
            </a:fld>
            <a:endParaRPr lang="en-US" dirty="0"/>
          </a:p>
        </p:txBody>
      </p:sp>
    </p:spTree>
    <p:extLst>
      <p:ext uri="{BB962C8B-B14F-4D97-AF65-F5344CB8AC3E}">
        <p14:creationId xmlns:p14="http://schemas.microsoft.com/office/powerpoint/2010/main" val="249728904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endParaRPr lang="en-US"/>
          </a:p>
        </p:txBody>
      </p:sp>
      <p:sp>
        <p:nvSpPr>
          <p:cNvPr id="4" name="Slide Number Placeholder 3"/>
          <p:cNvSpPr>
            <a:spLocks noGrp="1"/>
          </p:cNvSpPr>
          <p:nvPr>
            <p:ph type="sldNum" sz="quarter" idx="10"/>
          </p:nvPr>
        </p:nvSpPr>
        <p:spPr/>
        <p:txBody>
          <a:bodyPr/>
          <a:lstStyle/>
          <a:p>
            <a:fld id="{3AED0B83-FA1E-482D-AD89-4E224F76AB55}" type="slidenum">
              <a:rPr lang="en-US" smtClean="0"/>
              <a:pPr/>
              <a:t>14</a:t>
            </a:fld>
            <a:endParaRPr lang="en-US"/>
          </a:p>
        </p:txBody>
      </p:sp>
    </p:spTree>
    <p:extLst>
      <p:ext uri="{BB962C8B-B14F-4D97-AF65-F5344CB8AC3E}">
        <p14:creationId xmlns:p14="http://schemas.microsoft.com/office/powerpoint/2010/main" val="552218223"/>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endParaRPr lang="en-US"/>
          </a:p>
        </p:txBody>
      </p:sp>
      <p:sp>
        <p:nvSpPr>
          <p:cNvPr id="4" name="Slide Number Placeholder 3"/>
          <p:cNvSpPr>
            <a:spLocks noGrp="1"/>
          </p:cNvSpPr>
          <p:nvPr>
            <p:ph type="sldNum" sz="quarter" idx="10"/>
          </p:nvPr>
        </p:nvSpPr>
        <p:spPr/>
        <p:txBody>
          <a:bodyPr/>
          <a:lstStyle/>
          <a:p>
            <a:fld id="{3AED0B83-FA1E-482D-AD89-4E224F76AB55}" type="slidenum">
              <a:rPr lang="en-US" smtClean="0"/>
              <a:pPr/>
              <a:t>15</a:t>
            </a:fld>
            <a:endParaRPr lang="en-US"/>
          </a:p>
        </p:txBody>
      </p:sp>
    </p:spTree>
    <p:extLst>
      <p:ext uri="{BB962C8B-B14F-4D97-AF65-F5344CB8AC3E}">
        <p14:creationId xmlns:p14="http://schemas.microsoft.com/office/powerpoint/2010/main" val="3106622508"/>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endParaRPr lang="en-US"/>
          </a:p>
        </p:txBody>
      </p:sp>
      <p:sp>
        <p:nvSpPr>
          <p:cNvPr id="4" name="Slide Number Placeholder 3"/>
          <p:cNvSpPr>
            <a:spLocks noGrp="1"/>
          </p:cNvSpPr>
          <p:nvPr>
            <p:ph type="sldNum" sz="quarter" idx="10"/>
          </p:nvPr>
        </p:nvSpPr>
        <p:spPr/>
        <p:txBody>
          <a:bodyPr/>
          <a:lstStyle/>
          <a:p>
            <a:fld id="{3AED0B83-FA1E-482D-AD89-4E224F76AB55}" type="slidenum">
              <a:rPr lang="en-US" smtClean="0"/>
              <a:pPr/>
              <a:t>16</a:t>
            </a:fld>
            <a:endParaRPr lang="en-US"/>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endParaRPr lang="en-US"/>
          </a:p>
        </p:txBody>
      </p:sp>
      <p:sp>
        <p:nvSpPr>
          <p:cNvPr id="4" name="Slide Number Placeholder 3"/>
          <p:cNvSpPr>
            <a:spLocks noGrp="1"/>
          </p:cNvSpPr>
          <p:nvPr>
            <p:ph type="sldNum" sz="quarter" idx="10"/>
          </p:nvPr>
        </p:nvSpPr>
        <p:spPr/>
        <p:txBody>
          <a:bodyPr/>
          <a:lstStyle/>
          <a:p>
            <a:fld id="{3AED0B83-FA1E-482D-AD89-4E224F76AB55}" type="slidenum">
              <a:rPr lang="en-US" smtClean="0"/>
              <a:pPr/>
              <a:t>18</a:t>
            </a:fld>
            <a:endParaRPr lang="en-US"/>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endParaRPr lang="en-US"/>
          </a:p>
        </p:txBody>
      </p:sp>
      <p:sp>
        <p:nvSpPr>
          <p:cNvPr id="4" name="Slide Number Placeholder 3"/>
          <p:cNvSpPr>
            <a:spLocks noGrp="1"/>
          </p:cNvSpPr>
          <p:nvPr>
            <p:ph type="sldNum" sz="quarter" idx="10"/>
          </p:nvPr>
        </p:nvSpPr>
        <p:spPr/>
        <p:txBody>
          <a:bodyPr/>
          <a:lstStyle/>
          <a:p>
            <a:fld id="{3AED0B83-FA1E-482D-AD89-4E224F76AB55}" type="slidenum">
              <a:rPr lang="en-US" smtClean="0"/>
              <a:pPr/>
              <a:t>19</a:t>
            </a:fld>
            <a:endParaRPr lang="en-US"/>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endParaRPr lang="en-US"/>
          </a:p>
        </p:txBody>
      </p:sp>
      <p:sp>
        <p:nvSpPr>
          <p:cNvPr id="4" name="Slide Number Placeholder 3"/>
          <p:cNvSpPr>
            <a:spLocks noGrp="1"/>
          </p:cNvSpPr>
          <p:nvPr>
            <p:ph type="sldNum" sz="quarter" idx="10"/>
          </p:nvPr>
        </p:nvSpPr>
        <p:spPr/>
        <p:txBody>
          <a:bodyPr/>
          <a:lstStyle/>
          <a:p>
            <a:fld id="{3AED0B83-FA1E-482D-AD89-4E224F76AB55}" type="slidenum">
              <a:rPr lang="en-US" smtClean="0"/>
              <a:pPr/>
              <a:t>20</a:t>
            </a:fld>
            <a:endParaRPr lang="en-US"/>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endParaRPr lang="en-US"/>
          </a:p>
        </p:txBody>
      </p:sp>
      <p:sp>
        <p:nvSpPr>
          <p:cNvPr id="4" name="Slide Number Placeholder 3"/>
          <p:cNvSpPr>
            <a:spLocks noGrp="1"/>
          </p:cNvSpPr>
          <p:nvPr>
            <p:ph type="sldNum" sz="quarter" idx="10"/>
          </p:nvPr>
        </p:nvSpPr>
        <p:spPr/>
        <p:txBody>
          <a:bodyPr/>
          <a:lstStyle/>
          <a:p>
            <a:fld id="{3AED0B83-FA1E-482D-AD89-4E224F76AB55}" type="slidenum">
              <a:rPr lang="en-US" smtClean="0"/>
              <a:pPr/>
              <a:t>21</a:t>
            </a:fld>
            <a:endParaRPr lang="en-US"/>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endParaRPr lang="en-US"/>
          </a:p>
        </p:txBody>
      </p:sp>
      <p:sp>
        <p:nvSpPr>
          <p:cNvPr id="4" name="Slide Number Placeholder 3"/>
          <p:cNvSpPr>
            <a:spLocks noGrp="1"/>
          </p:cNvSpPr>
          <p:nvPr>
            <p:ph type="sldNum" sz="quarter" idx="10"/>
          </p:nvPr>
        </p:nvSpPr>
        <p:spPr/>
        <p:txBody>
          <a:bodyPr/>
          <a:lstStyle/>
          <a:p>
            <a:fld id="{3AED0B83-FA1E-482D-AD89-4E224F76AB55}" type="slidenum">
              <a:rPr lang="en-US" smtClean="0"/>
              <a:pPr/>
              <a:t>22</a:t>
            </a:fld>
            <a:endParaRPr lang="en-US"/>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endParaRPr lang="en-US"/>
          </a:p>
        </p:txBody>
      </p:sp>
      <p:sp>
        <p:nvSpPr>
          <p:cNvPr id="4" name="Slide Number Placeholder 3"/>
          <p:cNvSpPr>
            <a:spLocks noGrp="1"/>
          </p:cNvSpPr>
          <p:nvPr>
            <p:ph type="sldNum" sz="quarter" idx="10"/>
          </p:nvPr>
        </p:nvSpPr>
        <p:spPr/>
        <p:txBody>
          <a:bodyPr/>
          <a:lstStyle/>
          <a:p>
            <a:fld id="{3AED0B83-FA1E-482D-AD89-4E224F76AB55}" type="slidenum">
              <a:rPr lang="en-US" smtClean="0"/>
              <a:pPr/>
              <a:t>24</a:t>
            </a:fld>
            <a:endParaRPr lang="en-US"/>
          </a:p>
        </p:txBody>
      </p:sp>
    </p:spTree>
    <p:extLst>
      <p:ext uri="{BB962C8B-B14F-4D97-AF65-F5344CB8AC3E}">
        <p14:creationId xmlns:p14="http://schemas.microsoft.com/office/powerpoint/2010/main" val="4070255023"/>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endParaRPr lang="en-US"/>
          </a:p>
        </p:txBody>
      </p:sp>
      <p:sp>
        <p:nvSpPr>
          <p:cNvPr id="4" name="Slide Number Placeholder 3"/>
          <p:cNvSpPr>
            <a:spLocks noGrp="1"/>
          </p:cNvSpPr>
          <p:nvPr>
            <p:ph type="sldNum" sz="quarter" idx="10"/>
          </p:nvPr>
        </p:nvSpPr>
        <p:spPr/>
        <p:txBody>
          <a:bodyPr/>
          <a:lstStyle/>
          <a:p>
            <a:fld id="{3AED0B83-FA1E-482D-AD89-4E224F76AB55}" type="slidenum">
              <a:rPr lang="en-US" smtClean="0"/>
              <a:pPr/>
              <a:t>37</a:t>
            </a:fld>
            <a:endParaRPr lang="en-US"/>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endParaRPr lang="en-US"/>
          </a:p>
        </p:txBody>
      </p:sp>
      <p:sp>
        <p:nvSpPr>
          <p:cNvPr id="4" name="Slide Number Placeholder 3"/>
          <p:cNvSpPr>
            <a:spLocks noGrp="1"/>
          </p:cNvSpPr>
          <p:nvPr>
            <p:ph type="sldNum" sz="quarter" idx="10"/>
          </p:nvPr>
        </p:nvSpPr>
        <p:spPr/>
        <p:txBody>
          <a:bodyPr/>
          <a:lstStyle/>
          <a:p>
            <a:fld id="{3AED0B83-FA1E-482D-AD89-4E224F76AB55}" type="slidenum">
              <a:rPr lang="en-US" smtClean="0"/>
              <a:pPr/>
              <a:t>38</a:t>
            </a:fld>
            <a:endParaRPr lang="en-US"/>
          </a:p>
        </p:txBody>
      </p:sp>
    </p:spTree>
    <p:extLst>
      <p:ext uri="{BB962C8B-B14F-4D97-AF65-F5344CB8AC3E}">
        <p14:creationId xmlns:p14="http://schemas.microsoft.com/office/powerpoint/2010/main" val="1423660299"/>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endParaRPr lang="en-US"/>
          </a:p>
        </p:txBody>
      </p:sp>
      <p:sp>
        <p:nvSpPr>
          <p:cNvPr id="4" name="Slide Number Placeholder 3"/>
          <p:cNvSpPr>
            <a:spLocks noGrp="1"/>
          </p:cNvSpPr>
          <p:nvPr>
            <p:ph type="sldNum" sz="quarter" idx="10"/>
          </p:nvPr>
        </p:nvSpPr>
        <p:spPr/>
        <p:txBody>
          <a:bodyPr/>
          <a:lstStyle/>
          <a:p>
            <a:fld id="{3AED0B83-FA1E-482D-AD89-4E224F76AB55}" type="slidenum">
              <a:rPr lang="en-US" smtClean="0"/>
              <a:pPr/>
              <a:t>41</a:t>
            </a:fld>
            <a:endParaRPr lang="en-US"/>
          </a:p>
        </p:txBody>
      </p:sp>
    </p:spTree>
    <p:extLst>
      <p:ext uri="{BB962C8B-B14F-4D97-AF65-F5344CB8AC3E}">
        <p14:creationId xmlns:p14="http://schemas.microsoft.com/office/powerpoint/2010/main" val="1329530763"/>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endParaRPr lang="en-US"/>
          </a:p>
        </p:txBody>
      </p:sp>
      <p:sp>
        <p:nvSpPr>
          <p:cNvPr id="4" name="Slide Number Placeholder 3"/>
          <p:cNvSpPr>
            <a:spLocks noGrp="1"/>
          </p:cNvSpPr>
          <p:nvPr>
            <p:ph type="sldNum" sz="quarter" idx="10"/>
          </p:nvPr>
        </p:nvSpPr>
        <p:spPr/>
        <p:txBody>
          <a:bodyPr/>
          <a:lstStyle/>
          <a:p>
            <a:fld id="{3AED0B83-FA1E-482D-AD89-4E224F76AB55}" type="slidenum">
              <a:rPr lang="en-US" smtClean="0"/>
              <a:pPr/>
              <a:t>42</a:t>
            </a:fld>
            <a:endParaRPr lang="en-US"/>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endParaRPr lang="en-US" dirty="0"/>
          </a:p>
        </p:txBody>
      </p:sp>
      <p:sp>
        <p:nvSpPr>
          <p:cNvPr id="4" name="Slide Number Placeholder 3"/>
          <p:cNvSpPr>
            <a:spLocks noGrp="1"/>
          </p:cNvSpPr>
          <p:nvPr>
            <p:ph type="sldNum" sz="quarter" idx="10"/>
          </p:nvPr>
        </p:nvSpPr>
        <p:spPr/>
        <p:txBody>
          <a:bodyPr/>
          <a:lstStyle/>
          <a:p>
            <a:fld id="{3AED0B83-FA1E-482D-AD89-4E224F76AB55}" type="slidenum">
              <a:rPr lang="en-US" smtClean="0"/>
              <a:pPr/>
              <a:t>43</a:t>
            </a:fld>
            <a:endParaRPr lang="en-US"/>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endParaRPr lang="en-US"/>
          </a:p>
        </p:txBody>
      </p:sp>
      <p:sp>
        <p:nvSpPr>
          <p:cNvPr id="4" name="Slide Number Placeholder 3"/>
          <p:cNvSpPr>
            <a:spLocks noGrp="1"/>
          </p:cNvSpPr>
          <p:nvPr>
            <p:ph type="sldNum" sz="quarter" idx="10"/>
          </p:nvPr>
        </p:nvSpPr>
        <p:spPr/>
        <p:txBody>
          <a:bodyPr/>
          <a:lstStyle/>
          <a:p>
            <a:fld id="{3AED0B83-FA1E-482D-AD89-4E224F76AB55}" type="slidenum">
              <a:rPr lang="en-US" smtClean="0"/>
              <a:pPr/>
              <a:t>48</a:t>
            </a:fld>
            <a:endParaRPr lang="en-US"/>
          </a:p>
        </p:txBody>
      </p:sp>
    </p:spTree>
    <p:extLst>
      <p:ext uri="{BB962C8B-B14F-4D97-AF65-F5344CB8AC3E}">
        <p14:creationId xmlns:p14="http://schemas.microsoft.com/office/powerpoint/2010/main" val="2689545653"/>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endParaRPr lang="en-US"/>
          </a:p>
        </p:txBody>
      </p:sp>
      <p:sp>
        <p:nvSpPr>
          <p:cNvPr id="4" name="Slide Number Placeholder 3"/>
          <p:cNvSpPr>
            <a:spLocks noGrp="1"/>
          </p:cNvSpPr>
          <p:nvPr>
            <p:ph type="sldNum" sz="quarter" idx="10"/>
          </p:nvPr>
        </p:nvSpPr>
        <p:spPr/>
        <p:txBody>
          <a:bodyPr/>
          <a:lstStyle/>
          <a:p>
            <a:fld id="{3AED0B83-FA1E-482D-AD89-4E224F76AB55}" type="slidenum">
              <a:rPr lang="en-US" smtClean="0"/>
              <a:pPr/>
              <a:t>49</a:t>
            </a:fld>
            <a:endParaRPr lang="en-US"/>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endParaRPr lang="en-US"/>
          </a:p>
        </p:txBody>
      </p:sp>
      <p:sp>
        <p:nvSpPr>
          <p:cNvPr id="4" name="Slide Number Placeholder 3"/>
          <p:cNvSpPr>
            <a:spLocks noGrp="1"/>
          </p:cNvSpPr>
          <p:nvPr>
            <p:ph type="sldNum" sz="quarter" idx="10"/>
          </p:nvPr>
        </p:nvSpPr>
        <p:spPr/>
        <p:txBody>
          <a:bodyPr/>
          <a:lstStyle/>
          <a:p>
            <a:fld id="{3AED0B83-FA1E-482D-AD89-4E224F76AB55}" type="slidenum">
              <a:rPr lang="en-US" smtClean="0"/>
              <a:pPr/>
              <a:t>50</a:t>
            </a:fld>
            <a:endParaRPr lang="en-US"/>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endParaRPr lang="en-US"/>
          </a:p>
        </p:txBody>
      </p:sp>
      <p:sp>
        <p:nvSpPr>
          <p:cNvPr id="4" name="Slide Number Placeholder 3"/>
          <p:cNvSpPr>
            <a:spLocks noGrp="1"/>
          </p:cNvSpPr>
          <p:nvPr>
            <p:ph type="sldNum" sz="quarter" idx="10"/>
          </p:nvPr>
        </p:nvSpPr>
        <p:spPr/>
        <p:txBody>
          <a:bodyPr/>
          <a:lstStyle/>
          <a:p>
            <a:fld id="{3AED0B83-FA1E-482D-AD89-4E224F76AB55}" type="slidenum">
              <a:rPr lang="en-US" smtClean="0"/>
              <a:pPr/>
              <a:t>51</a:t>
            </a:fld>
            <a:endParaRPr lang="en-US"/>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endParaRPr lang="en-US"/>
          </a:p>
        </p:txBody>
      </p:sp>
      <p:sp>
        <p:nvSpPr>
          <p:cNvPr id="4" name="Slide Number Placeholder 3"/>
          <p:cNvSpPr>
            <a:spLocks noGrp="1"/>
          </p:cNvSpPr>
          <p:nvPr>
            <p:ph type="sldNum" sz="quarter" idx="10"/>
          </p:nvPr>
        </p:nvSpPr>
        <p:spPr/>
        <p:txBody>
          <a:bodyPr/>
          <a:lstStyle/>
          <a:p>
            <a:fld id="{3AED0B83-FA1E-482D-AD89-4E224F76AB55}" type="slidenum">
              <a:rPr lang="en-US" smtClean="0"/>
              <a:pPr/>
              <a:t>53</a:t>
            </a:fld>
            <a:endParaRPr lang="en-US"/>
          </a:p>
        </p:txBody>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endParaRPr lang="en-US"/>
          </a:p>
        </p:txBody>
      </p:sp>
      <p:sp>
        <p:nvSpPr>
          <p:cNvPr id="4" name="Slide Number Placeholder 3"/>
          <p:cNvSpPr>
            <a:spLocks noGrp="1"/>
          </p:cNvSpPr>
          <p:nvPr>
            <p:ph type="sldNum" sz="quarter" idx="10"/>
          </p:nvPr>
        </p:nvSpPr>
        <p:spPr/>
        <p:txBody>
          <a:bodyPr/>
          <a:lstStyle/>
          <a:p>
            <a:fld id="{CA8F1D18-9638-4932-8910-B6EDCB447AA8}" type="slidenum">
              <a:rPr lang="en-US" smtClean="0"/>
              <a:pPr/>
              <a:t>55</a:t>
            </a:fld>
            <a:endParaRPr lang="en-US"/>
          </a:p>
        </p:txBody>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endParaRPr lang="en-US"/>
          </a:p>
        </p:txBody>
      </p:sp>
      <p:sp>
        <p:nvSpPr>
          <p:cNvPr id="4" name="Slide Number Placeholder 3"/>
          <p:cNvSpPr>
            <a:spLocks noGrp="1"/>
          </p:cNvSpPr>
          <p:nvPr>
            <p:ph type="sldNum" sz="quarter" idx="10"/>
          </p:nvPr>
        </p:nvSpPr>
        <p:spPr/>
        <p:txBody>
          <a:bodyPr/>
          <a:lstStyle/>
          <a:p>
            <a:fld id="{CA8F1D18-9638-4932-8910-B6EDCB447AA8}" type="slidenum">
              <a:rPr lang="en-US" smtClean="0"/>
              <a:pPr/>
              <a:t>56</a:t>
            </a:fld>
            <a:endParaRPr lang="en-US"/>
          </a:p>
        </p:txBody>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endParaRPr lang="en-US"/>
          </a:p>
        </p:txBody>
      </p:sp>
      <p:sp>
        <p:nvSpPr>
          <p:cNvPr id="4" name="Slide Number Placeholder 3"/>
          <p:cNvSpPr>
            <a:spLocks noGrp="1"/>
          </p:cNvSpPr>
          <p:nvPr>
            <p:ph type="sldNum" sz="quarter" idx="10"/>
          </p:nvPr>
        </p:nvSpPr>
        <p:spPr/>
        <p:txBody>
          <a:bodyPr/>
          <a:lstStyle/>
          <a:p>
            <a:fld id="{CA8F1D18-9638-4932-8910-B6EDCB447AA8}" type="slidenum">
              <a:rPr lang="en-US" smtClean="0"/>
              <a:pPr/>
              <a:t>57</a:t>
            </a:fld>
            <a:endParaRPr lang="en-US"/>
          </a:p>
        </p:txBody>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endParaRPr lang="en-US"/>
          </a:p>
        </p:txBody>
      </p:sp>
      <p:sp>
        <p:nvSpPr>
          <p:cNvPr id="4" name="Slide Number Placeholder 3"/>
          <p:cNvSpPr>
            <a:spLocks noGrp="1"/>
          </p:cNvSpPr>
          <p:nvPr>
            <p:ph type="sldNum" sz="quarter" idx="10"/>
          </p:nvPr>
        </p:nvSpPr>
        <p:spPr/>
        <p:txBody>
          <a:bodyPr/>
          <a:lstStyle/>
          <a:p>
            <a:fld id="{CA8F1D18-9638-4932-8910-B6EDCB447AA8}" type="slidenum">
              <a:rPr lang="en-US" smtClean="0"/>
              <a:pPr/>
              <a:t>58</a:t>
            </a:fld>
            <a:endParaRPr lang="en-US"/>
          </a:p>
        </p:txBody>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endParaRPr lang="en-US"/>
          </a:p>
        </p:txBody>
      </p:sp>
      <p:sp>
        <p:nvSpPr>
          <p:cNvPr id="4" name="Slide Number Placeholder 3"/>
          <p:cNvSpPr>
            <a:spLocks noGrp="1"/>
          </p:cNvSpPr>
          <p:nvPr>
            <p:ph type="sldNum" sz="quarter" idx="10"/>
          </p:nvPr>
        </p:nvSpPr>
        <p:spPr/>
        <p:txBody>
          <a:bodyPr/>
          <a:lstStyle/>
          <a:p>
            <a:fld id="{CA8F1D18-9638-4932-8910-B6EDCB447AA8}" type="slidenum">
              <a:rPr lang="en-US" smtClean="0"/>
              <a:pPr/>
              <a:t>59</a:t>
            </a:fld>
            <a:endParaRPr lang="en-US"/>
          </a:p>
        </p:txBody>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endParaRPr lang="en-US"/>
          </a:p>
        </p:txBody>
      </p:sp>
      <p:sp>
        <p:nvSpPr>
          <p:cNvPr id="4" name="Slide Number Placeholder 3"/>
          <p:cNvSpPr>
            <a:spLocks noGrp="1"/>
          </p:cNvSpPr>
          <p:nvPr>
            <p:ph type="sldNum" sz="quarter" idx="10"/>
          </p:nvPr>
        </p:nvSpPr>
        <p:spPr/>
        <p:txBody>
          <a:bodyPr/>
          <a:lstStyle/>
          <a:p>
            <a:fld id="{CA8F1D18-9638-4932-8910-B6EDCB447AA8}" type="slidenum">
              <a:rPr lang="en-US" smtClean="0"/>
              <a:pPr/>
              <a:t>60</a:t>
            </a:fld>
            <a:endParaRPr lang="en-US"/>
          </a:p>
        </p:txBody>
      </p:sp>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endParaRPr lang="en-US"/>
          </a:p>
        </p:txBody>
      </p:sp>
      <p:sp>
        <p:nvSpPr>
          <p:cNvPr id="4" name="Slide Number Placeholder 3"/>
          <p:cNvSpPr>
            <a:spLocks noGrp="1"/>
          </p:cNvSpPr>
          <p:nvPr>
            <p:ph type="sldNum" sz="quarter" idx="10"/>
          </p:nvPr>
        </p:nvSpPr>
        <p:spPr/>
        <p:txBody>
          <a:bodyPr/>
          <a:lstStyle/>
          <a:p>
            <a:fld id="{CA8F1D18-9638-4932-8910-B6EDCB447AA8}" type="slidenum">
              <a:rPr lang="en-US" smtClean="0"/>
              <a:pPr/>
              <a:t>61</a:t>
            </a:fld>
            <a:endParaRPr lang="en-US"/>
          </a:p>
        </p:txBody>
      </p:sp>
    </p:spTree>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endParaRPr lang="en-US"/>
          </a:p>
        </p:txBody>
      </p:sp>
      <p:sp>
        <p:nvSpPr>
          <p:cNvPr id="4" name="Slide Number Placeholder 3"/>
          <p:cNvSpPr>
            <a:spLocks noGrp="1"/>
          </p:cNvSpPr>
          <p:nvPr>
            <p:ph type="sldNum" sz="quarter" idx="10"/>
          </p:nvPr>
        </p:nvSpPr>
        <p:spPr/>
        <p:txBody>
          <a:bodyPr/>
          <a:lstStyle/>
          <a:p>
            <a:fld id="{CA8F1D18-9638-4932-8910-B6EDCB447AA8}" type="slidenum">
              <a:rPr lang="en-US" smtClean="0"/>
              <a:pPr/>
              <a:t>62</a:t>
            </a:fld>
            <a:endParaRPr lang="en-US"/>
          </a:p>
        </p:txBody>
      </p:sp>
    </p:spTree>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endParaRPr lang="en-US"/>
          </a:p>
        </p:txBody>
      </p:sp>
      <p:sp>
        <p:nvSpPr>
          <p:cNvPr id="4" name="Slide Number Placeholder 3"/>
          <p:cNvSpPr>
            <a:spLocks noGrp="1"/>
          </p:cNvSpPr>
          <p:nvPr>
            <p:ph type="sldNum" sz="quarter" idx="10"/>
          </p:nvPr>
        </p:nvSpPr>
        <p:spPr/>
        <p:txBody>
          <a:bodyPr/>
          <a:lstStyle/>
          <a:p>
            <a:fld id="{CA8F1D18-9638-4932-8910-B6EDCB447AA8}" type="slidenum">
              <a:rPr lang="en-US" smtClean="0"/>
              <a:pPr/>
              <a:t>64</a:t>
            </a:fld>
            <a:endParaRPr lang="en-US"/>
          </a:p>
        </p:txBody>
      </p:sp>
    </p:spTree>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endParaRPr lang="en-US"/>
          </a:p>
        </p:txBody>
      </p:sp>
      <p:sp>
        <p:nvSpPr>
          <p:cNvPr id="4" name="Slide Number Placeholder 3"/>
          <p:cNvSpPr>
            <a:spLocks noGrp="1"/>
          </p:cNvSpPr>
          <p:nvPr>
            <p:ph type="sldNum" sz="quarter" idx="10"/>
          </p:nvPr>
        </p:nvSpPr>
        <p:spPr/>
        <p:txBody>
          <a:bodyPr/>
          <a:lstStyle/>
          <a:p>
            <a:fld id="{CA8F1D18-9638-4932-8910-B6EDCB447AA8}" type="slidenum">
              <a:rPr lang="en-US" smtClean="0"/>
              <a:pPr/>
              <a:t>66</a:t>
            </a:fld>
            <a:endParaRPr lang="en-US"/>
          </a:p>
        </p:txBody>
      </p:sp>
    </p:spTree>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r>
              <a:rPr lang="en-US" dirty="0"/>
              <a:t>Dates back to 1968 </a:t>
            </a:r>
          </a:p>
        </p:txBody>
      </p:sp>
      <p:sp>
        <p:nvSpPr>
          <p:cNvPr id="4" name="Slide Number Placeholder 3"/>
          <p:cNvSpPr>
            <a:spLocks noGrp="1"/>
          </p:cNvSpPr>
          <p:nvPr>
            <p:ph type="sldNum" sz="quarter" idx="10"/>
          </p:nvPr>
        </p:nvSpPr>
        <p:spPr/>
        <p:txBody>
          <a:bodyPr/>
          <a:lstStyle/>
          <a:p>
            <a:fld id="{CA8F1D18-9638-4932-8910-B6EDCB447AA8}" type="slidenum">
              <a:rPr lang="en-US" smtClean="0"/>
              <a:pPr/>
              <a:t>67</a:t>
            </a:fld>
            <a:endParaRPr lang="en-US"/>
          </a:p>
        </p:txBody>
      </p:sp>
    </p:spTree>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endParaRPr lang="en-US"/>
          </a:p>
        </p:txBody>
      </p:sp>
      <p:sp>
        <p:nvSpPr>
          <p:cNvPr id="4" name="Slide Number Placeholder 3"/>
          <p:cNvSpPr>
            <a:spLocks noGrp="1"/>
          </p:cNvSpPr>
          <p:nvPr>
            <p:ph type="sldNum" sz="quarter" idx="10"/>
          </p:nvPr>
        </p:nvSpPr>
        <p:spPr/>
        <p:txBody>
          <a:bodyPr/>
          <a:lstStyle/>
          <a:p>
            <a:fld id="{CA8F1D18-9638-4932-8910-B6EDCB447AA8}" type="slidenum">
              <a:rPr lang="en-US" smtClean="0"/>
              <a:pPr/>
              <a:t>68</a:t>
            </a:fld>
            <a:endParaRPr lang="en-US"/>
          </a:p>
        </p:txBody>
      </p:sp>
    </p:spTree>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endParaRPr lang="en-US"/>
          </a:p>
        </p:txBody>
      </p:sp>
      <p:sp>
        <p:nvSpPr>
          <p:cNvPr id="4" name="Slide Number Placeholder 3"/>
          <p:cNvSpPr>
            <a:spLocks noGrp="1"/>
          </p:cNvSpPr>
          <p:nvPr>
            <p:ph type="sldNum" sz="quarter" idx="10"/>
          </p:nvPr>
        </p:nvSpPr>
        <p:spPr/>
        <p:txBody>
          <a:bodyPr/>
          <a:lstStyle/>
          <a:p>
            <a:fld id="{CA8F1D18-9638-4932-8910-B6EDCB447AA8}" type="slidenum">
              <a:rPr lang="en-US" smtClean="0"/>
              <a:pPr/>
              <a:t>69</a:t>
            </a:fld>
            <a:endParaRPr lang="en-US"/>
          </a:p>
        </p:txBody>
      </p:sp>
    </p:spTree>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endParaRPr lang="en-US"/>
          </a:p>
        </p:txBody>
      </p:sp>
      <p:sp>
        <p:nvSpPr>
          <p:cNvPr id="4" name="Slide Number Placeholder 3"/>
          <p:cNvSpPr>
            <a:spLocks noGrp="1"/>
          </p:cNvSpPr>
          <p:nvPr>
            <p:ph type="sldNum" sz="quarter" idx="10"/>
          </p:nvPr>
        </p:nvSpPr>
        <p:spPr/>
        <p:txBody>
          <a:bodyPr/>
          <a:lstStyle/>
          <a:p>
            <a:fld id="{CA8F1D18-9638-4932-8910-B6EDCB447AA8}" type="slidenum">
              <a:rPr lang="en-US" smtClean="0"/>
              <a:pPr/>
              <a:t>70</a:t>
            </a:fld>
            <a:endParaRPr lang="en-US"/>
          </a:p>
        </p:txBody>
      </p:sp>
    </p:spTree>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endParaRPr lang="en-US"/>
          </a:p>
        </p:txBody>
      </p:sp>
      <p:sp>
        <p:nvSpPr>
          <p:cNvPr id="4" name="Slide Number Placeholder 3"/>
          <p:cNvSpPr>
            <a:spLocks noGrp="1"/>
          </p:cNvSpPr>
          <p:nvPr>
            <p:ph type="sldNum" sz="quarter" idx="10"/>
          </p:nvPr>
        </p:nvSpPr>
        <p:spPr/>
        <p:txBody>
          <a:bodyPr/>
          <a:lstStyle/>
          <a:p>
            <a:fld id="{CA8F1D18-9638-4932-8910-B6EDCB447AA8}" type="slidenum">
              <a:rPr lang="en-US" smtClean="0"/>
              <a:pPr/>
              <a:t>71</a:t>
            </a:fld>
            <a:endParaRPr lang="en-US"/>
          </a:p>
        </p:txBody>
      </p:sp>
    </p:spTree>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endParaRPr lang="en-US"/>
          </a:p>
        </p:txBody>
      </p:sp>
      <p:sp>
        <p:nvSpPr>
          <p:cNvPr id="4" name="Slide Number Placeholder 3"/>
          <p:cNvSpPr>
            <a:spLocks noGrp="1"/>
          </p:cNvSpPr>
          <p:nvPr>
            <p:ph type="sldNum" sz="quarter" idx="10"/>
          </p:nvPr>
        </p:nvSpPr>
        <p:spPr/>
        <p:txBody>
          <a:bodyPr/>
          <a:lstStyle/>
          <a:p>
            <a:fld id="{CA8F1D18-9638-4932-8910-B6EDCB447AA8}" type="slidenum">
              <a:rPr lang="en-US" smtClean="0"/>
              <a:pPr/>
              <a:t>72</a:t>
            </a:fld>
            <a:endParaRPr lang="en-US"/>
          </a:p>
        </p:txBody>
      </p:sp>
    </p:spTree>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endParaRPr lang="en-US"/>
          </a:p>
        </p:txBody>
      </p:sp>
      <p:sp>
        <p:nvSpPr>
          <p:cNvPr id="4" name="Slide Number Placeholder 3"/>
          <p:cNvSpPr>
            <a:spLocks noGrp="1"/>
          </p:cNvSpPr>
          <p:nvPr>
            <p:ph type="sldNum" sz="quarter" idx="10"/>
          </p:nvPr>
        </p:nvSpPr>
        <p:spPr/>
        <p:txBody>
          <a:bodyPr/>
          <a:lstStyle/>
          <a:p>
            <a:fld id="{CA8F1D18-9638-4932-8910-B6EDCB447AA8}" type="slidenum">
              <a:rPr lang="en-US" smtClean="0"/>
              <a:pPr/>
              <a:t>73</a:t>
            </a:fld>
            <a:endParaRPr lang="en-US"/>
          </a:p>
        </p:txBody>
      </p:sp>
    </p:spTree>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endParaRPr lang="en-US"/>
          </a:p>
        </p:txBody>
      </p:sp>
      <p:sp>
        <p:nvSpPr>
          <p:cNvPr id="4" name="Slide Number Placeholder 3"/>
          <p:cNvSpPr>
            <a:spLocks noGrp="1"/>
          </p:cNvSpPr>
          <p:nvPr>
            <p:ph type="sldNum" sz="quarter" idx="10"/>
          </p:nvPr>
        </p:nvSpPr>
        <p:spPr/>
        <p:txBody>
          <a:bodyPr/>
          <a:lstStyle/>
          <a:p>
            <a:fld id="{3AED0B83-FA1E-482D-AD89-4E224F76AB55}" type="slidenum">
              <a:rPr lang="en-US" smtClean="0"/>
              <a:pPr/>
              <a:t>74</a:t>
            </a:fld>
            <a:endParaRPr lang="en-US"/>
          </a:p>
        </p:txBody>
      </p:sp>
    </p:spTree>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endParaRPr lang="en-US"/>
          </a:p>
        </p:txBody>
      </p:sp>
      <p:sp>
        <p:nvSpPr>
          <p:cNvPr id="4" name="Slide Number Placeholder 3"/>
          <p:cNvSpPr>
            <a:spLocks noGrp="1"/>
          </p:cNvSpPr>
          <p:nvPr>
            <p:ph type="sldNum" sz="quarter" idx="10"/>
          </p:nvPr>
        </p:nvSpPr>
        <p:spPr/>
        <p:txBody>
          <a:bodyPr/>
          <a:lstStyle/>
          <a:p>
            <a:fld id="{CA8F1D18-9638-4932-8910-B6EDCB447AA8}" type="slidenum">
              <a:rPr lang="en-US" smtClean="0"/>
              <a:pPr/>
              <a:t>76</a:t>
            </a:fld>
            <a:endParaRPr lang="en-US"/>
          </a:p>
        </p:txBody>
      </p:sp>
    </p:spTree>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endParaRPr lang="en-US"/>
          </a:p>
        </p:txBody>
      </p:sp>
      <p:sp>
        <p:nvSpPr>
          <p:cNvPr id="4" name="Slide Number Placeholder 3"/>
          <p:cNvSpPr>
            <a:spLocks noGrp="1"/>
          </p:cNvSpPr>
          <p:nvPr>
            <p:ph type="sldNum" sz="quarter" idx="10"/>
          </p:nvPr>
        </p:nvSpPr>
        <p:spPr/>
        <p:txBody>
          <a:bodyPr/>
          <a:lstStyle/>
          <a:p>
            <a:fld id="{CA8F1D18-9638-4932-8910-B6EDCB447AA8}" type="slidenum">
              <a:rPr lang="en-US" smtClean="0"/>
              <a:pPr/>
              <a:t>77</a:t>
            </a:fld>
            <a:endParaRPr lang="en-US"/>
          </a:p>
        </p:txBody>
      </p:sp>
    </p:spTree>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endParaRPr lang="en-US"/>
          </a:p>
        </p:txBody>
      </p:sp>
      <p:sp>
        <p:nvSpPr>
          <p:cNvPr id="4" name="Slide Number Placeholder 3"/>
          <p:cNvSpPr>
            <a:spLocks noGrp="1"/>
          </p:cNvSpPr>
          <p:nvPr>
            <p:ph type="sldNum" sz="quarter" idx="10"/>
          </p:nvPr>
        </p:nvSpPr>
        <p:spPr/>
        <p:txBody>
          <a:bodyPr/>
          <a:lstStyle/>
          <a:p>
            <a:fld id="{CA8F1D18-9638-4932-8910-B6EDCB447AA8}" type="slidenum">
              <a:rPr lang="en-US" smtClean="0"/>
              <a:pPr/>
              <a:t>78</a:t>
            </a:fld>
            <a:endParaRPr lang="en-US"/>
          </a:p>
        </p:txBody>
      </p:sp>
    </p:spTree>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endParaRPr lang="en-US"/>
          </a:p>
        </p:txBody>
      </p:sp>
      <p:sp>
        <p:nvSpPr>
          <p:cNvPr id="4" name="Slide Number Placeholder 3"/>
          <p:cNvSpPr>
            <a:spLocks noGrp="1"/>
          </p:cNvSpPr>
          <p:nvPr>
            <p:ph type="sldNum" sz="quarter" idx="10"/>
          </p:nvPr>
        </p:nvSpPr>
        <p:spPr/>
        <p:txBody>
          <a:bodyPr/>
          <a:lstStyle/>
          <a:p>
            <a:fld id="{CA8F1D18-9638-4932-8910-B6EDCB447AA8}" type="slidenum">
              <a:rPr lang="en-US" smtClean="0"/>
              <a:pPr/>
              <a:t>81</a:t>
            </a:fld>
            <a:endParaRPr lang="en-US"/>
          </a:p>
        </p:txBody>
      </p:sp>
    </p:spTree>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endParaRPr lang="en-US"/>
          </a:p>
        </p:txBody>
      </p:sp>
      <p:sp>
        <p:nvSpPr>
          <p:cNvPr id="4" name="Slide Number Placeholder 3"/>
          <p:cNvSpPr>
            <a:spLocks noGrp="1"/>
          </p:cNvSpPr>
          <p:nvPr>
            <p:ph type="sldNum" sz="quarter" idx="10"/>
          </p:nvPr>
        </p:nvSpPr>
        <p:spPr/>
        <p:txBody>
          <a:bodyPr/>
          <a:lstStyle/>
          <a:p>
            <a:fld id="{CA8F1D18-9638-4932-8910-B6EDCB447AA8}" type="slidenum">
              <a:rPr lang="en-US" smtClean="0"/>
              <a:pPr/>
              <a:t>82</a:t>
            </a:fld>
            <a:endParaRPr lang="en-US"/>
          </a:p>
        </p:txBody>
      </p:sp>
    </p:spTree>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endParaRPr lang="en-US"/>
          </a:p>
        </p:txBody>
      </p:sp>
      <p:sp>
        <p:nvSpPr>
          <p:cNvPr id="4" name="Slide Number Placeholder 3"/>
          <p:cNvSpPr>
            <a:spLocks noGrp="1"/>
          </p:cNvSpPr>
          <p:nvPr>
            <p:ph type="sldNum" sz="quarter" idx="10"/>
          </p:nvPr>
        </p:nvSpPr>
        <p:spPr/>
        <p:txBody>
          <a:bodyPr/>
          <a:lstStyle/>
          <a:p>
            <a:fld id="{CA8F1D18-9638-4932-8910-B6EDCB447AA8}" type="slidenum">
              <a:rPr lang="en-US" smtClean="0"/>
              <a:pPr/>
              <a:t>83</a:t>
            </a:fld>
            <a:endParaRPr lang="en-US"/>
          </a:p>
        </p:txBody>
      </p:sp>
    </p:spTree>
    <p:extLst>
      <p:ext uri="{BB962C8B-B14F-4D97-AF65-F5344CB8AC3E}">
        <p14:creationId xmlns:p14="http://schemas.microsoft.com/office/powerpoint/2010/main" val="836876160"/>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endParaRPr lang="en-US"/>
          </a:p>
        </p:txBody>
      </p:sp>
      <p:sp>
        <p:nvSpPr>
          <p:cNvPr id="4" name="Slide Number Placeholder 3"/>
          <p:cNvSpPr>
            <a:spLocks noGrp="1"/>
          </p:cNvSpPr>
          <p:nvPr>
            <p:ph type="sldNum" sz="quarter" idx="10"/>
          </p:nvPr>
        </p:nvSpPr>
        <p:spPr/>
        <p:txBody>
          <a:bodyPr/>
          <a:lstStyle/>
          <a:p>
            <a:fld id="{CA8F1D18-9638-4932-8910-B6EDCB447AA8}" type="slidenum">
              <a:rPr lang="en-US" smtClean="0"/>
              <a:pPr/>
              <a:t>84</a:t>
            </a:fld>
            <a:endParaRPr lang="en-US"/>
          </a:p>
        </p:txBody>
      </p:sp>
    </p:spTree>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endParaRPr lang="en-US"/>
          </a:p>
        </p:txBody>
      </p:sp>
      <p:sp>
        <p:nvSpPr>
          <p:cNvPr id="4" name="Slide Number Placeholder 3"/>
          <p:cNvSpPr>
            <a:spLocks noGrp="1"/>
          </p:cNvSpPr>
          <p:nvPr>
            <p:ph type="sldNum" sz="quarter" idx="10"/>
          </p:nvPr>
        </p:nvSpPr>
        <p:spPr/>
        <p:txBody>
          <a:bodyPr/>
          <a:lstStyle/>
          <a:p>
            <a:fld id="{CA8F1D18-9638-4932-8910-B6EDCB447AA8}" type="slidenum">
              <a:rPr lang="en-US" smtClean="0"/>
              <a:pPr/>
              <a:t>85</a:t>
            </a:fld>
            <a:endParaRPr lang="en-US"/>
          </a:p>
        </p:txBody>
      </p:sp>
    </p:spTree>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endParaRPr lang="en-US"/>
          </a:p>
        </p:txBody>
      </p:sp>
      <p:sp>
        <p:nvSpPr>
          <p:cNvPr id="4" name="Slide Number Placeholder 3"/>
          <p:cNvSpPr>
            <a:spLocks noGrp="1"/>
          </p:cNvSpPr>
          <p:nvPr>
            <p:ph type="sldNum" sz="quarter" idx="10"/>
          </p:nvPr>
        </p:nvSpPr>
        <p:spPr/>
        <p:txBody>
          <a:bodyPr/>
          <a:lstStyle/>
          <a:p>
            <a:fld id="{CA8F1D18-9638-4932-8910-B6EDCB447AA8}" type="slidenum">
              <a:rPr lang="en-US" smtClean="0"/>
              <a:pPr/>
              <a:t>86</a:t>
            </a:fld>
            <a:endParaRPr lang="en-US"/>
          </a:p>
        </p:txBody>
      </p:sp>
    </p:spTree>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endParaRPr lang="en-US"/>
          </a:p>
        </p:txBody>
      </p:sp>
      <p:sp>
        <p:nvSpPr>
          <p:cNvPr id="4" name="Slide Number Placeholder 3"/>
          <p:cNvSpPr>
            <a:spLocks noGrp="1"/>
          </p:cNvSpPr>
          <p:nvPr>
            <p:ph type="sldNum" sz="quarter" idx="10"/>
          </p:nvPr>
        </p:nvSpPr>
        <p:spPr/>
        <p:txBody>
          <a:bodyPr/>
          <a:lstStyle/>
          <a:p>
            <a:fld id="{CA8F1D18-9638-4932-8910-B6EDCB447AA8}" type="slidenum">
              <a:rPr lang="en-US" smtClean="0"/>
              <a:pPr/>
              <a:t>87</a:t>
            </a:fld>
            <a:endParaRPr lang="en-US"/>
          </a:p>
        </p:txBody>
      </p:sp>
    </p:spTree>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endParaRPr lang="en-US"/>
          </a:p>
        </p:txBody>
      </p:sp>
      <p:sp>
        <p:nvSpPr>
          <p:cNvPr id="4" name="Slide Number Placeholder 3"/>
          <p:cNvSpPr>
            <a:spLocks noGrp="1"/>
          </p:cNvSpPr>
          <p:nvPr>
            <p:ph type="sldNum" sz="quarter" idx="10"/>
          </p:nvPr>
        </p:nvSpPr>
        <p:spPr/>
        <p:txBody>
          <a:bodyPr/>
          <a:lstStyle/>
          <a:p>
            <a:fld id="{3AED0B83-FA1E-482D-AD89-4E224F76AB55}" type="slidenum">
              <a:rPr lang="en-US" smtClean="0"/>
              <a:pPr/>
              <a:t>88</a:t>
            </a:fld>
            <a:endParaRPr lang="en-US"/>
          </a:p>
        </p:txBody>
      </p:sp>
    </p:spTree>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endParaRPr lang="en-US"/>
          </a:p>
        </p:txBody>
      </p:sp>
      <p:sp>
        <p:nvSpPr>
          <p:cNvPr id="4" name="Slide Number Placeholder 3"/>
          <p:cNvSpPr>
            <a:spLocks noGrp="1"/>
          </p:cNvSpPr>
          <p:nvPr>
            <p:ph type="sldNum" sz="quarter" idx="10"/>
          </p:nvPr>
        </p:nvSpPr>
        <p:spPr/>
        <p:txBody>
          <a:bodyPr/>
          <a:lstStyle/>
          <a:p>
            <a:fld id="{3AED0B83-FA1E-482D-AD89-4E224F76AB55}" type="slidenum">
              <a:rPr lang="en-US" smtClean="0"/>
              <a:pPr/>
              <a:t>89</a:t>
            </a:fld>
            <a:endParaRPr lang="en-US"/>
          </a:p>
        </p:txBody>
      </p:sp>
    </p:spTree>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B53535F-E0E5-27EA-99E6-B19FB5D44F2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533BD16-C44A-DDE0-FD58-F88BF7F9FF7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892B3C4-DFA9-6E79-3EEC-65D61CEC796C}"/>
              </a:ext>
            </a:extLst>
          </p:cNvPr>
          <p:cNvSpPr>
            <a:spLocks noGrp="1"/>
          </p:cNvSpPr>
          <p:nvPr>
            <p:ph type="body" idx="1"/>
          </p:nvPr>
        </p:nvSpPr>
        <p:spPr/>
        <p:txBody>
          <a:bodyPr>
            <a:normAutofit/>
          </a:bodyPr>
          <a:lstStyle/>
          <a:p>
            <a:endParaRPr lang="en-US"/>
          </a:p>
        </p:txBody>
      </p:sp>
      <p:sp>
        <p:nvSpPr>
          <p:cNvPr id="4" name="Slide Number Placeholder 3">
            <a:extLst>
              <a:ext uri="{FF2B5EF4-FFF2-40B4-BE49-F238E27FC236}">
                <a16:creationId xmlns:a16="http://schemas.microsoft.com/office/drawing/2014/main" id="{DFF842B6-4A88-32A6-1E81-CF8908775661}"/>
              </a:ext>
            </a:extLst>
          </p:cNvPr>
          <p:cNvSpPr>
            <a:spLocks noGrp="1"/>
          </p:cNvSpPr>
          <p:nvPr>
            <p:ph type="sldNum" sz="quarter" idx="10"/>
          </p:nvPr>
        </p:nvSpPr>
        <p:spPr/>
        <p:txBody>
          <a:bodyPr/>
          <a:lstStyle/>
          <a:p>
            <a:fld id="{2754576A-F041-465B-B05C-90CC0BF4FA50}" type="slidenum">
              <a:rPr lang="en-US" smtClean="0"/>
              <a:pPr/>
              <a:t>91</a:t>
            </a:fld>
            <a:endParaRPr lang="en-US"/>
          </a:p>
        </p:txBody>
      </p:sp>
    </p:spTree>
    <p:extLst>
      <p:ext uri="{BB962C8B-B14F-4D97-AF65-F5344CB8AC3E}">
        <p14:creationId xmlns:p14="http://schemas.microsoft.com/office/powerpoint/2010/main" val="1877064542"/>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endParaRPr lang="en-US" dirty="0"/>
          </a:p>
        </p:txBody>
      </p:sp>
      <p:sp>
        <p:nvSpPr>
          <p:cNvPr id="4" name="Slide Number Placeholder 3"/>
          <p:cNvSpPr>
            <a:spLocks noGrp="1"/>
          </p:cNvSpPr>
          <p:nvPr>
            <p:ph type="sldNum" sz="quarter" idx="10"/>
          </p:nvPr>
        </p:nvSpPr>
        <p:spPr/>
        <p:txBody>
          <a:bodyPr/>
          <a:lstStyle/>
          <a:p>
            <a:fld id="{3AED0B83-FA1E-482D-AD89-4E224F76AB55}" type="slidenum">
              <a:rPr lang="en-US" smtClean="0"/>
              <a:pPr/>
              <a:t>94</a:t>
            </a:fld>
            <a:endParaRPr lang="en-US"/>
          </a:p>
        </p:txBody>
      </p:sp>
    </p:spTree>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endParaRPr lang="en-US"/>
          </a:p>
        </p:txBody>
      </p:sp>
      <p:sp>
        <p:nvSpPr>
          <p:cNvPr id="4" name="Slide Number Placeholder 3"/>
          <p:cNvSpPr>
            <a:spLocks noGrp="1"/>
          </p:cNvSpPr>
          <p:nvPr>
            <p:ph type="sldNum" sz="quarter" idx="10"/>
          </p:nvPr>
        </p:nvSpPr>
        <p:spPr/>
        <p:txBody>
          <a:bodyPr/>
          <a:lstStyle/>
          <a:p>
            <a:fld id="{3AED0B83-FA1E-482D-AD89-4E224F76AB55}" type="slidenum">
              <a:rPr lang="en-US" smtClean="0"/>
              <a:pPr/>
              <a:t>95</a:t>
            </a:fld>
            <a:endParaRPr lang="en-US"/>
          </a:p>
        </p:txBody>
      </p:sp>
    </p:spTree>
    <p:extLst>
      <p:ext uri="{BB962C8B-B14F-4D97-AF65-F5344CB8AC3E}">
        <p14:creationId xmlns:p14="http://schemas.microsoft.com/office/powerpoint/2010/main" val="879119384"/>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B43A0A1-3327-45CE-8A21-0BF59E3A9C67}"/>
              </a:ext>
            </a:extLst>
          </p:cNvPr>
          <p:cNvSpPr>
            <a:spLocks noGrp="1"/>
          </p:cNvSpPr>
          <p:nvPr>
            <p:ph type="ctrTitle"/>
          </p:nvPr>
        </p:nvSpPr>
        <p:spPr>
          <a:xfrm>
            <a:off x="1143000" y="1122363"/>
            <a:ext cx="6858000" cy="2387600"/>
          </a:xfrm>
        </p:spPr>
        <p:txBody>
          <a:bodyPr anchor="b"/>
          <a:lstStyle>
            <a:lvl1pPr algn="ctr">
              <a:defRPr sz="4500"/>
            </a:lvl1pPr>
          </a:lstStyle>
          <a:p>
            <a:r>
              <a:rPr lang="en-US"/>
              <a:t>Click to edit Master title style</a:t>
            </a:r>
          </a:p>
        </p:txBody>
      </p:sp>
      <p:sp>
        <p:nvSpPr>
          <p:cNvPr id="3" name="Subtitle 2">
            <a:extLst>
              <a:ext uri="{FF2B5EF4-FFF2-40B4-BE49-F238E27FC236}">
                <a16:creationId xmlns:a16="http://schemas.microsoft.com/office/drawing/2014/main" id="{83E0102D-83A5-4E73-A95C-4D3778785FC1}"/>
              </a:ext>
            </a:extLst>
          </p:cNvPr>
          <p:cNvSpPr>
            <a:spLocks noGrp="1"/>
          </p:cNvSpPr>
          <p:nvPr>
            <p:ph type="subTitle" idx="1"/>
          </p:nvPr>
        </p:nvSpPr>
        <p:spPr>
          <a:xfrm>
            <a:off x="1143000" y="3602038"/>
            <a:ext cx="6858000" cy="1655762"/>
          </a:xfrm>
        </p:spPr>
        <p:txBody>
          <a:bodyPr/>
          <a:lstStyle>
            <a:lvl1pPr marL="0" indent="0" algn="ctr">
              <a:buNone/>
              <a:defRPr sz="1800"/>
            </a:lvl1pPr>
            <a:lvl2pPr marL="342900" indent="0" algn="ctr">
              <a:buNone/>
              <a:defRPr sz="1500"/>
            </a:lvl2pPr>
            <a:lvl3pPr marL="685800" indent="0" algn="ctr">
              <a:buNone/>
              <a:defRPr sz="1350"/>
            </a:lvl3pPr>
            <a:lvl4pPr marL="1028700" indent="0" algn="ctr">
              <a:buNone/>
              <a:defRPr sz="1200"/>
            </a:lvl4pPr>
            <a:lvl5pPr marL="1371600" indent="0" algn="ctr">
              <a:buNone/>
              <a:defRPr sz="1200"/>
            </a:lvl5pPr>
            <a:lvl6pPr marL="1714500" indent="0" algn="ctr">
              <a:buNone/>
              <a:defRPr sz="1200"/>
            </a:lvl6pPr>
            <a:lvl7pPr marL="2057400" indent="0" algn="ctr">
              <a:buNone/>
              <a:defRPr sz="1200"/>
            </a:lvl7pPr>
            <a:lvl8pPr marL="2400300" indent="0" algn="ctr">
              <a:buNone/>
              <a:defRPr sz="1200"/>
            </a:lvl8pPr>
            <a:lvl9pPr marL="2743200" indent="0" algn="ctr">
              <a:buNone/>
              <a:defRPr sz="1200"/>
            </a:lvl9pPr>
          </a:lstStyle>
          <a:p>
            <a:r>
              <a:rPr lang="en-US"/>
              <a:t>Click to edit Master subtitle style</a:t>
            </a:r>
          </a:p>
        </p:txBody>
      </p:sp>
      <p:sp>
        <p:nvSpPr>
          <p:cNvPr id="4" name="Date Placeholder 3">
            <a:extLst>
              <a:ext uri="{FF2B5EF4-FFF2-40B4-BE49-F238E27FC236}">
                <a16:creationId xmlns:a16="http://schemas.microsoft.com/office/drawing/2014/main" id="{104584AD-FB15-4D4C-88DE-F352529B24DC}"/>
              </a:ext>
            </a:extLst>
          </p:cNvPr>
          <p:cNvSpPr>
            <a:spLocks noGrp="1"/>
          </p:cNvSpPr>
          <p:nvPr>
            <p:ph type="dt" sz="half" idx="10"/>
          </p:nvPr>
        </p:nvSpPr>
        <p:spPr>
          <a:xfrm>
            <a:off x="628650" y="6356351"/>
            <a:ext cx="2057400" cy="365125"/>
          </a:xfrm>
          <a:prstGeom prst="rect">
            <a:avLst/>
          </a:prstGeom>
        </p:spPr>
        <p:txBody>
          <a:bodyPr/>
          <a:lstStyle/>
          <a:p>
            <a:fld id="{FDB68C03-DCF9-4B87-BBF6-8F2088376604}" type="datetimeFigureOut">
              <a:rPr lang="en-US" smtClean="0"/>
              <a:t>2/20/2026</a:t>
            </a:fld>
            <a:endParaRPr lang="en-US"/>
          </a:p>
        </p:txBody>
      </p:sp>
      <p:sp>
        <p:nvSpPr>
          <p:cNvPr id="5" name="Footer Placeholder 4">
            <a:extLst>
              <a:ext uri="{FF2B5EF4-FFF2-40B4-BE49-F238E27FC236}">
                <a16:creationId xmlns:a16="http://schemas.microsoft.com/office/drawing/2014/main" id="{7920771D-B2B7-4DDB-877A-898A10F45173}"/>
              </a:ext>
            </a:extLst>
          </p:cNvPr>
          <p:cNvSpPr>
            <a:spLocks noGrp="1"/>
          </p:cNvSpPr>
          <p:nvPr>
            <p:ph type="ftr" sz="quarter" idx="11"/>
          </p:nvPr>
        </p:nvSpPr>
        <p:spPr>
          <a:xfrm>
            <a:off x="3028950" y="6356351"/>
            <a:ext cx="3086100" cy="365125"/>
          </a:xfrm>
          <a:prstGeom prst="rect">
            <a:avLst/>
          </a:prstGeom>
        </p:spPr>
        <p:txBody>
          <a:bodyPr/>
          <a:lstStyle/>
          <a:p>
            <a:endParaRPr lang="en-US"/>
          </a:p>
        </p:txBody>
      </p:sp>
      <p:sp>
        <p:nvSpPr>
          <p:cNvPr id="6" name="Slide Number Placeholder 5">
            <a:extLst>
              <a:ext uri="{FF2B5EF4-FFF2-40B4-BE49-F238E27FC236}">
                <a16:creationId xmlns:a16="http://schemas.microsoft.com/office/drawing/2014/main" id="{44EC21AC-5AFD-4F2C-8A31-C0113410E034}"/>
              </a:ext>
            </a:extLst>
          </p:cNvPr>
          <p:cNvSpPr>
            <a:spLocks noGrp="1"/>
          </p:cNvSpPr>
          <p:nvPr>
            <p:ph type="sldNum" sz="quarter" idx="12"/>
          </p:nvPr>
        </p:nvSpPr>
        <p:spPr/>
        <p:txBody>
          <a:bodyPr/>
          <a:lstStyle/>
          <a:p>
            <a:fld id="{E97C47EE-1537-423B-A9B2-96D7BC867AC1}" type="slidenum">
              <a:rPr lang="en-US" smtClean="0"/>
              <a:t>‹#›</a:t>
            </a:fld>
            <a:endParaRPr lang="en-US"/>
          </a:p>
        </p:txBody>
      </p:sp>
    </p:spTree>
    <p:extLst>
      <p:ext uri="{BB962C8B-B14F-4D97-AF65-F5344CB8AC3E}">
        <p14:creationId xmlns:p14="http://schemas.microsoft.com/office/powerpoint/2010/main" val="162016297"/>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1DC4AC9-C37B-4E02-A225-58C9FBB9A2EB}"/>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26FE8FA6-09EB-4014-B26B-31EC25B4D341}"/>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282442694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37AF54D-79F1-4FBB-B3D9-325206B99F29}"/>
              </a:ext>
            </a:extLst>
          </p:cNvPr>
          <p:cNvSpPr>
            <a:spLocks noGrp="1"/>
          </p:cNvSpPr>
          <p:nvPr>
            <p:ph type="title"/>
          </p:nvPr>
        </p:nvSpPr>
        <p:spPr>
          <a:xfrm>
            <a:off x="623888" y="1709739"/>
            <a:ext cx="7886700" cy="2852737"/>
          </a:xfrm>
        </p:spPr>
        <p:txBody>
          <a:bodyPr anchor="b"/>
          <a:lstStyle>
            <a:lvl1pPr>
              <a:defRPr sz="4500"/>
            </a:lvl1pPr>
          </a:lstStyle>
          <a:p>
            <a:r>
              <a:rPr lang="en-US"/>
              <a:t>Click to edit Master title style</a:t>
            </a:r>
          </a:p>
        </p:txBody>
      </p:sp>
      <p:sp>
        <p:nvSpPr>
          <p:cNvPr id="3" name="Text Placeholder 2">
            <a:extLst>
              <a:ext uri="{FF2B5EF4-FFF2-40B4-BE49-F238E27FC236}">
                <a16:creationId xmlns:a16="http://schemas.microsoft.com/office/drawing/2014/main" id="{6C14BE77-C158-434B-B162-FE8ABAFFD638}"/>
              </a:ext>
            </a:extLst>
          </p:cNvPr>
          <p:cNvSpPr>
            <a:spLocks noGrp="1"/>
          </p:cNvSpPr>
          <p:nvPr>
            <p:ph type="body" idx="1"/>
          </p:nvPr>
        </p:nvSpPr>
        <p:spPr>
          <a:xfrm>
            <a:off x="623888" y="4589464"/>
            <a:ext cx="7886700" cy="1500187"/>
          </a:xfrm>
        </p:spPr>
        <p:txBody>
          <a:bodyPr/>
          <a:lstStyle>
            <a:lvl1pPr marL="0" indent="0">
              <a:buNone/>
              <a:defRPr sz="1800">
                <a:solidFill>
                  <a:schemeClr val="tx1">
                    <a:tint val="75000"/>
                  </a:schemeClr>
                </a:solidFill>
              </a:defRPr>
            </a:lvl1pPr>
            <a:lvl2pPr marL="342900" indent="0">
              <a:buNone/>
              <a:defRPr sz="1500">
                <a:solidFill>
                  <a:schemeClr val="tx1">
                    <a:tint val="75000"/>
                  </a:schemeClr>
                </a:solidFill>
              </a:defRPr>
            </a:lvl2pPr>
            <a:lvl3pPr marL="685800" indent="0">
              <a:buNone/>
              <a:defRPr sz="1350">
                <a:solidFill>
                  <a:schemeClr val="tx1">
                    <a:tint val="75000"/>
                  </a:schemeClr>
                </a:solidFill>
              </a:defRPr>
            </a:lvl3pPr>
            <a:lvl4pPr marL="1028700" indent="0">
              <a:buNone/>
              <a:defRPr sz="1200">
                <a:solidFill>
                  <a:schemeClr val="tx1">
                    <a:tint val="75000"/>
                  </a:schemeClr>
                </a:solidFill>
              </a:defRPr>
            </a:lvl4pPr>
            <a:lvl5pPr marL="1371600" indent="0">
              <a:buNone/>
              <a:defRPr sz="1200">
                <a:solidFill>
                  <a:schemeClr val="tx1">
                    <a:tint val="75000"/>
                  </a:schemeClr>
                </a:solidFill>
              </a:defRPr>
            </a:lvl5pPr>
            <a:lvl6pPr marL="1714500" indent="0">
              <a:buNone/>
              <a:defRPr sz="1200">
                <a:solidFill>
                  <a:schemeClr val="tx1">
                    <a:tint val="75000"/>
                  </a:schemeClr>
                </a:solidFill>
              </a:defRPr>
            </a:lvl6pPr>
            <a:lvl7pPr marL="2057400" indent="0">
              <a:buNone/>
              <a:defRPr sz="1200">
                <a:solidFill>
                  <a:schemeClr val="tx1">
                    <a:tint val="75000"/>
                  </a:schemeClr>
                </a:solidFill>
              </a:defRPr>
            </a:lvl7pPr>
            <a:lvl8pPr marL="2400300" indent="0">
              <a:buNone/>
              <a:defRPr sz="1200">
                <a:solidFill>
                  <a:schemeClr val="tx1">
                    <a:tint val="75000"/>
                  </a:schemeClr>
                </a:solidFill>
              </a:defRPr>
            </a:lvl8pPr>
            <a:lvl9pPr marL="2743200" indent="0">
              <a:buNone/>
              <a:defRPr sz="12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422C29E0-AEC0-4E60-A102-F17F3531786E}"/>
              </a:ext>
            </a:extLst>
          </p:cNvPr>
          <p:cNvSpPr>
            <a:spLocks noGrp="1"/>
          </p:cNvSpPr>
          <p:nvPr>
            <p:ph type="dt" sz="half" idx="10"/>
          </p:nvPr>
        </p:nvSpPr>
        <p:spPr>
          <a:xfrm>
            <a:off x="628650" y="6356351"/>
            <a:ext cx="2057400" cy="365125"/>
          </a:xfrm>
          <a:prstGeom prst="rect">
            <a:avLst/>
          </a:prstGeom>
        </p:spPr>
        <p:txBody>
          <a:bodyPr/>
          <a:lstStyle/>
          <a:p>
            <a:fld id="{FDB68C03-DCF9-4B87-BBF6-8F2088376604}" type="datetimeFigureOut">
              <a:rPr lang="en-US" smtClean="0"/>
              <a:t>2/20/2026</a:t>
            </a:fld>
            <a:endParaRPr lang="en-US"/>
          </a:p>
        </p:txBody>
      </p:sp>
      <p:sp>
        <p:nvSpPr>
          <p:cNvPr id="5" name="Footer Placeholder 4">
            <a:extLst>
              <a:ext uri="{FF2B5EF4-FFF2-40B4-BE49-F238E27FC236}">
                <a16:creationId xmlns:a16="http://schemas.microsoft.com/office/drawing/2014/main" id="{4A6ADECA-9481-4613-821B-D1554DA9C224}"/>
              </a:ext>
            </a:extLst>
          </p:cNvPr>
          <p:cNvSpPr>
            <a:spLocks noGrp="1"/>
          </p:cNvSpPr>
          <p:nvPr>
            <p:ph type="ftr" sz="quarter" idx="11"/>
          </p:nvPr>
        </p:nvSpPr>
        <p:spPr>
          <a:xfrm>
            <a:off x="3028950" y="6356351"/>
            <a:ext cx="3086100" cy="365125"/>
          </a:xfrm>
          <a:prstGeom prst="rect">
            <a:avLst/>
          </a:prstGeom>
        </p:spPr>
        <p:txBody>
          <a:bodyPr/>
          <a:lstStyle/>
          <a:p>
            <a:endParaRPr lang="en-US"/>
          </a:p>
        </p:txBody>
      </p:sp>
      <p:sp>
        <p:nvSpPr>
          <p:cNvPr id="6" name="Slide Number Placeholder 5">
            <a:extLst>
              <a:ext uri="{FF2B5EF4-FFF2-40B4-BE49-F238E27FC236}">
                <a16:creationId xmlns:a16="http://schemas.microsoft.com/office/drawing/2014/main" id="{AC956AD3-074F-4112-901E-6AC9E271A2F1}"/>
              </a:ext>
            </a:extLst>
          </p:cNvPr>
          <p:cNvSpPr>
            <a:spLocks noGrp="1"/>
          </p:cNvSpPr>
          <p:nvPr>
            <p:ph type="sldNum" sz="quarter" idx="12"/>
          </p:nvPr>
        </p:nvSpPr>
        <p:spPr/>
        <p:txBody>
          <a:bodyPr/>
          <a:lstStyle/>
          <a:p>
            <a:fld id="{E97C47EE-1537-423B-A9B2-96D7BC867AC1}" type="slidenum">
              <a:rPr lang="en-US" smtClean="0"/>
              <a:t>‹#›</a:t>
            </a:fld>
            <a:endParaRPr lang="en-US"/>
          </a:p>
        </p:txBody>
      </p:sp>
    </p:spTree>
    <p:extLst>
      <p:ext uri="{BB962C8B-B14F-4D97-AF65-F5344CB8AC3E}">
        <p14:creationId xmlns:p14="http://schemas.microsoft.com/office/powerpoint/2010/main" val="2378351281"/>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8B3D92B-30D0-4376-8CE9-BE73BCA0F139}"/>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B8459DD5-3ACF-4231-89D2-E4FB0944C477}"/>
              </a:ext>
            </a:extLst>
          </p:cNvPr>
          <p:cNvSpPr>
            <a:spLocks noGrp="1"/>
          </p:cNvSpPr>
          <p:nvPr>
            <p:ph sz="half" idx="1"/>
          </p:nvPr>
        </p:nvSpPr>
        <p:spPr>
          <a:xfrm>
            <a:off x="628650" y="1825625"/>
            <a:ext cx="38862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9AADF2D3-5819-4C97-8B69-9A645A431297}"/>
              </a:ext>
            </a:extLst>
          </p:cNvPr>
          <p:cNvSpPr>
            <a:spLocks noGrp="1"/>
          </p:cNvSpPr>
          <p:nvPr>
            <p:ph sz="half" idx="2"/>
          </p:nvPr>
        </p:nvSpPr>
        <p:spPr>
          <a:xfrm>
            <a:off x="4629150" y="1825625"/>
            <a:ext cx="38862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2A648A80-B2A6-4D5F-AFE2-7EC14D5B399C}"/>
              </a:ext>
            </a:extLst>
          </p:cNvPr>
          <p:cNvSpPr>
            <a:spLocks noGrp="1"/>
          </p:cNvSpPr>
          <p:nvPr>
            <p:ph type="dt" sz="half" idx="10"/>
          </p:nvPr>
        </p:nvSpPr>
        <p:spPr>
          <a:xfrm>
            <a:off x="628650" y="6356351"/>
            <a:ext cx="2057400" cy="365125"/>
          </a:xfrm>
          <a:prstGeom prst="rect">
            <a:avLst/>
          </a:prstGeom>
        </p:spPr>
        <p:txBody>
          <a:bodyPr/>
          <a:lstStyle/>
          <a:p>
            <a:fld id="{FDB68C03-DCF9-4B87-BBF6-8F2088376604}" type="datetimeFigureOut">
              <a:rPr lang="en-US" smtClean="0"/>
              <a:t>2/20/2026</a:t>
            </a:fld>
            <a:endParaRPr lang="en-US"/>
          </a:p>
        </p:txBody>
      </p:sp>
      <p:sp>
        <p:nvSpPr>
          <p:cNvPr id="6" name="Footer Placeholder 5">
            <a:extLst>
              <a:ext uri="{FF2B5EF4-FFF2-40B4-BE49-F238E27FC236}">
                <a16:creationId xmlns:a16="http://schemas.microsoft.com/office/drawing/2014/main" id="{64885392-3AD1-4B9F-BDE7-E811EE4B8A90}"/>
              </a:ext>
            </a:extLst>
          </p:cNvPr>
          <p:cNvSpPr>
            <a:spLocks noGrp="1"/>
          </p:cNvSpPr>
          <p:nvPr>
            <p:ph type="ftr" sz="quarter" idx="11"/>
          </p:nvPr>
        </p:nvSpPr>
        <p:spPr>
          <a:xfrm>
            <a:off x="3028950" y="6356351"/>
            <a:ext cx="3086100" cy="365125"/>
          </a:xfrm>
          <a:prstGeom prst="rect">
            <a:avLst/>
          </a:prstGeom>
        </p:spPr>
        <p:txBody>
          <a:bodyPr/>
          <a:lstStyle/>
          <a:p>
            <a:endParaRPr lang="en-US"/>
          </a:p>
        </p:txBody>
      </p:sp>
      <p:sp>
        <p:nvSpPr>
          <p:cNvPr id="7" name="Slide Number Placeholder 6">
            <a:extLst>
              <a:ext uri="{FF2B5EF4-FFF2-40B4-BE49-F238E27FC236}">
                <a16:creationId xmlns:a16="http://schemas.microsoft.com/office/drawing/2014/main" id="{5F553B12-6FF9-461B-B662-2E287CEE3061}"/>
              </a:ext>
            </a:extLst>
          </p:cNvPr>
          <p:cNvSpPr>
            <a:spLocks noGrp="1"/>
          </p:cNvSpPr>
          <p:nvPr>
            <p:ph type="sldNum" sz="quarter" idx="12"/>
          </p:nvPr>
        </p:nvSpPr>
        <p:spPr/>
        <p:txBody>
          <a:bodyPr/>
          <a:lstStyle/>
          <a:p>
            <a:fld id="{E97C47EE-1537-423B-A9B2-96D7BC867AC1}" type="slidenum">
              <a:rPr lang="en-US" smtClean="0"/>
              <a:t>‹#›</a:t>
            </a:fld>
            <a:endParaRPr lang="en-US"/>
          </a:p>
        </p:txBody>
      </p:sp>
    </p:spTree>
    <p:extLst>
      <p:ext uri="{BB962C8B-B14F-4D97-AF65-F5344CB8AC3E}">
        <p14:creationId xmlns:p14="http://schemas.microsoft.com/office/powerpoint/2010/main" val="1690588242"/>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E67D962-2DDE-4D90-AFEB-0AF259A4F7DD}"/>
              </a:ext>
            </a:extLst>
          </p:cNvPr>
          <p:cNvSpPr>
            <a:spLocks noGrp="1"/>
          </p:cNvSpPr>
          <p:nvPr>
            <p:ph type="title"/>
          </p:nvPr>
        </p:nvSpPr>
        <p:spPr>
          <a:xfrm>
            <a:off x="629841" y="365126"/>
            <a:ext cx="78867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19808309-9304-455B-99E4-537464DDD40A}"/>
              </a:ext>
            </a:extLst>
          </p:cNvPr>
          <p:cNvSpPr>
            <a:spLocks noGrp="1"/>
          </p:cNvSpPr>
          <p:nvPr>
            <p:ph type="body" idx="1"/>
          </p:nvPr>
        </p:nvSpPr>
        <p:spPr>
          <a:xfrm>
            <a:off x="629842" y="1681163"/>
            <a:ext cx="3868340" cy="82391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a:extLst>
              <a:ext uri="{FF2B5EF4-FFF2-40B4-BE49-F238E27FC236}">
                <a16:creationId xmlns:a16="http://schemas.microsoft.com/office/drawing/2014/main" id="{F0520CD4-2875-48EA-8AF9-496D552469D7}"/>
              </a:ext>
            </a:extLst>
          </p:cNvPr>
          <p:cNvSpPr>
            <a:spLocks noGrp="1"/>
          </p:cNvSpPr>
          <p:nvPr>
            <p:ph sz="half" idx="2"/>
          </p:nvPr>
        </p:nvSpPr>
        <p:spPr>
          <a:xfrm>
            <a:off x="629842" y="2505075"/>
            <a:ext cx="3868340"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A95F9376-4868-43F4-9A2A-6951C726B354}"/>
              </a:ext>
            </a:extLst>
          </p:cNvPr>
          <p:cNvSpPr>
            <a:spLocks noGrp="1"/>
          </p:cNvSpPr>
          <p:nvPr>
            <p:ph type="body" sz="quarter" idx="3"/>
          </p:nvPr>
        </p:nvSpPr>
        <p:spPr>
          <a:xfrm>
            <a:off x="4629150" y="1681163"/>
            <a:ext cx="3887391" cy="82391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a:extLst>
              <a:ext uri="{FF2B5EF4-FFF2-40B4-BE49-F238E27FC236}">
                <a16:creationId xmlns:a16="http://schemas.microsoft.com/office/drawing/2014/main" id="{1A610D3E-B0F9-4C1C-A524-F283922CCD23}"/>
              </a:ext>
            </a:extLst>
          </p:cNvPr>
          <p:cNvSpPr>
            <a:spLocks noGrp="1"/>
          </p:cNvSpPr>
          <p:nvPr>
            <p:ph sz="quarter" idx="4"/>
          </p:nvPr>
        </p:nvSpPr>
        <p:spPr>
          <a:xfrm>
            <a:off x="4629150" y="2505075"/>
            <a:ext cx="3887391"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E64893AB-4DA9-4155-BA7D-0DA93AAAC2D3}"/>
              </a:ext>
            </a:extLst>
          </p:cNvPr>
          <p:cNvSpPr>
            <a:spLocks noGrp="1"/>
          </p:cNvSpPr>
          <p:nvPr>
            <p:ph type="dt" sz="half" idx="10"/>
          </p:nvPr>
        </p:nvSpPr>
        <p:spPr>
          <a:xfrm>
            <a:off x="628650" y="6356351"/>
            <a:ext cx="2057400" cy="365125"/>
          </a:xfrm>
          <a:prstGeom prst="rect">
            <a:avLst/>
          </a:prstGeom>
        </p:spPr>
        <p:txBody>
          <a:bodyPr/>
          <a:lstStyle/>
          <a:p>
            <a:r>
              <a:rPr lang="en-US"/>
              <a:t>14 Jan 2004</a:t>
            </a:r>
          </a:p>
        </p:txBody>
      </p:sp>
      <p:sp>
        <p:nvSpPr>
          <p:cNvPr id="8" name="Footer Placeholder 7">
            <a:extLst>
              <a:ext uri="{FF2B5EF4-FFF2-40B4-BE49-F238E27FC236}">
                <a16:creationId xmlns:a16="http://schemas.microsoft.com/office/drawing/2014/main" id="{A7EE904F-BEB5-427E-91C5-C887D1E52255}"/>
              </a:ext>
            </a:extLst>
          </p:cNvPr>
          <p:cNvSpPr>
            <a:spLocks noGrp="1"/>
          </p:cNvSpPr>
          <p:nvPr>
            <p:ph type="ftr" sz="quarter" idx="11"/>
          </p:nvPr>
        </p:nvSpPr>
        <p:spPr>
          <a:xfrm>
            <a:off x="3028950" y="6356351"/>
            <a:ext cx="3086100" cy="365125"/>
          </a:xfrm>
          <a:prstGeom prst="rect">
            <a:avLst/>
          </a:prstGeom>
        </p:spPr>
        <p:txBody>
          <a:bodyPr/>
          <a:lstStyle/>
          <a:p>
            <a:r>
              <a:rPr lang="en-US"/>
              <a:t>CS 3243 - Blind Search</a:t>
            </a:r>
          </a:p>
        </p:txBody>
      </p:sp>
      <p:sp>
        <p:nvSpPr>
          <p:cNvPr id="9" name="Slide Number Placeholder 8">
            <a:extLst>
              <a:ext uri="{FF2B5EF4-FFF2-40B4-BE49-F238E27FC236}">
                <a16:creationId xmlns:a16="http://schemas.microsoft.com/office/drawing/2014/main" id="{78F287E9-DB2B-46C3-9DB2-0902398D45B4}"/>
              </a:ext>
            </a:extLst>
          </p:cNvPr>
          <p:cNvSpPr>
            <a:spLocks noGrp="1"/>
          </p:cNvSpPr>
          <p:nvPr>
            <p:ph type="sldNum" sz="quarter" idx="12"/>
          </p:nvPr>
        </p:nvSpPr>
        <p:spPr/>
        <p:txBody>
          <a:bodyPr/>
          <a:lstStyle/>
          <a:p>
            <a:fld id="{43B963AB-989A-489E-AE33-EB41FB033A09}" type="slidenum">
              <a:rPr lang="en-US" smtClean="0"/>
              <a:pPr/>
              <a:t>‹#›</a:t>
            </a:fld>
            <a:endParaRPr lang="en-US"/>
          </a:p>
        </p:txBody>
      </p:sp>
    </p:spTree>
    <p:extLst>
      <p:ext uri="{BB962C8B-B14F-4D97-AF65-F5344CB8AC3E}">
        <p14:creationId xmlns:p14="http://schemas.microsoft.com/office/powerpoint/2010/main" val="2929886293"/>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9314B55-C98C-44F3-9E04-75CA1C02A29D}"/>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A5F07777-7DFE-488E-8FF0-AF885700A5DD}"/>
              </a:ext>
            </a:extLst>
          </p:cNvPr>
          <p:cNvSpPr>
            <a:spLocks noGrp="1"/>
          </p:cNvSpPr>
          <p:nvPr>
            <p:ph type="dt" sz="half" idx="10"/>
          </p:nvPr>
        </p:nvSpPr>
        <p:spPr>
          <a:xfrm>
            <a:off x="628650" y="6356351"/>
            <a:ext cx="2057400" cy="365125"/>
          </a:xfrm>
          <a:prstGeom prst="rect">
            <a:avLst/>
          </a:prstGeom>
        </p:spPr>
        <p:txBody>
          <a:bodyPr/>
          <a:lstStyle/>
          <a:p>
            <a:r>
              <a:rPr lang="en-US"/>
              <a:t>14 Jan 2004</a:t>
            </a:r>
          </a:p>
        </p:txBody>
      </p:sp>
      <p:sp>
        <p:nvSpPr>
          <p:cNvPr id="4" name="Footer Placeholder 3">
            <a:extLst>
              <a:ext uri="{FF2B5EF4-FFF2-40B4-BE49-F238E27FC236}">
                <a16:creationId xmlns:a16="http://schemas.microsoft.com/office/drawing/2014/main" id="{D42283B2-F1D4-4B18-BA20-EDC874414517}"/>
              </a:ext>
            </a:extLst>
          </p:cNvPr>
          <p:cNvSpPr>
            <a:spLocks noGrp="1"/>
          </p:cNvSpPr>
          <p:nvPr>
            <p:ph type="ftr" sz="quarter" idx="11"/>
          </p:nvPr>
        </p:nvSpPr>
        <p:spPr>
          <a:xfrm>
            <a:off x="3028950" y="6356351"/>
            <a:ext cx="3086100" cy="365125"/>
          </a:xfrm>
          <a:prstGeom prst="rect">
            <a:avLst/>
          </a:prstGeom>
        </p:spPr>
        <p:txBody>
          <a:bodyPr/>
          <a:lstStyle/>
          <a:p>
            <a:r>
              <a:rPr lang="en-US"/>
              <a:t>CS 3243 - Blind Search</a:t>
            </a:r>
          </a:p>
        </p:txBody>
      </p:sp>
      <p:sp>
        <p:nvSpPr>
          <p:cNvPr id="5" name="Slide Number Placeholder 4">
            <a:extLst>
              <a:ext uri="{FF2B5EF4-FFF2-40B4-BE49-F238E27FC236}">
                <a16:creationId xmlns:a16="http://schemas.microsoft.com/office/drawing/2014/main" id="{341D0810-F107-4148-B946-E0FB8D886496}"/>
              </a:ext>
            </a:extLst>
          </p:cNvPr>
          <p:cNvSpPr>
            <a:spLocks noGrp="1"/>
          </p:cNvSpPr>
          <p:nvPr>
            <p:ph type="sldNum" sz="quarter" idx="12"/>
          </p:nvPr>
        </p:nvSpPr>
        <p:spPr/>
        <p:txBody>
          <a:bodyPr/>
          <a:lstStyle/>
          <a:p>
            <a:fld id="{768102A7-0C28-44F0-898D-773E064A07DF}" type="slidenum">
              <a:rPr lang="en-US" smtClean="0"/>
              <a:pPr/>
              <a:t>‹#›</a:t>
            </a:fld>
            <a:endParaRPr lang="en-US"/>
          </a:p>
        </p:txBody>
      </p:sp>
    </p:spTree>
    <p:extLst>
      <p:ext uri="{BB962C8B-B14F-4D97-AF65-F5344CB8AC3E}">
        <p14:creationId xmlns:p14="http://schemas.microsoft.com/office/powerpoint/2010/main" val="1153371427"/>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D9460C90-643E-4B39-97AA-545987962D70}"/>
              </a:ext>
            </a:extLst>
          </p:cNvPr>
          <p:cNvSpPr>
            <a:spLocks noGrp="1"/>
          </p:cNvSpPr>
          <p:nvPr>
            <p:ph type="dt" sz="half" idx="10"/>
          </p:nvPr>
        </p:nvSpPr>
        <p:spPr>
          <a:xfrm>
            <a:off x="628650" y="6356351"/>
            <a:ext cx="2057400" cy="365125"/>
          </a:xfrm>
          <a:prstGeom prst="rect">
            <a:avLst/>
          </a:prstGeom>
        </p:spPr>
        <p:txBody>
          <a:bodyPr/>
          <a:lstStyle/>
          <a:p>
            <a:r>
              <a:rPr lang="en-US"/>
              <a:t>14 Jan 2004</a:t>
            </a:r>
          </a:p>
        </p:txBody>
      </p:sp>
      <p:sp>
        <p:nvSpPr>
          <p:cNvPr id="3" name="Footer Placeholder 2">
            <a:extLst>
              <a:ext uri="{FF2B5EF4-FFF2-40B4-BE49-F238E27FC236}">
                <a16:creationId xmlns:a16="http://schemas.microsoft.com/office/drawing/2014/main" id="{D0E9D3B7-E3D2-4F0F-8BEB-D0F893F10649}"/>
              </a:ext>
            </a:extLst>
          </p:cNvPr>
          <p:cNvSpPr>
            <a:spLocks noGrp="1"/>
          </p:cNvSpPr>
          <p:nvPr>
            <p:ph type="ftr" sz="quarter" idx="11"/>
          </p:nvPr>
        </p:nvSpPr>
        <p:spPr>
          <a:xfrm>
            <a:off x="3028950" y="6356351"/>
            <a:ext cx="3086100" cy="365125"/>
          </a:xfrm>
          <a:prstGeom prst="rect">
            <a:avLst/>
          </a:prstGeom>
        </p:spPr>
        <p:txBody>
          <a:bodyPr/>
          <a:lstStyle/>
          <a:p>
            <a:r>
              <a:rPr lang="en-US"/>
              <a:t>CS 3243 - Blind Search</a:t>
            </a:r>
          </a:p>
        </p:txBody>
      </p:sp>
      <p:sp>
        <p:nvSpPr>
          <p:cNvPr id="4" name="Slide Number Placeholder 3">
            <a:extLst>
              <a:ext uri="{FF2B5EF4-FFF2-40B4-BE49-F238E27FC236}">
                <a16:creationId xmlns:a16="http://schemas.microsoft.com/office/drawing/2014/main" id="{C5BA60A5-4025-415E-8277-A6F9F70B50CF}"/>
              </a:ext>
            </a:extLst>
          </p:cNvPr>
          <p:cNvSpPr>
            <a:spLocks noGrp="1"/>
          </p:cNvSpPr>
          <p:nvPr>
            <p:ph type="sldNum" sz="quarter" idx="12"/>
          </p:nvPr>
        </p:nvSpPr>
        <p:spPr/>
        <p:txBody>
          <a:bodyPr/>
          <a:lstStyle/>
          <a:p>
            <a:fld id="{A2F3BF20-175F-47CA-9386-D7A8446B7C29}" type="slidenum">
              <a:rPr lang="en-US" smtClean="0"/>
              <a:pPr/>
              <a:t>‹#›</a:t>
            </a:fld>
            <a:endParaRPr lang="en-US"/>
          </a:p>
        </p:txBody>
      </p:sp>
    </p:spTree>
    <p:extLst>
      <p:ext uri="{BB962C8B-B14F-4D97-AF65-F5344CB8AC3E}">
        <p14:creationId xmlns:p14="http://schemas.microsoft.com/office/powerpoint/2010/main" val="3743504801"/>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FBE4D8C-EFCC-475C-979B-F8686ADCDF75}"/>
              </a:ext>
            </a:extLst>
          </p:cNvPr>
          <p:cNvSpPr>
            <a:spLocks noGrp="1"/>
          </p:cNvSpPr>
          <p:nvPr>
            <p:ph type="title"/>
          </p:nvPr>
        </p:nvSpPr>
        <p:spPr>
          <a:xfrm>
            <a:off x="629841" y="457200"/>
            <a:ext cx="2949178" cy="1600200"/>
          </a:xfrm>
        </p:spPr>
        <p:txBody>
          <a:bodyPr anchor="b"/>
          <a:lstStyle>
            <a:lvl1pPr>
              <a:defRPr sz="2400"/>
            </a:lvl1pPr>
          </a:lstStyle>
          <a:p>
            <a:r>
              <a:rPr lang="en-US"/>
              <a:t>Click to edit Master title style</a:t>
            </a:r>
          </a:p>
        </p:txBody>
      </p:sp>
      <p:sp>
        <p:nvSpPr>
          <p:cNvPr id="3" name="Content Placeholder 2">
            <a:extLst>
              <a:ext uri="{FF2B5EF4-FFF2-40B4-BE49-F238E27FC236}">
                <a16:creationId xmlns:a16="http://schemas.microsoft.com/office/drawing/2014/main" id="{0DC78DC2-BF0A-4078-947A-D8BA3118ADE9}"/>
              </a:ext>
            </a:extLst>
          </p:cNvPr>
          <p:cNvSpPr>
            <a:spLocks noGrp="1"/>
          </p:cNvSpPr>
          <p:nvPr>
            <p:ph idx="1"/>
          </p:nvPr>
        </p:nvSpPr>
        <p:spPr>
          <a:xfrm>
            <a:off x="3887391" y="987426"/>
            <a:ext cx="4629150" cy="487362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FFFA89E1-4D67-4703-8094-BE925CD311D1}"/>
              </a:ext>
            </a:extLst>
          </p:cNvPr>
          <p:cNvSpPr>
            <a:spLocks noGrp="1"/>
          </p:cNvSpPr>
          <p:nvPr>
            <p:ph type="body" sz="half" idx="2"/>
          </p:nvPr>
        </p:nvSpPr>
        <p:spPr>
          <a:xfrm>
            <a:off x="629841" y="2057400"/>
            <a:ext cx="2949178" cy="3811588"/>
          </a:xfrm>
        </p:spPr>
        <p:txBody>
          <a:bodyPr/>
          <a:lstStyle>
            <a:lvl1pPr marL="0" indent="0">
              <a:buNone/>
              <a:defRPr sz="1200"/>
            </a:lvl1pPr>
            <a:lvl2pPr marL="342900" indent="0">
              <a:buNone/>
              <a:defRPr sz="1050"/>
            </a:lvl2pPr>
            <a:lvl3pPr marL="685800" indent="0">
              <a:buNone/>
              <a:defRPr sz="900"/>
            </a:lvl3pPr>
            <a:lvl4pPr marL="1028700" indent="0">
              <a:buNone/>
              <a:defRPr sz="750"/>
            </a:lvl4pPr>
            <a:lvl5pPr marL="1371600" indent="0">
              <a:buNone/>
              <a:defRPr sz="750"/>
            </a:lvl5pPr>
            <a:lvl6pPr marL="1714500" indent="0">
              <a:buNone/>
              <a:defRPr sz="750"/>
            </a:lvl6pPr>
            <a:lvl7pPr marL="2057400" indent="0">
              <a:buNone/>
              <a:defRPr sz="750"/>
            </a:lvl7pPr>
            <a:lvl8pPr marL="2400300" indent="0">
              <a:buNone/>
              <a:defRPr sz="750"/>
            </a:lvl8pPr>
            <a:lvl9pPr marL="2743200" indent="0">
              <a:buNone/>
              <a:defRPr sz="750"/>
            </a:lvl9pPr>
          </a:lstStyle>
          <a:p>
            <a:pPr lvl="0"/>
            <a:r>
              <a:rPr lang="en-US"/>
              <a:t>Click to edit Master text styles</a:t>
            </a:r>
          </a:p>
        </p:txBody>
      </p:sp>
      <p:sp>
        <p:nvSpPr>
          <p:cNvPr id="5" name="Date Placeholder 4">
            <a:extLst>
              <a:ext uri="{FF2B5EF4-FFF2-40B4-BE49-F238E27FC236}">
                <a16:creationId xmlns:a16="http://schemas.microsoft.com/office/drawing/2014/main" id="{470F72F9-138A-4D27-94F5-B2810AD7A96D}"/>
              </a:ext>
            </a:extLst>
          </p:cNvPr>
          <p:cNvSpPr>
            <a:spLocks noGrp="1"/>
          </p:cNvSpPr>
          <p:nvPr>
            <p:ph type="dt" sz="half" idx="10"/>
          </p:nvPr>
        </p:nvSpPr>
        <p:spPr>
          <a:xfrm>
            <a:off x="628650" y="6356351"/>
            <a:ext cx="2057400" cy="365125"/>
          </a:xfrm>
          <a:prstGeom prst="rect">
            <a:avLst/>
          </a:prstGeom>
        </p:spPr>
        <p:txBody>
          <a:bodyPr/>
          <a:lstStyle/>
          <a:p>
            <a:r>
              <a:rPr lang="en-US"/>
              <a:t>14 Jan 2004</a:t>
            </a:r>
          </a:p>
        </p:txBody>
      </p:sp>
      <p:sp>
        <p:nvSpPr>
          <p:cNvPr id="6" name="Footer Placeholder 5">
            <a:extLst>
              <a:ext uri="{FF2B5EF4-FFF2-40B4-BE49-F238E27FC236}">
                <a16:creationId xmlns:a16="http://schemas.microsoft.com/office/drawing/2014/main" id="{E207353E-3E74-4855-8A3A-D4B22FCAF5E7}"/>
              </a:ext>
            </a:extLst>
          </p:cNvPr>
          <p:cNvSpPr>
            <a:spLocks noGrp="1"/>
          </p:cNvSpPr>
          <p:nvPr>
            <p:ph type="ftr" sz="quarter" idx="11"/>
          </p:nvPr>
        </p:nvSpPr>
        <p:spPr>
          <a:xfrm>
            <a:off x="3028950" y="6356351"/>
            <a:ext cx="3086100" cy="365125"/>
          </a:xfrm>
          <a:prstGeom prst="rect">
            <a:avLst/>
          </a:prstGeom>
        </p:spPr>
        <p:txBody>
          <a:bodyPr/>
          <a:lstStyle/>
          <a:p>
            <a:r>
              <a:rPr lang="en-US"/>
              <a:t>CS 3243 - Blind Search</a:t>
            </a:r>
          </a:p>
        </p:txBody>
      </p:sp>
      <p:sp>
        <p:nvSpPr>
          <p:cNvPr id="7" name="Slide Number Placeholder 6">
            <a:extLst>
              <a:ext uri="{FF2B5EF4-FFF2-40B4-BE49-F238E27FC236}">
                <a16:creationId xmlns:a16="http://schemas.microsoft.com/office/drawing/2014/main" id="{0463FEAA-5B95-4BF6-9ABB-74AAB8A9BB14}"/>
              </a:ext>
            </a:extLst>
          </p:cNvPr>
          <p:cNvSpPr>
            <a:spLocks noGrp="1"/>
          </p:cNvSpPr>
          <p:nvPr>
            <p:ph type="sldNum" sz="quarter" idx="12"/>
          </p:nvPr>
        </p:nvSpPr>
        <p:spPr/>
        <p:txBody>
          <a:bodyPr/>
          <a:lstStyle/>
          <a:p>
            <a:fld id="{39724606-A38D-498A-B460-2362EA3C915A}" type="slidenum">
              <a:rPr lang="en-US" smtClean="0"/>
              <a:pPr/>
              <a:t>‹#›</a:t>
            </a:fld>
            <a:endParaRPr lang="en-US"/>
          </a:p>
        </p:txBody>
      </p:sp>
    </p:spTree>
    <p:extLst>
      <p:ext uri="{BB962C8B-B14F-4D97-AF65-F5344CB8AC3E}">
        <p14:creationId xmlns:p14="http://schemas.microsoft.com/office/powerpoint/2010/main" val="11733969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3234127-5359-425B-85D2-0A5D7A6D9617}"/>
              </a:ext>
            </a:extLst>
          </p:cNvPr>
          <p:cNvSpPr>
            <a:spLocks noGrp="1"/>
          </p:cNvSpPr>
          <p:nvPr>
            <p:ph type="title"/>
          </p:nvPr>
        </p:nvSpPr>
        <p:spPr>
          <a:xfrm>
            <a:off x="629841" y="457200"/>
            <a:ext cx="2949178" cy="1600200"/>
          </a:xfrm>
        </p:spPr>
        <p:txBody>
          <a:bodyPr anchor="b"/>
          <a:lstStyle>
            <a:lvl1pPr>
              <a:defRPr sz="2400"/>
            </a:lvl1pPr>
          </a:lstStyle>
          <a:p>
            <a:r>
              <a:rPr lang="en-US"/>
              <a:t>Click to edit Master title style</a:t>
            </a:r>
          </a:p>
        </p:txBody>
      </p:sp>
      <p:sp>
        <p:nvSpPr>
          <p:cNvPr id="3" name="Picture Placeholder 2">
            <a:extLst>
              <a:ext uri="{FF2B5EF4-FFF2-40B4-BE49-F238E27FC236}">
                <a16:creationId xmlns:a16="http://schemas.microsoft.com/office/drawing/2014/main" id="{88AC3F76-0F9D-44B8-B320-5527EED139D9}"/>
              </a:ext>
            </a:extLst>
          </p:cNvPr>
          <p:cNvSpPr>
            <a:spLocks noGrp="1"/>
          </p:cNvSpPr>
          <p:nvPr>
            <p:ph type="pic" idx="1"/>
          </p:nvPr>
        </p:nvSpPr>
        <p:spPr>
          <a:xfrm>
            <a:off x="3887391" y="987426"/>
            <a:ext cx="4629150" cy="4873625"/>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a:extLst>
              <a:ext uri="{FF2B5EF4-FFF2-40B4-BE49-F238E27FC236}">
                <a16:creationId xmlns:a16="http://schemas.microsoft.com/office/drawing/2014/main" id="{844369F9-7A97-46E8-AFA9-C7017F9427C4}"/>
              </a:ext>
            </a:extLst>
          </p:cNvPr>
          <p:cNvSpPr>
            <a:spLocks noGrp="1"/>
          </p:cNvSpPr>
          <p:nvPr>
            <p:ph type="body" sz="half" idx="2"/>
          </p:nvPr>
        </p:nvSpPr>
        <p:spPr>
          <a:xfrm>
            <a:off x="629841" y="2057400"/>
            <a:ext cx="2949178" cy="3811588"/>
          </a:xfrm>
        </p:spPr>
        <p:txBody>
          <a:bodyPr/>
          <a:lstStyle>
            <a:lvl1pPr marL="0" indent="0">
              <a:buNone/>
              <a:defRPr sz="1200"/>
            </a:lvl1pPr>
            <a:lvl2pPr marL="342900" indent="0">
              <a:buNone/>
              <a:defRPr sz="1050"/>
            </a:lvl2pPr>
            <a:lvl3pPr marL="685800" indent="0">
              <a:buNone/>
              <a:defRPr sz="900"/>
            </a:lvl3pPr>
            <a:lvl4pPr marL="1028700" indent="0">
              <a:buNone/>
              <a:defRPr sz="750"/>
            </a:lvl4pPr>
            <a:lvl5pPr marL="1371600" indent="0">
              <a:buNone/>
              <a:defRPr sz="750"/>
            </a:lvl5pPr>
            <a:lvl6pPr marL="1714500" indent="0">
              <a:buNone/>
              <a:defRPr sz="750"/>
            </a:lvl6pPr>
            <a:lvl7pPr marL="2057400" indent="0">
              <a:buNone/>
              <a:defRPr sz="750"/>
            </a:lvl7pPr>
            <a:lvl8pPr marL="2400300" indent="0">
              <a:buNone/>
              <a:defRPr sz="750"/>
            </a:lvl8pPr>
            <a:lvl9pPr marL="2743200" indent="0">
              <a:buNone/>
              <a:defRPr sz="750"/>
            </a:lvl9pPr>
          </a:lstStyle>
          <a:p>
            <a:pPr lvl="0"/>
            <a:r>
              <a:rPr lang="en-US"/>
              <a:t>Click to edit Master text styles</a:t>
            </a:r>
          </a:p>
        </p:txBody>
      </p:sp>
      <p:sp>
        <p:nvSpPr>
          <p:cNvPr id="5" name="Date Placeholder 4">
            <a:extLst>
              <a:ext uri="{FF2B5EF4-FFF2-40B4-BE49-F238E27FC236}">
                <a16:creationId xmlns:a16="http://schemas.microsoft.com/office/drawing/2014/main" id="{9593C1D6-5D11-4968-B679-3E1CC6CFCF82}"/>
              </a:ext>
            </a:extLst>
          </p:cNvPr>
          <p:cNvSpPr>
            <a:spLocks noGrp="1"/>
          </p:cNvSpPr>
          <p:nvPr>
            <p:ph type="dt" sz="half" idx="10"/>
          </p:nvPr>
        </p:nvSpPr>
        <p:spPr>
          <a:xfrm>
            <a:off x="628650" y="6356351"/>
            <a:ext cx="2057400" cy="365125"/>
          </a:xfrm>
          <a:prstGeom prst="rect">
            <a:avLst/>
          </a:prstGeom>
        </p:spPr>
        <p:txBody>
          <a:bodyPr/>
          <a:lstStyle/>
          <a:p>
            <a:r>
              <a:rPr lang="en-US"/>
              <a:t>14 Jan 2004</a:t>
            </a:r>
          </a:p>
        </p:txBody>
      </p:sp>
      <p:sp>
        <p:nvSpPr>
          <p:cNvPr id="6" name="Footer Placeholder 5">
            <a:extLst>
              <a:ext uri="{FF2B5EF4-FFF2-40B4-BE49-F238E27FC236}">
                <a16:creationId xmlns:a16="http://schemas.microsoft.com/office/drawing/2014/main" id="{58A93109-6D71-4EA2-B07F-91E5CB629043}"/>
              </a:ext>
            </a:extLst>
          </p:cNvPr>
          <p:cNvSpPr>
            <a:spLocks noGrp="1"/>
          </p:cNvSpPr>
          <p:nvPr>
            <p:ph type="ftr" sz="quarter" idx="11"/>
          </p:nvPr>
        </p:nvSpPr>
        <p:spPr>
          <a:xfrm>
            <a:off x="3028950" y="6356351"/>
            <a:ext cx="3086100" cy="365125"/>
          </a:xfrm>
          <a:prstGeom prst="rect">
            <a:avLst/>
          </a:prstGeom>
        </p:spPr>
        <p:txBody>
          <a:bodyPr/>
          <a:lstStyle/>
          <a:p>
            <a:r>
              <a:rPr lang="en-US"/>
              <a:t>CS 3243 - Blind Search</a:t>
            </a:r>
          </a:p>
        </p:txBody>
      </p:sp>
      <p:sp>
        <p:nvSpPr>
          <p:cNvPr id="7" name="Slide Number Placeholder 6">
            <a:extLst>
              <a:ext uri="{FF2B5EF4-FFF2-40B4-BE49-F238E27FC236}">
                <a16:creationId xmlns:a16="http://schemas.microsoft.com/office/drawing/2014/main" id="{344AD4A7-BF84-4397-B385-2AD7820F1432}"/>
              </a:ext>
            </a:extLst>
          </p:cNvPr>
          <p:cNvSpPr>
            <a:spLocks noGrp="1"/>
          </p:cNvSpPr>
          <p:nvPr>
            <p:ph type="sldNum" sz="quarter" idx="12"/>
          </p:nvPr>
        </p:nvSpPr>
        <p:spPr/>
        <p:txBody>
          <a:bodyPr/>
          <a:lstStyle/>
          <a:p>
            <a:fld id="{DB1E55EC-528B-4849-B14F-C2768CDCAD28}" type="slidenum">
              <a:rPr lang="en-US" smtClean="0"/>
              <a:pPr/>
              <a:t>‹#›</a:t>
            </a:fld>
            <a:endParaRPr lang="en-US"/>
          </a:p>
        </p:txBody>
      </p:sp>
    </p:spTree>
    <p:extLst>
      <p:ext uri="{BB962C8B-B14F-4D97-AF65-F5344CB8AC3E}">
        <p14:creationId xmlns:p14="http://schemas.microsoft.com/office/powerpoint/2010/main" val="1118814076"/>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D1A5E47-C049-4A0A-B554-59FD1CB64C73}"/>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E8CFED5F-110F-447A-A8E7-7207F8E1732D}"/>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8DD629D5-90EF-4646-954E-2A913ABEC5F0}"/>
              </a:ext>
            </a:extLst>
          </p:cNvPr>
          <p:cNvSpPr>
            <a:spLocks noGrp="1"/>
          </p:cNvSpPr>
          <p:nvPr>
            <p:ph type="dt" sz="half" idx="10"/>
          </p:nvPr>
        </p:nvSpPr>
        <p:spPr>
          <a:xfrm>
            <a:off x="628650" y="6356351"/>
            <a:ext cx="2057400" cy="365125"/>
          </a:xfrm>
          <a:prstGeom prst="rect">
            <a:avLst/>
          </a:prstGeom>
        </p:spPr>
        <p:txBody>
          <a:bodyPr/>
          <a:lstStyle/>
          <a:p>
            <a:r>
              <a:rPr lang="en-US"/>
              <a:t>14 Jan 2004</a:t>
            </a:r>
          </a:p>
        </p:txBody>
      </p:sp>
      <p:sp>
        <p:nvSpPr>
          <p:cNvPr id="5" name="Footer Placeholder 4">
            <a:extLst>
              <a:ext uri="{FF2B5EF4-FFF2-40B4-BE49-F238E27FC236}">
                <a16:creationId xmlns:a16="http://schemas.microsoft.com/office/drawing/2014/main" id="{57DDEB13-434B-4FB2-BAAF-89B2739E810E}"/>
              </a:ext>
            </a:extLst>
          </p:cNvPr>
          <p:cNvSpPr>
            <a:spLocks noGrp="1"/>
          </p:cNvSpPr>
          <p:nvPr>
            <p:ph type="ftr" sz="quarter" idx="11"/>
          </p:nvPr>
        </p:nvSpPr>
        <p:spPr>
          <a:xfrm>
            <a:off x="3028950" y="6356351"/>
            <a:ext cx="3086100" cy="365125"/>
          </a:xfrm>
          <a:prstGeom prst="rect">
            <a:avLst/>
          </a:prstGeom>
        </p:spPr>
        <p:txBody>
          <a:bodyPr/>
          <a:lstStyle/>
          <a:p>
            <a:r>
              <a:rPr lang="en-US"/>
              <a:t>CS 3243 - Blind Search</a:t>
            </a:r>
          </a:p>
        </p:txBody>
      </p:sp>
      <p:sp>
        <p:nvSpPr>
          <p:cNvPr id="6" name="Slide Number Placeholder 5">
            <a:extLst>
              <a:ext uri="{FF2B5EF4-FFF2-40B4-BE49-F238E27FC236}">
                <a16:creationId xmlns:a16="http://schemas.microsoft.com/office/drawing/2014/main" id="{9B0EAE48-842D-41AF-92E2-D30DB1BA2963}"/>
              </a:ext>
            </a:extLst>
          </p:cNvPr>
          <p:cNvSpPr>
            <a:spLocks noGrp="1"/>
          </p:cNvSpPr>
          <p:nvPr>
            <p:ph type="sldNum" sz="quarter" idx="12"/>
          </p:nvPr>
        </p:nvSpPr>
        <p:spPr/>
        <p:txBody>
          <a:bodyPr/>
          <a:lstStyle/>
          <a:p>
            <a:fld id="{FF2426BF-23F7-454A-AE34-F8D0C0837188}" type="slidenum">
              <a:rPr lang="en-US" smtClean="0"/>
              <a:pPr/>
              <a:t>‹#›</a:t>
            </a:fld>
            <a:endParaRPr lang="en-US"/>
          </a:p>
        </p:txBody>
      </p:sp>
    </p:spTree>
    <p:extLst>
      <p:ext uri="{BB962C8B-B14F-4D97-AF65-F5344CB8AC3E}">
        <p14:creationId xmlns:p14="http://schemas.microsoft.com/office/powerpoint/2010/main" val="706831347"/>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3EA76FEB-CDB4-462A-9F79-6A20CF7C08AC}"/>
              </a:ext>
            </a:extLst>
          </p:cNvPr>
          <p:cNvSpPr>
            <a:spLocks noGrp="1"/>
          </p:cNvSpPr>
          <p:nvPr>
            <p:ph type="title" orient="vert"/>
          </p:nvPr>
        </p:nvSpPr>
        <p:spPr>
          <a:xfrm>
            <a:off x="6543675" y="365125"/>
            <a:ext cx="1971675"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8D869DC8-76D3-4204-B2AE-EFC9BD3D08C8}"/>
              </a:ext>
            </a:extLst>
          </p:cNvPr>
          <p:cNvSpPr>
            <a:spLocks noGrp="1"/>
          </p:cNvSpPr>
          <p:nvPr>
            <p:ph type="body" orient="vert" idx="1"/>
          </p:nvPr>
        </p:nvSpPr>
        <p:spPr>
          <a:xfrm>
            <a:off x="628650" y="365125"/>
            <a:ext cx="5800725"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B2DD1055-F71C-4DEB-9AFB-08AF80DE13A1}"/>
              </a:ext>
            </a:extLst>
          </p:cNvPr>
          <p:cNvSpPr>
            <a:spLocks noGrp="1"/>
          </p:cNvSpPr>
          <p:nvPr>
            <p:ph type="dt" sz="half" idx="10"/>
          </p:nvPr>
        </p:nvSpPr>
        <p:spPr>
          <a:xfrm>
            <a:off x="628650" y="6356351"/>
            <a:ext cx="2057400" cy="365125"/>
          </a:xfrm>
          <a:prstGeom prst="rect">
            <a:avLst/>
          </a:prstGeom>
        </p:spPr>
        <p:txBody>
          <a:bodyPr/>
          <a:lstStyle/>
          <a:p>
            <a:r>
              <a:rPr lang="en-US"/>
              <a:t>14 Jan 2004</a:t>
            </a:r>
          </a:p>
        </p:txBody>
      </p:sp>
      <p:sp>
        <p:nvSpPr>
          <p:cNvPr id="5" name="Footer Placeholder 4">
            <a:extLst>
              <a:ext uri="{FF2B5EF4-FFF2-40B4-BE49-F238E27FC236}">
                <a16:creationId xmlns:a16="http://schemas.microsoft.com/office/drawing/2014/main" id="{232A486D-6FB9-4790-90A1-36404733D2AE}"/>
              </a:ext>
            </a:extLst>
          </p:cNvPr>
          <p:cNvSpPr>
            <a:spLocks noGrp="1"/>
          </p:cNvSpPr>
          <p:nvPr>
            <p:ph type="ftr" sz="quarter" idx="11"/>
          </p:nvPr>
        </p:nvSpPr>
        <p:spPr>
          <a:xfrm>
            <a:off x="3028950" y="6356351"/>
            <a:ext cx="3086100" cy="365125"/>
          </a:xfrm>
          <a:prstGeom prst="rect">
            <a:avLst/>
          </a:prstGeom>
        </p:spPr>
        <p:txBody>
          <a:bodyPr/>
          <a:lstStyle/>
          <a:p>
            <a:r>
              <a:rPr lang="en-US"/>
              <a:t>CS 3243 - Blind Search</a:t>
            </a:r>
          </a:p>
        </p:txBody>
      </p:sp>
      <p:sp>
        <p:nvSpPr>
          <p:cNvPr id="6" name="Slide Number Placeholder 5">
            <a:extLst>
              <a:ext uri="{FF2B5EF4-FFF2-40B4-BE49-F238E27FC236}">
                <a16:creationId xmlns:a16="http://schemas.microsoft.com/office/drawing/2014/main" id="{6FB8E9DA-F14C-4A2F-9EEE-9AE2AC984261}"/>
              </a:ext>
            </a:extLst>
          </p:cNvPr>
          <p:cNvSpPr>
            <a:spLocks noGrp="1"/>
          </p:cNvSpPr>
          <p:nvPr>
            <p:ph type="sldNum" sz="quarter" idx="12"/>
          </p:nvPr>
        </p:nvSpPr>
        <p:spPr/>
        <p:txBody>
          <a:bodyPr/>
          <a:lstStyle/>
          <a:p>
            <a:fld id="{14BF256C-05D7-4F8B-A8CD-2D886136ABC4}" type="slidenum">
              <a:rPr lang="en-US" smtClean="0"/>
              <a:pPr/>
              <a:t>‹#›</a:t>
            </a:fld>
            <a:endParaRPr lang="en-US"/>
          </a:p>
        </p:txBody>
      </p:sp>
    </p:spTree>
    <p:extLst>
      <p:ext uri="{BB962C8B-B14F-4D97-AF65-F5344CB8AC3E}">
        <p14:creationId xmlns:p14="http://schemas.microsoft.com/office/powerpoint/2010/main" val="1789357197"/>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FEAF2D2E-0472-425C-8625-002334FD0F42}"/>
              </a:ext>
            </a:extLst>
          </p:cNvPr>
          <p:cNvSpPr>
            <a:spLocks noGrp="1"/>
          </p:cNvSpPr>
          <p:nvPr>
            <p:ph type="title"/>
          </p:nvPr>
        </p:nvSpPr>
        <p:spPr>
          <a:xfrm>
            <a:off x="628650" y="365126"/>
            <a:ext cx="78867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460688C7-213E-4AC0-9CCB-4B37ADE783B8}"/>
              </a:ext>
            </a:extLst>
          </p:cNvPr>
          <p:cNvSpPr>
            <a:spLocks noGrp="1"/>
          </p:cNvSpPr>
          <p:nvPr>
            <p:ph type="body" idx="1"/>
          </p:nvPr>
        </p:nvSpPr>
        <p:spPr>
          <a:xfrm>
            <a:off x="628650" y="1825625"/>
            <a:ext cx="78867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Slide Number Placeholder 5">
            <a:extLst>
              <a:ext uri="{FF2B5EF4-FFF2-40B4-BE49-F238E27FC236}">
                <a16:creationId xmlns:a16="http://schemas.microsoft.com/office/drawing/2014/main" id="{B0D742CE-0BD3-4D70-821B-CFCC3B8AA0BC}"/>
              </a:ext>
            </a:extLst>
          </p:cNvPr>
          <p:cNvSpPr>
            <a:spLocks noGrp="1"/>
          </p:cNvSpPr>
          <p:nvPr>
            <p:ph type="sldNum" sz="quarter" idx="4"/>
          </p:nvPr>
        </p:nvSpPr>
        <p:spPr>
          <a:xfrm>
            <a:off x="6457950" y="6356351"/>
            <a:ext cx="2057400" cy="365125"/>
          </a:xfrm>
          <a:prstGeom prst="rect">
            <a:avLst/>
          </a:prstGeom>
        </p:spPr>
        <p:txBody>
          <a:bodyPr vert="horz" lIns="91440" tIns="45720" rIns="91440" bIns="45720" rtlCol="0" anchor="ctr"/>
          <a:lstStyle>
            <a:lvl1pPr algn="r">
              <a:defRPr sz="900">
                <a:solidFill>
                  <a:schemeClr val="tx1">
                    <a:tint val="75000"/>
                  </a:schemeClr>
                </a:solidFill>
              </a:defRPr>
            </a:lvl1pPr>
          </a:lstStyle>
          <a:p>
            <a:fld id="{E97C47EE-1537-423B-A9B2-96D7BC867AC1}" type="slidenum">
              <a:rPr lang="en-US" smtClean="0"/>
              <a:t>‹#›</a:t>
            </a:fld>
            <a:endParaRPr lang="en-US"/>
          </a:p>
        </p:txBody>
      </p:sp>
    </p:spTree>
    <p:extLst>
      <p:ext uri="{BB962C8B-B14F-4D97-AF65-F5344CB8AC3E}">
        <p14:creationId xmlns:p14="http://schemas.microsoft.com/office/powerpoint/2010/main" val="4010628792"/>
      </p:ext>
    </p:extLst>
  </p:cSld>
  <p:clrMap bg1="lt1" tx1="dk1" bg2="lt2" tx2="dk2" accent1="accent1" accent2="accent2" accent3="accent3" accent4="accent4" accent5="accent5" accent6="accent6" hlink="hlink" folHlink="folHlink"/>
  <p:sldLayoutIdLst>
    <p:sldLayoutId id="2147483679" r:id="rId1"/>
    <p:sldLayoutId id="2147483680" r:id="rId2"/>
    <p:sldLayoutId id="2147483681" r:id="rId3"/>
    <p:sldLayoutId id="2147483682" r:id="rId4"/>
    <p:sldLayoutId id="2147483683" r:id="rId5"/>
    <p:sldLayoutId id="2147483684" r:id="rId6"/>
    <p:sldLayoutId id="2147483685" r:id="rId7"/>
    <p:sldLayoutId id="2147483686" r:id="rId8"/>
    <p:sldLayoutId id="2147483687" r:id="rId9"/>
    <p:sldLayoutId id="2147483688" r:id="rId10"/>
    <p:sldLayoutId id="2147483689" r:id="rId11"/>
  </p:sldLayoutIdLst>
  <p:hf hdr="0"/>
  <p:txStyles>
    <p:titleStyle>
      <a:lvl1pPr algn="l" defTabSz="685800" rtl="0" eaLnBrk="1" latinLnBrk="0" hangingPunct="1">
        <a:lnSpc>
          <a:spcPct val="90000"/>
        </a:lnSpc>
        <a:spcBef>
          <a:spcPct val="0"/>
        </a:spcBef>
        <a:buNone/>
        <a:defRPr sz="3300" kern="1200">
          <a:solidFill>
            <a:schemeClr val="tx1"/>
          </a:solidFill>
          <a:latin typeface="+mj-lt"/>
          <a:ea typeface="+mj-ea"/>
          <a:cs typeface="+mj-cs"/>
        </a:defRPr>
      </a:lvl1pPr>
    </p:titleStyle>
    <p:bodyStyle>
      <a:lvl1pPr marL="171450" indent="-171450" algn="l" defTabSz="685800" rtl="0" eaLnBrk="1" latinLnBrk="0" hangingPunct="1">
        <a:lnSpc>
          <a:spcPct val="90000"/>
        </a:lnSpc>
        <a:spcBef>
          <a:spcPts val="750"/>
        </a:spcBef>
        <a:buFont typeface="Arial" panose="020B0604020202020204" pitchFamily="34" charset="0"/>
        <a:buChar char="•"/>
        <a:defRPr sz="2100" kern="1200">
          <a:solidFill>
            <a:schemeClr val="tx1"/>
          </a:solidFill>
          <a:latin typeface="+mn-lt"/>
          <a:ea typeface="+mn-ea"/>
          <a:cs typeface="+mn-cs"/>
        </a:defRPr>
      </a:lvl1pPr>
      <a:lvl2pPr marL="514350" indent="-171450" algn="l" defTabSz="685800" rtl="0" eaLnBrk="1" latinLnBrk="0" hangingPunct="1">
        <a:lnSpc>
          <a:spcPct val="90000"/>
        </a:lnSpc>
        <a:spcBef>
          <a:spcPts val="375"/>
        </a:spcBef>
        <a:buFont typeface="Arial" panose="020B0604020202020204" pitchFamily="34" charset="0"/>
        <a:buChar char="•"/>
        <a:defRPr sz="1800" kern="1200">
          <a:solidFill>
            <a:schemeClr val="tx1"/>
          </a:solidFill>
          <a:latin typeface="+mn-lt"/>
          <a:ea typeface="+mn-ea"/>
          <a:cs typeface="+mn-cs"/>
        </a:defRPr>
      </a:lvl2pPr>
      <a:lvl3pPr marL="857250" indent="-171450" algn="l" defTabSz="685800" rtl="0" eaLnBrk="1" latinLnBrk="0" hangingPunct="1">
        <a:lnSpc>
          <a:spcPct val="90000"/>
        </a:lnSpc>
        <a:spcBef>
          <a:spcPts val="375"/>
        </a:spcBef>
        <a:buFont typeface="Arial" panose="020B0604020202020204" pitchFamily="34" charset="0"/>
        <a:buChar char="•"/>
        <a:defRPr sz="1500" kern="1200">
          <a:solidFill>
            <a:schemeClr val="tx1"/>
          </a:solidFill>
          <a:latin typeface="+mn-lt"/>
          <a:ea typeface="+mn-ea"/>
          <a:cs typeface="+mn-cs"/>
        </a:defRPr>
      </a:lvl3pPr>
      <a:lvl4pPr marL="12001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4pPr>
      <a:lvl5pPr marL="15430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5pPr>
      <a:lvl6pPr marL="18859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p:bodyStyle>
    <p:otherStyle>
      <a:defPPr>
        <a:defRPr lang="en-US"/>
      </a:defPPr>
      <a:lvl1pPr marL="0" algn="l" defTabSz="685800" rtl="0" eaLnBrk="1" latinLnBrk="0" hangingPunct="1">
        <a:defRPr sz="1350" kern="1200">
          <a:solidFill>
            <a:schemeClr val="tx1"/>
          </a:solidFill>
          <a:latin typeface="+mn-lt"/>
          <a:ea typeface="+mn-ea"/>
          <a:cs typeface="+mn-cs"/>
        </a:defRPr>
      </a:lvl1pPr>
      <a:lvl2pPr marL="342900" algn="l" defTabSz="685800" rtl="0" eaLnBrk="1" latinLnBrk="0" hangingPunct="1">
        <a:defRPr sz="1350" kern="1200">
          <a:solidFill>
            <a:schemeClr val="tx1"/>
          </a:solidFill>
          <a:latin typeface="+mn-lt"/>
          <a:ea typeface="+mn-ea"/>
          <a:cs typeface="+mn-cs"/>
        </a:defRPr>
      </a:lvl2pPr>
      <a:lvl3pPr marL="685800" algn="l" defTabSz="685800" rtl="0" eaLnBrk="1" latinLnBrk="0" hangingPunct="1">
        <a:defRPr sz="1350" kern="1200">
          <a:solidFill>
            <a:schemeClr val="tx1"/>
          </a:solidFill>
          <a:latin typeface="+mn-lt"/>
          <a:ea typeface="+mn-ea"/>
          <a:cs typeface="+mn-cs"/>
        </a:defRPr>
      </a:lvl3pPr>
      <a:lvl4pPr marL="1028700" algn="l" defTabSz="685800" rtl="0" eaLnBrk="1" latinLnBrk="0" hangingPunct="1">
        <a:defRPr sz="1350" kern="1200">
          <a:solidFill>
            <a:schemeClr val="tx1"/>
          </a:solidFill>
          <a:latin typeface="+mn-lt"/>
          <a:ea typeface="+mn-ea"/>
          <a:cs typeface="+mn-cs"/>
        </a:defRPr>
      </a:lvl4pPr>
      <a:lvl5pPr marL="1371600" algn="l" defTabSz="685800" rtl="0" eaLnBrk="1" latinLnBrk="0" hangingPunct="1">
        <a:defRPr sz="1350" kern="1200">
          <a:solidFill>
            <a:schemeClr val="tx1"/>
          </a:solidFill>
          <a:latin typeface="+mn-lt"/>
          <a:ea typeface="+mn-ea"/>
          <a:cs typeface="+mn-cs"/>
        </a:defRPr>
      </a:lvl5pPr>
      <a:lvl6pPr marL="1714500" algn="l" defTabSz="685800" rtl="0" eaLnBrk="1" latinLnBrk="0" hangingPunct="1">
        <a:defRPr sz="1350" kern="1200">
          <a:solidFill>
            <a:schemeClr val="tx1"/>
          </a:solidFill>
          <a:latin typeface="+mn-lt"/>
          <a:ea typeface="+mn-ea"/>
          <a:cs typeface="+mn-cs"/>
        </a:defRPr>
      </a:lvl6pPr>
      <a:lvl7pPr marL="2057400" algn="l" defTabSz="685800" rtl="0" eaLnBrk="1" latinLnBrk="0" hangingPunct="1">
        <a:defRPr sz="1350" kern="1200">
          <a:solidFill>
            <a:schemeClr val="tx1"/>
          </a:solidFill>
          <a:latin typeface="+mn-lt"/>
          <a:ea typeface="+mn-ea"/>
          <a:cs typeface="+mn-cs"/>
        </a:defRPr>
      </a:lvl7pPr>
      <a:lvl8pPr marL="2400300" algn="l" defTabSz="685800" rtl="0" eaLnBrk="1" latinLnBrk="0" hangingPunct="1">
        <a:defRPr sz="1350" kern="1200">
          <a:solidFill>
            <a:schemeClr val="tx1"/>
          </a:solidFill>
          <a:latin typeface="+mn-lt"/>
          <a:ea typeface="+mn-ea"/>
          <a:cs typeface="+mn-cs"/>
        </a:defRPr>
      </a:lvl8pPr>
      <a:lvl9pPr marL="2743200" algn="l" defTabSz="685800" rtl="0" eaLnBrk="1" latinLnBrk="0" hangingPunct="1">
        <a:defRPr sz="135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 Id="rId6" Type="http://schemas.openxmlformats.org/officeDocument/2006/relationships/image" Target="../media/image3.png"/><Relationship Id="rId5" Type="http://schemas.openxmlformats.org/officeDocument/2006/relationships/image" Target="../media/image2.png"/><Relationship Id="rId4" Type="http://schemas.openxmlformats.org/officeDocument/2006/relationships/hyperlink" Target="http://creativecommons.org/licenses/by-sa/4.0/" TargetMode="External"/></Relationships>
</file>

<file path=ppt/slides/_rels/slide2.xml.rels><?xml version="1.0" encoding="UTF-8" standalone="yes"?>
<Relationships xmlns="http://schemas.openxmlformats.org/package/2006/relationships"><Relationship Id="rId3" Type="http://schemas.openxmlformats.org/officeDocument/2006/relationships/diagramLayout" Target="../diagrams/layout1.xml"/><Relationship Id="rId2" Type="http://schemas.openxmlformats.org/officeDocument/2006/relationships/diagramData" Target="../diagrams/data1.xml"/><Relationship Id="rId1" Type="http://schemas.openxmlformats.org/officeDocument/2006/relationships/slideLayout" Target="../slideLayouts/slideLayout2.xml"/><Relationship Id="rId6" Type="http://schemas.microsoft.com/office/2007/relationships/diagramDrawing" Target="../diagrams/drawing1.xml"/><Relationship Id="rId5" Type="http://schemas.openxmlformats.org/officeDocument/2006/relationships/diagramColors" Target="../diagrams/colors1.xml"/><Relationship Id="rId4" Type="http://schemas.openxmlformats.org/officeDocument/2006/relationships/diagramQuickStyle" Target="../diagrams/quickStyle1.xml"/></Relationships>
</file>

<file path=ppt/slides/_rels/slide3.xml.rels><?xml version="1.0" encoding="UTF-8" standalone="yes"?>
<Relationships xmlns="http://schemas.openxmlformats.org/package/2006/relationships"><Relationship Id="rId2" Type="http://schemas.openxmlformats.org/officeDocument/2006/relationships/image" Target="../media/image4.jpeg"/><Relationship Id="rId1" Type="http://schemas.openxmlformats.org/officeDocument/2006/relationships/slideLayout" Target="../slideLayouts/slideLayout3.xml"/></Relationships>
</file>

<file path=ppt/slides/_rels/slide4.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2.xml"/><Relationship Id="rId1" Type="http://schemas.openxmlformats.org/officeDocument/2006/relationships/slideLayout" Target="../slideLayouts/slideLayout2.xml"/><Relationship Id="rId4" Type="http://schemas.microsoft.com/office/2007/relationships/hdphoto" Target="../media/hdphoto1.wdp"/></Relationships>
</file>

<file path=ppt/slides/_rels/slide5.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3.xml"/><Relationship Id="rId1" Type="http://schemas.openxmlformats.org/officeDocument/2006/relationships/slideLayout" Target="../slideLayouts/slideLayout2.xml"/><Relationship Id="rId4" Type="http://schemas.openxmlformats.org/officeDocument/2006/relationships/image" Target="../media/image610.png"/></Relationships>
</file>

<file path=ppt/slides/_rels/slide6.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4.xml"/><Relationship Id="rId1" Type="http://schemas.openxmlformats.org/officeDocument/2006/relationships/slideLayout" Target="../slideLayouts/slideLayout2.xml"/><Relationship Id="rId4" Type="http://schemas.microsoft.com/office/2007/relationships/hdphoto" Target="../media/hdphoto1.wdp"/></Relationships>
</file>

<file path=ppt/slides/_rels/slide7.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5.xml"/><Relationship Id="rId1" Type="http://schemas.openxmlformats.org/officeDocument/2006/relationships/slideLayout" Target="../slideLayouts/slideLayout2.xml"/><Relationship Id="rId5" Type="http://schemas.openxmlformats.org/officeDocument/2006/relationships/image" Target="../media/image67.png"/><Relationship Id="rId4" Type="http://schemas.microsoft.com/office/2007/relationships/hdphoto" Target="../media/hdphoto1.wdp"/></Relationships>
</file>

<file path=ppt/slides/_rels/slide8.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6.xml"/><Relationship Id="rId1" Type="http://schemas.openxmlformats.org/officeDocument/2006/relationships/slideLayout" Target="../slideLayouts/slideLayout2.xml"/><Relationship Id="rId6" Type="http://schemas.microsoft.com/office/2007/relationships/hdphoto" Target="../media/hdphoto1.wdp"/><Relationship Id="rId5" Type="http://schemas.openxmlformats.org/officeDocument/2006/relationships/image" Target="../media/image5.png"/><Relationship Id="rId4" Type="http://schemas.openxmlformats.org/officeDocument/2006/relationships/image" Target="../media/image8.png"/></Relationships>
</file>

<file path=ppt/slides/_rels/slide9.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7.xml"/><Relationship Id="rId1" Type="http://schemas.openxmlformats.org/officeDocument/2006/relationships/slideLayout" Target="../slideLayouts/slideLayout2.xml"/><Relationship Id="rId4" Type="http://schemas.openxmlformats.org/officeDocument/2006/relationships/image" Target="../media/image10.png"/></Relationships>
</file>

<file path=ppt/slides/_rels/slide10.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8.xml"/><Relationship Id="rId1" Type="http://schemas.openxmlformats.org/officeDocument/2006/relationships/slideLayout" Target="../slideLayouts/slideLayout2.xml"/><Relationship Id="rId5" Type="http://schemas.openxmlformats.org/officeDocument/2006/relationships/image" Target="../media/image13.png"/><Relationship Id="rId4" Type="http://schemas.openxmlformats.org/officeDocument/2006/relationships/image" Target="../media/image12.png"/></Relationships>
</file>

<file path=ppt/slides/_rels/slide11.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9.xml"/><Relationship Id="rId1" Type="http://schemas.openxmlformats.org/officeDocument/2006/relationships/slideLayout" Target="../slideLayouts/slideLayout2.xml"/><Relationship Id="rId4" Type="http://schemas.openxmlformats.org/officeDocument/2006/relationships/image" Target="../media/image15.png"/></Relationships>
</file>

<file path=ppt/slides/_rels/slide12.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3" Type="http://schemas.openxmlformats.org/officeDocument/2006/relationships/image" Target="../media/image17.jpeg"/><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8" Type="http://schemas.openxmlformats.org/officeDocument/2006/relationships/image" Target="../media/image11.png"/><Relationship Id="rId3" Type="http://schemas.openxmlformats.org/officeDocument/2006/relationships/diagramData" Target="../diagrams/data2.xml"/><Relationship Id="rId7" Type="http://schemas.microsoft.com/office/2007/relationships/diagramDrawing" Target="../diagrams/drawing2.xml"/><Relationship Id="rId2" Type="http://schemas.openxmlformats.org/officeDocument/2006/relationships/notesSlide" Target="../notesSlides/notesSlide12.xml"/><Relationship Id="rId1" Type="http://schemas.openxmlformats.org/officeDocument/2006/relationships/slideLayout" Target="../slideLayouts/slideLayout6.xml"/><Relationship Id="rId6" Type="http://schemas.openxmlformats.org/officeDocument/2006/relationships/diagramColors" Target="../diagrams/colors2.xml"/><Relationship Id="rId5" Type="http://schemas.openxmlformats.org/officeDocument/2006/relationships/diagramQuickStyle" Target="../diagrams/quickStyle2.xml"/><Relationship Id="rId4" Type="http://schemas.openxmlformats.org/officeDocument/2006/relationships/diagramLayout" Target="../diagrams/layout2.xml"/></Relationships>
</file>

<file path=ppt/slides/_rels/slide15.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13.xml"/><Relationship Id="rId1" Type="http://schemas.openxmlformats.org/officeDocument/2006/relationships/slideLayout" Target="../slideLayouts/slideLayout6.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16.xml"/><Relationship Id="rId1" Type="http://schemas.openxmlformats.org/officeDocument/2006/relationships/slideLayout" Target="../slideLayouts/slideLayout2.xml"/><Relationship Id="rId5" Type="http://schemas.openxmlformats.org/officeDocument/2006/relationships/image" Target="../media/image10.png"/><Relationship Id="rId4" Type="http://schemas.microsoft.com/office/2007/relationships/hdphoto" Target="../media/hdphoto2.wdp"/></Relationships>
</file>

<file path=ppt/slides/_rels/slide20.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17.xml"/><Relationship Id="rId1" Type="http://schemas.openxmlformats.org/officeDocument/2006/relationships/slideLayout" Target="../slideLayouts/slideLayout2.xml"/><Relationship Id="rId5" Type="http://schemas.openxmlformats.org/officeDocument/2006/relationships/image" Target="../media/image10.png"/><Relationship Id="rId4" Type="http://schemas.microsoft.com/office/2007/relationships/hdphoto" Target="../media/hdphoto3.wdp"/></Relationships>
</file>

<file path=ppt/slides/_rels/slide21.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18.xml"/><Relationship Id="rId1" Type="http://schemas.openxmlformats.org/officeDocument/2006/relationships/slideLayout" Target="../slideLayouts/slideLayout2.xml"/><Relationship Id="rId5" Type="http://schemas.openxmlformats.org/officeDocument/2006/relationships/image" Target="../media/image10.png"/><Relationship Id="rId4" Type="http://schemas.microsoft.com/office/2007/relationships/hdphoto" Target="../media/hdphoto4.wdp"/></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2" Type="http://schemas.openxmlformats.org/officeDocument/2006/relationships/image" Target="../media/image21.jpeg"/><Relationship Id="rId1" Type="http://schemas.openxmlformats.org/officeDocument/2006/relationships/slideLayout" Target="../slideLayouts/slideLayout6.xml"/></Relationships>
</file>

<file path=ppt/slides/_rels/slide24.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notesSlide" Target="../notesSlides/notesSlide20.xml"/><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image" Target="../media/image23.png"/><Relationship Id="rId1" Type="http://schemas.openxmlformats.org/officeDocument/2006/relationships/slideLayout" Target="../slideLayouts/slideLayout2.xml"/><Relationship Id="rId5" Type="http://schemas.openxmlformats.org/officeDocument/2006/relationships/image" Target="../media/image200.png"/><Relationship Id="rId4" Type="http://schemas.openxmlformats.org/officeDocument/2006/relationships/image" Target="../media/image190.png"/></Relationships>
</file>

<file path=ppt/slides/_rels/slide26.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image" Target="../media/image25.png"/><Relationship Id="rId1" Type="http://schemas.openxmlformats.org/officeDocument/2006/relationships/slideLayout" Target="../slideLayouts/slideLayout6.xml"/><Relationship Id="rId6" Type="http://schemas.openxmlformats.org/officeDocument/2006/relationships/image" Target="../media/image28.png"/><Relationship Id="rId5" Type="http://schemas.openxmlformats.org/officeDocument/2006/relationships/image" Target="../media/image27.png"/><Relationship Id="rId4" Type="http://schemas.openxmlformats.org/officeDocument/2006/relationships/hyperlink" Target="https://itnext.io/permutations-combinations-algorithms-cheat-sheet-68c14879aba5" TargetMode="External"/></Relationships>
</file>

<file path=ppt/slides/_rels/slide27.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image" Target="../media/image29.png"/><Relationship Id="rId1" Type="http://schemas.openxmlformats.org/officeDocument/2006/relationships/slideLayout" Target="../slideLayouts/slideLayout6.xml"/><Relationship Id="rId5" Type="http://schemas.openxmlformats.org/officeDocument/2006/relationships/image" Target="../media/image31.png"/><Relationship Id="rId4" Type="http://schemas.openxmlformats.org/officeDocument/2006/relationships/hyperlink" Target="https://itnext.io/permutations-combinations-algorithms-cheat-sheet-68c14879aba5" TargetMode="External"/></Relationships>
</file>

<file path=ppt/slides/_rels/slide28.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image" Target="../media/image12.png"/><Relationship Id="rId1" Type="http://schemas.openxmlformats.org/officeDocument/2006/relationships/slideLayout" Target="../slideLayouts/slideLayout6.xml"/><Relationship Id="rId5" Type="http://schemas.openxmlformats.org/officeDocument/2006/relationships/image" Target="../media/image32.png"/><Relationship Id="rId4" Type="http://schemas.openxmlformats.org/officeDocument/2006/relationships/image" Target="../media/image260.png"/></Relationships>
</file>

<file path=ppt/slides/_rels/slide29.xml.rels><?xml version="1.0" encoding="UTF-8" standalone="yes"?>
<Relationships xmlns="http://schemas.openxmlformats.org/package/2006/relationships"><Relationship Id="rId3" Type="http://schemas.openxmlformats.org/officeDocument/2006/relationships/image" Target="../media/image34.png"/><Relationship Id="rId2" Type="http://schemas.openxmlformats.org/officeDocument/2006/relationships/image" Target="../media/image33.png"/><Relationship Id="rId1" Type="http://schemas.openxmlformats.org/officeDocument/2006/relationships/slideLayout" Target="../slideLayouts/slideLayout6.xml"/><Relationship Id="rId6" Type="http://schemas.microsoft.com/office/2007/relationships/hdphoto" Target="../media/hdphoto5.wdp"/><Relationship Id="rId5" Type="http://schemas.openxmlformats.org/officeDocument/2006/relationships/image" Target="../media/image36.png"/><Relationship Id="rId4" Type="http://schemas.openxmlformats.org/officeDocument/2006/relationships/image" Target="../media/image35.png"/></Relationships>
</file>

<file path=ppt/slides/_rels/slide30.xml.rels><?xml version="1.0" encoding="UTF-8" standalone="yes"?>
<Relationships xmlns="http://schemas.openxmlformats.org/package/2006/relationships"><Relationship Id="rId8" Type="http://schemas.openxmlformats.org/officeDocument/2006/relationships/image" Target="../media/image38.png"/><Relationship Id="rId3" Type="http://schemas.openxmlformats.org/officeDocument/2006/relationships/image" Target="../media/image34.png"/><Relationship Id="rId7" Type="http://schemas.openxmlformats.org/officeDocument/2006/relationships/image" Target="../media/image37.png"/><Relationship Id="rId2" Type="http://schemas.openxmlformats.org/officeDocument/2006/relationships/image" Target="../media/image33.png"/><Relationship Id="rId1" Type="http://schemas.openxmlformats.org/officeDocument/2006/relationships/slideLayout" Target="../slideLayouts/slideLayout6.xml"/><Relationship Id="rId6" Type="http://schemas.microsoft.com/office/2007/relationships/hdphoto" Target="../media/hdphoto5.wdp"/><Relationship Id="rId5" Type="http://schemas.openxmlformats.org/officeDocument/2006/relationships/image" Target="../media/image36.png"/><Relationship Id="rId10" Type="http://schemas.openxmlformats.org/officeDocument/2006/relationships/image" Target="../media/image40.png"/><Relationship Id="rId4" Type="http://schemas.openxmlformats.org/officeDocument/2006/relationships/image" Target="../media/image35.png"/><Relationship Id="rId9" Type="http://schemas.openxmlformats.org/officeDocument/2006/relationships/image" Target="../media/image39.png"/></Relationships>
</file>

<file path=ppt/slides/_rels/slide31.xml.rels><?xml version="1.0" encoding="UTF-8" standalone="yes"?>
<Relationships xmlns="http://schemas.openxmlformats.org/package/2006/relationships"><Relationship Id="rId3" Type="http://schemas.openxmlformats.org/officeDocument/2006/relationships/image" Target="../media/image381.png"/><Relationship Id="rId2" Type="http://schemas.openxmlformats.org/officeDocument/2006/relationships/image" Target="../media/image371.png"/><Relationship Id="rId1" Type="http://schemas.openxmlformats.org/officeDocument/2006/relationships/slideLayout" Target="../slideLayouts/slideLayout2.xml"/><Relationship Id="rId6" Type="http://schemas.openxmlformats.org/officeDocument/2006/relationships/image" Target="../media/image41.png"/><Relationship Id="rId5" Type="http://schemas.openxmlformats.org/officeDocument/2006/relationships/image" Target="../media/image400.png"/><Relationship Id="rId4" Type="http://schemas.openxmlformats.org/officeDocument/2006/relationships/image" Target="../media/image391.png"/></Relationships>
</file>

<file path=ppt/slides/_rels/slide32.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image" Target="../media/image42.png"/><Relationship Id="rId1" Type="http://schemas.openxmlformats.org/officeDocument/2006/relationships/slideLayout" Target="../slideLayouts/slideLayout4.xml"/></Relationships>
</file>

<file path=ppt/slides/_rels/slide33.xml.rels><?xml version="1.0" encoding="UTF-8" standalone="yes"?>
<Relationships xmlns="http://schemas.openxmlformats.org/package/2006/relationships"><Relationship Id="rId8" Type="http://schemas.openxmlformats.org/officeDocument/2006/relationships/image" Target="../media/image370.png"/><Relationship Id="rId3" Type="http://schemas.openxmlformats.org/officeDocument/2006/relationships/image" Target="../media/image34.png"/><Relationship Id="rId7" Type="http://schemas.openxmlformats.org/officeDocument/2006/relationships/image" Target="../media/image360.png"/><Relationship Id="rId2" Type="http://schemas.openxmlformats.org/officeDocument/2006/relationships/image" Target="../media/image33.png"/><Relationship Id="rId1" Type="http://schemas.openxmlformats.org/officeDocument/2006/relationships/slideLayout" Target="../slideLayouts/slideLayout6.xml"/><Relationship Id="rId6" Type="http://schemas.microsoft.com/office/2007/relationships/hdphoto" Target="../media/hdphoto5.wdp"/><Relationship Id="rId5" Type="http://schemas.openxmlformats.org/officeDocument/2006/relationships/image" Target="../media/image36.png"/><Relationship Id="rId4" Type="http://schemas.openxmlformats.org/officeDocument/2006/relationships/image" Target="../media/image35.png"/></Relationships>
</file>

<file path=ppt/slides/_rels/slide34.xml.rels><?xml version="1.0" encoding="UTF-8" standalone="yes"?>
<Relationships xmlns="http://schemas.openxmlformats.org/package/2006/relationships"><Relationship Id="rId8" Type="http://schemas.openxmlformats.org/officeDocument/2006/relationships/image" Target="../media/image370.png"/><Relationship Id="rId3" Type="http://schemas.openxmlformats.org/officeDocument/2006/relationships/image" Target="../media/image34.png"/><Relationship Id="rId7" Type="http://schemas.openxmlformats.org/officeDocument/2006/relationships/image" Target="../media/image43.png"/><Relationship Id="rId2" Type="http://schemas.openxmlformats.org/officeDocument/2006/relationships/image" Target="../media/image33.png"/><Relationship Id="rId1" Type="http://schemas.openxmlformats.org/officeDocument/2006/relationships/slideLayout" Target="../slideLayouts/slideLayout6.xml"/><Relationship Id="rId6" Type="http://schemas.microsoft.com/office/2007/relationships/hdphoto" Target="../media/hdphoto5.wdp"/><Relationship Id="rId11" Type="http://schemas.openxmlformats.org/officeDocument/2006/relationships/image" Target="../media/image46.png"/><Relationship Id="rId5" Type="http://schemas.openxmlformats.org/officeDocument/2006/relationships/image" Target="../media/image36.png"/><Relationship Id="rId10" Type="http://schemas.openxmlformats.org/officeDocument/2006/relationships/image" Target="../media/image45.png"/><Relationship Id="rId4" Type="http://schemas.openxmlformats.org/officeDocument/2006/relationships/image" Target="../media/image35.png"/><Relationship Id="rId9" Type="http://schemas.openxmlformats.org/officeDocument/2006/relationships/image" Target="../media/image44.png"/></Relationships>
</file>

<file path=ppt/slides/_rels/slide35.xml.rels><?xml version="1.0" encoding="UTF-8" standalone="yes"?>
<Relationships xmlns="http://schemas.openxmlformats.org/package/2006/relationships"><Relationship Id="rId2" Type="http://schemas.openxmlformats.org/officeDocument/2006/relationships/image" Target="../media/image21.jpeg"/><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2" Type="http://schemas.openxmlformats.org/officeDocument/2006/relationships/image" Target="../media/image37.jpeg"/><Relationship Id="rId1" Type="http://schemas.openxmlformats.org/officeDocument/2006/relationships/slideLayout" Target="../slideLayouts/slideLayout3.xml"/></Relationships>
</file>

<file path=ppt/slides/_rels/slide37.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3" Type="http://schemas.openxmlformats.org/officeDocument/2006/relationships/image" Target="../media/image47.png"/><Relationship Id="rId2" Type="http://schemas.openxmlformats.org/officeDocument/2006/relationships/notesSlide" Target="../notesSlides/notesSlide22.xml"/><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2" Type="http://schemas.openxmlformats.org/officeDocument/2006/relationships/image" Target="../media/image48.png"/><Relationship Id="rId1" Type="http://schemas.openxmlformats.org/officeDocument/2006/relationships/slideLayout" Target="../slideLayouts/slideLayout6.xml"/></Relationships>
</file>

<file path=ppt/slides/_rels/slide40.xml.rels><?xml version="1.0" encoding="UTF-8" standalone="yes"?>
<Relationships xmlns="http://schemas.openxmlformats.org/package/2006/relationships"><Relationship Id="rId2" Type="http://schemas.openxmlformats.org/officeDocument/2006/relationships/image" Target="../media/image49.png"/><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3" Type="http://schemas.openxmlformats.org/officeDocument/2006/relationships/image" Target="../media/image450.png"/><Relationship Id="rId2" Type="http://schemas.openxmlformats.org/officeDocument/2006/relationships/notesSlide" Target="../notesSlides/notesSlide23.xml"/><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3" Type="http://schemas.openxmlformats.org/officeDocument/2006/relationships/image" Target="../media/image460.png"/><Relationship Id="rId2" Type="http://schemas.openxmlformats.org/officeDocument/2006/relationships/notesSlide" Target="../notesSlides/notesSlide24.xml"/><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3" Type="http://schemas.openxmlformats.org/officeDocument/2006/relationships/hyperlink" Target="https://en.wikipedia.org/wiki/Dijkstra%27s_algorithm" TargetMode="External"/><Relationship Id="rId2" Type="http://schemas.openxmlformats.org/officeDocument/2006/relationships/notesSlide" Target="../notesSlides/notesSlide25.xml"/><Relationship Id="rId1" Type="http://schemas.openxmlformats.org/officeDocument/2006/relationships/slideLayout" Target="../slideLayouts/slideLayout2.xml"/><Relationship Id="rId4" Type="http://schemas.openxmlformats.org/officeDocument/2006/relationships/image" Target="../media/image470.png"/></Relationships>
</file>

<file path=ppt/slides/_rels/slide44.xml.rels><?xml version="1.0" encoding="UTF-8" standalone="yes"?>
<Relationships xmlns="http://schemas.openxmlformats.org/package/2006/relationships"><Relationship Id="rId3" Type="http://schemas.openxmlformats.org/officeDocument/2006/relationships/image" Target="../media/image51.png"/><Relationship Id="rId2" Type="http://schemas.openxmlformats.org/officeDocument/2006/relationships/image" Target="../media/image50.png"/><Relationship Id="rId1" Type="http://schemas.openxmlformats.org/officeDocument/2006/relationships/slideLayout" Target="../slideLayouts/slideLayout6.xml"/></Relationships>
</file>

<file path=ppt/slides/_rels/slide45.xml.rels><?xml version="1.0" encoding="UTF-8" standalone="yes"?>
<Relationships xmlns="http://schemas.openxmlformats.org/package/2006/relationships"><Relationship Id="rId2" Type="http://schemas.openxmlformats.org/officeDocument/2006/relationships/image" Target="../media/image37.jpeg"/><Relationship Id="rId1" Type="http://schemas.openxmlformats.org/officeDocument/2006/relationships/slideLayout" Target="../slideLayouts/slideLayout3.xml"/></Relationships>
</file>

<file path=ppt/slides/_rels/slide46.xml.rels><?xml version="1.0" encoding="UTF-8" standalone="yes"?>
<Relationships xmlns="http://schemas.openxmlformats.org/package/2006/relationships"><Relationship Id="rId2" Type="http://schemas.openxmlformats.org/officeDocument/2006/relationships/image" Target="../media/image52.png"/><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3" Type="http://schemas.openxmlformats.org/officeDocument/2006/relationships/image" Target="../media/image53.png"/><Relationship Id="rId2" Type="http://schemas.openxmlformats.org/officeDocument/2006/relationships/image" Target="../media/image511.png"/><Relationship Id="rId1" Type="http://schemas.openxmlformats.org/officeDocument/2006/relationships/slideLayout" Target="../slideLayouts/slideLayout2.xml"/><Relationship Id="rId4" Type="http://schemas.openxmlformats.org/officeDocument/2006/relationships/image" Target="../media/image390.png"/></Relationships>
</file>

<file path=ppt/slides/_rels/slide48.xml.rels><?xml version="1.0" encoding="UTF-8" standalone="yes"?>
<Relationships xmlns="http://schemas.openxmlformats.org/package/2006/relationships"><Relationship Id="rId3" Type="http://schemas.openxmlformats.org/officeDocument/2006/relationships/image" Target="../media/image530.png"/><Relationship Id="rId2" Type="http://schemas.openxmlformats.org/officeDocument/2006/relationships/notesSlide" Target="../notesSlides/notesSlide26.xml"/><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3" Type="http://schemas.openxmlformats.org/officeDocument/2006/relationships/image" Target="../media/image520.png"/><Relationship Id="rId2" Type="http://schemas.openxmlformats.org/officeDocument/2006/relationships/notesSlide" Target="../notesSlides/notesSlide27.xml"/><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2.xml"/></Relationships>
</file>

<file path=ppt/slides/_rels/slide51.xml.rels><?xml version="1.0" encoding="UTF-8" standalone="yes"?>
<Relationships xmlns="http://schemas.openxmlformats.org/package/2006/relationships"><Relationship Id="rId3" Type="http://schemas.openxmlformats.org/officeDocument/2006/relationships/image" Target="../media/image54.png"/><Relationship Id="rId2" Type="http://schemas.openxmlformats.org/officeDocument/2006/relationships/notesSlide" Target="../notesSlides/notesSlide29.xml"/><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3" Type="http://schemas.openxmlformats.org/officeDocument/2006/relationships/image" Target="../media/image53.png"/><Relationship Id="rId2" Type="http://schemas.openxmlformats.org/officeDocument/2006/relationships/image" Target="../media/image55.png"/><Relationship Id="rId1" Type="http://schemas.openxmlformats.org/officeDocument/2006/relationships/slideLayout" Target="../slideLayouts/slideLayout2.xml"/></Relationships>
</file>

<file path=ppt/slides/_rels/slide53.xml.rels><?xml version="1.0" encoding="UTF-8" standalone="yes"?>
<Relationships xmlns="http://schemas.openxmlformats.org/package/2006/relationships"><Relationship Id="rId3" Type="http://schemas.openxmlformats.org/officeDocument/2006/relationships/image" Target="../media/image551.png"/><Relationship Id="rId2" Type="http://schemas.openxmlformats.org/officeDocument/2006/relationships/notesSlide" Target="../notesSlides/notesSlide30.xml"/><Relationship Id="rId1" Type="http://schemas.openxmlformats.org/officeDocument/2006/relationships/slideLayout" Target="../slideLayouts/slideLayout2.xml"/></Relationships>
</file>

<file path=ppt/slides/_rels/slide54.xml.rels><?xml version="1.0" encoding="UTF-8" standalone="yes"?>
<Relationships xmlns="http://schemas.openxmlformats.org/package/2006/relationships"><Relationship Id="rId2" Type="http://schemas.openxmlformats.org/officeDocument/2006/relationships/image" Target="../media/image56.png"/><Relationship Id="rId1" Type="http://schemas.openxmlformats.org/officeDocument/2006/relationships/slideLayout" Target="../slideLayouts/slideLayout3.xml"/></Relationships>
</file>

<file path=ppt/slides/_rels/slide55.xml.rels><?xml version="1.0" encoding="UTF-8" standalone="yes"?>
<Relationships xmlns="http://schemas.openxmlformats.org/package/2006/relationships"><Relationship Id="rId3" Type="http://schemas.openxmlformats.org/officeDocument/2006/relationships/image" Target="../media/image571.png"/><Relationship Id="rId2" Type="http://schemas.openxmlformats.org/officeDocument/2006/relationships/notesSlide" Target="../notesSlides/notesSlide31.xml"/><Relationship Id="rId1" Type="http://schemas.openxmlformats.org/officeDocument/2006/relationships/slideLayout" Target="../slideLayouts/slideLayout2.xml"/></Relationships>
</file>

<file path=ppt/slides/_rels/slide56.xml.rels><?xml version="1.0" encoding="UTF-8" standalone="yes"?>
<Relationships xmlns="http://schemas.openxmlformats.org/package/2006/relationships"><Relationship Id="rId3" Type="http://schemas.openxmlformats.org/officeDocument/2006/relationships/image" Target="../media/image58.png"/><Relationship Id="rId2" Type="http://schemas.openxmlformats.org/officeDocument/2006/relationships/notesSlide" Target="../notesSlides/notesSlide32.xml"/><Relationship Id="rId1" Type="http://schemas.openxmlformats.org/officeDocument/2006/relationships/slideLayout" Target="../slideLayouts/slideLayout2.xml"/><Relationship Id="rId5" Type="http://schemas.microsoft.com/office/2007/relationships/hdphoto" Target="../media/hdphoto1.wdp"/><Relationship Id="rId4" Type="http://schemas.openxmlformats.org/officeDocument/2006/relationships/image" Target="../media/image5.png"/></Relationships>
</file>

<file path=ppt/slides/_rels/slide57.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33.xml"/><Relationship Id="rId1" Type="http://schemas.openxmlformats.org/officeDocument/2006/relationships/slideLayout" Target="../slideLayouts/slideLayout2.xml"/><Relationship Id="rId4" Type="http://schemas.openxmlformats.org/officeDocument/2006/relationships/image" Target="../media/image57.png"/></Relationships>
</file>

<file path=ppt/slides/_rels/slide58.xml.rels><?xml version="1.0" encoding="UTF-8" standalone="yes"?>
<Relationships xmlns="http://schemas.openxmlformats.org/package/2006/relationships"><Relationship Id="rId3" Type="http://schemas.openxmlformats.org/officeDocument/2006/relationships/image" Target="../media/image59.png"/><Relationship Id="rId2" Type="http://schemas.openxmlformats.org/officeDocument/2006/relationships/notesSlide" Target="../notesSlides/notesSlide34.xml"/><Relationship Id="rId1" Type="http://schemas.openxmlformats.org/officeDocument/2006/relationships/slideLayout" Target="../slideLayouts/slideLayout2.xml"/><Relationship Id="rId4" Type="http://schemas.openxmlformats.org/officeDocument/2006/relationships/image" Target="../media/image60.png"/></Relationships>
</file>

<file path=ppt/slides/_rels/slide59.xml.rels><?xml version="1.0" encoding="UTF-8" standalone="yes"?>
<Relationships xmlns="http://schemas.openxmlformats.org/package/2006/relationships"><Relationship Id="rId3" Type="http://schemas.openxmlformats.org/officeDocument/2006/relationships/image" Target="../media/image61.png"/><Relationship Id="rId2" Type="http://schemas.openxmlformats.org/officeDocument/2006/relationships/notesSlide" Target="../notesSlides/notesSlide35.xml"/><Relationship Id="rId1" Type="http://schemas.openxmlformats.org/officeDocument/2006/relationships/slideLayout" Target="../slideLayouts/slideLayout2.xml"/><Relationship Id="rId4" Type="http://schemas.openxmlformats.org/officeDocument/2006/relationships/image" Target="../media/image60.png"/></Relationships>
</file>

<file path=ppt/slides/_rels/slide60.xml.rels><?xml version="1.0" encoding="UTF-8" standalone="yes"?>
<Relationships xmlns="http://schemas.openxmlformats.org/package/2006/relationships"><Relationship Id="rId3" Type="http://schemas.openxmlformats.org/officeDocument/2006/relationships/image" Target="../media/image62.png"/><Relationship Id="rId2" Type="http://schemas.openxmlformats.org/officeDocument/2006/relationships/notesSlide" Target="../notesSlides/notesSlide36.xml"/><Relationship Id="rId1" Type="http://schemas.openxmlformats.org/officeDocument/2006/relationships/slideLayout" Target="../slideLayouts/slideLayout2.xml"/><Relationship Id="rId4" Type="http://schemas.openxmlformats.org/officeDocument/2006/relationships/image" Target="../media/image60.png"/></Relationships>
</file>

<file path=ppt/slides/_rels/slide61.xml.rels><?xml version="1.0" encoding="UTF-8" standalone="yes"?>
<Relationships xmlns="http://schemas.openxmlformats.org/package/2006/relationships"><Relationship Id="rId3" Type="http://schemas.openxmlformats.org/officeDocument/2006/relationships/image" Target="../media/image63.png"/><Relationship Id="rId2" Type="http://schemas.openxmlformats.org/officeDocument/2006/relationships/notesSlide" Target="../notesSlides/notesSlide37.xml"/><Relationship Id="rId1" Type="http://schemas.openxmlformats.org/officeDocument/2006/relationships/slideLayout" Target="../slideLayouts/slideLayout2.xml"/><Relationship Id="rId4" Type="http://schemas.openxmlformats.org/officeDocument/2006/relationships/image" Target="../media/image60.png"/></Relationships>
</file>

<file path=ppt/slides/_rels/slide62.xml.rels><?xml version="1.0" encoding="UTF-8" standalone="yes"?>
<Relationships xmlns="http://schemas.openxmlformats.org/package/2006/relationships"><Relationship Id="rId3" Type="http://schemas.openxmlformats.org/officeDocument/2006/relationships/image" Target="../media/image60.png"/><Relationship Id="rId2" Type="http://schemas.openxmlformats.org/officeDocument/2006/relationships/notesSlide" Target="../notesSlides/notesSlide38.xml"/><Relationship Id="rId1" Type="http://schemas.openxmlformats.org/officeDocument/2006/relationships/slideLayout" Target="../slideLayouts/slideLayout2.xml"/></Relationships>
</file>

<file path=ppt/slides/_rels/slide63.xml.rels><?xml version="1.0" encoding="UTF-8" standalone="yes"?>
<Relationships xmlns="http://schemas.openxmlformats.org/package/2006/relationships"><Relationship Id="rId3" Type="http://schemas.openxmlformats.org/officeDocument/2006/relationships/image" Target="../media/image65.png"/><Relationship Id="rId2" Type="http://schemas.openxmlformats.org/officeDocument/2006/relationships/image" Target="../media/image50.png"/><Relationship Id="rId1" Type="http://schemas.openxmlformats.org/officeDocument/2006/relationships/slideLayout" Target="../slideLayouts/slideLayout6.xml"/></Relationships>
</file>

<file path=ppt/slides/_rels/slide64.xml.rels><?xml version="1.0" encoding="UTF-8" standalone="yes"?>
<Relationships xmlns="http://schemas.openxmlformats.org/package/2006/relationships"><Relationship Id="rId3" Type="http://schemas.openxmlformats.org/officeDocument/2006/relationships/image" Target="../media/image64.png"/><Relationship Id="rId2" Type="http://schemas.openxmlformats.org/officeDocument/2006/relationships/notesSlide" Target="../notesSlides/notesSlide39.xml"/><Relationship Id="rId1" Type="http://schemas.openxmlformats.org/officeDocument/2006/relationships/slideLayout" Target="../slideLayouts/slideLayout2.xml"/></Relationships>
</file>

<file path=ppt/slides/_rels/slide65.xml.rels><?xml version="1.0" encoding="UTF-8" standalone="yes"?>
<Relationships xmlns="http://schemas.openxmlformats.org/package/2006/relationships"><Relationship Id="rId2" Type="http://schemas.openxmlformats.org/officeDocument/2006/relationships/image" Target="../media/image56.png"/><Relationship Id="rId1" Type="http://schemas.openxmlformats.org/officeDocument/2006/relationships/slideLayout" Target="../slideLayouts/slideLayout3.xml"/></Relationships>
</file>

<file path=ppt/slides/_rels/slide66.xml.rels><?xml version="1.0" encoding="UTF-8" standalone="yes"?>
<Relationships xmlns="http://schemas.openxmlformats.org/package/2006/relationships"><Relationship Id="rId3" Type="http://schemas.openxmlformats.org/officeDocument/2006/relationships/image" Target="../media/image66.png"/><Relationship Id="rId2" Type="http://schemas.openxmlformats.org/officeDocument/2006/relationships/notesSlide" Target="../notesSlides/notesSlide40.xml"/><Relationship Id="rId1" Type="http://schemas.openxmlformats.org/officeDocument/2006/relationships/slideLayout" Target="../slideLayouts/slideLayout2.xml"/><Relationship Id="rId5" Type="http://schemas.openxmlformats.org/officeDocument/2006/relationships/image" Target="../media/image69.png"/><Relationship Id="rId4" Type="http://schemas.openxmlformats.org/officeDocument/2006/relationships/image" Target="../media/image68.png"/></Relationships>
</file>

<file path=ppt/slides/_rels/slide67.xml.rels><?xml version="1.0" encoding="UTF-8" standalone="yes"?>
<Relationships xmlns="http://schemas.openxmlformats.org/package/2006/relationships"><Relationship Id="rId8" Type="http://schemas.openxmlformats.org/officeDocument/2006/relationships/image" Target="../media/image74.png"/><Relationship Id="rId3" Type="http://schemas.openxmlformats.org/officeDocument/2006/relationships/image" Target="../media/image66.png"/><Relationship Id="rId7" Type="http://schemas.openxmlformats.org/officeDocument/2006/relationships/image" Target="../media/image73.png"/><Relationship Id="rId2" Type="http://schemas.openxmlformats.org/officeDocument/2006/relationships/notesSlide" Target="../notesSlides/notesSlide41.xml"/><Relationship Id="rId1" Type="http://schemas.openxmlformats.org/officeDocument/2006/relationships/slideLayout" Target="../slideLayouts/slideLayout2.xml"/><Relationship Id="rId6" Type="http://schemas.openxmlformats.org/officeDocument/2006/relationships/image" Target="../media/image72.png"/><Relationship Id="rId5" Type="http://schemas.openxmlformats.org/officeDocument/2006/relationships/image" Target="../media/image71.png"/><Relationship Id="rId10" Type="http://schemas.openxmlformats.org/officeDocument/2006/relationships/image" Target="../media/image76.png"/><Relationship Id="rId4" Type="http://schemas.openxmlformats.org/officeDocument/2006/relationships/image" Target="../media/image70.png"/><Relationship Id="rId9" Type="http://schemas.openxmlformats.org/officeDocument/2006/relationships/image" Target="../media/image75.png"/></Relationships>
</file>

<file path=ppt/slides/_rels/slide68.xml.rels><?xml version="1.0" encoding="UTF-8" standalone="yes"?>
<Relationships xmlns="http://schemas.openxmlformats.org/package/2006/relationships"><Relationship Id="rId3" Type="http://schemas.openxmlformats.org/officeDocument/2006/relationships/image" Target="../media/image77.png"/><Relationship Id="rId2" Type="http://schemas.openxmlformats.org/officeDocument/2006/relationships/notesSlide" Target="../notesSlides/notesSlide42.xml"/><Relationship Id="rId1" Type="http://schemas.openxmlformats.org/officeDocument/2006/relationships/slideLayout" Target="../slideLayouts/slideLayout2.xml"/><Relationship Id="rId6" Type="http://schemas.openxmlformats.org/officeDocument/2006/relationships/image" Target="../media/image570.png"/><Relationship Id="rId5" Type="http://schemas.openxmlformats.org/officeDocument/2006/relationships/image" Target="../media/image560.png"/><Relationship Id="rId4" Type="http://schemas.openxmlformats.org/officeDocument/2006/relationships/image" Target="../media/image60.png"/></Relationships>
</file>

<file path=ppt/slides/_rels/slide69.xml.rels><?xml version="1.0" encoding="UTF-8" standalone="yes"?>
<Relationships xmlns="http://schemas.openxmlformats.org/package/2006/relationships"><Relationship Id="rId3" Type="http://schemas.openxmlformats.org/officeDocument/2006/relationships/image" Target="../media/image78.png"/><Relationship Id="rId2" Type="http://schemas.openxmlformats.org/officeDocument/2006/relationships/notesSlide" Target="../notesSlides/notesSlide43.xml"/><Relationship Id="rId1" Type="http://schemas.openxmlformats.org/officeDocument/2006/relationships/slideLayout" Target="../slideLayouts/slideLayout2.xml"/><Relationship Id="rId6" Type="http://schemas.openxmlformats.org/officeDocument/2006/relationships/image" Target="../media/image570.png"/><Relationship Id="rId5" Type="http://schemas.openxmlformats.org/officeDocument/2006/relationships/image" Target="../media/image621.png"/><Relationship Id="rId4" Type="http://schemas.openxmlformats.org/officeDocument/2006/relationships/image" Target="../media/image60.png"/></Relationships>
</file>

<file path=ppt/slides/_rels/slide70.xml.rels><?xml version="1.0" encoding="UTF-8" standalone="yes"?>
<Relationships xmlns="http://schemas.openxmlformats.org/package/2006/relationships"><Relationship Id="rId3" Type="http://schemas.openxmlformats.org/officeDocument/2006/relationships/image" Target="../media/image79.png"/><Relationship Id="rId2" Type="http://schemas.openxmlformats.org/officeDocument/2006/relationships/notesSlide" Target="../notesSlides/notesSlide44.xml"/><Relationship Id="rId1" Type="http://schemas.openxmlformats.org/officeDocument/2006/relationships/slideLayout" Target="../slideLayouts/slideLayout2.xml"/><Relationship Id="rId6" Type="http://schemas.openxmlformats.org/officeDocument/2006/relationships/image" Target="../media/image570.png"/><Relationship Id="rId5" Type="http://schemas.openxmlformats.org/officeDocument/2006/relationships/image" Target="../media/image621.png"/><Relationship Id="rId4" Type="http://schemas.openxmlformats.org/officeDocument/2006/relationships/image" Target="../media/image60.png"/></Relationships>
</file>

<file path=ppt/slides/_rels/slide71.xml.rels><?xml version="1.0" encoding="UTF-8" standalone="yes"?>
<Relationships xmlns="http://schemas.openxmlformats.org/package/2006/relationships"><Relationship Id="rId3" Type="http://schemas.openxmlformats.org/officeDocument/2006/relationships/image" Target="../media/image80.png"/><Relationship Id="rId2" Type="http://schemas.openxmlformats.org/officeDocument/2006/relationships/notesSlide" Target="../notesSlides/notesSlide45.xml"/><Relationship Id="rId1" Type="http://schemas.openxmlformats.org/officeDocument/2006/relationships/slideLayout" Target="../slideLayouts/slideLayout2.xml"/><Relationship Id="rId6" Type="http://schemas.openxmlformats.org/officeDocument/2006/relationships/image" Target="../media/image570.png"/><Relationship Id="rId5" Type="http://schemas.openxmlformats.org/officeDocument/2006/relationships/image" Target="../media/image621.png"/><Relationship Id="rId4" Type="http://schemas.openxmlformats.org/officeDocument/2006/relationships/image" Target="../media/image60.png"/></Relationships>
</file>

<file path=ppt/slides/_rels/slide72.xml.rels><?xml version="1.0" encoding="UTF-8" standalone="yes"?>
<Relationships xmlns="http://schemas.openxmlformats.org/package/2006/relationships"><Relationship Id="rId3" Type="http://schemas.openxmlformats.org/officeDocument/2006/relationships/image" Target="../media/image81.png"/><Relationship Id="rId2" Type="http://schemas.openxmlformats.org/officeDocument/2006/relationships/notesSlide" Target="../notesSlides/notesSlide46.xml"/><Relationship Id="rId1" Type="http://schemas.openxmlformats.org/officeDocument/2006/relationships/slideLayout" Target="../slideLayouts/slideLayout2.xml"/><Relationship Id="rId6" Type="http://schemas.openxmlformats.org/officeDocument/2006/relationships/image" Target="../media/image570.png"/><Relationship Id="rId5" Type="http://schemas.openxmlformats.org/officeDocument/2006/relationships/image" Target="../media/image621.png"/><Relationship Id="rId4" Type="http://schemas.openxmlformats.org/officeDocument/2006/relationships/image" Target="../media/image60.png"/></Relationships>
</file>

<file path=ppt/slides/_rels/slide73.xml.rels><?xml version="1.0" encoding="UTF-8" standalone="yes"?>
<Relationships xmlns="http://schemas.openxmlformats.org/package/2006/relationships"><Relationship Id="rId3" Type="http://schemas.openxmlformats.org/officeDocument/2006/relationships/image" Target="../media/image82.png"/><Relationship Id="rId2" Type="http://schemas.openxmlformats.org/officeDocument/2006/relationships/notesSlide" Target="../notesSlides/notesSlide47.xml"/><Relationship Id="rId1" Type="http://schemas.openxmlformats.org/officeDocument/2006/relationships/slideLayout" Target="../slideLayouts/slideLayout2.xml"/><Relationship Id="rId6" Type="http://schemas.openxmlformats.org/officeDocument/2006/relationships/image" Target="../media/image570.png"/><Relationship Id="rId5" Type="http://schemas.openxmlformats.org/officeDocument/2006/relationships/image" Target="../media/image621.png"/><Relationship Id="rId4" Type="http://schemas.openxmlformats.org/officeDocument/2006/relationships/image" Target="../media/image60.png"/></Relationships>
</file>

<file path=ppt/slides/_rels/slide74.xml.rels><?xml version="1.0" encoding="UTF-8" standalone="yes"?>
<Relationships xmlns="http://schemas.openxmlformats.org/package/2006/relationships"><Relationship Id="rId3" Type="http://schemas.openxmlformats.org/officeDocument/2006/relationships/image" Target="../media/image83.gif"/><Relationship Id="rId2" Type="http://schemas.openxmlformats.org/officeDocument/2006/relationships/notesSlide" Target="../notesSlides/notesSlide48.xml"/><Relationship Id="rId1" Type="http://schemas.openxmlformats.org/officeDocument/2006/relationships/slideLayout" Target="../slideLayouts/slideLayout2.xml"/><Relationship Id="rId6" Type="http://schemas.openxmlformats.org/officeDocument/2006/relationships/image" Target="../media/image85.png"/><Relationship Id="rId5" Type="http://schemas.openxmlformats.org/officeDocument/2006/relationships/image" Target="../media/image84.png"/><Relationship Id="rId4" Type="http://schemas.openxmlformats.org/officeDocument/2006/relationships/hyperlink" Target="https://en.wikipedia.org/wiki/A*_search_algorithm" TargetMode="External"/></Relationships>
</file>

<file path=ppt/slides/_rels/slide75.xml.rels><?xml version="1.0" encoding="UTF-8" standalone="yes"?>
<Relationships xmlns="http://schemas.openxmlformats.org/package/2006/relationships"><Relationship Id="rId3" Type="http://schemas.openxmlformats.org/officeDocument/2006/relationships/image" Target="../media/image662.png"/><Relationship Id="rId2" Type="http://schemas.openxmlformats.org/officeDocument/2006/relationships/image" Target="../media/image50.png"/><Relationship Id="rId1" Type="http://schemas.openxmlformats.org/officeDocument/2006/relationships/slideLayout" Target="../slideLayouts/slideLayout6.xml"/><Relationship Id="rId4" Type="http://schemas.openxmlformats.org/officeDocument/2006/relationships/image" Target="../media/image791.png"/></Relationships>
</file>

<file path=ppt/slides/_rels/slide76.xml.rels><?xml version="1.0" encoding="UTF-8" standalone="yes"?>
<Relationships xmlns="http://schemas.openxmlformats.org/package/2006/relationships"><Relationship Id="rId3" Type="http://schemas.openxmlformats.org/officeDocument/2006/relationships/image" Target="../media/image86.png"/><Relationship Id="rId2" Type="http://schemas.openxmlformats.org/officeDocument/2006/relationships/notesSlide" Target="../notesSlides/notesSlide49.xml"/><Relationship Id="rId1" Type="http://schemas.openxmlformats.org/officeDocument/2006/relationships/slideLayout" Target="../slideLayouts/slideLayout2.xml"/></Relationships>
</file>

<file path=ppt/slides/_rels/slide77.xml.rels><?xml version="1.0" encoding="UTF-8" standalone="yes"?>
<Relationships xmlns="http://schemas.openxmlformats.org/package/2006/relationships"><Relationship Id="rId8" Type="http://schemas.openxmlformats.org/officeDocument/2006/relationships/image" Target="../media/image710.png"/><Relationship Id="rId3" Type="http://schemas.openxmlformats.org/officeDocument/2006/relationships/image" Target="../media/image620.png"/><Relationship Id="rId7" Type="http://schemas.openxmlformats.org/officeDocument/2006/relationships/image" Target="../media/image700.png"/><Relationship Id="rId2" Type="http://schemas.openxmlformats.org/officeDocument/2006/relationships/notesSlide" Target="../notesSlides/notesSlide50.xml"/><Relationship Id="rId1" Type="http://schemas.openxmlformats.org/officeDocument/2006/relationships/slideLayout" Target="../slideLayouts/slideLayout2.xml"/><Relationship Id="rId6" Type="http://schemas.openxmlformats.org/officeDocument/2006/relationships/image" Target="../media/image661.png"/><Relationship Id="rId5" Type="http://schemas.openxmlformats.org/officeDocument/2006/relationships/image" Target="../media/image632.png"/><Relationship Id="rId4" Type="http://schemas.openxmlformats.org/officeDocument/2006/relationships/image" Target="../media/image670.png"/><Relationship Id="rId9" Type="http://schemas.openxmlformats.org/officeDocument/2006/relationships/image" Target="../media/image720.png"/></Relationships>
</file>

<file path=ppt/slides/_rels/slide78.xml.rels><?xml version="1.0" encoding="UTF-8" standalone="yes"?>
<Relationships xmlns="http://schemas.openxmlformats.org/package/2006/relationships"><Relationship Id="rId3" Type="http://schemas.openxmlformats.org/officeDocument/2006/relationships/image" Target="../media/image750.png"/><Relationship Id="rId2" Type="http://schemas.openxmlformats.org/officeDocument/2006/relationships/notesSlide" Target="../notesSlides/notesSlide51.xml"/><Relationship Id="rId1" Type="http://schemas.openxmlformats.org/officeDocument/2006/relationships/slideLayout" Target="../slideLayouts/slideLayout2.xml"/></Relationships>
</file>

<file path=ppt/slides/_rels/slide79.xml.rels><?xml version="1.0" encoding="UTF-8" standalone="yes"?>
<Relationships xmlns="http://schemas.openxmlformats.org/package/2006/relationships"><Relationship Id="rId2" Type="http://schemas.openxmlformats.org/officeDocument/2006/relationships/image" Target="../media/image87.png"/><Relationship Id="rId1" Type="http://schemas.openxmlformats.org/officeDocument/2006/relationships/slideLayout" Target="../slideLayouts/slideLayout2.xml"/></Relationships>
</file>

<file path=ppt/slides/_rels/slide80.xml.rels><?xml version="1.0" encoding="UTF-8" standalone="yes"?>
<Relationships xmlns="http://schemas.openxmlformats.org/package/2006/relationships"><Relationship Id="rId2" Type="http://schemas.openxmlformats.org/officeDocument/2006/relationships/image" Target="../media/image56.png"/><Relationship Id="rId1" Type="http://schemas.openxmlformats.org/officeDocument/2006/relationships/slideLayout" Target="../slideLayouts/slideLayout3.xml"/></Relationships>
</file>

<file path=ppt/slides/_rels/slide81.xml.rels><?xml version="1.0" encoding="UTF-8" standalone="yes"?>
<Relationships xmlns="http://schemas.openxmlformats.org/package/2006/relationships"><Relationship Id="rId3" Type="http://schemas.openxmlformats.org/officeDocument/2006/relationships/image" Target="../media/image88.png"/><Relationship Id="rId2" Type="http://schemas.openxmlformats.org/officeDocument/2006/relationships/notesSlide" Target="../notesSlides/notesSlide52.xml"/><Relationship Id="rId1" Type="http://schemas.openxmlformats.org/officeDocument/2006/relationships/slideLayout" Target="../slideLayouts/slideLayout2.xml"/><Relationship Id="rId4" Type="http://schemas.openxmlformats.org/officeDocument/2006/relationships/image" Target="../media/image15.png"/></Relationships>
</file>

<file path=ppt/slides/_rels/slide82.xml.rels><?xml version="1.0" encoding="UTF-8" standalone="yes"?>
<Relationships xmlns="http://schemas.openxmlformats.org/package/2006/relationships"><Relationship Id="rId3" Type="http://schemas.openxmlformats.org/officeDocument/2006/relationships/image" Target="../media/image89.png"/><Relationship Id="rId2" Type="http://schemas.openxmlformats.org/officeDocument/2006/relationships/notesSlide" Target="../notesSlides/notesSlide53.xml"/><Relationship Id="rId1" Type="http://schemas.openxmlformats.org/officeDocument/2006/relationships/slideLayout" Target="../slideLayouts/slideLayout2.xml"/><Relationship Id="rId5" Type="http://schemas.openxmlformats.org/officeDocument/2006/relationships/image" Target="../media/image90.png"/><Relationship Id="rId4" Type="http://schemas.openxmlformats.org/officeDocument/2006/relationships/image" Target="../media/image15.png"/></Relationships>
</file>

<file path=ppt/slides/_rels/slide83.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54.xml"/><Relationship Id="rId1" Type="http://schemas.openxmlformats.org/officeDocument/2006/relationships/slideLayout" Target="../slideLayouts/slideLayout2.xml"/><Relationship Id="rId4" Type="http://schemas.microsoft.com/office/2007/relationships/hdphoto" Target="../media/hdphoto1.wdp"/></Relationships>
</file>

<file path=ppt/slides/_rels/slide84.xml.rels><?xml version="1.0" encoding="UTF-8" standalone="yes"?>
<Relationships xmlns="http://schemas.openxmlformats.org/package/2006/relationships"><Relationship Id="rId3" Type="http://schemas.openxmlformats.org/officeDocument/2006/relationships/image" Target="../media/image91.png"/><Relationship Id="rId2" Type="http://schemas.openxmlformats.org/officeDocument/2006/relationships/notesSlide" Target="../notesSlides/notesSlide55.xml"/><Relationship Id="rId1" Type="http://schemas.openxmlformats.org/officeDocument/2006/relationships/slideLayout" Target="../slideLayouts/slideLayout2.xml"/><Relationship Id="rId4" Type="http://schemas.openxmlformats.org/officeDocument/2006/relationships/image" Target="../media/image15.png"/></Relationships>
</file>

<file path=ppt/slides/_rels/slide85.xml.rels><?xml version="1.0" encoding="UTF-8" standalone="yes"?>
<Relationships xmlns="http://schemas.openxmlformats.org/package/2006/relationships"><Relationship Id="rId3" Type="http://schemas.openxmlformats.org/officeDocument/2006/relationships/image" Target="../media/image92.png"/><Relationship Id="rId2" Type="http://schemas.openxmlformats.org/officeDocument/2006/relationships/notesSlide" Target="../notesSlides/notesSlide56.xml"/><Relationship Id="rId1" Type="http://schemas.openxmlformats.org/officeDocument/2006/relationships/slideLayout" Target="../slideLayouts/slideLayout2.xml"/></Relationships>
</file>

<file path=ppt/slides/_rels/slide86.xml.rels><?xml version="1.0" encoding="UTF-8" standalone="yes"?>
<Relationships xmlns="http://schemas.openxmlformats.org/package/2006/relationships"><Relationship Id="rId3" Type="http://schemas.openxmlformats.org/officeDocument/2006/relationships/image" Target="../media/image93.png"/><Relationship Id="rId2" Type="http://schemas.openxmlformats.org/officeDocument/2006/relationships/notesSlide" Target="../notesSlides/notesSlide57.xml"/><Relationship Id="rId1" Type="http://schemas.openxmlformats.org/officeDocument/2006/relationships/slideLayout" Target="../slideLayouts/slideLayout2.xml"/></Relationships>
</file>

<file path=ppt/slides/_rels/slide87.xml.rels><?xml version="1.0" encoding="UTF-8" standalone="yes"?>
<Relationships xmlns="http://schemas.openxmlformats.org/package/2006/relationships"><Relationship Id="rId3" Type="http://schemas.openxmlformats.org/officeDocument/2006/relationships/image" Target="../media/image851.png"/><Relationship Id="rId2" Type="http://schemas.openxmlformats.org/officeDocument/2006/relationships/notesSlide" Target="../notesSlides/notesSlide58.xml"/><Relationship Id="rId1" Type="http://schemas.openxmlformats.org/officeDocument/2006/relationships/slideLayout" Target="../slideLayouts/slideLayout2.xml"/><Relationship Id="rId5" Type="http://schemas.openxmlformats.org/officeDocument/2006/relationships/image" Target="../media/image861.png"/><Relationship Id="rId4" Type="http://schemas.openxmlformats.org/officeDocument/2006/relationships/image" Target="../media/image15.png"/></Relationships>
</file>

<file path=ppt/slides/_rels/slide88.xml.rels><?xml version="1.0" encoding="UTF-8" standalone="yes"?>
<Relationships xmlns="http://schemas.openxmlformats.org/package/2006/relationships"><Relationship Id="rId3" Type="http://schemas.openxmlformats.org/officeDocument/2006/relationships/image" Target="../media/image790.png"/><Relationship Id="rId2" Type="http://schemas.openxmlformats.org/officeDocument/2006/relationships/notesSlide" Target="../notesSlides/notesSlide59.xml"/><Relationship Id="rId1" Type="http://schemas.openxmlformats.org/officeDocument/2006/relationships/slideLayout" Target="../slideLayouts/slideLayout2.xml"/><Relationship Id="rId5" Type="http://schemas.openxmlformats.org/officeDocument/2006/relationships/image" Target="../media/image95.png"/><Relationship Id="rId4" Type="http://schemas.openxmlformats.org/officeDocument/2006/relationships/image" Target="../media/image94.png"/></Relationships>
</file>

<file path=ppt/slides/_rels/slide89.xml.rels><?xml version="1.0" encoding="UTF-8" standalone="yes"?>
<Relationships xmlns="http://schemas.openxmlformats.org/package/2006/relationships"><Relationship Id="rId8" Type="http://schemas.openxmlformats.org/officeDocument/2006/relationships/image" Target="../media/image860.png"/><Relationship Id="rId3" Type="http://schemas.openxmlformats.org/officeDocument/2006/relationships/image" Target="../media/image85.png"/><Relationship Id="rId7" Type="http://schemas.openxmlformats.org/officeDocument/2006/relationships/hyperlink" Target="https://en.wikipedia.org/wiki/A*_search_algorithm" TargetMode="External"/><Relationship Id="rId2" Type="http://schemas.openxmlformats.org/officeDocument/2006/relationships/notesSlide" Target="../notesSlides/notesSlide60.xml"/><Relationship Id="rId1" Type="http://schemas.openxmlformats.org/officeDocument/2006/relationships/slideLayout" Target="../slideLayouts/slideLayout2.xml"/><Relationship Id="rId6" Type="http://schemas.openxmlformats.org/officeDocument/2006/relationships/image" Target="../media/image96.png"/><Relationship Id="rId5" Type="http://schemas.openxmlformats.org/officeDocument/2006/relationships/image" Target="../media/image590.png"/><Relationship Id="rId4" Type="http://schemas.openxmlformats.org/officeDocument/2006/relationships/image" Target="../media/image850.png"/><Relationship Id="rId9" Type="http://schemas.openxmlformats.org/officeDocument/2006/relationships/image" Target="../media/image97.png"/></Relationships>
</file>

<file path=ppt/slides/_rels/slide90.xml.rels><?xml version="1.0" encoding="UTF-8" standalone="yes"?>
<Relationships xmlns="http://schemas.openxmlformats.org/package/2006/relationships"><Relationship Id="rId2" Type="http://schemas.openxmlformats.org/officeDocument/2006/relationships/image" Target="../media/image17.jpeg"/><Relationship Id="rId1" Type="http://schemas.openxmlformats.org/officeDocument/2006/relationships/slideLayout" Target="../slideLayouts/slideLayout2.xml"/></Relationships>
</file>

<file path=ppt/slides/_rels/slide91.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61.xml"/><Relationship Id="rId1" Type="http://schemas.openxmlformats.org/officeDocument/2006/relationships/slideLayout" Target="../slideLayouts/slideLayout2.xml"/><Relationship Id="rId4" Type="http://schemas.openxmlformats.org/officeDocument/2006/relationships/image" Target="../media/image610.png"/></Relationships>
</file>

<file path=ppt/slides/_rels/slide92.xml.rels><?xml version="1.0" encoding="UTF-8" standalone="yes"?>
<Relationships xmlns="http://schemas.openxmlformats.org/package/2006/relationships"><Relationship Id="rId3" Type="http://schemas.microsoft.com/office/2007/relationships/hdphoto" Target="../media/hdphoto1.wdp"/><Relationship Id="rId2" Type="http://schemas.openxmlformats.org/officeDocument/2006/relationships/image" Target="../media/image5.png"/><Relationship Id="rId1" Type="http://schemas.openxmlformats.org/officeDocument/2006/relationships/slideLayout" Target="../slideLayouts/slideLayout2.xml"/></Relationships>
</file>

<file path=ppt/slides/_rels/slide93.xml.rels><?xml version="1.0" encoding="UTF-8" standalone="yes"?>
<Relationships xmlns="http://schemas.openxmlformats.org/package/2006/relationships"><Relationship Id="rId3" Type="http://schemas.microsoft.com/office/2007/relationships/hdphoto" Target="../media/hdphoto1.wdp"/><Relationship Id="rId2" Type="http://schemas.openxmlformats.org/officeDocument/2006/relationships/image" Target="../media/image5.png"/><Relationship Id="rId1" Type="http://schemas.openxmlformats.org/officeDocument/2006/relationships/slideLayout" Target="../slideLayouts/slideLayout6.xml"/></Relationships>
</file>

<file path=ppt/slides/_rels/slide94.xml.rels><?xml version="1.0" encoding="UTF-8" standalone="yes"?>
<Relationships xmlns="http://schemas.openxmlformats.org/package/2006/relationships"><Relationship Id="rId3" Type="http://schemas.openxmlformats.org/officeDocument/2006/relationships/image" Target="../media/image870.png"/><Relationship Id="rId2" Type="http://schemas.openxmlformats.org/officeDocument/2006/relationships/notesSlide" Target="../notesSlides/notesSlide62.xml"/><Relationship Id="rId1" Type="http://schemas.openxmlformats.org/officeDocument/2006/relationships/slideLayout" Target="../slideLayouts/slideLayout2.xml"/></Relationships>
</file>

<file path=ppt/slides/_rels/slide95.xml.rels><?xml version="1.0" encoding="UTF-8" standalone="yes"?>
<Relationships xmlns="http://schemas.openxmlformats.org/package/2006/relationships"><Relationship Id="rId3" Type="http://schemas.openxmlformats.org/officeDocument/2006/relationships/image" Target="../media/image880.png"/><Relationship Id="rId2" Type="http://schemas.openxmlformats.org/officeDocument/2006/relationships/notesSlide" Target="../notesSlides/notesSlide63.xml"/><Relationship Id="rId1" Type="http://schemas.openxmlformats.org/officeDocument/2006/relationships/slideLayout" Target="../slideLayouts/slideLayout2.xml"/><Relationship Id="rId4" Type="http://schemas.openxmlformats.org/officeDocument/2006/relationships/image" Target="../media/image890.png"/></Relationships>
</file>

<file path=ppt/slides/_rels/slide96.xml.rels><?xml version="1.0" encoding="UTF-8" standalone="yes"?>
<Relationships xmlns="http://schemas.openxmlformats.org/package/2006/relationships"><Relationship Id="rId2" Type="http://schemas.openxmlformats.org/officeDocument/2006/relationships/image" Target="../media/image17.jpeg"/><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74" name="Rectangle 73">
            <a:extLst>
              <a:ext uri="{FF2B5EF4-FFF2-40B4-BE49-F238E27FC236}">
                <a16:creationId xmlns:a16="http://schemas.microsoft.com/office/drawing/2014/main" id="{0671A8AE-40A1-4631-A6B8-581AFF06548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9144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pic>
        <p:nvPicPr>
          <p:cNvPr id="3077" name="Picture 5"/>
          <p:cNvPicPr>
            <a:picLocks noChangeAspect="1" noChangeArrowheads="1"/>
          </p:cNvPicPr>
          <p:nvPr/>
        </p:nvPicPr>
        <p:blipFill rotWithShape="1">
          <a:blip r:embed="rId3" cstate="print"/>
          <a:srcRect r="5200"/>
          <a:stretch/>
        </p:blipFill>
        <p:spPr bwMode="auto">
          <a:xfrm>
            <a:off x="2642616" y="10"/>
            <a:ext cx="6501384" cy="6857990"/>
          </a:xfrm>
          <a:prstGeom prst="rect">
            <a:avLst/>
          </a:prstGeom>
          <a:noFill/>
        </p:spPr>
      </p:pic>
      <p:sp>
        <p:nvSpPr>
          <p:cNvPr id="76" name="Rectangle 75">
            <a:extLst>
              <a:ext uri="{FF2B5EF4-FFF2-40B4-BE49-F238E27FC236}">
                <a16:creationId xmlns:a16="http://schemas.microsoft.com/office/drawing/2014/main" id="{AB58EF07-17C2-48CF-ABB0-EEF1F17CB8F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2" y="0"/>
            <a:ext cx="7004404" cy="6858000"/>
          </a:xfrm>
          <a:prstGeom prst="rect">
            <a:avLst/>
          </a:prstGeom>
          <a:gradFill>
            <a:gsLst>
              <a:gs pos="58000">
                <a:schemeClr val="bg1"/>
              </a:gs>
              <a:gs pos="33000">
                <a:schemeClr val="bg1">
                  <a:alpha val="64000"/>
                </a:schemeClr>
              </a:gs>
              <a:gs pos="0">
                <a:schemeClr val="bg1">
                  <a:alpha val="0"/>
                </a:schemeClr>
              </a:gs>
              <a:gs pos="100000">
                <a:schemeClr val="bg1"/>
              </a:gs>
            </a:gsLst>
            <a:lin ang="10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076" name="Rectangle 4"/>
          <p:cNvSpPr>
            <a:spLocks noGrp="1" noChangeArrowheads="1"/>
          </p:cNvSpPr>
          <p:nvPr>
            <p:ph type="ctrTitle"/>
          </p:nvPr>
        </p:nvSpPr>
        <p:spPr>
          <a:xfrm>
            <a:off x="358485" y="1122363"/>
            <a:ext cx="3017520" cy="3204134"/>
          </a:xfrm>
        </p:spPr>
        <p:txBody>
          <a:bodyPr anchor="b">
            <a:noAutofit/>
          </a:bodyPr>
          <a:lstStyle/>
          <a:p>
            <a:pPr algn="l"/>
            <a:r>
              <a:rPr lang="en-US" sz="2400" dirty="0"/>
              <a:t>CS 5/7320 </a:t>
            </a:r>
            <a:br>
              <a:rPr lang="en-US" sz="2400" dirty="0"/>
            </a:br>
            <a:r>
              <a:rPr lang="en-US" sz="2400" dirty="0"/>
              <a:t>Artificial Intelligence</a:t>
            </a:r>
            <a:br>
              <a:rPr lang="en-US" sz="3200" dirty="0"/>
            </a:br>
            <a:br>
              <a:rPr lang="en-US" sz="3200" dirty="0"/>
            </a:br>
            <a:r>
              <a:rPr lang="en-US" sz="3200" dirty="0"/>
              <a:t>Solving problems by searching</a:t>
            </a:r>
            <a:br>
              <a:rPr lang="en-US" sz="3200" dirty="0"/>
            </a:br>
            <a:r>
              <a:rPr lang="en-US" sz="2000" dirty="0"/>
              <a:t>AIMA Chapter 3</a:t>
            </a:r>
            <a:endParaRPr lang="en-US" sz="3200" dirty="0"/>
          </a:p>
        </p:txBody>
      </p:sp>
      <p:sp>
        <p:nvSpPr>
          <p:cNvPr id="3075" name="Rectangle 3"/>
          <p:cNvSpPr>
            <a:spLocks noGrp="1" noChangeArrowheads="1"/>
          </p:cNvSpPr>
          <p:nvPr>
            <p:ph type="subTitle" idx="1"/>
          </p:nvPr>
        </p:nvSpPr>
        <p:spPr>
          <a:xfrm>
            <a:off x="259081" y="4872922"/>
            <a:ext cx="3017519" cy="1208141"/>
          </a:xfrm>
        </p:spPr>
        <p:txBody>
          <a:bodyPr>
            <a:normAutofit/>
          </a:bodyPr>
          <a:lstStyle/>
          <a:p>
            <a:pPr algn="l"/>
            <a:r>
              <a:rPr lang="en-US" dirty="0"/>
              <a:t>Slides by Michael Hahsler</a:t>
            </a:r>
            <a:br>
              <a:rPr lang="en-US" dirty="0"/>
            </a:br>
            <a:r>
              <a:rPr lang="en-US" sz="1400" dirty="0"/>
              <a:t>based on slides by Svetlana </a:t>
            </a:r>
            <a:r>
              <a:rPr lang="en-US" sz="1400" dirty="0" err="1"/>
              <a:t>Lazepnik</a:t>
            </a:r>
            <a:r>
              <a:rPr lang="en-US" sz="1400" dirty="0"/>
              <a:t> with figures from the AIMA textbook.</a:t>
            </a:r>
          </a:p>
        </p:txBody>
      </p:sp>
      <p:sp>
        <p:nvSpPr>
          <p:cNvPr id="78" name="Rectangle 77">
            <a:extLst>
              <a:ext uri="{FF2B5EF4-FFF2-40B4-BE49-F238E27FC236}">
                <a16:creationId xmlns:a16="http://schemas.microsoft.com/office/drawing/2014/main" id="{AF2F604E-43BE-4DC3-B983-E071523364F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551653" y="434802"/>
            <a:ext cx="146304" cy="528066"/>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prstClr val="white"/>
              </a:solidFill>
              <a:latin typeface="Calibri" panose="020F0502020204030204"/>
            </a:endParaRPr>
          </a:p>
        </p:txBody>
      </p:sp>
      <p:sp>
        <p:nvSpPr>
          <p:cNvPr id="80" name="Rectangle 79">
            <a:extLst>
              <a:ext uri="{FF2B5EF4-FFF2-40B4-BE49-F238E27FC236}">
                <a16:creationId xmlns:a16="http://schemas.microsoft.com/office/drawing/2014/main" id="{08C9B587-E65E-4B52-B37C-ABEBB6E8792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60771" y="4546920"/>
            <a:ext cx="2983230" cy="18288"/>
          </a:xfrm>
          <a:prstGeom prst="rect">
            <a:avLst/>
          </a:prstGeom>
          <a:solidFill>
            <a:schemeClr val="tx1"/>
          </a:solidFill>
          <a:ln w="3175">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grpSp>
        <p:nvGrpSpPr>
          <p:cNvPr id="23" name="Group 22">
            <a:extLst>
              <a:ext uri="{FF2B5EF4-FFF2-40B4-BE49-F238E27FC236}">
                <a16:creationId xmlns:a16="http://schemas.microsoft.com/office/drawing/2014/main" id="{B145F0E9-0E3F-269C-6326-011ECE34612A}"/>
              </a:ext>
            </a:extLst>
          </p:cNvPr>
          <p:cNvGrpSpPr/>
          <p:nvPr/>
        </p:nvGrpSpPr>
        <p:grpSpPr>
          <a:xfrm>
            <a:off x="278129" y="5962944"/>
            <a:ext cx="3017521" cy="758005"/>
            <a:chOff x="278129" y="5962944"/>
            <a:chExt cx="3017521" cy="758005"/>
          </a:xfrm>
        </p:grpSpPr>
        <p:sp>
          <p:nvSpPr>
            <p:cNvPr id="7" name="TextBox 6">
              <a:extLst>
                <a:ext uri="{FF2B5EF4-FFF2-40B4-BE49-F238E27FC236}">
                  <a16:creationId xmlns:a16="http://schemas.microsoft.com/office/drawing/2014/main" id="{C52A4BDA-FB48-3D1E-7F99-A191744875FF}"/>
                </a:ext>
              </a:extLst>
            </p:cNvPr>
            <p:cNvSpPr txBox="1"/>
            <p:nvPr/>
          </p:nvSpPr>
          <p:spPr>
            <a:xfrm>
              <a:off x="278129" y="6290062"/>
              <a:ext cx="3017521" cy="430887"/>
            </a:xfrm>
            <a:prstGeom prst="rect">
              <a:avLst/>
            </a:prstGeom>
            <a:noFill/>
          </p:spPr>
          <p:txBody>
            <a:bodyPr wrap="square">
              <a:spAutoFit/>
            </a:bodyPr>
            <a:lstStyle/>
            <a:p>
              <a:r>
                <a:rPr lang="en-US" sz="1100" b="0" i="0" dirty="0">
                  <a:solidFill>
                    <a:schemeClr val="tx1">
                      <a:lumMod val="50000"/>
                    </a:schemeClr>
                  </a:solidFill>
                  <a:effectLst/>
                  <a:latin typeface="Calibri" panose="020F0502020204030204" pitchFamily="34" charset="0"/>
                </a:rPr>
                <a:t>This work is licensed under a </a:t>
              </a:r>
              <a:r>
                <a:rPr lang="en-US" sz="1100" b="0" i="0" strike="noStrike" dirty="0">
                  <a:solidFill>
                    <a:schemeClr val="tx1">
                      <a:lumMod val="50000"/>
                    </a:schemeClr>
                  </a:solidFill>
                  <a:effectLst/>
                  <a:latin typeface="Calibri" panose="020F0502020204030204" pitchFamily="34" charset="0"/>
                  <a:hlinkClick r:id="rId4">
                    <a:extLst>
                      <a:ext uri="{A12FA001-AC4F-418D-AE19-62706E023703}">
                        <ahyp:hlinkClr xmlns:ahyp="http://schemas.microsoft.com/office/drawing/2018/hyperlinkcolor" val="tx"/>
                      </a:ext>
                    </a:extLst>
                  </a:hlinkClick>
                </a:rPr>
                <a:t>Creative Commons Attribution-</a:t>
              </a:r>
              <a:r>
                <a:rPr lang="en-US" sz="1100" b="0" i="0" strike="noStrike" dirty="0" err="1">
                  <a:solidFill>
                    <a:schemeClr val="tx1">
                      <a:lumMod val="50000"/>
                    </a:schemeClr>
                  </a:solidFill>
                  <a:effectLst/>
                  <a:latin typeface="Calibri" panose="020F0502020204030204" pitchFamily="34" charset="0"/>
                  <a:hlinkClick r:id="rId4">
                    <a:extLst>
                      <a:ext uri="{A12FA001-AC4F-418D-AE19-62706E023703}">
                        <ahyp:hlinkClr xmlns:ahyp="http://schemas.microsoft.com/office/drawing/2018/hyperlinkcolor" val="tx"/>
                      </a:ext>
                    </a:extLst>
                  </a:hlinkClick>
                </a:rPr>
                <a:t>ShareAlike</a:t>
              </a:r>
              <a:r>
                <a:rPr lang="en-US" sz="1100" b="0" i="0" strike="noStrike" dirty="0">
                  <a:solidFill>
                    <a:schemeClr val="tx1">
                      <a:lumMod val="50000"/>
                    </a:schemeClr>
                  </a:solidFill>
                  <a:effectLst/>
                  <a:latin typeface="Calibri" panose="020F0502020204030204" pitchFamily="34" charset="0"/>
                  <a:hlinkClick r:id="rId4">
                    <a:extLst>
                      <a:ext uri="{A12FA001-AC4F-418D-AE19-62706E023703}">
                        <ahyp:hlinkClr xmlns:ahyp="http://schemas.microsoft.com/office/drawing/2018/hyperlinkcolor" val="tx"/>
                      </a:ext>
                    </a:extLst>
                  </a:hlinkClick>
                </a:rPr>
                <a:t> 4.0 International License</a:t>
              </a:r>
              <a:r>
                <a:rPr lang="en-US" sz="1100" b="0" i="0" dirty="0">
                  <a:solidFill>
                    <a:schemeClr val="tx1">
                      <a:lumMod val="50000"/>
                    </a:schemeClr>
                  </a:solidFill>
                  <a:effectLst/>
                  <a:latin typeface="Calibri" panose="020F0502020204030204" pitchFamily="34" charset="0"/>
                </a:rPr>
                <a:t>.</a:t>
              </a:r>
              <a:endParaRPr lang="en-US" sz="1100" dirty="0">
                <a:solidFill>
                  <a:schemeClr val="tx1">
                    <a:lumMod val="50000"/>
                  </a:schemeClr>
                </a:solidFill>
              </a:endParaRPr>
            </a:p>
          </p:txBody>
        </p:sp>
        <p:pic>
          <p:nvPicPr>
            <p:cNvPr id="22" name="Picture 2">
              <a:extLst>
                <a:ext uri="{FF2B5EF4-FFF2-40B4-BE49-F238E27FC236}">
                  <a16:creationId xmlns:a16="http://schemas.microsoft.com/office/drawing/2014/main" id="{FBAD8FE2-6C18-AB18-71C3-4837DCC07651}"/>
                </a:ext>
              </a:extLst>
            </p:cNvPr>
            <p:cNvPicPr>
              <a:picLocks noChangeAspect="1"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358485" y="5962944"/>
              <a:ext cx="894434" cy="312941"/>
            </a:xfrm>
            <a:prstGeom prst="rect">
              <a:avLst/>
            </a:prstGeom>
            <a:noFill/>
            <a:extLst>
              <a:ext uri="{909E8E84-426E-40DD-AFC4-6F175D3DCCD1}">
                <a14:hiddenFill xmlns:a14="http://schemas.microsoft.com/office/drawing/2010/main">
                  <a:solidFill>
                    <a:srgbClr val="FFFFFF"/>
                  </a:solidFill>
                </a14:hiddenFill>
              </a:ext>
            </a:extLst>
          </p:spPr>
        </p:pic>
      </p:grpSp>
      <p:grpSp>
        <p:nvGrpSpPr>
          <p:cNvPr id="28" name="Group 27">
            <a:extLst>
              <a:ext uri="{FF2B5EF4-FFF2-40B4-BE49-F238E27FC236}">
                <a16:creationId xmlns:a16="http://schemas.microsoft.com/office/drawing/2014/main" id="{58590C97-1FDC-06AF-C681-FB5E562CB477}"/>
              </a:ext>
            </a:extLst>
          </p:cNvPr>
          <p:cNvGrpSpPr/>
          <p:nvPr/>
        </p:nvGrpSpPr>
        <p:grpSpPr>
          <a:xfrm>
            <a:off x="7161118" y="4648200"/>
            <a:ext cx="1676400" cy="1981200"/>
            <a:chOff x="7208519" y="4648200"/>
            <a:chExt cx="1676400" cy="1981200"/>
          </a:xfrm>
        </p:grpSpPr>
        <p:sp>
          <p:nvSpPr>
            <p:cNvPr id="25" name="Rectangle 24">
              <a:extLst>
                <a:ext uri="{FF2B5EF4-FFF2-40B4-BE49-F238E27FC236}">
                  <a16:creationId xmlns:a16="http://schemas.microsoft.com/office/drawing/2014/main" id="{E7CDAF3D-5E4F-929A-97B2-1C2920885333}"/>
                </a:ext>
              </a:extLst>
            </p:cNvPr>
            <p:cNvSpPr/>
            <p:nvPr/>
          </p:nvSpPr>
          <p:spPr>
            <a:xfrm>
              <a:off x="7208519" y="4648200"/>
              <a:ext cx="1676400" cy="1981200"/>
            </a:xfrm>
            <a:prstGeom prst="rect">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26" name="Picture 25" descr="A qr code with black dots&#10;&#10;Description automatically generated">
              <a:extLst>
                <a:ext uri="{FF2B5EF4-FFF2-40B4-BE49-F238E27FC236}">
                  <a16:creationId xmlns:a16="http://schemas.microsoft.com/office/drawing/2014/main" id="{55C8DA1D-6375-4755-EA92-F75C2EE4050D}"/>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7246619" y="4669971"/>
              <a:ext cx="1600200" cy="1600200"/>
            </a:xfrm>
            <a:prstGeom prst="rect">
              <a:avLst/>
            </a:prstGeom>
          </p:spPr>
        </p:pic>
        <p:sp>
          <p:nvSpPr>
            <p:cNvPr id="27" name="Rectangle 26">
              <a:extLst>
                <a:ext uri="{FF2B5EF4-FFF2-40B4-BE49-F238E27FC236}">
                  <a16:creationId xmlns:a16="http://schemas.microsoft.com/office/drawing/2014/main" id="{14068EDA-0527-9B52-BCE8-977872452E88}"/>
                </a:ext>
              </a:extLst>
            </p:cNvPr>
            <p:cNvSpPr/>
            <p:nvPr/>
          </p:nvSpPr>
          <p:spPr>
            <a:xfrm>
              <a:off x="7208519" y="6270171"/>
              <a:ext cx="1676400" cy="359229"/>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en-US" dirty="0"/>
                <a:t>Online Material</a:t>
              </a:r>
            </a:p>
          </p:txBody>
        </p:sp>
      </p:grpSp>
    </p:spTree>
  </p:cSld>
  <p:clrMapOvr>
    <a:overrideClrMapping bg1="dk1" tx1="lt1" bg2="dk2" tx2="lt2" accent1="accent1" accent2="accent2" accent3="accent3" accent4="accent4" accent5="accent5" accent6="accent6" hlink="hlink" folHlink="folHlink"/>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FC9124A-B8A1-3533-1049-5E570C7CF94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2B30590-7956-4DFB-75D9-1D07F6339013}"/>
              </a:ext>
            </a:extLst>
          </p:cNvPr>
          <p:cNvSpPr>
            <a:spLocks noGrp="1"/>
          </p:cNvSpPr>
          <p:nvPr>
            <p:ph type="title"/>
          </p:nvPr>
        </p:nvSpPr>
        <p:spPr/>
        <p:txBody>
          <a:bodyPr/>
          <a:lstStyle/>
          <a:p>
            <a:r>
              <a:rPr lang="en-US" dirty="0"/>
              <a:t>Contents</a:t>
            </a:r>
          </a:p>
        </p:txBody>
      </p:sp>
      <p:graphicFrame>
        <p:nvGraphicFramePr>
          <p:cNvPr id="7" name="Content Placeholder 6">
            <a:extLst>
              <a:ext uri="{FF2B5EF4-FFF2-40B4-BE49-F238E27FC236}">
                <a16:creationId xmlns:a16="http://schemas.microsoft.com/office/drawing/2014/main" id="{E61EF917-0B40-86DA-0D77-3D31E8F97386}"/>
              </a:ext>
            </a:extLst>
          </p:cNvPr>
          <p:cNvGraphicFramePr>
            <a:graphicFrameLocks noGrp="1"/>
          </p:cNvGraphicFramePr>
          <p:nvPr>
            <p:ph idx="1"/>
            <p:extLst>
              <p:ext uri="{D42A27DB-BD31-4B8C-83A1-F6EECF244321}">
                <p14:modId xmlns:p14="http://schemas.microsoft.com/office/powerpoint/2010/main" val="2912075833"/>
              </p:ext>
            </p:extLst>
          </p:nvPr>
        </p:nvGraphicFramePr>
        <p:xfrm>
          <a:off x="628650" y="1825625"/>
          <a:ext cx="7886700" cy="4351338"/>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1799438234"/>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000000"/>
        </a:solidFill>
        <a:effectLst/>
      </p:bgPr>
    </p:bg>
    <p:spTree>
      <p:nvGrpSpPr>
        <p:cNvPr id="1" name=""/>
        <p:cNvGrpSpPr/>
        <p:nvPr/>
      </p:nvGrpSpPr>
      <p:grpSpPr>
        <a:xfrm>
          <a:off x="0" y="0"/>
          <a:ext cx="0" cy="0"/>
          <a:chOff x="0" y="0"/>
          <a:chExt cx="0" cy="0"/>
        </a:xfrm>
      </p:grpSpPr>
      <p:sp>
        <p:nvSpPr>
          <p:cNvPr id="15" name="Rectangle 14">
            <a:extLst>
              <a:ext uri="{FF2B5EF4-FFF2-40B4-BE49-F238E27FC236}">
                <a16:creationId xmlns:a16="http://schemas.microsoft.com/office/drawing/2014/main" id="{71B2258F-86CA-4D4D-8270-BC05FCDEBFB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9144000" cy="6857999"/>
          </a:xfrm>
          <a:prstGeom prst="rect">
            <a:avLst/>
          </a:prstGeom>
          <a:solidFill>
            <a:srgbClr val="00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6" name="Picture 15" descr="Magnifying glass and question mark">
            <a:extLst>
              <a:ext uri="{FF2B5EF4-FFF2-40B4-BE49-F238E27FC236}">
                <a16:creationId xmlns:a16="http://schemas.microsoft.com/office/drawing/2014/main" id="{F4B626A0-D320-B619-37C0-109A5EE1FD71}"/>
              </a:ext>
            </a:extLst>
          </p:cNvPr>
          <p:cNvPicPr>
            <a:picLocks noChangeAspect="1"/>
          </p:cNvPicPr>
          <p:nvPr/>
        </p:nvPicPr>
        <p:blipFill>
          <a:blip r:embed="rId2">
            <a:alphaModFix amt="50000"/>
          </a:blip>
          <a:srcRect l="14324" r="10676"/>
          <a:stretch>
            <a:fillRect/>
          </a:stretch>
        </p:blipFill>
        <p:spPr>
          <a:xfrm>
            <a:off x="20" y="1"/>
            <a:ext cx="9143980" cy="6857999"/>
          </a:xfrm>
          <a:prstGeom prst="rect">
            <a:avLst/>
          </a:prstGeom>
        </p:spPr>
      </p:pic>
      <p:sp>
        <p:nvSpPr>
          <p:cNvPr id="4" name="Title 3">
            <a:extLst>
              <a:ext uri="{FF2B5EF4-FFF2-40B4-BE49-F238E27FC236}">
                <a16:creationId xmlns:a16="http://schemas.microsoft.com/office/drawing/2014/main" id="{1E0268C3-199B-065D-4CE7-B5397C820E2F}"/>
              </a:ext>
            </a:extLst>
          </p:cNvPr>
          <p:cNvSpPr>
            <a:spLocks noGrp="1"/>
          </p:cNvSpPr>
          <p:nvPr>
            <p:ph type="title"/>
          </p:nvPr>
        </p:nvSpPr>
        <p:spPr>
          <a:xfrm>
            <a:off x="1143000" y="1122362"/>
            <a:ext cx="6858000" cy="2900518"/>
          </a:xfrm>
        </p:spPr>
        <p:txBody>
          <a:bodyPr vert="horz" lIns="91440" tIns="45720" rIns="91440" bIns="45720" rtlCol="0" anchor="b">
            <a:normAutofit/>
          </a:bodyPr>
          <a:lstStyle/>
          <a:p>
            <a:pPr algn="ctr" defTabSz="914400"/>
            <a:r>
              <a:rPr lang="en-US" sz="6000">
                <a:solidFill>
                  <a:srgbClr val="FFFFFF"/>
                </a:solidFill>
              </a:rPr>
              <a:t>Search Problems</a:t>
            </a:r>
          </a:p>
        </p:txBody>
      </p:sp>
      <p:sp>
        <p:nvSpPr>
          <p:cNvPr id="5" name="Text Placeholder 4">
            <a:extLst>
              <a:ext uri="{FF2B5EF4-FFF2-40B4-BE49-F238E27FC236}">
                <a16:creationId xmlns:a16="http://schemas.microsoft.com/office/drawing/2014/main" id="{07101D65-4A0E-A413-1326-3F4593764658}"/>
              </a:ext>
            </a:extLst>
          </p:cNvPr>
          <p:cNvSpPr>
            <a:spLocks noGrp="1"/>
          </p:cNvSpPr>
          <p:nvPr>
            <p:ph type="body" idx="1"/>
          </p:nvPr>
        </p:nvSpPr>
        <p:spPr>
          <a:xfrm>
            <a:off x="1143000" y="4159404"/>
            <a:ext cx="6858000" cy="1098395"/>
          </a:xfrm>
        </p:spPr>
        <p:txBody>
          <a:bodyPr vert="horz" lIns="91440" tIns="45720" rIns="91440" bIns="45720" rtlCol="0">
            <a:normAutofit/>
          </a:bodyPr>
          <a:lstStyle/>
          <a:p>
            <a:pPr algn="ctr" defTabSz="914400">
              <a:spcBef>
                <a:spcPts val="1000"/>
              </a:spcBef>
            </a:pPr>
            <a:r>
              <a:rPr lang="en-US" sz="2400" dirty="0">
                <a:solidFill>
                  <a:srgbClr val="FFFFFF"/>
                </a:solidFill>
              </a:rPr>
              <a:t>How do we define a search problem?</a:t>
            </a:r>
          </a:p>
        </p:txBody>
      </p:sp>
    </p:spTree>
    <p:extLst>
      <p:ext uri="{BB962C8B-B14F-4D97-AF65-F5344CB8AC3E}">
        <p14:creationId xmlns:p14="http://schemas.microsoft.com/office/powerpoint/2010/main" val="2559573174"/>
      </p:ext>
    </p:extLst>
  </p:cSld>
  <p:clrMapOvr>
    <a:overrideClrMapping bg1="dk1" tx1="lt1" bg2="dk2" tx2="lt2" accent1="accent1" accent2="accent2" accent3="accent3" accent4="accent4" accent5="accent5" accent6="accent6" hlink="hlink" folHlink="folHlink"/>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0"/>
            <a:ext cx="8229600" cy="1143000"/>
          </a:xfrm>
        </p:spPr>
        <p:txBody>
          <a:bodyPr/>
          <a:lstStyle/>
          <a:p>
            <a:r>
              <a:rPr lang="en-US" dirty="0"/>
              <a:t>What are Search Problems?</a:t>
            </a:r>
          </a:p>
        </p:txBody>
      </p:sp>
      <p:sp>
        <p:nvSpPr>
          <p:cNvPr id="3" name="Content Placeholder 2"/>
          <p:cNvSpPr>
            <a:spLocks noGrp="1"/>
          </p:cNvSpPr>
          <p:nvPr>
            <p:ph idx="1"/>
          </p:nvPr>
        </p:nvSpPr>
        <p:spPr>
          <a:xfrm>
            <a:off x="457200" y="1219200"/>
            <a:ext cx="8229600" cy="4525963"/>
          </a:xfrm>
        </p:spPr>
        <p:txBody>
          <a:bodyPr>
            <a:normAutofit/>
          </a:bodyPr>
          <a:lstStyle/>
          <a:p>
            <a:r>
              <a:rPr lang="en-US" sz="2200" dirty="0"/>
              <a:t>We will consider the problem of designing </a:t>
            </a:r>
            <a:r>
              <a:rPr lang="en-US" sz="2200" b="1" dirty="0">
                <a:solidFill>
                  <a:srgbClr val="FF0000"/>
                </a:solidFill>
              </a:rPr>
              <a:t>goal-based agents</a:t>
            </a:r>
            <a:r>
              <a:rPr lang="en-US" sz="2200" dirty="0"/>
              <a:t> in </a:t>
            </a:r>
            <a:r>
              <a:rPr lang="en-US" sz="2200" b="1" dirty="0">
                <a:solidFill>
                  <a:srgbClr val="FF0000"/>
                </a:solidFill>
              </a:rPr>
              <a:t>known</a:t>
            </a:r>
            <a:r>
              <a:rPr lang="en-US" sz="2200" dirty="0">
                <a:solidFill>
                  <a:srgbClr val="FF0000"/>
                </a:solidFill>
              </a:rPr>
              <a:t>, </a:t>
            </a:r>
            <a:r>
              <a:rPr lang="en-US" sz="2200" b="1" dirty="0">
                <a:solidFill>
                  <a:srgbClr val="FF0000"/>
                </a:solidFill>
              </a:rPr>
              <a:t>fully observable, and deterministic </a:t>
            </a:r>
            <a:r>
              <a:rPr lang="en-US" sz="2200" dirty="0"/>
              <a:t>environments.</a:t>
            </a:r>
          </a:p>
          <a:p>
            <a:r>
              <a:rPr lang="en-US" sz="2200" dirty="0"/>
              <a:t>Example environment:</a:t>
            </a:r>
          </a:p>
        </p:txBody>
      </p:sp>
      <p:pic>
        <p:nvPicPr>
          <p:cNvPr id="10" name="Picture 2"/>
          <p:cNvPicPr>
            <a:picLocks noChangeAspect="1" noChangeArrowheads="1"/>
          </p:cNvPicPr>
          <p:nvPr/>
        </p:nvPicPr>
        <p:blipFill>
          <a:blip r:embed="rId3" cstate="print">
            <a:extLst>
              <a:ext uri="{BEBA8EAE-BF5A-486C-A8C5-ECC9F3942E4B}">
                <a14:imgProps xmlns:a14="http://schemas.microsoft.com/office/drawing/2010/main">
                  <a14:imgLayer r:embed="rId4">
                    <a14:imgEffect>
                      <a14:artisticPencilSketch/>
                    </a14:imgEffect>
                  </a14:imgLayer>
                </a14:imgProps>
              </a:ext>
            </a:extLst>
          </a:blip>
          <a:srcRect/>
          <a:stretch>
            <a:fillRect/>
          </a:stretch>
        </p:blipFill>
        <p:spPr bwMode="auto">
          <a:xfrm>
            <a:off x="3072331" y="3208814"/>
            <a:ext cx="2960528" cy="3004457"/>
          </a:xfrm>
          <a:prstGeom prst="rect">
            <a:avLst/>
          </a:prstGeom>
          <a:noFill/>
          <a:ln w="9525">
            <a:noFill/>
            <a:miter lim="800000"/>
            <a:headEnd/>
            <a:tailEnd/>
          </a:ln>
        </p:spPr>
      </p:pic>
      <p:sp>
        <p:nvSpPr>
          <p:cNvPr id="11" name="Down Arrow 10"/>
          <p:cNvSpPr/>
          <p:nvPr/>
        </p:nvSpPr>
        <p:spPr>
          <a:xfrm>
            <a:off x="3236805" y="2977742"/>
            <a:ext cx="164474" cy="222552"/>
          </a:xfrm>
          <a:prstGeom prst="down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TextBox 11"/>
          <p:cNvSpPr txBox="1"/>
          <p:nvPr/>
        </p:nvSpPr>
        <p:spPr>
          <a:xfrm>
            <a:off x="2874316" y="2599890"/>
            <a:ext cx="889451" cy="369332"/>
          </a:xfrm>
          <a:prstGeom prst="rect">
            <a:avLst/>
          </a:prstGeom>
          <a:noFill/>
        </p:spPr>
        <p:txBody>
          <a:bodyPr wrap="square" rtlCol="0">
            <a:spAutoFit/>
          </a:bodyPr>
          <a:lstStyle/>
          <a:p>
            <a:r>
              <a:rPr lang="en-US" dirty="0"/>
              <a:t>Start</a:t>
            </a:r>
          </a:p>
        </p:txBody>
      </p:sp>
      <p:sp>
        <p:nvSpPr>
          <p:cNvPr id="13" name="Down Arrow 12"/>
          <p:cNvSpPr/>
          <p:nvPr/>
        </p:nvSpPr>
        <p:spPr>
          <a:xfrm rot="5400000">
            <a:off x="6141288" y="5882279"/>
            <a:ext cx="166914" cy="219298"/>
          </a:xfrm>
          <a:prstGeom prst="down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TextBox 13"/>
          <p:cNvSpPr txBox="1"/>
          <p:nvPr/>
        </p:nvSpPr>
        <p:spPr>
          <a:xfrm>
            <a:off x="6349549" y="5791200"/>
            <a:ext cx="889451" cy="369332"/>
          </a:xfrm>
          <a:prstGeom prst="rect">
            <a:avLst/>
          </a:prstGeom>
          <a:noFill/>
        </p:spPr>
        <p:txBody>
          <a:bodyPr wrap="square" rtlCol="0">
            <a:spAutoFit/>
          </a:bodyPr>
          <a:lstStyle/>
          <a:p>
            <a:r>
              <a:rPr lang="en-US" dirty="0"/>
              <a:t>Exit</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grpId="0" nodeType="with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10"/>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12"/>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11"/>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13"/>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1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11" grpId="0" animBg="1"/>
      <p:bldP spid="12" grpId="0"/>
      <p:bldP spid="13" grpId="0" animBg="1"/>
      <p:bldP spid="14" grpId="0"/>
    </p:bld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9" name="Picture 8">
            <a:extLst>
              <a:ext uri="{FF2B5EF4-FFF2-40B4-BE49-F238E27FC236}">
                <a16:creationId xmlns:a16="http://schemas.microsoft.com/office/drawing/2014/main" id="{2FE2CE57-5E44-48F8-9543-D465169F4975}"/>
              </a:ext>
            </a:extLst>
          </p:cNvPr>
          <p:cNvPicPr>
            <a:picLocks noChangeAspect="1"/>
          </p:cNvPicPr>
          <p:nvPr/>
        </p:nvPicPr>
        <p:blipFill>
          <a:blip r:embed="rId3"/>
          <a:stretch>
            <a:fillRect/>
          </a:stretch>
        </p:blipFill>
        <p:spPr>
          <a:xfrm>
            <a:off x="2114318" y="2819400"/>
            <a:ext cx="4515082" cy="2927500"/>
          </a:xfrm>
          <a:prstGeom prst="rect">
            <a:avLst/>
          </a:prstGeom>
        </p:spPr>
      </p:pic>
      <p:sp>
        <p:nvSpPr>
          <p:cNvPr id="28674" name="Rectangle 2"/>
          <p:cNvSpPr>
            <a:spLocks noGrp="1" noChangeArrowheads="1"/>
          </p:cNvSpPr>
          <p:nvPr>
            <p:ph type="title"/>
          </p:nvPr>
        </p:nvSpPr>
        <p:spPr/>
        <p:txBody>
          <a:bodyPr/>
          <a:lstStyle/>
          <a:p>
            <a:r>
              <a:rPr lang="en-US" dirty="0"/>
              <a:t>Remember: Planning Agent (Goal-based)</a:t>
            </a:r>
          </a:p>
        </p:txBody>
      </p:sp>
      <p:sp>
        <p:nvSpPr>
          <p:cNvPr id="7" name="Content Placeholder 6"/>
          <p:cNvSpPr>
            <a:spLocks noGrp="1"/>
          </p:cNvSpPr>
          <p:nvPr>
            <p:ph idx="1"/>
          </p:nvPr>
        </p:nvSpPr>
        <p:spPr>
          <a:xfrm>
            <a:off x="628650" y="1447801"/>
            <a:ext cx="7886700" cy="1235149"/>
          </a:xfrm>
        </p:spPr>
        <p:txBody>
          <a:bodyPr>
            <a:normAutofit fontScale="85000" lnSpcReduction="10000"/>
          </a:bodyPr>
          <a:lstStyle/>
          <a:p>
            <a:r>
              <a:rPr lang="en-US" dirty="0"/>
              <a:t>The agent has the task of reaching a defined </a:t>
            </a:r>
            <a:r>
              <a:rPr lang="en-US" b="1" dirty="0">
                <a:solidFill>
                  <a:srgbClr val="FF0000"/>
                </a:solidFill>
              </a:rPr>
              <a:t>goal state</a:t>
            </a:r>
            <a:r>
              <a:rPr lang="en-US" dirty="0"/>
              <a:t>. </a:t>
            </a:r>
          </a:p>
          <a:p>
            <a:r>
              <a:rPr lang="en-US" dirty="0"/>
              <a:t>The performance measure is typically the cost to reach the goal.</a:t>
            </a:r>
            <a:r>
              <a:rPr lang="en-US" b="1" dirty="0">
                <a:solidFill>
                  <a:srgbClr val="FF0000"/>
                </a:solidFill>
              </a:rPr>
              <a:t>  </a:t>
            </a:r>
            <a:endParaRPr lang="en-US" dirty="0"/>
          </a:p>
          <a:p>
            <a:r>
              <a:rPr lang="en-US" dirty="0"/>
              <a:t>We will discuss a special type of </a:t>
            </a:r>
            <a:r>
              <a:rPr lang="en-US" b="1" dirty="0">
                <a:solidFill>
                  <a:srgbClr val="FF0000"/>
                </a:solidFill>
              </a:rPr>
              <a:t>goal-based agents </a:t>
            </a:r>
            <a:r>
              <a:rPr lang="en-US" dirty="0"/>
              <a:t>called </a:t>
            </a:r>
            <a:r>
              <a:rPr lang="en-US" b="1" dirty="0">
                <a:solidFill>
                  <a:srgbClr val="FF0000"/>
                </a:solidFill>
              </a:rPr>
              <a:t>planning agents, </a:t>
            </a:r>
            <a:r>
              <a:rPr lang="en-US" dirty="0"/>
              <a:t>which use </a:t>
            </a:r>
            <a:r>
              <a:rPr lang="en-US" b="1" dirty="0">
                <a:solidFill>
                  <a:srgbClr val="FF0000"/>
                </a:solidFill>
              </a:rPr>
              <a:t>search algorithms </a:t>
            </a:r>
            <a:r>
              <a:rPr lang="en-US" dirty="0"/>
              <a:t>to plan a sequence of actions that lead to the goal.</a:t>
            </a:r>
          </a:p>
        </p:txBody>
      </p:sp>
      <p:sp>
        <p:nvSpPr>
          <p:cNvPr id="8" name="Speech Bubble: Rectangle 7">
            <a:extLst>
              <a:ext uri="{FF2B5EF4-FFF2-40B4-BE49-F238E27FC236}">
                <a16:creationId xmlns:a16="http://schemas.microsoft.com/office/drawing/2014/main" id="{ACD4E6B8-A0B9-43DB-59B0-3C590ACE7D98}"/>
              </a:ext>
            </a:extLst>
          </p:cNvPr>
          <p:cNvSpPr/>
          <p:nvPr/>
        </p:nvSpPr>
        <p:spPr>
          <a:xfrm>
            <a:off x="7022755" y="2986180"/>
            <a:ext cx="825845" cy="369332"/>
          </a:xfrm>
          <a:prstGeom prst="wedgeRectCallout">
            <a:avLst>
              <a:gd name="adj1" fmla="val -136624"/>
              <a:gd name="adj2" fmla="val 66339"/>
            </a:avLst>
          </a:prstGeom>
          <a:solidFill>
            <a:schemeClr val="accent6"/>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r>
              <a:rPr lang="en-US" dirty="0"/>
              <a:t>Maze</a:t>
            </a:r>
          </a:p>
        </p:txBody>
      </p:sp>
      <p:sp>
        <p:nvSpPr>
          <p:cNvPr id="10" name="Speech Bubble: Rectangle 9">
            <a:extLst>
              <a:ext uri="{FF2B5EF4-FFF2-40B4-BE49-F238E27FC236}">
                <a16:creationId xmlns:a16="http://schemas.microsoft.com/office/drawing/2014/main" id="{B24A0A57-3857-A0EC-B7FB-E3797EC17823}"/>
              </a:ext>
            </a:extLst>
          </p:cNvPr>
          <p:cNvSpPr/>
          <p:nvPr/>
        </p:nvSpPr>
        <p:spPr>
          <a:xfrm>
            <a:off x="628650" y="2819400"/>
            <a:ext cx="1135082" cy="671466"/>
          </a:xfrm>
          <a:prstGeom prst="wedgeRectCallout">
            <a:avLst>
              <a:gd name="adj1" fmla="val 166126"/>
              <a:gd name="adj2" fmla="val 29905"/>
            </a:avLst>
          </a:prstGeom>
          <a:solidFill>
            <a:schemeClr val="accent6"/>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r>
              <a:rPr lang="en-US" dirty="0"/>
              <a:t>Agent’s location</a:t>
            </a:r>
          </a:p>
        </p:txBody>
      </p:sp>
      <p:sp>
        <p:nvSpPr>
          <p:cNvPr id="11" name="Speech Bubble: Rectangle 10">
            <a:extLst>
              <a:ext uri="{FF2B5EF4-FFF2-40B4-BE49-F238E27FC236}">
                <a16:creationId xmlns:a16="http://schemas.microsoft.com/office/drawing/2014/main" id="{CB4B4DC5-FA89-D9E8-6C2F-D46303024D65}"/>
              </a:ext>
            </a:extLst>
          </p:cNvPr>
          <p:cNvSpPr/>
          <p:nvPr/>
        </p:nvSpPr>
        <p:spPr>
          <a:xfrm>
            <a:off x="628650" y="4099817"/>
            <a:ext cx="1135082" cy="671466"/>
          </a:xfrm>
          <a:prstGeom prst="wedgeRectCallout">
            <a:avLst>
              <a:gd name="adj1" fmla="val 134635"/>
              <a:gd name="adj2" fmla="val -55269"/>
            </a:avLst>
          </a:prstGeom>
          <a:solidFill>
            <a:schemeClr val="accent6"/>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r>
              <a:rPr lang="en-US" dirty="0"/>
              <a:t>Map of the maze</a:t>
            </a:r>
          </a:p>
        </p:txBody>
      </p:sp>
      <p:sp>
        <p:nvSpPr>
          <p:cNvPr id="12" name="Speech Bubble: Rectangle 11">
            <a:extLst>
              <a:ext uri="{FF2B5EF4-FFF2-40B4-BE49-F238E27FC236}">
                <a16:creationId xmlns:a16="http://schemas.microsoft.com/office/drawing/2014/main" id="{30CD1CCF-0CC1-76DC-A68A-116AAB3E2F34}"/>
              </a:ext>
            </a:extLst>
          </p:cNvPr>
          <p:cNvSpPr/>
          <p:nvPr/>
        </p:nvSpPr>
        <p:spPr>
          <a:xfrm>
            <a:off x="645968" y="4971707"/>
            <a:ext cx="1135082" cy="671466"/>
          </a:xfrm>
          <a:prstGeom prst="wedgeRectCallout">
            <a:avLst>
              <a:gd name="adj1" fmla="val 164296"/>
              <a:gd name="adj2" fmla="val -52113"/>
            </a:avLst>
          </a:prstGeom>
          <a:solidFill>
            <a:schemeClr val="accent6"/>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r>
              <a:rPr lang="en-US" dirty="0"/>
              <a:t>Exit location</a:t>
            </a:r>
          </a:p>
        </p:txBody>
      </p:sp>
      <p:sp>
        <p:nvSpPr>
          <p:cNvPr id="2" name="Rectangle 1">
            <a:extLst>
              <a:ext uri="{FF2B5EF4-FFF2-40B4-BE49-F238E27FC236}">
                <a16:creationId xmlns:a16="http://schemas.microsoft.com/office/drawing/2014/main" id="{9789D71E-FD90-CC87-3486-CD660EA57849}"/>
              </a:ext>
            </a:extLst>
          </p:cNvPr>
          <p:cNvSpPr/>
          <p:nvPr/>
        </p:nvSpPr>
        <p:spPr>
          <a:xfrm>
            <a:off x="3614530" y="4342072"/>
            <a:ext cx="728274" cy="322078"/>
          </a:xfrm>
          <a:prstGeom prst="rect">
            <a:avLst/>
          </a:prstGeom>
        </p:spPr>
        <p:style>
          <a:lnRef idx="2">
            <a:schemeClr val="accent2"/>
          </a:lnRef>
          <a:fillRef idx="1">
            <a:schemeClr val="lt1"/>
          </a:fillRef>
          <a:effectRef idx="0">
            <a:schemeClr val="accent2"/>
          </a:effectRef>
          <a:fontRef idx="minor">
            <a:schemeClr val="dk1"/>
          </a:fontRef>
        </p:style>
        <p:txBody>
          <a:bodyPr rtlCol="0" anchor="ctr"/>
          <a:lstStyle/>
          <a:p>
            <a:pPr algn="ctr"/>
            <a:r>
              <a:rPr lang="en-US" sz="1050" dirty="0">
                <a:latin typeface="Cambria Math" panose="02040503050406030204" pitchFamily="18" charset="0"/>
                <a:ea typeface="Cambria Math" panose="02040503050406030204" pitchFamily="18" charset="0"/>
                <a:cs typeface="Calibri" panose="020F0502020204030204" pitchFamily="34" charset="0"/>
              </a:rPr>
              <a:t>Search for a plan</a:t>
            </a:r>
          </a:p>
        </p:txBody>
      </p:sp>
      <p:sp>
        <p:nvSpPr>
          <p:cNvPr id="15" name="Rectangle 14">
            <a:extLst>
              <a:ext uri="{FF2B5EF4-FFF2-40B4-BE49-F238E27FC236}">
                <a16:creationId xmlns:a16="http://schemas.microsoft.com/office/drawing/2014/main" id="{D590C079-162B-3732-454F-F8D36FC0F2F8}"/>
              </a:ext>
            </a:extLst>
          </p:cNvPr>
          <p:cNvSpPr/>
          <p:nvPr/>
        </p:nvSpPr>
        <p:spPr>
          <a:xfrm>
            <a:off x="3561522" y="4843567"/>
            <a:ext cx="781282" cy="152400"/>
          </a:xfrm>
          <a:prstGeom prst="rect">
            <a:avLst/>
          </a:prstGeom>
          <a:solidFill>
            <a:srgbClr val="BADBE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Oval 2">
            <a:extLst>
              <a:ext uri="{FF2B5EF4-FFF2-40B4-BE49-F238E27FC236}">
                <a16:creationId xmlns:a16="http://schemas.microsoft.com/office/drawing/2014/main" id="{8DC68F3E-3623-454B-9115-EF6E8CD7423F}"/>
              </a:ext>
            </a:extLst>
          </p:cNvPr>
          <p:cNvSpPr/>
          <p:nvPr/>
        </p:nvSpPr>
        <p:spPr>
          <a:xfrm>
            <a:off x="2895600" y="4664150"/>
            <a:ext cx="685800" cy="457200"/>
          </a:xfrm>
          <a:prstGeom prst="ellipse">
            <a:avLst/>
          </a:prstGeom>
          <a:noFill/>
          <a:ln w="28575" cap="flat" cmpd="sng" algn="ctr">
            <a:solidFill>
              <a:schemeClr val="accent2"/>
            </a:solidFill>
            <a:prstDash val="solid"/>
            <a:round/>
            <a:headEnd type="none" w="med" len="med"/>
            <a:tailEnd type="none" w="med" len="med"/>
          </a:ln>
        </p:spPr>
        <p:style>
          <a:lnRef idx="0">
            <a:scrgbClr r="0" g="0" b="0"/>
          </a:lnRef>
          <a:fillRef idx="0">
            <a:scrgbClr r="0" g="0" b="0"/>
          </a:fillRef>
          <a:effectRef idx="0">
            <a:scrgbClr r="0" g="0" b="0"/>
          </a:effectRef>
          <a:fontRef idx="minor">
            <a:schemeClr val="accent2"/>
          </a:fontRef>
        </p:style>
        <p:txBody>
          <a:bodyPr rtlCol="0" anchor="ctr"/>
          <a:lstStyle/>
          <a:p>
            <a:pPr algn="ctr"/>
            <a:endParaRPr lang="en-US"/>
          </a:p>
        </p:txBody>
      </p:sp>
      <p:cxnSp>
        <p:nvCxnSpPr>
          <p:cNvPr id="14" name="Straight Arrow Connector 13">
            <a:extLst>
              <a:ext uri="{FF2B5EF4-FFF2-40B4-BE49-F238E27FC236}">
                <a16:creationId xmlns:a16="http://schemas.microsoft.com/office/drawing/2014/main" id="{03C59433-494C-3B90-7683-E60ED72C6C7B}"/>
              </a:ext>
            </a:extLst>
          </p:cNvPr>
          <p:cNvCxnSpPr>
            <a:cxnSpLocks/>
            <a:stCxn id="2" idx="2"/>
          </p:cNvCxnSpPr>
          <p:nvPr/>
        </p:nvCxnSpPr>
        <p:spPr>
          <a:xfrm>
            <a:off x="3978667" y="4664150"/>
            <a:ext cx="410750" cy="250917"/>
          </a:xfrm>
          <a:prstGeom prst="straightConnector1">
            <a:avLst/>
          </a:prstGeom>
          <a:ln w="28575">
            <a:tailEnd type="triangle"/>
          </a:ln>
        </p:spPr>
        <p:style>
          <a:lnRef idx="3">
            <a:schemeClr val="accent2"/>
          </a:lnRef>
          <a:fillRef idx="0">
            <a:schemeClr val="accent2"/>
          </a:fillRef>
          <a:effectRef idx="2">
            <a:schemeClr val="accent2"/>
          </a:effectRef>
          <a:fontRef idx="minor">
            <a:schemeClr val="tx1"/>
          </a:fontRef>
        </p:style>
      </p:cxnSp>
      <p:sp>
        <p:nvSpPr>
          <p:cNvPr id="20" name="Rectangle 19">
            <a:extLst>
              <a:ext uri="{FF2B5EF4-FFF2-40B4-BE49-F238E27FC236}">
                <a16:creationId xmlns:a16="http://schemas.microsoft.com/office/drawing/2014/main" id="{05B943E9-2E86-1C94-DAFB-79A8F550C584}"/>
              </a:ext>
            </a:extLst>
          </p:cNvPr>
          <p:cNvSpPr/>
          <p:nvPr/>
        </p:nvSpPr>
        <p:spPr>
          <a:xfrm>
            <a:off x="4447462" y="4206951"/>
            <a:ext cx="982019" cy="517450"/>
          </a:xfrm>
          <a:prstGeom prst="rect">
            <a:avLst/>
          </a:prstGeom>
          <a:solidFill>
            <a:srgbClr val="BADBE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Rectangle 3">
            <a:extLst>
              <a:ext uri="{FF2B5EF4-FFF2-40B4-BE49-F238E27FC236}">
                <a16:creationId xmlns:a16="http://schemas.microsoft.com/office/drawing/2014/main" id="{7CAEB44A-E0D5-4126-A2E1-486A8A386ED4}"/>
              </a:ext>
            </a:extLst>
          </p:cNvPr>
          <p:cNvSpPr/>
          <p:nvPr/>
        </p:nvSpPr>
        <p:spPr>
          <a:xfrm>
            <a:off x="4191000" y="3825950"/>
            <a:ext cx="1447800" cy="457200"/>
          </a:xfrm>
          <a:prstGeom prst="rect">
            <a:avLst/>
          </a:prstGeom>
          <a:noFill/>
          <a:ln w="28575" cap="flat" cmpd="sng" algn="ctr">
            <a:solidFill>
              <a:schemeClr val="accent2"/>
            </a:solidFill>
            <a:prstDash val="solid"/>
            <a:round/>
            <a:headEnd type="none" w="med" len="med"/>
            <a:tailEnd type="none" w="med" len="med"/>
          </a:ln>
        </p:spPr>
        <p:style>
          <a:lnRef idx="0">
            <a:scrgbClr r="0" g="0" b="0"/>
          </a:lnRef>
          <a:fillRef idx="0">
            <a:scrgbClr r="0" g="0" b="0"/>
          </a:fillRef>
          <a:effectRef idx="0">
            <a:scrgbClr r="0" g="0" b="0"/>
          </a:effectRef>
          <a:fontRef idx="minor">
            <a:schemeClr val="accent2"/>
          </a:fontRef>
        </p:style>
        <p:txBody>
          <a:bodyPr rtlCol="0" anchor="ctr"/>
          <a:lstStyle/>
          <a:p>
            <a:pPr algn="ctr"/>
            <a:endParaRPr lang="en-US"/>
          </a:p>
        </p:txBody>
      </p:sp>
      <p:cxnSp>
        <p:nvCxnSpPr>
          <p:cNvPr id="21" name="Straight Arrow Connector 20">
            <a:extLst>
              <a:ext uri="{FF2B5EF4-FFF2-40B4-BE49-F238E27FC236}">
                <a16:creationId xmlns:a16="http://schemas.microsoft.com/office/drawing/2014/main" id="{DAE791E8-4835-95CC-359A-FA6648D3BD78}"/>
              </a:ext>
            </a:extLst>
          </p:cNvPr>
          <p:cNvCxnSpPr>
            <a:cxnSpLocks/>
            <a:endCxn id="2" idx="0"/>
          </p:cNvCxnSpPr>
          <p:nvPr/>
        </p:nvCxnSpPr>
        <p:spPr>
          <a:xfrm flipH="1">
            <a:off x="3978667" y="4073534"/>
            <a:ext cx="212333" cy="268538"/>
          </a:xfrm>
          <a:prstGeom prst="straightConnector1">
            <a:avLst/>
          </a:prstGeom>
          <a:ln w="28575">
            <a:tailEnd type="triangle"/>
          </a:ln>
        </p:spPr>
        <p:style>
          <a:lnRef idx="3">
            <a:schemeClr val="accent2"/>
          </a:lnRef>
          <a:fillRef idx="0">
            <a:schemeClr val="accent2"/>
          </a:fillRef>
          <a:effectRef idx="2">
            <a:schemeClr val="accent2"/>
          </a:effectRef>
          <a:fontRef idx="minor">
            <a:schemeClr val="tx1"/>
          </a:fontRef>
        </p:style>
      </p:cxnSp>
      <p:cxnSp>
        <p:nvCxnSpPr>
          <p:cNvPr id="24" name="Straight Arrow Connector 23">
            <a:extLst>
              <a:ext uri="{FF2B5EF4-FFF2-40B4-BE49-F238E27FC236}">
                <a16:creationId xmlns:a16="http://schemas.microsoft.com/office/drawing/2014/main" id="{AC240920-3DC1-2BED-3034-C0B326D5E890}"/>
              </a:ext>
            </a:extLst>
          </p:cNvPr>
          <p:cNvCxnSpPr>
            <a:cxnSpLocks/>
            <a:stCxn id="3" idx="7"/>
            <a:endCxn id="2" idx="1"/>
          </p:cNvCxnSpPr>
          <p:nvPr/>
        </p:nvCxnSpPr>
        <p:spPr>
          <a:xfrm flipV="1">
            <a:off x="3480967" y="4503111"/>
            <a:ext cx="133563" cy="227994"/>
          </a:xfrm>
          <a:prstGeom prst="straightConnector1">
            <a:avLst/>
          </a:prstGeom>
          <a:ln w="28575">
            <a:tailEnd type="triangle"/>
          </a:ln>
        </p:spPr>
        <p:style>
          <a:lnRef idx="3">
            <a:schemeClr val="accent2"/>
          </a:lnRef>
          <a:fillRef idx="0">
            <a:schemeClr val="accent2"/>
          </a:fillRef>
          <a:effectRef idx="2">
            <a:schemeClr val="accent2"/>
          </a:effectRef>
          <a:fontRef idx="minor">
            <a:schemeClr val="tx1"/>
          </a:fontRef>
        </p:style>
      </p:cxnSp>
      <mc:AlternateContent xmlns:mc="http://schemas.openxmlformats.org/markup-compatibility/2006" xmlns:a14="http://schemas.microsoft.com/office/drawing/2010/main">
        <mc:Choice Requires="a14">
          <p:sp>
            <p:nvSpPr>
              <p:cNvPr id="5" name="TextBox 4">
                <a:extLst>
                  <a:ext uri="{FF2B5EF4-FFF2-40B4-BE49-F238E27FC236}">
                    <a16:creationId xmlns:a16="http://schemas.microsoft.com/office/drawing/2014/main" id="{DD2D845A-90C6-5CAF-F223-B8BAC2392F95}"/>
                  </a:ext>
                </a:extLst>
              </p:cNvPr>
              <p:cNvSpPr txBox="1"/>
              <p:nvPr/>
            </p:nvSpPr>
            <p:spPr>
              <a:xfrm>
                <a:off x="5281466" y="5771798"/>
                <a:ext cx="3784740" cy="972702"/>
              </a:xfrm>
              <a:prstGeom prst="rect">
                <a:avLst/>
              </a:prstGeom>
            </p:spPr>
            <p:style>
              <a:lnRef idx="2">
                <a:schemeClr val="accent2"/>
              </a:lnRef>
              <a:fillRef idx="1">
                <a:schemeClr val="lt1"/>
              </a:fillRef>
              <a:effectRef idx="0">
                <a:schemeClr val="accent2"/>
              </a:effectRef>
              <a:fontRef idx="minor">
                <a:schemeClr val="dk1"/>
              </a:fontRef>
            </p:style>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𝑎</m:t>
                          </m:r>
                        </m:e>
                        <m:sub>
                          <m:r>
                            <a:rPr lang="en-US" b="0" i="1" smtClean="0">
                              <a:latin typeface="Cambria Math" panose="02040503050406030204" pitchFamily="18" charset="0"/>
                            </a:rPr>
                            <m:t>𝑖</m:t>
                          </m:r>
                        </m:sub>
                      </m:sSub>
                      <m:r>
                        <a:rPr lang="en-US" b="0" i="1" smtClean="0">
                          <a:latin typeface="Cambria Math" panose="02040503050406030204" pitchFamily="18" charset="0"/>
                        </a:rPr>
                        <m:t>=</m:t>
                      </m:r>
                      <m:func>
                        <m:funcPr>
                          <m:ctrlPr>
                            <a:rPr lang="en-US" b="0" i="1" smtClean="0">
                              <a:latin typeface="Cambria Math" panose="02040503050406030204" pitchFamily="18" charset="0"/>
                            </a:rPr>
                          </m:ctrlPr>
                        </m:funcPr>
                        <m:fName>
                          <m:sSub>
                            <m:sSubPr>
                              <m:ctrlPr>
                                <a:rPr lang="en-US" b="0" i="1" smtClean="0">
                                  <a:latin typeface="Cambria Math" panose="02040503050406030204" pitchFamily="18" charset="0"/>
                                  <a:ea typeface="Cambria Math" panose="02040503050406030204" pitchFamily="18" charset="0"/>
                                </a:rPr>
                              </m:ctrlPr>
                            </m:sSubPr>
                            <m:e>
                              <m:r>
                                <m:rPr>
                                  <m:sty m:val="p"/>
                                </m:rPr>
                                <a:rPr lang="en-US" b="0" i="0" smtClean="0">
                                  <a:latin typeface="Cambria Math" panose="02040503050406030204" pitchFamily="18" charset="0"/>
                                  <a:ea typeface="Cambria Math" panose="02040503050406030204" pitchFamily="18" charset="0"/>
                                </a:rPr>
                                <m:t>argmin</m:t>
                              </m:r>
                            </m:e>
                            <m:sub>
                              <m:sSub>
                                <m:sSubPr>
                                  <m:ctrlPr>
                                    <a:rPr lang="en-US" b="0" i="1" smtClean="0">
                                      <a:latin typeface="Cambria Math" panose="02040503050406030204" pitchFamily="18" charset="0"/>
                                      <a:ea typeface="Cambria Math" panose="02040503050406030204" pitchFamily="18" charset="0"/>
                                    </a:rPr>
                                  </m:ctrlPr>
                                </m:sSubPr>
                                <m:e>
                                  <m:r>
                                    <a:rPr lang="en-US" b="0" i="1" smtClean="0">
                                      <a:latin typeface="Cambria Math" panose="02040503050406030204" pitchFamily="18" charset="0"/>
                                      <a:ea typeface="Cambria Math" panose="02040503050406030204" pitchFamily="18" charset="0"/>
                                    </a:rPr>
                                    <m:t>𝑎</m:t>
                                  </m:r>
                                </m:e>
                                <m:sub>
                                  <m:r>
                                    <a:rPr lang="en-US" b="0" i="1" smtClean="0">
                                      <a:latin typeface="Cambria Math" panose="02040503050406030204" pitchFamily="18" charset="0"/>
                                      <a:ea typeface="Cambria Math" panose="02040503050406030204" pitchFamily="18" charset="0"/>
                                    </a:rPr>
                                    <m:t>𝑖</m:t>
                                  </m:r>
                                </m:sub>
                              </m:sSub>
                              <m:r>
                                <a:rPr lang="en-US" b="0" i="1" smtClean="0">
                                  <a:latin typeface="Cambria Math" panose="02040503050406030204" pitchFamily="18" charset="0"/>
                                  <a:ea typeface="Cambria Math" panose="02040503050406030204" pitchFamily="18" charset="0"/>
                                </a:rPr>
                                <m:t>∈</m:t>
                              </m:r>
                              <m:r>
                                <m:rPr>
                                  <m:sty m:val="p"/>
                                </m:rPr>
                                <a:rPr lang="en-US" b="0" i="0" smtClean="0">
                                  <a:latin typeface="Cambria Math" panose="02040503050406030204" pitchFamily="18" charset="0"/>
                                  <a:ea typeface="Cambria Math" panose="02040503050406030204" pitchFamily="18" charset="0"/>
                                </a:rPr>
                                <m:t>A</m:t>
                              </m:r>
                            </m:sub>
                          </m:sSub>
                        </m:fName>
                        <m:e>
                          <m:d>
                            <m:dPr>
                              <m:begChr m:val="["/>
                              <m:endChr m:val="]"/>
                              <m:ctrlPr>
                                <a:rPr lang="en-US" i="1">
                                  <a:latin typeface="Cambria Math" panose="02040503050406030204" pitchFamily="18" charset="0"/>
                                  <a:ea typeface="Cambria Math" panose="02040503050406030204" pitchFamily="18" charset="0"/>
                                </a:rPr>
                              </m:ctrlPr>
                            </m:dPr>
                            <m:e>
                              <m:nary>
                                <m:naryPr>
                                  <m:chr m:val="∑"/>
                                  <m:ctrlPr>
                                    <a:rPr lang="en-US" i="1">
                                      <a:latin typeface="Cambria Math" panose="02040503050406030204" pitchFamily="18" charset="0"/>
                                    </a:rPr>
                                  </m:ctrlPr>
                                </m:naryPr>
                                <m:sub>
                                  <m:r>
                                    <m:rPr>
                                      <m:brk m:alnAt="23"/>
                                    </m:rPr>
                                    <a:rPr lang="en-US" i="1">
                                      <a:latin typeface="Cambria Math" panose="02040503050406030204" pitchFamily="18" charset="0"/>
                                    </a:rPr>
                                    <m:t>𝑡</m:t>
                                  </m:r>
                                  <m:r>
                                    <a:rPr lang="en-US" i="1">
                                      <a:latin typeface="Cambria Math" panose="02040503050406030204" pitchFamily="18" charset="0"/>
                                    </a:rPr>
                                    <m:t>=</m:t>
                                  </m:r>
                                  <m:r>
                                    <a:rPr lang="en-US" b="0" i="1" smtClean="0">
                                      <a:latin typeface="Cambria Math" panose="02040503050406030204" pitchFamily="18" charset="0"/>
                                    </a:rPr>
                                    <m:t>𝑖</m:t>
                                  </m:r>
                                </m:sub>
                                <m:sup>
                                  <m:r>
                                    <a:rPr lang="en-US" i="1">
                                      <a:latin typeface="Cambria Math" panose="02040503050406030204" pitchFamily="18" charset="0"/>
                                    </a:rPr>
                                    <m:t>𝑇</m:t>
                                  </m:r>
                                </m:sup>
                                <m:e>
                                  <m:sSub>
                                    <m:sSubPr>
                                      <m:ctrlPr>
                                        <a:rPr lang="en-US" i="1">
                                          <a:latin typeface="Cambria Math" panose="02040503050406030204" pitchFamily="18" charset="0"/>
                                        </a:rPr>
                                      </m:ctrlPr>
                                    </m:sSubPr>
                                    <m:e>
                                      <m:r>
                                        <a:rPr lang="en-US" i="1">
                                          <a:latin typeface="Cambria Math" panose="02040503050406030204" pitchFamily="18" charset="0"/>
                                        </a:rPr>
                                        <m:t>𝑐</m:t>
                                      </m:r>
                                    </m:e>
                                    <m:sub>
                                      <m:r>
                                        <a:rPr lang="en-US" b="0" i="1" smtClean="0">
                                          <a:latin typeface="Cambria Math" panose="02040503050406030204" pitchFamily="18" charset="0"/>
                                        </a:rPr>
                                        <m:t>𝑡</m:t>
                                      </m:r>
                                    </m:sub>
                                  </m:sSub>
                                </m:e>
                              </m:nary>
                              <m:d>
                                <m:dPr>
                                  <m:begChr m:val="|"/>
                                  <m:endChr m:val=""/>
                                  <m:ctrlPr>
                                    <a:rPr lang="en-US" i="1" smtClean="0">
                                      <a:latin typeface="Cambria Math" panose="02040503050406030204" pitchFamily="18" charset="0"/>
                                    </a:rPr>
                                  </m:ctrlPr>
                                </m:dPr>
                                <m:e>
                                  <m:sSub>
                                    <m:sSubPr>
                                      <m:ctrlPr>
                                        <a:rPr lang="en-US" i="1">
                                          <a:latin typeface="Cambria Math" panose="02040503050406030204" pitchFamily="18" charset="0"/>
                                        </a:rPr>
                                      </m:ctrlPr>
                                    </m:sSubPr>
                                    <m:e>
                                      <m:r>
                                        <a:rPr lang="en-US" b="0" i="1" smtClean="0">
                                          <a:latin typeface="Cambria Math" panose="02040503050406030204" pitchFamily="18" charset="0"/>
                                        </a:rPr>
                                        <m:t> </m:t>
                                      </m:r>
                                      <m:r>
                                        <a:rPr lang="en-US" i="1">
                                          <a:latin typeface="Cambria Math" panose="02040503050406030204" pitchFamily="18" charset="0"/>
                                        </a:rPr>
                                        <m:t>𝑠</m:t>
                                      </m:r>
                                    </m:e>
                                    <m:sub>
                                      <m:r>
                                        <a:rPr lang="en-US" i="1">
                                          <a:latin typeface="Cambria Math" panose="02040503050406030204" pitchFamily="18" charset="0"/>
                                        </a:rPr>
                                        <m:t>𝑇</m:t>
                                      </m:r>
                                    </m:sub>
                                  </m:sSub>
                                  <m:r>
                                    <a:rPr lang="en-US" i="1">
                                      <a:latin typeface="Cambria Math" panose="02040503050406030204" pitchFamily="18" charset="0"/>
                                    </a:rPr>
                                    <m:t>∈</m:t>
                                  </m:r>
                                  <m:sSup>
                                    <m:sSupPr>
                                      <m:ctrlPr>
                                        <a:rPr lang="en-US" i="1">
                                          <a:latin typeface="Cambria Math" panose="02040503050406030204" pitchFamily="18" charset="0"/>
                                        </a:rPr>
                                      </m:ctrlPr>
                                    </m:sSupPr>
                                    <m:e>
                                      <m:r>
                                        <a:rPr lang="en-US" i="1">
                                          <a:latin typeface="Cambria Math" panose="02040503050406030204" pitchFamily="18" charset="0"/>
                                        </a:rPr>
                                        <m:t>𝑆</m:t>
                                      </m:r>
                                    </m:e>
                                    <m:sup>
                                      <m:r>
                                        <a:rPr lang="en-US" i="1">
                                          <a:latin typeface="Cambria Math" panose="02040503050406030204" pitchFamily="18" charset="0"/>
                                        </a:rPr>
                                        <m:t>𝑔𝑜𝑎𝑙</m:t>
                                      </m:r>
                                    </m:sup>
                                  </m:sSup>
                                </m:e>
                              </m:d>
                            </m:e>
                          </m:d>
                        </m:e>
                      </m:func>
                    </m:oMath>
                  </m:oMathPara>
                </a14:m>
                <a:endParaRPr lang="en-US" dirty="0"/>
              </a:p>
            </p:txBody>
          </p:sp>
        </mc:Choice>
        <mc:Fallback xmlns="">
          <p:sp>
            <p:nvSpPr>
              <p:cNvPr id="5" name="TextBox 4">
                <a:extLst>
                  <a:ext uri="{FF2B5EF4-FFF2-40B4-BE49-F238E27FC236}">
                    <a16:creationId xmlns:a16="http://schemas.microsoft.com/office/drawing/2014/main" id="{DD2D845A-90C6-5CAF-F223-B8BAC2392F95}"/>
                  </a:ext>
                </a:extLst>
              </p:cNvPr>
              <p:cNvSpPr txBox="1">
                <a:spLocks noRot="1" noChangeAspect="1" noMove="1" noResize="1" noEditPoints="1" noAdjustHandles="1" noChangeArrowheads="1" noChangeShapeType="1" noTextEdit="1"/>
              </p:cNvSpPr>
              <p:nvPr/>
            </p:nvSpPr>
            <p:spPr>
              <a:xfrm>
                <a:off x="5281466" y="5771798"/>
                <a:ext cx="3784740" cy="972702"/>
              </a:xfrm>
              <a:prstGeom prst="rect">
                <a:avLst/>
              </a:prstGeom>
              <a:blipFill>
                <a:blip r:embed="rId4"/>
                <a:stretch>
                  <a:fillRect/>
                </a:stretch>
              </a:blipFill>
            </p:spPr>
            <p:txBody>
              <a:bodyPr/>
              <a:lstStyle/>
              <a:p>
                <a:r>
                  <a:rPr lang="en-US">
                    <a:noFill/>
                  </a:rPr>
                  <a:t> </a:t>
                </a:r>
              </a:p>
            </p:txBody>
          </p:sp>
        </mc:Fallback>
      </mc:AlternateContent>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0"/>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1"/>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P spid="10" grpId="0" animBg="1"/>
      <p:bldP spid="11" grpId="0" animBg="1"/>
      <p:bldP spid="12" grpId="0" animBg="1"/>
    </p:bld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80013" y="421028"/>
            <a:ext cx="8229600" cy="1143000"/>
          </a:xfrm>
        </p:spPr>
        <p:txBody>
          <a:bodyPr/>
          <a:lstStyle/>
          <a:p>
            <a:r>
              <a:rPr lang="en-US" dirty="0"/>
              <a:t>Planning for Search Problems</a:t>
            </a:r>
          </a:p>
        </p:txBody>
      </p:sp>
      <p:sp>
        <p:nvSpPr>
          <p:cNvPr id="3" name="Content Placeholder 2"/>
          <p:cNvSpPr>
            <a:spLocks noGrp="1"/>
          </p:cNvSpPr>
          <p:nvPr>
            <p:ph idx="1"/>
          </p:nvPr>
        </p:nvSpPr>
        <p:spPr>
          <a:xfrm>
            <a:off x="438365" y="1893810"/>
            <a:ext cx="4724400" cy="2765196"/>
          </a:xfrm>
        </p:spPr>
        <p:txBody>
          <a:bodyPr>
            <a:normAutofit/>
          </a:bodyPr>
          <a:lstStyle/>
          <a:p>
            <a:pPr>
              <a:lnSpc>
                <a:spcPct val="120000"/>
              </a:lnSpc>
            </a:pPr>
            <a:r>
              <a:rPr lang="en-US" sz="1600" dirty="0"/>
              <a:t>For now, we consider only a discrete environment using an </a:t>
            </a:r>
            <a:r>
              <a:rPr lang="en-US" sz="1600" b="1" dirty="0">
                <a:solidFill>
                  <a:srgbClr val="FF0000"/>
                </a:solidFill>
              </a:rPr>
              <a:t>atomic state representation </a:t>
            </a:r>
            <a:r>
              <a:rPr lang="en-US" sz="1600" dirty="0"/>
              <a:t>(states are just labeled 1, 2, …). </a:t>
            </a:r>
          </a:p>
          <a:p>
            <a:pPr>
              <a:lnSpc>
                <a:spcPct val="120000"/>
              </a:lnSpc>
            </a:pPr>
            <a:r>
              <a:rPr lang="en-US" sz="1600" dirty="0"/>
              <a:t>The </a:t>
            </a:r>
            <a:r>
              <a:rPr lang="en-US" sz="1600" b="1" dirty="0">
                <a:solidFill>
                  <a:srgbClr val="FF0000"/>
                </a:solidFill>
              </a:rPr>
              <a:t>state space </a:t>
            </a:r>
            <a:r>
              <a:rPr lang="en-US" sz="1600" dirty="0"/>
              <a:t>is the set of all possible states of the environment. Some states are marked as </a:t>
            </a:r>
            <a:r>
              <a:rPr lang="en-US" sz="1600" b="1" dirty="0">
                <a:solidFill>
                  <a:srgbClr val="FF0000"/>
                </a:solidFill>
              </a:rPr>
              <a:t>goal states</a:t>
            </a:r>
            <a:r>
              <a:rPr lang="en-US" sz="1600" dirty="0"/>
              <a:t>.</a:t>
            </a:r>
          </a:p>
          <a:p>
            <a:pPr>
              <a:lnSpc>
                <a:spcPct val="120000"/>
              </a:lnSpc>
            </a:pPr>
            <a:r>
              <a:rPr lang="en-US" sz="1600" dirty="0"/>
              <a:t>The </a:t>
            </a:r>
            <a:r>
              <a:rPr lang="en-US" sz="1600" b="1" dirty="0">
                <a:solidFill>
                  <a:srgbClr val="FF0000"/>
                </a:solidFill>
              </a:rPr>
              <a:t>optimal solution </a:t>
            </a:r>
            <a:r>
              <a:rPr lang="en-US" sz="1600" dirty="0"/>
              <a:t>is the sequence of actions (or equivalently, a sequence of states) that gives the lowest path cost for reaching the goal.</a:t>
            </a:r>
          </a:p>
        </p:txBody>
      </p:sp>
      <p:sp>
        <p:nvSpPr>
          <p:cNvPr id="5" name="Down Arrow 4">
            <a:extLst>
              <a:ext uri="{FF2B5EF4-FFF2-40B4-BE49-F238E27FC236}">
                <a16:creationId xmlns:a16="http://schemas.microsoft.com/office/drawing/2014/main" id="{073A3626-0AFF-4DB0-9BD3-AB42694A6ECD}"/>
              </a:ext>
            </a:extLst>
          </p:cNvPr>
          <p:cNvSpPr/>
          <p:nvPr/>
        </p:nvSpPr>
        <p:spPr>
          <a:xfrm>
            <a:off x="5514696" y="1787432"/>
            <a:ext cx="228600" cy="304800"/>
          </a:xfrm>
          <a:prstGeom prst="down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TextBox 5">
            <a:extLst>
              <a:ext uri="{FF2B5EF4-FFF2-40B4-BE49-F238E27FC236}">
                <a16:creationId xmlns:a16="http://schemas.microsoft.com/office/drawing/2014/main" id="{B6B475CD-320D-4BEC-8249-FAB7C36E4220}"/>
              </a:ext>
            </a:extLst>
          </p:cNvPr>
          <p:cNvSpPr txBox="1"/>
          <p:nvPr/>
        </p:nvSpPr>
        <p:spPr>
          <a:xfrm>
            <a:off x="4810833" y="1447800"/>
            <a:ext cx="1483925" cy="369332"/>
          </a:xfrm>
          <a:prstGeom prst="rect">
            <a:avLst/>
          </a:prstGeom>
          <a:noFill/>
        </p:spPr>
        <p:txBody>
          <a:bodyPr wrap="square" rtlCol="0">
            <a:spAutoFit/>
          </a:bodyPr>
          <a:lstStyle/>
          <a:p>
            <a:pPr algn="ctr"/>
            <a:r>
              <a:rPr lang="en-US" dirty="0">
                <a:solidFill>
                  <a:srgbClr val="0070C0"/>
                </a:solidFill>
              </a:rPr>
              <a:t>Initial state</a:t>
            </a:r>
          </a:p>
        </p:txBody>
      </p:sp>
      <p:sp>
        <p:nvSpPr>
          <p:cNvPr id="7" name="Down Arrow 6">
            <a:extLst>
              <a:ext uri="{FF2B5EF4-FFF2-40B4-BE49-F238E27FC236}">
                <a16:creationId xmlns:a16="http://schemas.microsoft.com/office/drawing/2014/main" id="{50D635EB-0989-48D8-A8A1-D3A13DCCAA82}"/>
              </a:ext>
            </a:extLst>
          </p:cNvPr>
          <p:cNvSpPr/>
          <p:nvPr/>
        </p:nvSpPr>
        <p:spPr>
          <a:xfrm rot="5400000">
            <a:off x="8202760" y="4492532"/>
            <a:ext cx="228600" cy="304800"/>
          </a:xfrm>
          <a:prstGeom prst="down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TextBox 7">
            <a:extLst>
              <a:ext uri="{FF2B5EF4-FFF2-40B4-BE49-F238E27FC236}">
                <a16:creationId xmlns:a16="http://schemas.microsoft.com/office/drawing/2014/main" id="{A1210C4A-14C0-45E5-9525-BE6B00C02E6E}"/>
              </a:ext>
            </a:extLst>
          </p:cNvPr>
          <p:cNvSpPr txBox="1"/>
          <p:nvPr/>
        </p:nvSpPr>
        <p:spPr>
          <a:xfrm>
            <a:off x="8475227" y="4341501"/>
            <a:ext cx="668773" cy="646331"/>
          </a:xfrm>
          <a:prstGeom prst="rect">
            <a:avLst/>
          </a:prstGeom>
          <a:noFill/>
        </p:spPr>
        <p:txBody>
          <a:bodyPr wrap="none" rtlCol="0">
            <a:spAutoFit/>
          </a:bodyPr>
          <a:lstStyle/>
          <a:p>
            <a:r>
              <a:rPr lang="en-US" dirty="0">
                <a:solidFill>
                  <a:srgbClr val="0070C0"/>
                </a:solidFill>
              </a:rPr>
              <a:t>Goal </a:t>
            </a:r>
            <a:br>
              <a:rPr lang="en-US" dirty="0">
                <a:solidFill>
                  <a:srgbClr val="0070C0"/>
                </a:solidFill>
              </a:rPr>
            </a:br>
            <a:r>
              <a:rPr lang="en-US" dirty="0">
                <a:solidFill>
                  <a:srgbClr val="0070C0"/>
                </a:solidFill>
              </a:rPr>
              <a:t>state</a:t>
            </a:r>
          </a:p>
        </p:txBody>
      </p:sp>
      <p:pic>
        <p:nvPicPr>
          <p:cNvPr id="9" name="Picture 2">
            <a:extLst>
              <a:ext uri="{FF2B5EF4-FFF2-40B4-BE49-F238E27FC236}">
                <a16:creationId xmlns:a16="http://schemas.microsoft.com/office/drawing/2014/main" id="{115D41D1-098D-4C6D-B23C-D38D3CD0B6F3}"/>
              </a:ext>
            </a:extLst>
          </p:cNvPr>
          <p:cNvPicPr>
            <a:picLocks noChangeAspect="1" noChangeArrowheads="1"/>
          </p:cNvPicPr>
          <p:nvPr/>
        </p:nvPicPr>
        <p:blipFill>
          <a:blip r:embed="rId3" cstate="print">
            <a:extLst>
              <a:ext uri="{BEBA8EAE-BF5A-486C-A8C5-ECC9F3942E4B}">
                <a14:imgProps xmlns:a14="http://schemas.microsoft.com/office/drawing/2010/main">
                  <a14:imgLayer r:embed="rId4">
                    <a14:imgEffect>
                      <a14:artisticPencilSketch/>
                    </a14:imgEffect>
                  </a14:imgLayer>
                </a14:imgProps>
              </a:ext>
            </a:extLst>
          </a:blip>
          <a:srcRect/>
          <a:stretch>
            <a:fillRect/>
          </a:stretch>
        </p:blipFill>
        <p:spPr bwMode="auto">
          <a:xfrm>
            <a:off x="5421460" y="2128858"/>
            <a:ext cx="2667000" cy="2706574"/>
          </a:xfrm>
          <a:prstGeom prst="rect">
            <a:avLst/>
          </a:prstGeom>
          <a:noFill/>
          <a:ln w="9525">
            <a:noFill/>
            <a:miter lim="800000"/>
            <a:headEnd/>
            <a:tailEnd/>
          </a:ln>
        </p:spPr>
      </p:pic>
      <p:sp>
        <p:nvSpPr>
          <p:cNvPr id="10" name="Oval 9">
            <a:extLst>
              <a:ext uri="{FF2B5EF4-FFF2-40B4-BE49-F238E27FC236}">
                <a16:creationId xmlns:a16="http://schemas.microsoft.com/office/drawing/2014/main" id="{763C5F09-DFCB-4B62-A993-0E7C238B344C}"/>
              </a:ext>
            </a:extLst>
          </p:cNvPr>
          <p:cNvSpPr/>
          <p:nvPr/>
        </p:nvSpPr>
        <p:spPr>
          <a:xfrm>
            <a:off x="7951357" y="4530632"/>
            <a:ext cx="152400" cy="152400"/>
          </a:xfrm>
          <a:prstGeom prst="ellipse">
            <a:avLst/>
          </a:prstGeom>
        </p:spPr>
        <p:style>
          <a:lnRef idx="1">
            <a:schemeClr val="accent1"/>
          </a:lnRef>
          <a:fillRef idx="2">
            <a:schemeClr val="accent1"/>
          </a:fillRef>
          <a:effectRef idx="1">
            <a:schemeClr val="accent1"/>
          </a:effectRef>
          <a:fontRef idx="minor">
            <a:schemeClr val="dk1"/>
          </a:fontRef>
        </p:style>
        <p:txBody>
          <a:bodyPr rtlCol="0" anchor="ctr"/>
          <a:lstStyle/>
          <a:p>
            <a:pPr algn="ctr"/>
            <a:r>
              <a:rPr lang="en-US" sz="1200" dirty="0"/>
              <a:t>z</a:t>
            </a:r>
          </a:p>
        </p:txBody>
      </p:sp>
      <p:sp>
        <p:nvSpPr>
          <p:cNvPr id="11" name="Oval 10">
            <a:extLst>
              <a:ext uri="{FF2B5EF4-FFF2-40B4-BE49-F238E27FC236}">
                <a16:creationId xmlns:a16="http://schemas.microsoft.com/office/drawing/2014/main" id="{083E1FD8-D598-4E42-B662-5A00630748E9}"/>
              </a:ext>
            </a:extLst>
          </p:cNvPr>
          <p:cNvSpPr/>
          <p:nvPr/>
        </p:nvSpPr>
        <p:spPr>
          <a:xfrm>
            <a:off x="5558615" y="2128526"/>
            <a:ext cx="152400" cy="152400"/>
          </a:xfrm>
          <a:prstGeom prst="ellipse">
            <a:avLst/>
          </a:prstGeom>
        </p:spPr>
        <p:style>
          <a:lnRef idx="1">
            <a:schemeClr val="accent1"/>
          </a:lnRef>
          <a:fillRef idx="2">
            <a:schemeClr val="accent1"/>
          </a:fillRef>
          <a:effectRef idx="1">
            <a:schemeClr val="accent1"/>
          </a:effectRef>
          <a:fontRef idx="minor">
            <a:schemeClr val="dk1"/>
          </a:fontRef>
        </p:style>
        <p:txBody>
          <a:bodyPr rtlCol="0" anchor="ctr"/>
          <a:lstStyle/>
          <a:p>
            <a:pPr algn="ctr"/>
            <a:r>
              <a:rPr lang="en-US" sz="1400" dirty="0"/>
              <a:t>1</a:t>
            </a:r>
          </a:p>
        </p:txBody>
      </p:sp>
      <p:sp>
        <p:nvSpPr>
          <p:cNvPr id="18" name="Rectangle 17">
            <a:extLst>
              <a:ext uri="{FF2B5EF4-FFF2-40B4-BE49-F238E27FC236}">
                <a16:creationId xmlns:a16="http://schemas.microsoft.com/office/drawing/2014/main" id="{45F34364-3894-46B7-9BF7-13C4B30D6779}"/>
              </a:ext>
            </a:extLst>
          </p:cNvPr>
          <p:cNvSpPr/>
          <p:nvPr/>
        </p:nvSpPr>
        <p:spPr>
          <a:xfrm>
            <a:off x="457200" y="4800600"/>
            <a:ext cx="8077200" cy="1549911"/>
          </a:xfrm>
          <a:prstGeom prst="rect">
            <a:avLst/>
          </a:prstGeom>
        </p:spPr>
        <p:txBody>
          <a:bodyPr wrap="square">
            <a:spAutoFit/>
          </a:bodyPr>
          <a:lstStyle/>
          <a:p>
            <a:pPr>
              <a:lnSpc>
                <a:spcPct val="120000"/>
              </a:lnSpc>
            </a:pPr>
            <a:r>
              <a:rPr lang="en-US" sz="1600" b="1" dirty="0"/>
              <a:t>Phases:</a:t>
            </a:r>
          </a:p>
          <a:p>
            <a:pPr marL="342900" indent="-342900">
              <a:lnSpc>
                <a:spcPct val="120000"/>
              </a:lnSpc>
              <a:buFont typeface="+mj-lt"/>
              <a:buAutoNum type="arabicParenR"/>
            </a:pPr>
            <a:r>
              <a:rPr lang="en-US" sz="1600" b="1" dirty="0"/>
              <a:t>Search/Planning</a:t>
            </a:r>
            <a:r>
              <a:rPr lang="en-US" sz="1600" dirty="0"/>
              <a:t>: the process of looking for the </a:t>
            </a:r>
            <a:r>
              <a:rPr lang="en-US" sz="1600" b="1" dirty="0">
                <a:solidFill>
                  <a:srgbClr val="FF0000"/>
                </a:solidFill>
              </a:rPr>
              <a:t>sequence of actions</a:t>
            </a:r>
            <a:r>
              <a:rPr lang="en-US" sz="1600" dirty="0"/>
              <a:t> that reaches a goal state. Requires that the agent knows what happens when it moves!</a:t>
            </a:r>
            <a:endParaRPr lang="en-US" sz="1600" b="1" dirty="0"/>
          </a:p>
          <a:p>
            <a:pPr marL="342900" indent="-342900">
              <a:lnSpc>
                <a:spcPct val="120000"/>
              </a:lnSpc>
              <a:buFont typeface="+mj-lt"/>
              <a:buAutoNum type="arabicParenR"/>
            </a:pPr>
            <a:r>
              <a:rPr lang="en-US" sz="1600" b="1" dirty="0"/>
              <a:t>Execution</a:t>
            </a:r>
            <a:r>
              <a:rPr lang="en-US" sz="1600" dirty="0"/>
              <a:t>: Once the agent begins executing the search solution in a deterministic, known environment, it can ignore its percepts (</a:t>
            </a:r>
            <a:r>
              <a:rPr lang="en-US" sz="1600" b="1" dirty="0">
                <a:solidFill>
                  <a:srgbClr val="FF0000"/>
                </a:solidFill>
              </a:rPr>
              <a:t>open-loop system</a:t>
            </a:r>
            <a:r>
              <a:rPr lang="en-US" sz="1600" dirty="0"/>
              <a:t>).</a:t>
            </a:r>
          </a:p>
        </p:txBody>
      </p:sp>
      <p:sp>
        <p:nvSpPr>
          <p:cNvPr id="35" name="Freeform: Shape 34">
            <a:extLst>
              <a:ext uri="{FF2B5EF4-FFF2-40B4-BE49-F238E27FC236}">
                <a16:creationId xmlns:a16="http://schemas.microsoft.com/office/drawing/2014/main" id="{E0D0D545-B943-4285-A339-83D7F794D602}"/>
              </a:ext>
            </a:extLst>
          </p:cNvPr>
          <p:cNvSpPr/>
          <p:nvPr/>
        </p:nvSpPr>
        <p:spPr>
          <a:xfrm>
            <a:off x="5596420" y="2321312"/>
            <a:ext cx="2365551" cy="2275128"/>
          </a:xfrm>
          <a:custGeom>
            <a:avLst/>
            <a:gdLst>
              <a:gd name="connsiteX0" fmla="*/ 23795 w 2365551"/>
              <a:gd name="connsiteY0" fmla="*/ 0 h 2275128"/>
              <a:gd name="connsiteX1" fmla="*/ 34946 w 2365551"/>
              <a:gd name="connsiteY1" fmla="*/ 312234 h 2275128"/>
              <a:gd name="connsiteX2" fmla="*/ 336029 w 2365551"/>
              <a:gd name="connsiteY2" fmla="*/ 66908 h 2275128"/>
              <a:gd name="connsiteX3" fmla="*/ 1150068 w 2365551"/>
              <a:gd name="connsiteY3" fmla="*/ 78059 h 2275128"/>
              <a:gd name="connsiteX4" fmla="*/ 1172370 w 2365551"/>
              <a:gd name="connsiteY4" fmla="*/ 323386 h 2275128"/>
              <a:gd name="connsiteX5" fmla="*/ 2242887 w 2365551"/>
              <a:gd name="connsiteY5" fmla="*/ 334537 h 2275128"/>
              <a:gd name="connsiteX6" fmla="*/ 1997560 w 2365551"/>
              <a:gd name="connsiteY6" fmla="*/ 914400 h 2275128"/>
              <a:gd name="connsiteX7" fmla="*/ 1975258 w 2365551"/>
              <a:gd name="connsiteY7" fmla="*/ 936703 h 2275128"/>
              <a:gd name="connsiteX8" fmla="*/ 1964107 w 2365551"/>
              <a:gd name="connsiteY8" fmla="*/ 1449659 h 2275128"/>
              <a:gd name="connsiteX9" fmla="*/ 1674175 w 2365551"/>
              <a:gd name="connsiteY9" fmla="*/ 1438508 h 2275128"/>
              <a:gd name="connsiteX10" fmla="*/ 1462302 w 2365551"/>
              <a:gd name="connsiteY10" fmla="*/ 613317 h 2275128"/>
              <a:gd name="connsiteX11" fmla="*/ 782078 w 2365551"/>
              <a:gd name="connsiteY11" fmla="*/ 635620 h 2275128"/>
              <a:gd name="connsiteX12" fmla="*/ 770926 w 2365551"/>
              <a:gd name="connsiteY12" fmla="*/ 869795 h 2275128"/>
              <a:gd name="connsiteX13" fmla="*/ 692868 w 2365551"/>
              <a:gd name="connsiteY13" fmla="*/ 880947 h 2275128"/>
              <a:gd name="connsiteX14" fmla="*/ 659414 w 2365551"/>
              <a:gd name="connsiteY14" fmla="*/ 892098 h 2275128"/>
              <a:gd name="connsiteX15" fmla="*/ 625960 w 2365551"/>
              <a:gd name="connsiteY15" fmla="*/ 1471961 h 2275128"/>
              <a:gd name="connsiteX16" fmla="*/ 871287 w 2365551"/>
              <a:gd name="connsiteY16" fmla="*/ 1460810 h 2275128"/>
              <a:gd name="connsiteX17" fmla="*/ 882439 w 2365551"/>
              <a:gd name="connsiteY17" fmla="*/ 1237786 h 2275128"/>
              <a:gd name="connsiteX18" fmla="*/ 1216975 w 2365551"/>
              <a:gd name="connsiteY18" fmla="*/ 1248937 h 2275128"/>
              <a:gd name="connsiteX19" fmla="*/ 1228126 w 2365551"/>
              <a:gd name="connsiteY19" fmla="*/ 2007220 h 2275128"/>
              <a:gd name="connsiteX20" fmla="*/ 1406546 w 2365551"/>
              <a:gd name="connsiteY20" fmla="*/ 1996068 h 2275128"/>
              <a:gd name="connsiteX21" fmla="*/ 1428848 w 2365551"/>
              <a:gd name="connsiteY21" fmla="*/ 1572322 h 2275128"/>
              <a:gd name="connsiteX22" fmla="*/ 1518058 w 2365551"/>
              <a:gd name="connsiteY22" fmla="*/ 1594625 h 2275128"/>
              <a:gd name="connsiteX23" fmla="*/ 1685326 w 2365551"/>
              <a:gd name="connsiteY23" fmla="*/ 1661532 h 2275128"/>
              <a:gd name="connsiteX24" fmla="*/ 2265190 w 2365551"/>
              <a:gd name="connsiteY24" fmla="*/ 1750742 h 2275128"/>
              <a:gd name="connsiteX25" fmla="*/ 2365551 w 2365551"/>
              <a:gd name="connsiteY25" fmla="*/ 2274849 h 227512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Lst>
            <a:rect l="l" t="t" r="r" b="b"/>
            <a:pathLst>
              <a:path w="2365551" h="2275128">
                <a:moveTo>
                  <a:pt x="23795" y="0"/>
                </a:moveTo>
                <a:cubicBezTo>
                  <a:pt x="27512" y="104078"/>
                  <a:pt x="-38695" y="238593"/>
                  <a:pt x="34946" y="312234"/>
                </a:cubicBezTo>
                <a:cubicBezTo>
                  <a:pt x="385596" y="662884"/>
                  <a:pt x="334314" y="102925"/>
                  <a:pt x="336029" y="66908"/>
                </a:cubicBezTo>
                <a:cubicBezTo>
                  <a:pt x="607375" y="70625"/>
                  <a:pt x="890622" y="-1505"/>
                  <a:pt x="1150068" y="78059"/>
                </a:cubicBezTo>
                <a:cubicBezTo>
                  <a:pt x="1228572" y="102134"/>
                  <a:pt x="1092429" y="304624"/>
                  <a:pt x="1172370" y="323386"/>
                </a:cubicBezTo>
                <a:cubicBezTo>
                  <a:pt x="1519788" y="404923"/>
                  <a:pt x="1886048" y="330820"/>
                  <a:pt x="2242887" y="334537"/>
                </a:cubicBezTo>
                <a:cubicBezTo>
                  <a:pt x="2228259" y="1139118"/>
                  <a:pt x="2434942" y="933416"/>
                  <a:pt x="1997560" y="914400"/>
                </a:cubicBezTo>
                <a:cubicBezTo>
                  <a:pt x="1987056" y="913943"/>
                  <a:pt x="1982692" y="929269"/>
                  <a:pt x="1975258" y="936703"/>
                </a:cubicBezTo>
                <a:cubicBezTo>
                  <a:pt x="1971541" y="1107688"/>
                  <a:pt x="2052099" y="1303006"/>
                  <a:pt x="1964107" y="1449659"/>
                </a:cubicBezTo>
                <a:cubicBezTo>
                  <a:pt x="1914347" y="1532592"/>
                  <a:pt x="1710542" y="1528126"/>
                  <a:pt x="1674175" y="1438508"/>
                </a:cubicBezTo>
                <a:cubicBezTo>
                  <a:pt x="1287360" y="485286"/>
                  <a:pt x="1986401" y="798295"/>
                  <a:pt x="1462302" y="613317"/>
                </a:cubicBezTo>
                <a:cubicBezTo>
                  <a:pt x="1235561" y="620751"/>
                  <a:pt x="994777" y="556715"/>
                  <a:pt x="782078" y="635620"/>
                </a:cubicBezTo>
                <a:cubicBezTo>
                  <a:pt x="708810" y="662800"/>
                  <a:pt x="797632" y="796353"/>
                  <a:pt x="770926" y="869795"/>
                </a:cubicBezTo>
                <a:cubicBezTo>
                  <a:pt x="761944" y="894496"/>
                  <a:pt x="718887" y="877230"/>
                  <a:pt x="692868" y="880947"/>
                </a:cubicBezTo>
                <a:cubicBezTo>
                  <a:pt x="681717" y="884664"/>
                  <a:pt x="670420" y="887971"/>
                  <a:pt x="659414" y="892098"/>
                </a:cubicBezTo>
                <a:cubicBezTo>
                  <a:pt x="430734" y="977851"/>
                  <a:pt x="604950" y="946689"/>
                  <a:pt x="625960" y="1471961"/>
                </a:cubicBezTo>
                <a:cubicBezTo>
                  <a:pt x="707736" y="1468244"/>
                  <a:pt x="810834" y="1516006"/>
                  <a:pt x="871287" y="1460810"/>
                </a:cubicBezTo>
                <a:cubicBezTo>
                  <a:pt x="926256" y="1410621"/>
                  <a:pt x="818976" y="1276682"/>
                  <a:pt x="882439" y="1237786"/>
                </a:cubicBezTo>
                <a:cubicBezTo>
                  <a:pt x="977567" y="1179482"/>
                  <a:pt x="1105463" y="1245220"/>
                  <a:pt x="1216975" y="1248937"/>
                </a:cubicBezTo>
                <a:cubicBezTo>
                  <a:pt x="1220692" y="1501698"/>
                  <a:pt x="1165956" y="1762196"/>
                  <a:pt x="1228126" y="2007220"/>
                </a:cubicBezTo>
                <a:cubicBezTo>
                  <a:pt x="1242781" y="2064979"/>
                  <a:pt x="1381575" y="2050173"/>
                  <a:pt x="1406546" y="1996068"/>
                </a:cubicBezTo>
                <a:cubicBezTo>
                  <a:pt x="1465819" y="1867642"/>
                  <a:pt x="1421414" y="1713571"/>
                  <a:pt x="1428848" y="1572322"/>
                </a:cubicBezTo>
                <a:cubicBezTo>
                  <a:pt x="1458585" y="1579756"/>
                  <a:pt x="1489449" y="1583622"/>
                  <a:pt x="1518058" y="1594625"/>
                </a:cubicBezTo>
                <a:cubicBezTo>
                  <a:pt x="1655933" y="1647654"/>
                  <a:pt x="1465602" y="1622549"/>
                  <a:pt x="1685326" y="1661532"/>
                </a:cubicBezTo>
                <a:cubicBezTo>
                  <a:pt x="1877881" y="1695695"/>
                  <a:pt x="2071902" y="1721005"/>
                  <a:pt x="2265190" y="1750742"/>
                </a:cubicBezTo>
                <a:cubicBezTo>
                  <a:pt x="2276974" y="2304579"/>
                  <a:pt x="2101599" y="2274849"/>
                  <a:pt x="2365551" y="2274849"/>
                </a:cubicBezTo>
              </a:path>
            </a:pathLst>
          </a:custGeom>
        </p:spPr>
        <p:style>
          <a:lnRef idx="3">
            <a:schemeClr val="accent2"/>
          </a:lnRef>
          <a:fillRef idx="0">
            <a:schemeClr val="accent2"/>
          </a:fillRef>
          <a:effectRef idx="2">
            <a:schemeClr val="accent2"/>
          </a:effectRef>
          <a:fontRef idx="minor">
            <a:schemeClr val="tx1"/>
          </a:fontRef>
        </p:style>
        <p:txBody>
          <a:bodyPr rtlCol="0" anchor="ctr"/>
          <a:lstStyle/>
          <a:p>
            <a:pPr algn="ctr"/>
            <a:endParaRPr lang="en-US"/>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grpId="0" nodeType="with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1"/>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10"/>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8"/>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3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10" grpId="0" animBg="1"/>
      <p:bldP spid="11" grpId="0" animBg="1"/>
      <p:bldP spid="18" grpId="0"/>
      <p:bldP spid="35" grpId="0" animBg="1"/>
    </p:bld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7" name="Picture 2">
            <a:extLst>
              <a:ext uri="{FF2B5EF4-FFF2-40B4-BE49-F238E27FC236}">
                <a16:creationId xmlns:a16="http://schemas.microsoft.com/office/drawing/2014/main" id="{BB2C9399-489E-4F3C-BA01-A07DCA723D38}"/>
              </a:ext>
            </a:extLst>
          </p:cNvPr>
          <p:cNvPicPr>
            <a:picLocks noChangeAspect="1" noChangeArrowheads="1"/>
          </p:cNvPicPr>
          <p:nvPr/>
        </p:nvPicPr>
        <p:blipFill>
          <a:blip r:embed="rId3" cstate="print">
            <a:extLst>
              <a:ext uri="{BEBA8EAE-BF5A-486C-A8C5-ECC9F3942E4B}">
                <a14:imgProps xmlns:a14="http://schemas.microsoft.com/office/drawing/2010/main">
                  <a14:imgLayer r:embed="rId4">
                    <a14:imgEffect>
                      <a14:artisticPencilSketch/>
                    </a14:imgEffect>
                  </a14:imgLayer>
                </a14:imgProps>
              </a:ext>
            </a:extLst>
          </a:blip>
          <a:srcRect/>
          <a:stretch>
            <a:fillRect/>
          </a:stretch>
        </p:blipFill>
        <p:spPr bwMode="auto">
          <a:xfrm>
            <a:off x="5421460" y="2133600"/>
            <a:ext cx="2667000" cy="2706574"/>
          </a:xfrm>
          <a:prstGeom prst="rect">
            <a:avLst/>
          </a:prstGeom>
          <a:noFill/>
          <a:ln w="9525">
            <a:noFill/>
            <a:miter lim="800000"/>
            <a:headEnd/>
            <a:tailEnd/>
          </a:ln>
        </p:spPr>
      </p:pic>
      <p:sp>
        <p:nvSpPr>
          <p:cNvPr id="2" name="Title 1"/>
          <p:cNvSpPr>
            <a:spLocks noGrp="1"/>
          </p:cNvSpPr>
          <p:nvPr>
            <p:ph type="title"/>
          </p:nvPr>
        </p:nvSpPr>
        <p:spPr/>
        <p:txBody>
          <a:bodyPr/>
          <a:lstStyle/>
          <a:p>
            <a:r>
              <a:rPr lang="en-US" dirty="0"/>
              <a:t>Definition of a Search Problem</a:t>
            </a: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670689" y="2172243"/>
                <a:ext cx="4508847" cy="2722802"/>
              </a:xfrm>
            </p:spPr>
            <p:txBody>
              <a:bodyPr>
                <a:normAutofit lnSpcReduction="10000"/>
              </a:bodyPr>
              <a:lstStyle/>
              <a:p>
                <a:r>
                  <a:rPr lang="en-US" sz="2400" b="1" dirty="0">
                    <a:solidFill>
                      <a:srgbClr val="FF0000"/>
                    </a:solidFill>
                  </a:rPr>
                  <a:t>Initial state: </a:t>
                </a:r>
                <a:r>
                  <a:rPr lang="en-US" dirty="0"/>
                  <a:t>state description</a:t>
                </a:r>
                <a:endParaRPr lang="en-US" sz="2400" b="1" dirty="0">
                  <a:solidFill>
                    <a:srgbClr val="CC0099"/>
                  </a:solidFill>
                </a:endParaRPr>
              </a:p>
              <a:p>
                <a:r>
                  <a:rPr lang="en-US" sz="2400" b="1" dirty="0">
                    <a:solidFill>
                      <a:srgbClr val="FF0000"/>
                    </a:solidFill>
                  </a:rPr>
                  <a:t>Actions: </a:t>
                </a:r>
                <a:r>
                  <a:rPr lang="en-US" dirty="0"/>
                  <a:t>set of possible actions </a:t>
                </a:r>
                <a14:m>
                  <m:oMath xmlns:m="http://schemas.openxmlformats.org/officeDocument/2006/math">
                    <m:r>
                      <a:rPr lang="en-US" b="0" i="1" smtClean="0">
                        <a:latin typeface="Cambria Math" panose="02040503050406030204" pitchFamily="18" charset="0"/>
                      </a:rPr>
                      <m:t>𝐴</m:t>
                    </m:r>
                  </m:oMath>
                </a14:m>
                <a:endParaRPr lang="en-US" dirty="0"/>
              </a:p>
              <a:p>
                <a:r>
                  <a:rPr lang="en-US" sz="2400" b="1" dirty="0">
                    <a:solidFill>
                      <a:srgbClr val="FF0000"/>
                    </a:solidFill>
                  </a:rPr>
                  <a:t>Transition model: </a:t>
                </a:r>
                <a:r>
                  <a:rPr lang="en-US" sz="2000" dirty="0"/>
                  <a:t>a function that defines the new state resulting from performing an action in the current state</a:t>
                </a:r>
              </a:p>
              <a:p>
                <a:r>
                  <a:rPr lang="en-US" sz="2400" b="1" dirty="0">
                    <a:solidFill>
                      <a:srgbClr val="FF0000"/>
                    </a:solidFill>
                  </a:rPr>
                  <a:t>Goal state: </a:t>
                </a:r>
                <a:r>
                  <a:rPr lang="en-US" dirty="0"/>
                  <a:t>state description</a:t>
                </a:r>
                <a:endParaRPr lang="en-US" sz="2400" b="1" dirty="0">
                  <a:solidFill>
                    <a:srgbClr val="CC0099"/>
                  </a:solidFill>
                </a:endParaRPr>
              </a:p>
              <a:p>
                <a:r>
                  <a:rPr lang="en-US" sz="2400" b="1" dirty="0">
                    <a:solidFill>
                      <a:srgbClr val="FF0000"/>
                    </a:solidFill>
                  </a:rPr>
                  <a:t>Path cost: </a:t>
                </a:r>
                <a:r>
                  <a:rPr lang="en-US" sz="2000" dirty="0"/>
                  <a:t>the sum of </a:t>
                </a:r>
                <a:r>
                  <a:rPr lang="en-US" sz="2000" i="1" dirty="0"/>
                  <a:t>step costs</a:t>
                </a:r>
                <a:endParaRPr lang="en-US" sz="2000" dirty="0"/>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670689" y="2172243"/>
                <a:ext cx="4508847" cy="2722802"/>
              </a:xfrm>
              <a:blipFill>
                <a:blip r:embed="rId5"/>
                <a:stretch>
                  <a:fillRect l="-1757" t="-4251" b="-4251"/>
                </a:stretch>
              </a:blipFill>
            </p:spPr>
            <p:txBody>
              <a:bodyPr/>
              <a:lstStyle/>
              <a:p>
                <a:r>
                  <a:rPr lang="en-US">
                    <a:noFill/>
                  </a:rPr>
                  <a:t> </a:t>
                </a:r>
              </a:p>
            </p:txBody>
          </p:sp>
        </mc:Fallback>
      </mc:AlternateContent>
      <p:sp>
        <p:nvSpPr>
          <p:cNvPr id="11" name="Rectangle 10">
            <a:extLst>
              <a:ext uri="{FF2B5EF4-FFF2-40B4-BE49-F238E27FC236}">
                <a16:creationId xmlns:a16="http://schemas.microsoft.com/office/drawing/2014/main" id="{FF089EAF-5603-4020-A011-DB456AC78F44}"/>
              </a:ext>
            </a:extLst>
          </p:cNvPr>
          <p:cNvSpPr/>
          <p:nvPr/>
        </p:nvSpPr>
        <p:spPr>
          <a:xfrm>
            <a:off x="628650" y="5492564"/>
            <a:ext cx="8153400" cy="923330"/>
          </a:xfrm>
          <a:prstGeom prst="rect">
            <a:avLst/>
          </a:prstGeom>
        </p:spPr>
        <p:txBody>
          <a:bodyPr wrap="square">
            <a:spAutoFit/>
          </a:bodyPr>
          <a:lstStyle/>
          <a:p>
            <a:r>
              <a:rPr lang="en-US" b="1" dirty="0"/>
              <a:t>Important</a:t>
            </a:r>
            <a:r>
              <a:rPr lang="en-US" dirty="0"/>
              <a:t>: The</a:t>
            </a:r>
            <a:r>
              <a:rPr lang="en-US" b="1" dirty="0"/>
              <a:t> </a:t>
            </a:r>
            <a:r>
              <a:rPr lang="en-US" b="1" dirty="0">
                <a:solidFill>
                  <a:srgbClr val="FF0000"/>
                </a:solidFill>
              </a:rPr>
              <a:t>state space </a:t>
            </a:r>
            <a:r>
              <a:rPr lang="en-US" dirty="0"/>
              <a:t>is typically too large to </a:t>
            </a:r>
            <a:r>
              <a:rPr lang="en-US"/>
              <a:t>be enumerated, </a:t>
            </a:r>
            <a:r>
              <a:rPr lang="en-US" dirty="0"/>
              <a:t>or it is continuous. Therefore, the problem is defined by initial state, actions and the transition model and not the set of all possible states.</a:t>
            </a:r>
          </a:p>
        </p:txBody>
      </p:sp>
      <p:sp>
        <p:nvSpPr>
          <p:cNvPr id="20" name="Oval 19">
            <a:extLst>
              <a:ext uri="{FF2B5EF4-FFF2-40B4-BE49-F238E27FC236}">
                <a16:creationId xmlns:a16="http://schemas.microsoft.com/office/drawing/2014/main" id="{631C85B5-5EBA-401A-B072-48103AE4F82C}"/>
              </a:ext>
            </a:extLst>
          </p:cNvPr>
          <p:cNvSpPr/>
          <p:nvPr/>
        </p:nvSpPr>
        <p:spPr>
          <a:xfrm>
            <a:off x="6414984" y="2259763"/>
            <a:ext cx="152400" cy="152400"/>
          </a:xfrm>
          <a:prstGeom prst="ellipse">
            <a:avLst/>
          </a:prstGeom>
        </p:spPr>
        <p:style>
          <a:lnRef idx="1">
            <a:schemeClr val="accent1"/>
          </a:lnRef>
          <a:fillRef idx="2">
            <a:schemeClr val="accent1"/>
          </a:fillRef>
          <a:effectRef idx="1">
            <a:schemeClr val="accent1"/>
          </a:effectRef>
          <a:fontRef idx="minor">
            <a:schemeClr val="dk1"/>
          </a:fontRef>
        </p:style>
        <p:txBody>
          <a:bodyPr rtlCol="0" anchor="ctr"/>
          <a:lstStyle/>
          <a:p>
            <a:pPr algn="ctr"/>
            <a:r>
              <a:rPr lang="en-US" sz="1400" dirty="0"/>
              <a:t>g</a:t>
            </a:r>
          </a:p>
        </p:txBody>
      </p:sp>
      <p:cxnSp>
        <p:nvCxnSpPr>
          <p:cNvPr id="23" name="Straight Arrow Connector 22">
            <a:extLst>
              <a:ext uri="{FF2B5EF4-FFF2-40B4-BE49-F238E27FC236}">
                <a16:creationId xmlns:a16="http://schemas.microsoft.com/office/drawing/2014/main" id="{A5906607-DFD0-4CA7-A1C8-A23F69CF93E6}"/>
              </a:ext>
            </a:extLst>
          </p:cNvPr>
          <p:cNvCxnSpPr>
            <a:cxnSpLocks/>
          </p:cNvCxnSpPr>
          <p:nvPr/>
        </p:nvCxnSpPr>
        <p:spPr>
          <a:xfrm>
            <a:off x="5922537" y="3258332"/>
            <a:ext cx="0" cy="15240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25" name="Oval 24">
            <a:extLst>
              <a:ext uri="{FF2B5EF4-FFF2-40B4-BE49-F238E27FC236}">
                <a16:creationId xmlns:a16="http://schemas.microsoft.com/office/drawing/2014/main" id="{3C7DA1FB-0A25-44FA-821F-8ADD503ABA32}"/>
              </a:ext>
            </a:extLst>
          </p:cNvPr>
          <p:cNvSpPr/>
          <p:nvPr/>
        </p:nvSpPr>
        <p:spPr>
          <a:xfrm>
            <a:off x="6676013" y="2281768"/>
            <a:ext cx="152400" cy="152400"/>
          </a:xfrm>
          <a:prstGeom prst="ellipse">
            <a:avLst/>
          </a:prstGeom>
        </p:spPr>
        <p:style>
          <a:lnRef idx="1">
            <a:schemeClr val="accent1"/>
          </a:lnRef>
          <a:fillRef idx="2">
            <a:schemeClr val="accent1"/>
          </a:fillRef>
          <a:effectRef idx="1">
            <a:schemeClr val="accent1"/>
          </a:effectRef>
          <a:fontRef idx="minor">
            <a:schemeClr val="dk1"/>
          </a:fontRef>
        </p:style>
        <p:txBody>
          <a:bodyPr rtlCol="0" anchor="ctr"/>
          <a:lstStyle/>
          <a:p>
            <a:pPr algn="ctr"/>
            <a:r>
              <a:rPr lang="en-US" sz="1400" dirty="0" err="1"/>
              <a:t>i</a:t>
            </a:r>
            <a:endParaRPr lang="en-US" sz="1400" dirty="0"/>
          </a:p>
        </p:txBody>
      </p:sp>
      <p:grpSp>
        <p:nvGrpSpPr>
          <p:cNvPr id="6" name="Group 5">
            <a:extLst>
              <a:ext uri="{FF2B5EF4-FFF2-40B4-BE49-F238E27FC236}">
                <a16:creationId xmlns:a16="http://schemas.microsoft.com/office/drawing/2014/main" id="{7E3F831D-7D4F-3B99-3CF0-D67BC5383826}"/>
              </a:ext>
            </a:extLst>
          </p:cNvPr>
          <p:cNvGrpSpPr/>
          <p:nvPr/>
        </p:nvGrpSpPr>
        <p:grpSpPr>
          <a:xfrm>
            <a:off x="6612532" y="1737879"/>
            <a:ext cx="1459863" cy="369332"/>
            <a:chOff x="6759181" y="1447800"/>
            <a:chExt cx="1459863" cy="369332"/>
          </a:xfrm>
        </p:grpSpPr>
        <p:cxnSp>
          <p:nvCxnSpPr>
            <p:cNvPr id="22" name="Straight Arrow Connector 21">
              <a:extLst>
                <a:ext uri="{FF2B5EF4-FFF2-40B4-BE49-F238E27FC236}">
                  <a16:creationId xmlns:a16="http://schemas.microsoft.com/office/drawing/2014/main" id="{65673889-0999-4224-AE70-F37A3481AF62}"/>
                </a:ext>
              </a:extLst>
            </p:cNvPr>
            <p:cNvCxnSpPr>
              <a:cxnSpLocks/>
            </p:cNvCxnSpPr>
            <p:nvPr/>
          </p:nvCxnSpPr>
          <p:spPr>
            <a:xfrm>
              <a:off x="7977811" y="1634580"/>
              <a:ext cx="241233" cy="1"/>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24" name="TextBox 23">
              <a:extLst>
                <a:ext uri="{FF2B5EF4-FFF2-40B4-BE49-F238E27FC236}">
                  <a16:creationId xmlns:a16="http://schemas.microsoft.com/office/drawing/2014/main" id="{C571BA5E-860F-497F-B1C2-6AA8B09C1901}"/>
                </a:ext>
              </a:extLst>
            </p:cNvPr>
            <p:cNvSpPr txBox="1"/>
            <p:nvPr/>
          </p:nvSpPr>
          <p:spPr>
            <a:xfrm>
              <a:off x="6759181" y="1447800"/>
              <a:ext cx="1231263" cy="369332"/>
            </a:xfrm>
            <a:prstGeom prst="rect">
              <a:avLst/>
            </a:prstGeom>
            <a:noFill/>
          </p:spPr>
          <p:txBody>
            <a:bodyPr wrap="square" rtlCol="0">
              <a:spAutoFit/>
            </a:bodyPr>
            <a:lstStyle/>
            <a:p>
              <a:r>
                <a:rPr lang="en-US" dirty="0">
                  <a:solidFill>
                    <a:srgbClr val="0070C0"/>
                  </a:solidFill>
                </a:rPr>
                <a:t>Transitions</a:t>
              </a:r>
            </a:p>
          </p:txBody>
        </p:sp>
      </p:grpSp>
      <p:sp>
        <p:nvSpPr>
          <p:cNvPr id="26" name="TextBox 25">
            <a:extLst>
              <a:ext uri="{FF2B5EF4-FFF2-40B4-BE49-F238E27FC236}">
                <a16:creationId xmlns:a16="http://schemas.microsoft.com/office/drawing/2014/main" id="{7A0BC9ED-5B8D-4565-A622-5EE8EBBD0DDC}"/>
              </a:ext>
            </a:extLst>
          </p:cNvPr>
          <p:cNvSpPr txBox="1"/>
          <p:nvPr/>
        </p:nvSpPr>
        <p:spPr>
          <a:xfrm>
            <a:off x="6609471" y="1435194"/>
            <a:ext cx="2461020" cy="369332"/>
          </a:xfrm>
          <a:prstGeom prst="rect">
            <a:avLst/>
          </a:prstGeom>
          <a:noFill/>
        </p:spPr>
        <p:txBody>
          <a:bodyPr wrap="square" rtlCol="0">
            <a:spAutoFit/>
          </a:bodyPr>
          <a:lstStyle/>
          <a:p>
            <a:r>
              <a:rPr lang="en-US" dirty="0">
                <a:solidFill>
                  <a:srgbClr val="0070C0"/>
                </a:solidFill>
              </a:rPr>
              <a:t>Actions: {N, E, S, W}</a:t>
            </a:r>
          </a:p>
        </p:txBody>
      </p:sp>
      <p:cxnSp>
        <p:nvCxnSpPr>
          <p:cNvPr id="17" name="Straight Connector 16">
            <a:extLst>
              <a:ext uri="{FF2B5EF4-FFF2-40B4-BE49-F238E27FC236}">
                <a16:creationId xmlns:a16="http://schemas.microsoft.com/office/drawing/2014/main" id="{29687937-4135-4287-8ED0-00C110B5596F}"/>
              </a:ext>
            </a:extLst>
          </p:cNvPr>
          <p:cNvCxnSpPr/>
          <p:nvPr/>
        </p:nvCxnSpPr>
        <p:spPr>
          <a:xfrm>
            <a:off x="5421460" y="2259763"/>
            <a:ext cx="2682297" cy="0"/>
          </a:xfrm>
          <a:prstGeom prst="line">
            <a:avLst/>
          </a:prstGeom>
          <a:ln w="19050" cap="flat" cmpd="sng" algn="ctr">
            <a:solidFill>
              <a:schemeClr val="accent2"/>
            </a:solidFill>
            <a:prstDash val="sysDot"/>
            <a:round/>
            <a:headEnd type="none" w="med" len="med"/>
            <a:tailEnd type="none" w="med" len="med"/>
          </a:ln>
        </p:spPr>
        <p:style>
          <a:lnRef idx="0">
            <a:scrgbClr r="0" g="0" b="0"/>
          </a:lnRef>
          <a:fillRef idx="0">
            <a:scrgbClr r="0" g="0" b="0"/>
          </a:fillRef>
          <a:effectRef idx="0">
            <a:scrgbClr r="0" g="0" b="0"/>
          </a:effectRef>
          <a:fontRef idx="minor">
            <a:schemeClr val="tx1"/>
          </a:fontRef>
        </p:style>
      </p:cxnSp>
      <p:cxnSp>
        <p:nvCxnSpPr>
          <p:cNvPr id="27" name="Straight Connector 26">
            <a:extLst>
              <a:ext uri="{FF2B5EF4-FFF2-40B4-BE49-F238E27FC236}">
                <a16:creationId xmlns:a16="http://schemas.microsoft.com/office/drawing/2014/main" id="{469C5812-42DE-40DC-BDBD-1FFFCE448FCA}"/>
              </a:ext>
            </a:extLst>
          </p:cNvPr>
          <p:cNvCxnSpPr/>
          <p:nvPr/>
        </p:nvCxnSpPr>
        <p:spPr>
          <a:xfrm>
            <a:off x="5421460" y="2412163"/>
            <a:ext cx="2682297" cy="0"/>
          </a:xfrm>
          <a:prstGeom prst="line">
            <a:avLst/>
          </a:prstGeom>
          <a:ln w="19050" cap="flat" cmpd="sng" algn="ctr">
            <a:solidFill>
              <a:schemeClr val="accent2"/>
            </a:solidFill>
            <a:prstDash val="sysDot"/>
            <a:round/>
            <a:headEnd type="none" w="med" len="med"/>
            <a:tailEnd type="none" w="med" len="med"/>
          </a:ln>
        </p:spPr>
        <p:style>
          <a:lnRef idx="0">
            <a:scrgbClr r="0" g="0" b="0"/>
          </a:lnRef>
          <a:fillRef idx="0">
            <a:scrgbClr r="0" g="0" b="0"/>
          </a:fillRef>
          <a:effectRef idx="0">
            <a:scrgbClr r="0" g="0" b="0"/>
          </a:effectRef>
          <a:fontRef idx="minor">
            <a:schemeClr val="tx1"/>
          </a:fontRef>
        </p:style>
      </p:cxnSp>
      <p:cxnSp>
        <p:nvCxnSpPr>
          <p:cNvPr id="28" name="Straight Connector 27">
            <a:extLst>
              <a:ext uri="{FF2B5EF4-FFF2-40B4-BE49-F238E27FC236}">
                <a16:creationId xmlns:a16="http://schemas.microsoft.com/office/drawing/2014/main" id="{8337C082-C11C-4A5E-8046-ABC50F3CE1D3}"/>
              </a:ext>
            </a:extLst>
          </p:cNvPr>
          <p:cNvCxnSpPr/>
          <p:nvPr/>
        </p:nvCxnSpPr>
        <p:spPr>
          <a:xfrm>
            <a:off x="5394903" y="2550274"/>
            <a:ext cx="2682297" cy="0"/>
          </a:xfrm>
          <a:prstGeom prst="line">
            <a:avLst/>
          </a:prstGeom>
          <a:ln w="19050" cap="flat" cmpd="sng" algn="ctr">
            <a:solidFill>
              <a:schemeClr val="accent2"/>
            </a:solidFill>
            <a:prstDash val="sysDot"/>
            <a:round/>
            <a:headEnd type="none" w="med" len="med"/>
            <a:tailEnd type="none" w="med" len="med"/>
          </a:ln>
        </p:spPr>
        <p:style>
          <a:lnRef idx="0">
            <a:scrgbClr r="0" g="0" b="0"/>
          </a:lnRef>
          <a:fillRef idx="0">
            <a:scrgbClr r="0" g="0" b="0"/>
          </a:fillRef>
          <a:effectRef idx="0">
            <a:scrgbClr r="0" g="0" b="0"/>
          </a:effectRef>
          <a:fontRef idx="minor">
            <a:schemeClr val="tx1"/>
          </a:fontRef>
        </p:style>
      </p:cxnSp>
      <p:cxnSp>
        <p:nvCxnSpPr>
          <p:cNvPr id="29" name="Straight Connector 28">
            <a:extLst>
              <a:ext uri="{FF2B5EF4-FFF2-40B4-BE49-F238E27FC236}">
                <a16:creationId xmlns:a16="http://schemas.microsoft.com/office/drawing/2014/main" id="{10128FD0-995C-44C6-BC82-E8B6DD8664B1}"/>
              </a:ext>
            </a:extLst>
          </p:cNvPr>
          <p:cNvCxnSpPr/>
          <p:nvPr/>
        </p:nvCxnSpPr>
        <p:spPr>
          <a:xfrm>
            <a:off x="5410200" y="2702674"/>
            <a:ext cx="2682297" cy="0"/>
          </a:xfrm>
          <a:prstGeom prst="line">
            <a:avLst/>
          </a:prstGeom>
          <a:ln w="19050" cap="flat" cmpd="sng" algn="ctr">
            <a:solidFill>
              <a:schemeClr val="accent2"/>
            </a:solidFill>
            <a:prstDash val="sysDot"/>
            <a:round/>
            <a:headEnd type="none" w="med" len="med"/>
            <a:tailEnd type="none" w="med" len="med"/>
          </a:ln>
        </p:spPr>
        <p:style>
          <a:lnRef idx="0">
            <a:scrgbClr r="0" g="0" b="0"/>
          </a:lnRef>
          <a:fillRef idx="0">
            <a:scrgbClr r="0" g="0" b="0"/>
          </a:fillRef>
          <a:effectRef idx="0">
            <a:scrgbClr r="0" g="0" b="0"/>
          </a:effectRef>
          <a:fontRef idx="minor">
            <a:schemeClr val="tx1"/>
          </a:fontRef>
        </p:style>
      </p:cxnSp>
      <p:cxnSp>
        <p:nvCxnSpPr>
          <p:cNvPr id="30" name="Straight Connector 29">
            <a:extLst>
              <a:ext uri="{FF2B5EF4-FFF2-40B4-BE49-F238E27FC236}">
                <a16:creationId xmlns:a16="http://schemas.microsoft.com/office/drawing/2014/main" id="{EE473A66-8C99-435D-89ED-C3CB92A4D343}"/>
              </a:ext>
            </a:extLst>
          </p:cNvPr>
          <p:cNvCxnSpPr/>
          <p:nvPr/>
        </p:nvCxnSpPr>
        <p:spPr>
          <a:xfrm>
            <a:off x="5410200" y="2855074"/>
            <a:ext cx="2682297" cy="0"/>
          </a:xfrm>
          <a:prstGeom prst="line">
            <a:avLst/>
          </a:prstGeom>
          <a:ln w="19050" cap="flat" cmpd="sng" algn="ctr">
            <a:solidFill>
              <a:schemeClr val="accent2"/>
            </a:solidFill>
            <a:prstDash val="sysDot"/>
            <a:round/>
            <a:headEnd type="none" w="med" len="med"/>
            <a:tailEnd type="none" w="med" len="med"/>
          </a:ln>
        </p:spPr>
        <p:style>
          <a:lnRef idx="0">
            <a:scrgbClr r="0" g="0" b="0"/>
          </a:lnRef>
          <a:fillRef idx="0">
            <a:scrgbClr r="0" g="0" b="0"/>
          </a:fillRef>
          <a:effectRef idx="0">
            <a:scrgbClr r="0" g="0" b="0"/>
          </a:effectRef>
          <a:fontRef idx="minor">
            <a:schemeClr val="tx1"/>
          </a:fontRef>
        </p:style>
      </p:cxnSp>
      <p:cxnSp>
        <p:nvCxnSpPr>
          <p:cNvPr id="31" name="Straight Connector 30">
            <a:extLst>
              <a:ext uri="{FF2B5EF4-FFF2-40B4-BE49-F238E27FC236}">
                <a16:creationId xmlns:a16="http://schemas.microsoft.com/office/drawing/2014/main" id="{2D4C0013-827F-43B0-B1C5-F1F166FC5150}"/>
              </a:ext>
            </a:extLst>
          </p:cNvPr>
          <p:cNvCxnSpPr>
            <a:cxnSpLocks/>
          </p:cNvCxnSpPr>
          <p:nvPr/>
        </p:nvCxnSpPr>
        <p:spPr>
          <a:xfrm>
            <a:off x="5552796" y="2129368"/>
            <a:ext cx="0" cy="2722801"/>
          </a:xfrm>
          <a:prstGeom prst="line">
            <a:avLst/>
          </a:prstGeom>
          <a:ln w="19050" cap="flat" cmpd="sng" algn="ctr">
            <a:solidFill>
              <a:schemeClr val="accent2"/>
            </a:solidFill>
            <a:prstDash val="sysDot"/>
            <a:round/>
            <a:headEnd type="none" w="med" len="med"/>
            <a:tailEnd type="none" w="med" len="med"/>
          </a:ln>
        </p:spPr>
        <p:style>
          <a:lnRef idx="0">
            <a:scrgbClr r="0" g="0" b="0"/>
          </a:lnRef>
          <a:fillRef idx="0">
            <a:scrgbClr r="0" g="0" b="0"/>
          </a:fillRef>
          <a:effectRef idx="0">
            <a:scrgbClr r="0" g="0" b="0"/>
          </a:effectRef>
          <a:fontRef idx="minor">
            <a:schemeClr val="tx1"/>
          </a:fontRef>
        </p:style>
      </p:cxnSp>
      <p:cxnSp>
        <p:nvCxnSpPr>
          <p:cNvPr id="34" name="Straight Connector 33">
            <a:extLst>
              <a:ext uri="{FF2B5EF4-FFF2-40B4-BE49-F238E27FC236}">
                <a16:creationId xmlns:a16="http://schemas.microsoft.com/office/drawing/2014/main" id="{8317EB5F-59B7-4B98-AAD0-4F438034304A}"/>
              </a:ext>
            </a:extLst>
          </p:cNvPr>
          <p:cNvCxnSpPr>
            <a:cxnSpLocks/>
          </p:cNvCxnSpPr>
          <p:nvPr/>
        </p:nvCxnSpPr>
        <p:spPr>
          <a:xfrm>
            <a:off x="5715000" y="2113473"/>
            <a:ext cx="0" cy="2722801"/>
          </a:xfrm>
          <a:prstGeom prst="line">
            <a:avLst/>
          </a:prstGeom>
          <a:ln w="19050" cap="flat" cmpd="sng" algn="ctr">
            <a:solidFill>
              <a:schemeClr val="accent2"/>
            </a:solidFill>
            <a:prstDash val="sysDot"/>
            <a:round/>
            <a:headEnd type="none" w="med" len="med"/>
            <a:tailEnd type="none" w="med" len="med"/>
          </a:ln>
        </p:spPr>
        <p:style>
          <a:lnRef idx="0">
            <a:scrgbClr r="0" g="0" b="0"/>
          </a:lnRef>
          <a:fillRef idx="0">
            <a:scrgbClr r="0" g="0" b="0"/>
          </a:fillRef>
          <a:effectRef idx="0">
            <a:scrgbClr r="0" g="0" b="0"/>
          </a:effectRef>
          <a:fontRef idx="minor">
            <a:schemeClr val="tx1"/>
          </a:fontRef>
        </p:style>
      </p:cxnSp>
      <p:cxnSp>
        <p:nvCxnSpPr>
          <p:cNvPr id="35" name="Straight Connector 34">
            <a:extLst>
              <a:ext uri="{FF2B5EF4-FFF2-40B4-BE49-F238E27FC236}">
                <a16:creationId xmlns:a16="http://schemas.microsoft.com/office/drawing/2014/main" id="{EAAE9D7B-1F76-48F2-BA81-C37C75D16EEA}"/>
              </a:ext>
            </a:extLst>
          </p:cNvPr>
          <p:cNvCxnSpPr>
            <a:cxnSpLocks/>
          </p:cNvCxnSpPr>
          <p:nvPr/>
        </p:nvCxnSpPr>
        <p:spPr>
          <a:xfrm>
            <a:off x="5863599" y="2113473"/>
            <a:ext cx="0" cy="2722801"/>
          </a:xfrm>
          <a:prstGeom prst="line">
            <a:avLst/>
          </a:prstGeom>
          <a:ln w="19050" cap="flat" cmpd="sng" algn="ctr">
            <a:solidFill>
              <a:schemeClr val="accent2"/>
            </a:solidFill>
            <a:prstDash val="sysDot"/>
            <a:round/>
            <a:headEnd type="none" w="med" len="med"/>
            <a:tailEnd type="none" w="med" len="med"/>
          </a:ln>
        </p:spPr>
        <p:style>
          <a:lnRef idx="0">
            <a:scrgbClr r="0" g="0" b="0"/>
          </a:lnRef>
          <a:fillRef idx="0">
            <a:scrgbClr r="0" g="0" b="0"/>
          </a:fillRef>
          <a:effectRef idx="0">
            <a:scrgbClr r="0" g="0" b="0"/>
          </a:effectRef>
          <a:fontRef idx="minor">
            <a:schemeClr val="tx1"/>
          </a:fontRef>
        </p:style>
      </p:cxnSp>
      <p:cxnSp>
        <p:nvCxnSpPr>
          <p:cNvPr id="36" name="Straight Connector 35">
            <a:extLst>
              <a:ext uri="{FF2B5EF4-FFF2-40B4-BE49-F238E27FC236}">
                <a16:creationId xmlns:a16="http://schemas.microsoft.com/office/drawing/2014/main" id="{23F52CD6-6A81-4DA4-BEEC-59386F2D6FDA}"/>
              </a:ext>
            </a:extLst>
          </p:cNvPr>
          <p:cNvCxnSpPr>
            <a:cxnSpLocks/>
          </p:cNvCxnSpPr>
          <p:nvPr/>
        </p:nvCxnSpPr>
        <p:spPr>
          <a:xfrm>
            <a:off x="6015999" y="2093074"/>
            <a:ext cx="0" cy="2722801"/>
          </a:xfrm>
          <a:prstGeom prst="line">
            <a:avLst/>
          </a:prstGeom>
          <a:ln w="19050" cap="flat" cmpd="sng" algn="ctr">
            <a:solidFill>
              <a:schemeClr val="accent2"/>
            </a:solidFill>
            <a:prstDash val="sysDot"/>
            <a:round/>
            <a:headEnd type="none" w="med" len="med"/>
            <a:tailEnd type="none" w="med" len="med"/>
          </a:ln>
        </p:spPr>
        <p:style>
          <a:lnRef idx="0">
            <a:scrgbClr r="0" g="0" b="0"/>
          </a:lnRef>
          <a:fillRef idx="0">
            <a:scrgbClr r="0" g="0" b="0"/>
          </a:fillRef>
          <a:effectRef idx="0">
            <a:scrgbClr r="0" g="0" b="0"/>
          </a:effectRef>
          <a:fontRef idx="minor">
            <a:schemeClr val="tx1"/>
          </a:fontRef>
        </p:style>
      </p:cxnSp>
      <p:cxnSp>
        <p:nvCxnSpPr>
          <p:cNvPr id="43" name="Straight Connector 42">
            <a:extLst>
              <a:ext uri="{FF2B5EF4-FFF2-40B4-BE49-F238E27FC236}">
                <a16:creationId xmlns:a16="http://schemas.microsoft.com/office/drawing/2014/main" id="{58AFD909-C193-49F1-A066-9C45405DA878}"/>
              </a:ext>
            </a:extLst>
          </p:cNvPr>
          <p:cNvCxnSpPr>
            <a:cxnSpLocks/>
          </p:cNvCxnSpPr>
          <p:nvPr/>
        </p:nvCxnSpPr>
        <p:spPr>
          <a:xfrm>
            <a:off x="5394903" y="5014074"/>
            <a:ext cx="260924" cy="0"/>
          </a:xfrm>
          <a:prstGeom prst="line">
            <a:avLst/>
          </a:prstGeom>
          <a:ln w="19050" cap="flat" cmpd="sng" algn="ctr">
            <a:solidFill>
              <a:schemeClr val="accent2"/>
            </a:solidFill>
            <a:prstDash val="sysDot"/>
            <a:round/>
            <a:headEnd type="none" w="med" len="med"/>
            <a:tailEnd type="none" w="med" len="med"/>
          </a:ln>
        </p:spPr>
        <p:style>
          <a:lnRef idx="0">
            <a:scrgbClr r="0" g="0" b="0"/>
          </a:lnRef>
          <a:fillRef idx="0">
            <a:scrgbClr r="0" g="0" b="0"/>
          </a:fillRef>
          <a:effectRef idx="0">
            <a:scrgbClr r="0" g="0" b="0"/>
          </a:effectRef>
          <a:fontRef idx="minor">
            <a:schemeClr val="tx1"/>
          </a:fontRef>
        </p:style>
      </p:cxnSp>
      <p:sp>
        <p:nvSpPr>
          <p:cNvPr id="45" name="TextBox 44">
            <a:extLst>
              <a:ext uri="{FF2B5EF4-FFF2-40B4-BE49-F238E27FC236}">
                <a16:creationId xmlns:a16="http://schemas.microsoft.com/office/drawing/2014/main" id="{E68A1506-39CD-4A5C-83C9-2ACC7F826366}"/>
              </a:ext>
            </a:extLst>
          </p:cNvPr>
          <p:cNvSpPr txBox="1"/>
          <p:nvPr/>
        </p:nvSpPr>
        <p:spPr>
          <a:xfrm>
            <a:off x="5628996" y="4879970"/>
            <a:ext cx="1309526" cy="276999"/>
          </a:xfrm>
          <a:prstGeom prst="rect">
            <a:avLst/>
          </a:prstGeom>
          <a:noFill/>
        </p:spPr>
        <p:txBody>
          <a:bodyPr wrap="none" rtlCol="0">
            <a:spAutoFit/>
          </a:bodyPr>
          <a:lstStyle/>
          <a:p>
            <a:r>
              <a:rPr lang="en-US" sz="1200" dirty="0">
                <a:solidFill>
                  <a:schemeClr val="accent2"/>
                </a:solidFill>
              </a:rPr>
              <a:t>Discretization grid</a:t>
            </a:r>
          </a:p>
        </p:txBody>
      </p:sp>
      <p:sp>
        <p:nvSpPr>
          <p:cNvPr id="38" name="Down Arrow 4">
            <a:extLst>
              <a:ext uri="{FF2B5EF4-FFF2-40B4-BE49-F238E27FC236}">
                <a16:creationId xmlns:a16="http://schemas.microsoft.com/office/drawing/2014/main" id="{9B86BD56-3633-4A66-BC43-D6E0BE064858}"/>
              </a:ext>
            </a:extLst>
          </p:cNvPr>
          <p:cNvSpPr/>
          <p:nvPr/>
        </p:nvSpPr>
        <p:spPr>
          <a:xfrm>
            <a:off x="5514696" y="1787432"/>
            <a:ext cx="228600" cy="304800"/>
          </a:xfrm>
          <a:prstGeom prst="down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9" name="TextBox 38">
            <a:extLst>
              <a:ext uri="{FF2B5EF4-FFF2-40B4-BE49-F238E27FC236}">
                <a16:creationId xmlns:a16="http://schemas.microsoft.com/office/drawing/2014/main" id="{277BC777-037B-4AB0-AEB7-53A9DF889355}"/>
              </a:ext>
            </a:extLst>
          </p:cNvPr>
          <p:cNvSpPr txBox="1"/>
          <p:nvPr/>
        </p:nvSpPr>
        <p:spPr>
          <a:xfrm>
            <a:off x="4810833" y="1447800"/>
            <a:ext cx="1483925" cy="369332"/>
          </a:xfrm>
          <a:prstGeom prst="rect">
            <a:avLst/>
          </a:prstGeom>
          <a:noFill/>
        </p:spPr>
        <p:txBody>
          <a:bodyPr wrap="square" rtlCol="0">
            <a:spAutoFit/>
          </a:bodyPr>
          <a:lstStyle/>
          <a:p>
            <a:pPr algn="ctr"/>
            <a:r>
              <a:rPr lang="en-US" dirty="0">
                <a:solidFill>
                  <a:srgbClr val="0070C0"/>
                </a:solidFill>
              </a:rPr>
              <a:t>Initial state</a:t>
            </a:r>
          </a:p>
        </p:txBody>
      </p:sp>
      <p:sp>
        <p:nvSpPr>
          <p:cNvPr id="40" name="Oval 39">
            <a:extLst>
              <a:ext uri="{FF2B5EF4-FFF2-40B4-BE49-F238E27FC236}">
                <a16:creationId xmlns:a16="http://schemas.microsoft.com/office/drawing/2014/main" id="{591E3298-22B0-4212-90A8-E1A0D2EEBE2B}"/>
              </a:ext>
            </a:extLst>
          </p:cNvPr>
          <p:cNvSpPr/>
          <p:nvPr/>
        </p:nvSpPr>
        <p:spPr>
          <a:xfrm>
            <a:off x="5558615" y="2128526"/>
            <a:ext cx="152400" cy="152400"/>
          </a:xfrm>
          <a:prstGeom prst="ellipse">
            <a:avLst/>
          </a:prstGeom>
        </p:spPr>
        <p:style>
          <a:lnRef idx="1">
            <a:schemeClr val="accent1"/>
          </a:lnRef>
          <a:fillRef idx="2">
            <a:schemeClr val="accent1"/>
          </a:fillRef>
          <a:effectRef idx="1">
            <a:schemeClr val="accent1"/>
          </a:effectRef>
          <a:fontRef idx="minor">
            <a:schemeClr val="dk1"/>
          </a:fontRef>
        </p:style>
        <p:txBody>
          <a:bodyPr rtlCol="0" anchor="ctr"/>
          <a:lstStyle/>
          <a:p>
            <a:pPr algn="ctr"/>
            <a:r>
              <a:rPr lang="en-US" sz="1400" dirty="0"/>
              <a:t>1</a:t>
            </a:r>
          </a:p>
        </p:txBody>
      </p:sp>
      <p:sp>
        <p:nvSpPr>
          <p:cNvPr id="44" name="Oval 43">
            <a:extLst>
              <a:ext uri="{FF2B5EF4-FFF2-40B4-BE49-F238E27FC236}">
                <a16:creationId xmlns:a16="http://schemas.microsoft.com/office/drawing/2014/main" id="{2DC0CDDF-A4C1-406D-AE6F-F91B19B419D9}"/>
              </a:ext>
            </a:extLst>
          </p:cNvPr>
          <p:cNvSpPr/>
          <p:nvPr/>
        </p:nvSpPr>
        <p:spPr>
          <a:xfrm>
            <a:off x="5555160" y="2557923"/>
            <a:ext cx="152400" cy="152400"/>
          </a:xfrm>
          <a:prstGeom prst="ellipse">
            <a:avLst/>
          </a:prstGeom>
        </p:spPr>
        <p:style>
          <a:lnRef idx="1">
            <a:schemeClr val="accent1"/>
          </a:lnRef>
          <a:fillRef idx="2">
            <a:schemeClr val="accent1"/>
          </a:fillRef>
          <a:effectRef idx="1">
            <a:schemeClr val="accent1"/>
          </a:effectRef>
          <a:fontRef idx="minor">
            <a:schemeClr val="dk1"/>
          </a:fontRef>
        </p:style>
        <p:txBody>
          <a:bodyPr rtlCol="0" anchor="ctr"/>
          <a:lstStyle/>
          <a:p>
            <a:pPr algn="ctr"/>
            <a:r>
              <a:rPr lang="en-US" sz="1400" dirty="0"/>
              <a:t>4</a:t>
            </a:r>
          </a:p>
        </p:txBody>
      </p:sp>
      <p:sp>
        <p:nvSpPr>
          <p:cNvPr id="46" name="Oval 45">
            <a:extLst>
              <a:ext uri="{FF2B5EF4-FFF2-40B4-BE49-F238E27FC236}">
                <a16:creationId xmlns:a16="http://schemas.microsoft.com/office/drawing/2014/main" id="{984B5B67-6D05-4485-ADD9-072D535E7789}"/>
              </a:ext>
            </a:extLst>
          </p:cNvPr>
          <p:cNvSpPr/>
          <p:nvPr/>
        </p:nvSpPr>
        <p:spPr>
          <a:xfrm>
            <a:off x="5846337" y="3410732"/>
            <a:ext cx="152400" cy="152400"/>
          </a:xfrm>
          <a:prstGeom prst="ellipse">
            <a:avLst/>
          </a:prstGeom>
        </p:spPr>
        <p:style>
          <a:lnRef idx="1">
            <a:schemeClr val="accent1"/>
          </a:lnRef>
          <a:fillRef idx="2">
            <a:schemeClr val="accent1"/>
          </a:fillRef>
          <a:effectRef idx="1">
            <a:schemeClr val="accent1"/>
          </a:effectRef>
          <a:fontRef idx="minor">
            <a:schemeClr val="dk1"/>
          </a:fontRef>
        </p:style>
        <p:txBody>
          <a:bodyPr rtlCol="0" anchor="ctr"/>
          <a:lstStyle/>
          <a:p>
            <a:pPr algn="ctr"/>
            <a:r>
              <a:rPr lang="en-US" sz="1400" dirty="0"/>
              <a:t>a</a:t>
            </a:r>
          </a:p>
        </p:txBody>
      </p:sp>
      <p:cxnSp>
        <p:nvCxnSpPr>
          <p:cNvPr id="47" name="Straight Arrow Connector 46">
            <a:extLst>
              <a:ext uri="{FF2B5EF4-FFF2-40B4-BE49-F238E27FC236}">
                <a16:creationId xmlns:a16="http://schemas.microsoft.com/office/drawing/2014/main" id="{2E4ED78A-43EA-4C5D-81B3-EE4117FDC788}"/>
              </a:ext>
            </a:extLst>
          </p:cNvPr>
          <p:cNvCxnSpPr>
            <a:cxnSpLocks/>
          </p:cNvCxnSpPr>
          <p:nvPr/>
        </p:nvCxnSpPr>
        <p:spPr>
          <a:xfrm>
            <a:off x="5629733" y="2259510"/>
            <a:ext cx="0" cy="17465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48" name="Straight Arrow Connector 47">
            <a:extLst>
              <a:ext uri="{FF2B5EF4-FFF2-40B4-BE49-F238E27FC236}">
                <a16:creationId xmlns:a16="http://schemas.microsoft.com/office/drawing/2014/main" id="{35234026-4A72-40D5-A45D-467527A6F844}"/>
              </a:ext>
            </a:extLst>
          </p:cNvPr>
          <p:cNvCxnSpPr>
            <a:cxnSpLocks/>
          </p:cNvCxnSpPr>
          <p:nvPr/>
        </p:nvCxnSpPr>
        <p:spPr>
          <a:xfrm>
            <a:off x="5628996" y="2767745"/>
            <a:ext cx="0" cy="20405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49" name="Straight Arrow Connector 48">
            <a:extLst>
              <a:ext uri="{FF2B5EF4-FFF2-40B4-BE49-F238E27FC236}">
                <a16:creationId xmlns:a16="http://schemas.microsoft.com/office/drawing/2014/main" id="{163CF492-00EA-448F-8BF3-26C164A7AD88}"/>
              </a:ext>
            </a:extLst>
          </p:cNvPr>
          <p:cNvCxnSpPr>
            <a:cxnSpLocks/>
          </p:cNvCxnSpPr>
          <p:nvPr/>
        </p:nvCxnSpPr>
        <p:spPr>
          <a:xfrm>
            <a:off x="5619745" y="3200400"/>
            <a:ext cx="190510"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54" name="Down Arrow 6">
            <a:extLst>
              <a:ext uri="{FF2B5EF4-FFF2-40B4-BE49-F238E27FC236}">
                <a16:creationId xmlns:a16="http://schemas.microsoft.com/office/drawing/2014/main" id="{56072883-650A-4C0E-80EC-F512D4DB22FD}"/>
              </a:ext>
            </a:extLst>
          </p:cNvPr>
          <p:cNvSpPr/>
          <p:nvPr/>
        </p:nvSpPr>
        <p:spPr>
          <a:xfrm rot="5400000">
            <a:off x="8190663" y="4497989"/>
            <a:ext cx="228600" cy="304800"/>
          </a:xfrm>
          <a:prstGeom prst="down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5" name="TextBox 54">
            <a:extLst>
              <a:ext uri="{FF2B5EF4-FFF2-40B4-BE49-F238E27FC236}">
                <a16:creationId xmlns:a16="http://schemas.microsoft.com/office/drawing/2014/main" id="{5AD0C5CE-DA21-48E5-8865-6144965F8A03}"/>
              </a:ext>
            </a:extLst>
          </p:cNvPr>
          <p:cNvSpPr txBox="1"/>
          <p:nvPr/>
        </p:nvSpPr>
        <p:spPr>
          <a:xfrm>
            <a:off x="8463130" y="4346958"/>
            <a:ext cx="668773" cy="646331"/>
          </a:xfrm>
          <a:prstGeom prst="rect">
            <a:avLst/>
          </a:prstGeom>
          <a:noFill/>
        </p:spPr>
        <p:txBody>
          <a:bodyPr wrap="none" rtlCol="0">
            <a:spAutoFit/>
          </a:bodyPr>
          <a:lstStyle/>
          <a:p>
            <a:r>
              <a:rPr lang="en-US" dirty="0">
                <a:solidFill>
                  <a:srgbClr val="0070C0"/>
                </a:solidFill>
              </a:rPr>
              <a:t>Goal </a:t>
            </a:r>
            <a:br>
              <a:rPr lang="en-US" dirty="0">
                <a:solidFill>
                  <a:srgbClr val="0070C0"/>
                </a:solidFill>
              </a:rPr>
            </a:br>
            <a:r>
              <a:rPr lang="en-US" dirty="0">
                <a:solidFill>
                  <a:srgbClr val="0070C0"/>
                </a:solidFill>
              </a:rPr>
              <a:t>state</a:t>
            </a:r>
          </a:p>
        </p:txBody>
      </p:sp>
      <p:sp>
        <p:nvSpPr>
          <p:cNvPr id="56" name="Oval 55">
            <a:extLst>
              <a:ext uri="{FF2B5EF4-FFF2-40B4-BE49-F238E27FC236}">
                <a16:creationId xmlns:a16="http://schemas.microsoft.com/office/drawing/2014/main" id="{27F92480-ACCD-4408-BFAD-29C5DBE0B302}"/>
              </a:ext>
            </a:extLst>
          </p:cNvPr>
          <p:cNvSpPr/>
          <p:nvPr/>
        </p:nvSpPr>
        <p:spPr>
          <a:xfrm>
            <a:off x="7939260" y="4536089"/>
            <a:ext cx="152400" cy="152400"/>
          </a:xfrm>
          <a:prstGeom prst="ellipse">
            <a:avLst/>
          </a:prstGeom>
        </p:spPr>
        <p:style>
          <a:lnRef idx="1">
            <a:schemeClr val="accent1"/>
          </a:lnRef>
          <a:fillRef idx="2">
            <a:schemeClr val="accent1"/>
          </a:fillRef>
          <a:effectRef idx="1">
            <a:schemeClr val="accent1"/>
          </a:effectRef>
          <a:fontRef idx="minor">
            <a:schemeClr val="dk1"/>
          </a:fontRef>
        </p:style>
        <p:txBody>
          <a:bodyPr rtlCol="0" anchor="ctr"/>
          <a:lstStyle/>
          <a:p>
            <a:pPr algn="ctr"/>
            <a:r>
              <a:rPr lang="en-US" sz="1400" dirty="0"/>
              <a:t>z</a:t>
            </a:r>
          </a:p>
        </p:txBody>
      </p:sp>
      <p:sp>
        <p:nvSpPr>
          <p:cNvPr id="4" name="Freeform: Shape 3">
            <a:extLst>
              <a:ext uri="{FF2B5EF4-FFF2-40B4-BE49-F238E27FC236}">
                <a16:creationId xmlns:a16="http://schemas.microsoft.com/office/drawing/2014/main" id="{283C8E63-C221-496D-3FD8-F7E9C8FB4B3A}"/>
              </a:ext>
            </a:extLst>
          </p:cNvPr>
          <p:cNvSpPr/>
          <p:nvPr/>
        </p:nvSpPr>
        <p:spPr>
          <a:xfrm>
            <a:off x="5596420" y="2286000"/>
            <a:ext cx="2365551" cy="2275128"/>
          </a:xfrm>
          <a:custGeom>
            <a:avLst/>
            <a:gdLst>
              <a:gd name="connsiteX0" fmla="*/ 23795 w 2365551"/>
              <a:gd name="connsiteY0" fmla="*/ 0 h 2275128"/>
              <a:gd name="connsiteX1" fmla="*/ 34946 w 2365551"/>
              <a:gd name="connsiteY1" fmla="*/ 312234 h 2275128"/>
              <a:gd name="connsiteX2" fmla="*/ 336029 w 2365551"/>
              <a:gd name="connsiteY2" fmla="*/ 66908 h 2275128"/>
              <a:gd name="connsiteX3" fmla="*/ 1150068 w 2365551"/>
              <a:gd name="connsiteY3" fmla="*/ 78059 h 2275128"/>
              <a:gd name="connsiteX4" fmla="*/ 1172370 w 2365551"/>
              <a:gd name="connsiteY4" fmla="*/ 323386 h 2275128"/>
              <a:gd name="connsiteX5" fmla="*/ 2242887 w 2365551"/>
              <a:gd name="connsiteY5" fmla="*/ 334537 h 2275128"/>
              <a:gd name="connsiteX6" fmla="*/ 1997560 w 2365551"/>
              <a:gd name="connsiteY6" fmla="*/ 914400 h 2275128"/>
              <a:gd name="connsiteX7" fmla="*/ 1975258 w 2365551"/>
              <a:gd name="connsiteY7" fmla="*/ 936703 h 2275128"/>
              <a:gd name="connsiteX8" fmla="*/ 1964107 w 2365551"/>
              <a:gd name="connsiteY8" fmla="*/ 1449659 h 2275128"/>
              <a:gd name="connsiteX9" fmla="*/ 1674175 w 2365551"/>
              <a:gd name="connsiteY9" fmla="*/ 1438508 h 2275128"/>
              <a:gd name="connsiteX10" fmla="*/ 1462302 w 2365551"/>
              <a:gd name="connsiteY10" fmla="*/ 613317 h 2275128"/>
              <a:gd name="connsiteX11" fmla="*/ 782078 w 2365551"/>
              <a:gd name="connsiteY11" fmla="*/ 635620 h 2275128"/>
              <a:gd name="connsiteX12" fmla="*/ 770926 w 2365551"/>
              <a:gd name="connsiteY12" fmla="*/ 869795 h 2275128"/>
              <a:gd name="connsiteX13" fmla="*/ 692868 w 2365551"/>
              <a:gd name="connsiteY13" fmla="*/ 880947 h 2275128"/>
              <a:gd name="connsiteX14" fmla="*/ 659414 w 2365551"/>
              <a:gd name="connsiteY14" fmla="*/ 892098 h 2275128"/>
              <a:gd name="connsiteX15" fmla="*/ 625960 w 2365551"/>
              <a:gd name="connsiteY15" fmla="*/ 1471961 h 2275128"/>
              <a:gd name="connsiteX16" fmla="*/ 871287 w 2365551"/>
              <a:gd name="connsiteY16" fmla="*/ 1460810 h 2275128"/>
              <a:gd name="connsiteX17" fmla="*/ 882439 w 2365551"/>
              <a:gd name="connsiteY17" fmla="*/ 1237786 h 2275128"/>
              <a:gd name="connsiteX18" fmla="*/ 1216975 w 2365551"/>
              <a:gd name="connsiteY18" fmla="*/ 1248937 h 2275128"/>
              <a:gd name="connsiteX19" fmla="*/ 1228126 w 2365551"/>
              <a:gd name="connsiteY19" fmla="*/ 2007220 h 2275128"/>
              <a:gd name="connsiteX20" fmla="*/ 1406546 w 2365551"/>
              <a:gd name="connsiteY20" fmla="*/ 1996068 h 2275128"/>
              <a:gd name="connsiteX21" fmla="*/ 1428848 w 2365551"/>
              <a:gd name="connsiteY21" fmla="*/ 1572322 h 2275128"/>
              <a:gd name="connsiteX22" fmla="*/ 1518058 w 2365551"/>
              <a:gd name="connsiteY22" fmla="*/ 1594625 h 2275128"/>
              <a:gd name="connsiteX23" fmla="*/ 1685326 w 2365551"/>
              <a:gd name="connsiteY23" fmla="*/ 1661532 h 2275128"/>
              <a:gd name="connsiteX24" fmla="*/ 2265190 w 2365551"/>
              <a:gd name="connsiteY24" fmla="*/ 1750742 h 2275128"/>
              <a:gd name="connsiteX25" fmla="*/ 2365551 w 2365551"/>
              <a:gd name="connsiteY25" fmla="*/ 2274849 h 227512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Lst>
            <a:rect l="l" t="t" r="r" b="b"/>
            <a:pathLst>
              <a:path w="2365551" h="2275128">
                <a:moveTo>
                  <a:pt x="23795" y="0"/>
                </a:moveTo>
                <a:cubicBezTo>
                  <a:pt x="27512" y="104078"/>
                  <a:pt x="-38695" y="238593"/>
                  <a:pt x="34946" y="312234"/>
                </a:cubicBezTo>
                <a:cubicBezTo>
                  <a:pt x="385596" y="662884"/>
                  <a:pt x="334314" y="102925"/>
                  <a:pt x="336029" y="66908"/>
                </a:cubicBezTo>
                <a:cubicBezTo>
                  <a:pt x="607375" y="70625"/>
                  <a:pt x="890622" y="-1505"/>
                  <a:pt x="1150068" y="78059"/>
                </a:cubicBezTo>
                <a:cubicBezTo>
                  <a:pt x="1228572" y="102134"/>
                  <a:pt x="1092429" y="304624"/>
                  <a:pt x="1172370" y="323386"/>
                </a:cubicBezTo>
                <a:cubicBezTo>
                  <a:pt x="1519788" y="404923"/>
                  <a:pt x="1886048" y="330820"/>
                  <a:pt x="2242887" y="334537"/>
                </a:cubicBezTo>
                <a:cubicBezTo>
                  <a:pt x="2228259" y="1139118"/>
                  <a:pt x="2434942" y="933416"/>
                  <a:pt x="1997560" y="914400"/>
                </a:cubicBezTo>
                <a:cubicBezTo>
                  <a:pt x="1987056" y="913943"/>
                  <a:pt x="1982692" y="929269"/>
                  <a:pt x="1975258" y="936703"/>
                </a:cubicBezTo>
                <a:cubicBezTo>
                  <a:pt x="1971541" y="1107688"/>
                  <a:pt x="2052099" y="1303006"/>
                  <a:pt x="1964107" y="1449659"/>
                </a:cubicBezTo>
                <a:cubicBezTo>
                  <a:pt x="1914347" y="1532592"/>
                  <a:pt x="1710542" y="1528126"/>
                  <a:pt x="1674175" y="1438508"/>
                </a:cubicBezTo>
                <a:cubicBezTo>
                  <a:pt x="1287360" y="485286"/>
                  <a:pt x="1986401" y="798295"/>
                  <a:pt x="1462302" y="613317"/>
                </a:cubicBezTo>
                <a:cubicBezTo>
                  <a:pt x="1235561" y="620751"/>
                  <a:pt x="994777" y="556715"/>
                  <a:pt x="782078" y="635620"/>
                </a:cubicBezTo>
                <a:cubicBezTo>
                  <a:pt x="708810" y="662800"/>
                  <a:pt x="797632" y="796353"/>
                  <a:pt x="770926" y="869795"/>
                </a:cubicBezTo>
                <a:cubicBezTo>
                  <a:pt x="761944" y="894496"/>
                  <a:pt x="718887" y="877230"/>
                  <a:pt x="692868" y="880947"/>
                </a:cubicBezTo>
                <a:cubicBezTo>
                  <a:pt x="681717" y="884664"/>
                  <a:pt x="670420" y="887971"/>
                  <a:pt x="659414" y="892098"/>
                </a:cubicBezTo>
                <a:cubicBezTo>
                  <a:pt x="430734" y="977851"/>
                  <a:pt x="604950" y="946689"/>
                  <a:pt x="625960" y="1471961"/>
                </a:cubicBezTo>
                <a:cubicBezTo>
                  <a:pt x="707736" y="1468244"/>
                  <a:pt x="810834" y="1516006"/>
                  <a:pt x="871287" y="1460810"/>
                </a:cubicBezTo>
                <a:cubicBezTo>
                  <a:pt x="926256" y="1410621"/>
                  <a:pt x="818976" y="1276682"/>
                  <a:pt x="882439" y="1237786"/>
                </a:cubicBezTo>
                <a:cubicBezTo>
                  <a:pt x="977567" y="1179482"/>
                  <a:pt x="1105463" y="1245220"/>
                  <a:pt x="1216975" y="1248937"/>
                </a:cubicBezTo>
                <a:cubicBezTo>
                  <a:pt x="1220692" y="1501698"/>
                  <a:pt x="1165956" y="1762196"/>
                  <a:pt x="1228126" y="2007220"/>
                </a:cubicBezTo>
                <a:cubicBezTo>
                  <a:pt x="1242781" y="2064979"/>
                  <a:pt x="1381575" y="2050173"/>
                  <a:pt x="1406546" y="1996068"/>
                </a:cubicBezTo>
                <a:cubicBezTo>
                  <a:pt x="1465819" y="1867642"/>
                  <a:pt x="1421414" y="1713571"/>
                  <a:pt x="1428848" y="1572322"/>
                </a:cubicBezTo>
                <a:cubicBezTo>
                  <a:pt x="1458585" y="1579756"/>
                  <a:pt x="1489449" y="1583622"/>
                  <a:pt x="1518058" y="1594625"/>
                </a:cubicBezTo>
                <a:cubicBezTo>
                  <a:pt x="1655933" y="1647654"/>
                  <a:pt x="1465602" y="1622549"/>
                  <a:pt x="1685326" y="1661532"/>
                </a:cubicBezTo>
                <a:cubicBezTo>
                  <a:pt x="1877881" y="1695695"/>
                  <a:pt x="2071902" y="1721005"/>
                  <a:pt x="2265190" y="1750742"/>
                </a:cubicBezTo>
                <a:cubicBezTo>
                  <a:pt x="2276974" y="2304579"/>
                  <a:pt x="2101599" y="2274849"/>
                  <a:pt x="2365551" y="2274849"/>
                </a:cubicBezTo>
              </a:path>
            </a:pathLst>
          </a:custGeom>
        </p:spPr>
        <p:style>
          <a:lnRef idx="3">
            <a:schemeClr val="accent2"/>
          </a:lnRef>
          <a:fillRef idx="0">
            <a:schemeClr val="accent2"/>
          </a:fillRef>
          <a:effectRef idx="2">
            <a:schemeClr val="accent2"/>
          </a:effectRef>
          <a:fontRef idx="minor">
            <a:schemeClr val="tx1"/>
          </a:fontRef>
        </p:style>
        <p:txBody>
          <a:bodyPr rtlCol="0" anchor="ctr"/>
          <a:lstStyle/>
          <a:p>
            <a:pPr algn="ctr"/>
            <a:endParaRPr lang="en-US"/>
          </a:p>
        </p:txBody>
      </p:sp>
      <p:cxnSp>
        <p:nvCxnSpPr>
          <p:cNvPr id="10" name="Straight Arrow Connector 9">
            <a:extLst>
              <a:ext uri="{FF2B5EF4-FFF2-40B4-BE49-F238E27FC236}">
                <a16:creationId xmlns:a16="http://schemas.microsoft.com/office/drawing/2014/main" id="{8F475D2A-AF34-6688-6C09-D1F0D640DB67}"/>
              </a:ext>
            </a:extLst>
          </p:cNvPr>
          <p:cNvCxnSpPr>
            <a:cxnSpLocks/>
          </p:cNvCxnSpPr>
          <p:nvPr/>
        </p:nvCxnSpPr>
        <p:spPr>
          <a:xfrm>
            <a:off x="5628996" y="2357968"/>
            <a:ext cx="0" cy="17465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2" name="Straight Arrow Connector 11">
            <a:extLst>
              <a:ext uri="{FF2B5EF4-FFF2-40B4-BE49-F238E27FC236}">
                <a16:creationId xmlns:a16="http://schemas.microsoft.com/office/drawing/2014/main" id="{32B9670E-D744-66E0-8741-906EBFC92A5A}"/>
              </a:ext>
            </a:extLst>
          </p:cNvPr>
          <p:cNvCxnSpPr>
            <a:cxnSpLocks/>
          </p:cNvCxnSpPr>
          <p:nvPr/>
        </p:nvCxnSpPr>
        <p:spPr>
          <a:xfrm>
            <a:off x="5628996" y="2996345"/>
            <a:ext cx="0" cy="20405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6" name="Straight Arrow Connector 15">
            <a:extLst>
              <a:ext uri="{FF2B5EF4-FFF2-40B4-BE49-F238E27FC236}">
                <a16:creationId xmlns:a16="http://schemas.microsoft.com/office/drawing/2014/main" id="{446D190C-E2C5-EF90-53AC-89D4D0B11A5D}"/>
              </a:ext>
            </a:extLst>
          </p:cNvPr>
          <p:cNvCxnSpPr>
            <a:cxnSpLocks/>
          </p:cNvCxnSpPr>
          <p:nvPr/>
        </p:nvCxnSpPr>
        <p:spPr>
          <a:xfrm>
            <a:off x="5792539" y="3200400"/>
            <a:ext cx="142119"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39"/>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38"/>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1" end="1"/>
                                            </p:txEl>
                                          </p:spTgt>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26">
                                            <p:txEl>
                                              <p:pRg st="0" end="0"/>
                                            </p:txEl>
                                          </p:spTgt>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3">
                                            <p:txEl>
                                              <p:pRg st="2" end="2"/>
                                            </p:txEl>
                                          </p:spTgt>
                                        </p:tgtEl>
                                        <p:attrNameLst>
                                          <p:attrName>style.visibility</p:attrName>
                                        </p:attrNameLst>
                                      </p:cBhvr>
                                      <p:to>
                                        <p:strVal val="visible"/>
                                      </p:to>
                                    </p:set>
                                  </p:childTnLst>
                                </p:cTn>
                              </p:par>
                              <p:par>
                                <p:cTn id="21" presetID="1" presetClass="entr" presetSubtype="0" fill="hold" nodeType="withEffect">
                                  <p:stCondLst>
                                    <p:cond delay="0"/>
                                  </p:stCondLst>
                                  <p:childTnLst>
                                    <p:set>
                                      <p:cBhvr>
                                        <p:cTn id="22" dur="1" fill="hold">
                                          <p:stCondLst>
                                            <p:cond delay="0"/>
                                          </p:stCondLst>
                                        </p:cTn>
                                        <p:tgtEl>
                                          <p:spTgt spid="47"/>
                                        </p:tgtEl>
                                        <p:attrNameLst>
                                          <p:attrName>style.visibility</p:attrName>
                                        </p:attrNameLst>
                                      </p:cBhvr>
                                      <p:to>
                                        <p:strVal val="visible"/>
                                      </p:to>
                                    </p:set>
                                  </p:childTnLst>
                                </p:cTn>
                              </p:par>
                              <p:par>
                                <p:cTn id="23" presetID="1" presetClass="entr" presetSubtype="0" fill="hold" nodeType="withEffect">
                                  <p:stCondLst>
                                    <p:cond delay="0"/>
                                  </p:stCondLst>
                                  <p:childTnLst>
                                    <p:set>
                                      <p:cBhvr>
                                        <p:cTn id="24" dur="1" fill="hold">
                                          <p:stCondLst>
                                            <p:cond delay="0"/>
                                          </p:stCondLst>
                                        </p:cTn>
                                        <p:tgtEl>
                                          <p:spTgt spid="48"/>
                                        </p:tgtEl>
                                        <p:attrNameLst>
                                          <p:attrName>style.visibility</p:attrName>
                                        </p:attrNameLst>
                                      </p:cBhvr>
                                      <p:to>
                                        <p:strVal val="visible"/>
                                      </p:to>
                                    </p:set>
                                  </p:childTnLst>
                                </p:cTn>
                              </p:par>
                              <p:par>
                                <p:cTn id="25" presetID="1" presetClass="entr" presetSubtype="0" fill="hold" nodeType="withEffect">
                                  <p:stCondLst>
                                    <p:cond delay="0"/>
                                  </p:stCondLst>
                                  <p:childTnLst>
                                    <p:set>
                                      <p:cBhvr>
                                        <p:cTn id="26" dur="1" fill="hold">
                                          <p:stCondLst>
                                            <p:cond delay="0"/>
                                          </p:stCondLst>
                                        </p:cTn>
                                        <p:tgtEl>
                                          <p:spTgt spid="49"/>
                                        </p:tgtEl>
                                        <p:attrNameLst>
                                          <p:attrName>style.visibility</p:attrName>
                                        </p:attrNameLst>
                                      </p:cBhvr>
                                      <p:to>
                                        <p:strVal val="visible"/>
                                      </p:to>
                                    </p:set>
                                  </p:childTnLst>
                                </p:cTn>
                              </p:par>
                              <p:par>
                                <p:cTn id="27" presetID="1" presetClass="entr" presetSubtype="0" fill="hold" nodeType="withEffect">
                                  <p:stCondLst>
                                    <p:cond delay="0"/>
                                  </p:stCondLst>
                                  <p:childTnLst>
                                    <p:set>
                                      <p:cBhvr>
                                        <p:cTn id="28" dur="1" fill="hold">
                                          <p:stCondLst>
                                            <p:cond delay="0"/>
                                          </p:stCondLst>
                                        </p:cTn>
                                        <p:tgtEl>
                                          <p:spTgt spid="23"/>
                                        </p:tgtEl>
                                        <p:attrNameLst>
                                          <p:attrName>style.visibility</p:attrName>
                                        </p:attrNameLst>
                                      </p:cBhvr>
                                      <p:to>
                                        <p:strVal val="visible"/>
                                      </p:to>
                                    </p:set>
                                  </p:childTnLst>
                                </p:cTn>
                              </p:par>
                              <p:par>
                                <p:cTn id="29" presetID="1" presetClass="entr" presetSubtype="0" fill="hold" nodeType="withEffect">
                                  <p:stCondLst>
                                    <p:cond delay="0"/>
                                  </p:stCondLst>
                                  <p:childTnLst>
                                    <p:set>
                                      <p:cBhvr>
                                        <p:cTn id="30" dur="1" fill="hold">
                                          <p:stCondLst>
                                            <p:cond delay="0"/>
                                          </p:stCondLst>
                                        </p:cTn>
                                        <p:tgtEl>
                                          <p:spTgt spid="10"/>
                                        </p:tgtEl>
                                        <p:attrNameLst>
                                          <p:attrName>style.visibility</p:attrName>
                                        </p:attrNameLst>
                                      </p:cBhvr>
                                      <p:to>
                                        <p:strVal val="visible"/>
                                      </p:to>
                                    </p:set>
                                  </p:childTnLst>
                                </p:cTn>
                              </p:par>
                              <p:par>
                                <p:cTn id="31" presetID="1" presetClass="entr" presetSubtype="0" fill="hold" nodeType="withEffect">
                                  <p:stCondLst>
                                    <p:cond delay="0"/>
                                  </p:stCondLst>
                                  <p:childTnLst>
                                    <p:set>
                                      <p:cBhvr>
                                        <p:cTn id="32" dur="1" fill="hold">
                                          <p:stCondLst>
                                            <p:cond delay="0"/>
                                          </p:stCondLst>
                                        </p:cTn>
                                        <p:tgtEl>
                                          <p:spTgt spid="12"/>
                                        </p:tgtEl>
                                        <p:attrNameLst>
                                          <p:attrName>style.visibility</p:attrName>
                                        </p:attrNameLst>
                                      </p:cBhvr>
                                      <p:to>
                                        <p:strVal val="visible"/>
                                      </p:to>
                                    </p:set>
                                  </p:childTnLst>
                                </p:cTn>
                              </p:par>
                              <p:par>
                                <p:cTn id="33" presetID="1" presetClass="entr" presetSubtype="0" fill="hold" nodeType="withEffect">
                                  <p:stCondLst>
                                    <p:cond delay="0"/>
                                  </p:stCondLst>
                                  <p:childTnLst>
                                    <p:set>
                                      <p:cBhvr>
                                        <p:cTn id="34" dur="1" fill="hold">
                                          <p:stCondLst>
                                            <p:cond delay="0"/>
                                          </p:stCondLst>
                                        </p:cTn>
                                        <p:tgtEl>
                                          <p:spTgt spid="16"/>
                                        </p:tgtEl>
                                        <p:attrNameLst>
                                          <p:attrName>style.visibility</p:attrName>
                                        </p:attrNameLst>
                                      </p:cBhvr>
                                      <p:to>
                                        <p:strVal val="visible"/>
                                      </p:to>
                                    </p:set>
                                  </p:childTnLst>
                                </p:cTn>
                              </p:par>
                              <p:par>
                                <p:cTn id="35" presetID="1" presetClass="entr" presetSubtype="0" fill="hold" nodeType="withEffect">
                                  <p:stCondLst>
                                    <p:cond delay="0"/>
                                  </p:stCondLst>
                                  <p:childTnLst>
                                    <p:set>
                                      <p:cBhvr>
                                        <p:cTn id="36" dur="1" fill="hold">
                                          <p:stCondLst>
                                            <p:cond delay="0"/>
                                          </p:stCondLst>
                                        </p:cTn>
                                        <p:tgtEl>
                                          <p:spTgt spid="6"/>
                                        </p:tgtEl>
                                        <p:attrNameLst>
                                          <p:attrName>style.visibility</p:attrName>
                                        </p:attrNameLst>
                                      </p:cBhvr>
                                      <p:to>
                                        <p:strVal val="visible"/>
                                      </p:to>
                                    </p:set>
                                  </p:childTnLst>
                                </p:cTn>
                              </p:par>
                            </p:childTnLst>
                          </p:cTn>
                        </p:par>
                      </p:childTnLst>
                    </p:cTn>
                  </p:par>
                  <p:par>
                    <p:cTn id="37" fill="hold">
                      <p:stCondLst>
                        <p:cond delay="indefinite"/>
                      </p:stCondLst>
                      <p:childTnLst>
                        <p:par>
                          <p:cTn id="38" fill="hold">
                            <p:stCondLst>
                              <p:cond delay="0"/>
                            </p:stCondLst>
                            <p:childTnLst>
                              <p:par>
                                <p:cTn id="39" presetID="1" presetClass="entr" presetSubtype="0" fill="hold" grpId="0" nodeType="clickEffect">
                                  <p:stCondLst>
                                    <p:cond delay="0"/>
                                  </p:stCondLst>
                                  <p:childTnLst>
                                    <p:set>
                                      <p:cBhvr>
                                        <p:cTn id="40" dur="1" fill="hold">
                                          <p:stCondLst>
                                            <p:cond delay="0"/>
                                          </p:stCondLst>
                                        </p:cTn>
                                        <p:tgtEl>
                                          <p:spTgt spid="3">
                                            <p:txEl>
                                              <p:pRg st="3" end="3"/>
                                            </p:txEl>
                                          </p:spTgt>
                                        </p:tgtEl>
                                        <p:attrNameLst>
                                          <p:attrName>style.visibility</p:attrName>
                                        </p:attrNameLst>
                                      </p:cBhvr>
                                      <p:to>
                                        <p:strVal val="visible"/>
                                      </p:to>
                                    </p:set>
                                  </p:childTnLst>
                                </p:cTn>
                              </p:par>
                              <p:par>
                                <p:cTn id="41" presetID="1" presetClass="entr" presetSubtype="0" fill="hold" grpId="0" nodeType="withEffect">
                                  <p:stCondLst>
                                    <p:cond delay="0"/>
                                  </p:stCondLst>
                                  <p:childTnLst>
                                    <p:set>
                                      <p:cBhvr>
                                        <p:cTn id="42" dur="1" fill="hold">
                                          <p:stCondLst>
                                            <p:cond delay="0"/>
                                          </p:stCondLst>
                                        </p:cTn>
                                        <p:tgtEl>
                                          <p:spTgt spid="54"/>
                                        </p:tgtEl>
                                        <p:attrNameLst>
                                          <p:attrName>style.visibility</p:attrName>
                                        </p:attrNameLst>
                                      </p:cBhvr>
                                      <p:to>
                                        <p:strVal val="visible"/>
                                      </p:to>
                                    </p:set>
                                  </p:childTnLst>
                                </p:cTn>
                              </p:par>
                              <p:par>
                                <p:cTn id="43" presetID="1" presetClass="entr" presetSubtype="0" fill="hold" grpId="0" nodeType="withEffect">
                                  <p:stCondLst>
                                    <p:cond delay="0"/>
                                  </p:stCondLst>
                                  <p:childTnLst>
                                    <p:set>
                                      <p:cBhvr>
                                        <p:cTn id="44" dur="1" fill="hold">
                                          <p:stCondLst>
                                            <p:cond delay="0"/>
                                          </p:stCondLst>
                                        </p:cTn>
                                        <p:tgtEl>
                                          <p:spTgt spid="55"/>
                                        </p:tgtEl>
                                        <p:attrNameLst>
                                          <p:attrName>style.visibility</p:attrName>
                                        </p:attrNameLst>
                                      </p:cBhvr>
                                      <p:to>
                                        <p:strVal val="visible"/>
                                      </p:to>
                                    </p:set>
                                  </p:childTnLst>
                                </p:cTn>
                              </p:par>
                            </p:childTnLst>
                          </p:cTn>
                        </p:par>
                      </p:childTnLst>
                    </p:cTn>
                  </p:par>
                  <p:par>
                    <p:cTn id="45" fill="hold">
                      <p:stCondLst>
                        <p:cond delay="indefinite"/>
                      </p:stCondLst>
                      <p:childTnLst>
                        <p:par>
                          <p:cTn id="46" fill="hold">
                            <p:stCondLst>
                              <p:cond delay="0"/>
                            </p:stCondLst>
                            <p:childTnLst>
                              <p:par>
                                <p:cTn id="47" presetID="1" presetClass="entr" presetSubtype="0" fill="hold" grpId="0" nodeType="clickEffect">
                                  <p:stCondLst>
                                    <p:cond delay="0"/>
                                  </p:stCondLst>
                                  <p:childTnLst>
                                    <p:set>
                                      <p:cBhvr>
                                        <p:cTn id="48" dur="1" fill="hold">
                                          <p:stCondLst>
                                            <p:cond delay="0"/>
                                          </p:stCondLst>
                                        </p:cTn>
                                        <p:tgtEl>
                                          <p:spTgt spid="3">
                                            <p:txEl>
                                              <p:pRg st="4" end="4"/>
                                            </p:txEl>
                                          </p:spTgt>
                                        </p:tgtEl>
                                        <p:attrNameLst>
                                          <p:attrName>style.visibility</p:attrName>
                                        </p:attrNameLst>
                                      </p:cBhvr>
                                      <p:to>
                                        <p:strVal val="visible"/>
                                      </p:to>
                                    </p:set>
                                  </p:childTnLst>
                                </p:cTn>
                              </p:par>
                              <p:par>
                                <p:cTn id="49" presetID="1" presetClass="entr" presetSubtype="0" fill="hold" grpId="0" nodeType="withEffect">
                                  <p:stCondLst>
                                    <p:cond delay="0"/>
                                  </p:stCondLst>
                                  <p:childTnLst>
                                    <p:set>
                                      <p:cBhvr>
                                        <p:cTn id="50" dur="1" fill="hold">
                                          <p:stCondLst>
                                            <p:cond delay="0"/>
                                          </p:stCondLst>
                                        </p:cTn>
                                        <p:tgtEl>
                                          <p:spTgt spid="4"/>
                                        </p:tgtEl>
                                        <p:attrNameLst>
                                          <p:attrName>style.visibility</p:attrName>
                                        </p:attrNameLst>
                                      </p:cBhvr>
                                      <p:to>
                                        <p:strVal val="visible"/>
                                      </p:to>
                                    </p:set>
                                  </p:childTnLst>
                                </p:cTn>
                              </p:par>
                            </p:childTnLst>
                          </p:cTn>
                        </p:par>
                      </p:childTnLst>
                    </p:cTn>
                  </p:par>
                  <p:par>
                    <p:cTn id="51" fill="hold">
                      <p:stCondLst>
                        <p:cond delay="indefinite"/>
                      </p:stCondLst>
                      <p:childTnLst>
                        <p:par>
                          <p:cTn id="52" fill="hold">
                            <p:stCondLst>
                              <p:cond delay="0"/>
                            </p:stCondLst>
                            <p:childTnLst>
                              <p:par>
                                <p:cTn id="53" presetID="1" presetClass="entr" presetSubtype="0" fill="hold" grpId="0" nodeType="clickEffect">
                                  <p:stCondLst>
                                    <p:cond delay="0"/>
                                  </p:stCondLst>
                                  <p:childTnLst>
                                    <p:set>
                                      <p:cBhvr>
                                        <p:cTn id="54" dur="1" fill="hold">
                                          <p:stCondLst>
                                            <p:cond delay="0"/>
                                          </p:stCondLst>
                                        </p:cTn>
                                        <p:tgtEl>
                                          <p:spTgt spid="1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11" grpId="0"/>
      <p:bldP spid="38" grpId="0" uiExpand="1" animBg="1"/>
      <p:bldP spid="39" grpId="0" uiExpand="1"/>
      <p:bldP spid="54" grpId="0" uiExpand="1" animBg="1"/>
      <p:bldP spid="55" grpId="0" uiExpand="1"/>
      <p:bldP spid="4" grpId="0" animBg="1"/>
    </p:bld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Transition Function and Available Actions</a:t>
            </a: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4156700" y="1371604"/>
                <a:ext cx="4508847" cy="5121270"/>
              </a:xfrm>
            </p:spPr>
            <p:txBody>
              <a:bodyPr>
                <a:normAutofit fontScale="77500" lnSpcReduction="20000"/>
              </a:bodyPr>
              <a:lstStyle/>
              <a:p>
                <a:r>
                  <a:rPr lang="en-US" dirty="0"/>
                  <a:t>Definition as an </a:t>
                </a:r>
                <a:r>
                  <a:rPr lang="en-US" b="1" dirty="0"/>
                  <a:t>action schema</a:t>
                </a:r>
                <a:r>
                  <a:rPr lang="en-US" dirty="0"/>
                  <a:t>:</a:t>
                </a:r>
              </a:p>
              <a:p>
                <a:pPr marL="342900" lvl="1" indent="0">
                  <a:buNone/>
                </a:pPr>
                <a14:m>
                  <m:oMathPara xmlns:m="http://schemas.openxmlformats.org/officeDocument/2006/math">
                    <m:oMathParaPr>
                      <m:jc m:val="left"/>
                    </m:oMathParaPr>
                    <m:oMath xmlns:m="http://schemas.openxmlformats.org/officeDocument/2006/math">
                      <m:r>
                        <a:rPr lang="en-US" i="1" dirty="0" smtClean="0">
                          <a:latin typeface="Cambria Math" panose="02040503050406030204" pitchFamily="18" charset="0"/>
                        </a:rPr>
                        <m:t>𝐴𝑐𝑡𝑖𝑜𝑛</m:t>
                      </m:r>
                      <m:d>
                        <m:dPr>
                          <m:ctrlPr>
                            <a:rPr lang="en-US" i="1" dirty="0" smtClean="0">
                              <a:latin typeface="Cambria Math" panose="02040503050406030204" pitchFamily="18" charset="0"/>
                            </a:rPr>
                          </m:ctrlPr>
                        </m:dPr>
                        <m:e>
                          <m:r>
                            <a:rPr lang="en-US" i="1" dirty="0" smtClean="0">
                              <a:latin typeface="Cambria Math" panose="02040503050406030204" pitchFamily="18" charset="0"/>
                            </a:rPr>
                            <m:t>𝑔𝑜</m:t>
                          </m:r>
                          <m:d>
                            <m:dPr>
                              <m:ctrlPr>
                                <a:rPr lang="en-US" i="1" dirty="0" smtClean="0">
                                  <a:latin typeface="Cambria Math" panose="02040503050406030204" pitchFamily="18" charset="0"/>
                                </a:rPr>
                              </m:ctrlPr>
                            </m:dPr>
                            <m:e>
                              <m:r>
                                <a:rPr lang="en-US" i="1" dirty="0" err="1" smtClean="0">
                                  <a:latin typeface="Cambria Math" panose="02040503050406030204" pitchFamily="18" charset="0"/>
                                </a:rPr>
                                <m:t>𝑑𝑖𝑟</m:t>
                              </m:r>
                            </m:e>
                          </m:d>
                        </m:e>
                      </m:d>
                    </m:oMath>
                  </m:oMathPara>
                </a14:m>
                <a:br>
                  <a:rPr lang="en-US" dirty="0"/>
                </a:br>
                <a:r>
                  <a:rPr lang="en-US" dirty="0"/>
                  <a:t>  PRECOND: no wall in direction </a:t>
                </a:r>
                <a14:m>
                  <m:oMath xmlns:m="http://schemas.openxmlformats.org/officeDocument/2006/math">
                    <m:r>
                      <a:rPr lang="en-US" i="1" dirty="0" smtClean="0">
                        <a:latin typeface="Cambria Math" panose="02040503050406030204" pitchFamily="18" charset="0"/>
                      </a:rPr>
                      <m:t>𝑑𝑖𝑟</m:t>
                    </m:r>
                  </m:oMath>
                </a14:m>
                <a:br>
                  <a:rPr lang="en-US" dirty="0"/>
                </a:br>
                <a:r>
                  <a:rPr lang="en-US" dirty="0"/>
                  <a:t>  EFFECT: change the agent’s location according to </a:t>
                </a:r>
                <a14:m>
                  <m:oMath xmlns:m="http://schemas.openxmlformats.org/officeDocument/2006/math">
                    <m:r>
                      <a:rPr lang="en-US" i="1" dirty="0" smtClean="0">
                        <a:latin typeface="Cambria Math" panose="02040503050406030204" pitchFamily="18" charset="0"/>
                      </a:rPr>
                      <m:t>𝑑𝑖𝑟</m:t>
                    </m:r>
                  </m:oMath>
                </a14:m>
                <a:endParaRPr lang="en-US" dirty="0"/>
              </a:p>
              <a:p>
                <a:r>
                  <a:rPr lang="en-US" dirty="0"/>
                  <a:t>Definition as a </a:t>
                </a:r>
                <a:r>
                  <a:rPr lang="en-US" b="1" dirty="0"/>
                  <a:t>function</a:t>
                </a:r>
                <a:r>
                  <a:rPr lang="en-US" dirty="0"/>
                  <a:t>:</a:t>
                </a:r>
                <a:br>
                  <a:rPr lang="en-US" dirty="0"/>
                </a:br>
                <a:r>
                  <a:rPr lang="en-US" dirty="0"/>
                  <a:t>        </a:t>
                </a:r>
                <a14:m>
                  <m:oMath xmlns:m="http://schemas.openxmlformats.org/officeDocument/2006/math">
                    <m:r>
                      <a:rPr lang="en-US" sz="2000" b="0" i="1" smtClean="0">
                        <a:latin typeface="Cambria Math" panose="02040503050406030204" pitchFamily="18" charset="0"/>
                      </a:rPr>
                      <m:t>𝑓</m:t>
                    </m:r>
                    <m:r>
                      <a:rPr lang="en-US" sz="2000" b="0" i="1" smtClean="0">
                        <a:latin typeface="Cambria Math" panose="02040503050406030204" pitchFamily="18" charset="0"/>
                      </a:rPr>
                      <m:t>:</m:t>
                    </m:r>
                    <m:r>
                      <a:rPr lang="en-US" sz="2000" b="0" i="1" smtClean="0">
                        <a:latin typeface="Cambria Math" panose="02040503050406030204" pitchFamily="18" charset="0"/>
                      </a:rPr>
                      <m:t>𝑆</m:t>
                    </m:r>
                    <m:r>
                      <a:rPr lang="en-US" sz="2000" b="0" i="1" smtClean="0">
                        <a:latin typeface="Cambria Math" panose="02040503050406030204" pitchFamily="18" charset="0"/>
                      </a:rPr>
                      <m:t>×</m:t>
                    </m:r>
                    <m:r>
                      <a:rPr lang="en-US" sz="2000" b="0" i="1" smtClean="0">
                        <a:latin typeface="Cambria Math" panose="02040503050406030204" pitchFamily="18" charset="0"/>
                      </a:rPr>
                      <m:t>𝐴</m:t>
                    </m:r>
                    <m:r>
                      <a:rPr lang="en-US" sz="2000" b="0" i="1" smtClean="0">
                        <a:latin typeface="Cambria Math" panose="02040503050406030204" pitchFamily="18" charset="0"/>
                      </a:rPr>
                      <m:t> →</m:t>
                    </m:r>
                    <m:r>
                      <a:rPr lang="en-US" sz="2000" b="0" i="1" smtClean="0">
                        <a:latin typeface="Cambria Math" panose="02040503050406030204" pitchFamily="18" charset="0"/>
                      </a:rPr>
                      <m:t>𝑆</m:t>
                    </m:r>
                    <m:r>
                      <a:rPr lang="en-US" sz="2000" b="0" i="0" smtClean="0">
                        <a:latin typeface="Cambria Math" panose="02040503050406030204" pitchFamily="18" charset="0"/>
                      </a:rPr>
                      <m:t> </m:t>
                    </m:r>
                  </m:oMath>
                </a14:m>
                <a:r>
                  <a:rPr lang="en-US" sz="2000" dirty="0"/>
                  <a:t>or </a:t>
                </a:r>
                <a14:m>
                  <m:oMath xmlns:m="http://schemas.openxmlformats.org/officeDocument/2006/math">
                    <m:sSup>
                      <m:sSupPr>
                        <m:ctrlPr>
                          <a:rPr lang="en-US" sz="2000" b="0" i="1" smtClean="0">
                            <a:latin typeface="Cambria Math" panose="02040503050406030204" pitchFamily="18" charset="0"/>
                          </a:rPr>
                        </m:ctrlPr>
                      </m:sSupPr>
                      <m:e>
                        <m:r>
                          <a:rPr lang="en-US" sz="2000" b="0" i="1" smtClean="0">
                            <a:latin typeface="Cambria Math" panose="02040503050406030204" pitchFamily="18" charset="0"/>
                          </a:rPr>
                          <m:t>𝑠</m:t>
                        </m:r>
                      </m:e>
                      <m:sup>
                        <m:r>
                          <a:rPr lang="en-US" sz="2000" b="0" i="1" smtClean="0">
                            <a:latin typeface="Cambria Math" panose="02040503050406030204" pitchFamily="18" charset="0"/>
                          </a:rPr>
                          <m:t>′</m:t>
                        </m:r>
                      </m:sup>
                    </m:sSup>
                    <m:r>
                      <a:rPr lang="en-US" sz="2000" b="0" i="1" smtClean="0">
                        <a:latin typeface="Cambria Math" panose="02040503050406030204" pitchFamily="18" charset="0"/>
                      </a:rPr>
                      <m:t>=</m:t>
                    </m:r>
                    <m:r>
                      <a:rPr lang="en-US" sz="2000" b="0" i="1" smtClean="0">
                        <a:latin typeface="Cambria Math" panose="02040503050406030204" pitchFamily="18" charset="0"/>
                      </a:rPr>
                      <m:t>𝑟𝑒𝑠𝑢𝑙𝑡</m:t>
                    </m:r>
                    <m:r>
                      <a:rPr lang="en-US" sz="2000" b="0" i="1" smtClean="0">
                        <a:latin typeface="Cambria Math" panose="02040503050406030204" pitchFamily="18" charset="0"/>
                      </a:rPr>
                      <m:t>(</m:t>
                    </m:r>
                    <m:r>
                      <a:rPr lang="en-US" sz="2000" b="0" i="1" smtClean="0">
                        <a:latin typeface="Cambria Math" panose="02040503050406030204" pitchFamily="18" charset="0"/>
                      </a:rPr>
                      <m:t>𝑠</m:t>
                    </m:r>
                    <m:r>
                      <a:rPr lang="en-US" sz="2000" b="0" i="1" smtClean="0">
                        <a:latin typeface="Cambria Math" panose="02040503050406030204" pitchFamily="18" charset="0"/>
                      </a:rPr>
                      <m:t>, </m:t>
                    </m:r>
                    <m:r>
                      <a:rPr lang="en-US" sz="2000" b="0" i="1" smtClean="0">
                        <a:latin typeface="Cambria Math" panose="02040503050406030204" pitchFamily="18" charset="0"/>
                      </a:rPr>
                      <m:t>𝑎</m:t>
                    </m:r>
                    <m:r>
                      <a:rPr lang="en-US" sz="2000" b="0" i="1" smtClean="0">
                        <a:latin typeface="Cambria Math" panose="02040503050406030204" pitchFamily="18" charset="0"/>
                      </a:rPr>
                      <m:t>)</m:t>
                    </m:r>
                  </m:oMath>
                </a14:m>
                <a:br>
                  <a:rPr lang="en-US" sz="2000" dirty="0"/>
                </a:br>
                <a:endParaRPr lang="en-US" sz="2000" dirty="0"/>
              </a:p>
              <a:p>
                <a:r>
                  <a:rPr lang="en-US" sz="2000" dirty="0"/>
                  <a:t>A </a:t>
                </a:r>
                <a:r>
                  <a:rPr lang="en-US" sz="2000" b="1" dirty="0"/>
                  <a:t>graph</a:t>
                </a:r>
                <a:r>
                  <a:rPr lang="en-US" sz="2000" dirty="0"/>
                  <a:t> with states </a:t>
                </a:r>
                <a:br>
                  <a:rPr lang="en-US" sz="2000" dirty="0"/>
                </a:br>
                <a:r>
                  <a:rPr lang="en-US" sz="2000" dirty="0"/>
                  <a:t>as vertices and actions</a:t>
                </a:r>
                <a:br>
                  <a:rPr lang="en-US" sz="2000" dirty="0"/>
                </a:br>
                <a:r>
                  <a:rPr lang="en-US" sz="2000" dirty="0"/>
                  <a:t>as edges.</a:t>
                </a:r>
              </a:p>
              <a:p>
                <a:endParaRPr lang="en-US" sz="2000" dirty="0"/>
              </a:p>
              <a:p>
                <a:r>
                  <a:rPr lang="en-US" sz="2000" dirty="0"/>
                  <a:t>Function implemented </a:t>
                </a:r>
                <a:br>
                  <a:rPr lang="en-US" sz="2000" dirty="0"/>
                </a:br>
                <a:r>
                  <a:rPr lang="en-US" sz="2000" dirty="0"/>
                  <a:t>as a </a:t>
                </a:r>
                <a:r>
                  <a:rPr lang="en-US" sz="2000" b="1" dirty="0"/>
                  <a:t>table</a:t>
                </a:r>
                <a:r>
                  <a:rPr lang="en-US" sz="2000" dirty="0"/>
                  <a:t> representing</a:t>
                </a:r>
                <a:br>
                  <a:rPr lang="en-US" sz="2000" dirty="0"/>
                </a:br>
                <a:r>
                  <a:rPr lang="en-US" sz="2000" dirty="0"/>
                  <a:t>the state space </a:t>
                </a:r>
                <a:br>
                  <a:rPr lang="en-US" sz="2000" dirty="0"/>
                </a:br>
                <a:r>
                  <a:rPr lang="en-US" sz="2000" dirty="0"/>
                  <a:t>as a graph.</a:t>
                </a:r>
              </a:p>
              <a:p>
                <a:pPr marL="0" indent="0">
                  <a:buNone/>
                </a:pPr>
                <a:endParaRPr lang="en-US" sz="2000" dirty="0"/>
              </a:p>
              <a:p>
                <a:pPr marL="0" indent="0">
                  <a:buNone/>
                </a:pPr>
                <a:endParaRPr lang="en-US" sz="2000" dirty="0"/>
              </a:p>
              <a:p>
                <a:pPr marL="0" indent="0">
                  <a:buNone/>
                </a:pPr>
                <a:endParaRPr lang="en-US" sz="2000" dirty="0"/>
              </a:p>
              <a:p>
                <a:endParaRPr lang="en-US" sz="2000" dirty="0"/>
              </a:p>
              <a:p>
                <a:r>
                  <a:rPr lang="en-US" sz="2000" b="1" dirty="0"/>
                  <a:t>Available actions </a:t>
                </a:r>
                <a:r>
                  <a:rPr lang="en-US" sz="2000" dirty="0"/>
                  <a:t>in a state come from the transition function. E.g.,</a:t>
                </a:r>
              </a:p>
              <a:p>
                <a:pPr marL="342900" lvl="1" indent="0">
                  <a:buNone/>
                </a:pPr>
                <a14:m>
                  <m:oMathPara xmlns:m="http://schemas.openxmlformats.org/officeDocument/2006/math">
                    <m:oMathParaPr>
                      <m:jc m:val="centerGroup"/>
                    </m:oMathParaPr>
                    <m:oMath xmlns:m="http://schemas.openxmlformats.org/officeDocument/2006/math">
                      <m:r>
                        <a:rPr lang="en-US" sz="1700" i="1" dirty="0" smtClean="0">
                          <a:latin typeface="Cambria Math" panose="02040503050406030204" pitchFamily="18" charset="0"/>
                        </a:rPr>
                        <m:t>𝑎𝑐𝑡𝑖𝑜𝑛𝑠</m:t>
                      </m:r>
                      <m:r>
                        <a:rPr lang="en-US" sz="1700" i="1" dirty="0" smtClean="0">
                          <a:latin typeface="Cambria Math" panose="02040503050406030204" pitchFamily="18" charset="0"/>
                        </a:rPr>
                        <m:t>(4) = {</m:t>
                      </m:r>
                      <m:r>
                        <a:rPr lang="en-US" sz="1700" i="1" dirty="0" smtClean="0">
                          <a:latin typeface="Cambria Math" panose="02040503050406030204" pitchFamily="18" charset="0"/>
                        </a:rPr>
                        <m:t>𝐸</m:t>
                      </m:r>
                      <m:r>
                        <a:rPr lang="en-US" sz="1700" i="1" dirty="0" smtClean="0">
                          <a:latin typeface="Cambria Math" panose="02040503050406030204" pitchFamily="18" charset="0"/>
                        </a:rPr>
                        <m:t>, </m:t>
                      </m:r>
                      <m:r>
                        <a:rPr lang="en-US" sz="1700" i="1" dirty="0" smtClean="0">
                          <a:latin typeface="Cambria Math" panose="02040503050406030204" pitchFamily="18" charset="0"/>
                        </a:rPr>
                        <m:t>𝑆</m:t>
                      </m:r>
                      <m:r>
                        <a:rPr lang="en-US" sz="1700" i="1" dirty="0" smtClean="0">
                          <a:latin typeface="Cambria Math" panose="02040503050406030204" pitchFamily="18" charset="0"/>
                        </a:rPr>
                        <m:t>, </m:t>
                      </m:r>
                      <m:r>
                        <a:rPr lang="en-US" sz="1700" i="1" dirty="0" smtClean="0">
                          <a:latin typeface="Cambria Math" panose="02040503050406030204" pitchFamily="18" charset="0"/>
                        </a:rPr>
                        <m:t>𝑁</m:t>
                      </m:r>
                      <m:r>
                        <a:rPr lang="en-US" sz="1700" i="1" dirty="0" smtClean="0">
                          <a:latin typeface="Cambria Math" panose="02040503050406030204" pitchFamily="18" charset="0"/>
                        </a:rPr>
                        <m:t>}</m:t>
                      </m:r>
                    </m:oMath>
                  </m:oMathPara>
                </a14:m>
                <a:endParaRPr lang="en-US" sz="1700" dirty="0"/>
              </a:p>
              <a:p>
                <a:pPr lvl="1"/>
                <a:endParaRPr lang="en-US" sz="1700" dirty="0"/>
              </a:p>
              <a:p>
                <a:pPr marL="0" indent="0">
                  <a:buNone/>
                </a:pPr>
                <a:endParaRPr lang="en-US" sz="2000" dirty="0"/>
              </a:p>
              <a:p>
                <a:endParaRPr lang="en-US" sz="2000" dirty="0"/>
              </a:p>
              <a:p>
                <a:endParaRPr lang="en-US" sz="2000" dirty="0"/>
              </a:p>
              <a:p>
                <a:endParaRPr lang="en-US" sz="2000" dirty="0"/>
              </a:p>
              <a:p>
                <a:endParaRPr lang="en-US" sz="2000" dirty="0"/>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4156700" y="1371604"/>
                <a:ext cx="4508847" cy="5121270"/>
              </a:xfrm>
              <a:blipFill>
                <a:blip r:embed="rId3"/>
                <a:stretch>
                  <a:fillRect l="-541" t="-1548"/>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graphicFrame>
            <p:nvGraphicFramePr>
              <p:cNvPr id="4" name="Table 3">
                <a:extLst>
                  <a:ext uri="{FF2B5EF4-FFF2-40B4-BE49-F238E27FC236}">
                    <a16:creationId xmlns:a16="http://schemas.microsoft.com/office/drawing/2014/main" id="{CA475CAD-AB60-2896-A0DA-F0EBAD2F28EA}"/>
                  </a:ext>
                </a:extLst>
              </p:cNvPr>
              <p:cNvGraphicFramePr>
                <a:graphicFrameLocks noGrp="1"/>
              </p:cNvGraphicFramePr>
              <p:nvPr>
                <p:extLst>
                  <p:ext uri="{D42A27DB-BD31-4B8C-83A1-F6EECF244321}">
                    <p14:modId xmlns:p14="http://schemas.microsoft.com/office/powerpoint/2010/main" val="2356749978"/>
                  </p:ext>
                </p:extLst>
              </p:nvPr>
            </p:nvGraphicFramePr>
            <p:xfrm>
              <a:off x="6518417" y="2918607"/>
              <a:ext cx="1371600" cy="2468880"/>
            </p:xfrm>
            <a:graphic>
              <a:graphicData uri="http://schemas.openxmlformats.org/drawingml/2006/table">
                <a:tbl>
                  <a:tblPr firstRow="1" bandRow="1">
                    <a:tableStyleId>{5C22544A-7EE6-4342-B048-85BDC9FD1C3A}</a:tableStyleId>
                  </a:tblPr>
                  <a:tblGrid>
                    <a:gridCol w="457200">
                      <a:extLst>
                        <a:ext uri="{9D8B030D-6E8A-4147-A177-3AD203B41FA5}">
                          <a16:colId xmlns:a16="http://schemas.microsoft.com/office/drawing/2014/main" val="959818411"/>
                        </a:ext>
                      </a:extLst>
                    </a:gridCol>
                    <a:gridCol w="457200">
                      <a:extLst>
                        <a:ext uri="{9D8B030D-6E8A-4147-A177-3AD203B41FA5}">
                          <a16:colId xmlns:a16="http://schemas.microsoft.com/office/drawing/2014/main" val="2035783971"/>
                        </a:ext>
                      </a:extLst>
                    </a:gridCol>
                    <a:gridCol w="457200">
                      <a:extLst>
                        <a:ext uri="{9D8B030D-6E8A-4147-A177-3AD203B41FA5}">
                          <a16:colId xmlns:a16="http://schemas.microsoft.com/office/drawing/2014/main" val="854637622"/>
                        </a:ext>
                      </a:extLst>
                    </a:gridCol>
                  </a:tblGrid>
                  <a:tr h="274320">
                    <a:tc>
                      <a:txBody>
                        <a:bodyPr/>
                        <a:lstStyle/>
                        <a:p>
                          <a:pPr algn="ctr"/>
                          <a14:m>
                            <m:oMathPara xmlns:m="http://schemas.openxmlformats.org/officeDocument/2006/math">
                              <m:oMathParaPr>
                                <m:jc m:val="centerGroup"/>
                              </m:oMathParaPr>
                              <m:oMath xmlns:m="http://schemas.openxmlformats.org/officeDocument/2006/math">
                                <m:r>
                                  <a:rPr lang="en-US" sz="1200" i="1" dirty="0" smtClean="0">
                                    <a:latin typeface="Cambria Math" panose="02040503050406030204" pitchFamily="18" charset="0"/>
                                  </a:rPr>
                                  <m:t>𝑠</m:t>
                                </m:r>
                              </m:oMath>
                            </m:oMathPara>
                          </a14:m>
                          <a:endParaRPr lang="en-US" sz="1200" dirty="0"/>
                        </a:p>
                      </a:txBody>
                      <a:tcPr/>
                    </a:tc>
                    <a:tc>
                      <a:txBody>
                        <a:bodyPr/>
                        <a:lstStyle/>
                        <a:p>
                          <a:pPr algn="ctr"/>
                          <a14:m>
                            <m:oMathPara xmlns:m="http://schemas.openxmlformats.org/officeDocument/2006/math">
                              <m:oMathParaPr>
                                <m:jc m:val="centerGroup"/>
                              </m:oMathParaPr>
                              <m:oMath xmlns:m="http://schemas.openxmlformats.org/officeDocument/2006/math">
                                <m:r>
                                  <a:rPr lang="en-US" sz="1200" i="1" dirty="0" smtClean="0">
                                    <a:latin typeface="Cambria Math" panose="02040503050406030204" pitchFamily="18" charset="0"/>
                                  </a:rPr>
                                  <m:t>𝑎</m:t>
                                </m:r>
                              </m:oMath>
                            </m:oMathPara>
                          </a14:m>
                          <a:endParaRPr lang="en-US" sz="1200" dirty="0"/>
                        </a:p>
                      </a:txBody>
                      <a:tcPr/>
                    </a:tc>
                    <a:tc>
                      <a:txBody>
                        <a:bodyPr/>
                        <a:lstStyle/>
                        <a:p>
                          <a:pPr algn="ctr"/>
                          <a14:m>
                            <m:oMathPara xmlns:m="http://schemas.openxmlformats.org/officeDocument/2006/math">
                              <m:oMathParaPr>
                                <m:jc m:val="centerGroup"/>
                              </m:oMathParaPr>
                              <m:oMath xmlns:m="http://schemas.openxmlformats.org/officeDocument/2006/math">
                                <m:r>
                                  <a:rPr lang="en-US" sz="1200" i="1" dirty="0" smtClean="0">
                                    <a:latin typeface="Cambria Math" panose="02040503050406030204" pitchFamily="18" charset="0"/>
                                  </a:rPr>
                                  <m:t>𝑠</m:t>
                                </m:r>
                                <m:r>
                                  <a:rPr lang="en-US" sz="1200" b="1" i="1" dirty="0" smtClean="0">
                                    <a:latin typeface="Cambria Math" panose="02040503050406030204" pitchFamily="18" charset="0"/>
                                  </a:rPr>
                                  <m:t>′</m:t>
                                </m:r>
                              </m:oMath>
                            </m:oMathPara>
                          </a14:m>
                          <a:endParaRPr lang="en-US" sz="1200" dirty="0"/>
                        </a:p>
                      </a:txBody>
                      <a:tcPr/>
                    </a:tc>
                    <a:extLst>
                      <a:ext uri="{0D108BD9-81ED-4DB2-BD59-A6C34878D82A}">
                        <a16:rowId xmlns:a16="http://schemas.microsoft.com/office/drawing/2014/main" val="3982531683"/>
                      </a:ext>
                    </a:extLst>
                  </a:tr>
                  <a:tr h="274320">
                    <a:tc>
                      <a:txBody>
                        <a:bodyPr/>
                        <a:lstStyle/>
                        <a:p>
                          <a:pPr algn="ctr"/>
                          <a:r>
                            <a:rPr lang="en-US" sz="1200" dirty="0"/>
                            <a:t>1</a:t>
                          </a:r>
                        </a:p>
                      </a:txBody>
                      <a:tcPr/>
                    </a:tc>
                    <a:tc>
                      <a:txBody>
                        <a:bodyPr/>
                        <a:lstStyle/>
                        <a:p>
                          <a:pPr algn="ctr"/>
                          <a:r>
                            <a:rPr lang="en-US" sz="1200" dirty="0"/>
                            <a:t>S</a:t>
                          </a:r>
                        </a:p>
                      </a:txBody>
                      <a:tcPr/>
                    </a:tc>
                    <a:tc>
                      <a:txBody>
                        <a:bodyPr/>
                        <a:lstStyle/>
                        <a:p>
                          <a:pPr algn="ctr"/>
                          <a:r>
                            <a:rPr lang="en-US" sz="1200" dirty="0"/>
                            <a:t>2</a:t>
                          </a:r>
                        </a:p>
                      </a:txBody>
                      <a:tcPr/>
                    </a:tc>
                    <a:extLst>
                      <a:ext uri="{0D108BD9-81ED-4DB2-BD59-A6C34878D82A}">
                        <a16:rowId xmlns:a16="http://schemas.microsoft.com/office/drawing/2014/main" val="2106318447"/>
                      </a:ext>
                    </a:extLst>
                  </a:tr>
                  <a:tr h="274320">
                    <a:tc>
                      <a:txBody>
                        <a:bodyPr/>
                        <a:lstStyle/>
                        <a:p>
                          <a:pPr algn="ctr"/>
                          <a:r>
                            <a:rPr lang="en-US" sz="1200" dirty="0"/>
                            <a:t>2</a:t>
                          </a:r>
                        </a:p>
                      </a:txBody>
                      <a:tcPr/>
                    </a:tc>
                    <a:tc>
                      <a:txBody>
                        <a:bodyPr/>
                        <a:lstStyle/>
                        <a:p>
                          <a:pPr algn="ctr"/>
                          <a:r>
                            <a:rPr lang="en-US" sz="1200" dirty="0"/>
                            <a:t>N</a:t>
                          </a:r>
                        </a:p>
                      </a:txBody>
                      <a:tcPr/>
                    </a:tc>
                    <a:tc>
                      <a:txBody>
                        <a:bodyPr/>
                        <a:lstStyle/>
                        <a:p>
                          <a:pPr algn="ctr"/>
                          <a:r>
                            <a:rPr lang="en-US" sz="1200" dirty="0"/>
                            <a:t>1</a:t>
                          </a:r>
                        </a:p>
                      </a:txBody>
                      <a:tcPr/>
                    </a:tc>
                    <a:extLst>
                      <a:ext uri="{0D108BD9-81ED-4DB2-BD59-A6C34878D82A}">
                        <a16:rowId xmlns:a16="http://schemas.microsoft.com/office/drawing/2014/main" val="2559476360"/>
                      </a:ext>
                    </a:extLst>
                  </a:tr>
                  <a:tr h="274320">
                    <a:tc>
                      <a:txBody>
                        <a:bodyPr/>
                        <a:lstStyle/>
                        <a:p>
                          <a:pPr algn="ctr"/>
                          <a:r>
                            <a:rPr lang="en-US" sz="1200" dirty="0"/>
                            <a:t>2</a:t>
                          </a:r>
                        </a:p>
                      </a:txBody>
                      <a:tcPr/>
                    </a:tc>
                    <a:tc>
                      <a:txBody>
                        <a:bodyPr/>
                        <a:lstStyle/>
                        <a:p>
                          <a:pPr algn="ctr"/>
                          <a:r>
                            <a:rPr lang="en-US" sz="1200" dirty="0"/>
                            <a:t>S</a:t>
                          </a:r>
                        </a:p>
                      </a:txBody>
                      <a:tcPr/>
                    </a:tc>
                    <a:tc>
                      <a:txBody>
                        <a:bodyPr/>
                        <a:lstStyle/>
                        <a:p>
                          <a:pPr algn="ctr"/>
                          <a:r>
                            <a:rPr lang="en-US" sz="1200" dirty="0"/>
                            <a:t>3</a:t>
                          </a:r>
                        </a:p>
                      </a:txBody>
                      <a:tcPr/>
                    </a:tc>
                    <a:extLst>
                      <a:ext uri="{0D108BD9-81ED-4DB2-BD59-A6C34878D82A}">
                        <a16:rowId xmlns:a16="http://schemas.microsoft.com/office/drawing/2014/main" val="1509338056"/>
                      </a:ext>
                    </a:extLst>
                  </a:tr>
                  <a:tr h="274320">
                    <a:tc>
                      <a:txBody>
                        <a:bodyPr/>
                        <a:lstStyle/>
                        <a:p>
                          <a:pPr algn="ctr"/>
                          <a:r>
                            <a:rPr lang="en-US" sz="1200" dirty="0"/>
                            <a:t>…</a:t>
                          </a:r>
                        </a:p>
                      </a:txBody>
                      <a:tcPr/>
                    </a:tc>
                    <a:tc>
                      <a:txBody>
                        <a:bodyPr/>
                        <a:lstStyle/>
                        <a:p>
                          <a:pPr algn="ctr"/>
                          <a:r>
                            <a:rPr lang="en-US" sz="1200" dirty="0"/>
                            <a:t>…</a:t>
                          </a:r>
                        </a:p>
                      </a:txBody>
                      <a:tcPr/>
                    </a:tc>
                    <a:tc>
                      <a:txBody>
                        <a:bodyPr/>
                        <a:lstStyle/>
                        <a:p>
                          <a:pPr algn="ctr"/>
                          <a:r>
                            <a:rPr lang="en-US" sz="1200" dirty="0"/>
                            <a:t>…</a:t>
                          </a:r>
                        </a:p>
                      </a:txBody>
                      <a:tcPr/>
                    </a:tc>
                    <a:extLst>
                      <a:ext uri="{0D108BD9-81ED-4DB2-BD59-A6C34878D82A}">
                        <a16:rowId xmlns:a16="http://schemas.microsoft.com/office/drawing/2014/main" val="3832977166"/>
                      </a:ext>
                    </a:extLst>
                  </a:tr>
                  <a:tr h="274320">
                    <a:tc>
                      <a:txBody>
                        <a:bodyPr/>
                        <a:lstStyle/>
                        <a:p>
                          <a:pPr algn="ctr"/>
                          <a:r>
                            <a:rPr lang="en-US" sz="1200" dirty="0"/>
                            <a:t>4</a:t>
                          </a:r>
                        </a:p>
                      </a:txBody>
                      <a:tcPr/>
                    </a:tc>
                    <a:tc>
                      <a:txBody>
                        <a:bodyPr/>
                        <a:lstStyle/>
                        <a:p>
                          <a:pPr algn="ctr"/>
                          <a:r>
                            <a:rPr lang="en-US" sz="1200" dirty="0"/>
                            <a:t>E</a:t>
                          </a:r>
                        </a:p>
                      </a:txBody>
                      <a:tcPr/>
                    </a:tc>
                    <a:tc>
                      <a:txBody>
                        <a:bodyPr/>
                        <a:lstStyle/>
                        <a:p>
                          <a:pPr algn="ctr"/>
                          <a:r>
                            <a:rPr lang="en-US" sz="1200" dirty="0"/>
                            <a:t>a</a:t>
                          </a:r>
                        </a:p>
                      </a:txBody>
                      <a:tcPr/>
                    </a:tc>
                    <a:extLst>
                      <a:ext uri="{0D108BD9-81ED-4DB2-BD59-A6C34878D82A}">
                        <a16:rowId xmlns:a16="http://schemas.microsoft.com/office/drawing/2014/main" val="1157999032"/>
                      </a:ext>
                    </a:extLst>
                  </a:tr>
                  <a:tr h="274320">
                    <a:tc>
                      <a:txBody>
                        <a:bodyPr/>
                        <a:lstStyle/>
                        <a:p>
                          <a:pPr algn="ctr"/>
                          <a:r>
                            <a:rPr lang="en-US" sz="1200" dirty="0"/>
                            <a:t>4</a:t>
                          </a:r>
                        </a:p>
                      </a:txBody>
                      <a:tcPr/>
                    </a:tc>
                    <a:tc>
                      <a:txBody>
                        <a:bodyPr/>
                        <a:lstStyle/>
                        <a:p>
                          <a:pPr algn="ctr"/>
                          <a:r>
                            <a:rPr lang="en-US" sz="1200" dirty="0"/>
                            <a:t>S</a:t>
                          </a:r>
                        </a:p>
                      </a:txBody>
                      <a:tcPr/>
                    </a:tc>
                    <a:tc>
                      <a:txBody>
                        <a:bodyPr/>
                        <a:lstStyle/>
                        <a:p>
                          <a:pPr algn="ctr"/>
                          <a:r>
                            <a:rPr lang="en-US" sz="1200" dirty="0"/>
                            <a:t>5</a:t>
                          </a:r>
                        </a:p>
                      </a:txBody>
                      <a:tcPr/>
                    </a:tc>
                    <a:extLst>
                      <a:ext uri="{0D108BD9-81ED-4DB2-BD59-A6C34878D82A}">
                        <a16:rowId xmlns:a16="http://schemas.microsoft.com/office/drawing/2014/main" val="664075840"/>
                      </a:ext>
                    </a:extLst>
                  </a:tr>
                  <a:tr h="274320">
                    <a:tc>
                      <a:txBody>
                        <a:bodyPr/>
                        <a:lstStyle/>
                        <a:p>
                          <a:pPr algn="ctr"/>
                          <a:r>
                            <a:rPr lang="en-US" sz="1200" dirty="0"/>
                            <a:t>4</a:t>
                          </a:r>
                        </a:p>
                      </a:txBody>
                      <a:tcPr/>
                    </a:tc>
                    <a:tc>
                      <a:txBody>
                        <a:bodyPr/>
                        <a:lstStyle/>
                        <a:p>
                          <a:pPr algn="ctr"/>
                          <a:r>
                            <a:rPr lang="en-US" sz="1200" dirty="0"/>
                            <a:t>N</a:t>
                          </a:r>
                        </a:p>
                      </a:txBody>
                      <a:tcPr/>
                    </a:tc>
                    <a:tc>
                      <a:txBody>
                        <a:bodyPr/>
                        <a:lstStyle/>
                        <a:p>
                          <a:pPr algn="ctr"/>
                          <a:r>
                            <a:rPr lang="en-US" sz="1200" dirty="0"/>
                            <a:t>3</a:t>
                          </a:r>
                        </a:p>
                      </a:txBody>
                      <a:tcPr/>
                    </a:tc>
                    <a:extLst>
                      <a:ext uri="{0D108BD9-81ED-4DB2-BD59-A6C34878D82A}">
                        <a16:rowId xmlns:a16="http://schemas.microsoft.com/office/drawing/2014/main" val="524532115"/>
                      </a:ext>
                    </a:extLst>
                  </a:tr>
                  <a:tr h="274320">
                    <a:tc>
                      <a:txBody>
                        <a:bodyPr/>
                        <a:lstStyle/>
                        <a:p>
                          <a:pPr algn="ctr"/>
                          <a:r>
                            <a:rPr lang="en-US" sz="1200" dirty="0"/>
                            <a:t>…</a:t>
                          </a:r>
                        </a:p>
                      </a:txBody>
                      <a:tcPr/>
                    </a:tc>
                    <a:tc>
                      <a:txBody>
                        <a:bodyPr/>
                        <a:lstStyle/>
                        <a:p>
                          <a:pPr algn="ctr"/>
                          <a:r>
                            <a:rPr lang="en-US" sz="1200" dirty="0"/>
                            <a:t>…</a:t>
                          </a:r>
                        </a:p>
                      </a:txBody>
                      <a:tcPr/>
                    </a:tc>
                    <a:tc>
                      <a:txBody>
                        <a:bodyPr/>
                        <a:lstStyle/>
                        <a:p>
                          <a:pPr algn="ctr"/>
                          <a:r>
                            <a:rPr lang="en-US" sz="1200" dirty="0"/>
                            <a:t>…</a:t>
                          </a:r>
                        </a:p>
                      </a:txBody>
                      <a:tcPr/>
                    </a:tc>
                    <a:extLst>
                      <a:ext uri="{0D108BD9-81ED-4DB2-BD59-A6C34878D82A}">
                        <a16:rowId xmlns:a16="http://schemas.microsoft.com/office/drawing/2014/main" val="2748076012"/>
                      </a:ext>
                    </a:extLst>
                  </a:tr>
                </a:tbl>
              </a:graphicData>
            </a:graphic>
          </p:graphicFrame>
        </mc:Choice>
        <mc:Fallback xmlns="">
          <p:graphicFrame>
            <p:nvGraphicFramePr>
              <p:cNvPr id="4" name="Table 3">
                <a:extLst>
                  <a:ext uri="{FF2B5EF4-FFF2-40B4-BE49-F238E27FC236}">
                    <a16:creationId xmlns:a16="http://schemas.microsoft.com/office/drawing/2014/main" id="{CA475CAD-AB60-2896-A0DA-F0EBAD2F28EA}"/>
                  </a:ext>
                </a:extLst>
              </p:cNvPr>
              <p:cNvGraphicFramePr>
                <a:graphicFrameLocks noGrp="1"/>
              </p:cNvGraphicFramePr>
              <p:nvPr>
                <p:extLst>
                  <p:ext uri="{D42A27DB-BD31-4B8C-83A1-F6EECF244321}">
                    <p14:modId xmlns:p14="http://schemas.microsoft.com/office/powerpoint/2010/main" val="2356749978"/>
                  </p:ext>
                </p:extLst>
              </p:nvPr>
            </p:nvGraphicFramePr>
            <p:xfrm>
              <a:off x="6518417" y="2918607"/>
              <a:ext cx="1371600" cy="2468880"/>
            </p:xfrm>
            <a:graphic>
              <a:graphicData uri="http://schemas.openxmlformats.org/drawingml/2006/table">
                <a:tbl>
                  <a:tblPr firstRow="1" bandRow="1">
                    <a:tableStyleId>{5C22544A-7EE6-4342-B048-85BDC9FD1C3A}</a:tableStyleId>
                  </a:tblPr>
                  <a:tblGrid>
                    <a:gridCol w="457200">
                      <a:extLst>
                        <a:ext uri="{9D8B030D-6E8A-4147-A177-3AD203B41FA5}">
                          <a16:colId xmlns:a16="http://schemas.microsoft.com/office/drawing/2014/main" val="959818411"/>
                        </a:ext>
                      </a:extLst>
                    </a:gridCol>
                    <a:gridCol w="457200">
                      <a:extLst>
                        <a:ext uri="{9D8B030D-6E8A-4147-A177-3AD203B41FA5}">
                          <a16:colId xmlns:a16="http://schemas.microsoft.com/office/drawing/2014/main" val="2035783971"/>
                        </a:ext>
                      </a:extLst>
                    </a:gridCol>
                    <a:gridCol w="457200">
                      <a:extLst>
                        <a:ext uri="{9D8B030D-6E8A-4147-A177-3AD203B41FA5}">
                          <a16:colId xmlns:a16="http://schemas.microsoft.com/office/drawing/2014/main" val="854637622"/>
                        </a:ext>
                      </a:extLst>
                    </a:gridCol>
                  </a:tblGrid>
                  <a:tr h="274320">
                    <a:tc>
                      <a:txBody>
                        <a:bodyPr/>
                        <a:lstStyle/>
                        <a:p>
                          <a:endParaRPr lang="en-US"/>
                        </a:p>
                      </a:txBody>
                      <a:tcPr>
                        <a:blipFill>
                          <a:blip r:embed="rId4"/>
                          <a:stretch>
                            <a:fillRect l="-1333" t="-2222" r="-206667" b="-820000"/>
                          </a:stretch>
                        </a:blipFill>
                      </a:tcPr>
                    </a:tc>
                    <a:tc>
                      <a:txBody>
                        <a:bodyPr/>
                        <a:lstStyle/>
                        <a:p>
                          <a:endParaRPr lang="en-US"/>
                        </a:p>
                      </a:txBody>
                      <a:tcPr>
                        <a:blipFill>
                          <a:blip r:embed="rId4"/>
                          <a:stretch>
                            <a:fillRect l="-100000" t="-2222" r="-103947" b="-820000"/>
                          </a:stretch>
                        </a:blipFill>
                      </a:tcPr>
                    </a:tc>
                    <a:tc>
                      <a:txBody>
                        <a:bodyPr/>
                        <a:lstStyle/>
                        <a:p>
                          <a:endParaRPr lang="en-US"/>
                        </a:p>
                      </a:txBody>
                      <a:tcPr>
                        <a:blipFill>
                          <a:blip r:embed="rId4"/>
                          <a:stretch>
                            <a:fillRect l="-202667" t="-2222" r="-5333" b="-820000"/>
                          </a:stretch>
                        </a:blipFill>
                      </a:tcPr>
                    </a:tc>
                    <a:extLst>
                      <a:ext uri="{0D108BD9-81ED-4DB2-BD59-A6C34878D82A}">
                        <a16:rowId xmlns:a16="http://schemas.microsoft.com/office/drawing/2014/main" val="3982531683"/>
                      </a:ext>
                    </a:extLst>
                  </a:tr>
                  <a:tr h="274320">
                    <a:tc>
                      <a:txBody>
                        <a:bodyPr/>
                        <a:lstStyle/>
                        <a:p>
                          <a:pPr algn="ctr"/>
                          <a:r>
                            <a:rPr lang="en-US" sz="1200" dirty="0"/>
                            <a:t>1</a:t>
                          </a:r>
                        </a:p>
                      </a:txBody>
                      <a:tcPr/>
                    </a:tc>
                    <a:tc>
                      <a:txBody>
                        <a:bodyPr/>
                        <a:lstStyle/>
                        <a:p>
                          <a:pPr algn="ctr"/>
                          <a:r>
                            <a:rPr lang="en-US" sz="1200" dirty="0"/>
                            <a:t>S</a:t>
                          </a:r>
                        </a:p>
                      </a:txBody>
                      <a:tcPr/>
                    </a:tc>
                    <a:tc>
                      <a:txBody>
                        <a:bodyPr/>
                        <a:lstStyle/>
                        <a:p>
                          <a:pPr algn="ctr"/>
                          <a:r>
                            <a:rPr lang="en-US" sz="1200" dirty="0"/>
                            <a:t>2</a:t>
                          </a:r>
                        </a:p>
                      </a:txBody>
                      <a:tcPr/>
                    </a:tc>
                    <a:extLst>
                      <a:ext uri="{0D108BD9-81ED-4DB2-BD59-A6C34878D82A}">
                        <a16:rowId xmlns:a16="http://schemas.microsoft.com/office/drawing/2014/main" val="2106318447"/>
                      </a:ext>
                    </a:extLst>
                  </a:tr>
                  <a:tr h="274320">
                    <a:tc>
                      <a:txBody>
                        <a:bodyPr/>
                        <a:lstStyle/>
                        <a:p>
                          <a:pPr algn="ctr"/>
                          <a:r>
                            <a:rPr lang="en-US" sz="1200" dirty="0"/>
                            <a:t>2</a:t>
                          </a:r>
                        </a:p>
                      </a:txBody>
                      <a:tcPr/>
                    </a:tc>
                    <a:tc>
                      <a:txBody>
                        <a:bodyPr/>
                        <a:lstStyle/>
                        <a:p>
                          <a:pPr algn="ctr"/>
                          <a:r>
                            <a:rPr lang="en-US" sz="1200" dirty="0"/>
                            <a:t>N</a:t>
                          </a:r>
                        </a:p>
                      </a:txBody>
                      <a:tcPr/>
                    </a:tc>
                    <a:tc>
                      <a:txBody>
                        <a:bodyPr/>
                        <a:lstStyle/>
                        <a:p>
                          <a:pPr algn="ctr"/>
                          <a:r>
                            <a:rPr lang="en-US" sz="1200" dirty="0"/>
                            <a:t>1</a:t>
                          </a:r>
                        </a:p>
                      </a:txBody>
                      <a:tcPr/>
                    </a:tc>
                    <a:extLst>
                      <a:ext uri="{0D108BD9-81ED-4DB2-BD59-A6C34878D82A}">
                        <a16:rowId xmlns:a16="http://schemas.microsoft.com/office/drawing/2014/main" val="2559476360"/>
                      </a:ext>
                    </a:extLst>
                  </a:tr>
                  <a:tr h="274320">
                    <a:tc>
                      <a:txBody>
                        <a:bodyPr/>
                        <a:lstStyle/>
                        <a:p>
                          <a:pPr algn="ctr"/>
                          <a:r>
                            <a:rPr lang="en-US" sz="1200" dirty="0"/>
                            <a:t>2</a:t>
                          </a:r>
                        </a:p>
                      </a:txBody>
                      <a:tcPr/>
                    </a:tc>
                    <a:tc>
                      <a:txBody>
                        <a:bodyPr/>
                        <a:lstStyle/>
                        <a:p>
                          <a:pPr algn="ctr"/>
                          <a:r>
                            <a:rPr lang="en-US" sz="1200" dirty="0"/>
                            <a:t>S</a:t>
                          </a:r>
                        </a:p>
                      </a:txBody>
                      <a:tcPr/>
                    </a:tc>
                    <a:tc>
                      <a:txBody>
                        <a:bodyPr/>
                        <a:lstStyle/>
                        <a:p>
                          <a:pPr algn="ctr"/>
                          <a:r>
                            <a:rPr lang="en-US" sz="1200" dirty="0"/>
                            <a:t>3</a:t>
                          </a:r>
                        </a:p>
                      </a:txBody>
                      <a:tcPr/>
                    </a:tc>
                    <a:extLst>
                      <a:ext uri="{0D108BD9-81ED-4DB2-BD59-A6C34878D82A}">
                        <a16:rowId xmlns:a16="http://schemas.microsoft.com/office/drawing/2014/main" val="1509338056"/>
                      </a:ext>
                    </a:extLst>
                  </a:tr>
                  <a:tr h="274320">
                    <a:tc>
                      <a:txBody>
                        <a:bodyPr/>
                        <a:lstStyle/>
                        <a:p>
                          <a:pPr algn="ctr"/>
                          <a:r>
                            <a:rPr lang="en-US" sz="1200" dirty="0"/>
                            <a:t>…</a:t>
                          </a:r>
                        </a:p>
                      </a:txBody>
                      <a:tcPr/>
                    </a:tc>
                    <a:tc>
                      <a:txBody>
                        <a:bodyPr/>
                        <a:lstStyle/>
                        <a:p>
                          <a:pPr algn="ctr"/>
                          <a:r>
                            <a:rPr lang="en-US" sz="1200" dirty="0"/>
                            <a:t>…</a:t>
                          </a:r>
                        </a:p>
                      </a:txBody>
                      <a:tcPr/>
                    </a:tc>
                    <a:tc>
                      <a:txBody>
                        <a:bodyPr/>
                        <a:lstStyle/>
                        <a:p>
                          <a:pPr algn="ctr"/>
                          <a:r>
                            <a:rPr lang="en-US" sz="1200" dirty="0"/>
                            <a:t>…</a:t>
                          </a:r>
                        </a:p>
                      </a:txBody>
                      <a:tcPr/>
                    </a:tc>
                    <a:extLst>
                      <a:ext uri="{0D108BD9-81ED-4DB2-BD59-A6C34878D82A}">
                        <a16:rowId xmlns:a16="http://schemas.microsoft.com/office/drawing/2014/main" val="3832977166"/>
                      </a:ext>
                    </a:extLst>
                  </a:tr>
                  <a:tr h="274320">
                    <a:tc>
                      <a:txBody>
                        <a:bodyPr/>
                        <a:lstStyle/>
                        <a:p>
                          <a:pPr algn="ctr"/>
                          <a:r>
                            <a:rPr lang="en-US" sz="1200" dirty="0"/>
                            <a:t>4</a:t>
                          </a:r>
                        </a:p>
                      </a:txBody>
                      <a:tcPr/>
                    </a:tc>
                    <a:tc>
                      <a:txBody>
                        <a:bodyPr/>
                        <a:lstStyle/>
                        <a:p>
                          <a:pPr algn="ctr"/>
                          <a:r>
                            <a:rPr lang="en-US" sz="1200" dirty="0"/>
                            <a:t>E</a:t>
                          </a:r>
                        </a:p>
                      </a:txBody>
                      <a:tcPr/>
                    </a:tc>
                    <a:tc>
                      <a:txBody>
                        <a:bodyPr/>
                        <a:lstStyle/>
                        <a:p>
                          <a:pPr algn="ctr"/>
                          <a:r>
                            <a:rPr lang="en-US" sz="1200" dirty="0"/>
                            <a:t>a</a:t>
                          </a:r>
                        </a:p>
                      </a:txBody>
                      <a:tcPr/>
                    </a:tc>
                    <a:extLst>
                      <a:ext uri="{0D108BD9-81ED-4DB2-BD59-A6C34878D82A}">
                        <a16:rowId xmlns:a16="http://schemas.microsoft.com/office/drawing/2014/main" val="1157999032"/>
                      </a:ext>
                    </a:extLst>
                  </a:tr>
                  <a:tr h="274320">
                    <a:tc>
                      <a:txBody>
                        <a:bodyPr/>
                        <a:lstStyle/>
                        <a:p>
                          <a:pPr algn="ctr"/>
                          <a:r>
                            <a:rPr lang="en-US" sz="1200" dirty="0"/>
                            <a:t>4</a:t>
                          </a:r>
                        </a:p>
                      </a:txBody>
                      <a:tcPr/>
                    </a:tc>
                    <a:tc>
                      <a:txBody>
                        <a:bodyPr/>
                        <a:lstStyle/>
                        <a:p>
                          <a:pPr algn="ctr"/>
                          <a:r>
                            <a:rPr lang="en-US" sz="1200" dirty="0"/>
                            <a:t>S</a:t>
                          </a:r>
                        </a:p>
                      </a:txBody>
                      <a:tcPr/>
                    </a:tc>
                    <a:tc>
                      <a:txBody>
                        <a:bodyPr/>
                        <a:lstStyle/>
                        <a:p>
                          <a:pPr algn="ctr"/>
                          <a:r>
                            <a:rPr lang="en-US" sz="1200" dirty="0"/>
                            <a:t>5</a:t>
                          </a:r>
                        </a:p>
                      </a:txBody>
                      <a:tcPr/>
                    </a:tc>
                    <a:extLst>
                      <a:ext uri="{0D108BD9-81ED-4DB2-BD59-A6C34878D82A}">
                        <a16:rowId xmlns:a16="http://schemas.microsoft.com/office/drawing/2014/main" val="664075840"/>
                      </a:ext>
                    </a:extLst>
                  </a:tr>
                  <a:tr h="274320">
                    <a:tc>
                      <a:txBody>
                        <a:bodyPr/>
                        <a:lstStyle/>
                        <a:p>
                          <a:pPr algn="ctr"/>
                          <a:r>
                            <a:rPr lang="en-US" sz="1200" dirty="0"/>
                            <a:t>4</a:t>
                          </a:r>
                        </a:p>
                      </a:txBody>
                      <a:tcPr/>
                    </a:tc>
                    <a:tc>
                      <a:txBody>
                        <a:bodyPr/>
                        <a:lstStyle/>
                        <a:p>
                          <a:pPr algn="ctr"/>
                          <a:r>
                            <a:rPr lang="en-US" sz="1200" dirty="0"/>
                            <a:t>N</a:t>
                          </a:r>
                        </a:p>
                      </a:txBody>
                      <a:tcPr/>
                    </a:tc>
                    <a:tc>
                      <a:txBody>
                        <a:bodyPr/>
                        <a:lstStyle/>
                        <a:p>
                          <a:pPr algn="ctr"/>
                          <a:r>
                            <a:rPr lang="en-US" sz="1200" dirty="0"/>
                            <a:t>3</a:t>
                          </a:r>
                        </a:p>
                      </a:txBody>
                      <a:tcPr/>
                    </a:tc>
                    <a:extLst>
                      <a:ext uri="{0D108BD9-81ED-4DB2-BD59-A6C34878D82A}">
                        <a16:rowId xmlns:a16="http://schemas.microsoft.com/office/drawing/2014/main" val="524532115"/>
                      </a:ext>
                    </a:extLst>
                  </a:tr>
                  <a:tr h="274320">
                    <a:tc>
                      <a:txBody>
                        <a:bodyPr/>
                        <a:lstStyle/>
                        <a:p>
                          <a:pPr algn="ctr"/>
                          <a:r>
                            <a:rPr lang="en-US" sz="1200" dirty="0"/>
                            <a:t>…</a:t>
                          </a:r>
                        </a:p>
                      </a:txBody>
                      <a:tcPr/>
                    </a:tc>
                    <a:tc>
                      <a:txBody>
                        <a:bodyPr/>
                        <a:lstStyle/>
                        <a:p>
                          <a:pPr algn="ctr"/>
                          <a:r>
                            <a:rPr lang="en-US" sz="1200" dirty="0"/>
                            <a:t>…</a:t>
                          </a:r>
                        </a:p>
                      </a:txBody>
                      <a:tcPr/>
                    </a:tc>
                    <a:tc>
                      <a:txBody>
                        <a:bodyPr/>
                        <a:lstStyle/>
                        <a:p>
                          <a:pPr algn="ctr"/>
                          <a:r>
                            <a:rPr lang="en-US" sz="1200" dirty="0"/>
                            <a:t>…</a:t>
                          </a:r>
                        </a:p>
                      </a:txBody>
                      <a:tcPr/>
                    </a:tc>
                    <a:extLst>
                      <a:ext uri="{0D108BD9-81ED-4DB2-BD59-A6C34878D82A}">
                        <a16:rowId xmlns:a16="http://schemas.microsoft.com/office/drawing/2014/main" val="2748076012"/>
                      </a:ext>
                    </a:extLst>
                  </a:tr>
                </a:tbl>
              </a:graphicData>
            </a:graphic>
          </p:graphicFrame>
        </mc:Fallback>
      </mc:AlternateContent>
      <p:grpSp>
        <p:nvGrpSpPr>
          <p:cNvPr id="14" name="Group 13">
            <a:extLst>
              <a:ext uri="{FF2B5EF4-FFF2-40B4-BE49-F238E27FC236}">
                <a16:creationId xmlns:a16="http://schemas.microsoft.com/office/drawing/2014/main" id="{63A85A2D-7BCD-6D60-7907-67340C4ECDF4}"/>
              </a:ext>
            </a:extLst>
          </p:cNvPr>
          <p:cNvGrpSpPr/>
          <p:nvPr/>
        </p:nvGrpSpPr>
        <p:grpSpPr>
          <a:xfrm>
            <a:off x="6439887" y="4228731"/>
            <a:ext cx="1483925" cy="1910944"/>
            <a:chOff x="2911837" y="4228728"/>
            <a:chExt cx="1483925" cy="1910944"/>
          </a:xfrm>
        </p:grpSpPr>
        <p:sp>
          <p:nvSpPr>
            <p:cNvPr id="8" name="Rectangle 7">
              <a:extLst>
                <a:ext uri="{FF2B5EF4-FFF2-40B4-BE49-F238E27FC236}">
                  <a16:creationId xmlns:a16="http://schemas.microsoft.com/office/drawing/2014/main" id="{B47D2B90-A7DB-BBC7-588E-10EB7B9C5593}"/>
                </a:ext>
              </a:extLst>
            </p:cNvPr>
            <p:cNvSpPr/>
            <p:nvPr/>
          </p:nvSpPr>
          <p:spPr>
            <a:xfrm>
              <a:off x="2911837" y="4228728"/>
              <a:ext cx="1483925" cy="975471"/>
            </a:xfrm>
            <a:prstGeom prst="rect">
              <a:avLst/>
            </a:prstGeom>
            <a:noFill/>
            <a:ln w="19050" cap="flat" cmpd="sng" algn="ctr">
              <a:solidFill>
                <a:schemeClr val="accent2"/>
              </a:solidFill>
              <a:prstDash val="solid"/>
              <a:round/>
              <a:headEnd type="none" w="med" len="med"/>
              <a:tailEnd type="none" w="med" len="med"/>
            </a:ln>
          </p:spPr>
          <p:style>
            <a:lnRef idx="0">
              <a:scrgbClr r="0" g="0" b="0"/>
            </a:lnRef>
            <a:fillRef idx="0">
              <a:scrgbClr r="0" g="0" b="0"/>
            </a:fillRef>
            <a:effectRef idx="0">
              <a:scrgbClr r="0" g="0" b="0"/>
            </a:effectRef>
            <a:fontRef idx="minor">
              <a:schemeClr val="accent2"/>
            </a:fontRef>
          </p:style>
          <p:txBody>
            <a:bodyPr rtlCol="0" anchor="ctr"/>
            <a:lstStyle/>
            <a:p>
              <a:pPr algn="ctr"/>
              <a:endParaRPr lang="en-US"/>
            </a:p>
          </p:txBody>
        </p:sp>
        <p:cxnSp>
          <p:nvCxnSpPr>
            <p:cNvPr id="11" name="Straight Arrow Connector 10">
              <a:extLst>
                <a:ext uri="{FF2B5EF4-FFF2-40B4-BE49-F238E27FC236}">
                  <a16:creationId xmlns:a16="http://schemas.microsoft.com/office/drawing/2014/main" id="{924A5F5E-B13C-AC6E-43B7-BB57CA096FCD}"/>
                </a:ext>
              </a:extLst>
            </p:cNvPr>
            <p:cNvCxnSpPr>
              <a:cxnSpLocks/>
            </p:cNvCxnSpPr>
            <p:nvPr/>
          </p:nvCxnSpPr>
          <p:spPr>
            <a:xfrm flipH="1">
              <a:off x="3482350" y="5257800"/>
              <a:ext cx="740485" cy="881872"/>
            </a:xfrm>
            <a:prstGeom prst="straightConnector1">
              <a:avLst/>
            </a:prstGeom>
            <a:ln w="19050" cap="flat" cmpd="sng" algn="ctr">
              <a:solidFill>
                <a:schemeClr val="accent2"/>
              </a:solidFill>
              <a:prstDash val="solid"/>
              <a:round/>
              <a:headEnd type="none" w="med" len="med"/>
              <a:tailEnd type="arrow" w="med" len="med"/>
            </a:ln>
          </p:spPr>
          <p:style>
            <a:lnRef idx="0">
              <a:scrgbClr r="0" g="0" b="0"/>
            </a:lnRef>
            <a:fillRef idx="0">
              <a:scrgbClr r="0" g="0" b="0"/>
            </a:fillRef>
            <a:effectRef idx="0">
              <a:scrgbClr r="0" g="0" b="0"/>
            </a:effectRef>
            <a:fontRef idx="minor">
              <a:schemeClr val="tx1"/>
            </a:fontRef>
          </p:style>
        </p:cxnSp>
      </p:grpSp>
      <p:grpSp>
        <p:nvGrpSpPr>
          <p:cNvPr id="13" name="Group 12">
            <a:extLst>
              <a:ext uri="{FF2B5EF4-FFF2-40B4-BE49-F238E27FC236}">
                <a16:creationId xmlns:a16="http://schemas.microsoft.com/office/drawing/2014/main" id="{B12F1792-B551-FF1A-0B37-BE43871A93F8}"/>
              </a:ext>
            </a:extLst>
          </p:cNvPr>
          <p:cNvGrpSpPr/>
          <p:nvPr/>
        </p:nvGrpSpPr>
        <p:grpSpPr>
          <a:xfrm>
            <a:off x="370103" y="1708675"/>
            <a:ext cx="3973297" cy="4431000"/>
            <a:chOff x="4810833" y="1860301"/>
            <a:chExt cx="3973297" cy="4431000"/>
          </a:xfrm>
        </p:grpSpPr>
        <p:pic>
          <p:nvPicPr>
            <p:cNvPr id="37" name="Picture 2">
              <a:extLst>
                <a:ext uri="{FF2B5EF4-FFF2-40B4-BE49-F238E27FC236}">
                  <a16:creationId xmlns:a16="http://schemas.microsoft.com/office/drawing/2014/main" id="{BB2C9399-489E-4F3C-BA01-A07DCA723D38}"/>
                </a:ext>
              </a:extLst>
            </p:cNvPr>
            <p:cNvPicPr>
              <a:picLocks noChangeAspect="1" noChangeArrowheads="1"/>
            </p:cNvPicPr>
            <p:nvPr/>
          </p:nvPicPr>
          <p:blipFill>
            <a:blip r:embed="rId5" cstate="print">
              <a:extLst>
                <a:ext uri="{BEBA8EAE-BF5A-486C-A8C5-ECC9F3942E4B}">
                  <a14:imgProps xmlns:a14="http://schemas.microsoft.com/office/drawing/2010/main">
                    <a14:imgLayer r:embed="rId6">
                      <a14:imgEffect>
                        <a14:artisticPencilSketch/>
                      </a14:imgEffect>
                    </a14:imgLayer>
                  </a14:imgProps>
                </a:ext>
              </a:extLst>
            </a:blip>
            <a:srcRect/>
            <a:stretch>
              <a:fillRect/>
            </a:stretch>
          </p:blipFill>
          <p:spPr bwMode="auto">
            <a:xfrm>
              <a:off x="5421460" y="2996431"/>
              <a:ext cx="2667000" cy="2706574"/>
            </a:xfrm>
            <a:prstGeom prst="rect">
              <a:avLst/>
            </a:prstGeom>
            <a:noFill/>
            <a:ln w="9525">
              <a:noFill/>
              <a:miter lim="800000"/>
              <a:headEnd/>
              <a:tailEnd/>
            </a:ln>
          </p:spPr>
        </p:pic>
        <p:sp>
          <p:nvSpPr>
            <p:cNvPr id="20" name="Oval 19">
              <a:extLst>
                <a:ext uri="{FF2B5EF4-FFF2-40B4-BE49-F238E27FC236}">
                  <a16:creationId xmlns:a16="http://schemas.microsoft.com/office/drawing/2014/main" id="{631C85B5-5EBA-401A-B072-48103AE4F82C}"/>
                </a:ext>
              </a:extLst>
            </p:cNvPr>
            <p:cNvSpPr/>
            <p:nvPr/>
          </p:nvSpPr>
          <p:spPr>
            <a:xfrm>
              <a:off x="6414984" y="3122594"/>
              <a:ext cx="152400" cy="152400"/>
            </a:xfrm>
            <a:prstGeom prst="ellipse">
              <a:avLst/>
            </a:prstGeom>
          </p:spPr>
          <p:style>
            <a:lnRef idx="1">
              <a:schemeClr val="accent1"/>
            </a:lnRef>
            <a:fillRef idx="2">
              <a:schemeClr val="accent1"/>
            </a:fillRef>
            <a:effectRef idx="1">
              <a:schemeClr val="accent1"/>
            </a:effectRef>
            <a:fontRef idx="minor">
              <a:schemeClr val="dk1"/>
            </a:fontRef>
          </p:style>
          <p:txBody>
            <a:bodyPr rtlCol="0" anchor="ctr"/>
            <a:lstStyle/>
            <a:p>
              <a:pPr algn="ctr"/>
              <a:r>
                <a:rPr lang="en-US" sz="1400" dirty="0"/>
                <a:t>g</a:t>
              </a:r>
            </a:p>
          </p:txBody>
        </p:sp>
        <p:sp>
          <p:nvSpPr>
            <p:cNvPr id="25" name="Oval 24">
              <a:extLst>
                <a:ext uri="{FF2B5EF4-FFF2-40B4-BE49-F238E27FC236}">
                  <a16:creationId xmlns:a16="http://schemas.microsoft.com/office/drawing/2014/main" id="{3C7DA1FB-0A25-44FA-821F-8ADD503ABA32}"/>
                </a:ext>
              </a:extLst>
            </p:cNvPr>
            <p:cNvSpPr/>
            <p:nvPr/>
          </p:nvSpPr>
          <p:spPr>
            <a:xfrm>
              <a:off x="6676013" y="3144599"/>
              <a:ext cx="152400" cy="152400"/>
            </a:xfrm>
            <a:prstGeom prst="ellipse">
              <a:avLst/>
            </a:prstGeom>
          </p:spPr>
          <p:style>
            <a:lnRef idx="1">
              <a:schemeClr val="accent1"/>
            </a:lnRef>
            <a:fillRef idx="2">
              <a:schemeClr val="accent1"/>
            </a:fillRef>
            <a:effectRef idx="1">
              <a:schemeClr val="accent1"/>
            </a:effectRef>
            <a:fontRef idx="minor">
              <a:schemeClr val="dk1"/>
            </a:fontRef>
          </p:style>
          <p:txBody>
            <a:bodyPr rtlCol="0" anchor="ctr"/>
            <a:lstStyle/>
            <a:p>
              <a:pPr algn="ctr"/>
              <a:r>
                <a:rPr lang="en-US" sz="1400" dirty="0" err="1"/>
                <a:t>i</a:t>
              </a:r>
              <a:endParaRPr lang="en-US" sz="1400" dirty="0"/>
            </a:p>
          </p:txBody>
        </p:sp>
        <p:grpSp>
          <p:nvGrpSpPr>
            <p:cNvPr id="6" name="Group 5">
              <a:extLst>
                <a:ext uri="{FF2B5EF4-FFF2-40B4-BE49-F238E27FC236}">
                  <a16:creationId xmlns:a16="http://schemas.microsoft.com/office/drawing/2014/main" id="{7E3F831D-7D4F-3B99-3CF0-D67BC5383826}"/>
                </a:ext>
              </a:extLst>
            </p:cNvPr>
            <p:cNvGrpSpPr/>
            <p:nvPr/>
          </p:nvGrpSpPr>
          <p:grpSpPr>
            <a:xfrm>
              <a:off x="6322890" y="2608014"/>
              <a:ext cx="1459863" cy="369332"/>
              <a:chOff x="6469539" y="1455104"/>
              <a:chExt cx="1459863" cy="369332"/>
            </a:xfrm>
          </p:grpSpPr>
          <p:cxnSp>
            <p:nvCxnSpPr>
              <p:cNvPr id="22" name="Straight Arrow Connector 21">
                <a:extLst>
                  <a:ext uri="{FF2B5EF4-FFF2-40B4-BE49-F238E27FC236}">
                    <a16:creationId xmlns:a16="http://schemas.microsoft.com/office/drawing/2014/main" id="{65673889-0999-4224-AE70-F37A3481AF62}"/>
                  </a:ext>
                </a:extLst>
              </p:cNvPr>
              <p:cNvCxnSpPr>
                <a:cxnSpLocks/>
              </p:cNvCxnSpPr>
              <p:nvPr/>
            </p:nvCxnSpPr>
            <p:spPr>
              <a:xfrm>
                <a:off x="7688169" y="1641884"/>
                <a:ext cx="241233" cy="1"/>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24" name="TextBox 23">
                <a:extLst>
                  <a:ext uri="{FF2B5EF4-FFF2-40B4-BE49-F238E27FC236}">
                    <a16:creationId xmlns:a16="http://schemas.microsoft.com/office/drawing/2014/main" id="{C571BA5E-860F-497F-B1C2-6AA8B09C1901}"/>
                  </a:ext>
                </a:extLst>
              </p:cNvPr>
              <p:cNvSpPr txBox="1"/>
              <p:nvPr/>
            </p:nvSpPr>
            <p:spPr>
              <a:xfrm>
                <a:off x="6469539" y="1455104"/>
                <a:ext cx="1231263" cy="369332"/>
              </a:xfrm>
              <a:prstGeom prst="rect">
                <a:avLst/>
              </a:prstGeom>
              <a:noFill/>
            </p:spPr>
            <p:txBody>
              <a:bodyPr wrap="square" rtlCol="0">
                <a:spAutoFit/>
              </a:bodyPr>
              <a:lstStyle/>
              <a:p>
                <a:r>
                  <a:rPr lang="en-US" dirty="0">
                    <a:solidFill>
                      <a:srgbClr val="0070C0"/>
                    </a:solidFill>
                  </a:rPr>
                  <a:t>Transitions</a:t>
                </a:r>
              </a:p>
            </p:txBody>
          </p:sp>
        </p:grpSp>
        <p:sp>
          <p:nvSpPr>
            <p:cNvPr id="26" name="TextBox 25">
              <a:extLst>
                <a:ext uri="{FF2B5EF4-FFF2-40B4-BE49-F238E27FC236}">
                  <a16:creationId xmlns:a16="http://schemas.microsoft.com/office/drawing/2014/main" id="{7A0BC9ED-5B8D-4565-A622-5EE8EBBD0DDC}"/>
                </a:ext>
              </a:extLst>
            </p:cNvPr>
            <p:cNvSpPr txBox="1"/>
            <p:nvPr/>
          </p:nvSpPr>
          <p:spPr>
            <a:xfrm>
              <a:off x="6323110" y="2291546"/>
              <a:ext cx="2461020" cy="369332"/>
            </a:xfrm>
            <a:prstGeom prst="rect">
              <a:avLst/>
            </a:prstGeom>
            <a:noFill/>
          </p:spPr>
          <p:txBody>
            <a:bodyPr wrap="square" rtlCol="0">
              <a:spAutoFit/>
            </a:bodyPr>
            <a:lstStyle/>
            <a:p>
              <a:r>
                <a:rPr lang="en-US" dirty="0">
                  <a:solidFill>
                    <a:srgbClr val="0070C0"/>
                  </a:solidFill>
                </a:rPr>
                <a:t>Actions: {N, E, S, W}</a:t>
              </a:r>
            </a:p>
          </p:txBody>
        </p:sp>
        <p:cxnSp>
          <p:nvCxnSpPr>
            <p:cNvPr id="17" name="Straight Connector 16">
              <a:extLst>
                <a:ext uri="{FF2B5EF4-FFF2-40B4-BE49-F238E27FC236}">
                  <a16:creationId xmlns:a16="http://schemas.microsoft.com/office/drawing/2014/main" id="{29687937-4135-4287-8ED0-00C110B5596F}"/>
                </a:ext>
              </a:extLst>
            </p:cNvPr>
            <p:cNvCxnSpPr/>
            <p:nvPr/>
          </p:nvCxnSpPr>
          <p:spPr>
            <a:xfrm>
              <a:off x="5421460" y="3122594"/>
              <a:ext cx="2682297" cy="0"/>
            </a:xfrm>
            <a:prstGeom prst="line">
              <a:avLst/>
            </a:prstGeom>
            <a:ln w="19050" cap="flat" cmpd="sng" algn="ctr">
              <a:solidFill>
                <a:schemeClr val="accent2"/>
              </a:solidFill>
              <a:prstDash val="sysDot"/>
              <a:round/>
              <a:headEnd type="none" w="med" len="med"/>
              <a:tailEnd type="none" w="med" len="med"/>
            </a:ln>
          </p:spPr>
          <p:style>
            <a:lnRef idx="0">
              <a:scrgbClr r="0" g="0" b="0"/>
            </a:lnRef>
            <a:fillRef idx="0">
              <a:scrgbClr r="0" g="0" b="0"/>
            </a:fillRef>
            <a:effectRef idx="0">
              <a:scrgbClr r="0" g="0" b="0"/>
            </a:effectRef>
            <a:fontRef idx="minor">
              <a:schemeClr val="tx1"/>
            </a:fontRef>
          </p:style>
        </p:cxnSp>
        <p:cxnSp>
          <p:nvCxnSpPr>
            <p:cNvPr id="27" name="Straight Connector 26">
              <a:extLst>
                <a:ext uri="{FF2B5EF4-FFF2-40B4-BE49-F238E27FC236}">
                  <a16:creationId xmlns:a16="http://schemas.microsoft.com/office/drawing/2014/main" id="{469C5812-42DE-40DC-BDBD-1FFFCE448FCA}"/>
                </a:ext>
              </a:extLst>
            </p:cNvPr>
            <p:cNvCxnSpPr/>
            <p:nvPr/>
          </p:nvCxnSpPr>
          <p:spPr>
            <a:xfrm>
              <a:off x="5421460" y="3274994"/>
              <a:ext cx="2682297" cy="0"/>
            </a:xfrm>
            <a:prstGeom prst="line">
              <a:avLst/>
            </a:prstGeom>
            <a:ln w="19050" cap="flat" cmpd="sng" algn="ctr">
              <a:solidFill>
                <a:schemeClr val="accent2"/>
              </a:solidFill>
              <a:prstDash val="sysDot"/>
              <a:round/>
              <a:headEnd type="none" w="med" len="med"/>
              <a:tailEnd type="none" w="med" len="med"/>
            </a:ln>
          </p:spPr>
          <p:style>
            <a:lnRef idx="0">
              <a:scrgbClr r="0" g="0" b="0"/>
            </a:lnRef>
            <a:fillRef idx="0">
              <a:scrgbClr r="0" g="0" b="0"/>
            </a:fillRef>
            <a:effectRef idx="0">
              <a:scrgbClr r="0" g="0" b="0"/>
            </a:effectRef>
            <a:fontRef idx="minor">
              <a:schemeClr val="tx1"/>
            </a:fontRef>
          </p:style>
        </p:cxnSp>
        <p:cxnSp>
          <p:nvCxnSpPr>
            <p:cNvPr id="28" name="Straight Connector 27">
              <a:extLst>
                <a:ext uri="{FF2B5EF4-FFF2-40B4-BE49-F238E27FC236}">
                  <a16:creationId xmlns:a16="http://schemas.microsoft.com/office/drawing/2014/main" id="{8337C082-C11C-4A5E-8046-ABC50F3CE1D3}"/>
                </a:ext>
              </a:extLst>
            </p:cNvPr>
            <p:cNvCxnSpPr/>
            <p:nvPr/>
          </p:nvCxnSpPr>
          <p:spPr>
            <a:xfrm>
              <a:off x="5394903" y="3413105"/>
              <a:ext cx="2682297" cy="0"/>
            </a:xfrm>
            <a:prstGeom prst="line">
              <a:avLst/>
            </a:prstGeom>
            <a:ln w="19050" cap="flat" cmpd="sng" algn="ctr">
              <a:solidFill>
                <a:schemeClr val="accent2"/>
              </a:solidFill>
              <a:prstDash val="sysDot"/>
              <a:round/>
              <a:headEnd type="none" w="med" len="med"/>
              <a:tailEnd type="none" w="med" len="med"/>
            </a:ln>
          </p:spPr>
          <p:style>
            <a:lnRef idx="0">
              <a:scrgbClr r="0" g="0" b="0"/>
            </a:lnRef>
            <a:fillRef idx="0">
              <a:scrgbClr r="0" g="0" b="0"/>
            </a:fillRef>
            <a:effectRef idx="0">
              <a:scrgbClr r="0" g="0" b="0"/>
            </a:effectRef>
            <a:fontRef idx="minor">
              <a:schemeClr val="tx1"/>
            </a:fontRef>
          </p:style>
        </p:cxnSp>
        <p:cxnSp>
          <p:nvCxnSpPr>
            <p:cNvPr id="29" name="Straight Connector 28">
              <a:extLst>
                <a:ext uri="{FF2B5EF4-FFF2-40B4-BE49-F238E27FC236}">
                  <a16:creationId xmlns:a16="http://schemas.microsoft.com/office/drawing/2014/main" id="{10128FD0-995C-44C6-BC82-E8B6DD8664B1}"/>
                </a:ext>
              </a:extLst>
            </p:cNvPr>
            <p:cNvCxnSpPr/>
            <p:nvPr/>
          </p:nvCxnSpPr>
          <p:spPr>
            <a:xfrm>
              <a:off x="5410200" y="3565505"/>
              <a:ext cx="2682297" cy="0"/>
            </a:xfrm>
            <a:prstGeom prst="line">
              <a:avLst/>
            </a:prstGeom>
            <a:ln w="19050" cap="flat" cmpd="sng" algn="ctr">
              <a:solidFill>
                <a:schemeClr val="accent2"/>
              </a:solidFill>
              <a:prstDash val="sysDot"/>
              <a:round/>
              <a:headEnd type="none" w="med" len="med"/>
              <a:tailEnd type="none" w="med" len="med"/>
            </a:ln>
          </p:spPr>
          <p:style>
            <a:lnRef idx="0">
              <a:scrgbClr r="0" g="0" b="0"/>
            </a:lnRef>
            <a:fillRef idx="0">
              <a:scrgbClr r="0" g="0" b="0"/>
            </a:fillRef>
            <a:effectRef idx="0">
              <a:scrgbClr r="0" g="0" b="0"/>
            </a:effectRef>
            <a:fontRef idx="minor">
              <a:schemeClr val="tx1"/>
            </a:fontRef>
          </p:style>
        </p:cxnSp>
        <p:cxnSp>
          <p:nvCxnSpPr>
            <p:cNvPr id="30" name="Straight Connector 29">
              <a:extLst>
                <a:ext uri="{FF2B5EF4-FFF2-40B4-BE49-F238E27FC236}">
                  <a16:creationId xmlns:a16="http://schemas.microsoft.com/office/drawing/2014/main" id="{EE473A66-8C99-435D-89ED-C3CB92A4D343}"/>
                </a:ext>
              </a:extLst>
            </p:cNvPr>
            <p:cNvCxnSpPr/>
            <p:nvPr/>
          </p:nvCxnSpPr>
          <p:spPr>
            <a:xfrm>
              <a:off x="5410200" y="3717905"/>
              <a:ext cx="2682297" cy="0"/>
            </a:xfrm>
            <a:prstGeom prst="line">
              <a:avLst/>
            </a:prstGeom>
            <a:ln w="19050" cap="flat" cmpd="sng" algn="ctr">
              <a:solidFill>
                <a:schemeClr val="accent2"/>
              </a:solidFill>
              <a:prstDash val="sysDot"/>
              <a:round/>
              <a:headEnd type="none" w="med" len="med"/>
              <a:tailEnd type="none" w="med" len="med"/>
            </a:ln>
          </p:spPr>
          <p:style>
            <a:lnRef idx="0">
              <a:scrgbClr r="0" g="0" b="0"/>
            </a:lnRef>
            <a:fillRef idx="0">
              <a:scrgbClr r="0" g="0" b="0"/>
            </a:fillRef>
            <a:effectRef idx="0">
              <a:scrgbClr r="0" g="0" b="0"/>
            </a:effectRef>
            <a:fontRef idx="minor">
              <a:schemeClr val="tx1"/>
            </a:fontRef>
          </p:style>
        </p:cxnSp>
        <p:cxnSp>
          <p:nvCxnSpPr>
            <p:cNvPr id="31" name="Straight Connector 30">
              <a:extLst>
                <a:ext uri="{FF2B5EF4-FFF2-40B4-BE49-F238E27FC236}">
                  <a16:creationId xmlns:a16="http://schemas.microsoft.com/office/drawing/2014/main" id="{2D4C0013-827F-43B0-B1C5-F1F166FC5150}"/>
                </a:ext>
              </a:extLst>
            </p:cNvPr>
            <p:cNvCxnSpPr>
              <a:cxnSpLocks/>
            </p:cNvCxnSpPr>
            <p:nvPr/>
          </p:nvCxnSpPr>
          <p:spPr>
            <a:xfrm>
              <a:off x="5552796" y="2992199"/>
              <a:ext cx="0" cy="2722801"/>
            </a:xfrm>
            <a:prstGeom prst="line">
              <a:avLst/>
            </a:prstGeom>
            <a:ln w="19050" cap="flat" cmpd="sng" algn="ctr">
              <a:solidFill>
                <a:schemeClr val="accent2"/>
              </a:solidFill>
              <a:prstDash val="sysDot"/>
              <a:round/>
              <a:headEnd type="none" w="med" len="med"/>
              <a:tailEnd type="none" w="med" len="med"/>
            </a:ln>
          </p:spPr>
          <p:style>
            <a:lnRef idx="0">
              <a:scrgbClr r="0" g="0" b="0"/>
            </a:lnRef>
            <a:fillRef idx="0">
              <a:scrgbClr r="0" g="0" b="0"/>
            </a:fillRef>
            <a:effectRef idx="0">
              <a:scrgbClr r="0" g="0" b="0"/>
            </a:effectRef>
            <a:fontRef idx="minor">
              <a:schemeClr val="tx1"/>
            </a:fontRef>
          </p:style>
        </p:cxnSp>
        <p:cxnSp>
          <p:nvCxnSpPr>
            <p:cNvPr id="34" name="Straight Connector 33">
              <a:extLst>
                <a:ext uri="{FF2B5EF4-FFF2-40B4-BE49-F238E27FC236}">
                  <a16:creationId xmlns:a16="http://schemas.microsoft.com/office/drawing/2014/main" id="{8317EB5F-59B7-4B98-AAD0-4F438034304A}"/>
                </a:ext>
              </a:extLst>
            </p:cNvPr>
            <p:cNvCxnSpPr>
              <a:cxnSpLocks/>
            </p:cNvCxnSpPr>
            <p:nvPr/>
          </p:nvCxnSpPr>
          <p:spPr>
            <a:xfrm>
              <a:off x="5715000" y="2976304"/>
              <a:ext cx="0" cy="2722801"/>
            </a:xfrm>
            <a:prstGeom prst="line">
              <a:avLst/>
            </a:prstGeom>
            <a:ln w="19050" cap="flat" cmpd="sng" algn="ctr">
              <a:solidFill>
                <a:schemeClr val="accent2"/>
              </a:solidFill>
              <a:prstDash val="sysDot"/>
              <a:round/>
              <a:headEnd type="none" w="med" len="med"/>
              <a:tailEnd type="none" w="med" len="med"/>
            </a:ln>
          </p:spPr>
          <p:style>
            <a:lnRef idx="0">
              <a:scrgbClr r="0" g="0" b="0"/>
            </a:lnRef>
            <a:fillRef idx="0">
              <a:scrgbClr r="0" g="0" b="0"/>
            </a:fillRef>
            <a:effectRef idx="0">
              <a:scrgbClr r="0" g="0" b="0"/>
            </a:effectRef>
            <a:fontRef idx="minor">
              <a:schemeClr val="tx1"/>
            </a:fontRef>
          </p:style>
        </p:cxnSp>
        <p:cxnSp>
          <p:nvCxnSpPr>
            <p:cNvPr id="35" name="Straight Connector 34">
              <a:extLst>
                <a:ext uri="{FF2B5EF4-FFF2-40B4-BE49-F238E27FC236}">
                  <a16:creationId xmlns:a16="http://schemas.microsoft.com/office/drawing/2014/main" id="{EAAE9D7B-1F76-48F2-BA81-C37C75D16EEA}"/>
                </a:ext>
              </a:extLst>
            </p:cNvPr>
            <p:cNvCxnSpPr>
              <a:cxnSpLocks/>
            </p:cNvCxnSpPr>
            <p:nvPr/>
          </p:nvCxnSpPr>
          <p:spPr>
            <a:xfrm>
              <a:off x="5863599" y="2976304"/>
              <a:ext cx="0" cy="2722801"/>
            </a:xfrm>
            <a:prstGeom prst="line">
              <a:avLst/>
            </a:prstGeom>
            <a:ln w="19050" cap="flat" cmpd="sng" algn="ctr">
              <a:solidFill>
                <a:schemeClr val="accent2"/>
              </a:solidFill>
              <a:prstDash val="sysDot"/>
              <a:round/>
              <a:headEnd type="none" w="med" len="med"/>
              <a:tailEnd type="none" w="med" len="med"/>
            </a:ln>
          </p:spPr>
          <p:style>
            <a:lnRef idx="0">
              <a:scrgbClr r="0" g="0" b="0"/>
            </a:lnRef>
            <a:fillRef idx="0">
              <a:scrgbClr r="0" g="0" b="0"/>
            </a:fillRef>
            <a:effectRef idx="0">
              <a:scrgbClr r="0" g="0" b="0"/>
            </a:effectRef>
            <a:fontRef idx="minor">
              <a:schemeClr val="tx1"/>
            </a:fontRef>
          </p:style>
        </p:cxnSp>
        <p:cxnSp>
          <p:nvCxnSpPr>
            <p:cNvPr id="36" name="Straight Connector 35">
              <a:extLst>
                <a:ext uri="{FF2B5EF4-FFF2-40B4-BE49-F238E27FC236}">
                  <a16:creationId xmlns:a16="http://schemas.microsoft.com/office/drawing/2014/main" id="{23F52CD6-6A81-4DA4-BEEC-59386F2D6FDA}"/>
                </a:ext>
              </a:extLst>
            </p:cNvPr>
            <p:cNvCxnSpPr>
              <a:cxnSpLocks/>
            </p:cNvCxnSpPr>
            <p:nvPr/>
          </p:nvCxnSpPr>
          <p:spPr>
            <a:xfrm>
              <a:off x="6015999" y="2955905"/>
              <a:ext cx="0" cy="2722801"/>
            </a:xfrm>
            <a:prstGeom prst="line">
              <a:avLst/>
            </a:prstGeom>
            <a:ln w="19050" cap="flat" cmpd="sng" algn="ctr">
              <a:solidFill>
                <a:schemeClr val="accent2"/>
              </a:solidFill>
              <a:prstDash val="sysDot"/>
              <a:round/>
              <a:headEnd type="none" w="med" len="med"/>
              <a:tailEnd type="none" w="med" len="med"/>
            </a:ln>
          </p:spPr>
          <p:style>
            <a:lnRef idx="0">
              <a:scrgbClr r="0" g="0" b="0"/>
            </a:lnRef>
            <a:fillRef idx="0">
              <a:scrgbClr r="0" g="0" b="0"/>
            </a:fillRef>
            <a:effectRef idx="0">
              <a:scrgbClr r="0" g="0" b="0"/>
            </a:effectRef>
            <a:fontRef idx="minor">
              <a:schemeClr val="tx1"/>
            </a:fontRef>
          </p:style>
        </p:cxnSp>
        <p:cxnSp>
          <p:nvCxnSpPr>
            <p:cNvPr id="43" name="Straight Connector 42">
              <a:extLst>
                <a:ext uri="{FF2B5EF4-FFF2-40B4-BE49-F238E27FC236}">
                  <a16:creationId xmlns:a16="http://schemas.microsoft.com/office/drawing/2014/main" id="{58AFD909-C193-49F1-A066-9C45405DA878}"/>
                </a:ext>
              </a:extLst>
            </p:cNvPr>
            <p:cNvCxnSpPr>
              <a:cxnSpLocks/>
            </p:cNvCxnSpPr>
            <p:nvPr/>
          </p:nvCxnSpPr>
          <p:spPr>
            <a:xfrm>
              <a:off x="5394903" y="5876905"/>
              <a:ext cx="260924" cy="0"/>
            </a:xfrm>
            <a:prstGeom prst="line">
              <a:avLst/>
            </a:prstGeom>
            <a:ln w="19050" cap="flat" cmpd="sng" algn="ctr">
              <a:solidFill>
                <a:schemeClr val="accent2"/>
              </a:solidFill>
              <a:prstDash val="sysDot"/>
              <a:round/>
              <a:headEnd type="none" w="med" len="med"/>
              <a:tailEnd type="none" w="med" len="med"/>
            </a:ln>
          </p:spPr>
          <p:style>
            <a:lnRef idx="0">
              <a:scrgbClr r="0" g="0" b="0"/>
            </a:lnRef>
            <a:fillRef idx="0">
              <a:scrgbClr r="0" g="0" b="0"/>
            </a:fillRef>
            <a:effectRef idx="0">
              <a:scrgbClr r="0" g="0" b="0"/>
            </a:effectRef>
            <a:fontRef idx="minor">
              <a:schemeClr val="tx1"/>
            </a:fontRef>
          </p:style>
        </p:cxnSp>
        <p:sp>
          <p:nvSpPr>
            <p:cNvPr id="45" name="TextBox 44">
              <a:extLst>
                <a:ext uri="{FF2B5EF4-FFF2-40B4-BE49-F238E27FC236}">
                  <a16:creationId xmlns:a16="http://schemas.microsoft.com/office/drawing/2014/main" id="{E68A1506-39CD-4A5C-83C9-2ACC7F826366}"/>
                </a:ext>
              </a:extLst>
            </p:cNvPr>
            <p:cNvSpPr txBox="1"/>
            <p:nvPr/>
          </p:nvSpPr>
          <p:spPr>
            <a:xfrm>
              <a:off x="5628996" y="5742801"/>
              <a:ext cx="1309526" cy="276999"/>
            </a:xfrm>
            <a:prstGeom prst="rect">
              <a:avLst/>
            </a:prstGeom>
            <a:noFill/>
          </p:spPr>
          <p:txBody>
            <a:bodyPr wrap="none" rtlCol="0">
              <a:spAutoFit/>
            </a:bodyPr>
            <a:lstStyle/>
            <a:p>
              <a:r>
                <a:rPr lang="en-US" sz="1200" dirty="0">
                  <a:solidFill>
                    <a:schemeClr val="accent2"/>
                  </a:solidFill>
                </a:rPr>
                <a:t>Discretization grid</a:t>
              </a:r>
            </a:p>
          </p:txBody>
        </p:sp>
        <p:sp>
          <p:nvSpPr>
            <p:cNvPr id="38" name="Down Arrow 4">
              <a:extLst>
                <a:ext uri="{FF2B5EF4-FFF2-40B4-BE49-F238E27FC236}">
                  <a16:creationId xmlns:a16="http://schemas.microsoft.com/office/drawing/2014/main" id="{9B86BD56-3633-4A66-BC43-D6E0BE064858}"/>
                </a:ext>
              </a:extLst>
            </p:cNvPr>
            <p:cNvSpPr/>
            <p:nvPr/>
          </p:nvSpPr>
          <p:spPr>
            <a:xfrm>
              <a:off x="5514696" y="2650263"/>
              <a:ext cx="228600" cy="304800"/>
            </a:xfrm>
            <a:prstGeom prst="down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9" name="TextBox 38">
              <a:extLst>
                <a:ext uri="{FF2B5EF4-FFF2-40B4-BE49-F238E27FC236}">
                  <a16:creationId xmlns:a16="http://schemas.microsoft.com/office/drawing/2014/main" id="{277BC777-037B-4AB0-AEB7-53A9DF889355}"/>
                </a:ext>
              </a:extLst>
            </p:cNvPr>
            <p:cNvSpPr txBox="1"/>
            <p:nvPr/>
          </p:nvSpPr>
          <p:spPr>
            <a:xfrm>
              <a:off x="4810833" y="2310631"/>
              <a:ext cx="1483925" cy="369332"/>
            </a:xfrm>
            <a:prstGeom prst="rect">
              <a:avLst/>
            </a:prstGeom>
            <a:noFill/>
          </p:spPr>
          <p:txBody>
            <a:bodyPr wrap="square" rtlCol="0">
              <a:spAutoFit/>
            </a:bodyPr>
            <a:lstStyle/>
            <a:p>
              <a:pPr algn="ctr"/>
              <a:r>
                <a:rPr lang="en-US" dirty="0">
                  <a:solidFill>
                    <a:srgbClr val="0070C0"/>
                  </a:solidFill>
                </a:rPr>
                <a:t>Initial state</a:t>
              </a:r>
            </a:p>
          </p:txBody>
        </p:sp>
        <p:sp>
          <p:nvSpPr>
            <p:cNvPr id="40" name="Oval 39">
              <a:extLst>
                <a:ext uri="{FF2B5EF4-FFF2-40B4-BE49-F238E27FC236}">
                  <a16:creationId xmlns:a16="http://schemas.microsoft.com/office/drawing/2014/main" id="{591E3298-22B0-4212-90A8-E1A0D2EEBE2B}"/>
                </a:ext>
              </a:extLst>
            </p:cNvPr>
            <p:cNvSpPr/>
            <p:nvPr/>
          </p:nvSpPr>
          <p:spPr>
            <a:xfrm>
              <a:off x="5558615" y="2991357"/>
              <a:ext cx="152400" cy="152400"/>
            </a:xfrm>
            <a:prstGeom prst="ellipse">
              <a:avLst/>
            </a:prstGeom>
          </p:spPr>
          <p:style>
            <a:lnRef idx="1">
              <a:schemeClr val="accent1"/>
            </a:lnRef>
            <a:fillRef idx="2">
              <a:schemeClr val="accent1"/>
            </a:fillRef>
            <a:effectRef idx="1">
              <a:schemeClr val="accent1"/>
            </a:effectRef>
            <a:fontRef idx="minor">
              <a:schemeClr val="dk1"/>
            </a:fontRef>
          </p:style>
          <p:txBody>
            <a:bodyPr rtlCol="0" anchor="ctr"/>
            <a:lstStyle/>
            <a:p>
              <a:pPr algn="ctr"/>
              <a:r>
                <a:rPr lang="en-US" sz="1400" dirty="0"/>
                <a:t>1</a:t>
              </a:r>
            </a:p>
          </p:txBody>
        </p:sp>
        <p:sp>
          <p:nvSpPr>
            <p:cNvPr id="44" name="Oval 43">
              <a:extLst>
                <a:ext uri="{FF2B5EF4-FFF2-40B4-BE49-F238E27FC236}">
                  <a16:creationId xmlns:a16="http://schemas.microsoft.com/office/drawing/2014/main" id="{2DC0CDDF-A4C1-406D-AE6F-F91B19B419D9}"/>
                </a:ext>
              </a:extLst>
            </p:cNvPr>
            <p:cNvSpPr/>
            <p:nvPr/>
          </p:nvSpPr>
          <p:spPr>
            <a:xfrm>
              <a:off x="5555160" y="3420754"/>
              <a:ext cx="152400" cy="152400"/>
            </a:xfrm>
            <a:prstGeom prst="ellipse">
              <a:avLst/>
            </a:prstGeom>
          </p:spPr>
          <p:style>
            <a:lnRef idx="1">
              <a:schemeClr val="accent1"/>
            </a:lnRef>
            <a:fillRef idx="2">
              <a:schemeClr val="accent1"/>
            </a:fillRef>
            <a:effectRef idx="1">
              <a:schemeClr val="accent1"/>
            </a:effectRef>
            <a:fontRef idx="minor">
              <a:schemeClr val="dk1"/>
            </a:fontRef>
          </p:style>
          <p:txBody>
            <a:bodyPr rtlCol="0" anchor="ctr"/>
            <a:lstStyle/>
            <a:p>
              <a:pPr algn="ctr"/>
              <a:r>
                <a:rPr lang="en-US" sz="1400" dirty="0"/>
                <a:t>4</a:t>
              </a:r>
            </a:p>
          </p:txBody>
        </p:sp>
        <p:sp>
          <p:nvSpPr>
            <p:cNvPr id="46" name="Oval 45">
              <a:extLst>
                <a:ext uri="{FF2B5EF4-FFF2-40B4-BE49-F238E27FC236}">
                  <a16:creationId xmlns:a16="http://schemas.microsoft.com/office/drawing/2014/main" id="{984B5B67-6D05-4485-ADD9-072D535E7789}"/>
                </a:ext>
              </a:extLst>
            </p:cNvPr>
            <p:cNvSpPr/>
            <p:nvPr/>
          </p:nvSpPr>
          <p:spPr>
            <a:xfrm>
              <a:off x="5718159" y="3425472"/>
              <a:ext cx="152400" cy="152400"/>
            </a:xfrm>
            <a:prstGeom prst="ellipse">
              <a:avLst/>
            </a:prstGeom>
          </p:spPr>
          <p:style>
            <a:lnRef idx="1">
              <a:schemeClr val="accent1"/>
            </a:lnRef>
            <a:fillRef idx="2">
              <a:schemeClr val="accent1"/>
            </a:fillRef>
            <a:effectRef idx="1">
              <a:schemeClr val="accent1"/>
            </a:effectRef>
            <a:fontRef idx="minor">
              <a:schemeClr val="dk1"/>
            </a:fontRef>
          </p:style>
          <p:txBody>
            <a:bodyPr rtlCol="0" anchor="ctr"/>
            <a:lstStyle/>
            <a:p>
              <a:pPr algn="ctr"/>
              <a:r>
                <a:rPr lang="en-US" sz="1400" dirty="0"/>
                <a:t>a</a:t>
              </a:r>
            </a:p>
          </p:txBody>
        </p:sp>
        <p:sp>
          <p:nvSpPr>
            <p:cNvPr id="54" name="Down Arrow 6">
              <a:extLst>
                <a:ext uri="{FF2B5EF4-FFF2-40B4-BE49-F238E27FC236}">
                  <a16:creationId xmlns:a16="http://schemas.microsoft.com/office/drawing/2014/main" id="{56072883-650A-4C0E-80EC-F512D4DB22FD}"/>
                </a:ext>
              </a:extLst>
            </p:cNvPr>
            <p:cNvSpPr/>
            <p:nvPr/>
          </p:nvSpPr>
          <p:spPr>
            <a:xfrm rot="10800000">
              <a:off x="7892611" y="5626448"/>
              <a:ext cx="228600" cy="304800"/>
            </a:xfrm>
            <a:prstGeom prst="down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5" name="TextBox 54">
              <a:extLst>
                <a:ext uri="{FF2B5EF4-FFF2-40B4-BE49-F238E27FC236}">
                  <a16:creationId xmlns:a16="http://schemas.microsoft.com/office/drawing/2014/main" id="{5AD0C5CE-DA21-48E5-8865-6144965F8A03}"/>
                </a:ext>
              </a:extLst>
            </p:cNvPr>
            <p:cNvSpPr txBox="1"/>
            <p:nvPr/>
          </p:nvSpPr>
          <p:spPr>
            <a:xfrm>
              <a:off x="7366475" y="5921969"/>
              <a:ext cx="1178158" cy="369332"/>
            </a:xfrm>
            <a:prstGeom prst="rect">
              <a:avLst/>
            </a:prstGeom>
            <a:noFill/>
          </p:spPr>
          <p:txBody>
            <a:bodyPr wrap="square" rtlCol="0">
              <a:spAutoFit/>
            </a:bodyPr>
            <a:lstStyle/>
            <a:p>
              <a:r>
                <a:rPr lang="en-US" dirty="0">
                  <a:solidFill>
                    <a:srgbClr val="0070C0"/>
                  </a:solidFill>
                </a:rPr>
                <a:t>Goal state</a:t>
              </a:r>
            </a:p>
          </p:txBody>
        </p:sp>
        <p:sp>
          <p:nvSpPr>
            <p:cNvPr id="56" name="Oval 55">
              <a:extLst>
                <a:ext uri="{FF2B5EF4-FFF2-40B4-BE49-F238E27FC236}">
                  <a16:creationId xmlns:a16="http://schemas.microsoft.com/office/drawing/2014/main" id="{27F92480-ACCD-4408-BFAD-29C5DBE0B302}"/>
                </a:ext>
              </a:extLst>
            </p:cNvPr>
            <p:cNvSpPr/>
            <p:nvPr/>
          </p:nvSpPr>
          <p:spPr>
            <a:xfrm>
              <a:off x="7939260" y="5398920"/>
              <a:ext cx="152400" cy="152400"/>
            </a:xfrm>
            <a:prstGeom prst="ellipse">
              <a:avLst/>
            </a:prstGeom>
          </p:spPr>
          <p:style>
            <a:lnRef idx="1">
              <a:schemeClr val="accent1"/>
            </a:lnRef>
            <a:fillRef idx="2">
              <a:schemeClr val="accent1"/>
            </a:fillRef>
            <a:effectRef idx="1">
              <a:schemeClr val="accent1"/>
            </a:effectRef>
            <a:fontRef idx="minor">
              <a:schemeClr val="dk1"/>
            </a:fontRef>
          </p:style>
          <p:txBody>
            <a:bodyPr rtlCol="0" anchor="ctr"/>
            <a:lstStyle/>
            <a:p>
              <a:pPr algn="ctr"/>
              <a:r>
                <a:rPr lang="en-US" sz="1400" dirty="0"/>
                <a:t>z</a:t>
              </a:r>
            </a:p>
          </p:txBody>
        </p:sp>
        <p:sp>
          <p:nvSpPr>
            <p:cNvPr id="5" name="Oval 4">
              <a:extLst>
                <a:ext uri="{FF2B5EF4-FFF2-40B4-BE49-F238E27FC236}">
                  <a16:creationId xmlns:a16="http://schemas.microsoft.com/office/drawing/2014/main" id="{3DC4D7F3-936A-8312-372A-897ECA9C96D0}"/>
                </a:ext>
              </a:extLst>
            </p:cNvPr>
            <p:cNvSpPr/>
            <p:nvPr/>
          </p:nvSpPr>
          <p:spPr>
            <a:xfrm>
              <a:off x="5553970" y="3139004"/>
              <a:ext cx="152400" cy="152400"/>
            </a:xfrm>
            <a:prstGeom prst="ellipse">
              <a:avLst/>
            </a:prstGeom>
          </p:spPr>
          <p:style>
            <a:lnRef idx="1">
              <a:schemeClr val="accent1"/>
            </a:lnRef>
            <a:fillRef idx="2">
              <a:schemeClr val="accent1"/>
            </a:fillRef>
            <a:effectRef idx="1">
              <a:schemeClr val="accent1"/>
            </a:effectRef>
            <a:fontRef idx="minor">
              <a:schemeClr val="dk1"/>
            </a:fontRef>
          </p:style>
          <p:txBody>
            <a:bodyPr rtlCol="0" anchor="ctr"/>
            <a:lstStyle/>
            <a:p>
              <a:pPr algn="ctr"/>
              <a:r>
                <a:rPr lang="en-US" sz="1400" dirty="0"/>
                <a:t>2</a:t>
              </a:r>
            </a:p>
          </p:txBody>
        </p:sp>
        <p:sp>
          <p:nvSpPr>
            <p:cNvPr id="7" name="Oval 6">
              <a:extLst>
                <a:ext uri="{FF2B5EF4-FFF2-40B4-BE49-F238E27FC236}">
                  <a16:creationId xmlns:a16="http://schemas.microsoft.com/office/drawing/2014/main" id="{F7923B73-AE0C-DDC6-2D61-98AB13EED8CC}"/>
                </a:ext>
              </a:extLst>
            </p:cNvPr>
            <p:cNvSpPr/>
            <p:nvPr/>
          </p:nvSpPr>
          <p:spPr>
            <a:xfrm>
              <a:off x="5555041" y="3272917"/>
              <a:ext cx="152400" cy="152400"/>
            </a:xfrm>
            <a:prstGeom prst="ellipse">
              <a:avLst/>
            </a:prstGeom>
          </p:spPr>
          <p:style>
            <a:lnRef idx="1">
              <a:schemeClr val="accent1"/>
            </a:lnRef>
            <a:fillRef idx="2">
              <a:schemeClr val="accent1"/>
            </a:fillRef>
            <a:effectRef idx="1">
              <a:schemeClr val="accent1"/>
            </a:effectRef>
            <a:fontRef idx="minor">
              <a:schemeClr val="dk1"/>
            </a:fontRef>
          </p:style>
          <p:txBody>
            <a:bodyPr rtlCol="0" anchor="ctr"/>
            <a:lstStyle/>
            <a:p>
              <a:pPr algn="ctr"/>
              <a:r>
                <a:rPr lang="en-US" sz="1400" dirty="0"/>
                <a:t>3</a:t>
              </a:r>
            </a:p>
          </p:txBody>
        </p:sp>
        <p:sp>
          <p:nvSpPr>
            <p:cNvPr id="9" name="Oval 8">
              <a:extLst>
                <a:ext uri="{FF2B5EF4-FFF2-40B4-BE49-F238E27FC236}">
                  <a16:creationId xmlns:a16="http://schemas.microsoft.com/office/drawing/2014/main" id="{6B23A853-485F-BF19-2777-94622AAEBB8A}"/>
                </a:ext>
              </a:extLst>
            </p:cNvPr>
            <p:cNvSpPr/>
            <p:nvPr/>
          </p:nvSpPr>
          <p:spPr>
            <a:xfrm>
              <a:off x="5561912" y="3563110"/>
              <a:ext cx="152400" cy="152400"/>
            </a:xfrm>
            <a:prstGeom prst="ellipse">
              <a:avLst/>
            </a:prstGeom>
          </p:spPr>
          <p:style>
            <a:lnRef idx="1">
              <a:schemeClr val="accent1"/>
            </a:lnRef>
            <a:fillRef idx="2">
              <a:schemeClr val="accent1"/>
            </a:fillRef>
            <a:effectRef idx="1">
              <a:schemeClr val="accent1"/>
            </a:effectRef>
            <a:fontRef idx="minor">
              <a:schemeClr val="dk1"/>
            </a:fontRef>
          </p:style>
          <p:txBody>
            <a:bodyPr rtlCol="0" anchor="ctr"/>
            <a:lstStyle/>
            <a:p>
              <a:pPr algn="ctr"/>
              <a:r>
                <a:rPr lang="en-US" sz="1400" dirty="0"/>
                <a:t>5</a:t>
              </a:r>
            </a:p>
          </p:txBody>
        </p:sp>
        <p:sp>
          <p:nvSpPr>
            <p:cNvPr id="12" name="TextBox 11">
              <a:extLst>
                <a:ext uri="{FF2B5EF4-FFF2-40B4-BE49-F238E27FC236}">
                  <a16:creationId xmlns:a16="http://schemas.microsoft.com/office/drawing/2014/main" id="{A3822F94-6245-CD96-A027-36D1B23551FB}"/>
                </a:ext>
              </a:extLst>
            </p:cNvPr>
            <p:cNvSpPr txBox="1"/>
            <p:nvPr/>
          </p:nvSpPr>
          <p:spPr>
            <a:xfrm>
              <a:off x="5620529" y="1860301"/>
              <a:ext cx="2368867" cy="369332"/>
            </a:xfrm>
            <a:prstGeom prst="rect">
              <a:avLst/>
            </a:prstGeom>
            <a:noFill/>
          </p:spPr>
          <p:txBody>
            <a:bodyPr wrap="square" rtlCol="0">
              <a:spAutoFit/>
            </a:bodyPr>
            <a:lstStyle/>
            <a:p>
              <a:r>
                <a:rPr lang="en-US" b="1" dirty="0"/>
                <a:t>Original Description</a:t>
              </a:r>
            </a:p>
          </p:txBody>
        </p:sp>
      </p:grpSp>
      <p:sp>
        <p:nvSpPr>
          <p:cNvPr id="10" name="TextBox 9">
            <a:extLst>
              <a:ext uri="{FF2B5EF4-FFF2-40B4-BE49-F238E27FC236}">
                <a16:creationId xmlns:a16="http://schemas.microsoft.com/office/drawing/2014/main" id="{3D1B3D94-6140-B4E2-0740-BC5CB2227458}"/>
              </a:ext>
            </a:extLst>
          </p:cNvPr>
          <p:cNvSpPr txBox="1"/>
          <p:nvPr/>
        </p:nvSpPr>
        <p:spPr>
          <a:xfrm>
            <a:off x="450254" y="6414052"/>
            <a:ext cx="7886700" cy="369332"/>
          </a:xfrm>
          <a:prstGeom prst="rect">
            <a:avLst/>
          </a:prstGeom>
          <a:noFill/>
        </p:spPr>
        <p:txBody>
          <a:bodyPr wrap="square" rtlCol="0">
            <a:spAutoFit/>
          </a:bodyPr>
          <a:lstStyle/>
          <a:p>
            <a:pPr algn="ctr"/>
            <a:r>
              <a:rPr lang="en-US" b="1" dirty="0"/>
              <a:t>Note</a:t>
            </a:r>
            <a:r>
              <a:rPr lang="en-US" dirty="0"/>
              <a:t>: Known and deterministic is a property of the transition function!</a:t>
            </a:r>
          </a:p>
        </p:txBody>
      </p:sp>
    </p:spTree>
    <p:extLst>
      <p:ext uri="{BB962C8B-B14F-4D97-AF65-F5344CB8AC3E}">
        <p14:creationId xmlns:p14="http://schemas.microsoft.com/office/powerpoint/2010/main" val="107662511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nodeType="clickEffect">
                                  <p:stCondLst>
                                    <p:cond delay="0"/>
                                  </p:stCondLst>
                                  <p:childTnLst>
                                    <p:set>
                                      <p:cBhvr>
                                        <p:cTn id="20" dur="1" fill="hold">
                                          <p:stCondLst>
                                            <p:cond delay="0"/>
                                          </p:stCondLst>
                                        </p:cTn>
                                        <p:tgtEl>
                                          <p:spTgt spid="3">
                                            <p:txEl>
                                              <p:pRg st="5" end="5"/>
                                            </p:txEl>
                                          </p:spTgt>
                                        </p:tgtEl>
                                        <p:attrNameLst>
                                          <p:attrName>style.visibility</p:attrName>
                                        </p:attrNameLst>
                                      </p:cBhvr>
                                      <p:to>
                                        <p:strVal val="visible"/>
                                      </p:to>
                                    </p:set>
                                  </p:childTnLst>
                                </p:cTn>
                              </p:par>
                              <p:par>
                                <p:cTn id="21" presetID="1" presetClass="entr" presetSubtype="0" fill="hold" nodeType="withEffect">
                                  <p:stCondLst>
                                    <p:cond delay="0"/>
                                  </p:stCondLst>
                                  <p:childTnLst>
                                    <p:set>
                                      <p:cBhvr>
                                        <p:cTn id="22" dur="1" fill="hold">
                                          <p:stCondLst>
                                            <p:cond delay="0"/>
                                          </p:stCondLst>
                                        </p:cTn>
                                        <p:tgtEl>
                                          <p:spTgt spid="4"/>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3">
                                            <p:txEl>
                                              <p:pRg st="10" end="10"/>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3">
                                            <p:txEl>
                                              <p:pRg st="11" end="11"/>
                                            </p:txEl>
                                          </p:spTgt>
                                        </p:tgtEl>
                                        <p:attrNameLst>
                                          <p:attrName>style.visibility</p:attrName>
                                        </p:attrNameLst>
                                      </p:cBhvr>
                                      <p:to>
                                        <p:strVal val="visible"/>
                                      </p:to>
                                    </p:set>
                                  </p:childTnLst>
                                </p:cTn>
                              </p:par>
                              <p:par>
                                <p:cTn id="31" presetID="1" presetClass="entr" presetSubtype="0" fill="hold" nodeType="withEffect">
                                  <p:stCondLst>
                                    <p:cond delay="0"/>
                                  </p:stCondLst>
                                  <p:childTnLst>
                                    <p:set>
                                      <p:cBhvr>
                                        <p:cTn id="32" dur="1" fill="hold">
                                          <p:stCondLst>
                                            <p:cond delay="0"/>
                                          </p:stCondLst>
                                        </p:cTn>
                                        <p:tgtEl>
                                          <p:spTgt spid="1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146" name="Rectangle 2"/>
          <p:cNvSpPr>
            <a:spLocks noGrp="1" noChangeArrowheads="1"/>
          </p:cNvSpPr>
          <p:nvPr>
            <p:ph type="title"/>
          </p:nvPr>
        </p:nvSpPr>
        <p:spPr/>
        <p:txBody>
          <a:bodyPr/>
          <a:lstStyle/>
          <a:p>
            <a:r>
              <a:rPr lang="en-US" dirty="0"/>
              <a:t>Example: Romania Vacation</a:t>
            </a:r>
          </a:p>
        </p:txBody>
      </p:sp>
      <p:sp>
        <p:nvSpPr>
          <p:cNvPr id="6147" name="Rectangle 3"/>
          <p:cNvSpPr>
            <a:spLocks noGrp="1" noChangeArrowheads="1"/>
          </p:cNvSpPr>
          <p:nvPr>
            <p:ph idx="1"/>
          </p:nvPr>
        </p:nvSpPr>
        <p:spPr>
          <a:xfrm>
            <a:off x="557561" y="2438400"/>
            <a:ext cx="2581759" cy="4038600"/>
          </a:xfrm>
        </p:spPr>
        <p:txBody>
          <a:bodyPr>
            <a:normAutofit/>
          </a:bodyPr>
          <a:lstStyle/>
          <a:p>
            <a:r>
              <a:rPr lang="en-US" sz="2000" b="1" dirty="0">
                <a:solidFill>
                  <a:srgbClr val="FF0000"/>
                </a:solidFill>
              </a:rPr>
              <a:t>Initial state: </a:t>
            </a:r>
            <a:r>
              <a:rPr lang="en-US" sz="2000" dirty="0"/>
              <a:t>Arad</a:t>
            </a:r>
          </a:p>
          <a:p>
            <a:r>
              <a:rPr lang="en-US" sz="2000" b="1" dirty="0">
                <a:solidFill>
                  <a:srgbClr val="FF0000"/>
                </a:solidFill>
              </a:rPr>
              <a:t>Actions: </a:t>
            </a:r>
            <a:r>
              <a:rPr lang="en-US" sz="2000" dirty="0"/>
              <a:t>Drive from one city to another.</a:t>
            </a:r>
          </a:p>
          <a:p>
            <a:r>
              <a:rPr lang="en-US" sz="2000" b="1" dirty="0">
                <a:solidFill>
                  <a:srgbClr val="FF0000"/>
                </a:solidFill>
              </a:rPr>
              <a:t>Transition model and states: </a:t>
            </a:r>
            <a:r>
              <a:rPr lang="en-US" sz="2000" dirty="0"/>
              <a:t>If you go from city A to city B, you end up in city B.</a:t>
            </a:r>
          </a:p>
          <a:p>
            <a:r>
              <a:rPr lang="en-US" sz="2000" b="1" dirty="0">
                <a:solidFill>
                  <a:srgbClr val="FF0000"/>
                </a:solidFill>
              </a:rPr>
              <a:t>Goal state: </a:t>
            </a:r>
            <a:r>
              <a:rPr lang="en-US" sz="2000" dirty="0"/>
              <a:t>Bucharest</a:t>
            </a:r>
          </a:p>
          <a:p>
            <a:r>
              <a:rPr lang="en-US" sz="2000" b="1" dirty="0">
                <a:solidFill>
                  <a:srgbClr val="FF0000"/>
                </a:solidFill>
              </a:rPr>
              <a:t>Path cost: </a:t>
            </a:r>
            <a:r>
              <a:rPr lang="en-US" sz="2000" dirty="0"/>
              <a:t>Sum of edge costs.</a:t>
            </a:r>
          </a:p>
        </p:txBody>
      </p:sp>
      <p:sp>
        <p:nvSpPr>
          <p:cNvPr id="8" name="Rectangle 3"/>
          <p:cNvSpPr txBox="1">
            <a:spLocks noChangeArrowheads="1"/>
          </p:cNvSpPr>
          <p:nvPr/>
        </p:nvSpPr>
        <p:spPr>
          <a:xfrm>
            <a:off x="609600" y="1341437"/>
            <a:ext cx="8121804" cy="1020763"/>
          </a:xfrm>
          <a:prstGeom prst="rect">
            <a:avLst/>
          </a:prstGeom>
        </p:spPr>
        <p:txBody>
          <a:bodyPr vert="horz" lIns="91440" tIns="45720" rIns="91440" bIns="45720" rtlCol="0">
            <a:normAutofit/>
          </a:bodyPr>
          <a:lstStyle/>
          <a:p>
            <a:pPr marL="342900" marR="0" lvl="0" indent="-342900" algn="l" defTabSz="914400" rtl="0" eaLnBrk="1" fontAlgn="auto" latinLnBrk="0" hangingPunct="1">
              <a:lnSpc>
                <a:spcPct val="90000"/>
              </a:lnSpc>
              <a:spcBef>
                <a:spcPct val="20000"/>
              </a:spcBef>
              <a:spcAft>
                <a:spcPts val="0"/>
              </a:spcAft>
              <a:buClrTx/>
              <a:buSzTx/>
              <a:buFont typeface="Arial" pitchFamily="34" charset="0"/>
              <a:buChar char="•"/>
              <a:tabLst/>
              <a:defRPr/>
            </a:pPr>
            <a:r>
              <a:rPr kumimoji="0" lang="en-US" sz="2000" b="0" i="0" u="none" strike="noStrike" kern="1200" cap="none" spc="0" normalizeH="0" baseline="0" noProof="0" dirty="0">
                <a:ln>
                  <a:noFill/>
                </a:ln>
                <a:solidFill>
                  <a:schemeClr val="tx1"/>
                </a:solidFill>
                <a:effectLst/>
                <a:uLnTx/>
                <a:uFillTx/>
                <a:latin typeface="+mn-lt"/>
                <a:ea typeface="+mn-ea"/>
                <a:cs typeface="+mn-cs"/>
              </a:rPr>
              <a:t>On vacation in Romania; currently in Arad</a:t>
            </a:r>
          </a:p>
          <a:p>
            <a:pPr marL="342900" marR="0" lvl="0" indent="-342900" algn="l" defTabSz="914400" rtl="0" eaLnBrk="1" fontAlgn="auto" latinLnBrk="0" hangingPunct="1">
              <a:lnSpc>
                <a:spcPct val="90000"/>
              </a:lnSpc>
              <a:spcBef>
                <a:spcPct val="20000"/>
              </a:spcBef>
              <a:spcAft>
                <a:spcPts val="0"/>
              </a:spcAft>
              <a:buClrTx/>
              <a:buSzTx/>
              <a:buFont typeface="Arial" pitchFamily="34" charset="0"/>
              <a:buChar char="•"/>
              <a:tabLst/>
              <a:defRPr/>
            </a:pPr>
            <a:r>
              <a:rPr kumimoji="0" lang="en-US" sz="2000" b="0" i="0" u="none" strike="noStrike" kern="1200" cap="none" spc="0" normalizeH="0" baseline="0" noProof="0" dirty="0">
                <a:ln>
                  <a:noFill/>
                </a:ln>
                <a:solidFill>
                  <a:schemeClr val="tx1"/>
                </a:solidFill>
                <a:effectLst/>
                <a:uLnTx/>
                <a:uFillTx/>
                <a:latin typeface="+mn-lt"/>
                <a:ea typeface="+mn-ea"/>
                <a:cs typeface="+mn-cs"/>
              </a:rPr>
              <a:t>Flight leaves tomorrow from Bucharest</a:t>
            </a:r>
          </a:p>
        </p:txBody>
      </p:sp>
      <p:pic>
        <p:nvPicPr>
          <p:cNvPr id="6148" name="Picture 4"/>
          <p:cNvPicPr>
            <a:picLocks noChangeAspect="1" noChangeArrowheads="1"/>
          </p:cNvPicPr>
          <p:nvPr/>
        </p:nvPicPr>
        <p:blipFill>
          <a:blip r:embed="rId3" cstate="print"/>
          <a:srcRect/>
          <a:stretch>
            <a:fillRect/>
          </a:stretch>
        </p:blipFill>
        <p:spPr bwMode="auto">
          <a:xfrm>
            <a:off x="6400800" y="333002"/>
            <a:ext cx="2330604" cy="1828800"/>
          </a:xfrm>
          <a:prstGeom prst="rect">
            <a:avLst/>
          </a:prstGeom>
          <a:noFill/>
          <a:ln w="9525">
            <a:noFill/>
            <a:miter lim="800000"/>
            <a:headEnd/>
            <a:tailEnd/>
          </a:ln>
        </p:spPr>
      </p:pic>
      <p:grpSp>
        <p:nvGrpSpPr>
          <p:cNvPr id="9" name="Group 8">
            <a:extLst>
              <a:ext uri="{FF2B5EF4-FFF2-40B4-BE49-F238E27FC236}">
                <a16:creationId xmlns:a16="http://schemas.microsoft.com/office/drawing/2014/main" id="{F6BDE0A0-2BF2-9268-0DEE-9961CA5A41F3}"/>
              </a:ext>
            </a:extLst>
          </p:cNvPr>
          <p:cNvGrpSpPr/>
          <p:nvPr/>
        </p:nvGrpSpPr>
        <p:grpSpPr>
          <a:xfrm>
            <a:off x="3219450" y="2438400"/>
            <a:ext cx="5564847" cy="4038601"/>
            <a:chOff x="3219450" y="2438400"/>
            <a:chExt cx="5564847" cy="4038601"/>
          </a:xfrm>
        </p:grpSpPr>
        <p:pic>
          <p:nvPicPr>
            <p:cNvPr id="7" name="Picture 4" descr="romania-distances"/>
            <p:cNvPicPr>
              <a:picLocks noChangeAspect="1" noChangeArrowheads="1"/>
            </p:cNvPicPr>
            <p:nvPr/>
          </p:nvPicPr>
          <p:blipFill>
            <a:blip r:embed="rId4" cstate="print"/>
            <a:srcRect/>
            <a:stretch>
              <a:fillRect/>
            </a:stretch>
          </p:blipFill>
          <p:spPr>
            <a:xfrm>
              <a:off x="3219450" y="2982166"/>
              <a:ext cx="5308345" cy="3190034"/>
            </a:xfrm>
            <a:prstGeom prst="rect">
              <a:avLst/>
            </a:prstGeom>
            <a:noFill/>
            <a:ln/>
          </p:spPr>
        </p:pic>
        <p:sp>
          <p:nvSpPr>
            <p:cNvPr id="2" name="TextBox 1">
              <a:extLst>
                <a:ext uri="{FF2B5EF4-FFF2-40B4-BE49-F238E27FC236}">
                  <a16:creationId xmlns:a16="http://schemas.microsoft.com/office/drawing/2014/main" id="{6282CE05-BDBB-4578-955F-BDE7ACD162AE}"/>
                </a:ext>
              </a:extLst>
            </p:cNvPr>
            <p:cNvSpPr txBox="1"/>
            <p:nvPr/>
          </p:nvSpPr>
          <p:spPr>
            <a:xfrm>
              <a:off x="7021250" y="6107668"/>
              <a:ext cx="1763047" cy="369332"/>
            </a:xfrm>
            <a:prstGeom prst="rect">
              <a:avLst/>
            </a:prstGeom>
            <a:noFill/>
          </p:spPr>
          <p:txBody>
            <a:bodyPr wrap="none" rtlCol="0">
              <a:spAutoFit/>
            </a:bodyPr>
            <a:lstStyle/>
            <a:p>
              <a:r>
                <a:rPr lang="en-US" dirty="0"/>
                <a:t>Distance in miles</a:t>
              </a:r>
            </a:p>
          </p:txBody>
        </p:sp>
        <p:sp>
          <p:nvSpPr>
            <p:cNvPr id="3" name="TextBox 2">
              <a:extLst>
                <a:ext uri="{FF2B5EF4-FFF2-40B4-BE49-F238E27FC236}">
                  <a16:creationId xmlns:a16="http://schemas.microsoft.com/office/drawing/2014/main" id="{8B627B7D-AA80-4000-814A-D4331D096E00}"/>
                </a:ext>
              </a:extLst>
            </p:cNvPr>
            <p:cNvSpPr txBox="1"/>
            <p:nvPr/>
          </p:nvSpPr>
          <p:spPr>
            <a:xfrm>
              <a:off x="4114800" y="2438400"/>
              <a:ext cx="4235603" cy="646331"/>
            </a:xfrm>
            <a:prstGeom prst="rect">
              <a:avLst/>
            </a:prstGeom>
            <a:noFill/>
          </p:spPr>
          <p:txBody>
            <a:bodyPr wrap="square" rtlCol="0">
              <a:spAutoFit/>
            </a:bodyPr>
            <a:lstStyle/>
            <a:p>
              <a:pPr algn="ctr"/>
              <a:r>
                <a:rPr lang="en-US" b="1" dirty="0"/>
                <a:t>State Space/Transition model</a:t>
              </a:r>
            </a:p>
            <a:p>
              <a:pPr algn="ctr"/>
              <a:r>
                <a:rPr lang="en-US" dirty="0"/>
                <a:t>Defined as a graph</a:t>
              </a:r>
            </a:p>
          </p:txBody>
        </p:sp>
        <p:sp>
          <p:nvSpPr>
            <p:cNvPr id="4" name="Rectangle 3">
              <a:extLst>
                <a:ext uri="{FF2B5EF4-FFF2-40B4-BE49-F238E27FC236}">
                  <a16:creationId xmlns:a16="http://schemas.microsoft.com/office/drawing/2014/main" id="{423F1CE8-6643-4911-9EE8-41F8B0BE2694}"/>
                </a:ext>
              </a:extLst>
            </p:cNvPr>
            <p:cNvSpPr/>
            <p:nvPr/>
          </p:nvSpPr>
          <p:spPr>
            <a:xfrm>
              <a:off x="3219450" y="2438401"/>
              <a:ext cx="5511954" cy="4038600"/>
            </a:xfrm>
            <a:prstGeom prst="rect">
              <a:avLst/>
            </a:prstGeom>
            <a:noFill/>
            <a:ln w="9525" cap="flat" cmpd="sng" algn="ctr">
              <a:solidFill>
                <a:schemeClr val="dk1"/>
              </a:solidFill>
              <a:prstDash val="solid"/>
              <a:round/>
              <a:headEnd type="none" w="med" len="med"/>
              <a:tailEnd type="none" w="med" len="med"/>
            </a:ln>
          </p:spPr>
          <p:style>
            <a:lnRef idx="0">
              <a:scrgbClr r="0" g="0" b="0"/>
            </a:lnRef>
            <a:fillRef idx="0">
              <a:scrgbClr r="0" g="0" b="0"/>
            </a:fillRef>
            <a:effectRef idx="0">
              <a:scrgbClr r="0" g="0" b="0"/>
            </a:effectRef>
            <a:fontRef idx="minor">
              <a:schemeClr val="dk1"/>
            </a:fontRef>
          </p:style>
          <p:txBody>
            <a:bodyPr rtlCol="0" anchor="ctr"/>
            <a:lstStyle/>
            <a:p>
              <a:pPr algn="ctr"/>
              <a:endParaRPr lang="en-US"/>
            </a:p>
          </p:txBody>
        </p:sp>
      </p:grpSp>
      <p:sp>
        <p:nvSpPr>
          <p:cNvPr id="5" name="Arrow: Down 4">
            <a:extLst>
              <a:ext uri="{FF2B5EF4-FFF2-40B4-BE49-F238E27FC236}">
                <a16:creationId xmlns:a16="http://schemas.microsoft.com/office/drawing/2014/main" id="{0D34B89B-F4C1-4473-B4C6-CB22829EDEB0}"/>
              </a:ext>
            </a:extLst>
          </p:cNvPr>
          <p:cNvSpPr/>
          <p:nvPr/>
        </p:nvSpPr>
        <p:spPr>
          <a:xfrm rot="2322737">
            <a:off x="6380168" y="1908203"/>
            <a:ext cx="496523" cy="646331"/>
          </a:xfrm>
          <a:prstGeom prst="down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TextBox 5">
            <a:extLst>
              <a:ext uri="{FF2B5EF4-FFF2-40B4-BE49-F238E27FC236}">
                <a16:creationId xmlns:a16="http://schemas.microsoft.com/office/drawing/2014/main" id="{2C3E7D6D-785B-56BC-087C-21CD5ED86ADA}"/>
              </a:ext>
            </a:extLst>
          </p:cNvPr>
          <p:cNvSpPr txBox="1"/>
          <p:nvPr/>
        </p:nvSpPr>
        <p:spPr>
          <a:xfrm>
            <a:off x="6477000" y="35628"/>
            <a:ext cx="2368867" cy="369332"/>
          </a:xfrm>
          <a:prstGeom prst="rect">
            <a:avLst/>
          </a:prstGeom>
          <a:noFill/>
        </p:spPr>
        <p:txBody>
          <a:bodyPr wrap="square" rtlCol="0">
            <a:spAutoFit/>
          </a:bodyPr>
          <a:lstStyle/>
          <a:p>
            <a:r>
              <a:rPr lang="en-US" b="1" dirty="0"/>
              <a:t>Original Description</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147">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6147">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6147">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6147">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6147">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147" grpId="0" build="p"/>
    </p:bld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6">
            <a:extLst>
              <a:ext uri="{FF2B5EF4-FFF2-40B4-BE49-F238E27FC236}">
                <a16:creationId xmlns:a16="http://schemas.microsoft.com/office/drawing/2014/main" id="{7DB00C61-76E1-4F5C-9775-E3ED9E739797}"/>
              </a:ext>
            </a:extLst>
          </p:cNvPr>
          <p:cNvPicPr>
            <a:picLocks noChangeAspect="1" noChangeArrowheads="1"/>
          </p:cNvPicPr>
          <p:nvPr/>
        </p:nvPicPr>
        <p:blipFill>
          <a:blip r:embed="rId3" cstate="print"/>
          <a:srcRect/>
          <a:stretch>
            <a:fillRect/>
          </a:stretch>
        </p:blipFill>
        <p:spPr bwMode="auto">
          <a:xfrm>
            <a:off x="1295400" y="1398809"/>
            <a:ext cx="5894042" cy="2807934"/>
          </a:xfrm>
          <a:prstGeom prst="rect">
            <a:avLst/>
          </a:prstGeom>
          <a:noFill/>
          <a:ln w="9525">
            <a:noFill/>
            <a:miter lim="800000"/>
            <a:headEnd/>
            <a:tailEnd/>
          </a:ln>
        </p:spPr>
      </p:pic>
      <p:sp>
        <p:nvSpPr>
          <p:cNvPr id="6146" name="Rectangle 2"/>
          <p:cNvSpPr>
            <a:spLocks noGrp="1" noChangeArrowheads="1"/>
          </p:cNvSpPr>
          <p:nvPr>
            <p:ph type="title"/>
          </p:nvPr>
        </p:nvSpPr>
        <p:spPr>
          <a:xfrm>
            <a:off x="457200" y="352231"/>
            <a:ext cx="8229600" cy="1143000"/>
          </a:xfrm>
        </p:spPr>
        <p:txBody>
          <a:bodyPr/>
          <a:lstStyle/>
          <a:p>
            <a:r>
              <a:rPr lang="en-US" dirty="0"/>
              <a:t>Example: Vacuum world</a:t>
            </a:r>
          </a:p>
        </p:txBody>
      </p:sp>
      <p:sp>
        <p:nvSpPr>
          <p:cNvPr id="6147" name="Rectangle 3"/>
          <p:cNvSpPr>
            <a:spLocks noGrp="1" noChangeArrowheads="1"/>
          </p:cNvSpPr>
          <p:nvPr>
            <p:ph idx="1"/>
          </p:nvPr>
        </p:nvSpPr>
        <p:spPr>
          <a:xfrm>
            <a:off x="457200" y="4234621"/>
            <a:ext cx="8448907" cy="2394779"/>
          </a:xfrm>
        </p:spPr>
        <p:txBody>
          <a:bodyPr>
            <a:normAutofit/>
          </a:bodyPr>
          <a:lstStyle/>
          <a:p>
            <a:r>
              <a:rPr lang="en-US" sz="2400" b="1" dirty="0">
                <a:solidFill>
                  <a:srgbClr val="FF0000"/>
                </a:solidFill>
              </a:rPr>
              <a:t>Initial State: </a:t>
            </a:r>
            <a:r>
              <a:rPr lang="en-US" sz="2000" dirty="0"/>
              <a:t>Defined by agent location and dirt location.</a:t>
            </a:r>
            <a:endParaRPr lang="en-US" sz="2000" b="1" dirty="0">
              <a:solidFill>
                <a:srgbClr val="FF0000"/>
              </a:solidFill>
            </a:endParaRPr>
          </a:p>
          <a:p>
            <a:r>
              <a:rPr lang="en-US" sz="2400" b="1" dirty="0">
                <a:solidFill>
                  <a:srgbClr val="FF0000"/>
                </a:solidFill>
              </a:rPr>
              <a:t>Actions: </a:t>
            </a:r>
            <a:r>
              <a:rPr lang="en-US" sz="2000" dirty="0"/>
              <a:t>Left, right, suck</a:t>
            </a:r>
            <a:endParaRPr lang="en-US" sz="2400" b="1" dirty="0">
              <a:solidFill>
                <a:srgbClr val="FF0000"/>
              </a:solidFill>
            </a:endParaRPr>
          </a:p>
          <a:p>
            <a:r>
              <a:rPr lang="en-US" sz="2400" b="1" dirty="0">
                <a:solidFill>
                  <a:srgbClr val="FF0000"/>
                </a:solidFill>
              </a:rPr>
              <a:t>Transition model: </a:t>
            </a:r>
            <a:r>
              <a:rPr lang="en-US" sz="2100" dirty="0"/>
              <a:t>Clean a location or move.</a:t>
            </a:r>
          </a:p>
          <a:p>
            <a:r>
              <a:rPr lang="en-US" sz="2300" b="1" dirty="0">
                <a:solidFill>
                  <a:srgbClr val="FF0000"/>
                </a:solidFill>
              </a:rPr>
              <a:t>Goal state: </a:t>
            </a:r>
            <a:r>
              <a:rPr lang="en-US" sz="2300" dirty="0"/>
              <a:t>All locations are clean.</a:t>
            </a:r>
            <a:endParaRPr lang="en-US" sz="2300" b="1" dirty="0">
              <a:solidFill>
                <a:srgbClr val="FF0000"/>
              </a:solidFill>
            </a:endParaRPr>
          </a:p>
          <a:p>
            <a:r>
              <a:rPr lang="en-US" sz="2300" b="1" dirty="0">
                <a:solidFill>
                  <a:srgbClr val="FF0000"/>
                </a:solidFill>
              </a:rPr>
              <a:t>Path cost: </a:t>
            </a:r>
            <a:r>
              <a:rPr lang="en-US" sz="2000" dirty="0"/>
              <a:t>E.g., number if actions</a:t>
            </a:r>
          </a:p>
          <a:p>
            <a:endParaRPr lang="en-US" sz="2400" dirty="0"/>
          </a:p>
        </p:txBody>
      </p:sp>
      <p:pic>
        <p:nvPicPr>
          <p:cNvPr id="6" name="Picture 4" descr="vacuum2-environment"/>
          <p:cNvPicPr>
            <a:picLocks noChangeAspect="1" noChangeArrowheads="1"/>
          </p:cNvPicPr>
          <p:nvPr/>
        </p:nvPicPr>
        <p:blipFill>
          <a:blip r:embed="rId4" cstate="print"/>
          <a:srcRect/>
          <a:stretch>
            <a:fillRect/>
          </a:stretch>
        </p:blipFill>
        <p:spPr bwMode="auto">
          <a:xfrm>
            <a:off x="6172200" y="685800"/>
            <a:ext cx="1866900" cy="955158"/>
          </a:xfrm>
          <a:prstGeom prst="rect">
            <a:avLst/>
          </a:prstGeom>
          <a:noFill/>
        </p:spPr>
      </p:pic>
      <p:sp>
        <p:nvSpPr>
          <p:cNvPr id="2" name="Rectangle 1">
            <a:extLst>
              <a:ext uri="{FF2B5EF4-FFF2-40B4-BE49-F238E27FC236}">
                <a16:creationId xmlns:a16="http://schemas.microsoft.com/office/drawing/2014/main" id="{97F4CACD-9913-48F7-9C59-F69D6F28DB24}"/>
              </a:ext>
            </a:extLst>
          </p:cNvPr>
          <p:cNvSpPr/>
          <p:nvPr/>
        </p:nvSpPr>
        <p:spPr>
          <a:xfrm>
            <a:off x="3124200" y="3352800"/>
            <a:ext cx="2209800" cy="533400"/>
          </a:xfrm>
          <a:prstGeom prst="rect">
            <a:avLst/>
          </a:prstGeom>
          <a:noFill/>
          <a:ln w="38100" cap="flat" cmpd="sng" algn="ctr">
            <a:solidFill>
              <a:schemeClr val="accent2"/>
            </a:solidFill>
            <a:prstDash val="solid"/>
            <a:round/>
            <a:headEnd type="none" w="med" len="med"/>
            <a:tailEnd type="none" w="med" len="med"/>
          </a:ln>
        </p:spPr>
        <p:style>
          <a:lnRef idx="0">
            <a:scrgbClr r="0" g="0" b="0"/>
          </a:lnRef>
          <a:fillRef idx="0">
            <a:scrgbClr r="0" g="0" b="0"/>
          </a:fillRef>
          <a:effectRef idx="0">
            <a:scrgbClr r="0" g="0" b="0"/>
          </a:effectRef>
          <a:fontRef idx="minor">
            <a:schemeClr val="accent2"/>
          </a:fontRef>
        </p:style>
        <p:txBody>
          <a:bodyPr rtlCol="0" anchor="ctr"/>
          <a:lstStyle/>
          <a:p>
            <a:pPr algn="ctr"/>
            <a:endParaRPr lang="en-US"/>
          </a:p>
        </p:txBody>
      </p:sp>
      <p:sp>
        <p:nvSpPr>
          <p:cNvPr id="7" name="TextBox 6">
            <a:extLst>
              <a:ext uri="{FF2B5EF4-FFF2-40B4-BE49-F238E27FC236}">
                <a16:creationId xmlns:a16="http://schemas.microsoft.com/office/drawing/2014/main" id="{54DA0C8D-BFCA-4641-A774-A2D21D63B506}"/>
              </a:ext>
            </a:extLst>
          </p:cNvPr>
          <p:cNvSpPr txBox="1"/>
          <p:nvPr/>
        </p:nvSpPr>
        <p:spPr>
          <a:xfrm>
            <a:off x="1589342" y="3481556"/>
            <a:ext cx="1240917" cy="369332"/>
          </a:xfrm>
          <a:prstGeom prst="rect">
            <a:avLst/>
          </a:prstGeom>
          <a:noFill/>
        </p:spPr>
        <p:txBody>
          <a:bodyPr wrap="none" rtlCol="0">
            <a:spAutoFit/>
          </a:bodyPr>
          <a:lstStyle/>
          <a:p>
            <a:r>
              <a:rPr lang="en-US" b="1" dirty="0">
                <a:solidFill>
                  <a:schemeClr val="accent2">
                    <a:lumMod val="50000"/>
                  </a:schemeClr>
                </a:solidFill>
              </a:rPr>
              <a:t>Goal states</a:t>
            </a:r>
          </a:p>
        </p:txBody>
      </p:sp>
      <p:sp>
        <p:nvSpPr>
          <p:cNvPr id="9" name="TextBox 8">
            <a:extLst>
              <a:ext uri="{FF2B5EF4-FFF2-40B4-BE49-F238E27FC236}">
                <a16:creationId xmlns:a16="http://schemas.microsoft.com/office/drawing/2014/main" id="{9912DB9D-3668-43DE-997C-42B87B79392C}"/>
              </a:ext>
            </a:extLst>
          </p:cNvPr>
          <p:cNvSpPr txBox="1"/>
          <p:nvPr/>
        </p:nvSpPr>
        <p:spPr>
          <a:xfrm>
            <a:off x="990600" y="1409291"/>
            <a:ext cx="1447800" cy="369332"/>
          </a:xfrm>
          <a:prstGeom prst="rect">
            <a:avLst/>
          </a:prstGeom>
          <a:noFill/>
        </p:spPr>
        <p:txBody>
          <a:bodyPr wrap="square">
            <a:spAutoFit/>
          </a:bodyPr>
          <a:lstStyle/>
          <a:p>
            <a:r>
              <a:rPr lang="en-US" b="1" dirty="0"/>
              <a:t>State Space</a:t>
            </a:r>
            <a:endParaRPr lang="en-US" dirty="0"/>
          </a:p>
        </p:txBody>
      </p:sp>
      <mc:AlternateContent xmlns:mc="http://schemas.openxmlformats.org/markup-compatibility/2006" xmlns:a14="http://schemas.microsoft.com/office/drawing/2010/main">
        <mc:Choice Requires="a14">
          <p:sp>
            <p:nvSpPr>
              <p:cNvPr id="4" name="TextBox 3">
                <a:extLst>
                  <a:ext uri="{FF2B5EF4-FFF2-40B4-BE49-F238E27FC236}">
                    <a16:creationId xmlns:a16="http://schemas.microsoft.com/office/drawing/2014/main" id="{1CA8139D-6DF9-3EBD-5CE8-825562C48CC0}"/>
                  </a:ext>
                </a:extLst>
              </p:cNvPr>
              <p:cNvSpPr txBox="1"/>
              <p:nvPr/>
            </p:nvSpPr>
            <p:spPr>
              <a:xfrm>
                <a:off x="6496494" y="4875074"/>
                <a:ext cx="2438400" cy="1754326"/>
              </a:xfrm>
              <a:prstGeom prst="rect">
                <a:avLst/>
              </a:prstGeom>
              <a:solidFill>
                <a:schemeClr val="accent6"/>
              </a:solidFill>
              <a:ln>
                <a:noFill/>
              </a:ln>
            </p:spPr>
            <p:style>
              <a:lnRef idx="0">
                <a:scrgbClr r="0" g="0" b="0"/>
              </a:lnRef>
              <a:fillRef idx="0">
                <a:scrgbClr r="0" g="0" b="0"/>
              </a:fillRef>
              <a:effectRef idx="0">
                <a:scrgbClr r="0" g="0" b="0"/>
              </a:effectRef>
              <a:fontRef idx="minor">
                <a:schemeClr val="lt1"/>
              </a:fontRef>
            </p:style>
            <p:txBody>
              <a:bodyPr wrap="square">
                <a:spAutoFit/>
              </a:bodyPr>
              <a:lstStyle/>
              <a:p>
                <a:r>
                  <a:rPr lang="en-US" dirty="0"/>
                  <a:t>There are 8 possible atomic states of the system. </a:t>
                </a:r>
              </a:p>
              <a:p>
                <a:r>
                  <a:rPr lang="en-US" dirty="0"/>
                  <a:t>Why is the number of states for </a:t>
                </a:r>
                <a:r>
                  <a:rPr lang="en-US" i="1" dirty="0"/>
                  <a:t>n</a:t>
                </a:r>
                <a:r>
                  <a:rPr lang="en-US" dirty="0"/>
                  <a:t> possible locations  </a:t>
                </a:r>
                <a14:m>
                  <m:oMath xmlns:m="http://schemas.openxmlformats.org/officeDocument/2006/math">
                    <m:r>
                      <a:rPr lang="en-US" b="0" i="1" smtClean="0">
                        <a:latin typeface="Cambria Math" panose="02040503050406030204" pitchFamily="18" charset="0"/>
                      </a:rPr>
                      <m:t>𝑛</m:t>
                    </m:r>
                    <m:d>
                      <m:dPr>
                        <m:ctrlPr>
                          <a:rPr lang="en-US" b="0" i="1" smtClean="0">
                            <a:latin typeface="Cambria Math" panose="02040503050406030204" pitchFamily="18" charset="0"/>
                          </a:rPr>
                        </m:ctrlPr>
                      </m:dPr>
                      <m:e>
                        <m:sSup>
                          <m:sSupPr>
                            <m:ctrlPr>
                              <a:rPr lang="en-US" b="0" i="1" smtClean="0">
                                <a:latin typeface="Cambria Math" panose="02040503050406030204" pitchFamily="18" charset="0"/>
                              </a:rPr>
                            </m:ctrlPr>
                          </m:sSupPr>
                          <m:e>
                            <m:r>
                              <a:rPr lang="en-US" b="0" i="1" smtClean="0">
                                <a:latin typeface="Cambria Math" panose="02040503050406030204" pitchFamily="18" charset="0"/>
                              </a:rPr>
                              <m:t>2</m:t>
                            </m:r>
                          </m:e>
                          <m:sup>
                            <m:r>
                              <a:rPr lang="en-US" b="0" i="1" smtClean="0">
                                <a:latin typeface="Cambria Math" panose="02040503050406030204" pitchFamily="18" charset="0"/>
                              </a:rPr>
                              <m:t>𝑛</m:t>
                            </m:r>
                          </m:sup>
                        </m:sSup>
                      </m:e>
                    </m:d>
                  </m:oMath>
                </a14:m>
                <a:r>
                  <a:rPr lang="en-US" dirty="0"/>
                  <a:t>?</a:t>
                </a:r>
              </a:p>
            </p:txBody>
          </p:sp>
        </mc:Choice>
        <mc:Fallback xmlns="">
          <p:sp>
            <p:nvSpPr>
              <p:cNvPr id="4" name="TextBox 3">
                <a:extLst>
                  <a:ext uri="{FF2B5EF4-FFF2-40B4-BE49-F238E27FC236}">
                    <a16:creationId xmlns:a16="http://schemas.microsoft.com/office/drawing/2014/main" id="{1CA8139D-6DF9-3EBD-5CE8-825562C48CC0}"/>
                  </a:ext>
                </a:extLst>
              </p:cNvPr>
              <p:cNvSpPr txBox="1">
                <a:spLocks noRot="1" noChangeAspect="1" noMove="1" noResize="1" noEditPoints="1" noAdjustHandles="1" noChangeArrowheads="1" noChangeShapeType="1" noTextEdit="1"/>
              </p:cNvSpPr>
              <p:nvPr/>
            </p:nvSpPr>
            <p:spPr>
              <a:xfrm>
                <a:off x="6496494" y="4875074"/>
                <a:ext cx="2438400" cy="1754326"/>
              </a:xfrm>
              <a:prstGeom prst="rect">
                <a:avLst/>
              </a:prstGeom>
              <a:blipFill>
                <a:blip r:embed="rId5"/>
                <a:stretch>
                  <a:fillRect l="-2250" t="-2083" b="-4514"/>
                </a:stretch>
              </a:blipFill>
              <a:ln>
                <a:noFill/>
              </a:ln>
            </p:spPr>
            <p:txBody>
              <a:bodyPr/>
              <a:lstStyle/>
              <a:p>
                <a:r>
                  <a:rPr lang="en-US">
                    <a:noFill/>
                  </a:rPr>
                  <a:t> </a:t>
                </a:r>
              </a:p>
            </p:txBody>
          </p:sp>
        </mc:Fallback>
      </mc:AlternateContent>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147">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6147">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6147">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6147">
                                            <p:txEl>
                                              <p:pRg st="3" end="3"/>
                                            </p:txEl>
                                          </p:spTgt>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2"/>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7"/>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6147">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147" grpId="0" uiExpand="1" build="p"/>
      <p:bldP spid="2" grpId="0" animBg="1"/>
      <p:bldP spid="7" grpId="0"/>
    </p:bld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410" name="Rectangle 2"/>
          <p:cNvSpPr>
            <a:spLocks noGrp="1" noChangeArrowheads="1"/>
          </p:cNvSpPr>
          <p:nvPr>
            <p:ph type="title"/>
          </p:nvPr>
        </p:nvSpPr>
        <p:spPr/>
        <p:txBody>
          <a:bodyPr/>
          <a:lstStyle/>
          <a:p>
            <a:r>
              <a:rPr lang="en-US" dirty="0"/>
              <a:t>Example: Sliding-tile Puzzle</a:t>
            </a:r>
          </a:p>
        </p:txBody>
      </p:sp>
      <mc:AlternateContent xmlns:mc="http://schemas.openxmlformats.org/markup-compatibility/2006" xmlns:a14="http://schemas.microsoft.com/office/drawing/2010/main">
        <mc:Choice Requires="a14">
          <p:sp>
            <p:nvSpPr>
              <p:cNvPr id="17413" name="Rectangle 5"/>
              <p:cNvSpPr>
                <a:spLocks noGrp="1" noChangeArrowheads="1"/>
              </p:cNvSpPr>
              <p:nvPr>
                <p:ph idx="1"/>
              </p:nvPr>
            </p:nvSpPr>
            <p:spPr>
              <a:xfrm>
                <a:off x="637117" y="1408112"/>
                <a:ext cx="5848350" cy="5084762"/>
              </a:xfrm>
              <a:noFill/>
              <a:ln/>
            </p:spPr>
            <p:txBody>
              <a:bodyPr>
                <a:noAutofit/>
              </a:bodyPr>
              <a:lstStyle/>
              <a:p>
                <a:pPr>
                  <a:lnSpc>
                    <a:spcPct val="120000"/>
                  </a:lnSpc>
                </a:pPr>
                <a:r>
                  <a:rPr lang="en-US" sz="2000" b="1" dirty="0">
                    <a:solidFill>
                      <a:srgbClr val="FF0000"/>
                    </a:solidFill>
                  </a:rPr>
                  <a:t>Initial State: </a:t>
                </a:r>
                <a:r>
                  <a:rPr lang="en-US" sz="2000" dirty="0"/>
                  <a:t>A given configuration.</a:t>
                </a:r>
                <a:endParaRPr lang="en-US" sz="2000" dirty="0">
                  <a:solidFill>
                    <a:srgbClr val="FF0000"/>
                  </a:solidFill>
                </a:endParaRPr>
              </a:p>
              <a:p>
                <a:pPr>
                  <a:lnSpc>
                    <a:spcPct val="120000"/>
                  </a:lnSpc>
                </a:pPr>
                <a:r>
                  <a:rPr lang="en-US" sz="2000" b="1" dirty="0">
                    <a:solidFill>
                      <a:srgbClr val="FF0000"/>
                    </a:solidFill>
                  </a:rPr>
                  <a:t>Actions: </a:t>
                </a:r>
                <a:r>
                  <a:rPr lang="en-US" sz="2000" dirty="0"/>
                  <a:t>Move blank left, right, up, down </a:t>
                </a:r>
                <a:endParaRPr lang="en-US" sz="2000" b="1" dirty="0">
                  <a:solidFill>
                    <a:srgbClr val="FF0000"/>
                  </a:solidFill>
                </a:endParaRPr>
              </a:p>
              <a:p>
                <a:pPr>
                  <a:lnSpc>
                    <a:spcPct val="120000"/>
                  </a:lnSpc>
                </a:pPr>
                <a:r>
                  <a:rPr lang="en-US" sz="2000" b="1" dirty="0">
                    <a:solidFill>
                      <a:srgbClr val="FF0000"/>
                    </a:solidFill>
                  </a:rPr>
                  <a:t>Transition model: </a:t>
                </a:r>
                <a:r>
                  <a:rPr lang="en-US" sz="2000" dirty="0"/>
                  <a:t>Move a tile</a:t>
                </a:r>
                <a:endParaRPr lang="en-US" sz="2000" b="1" dirty="0">
                  <a:solidFill>
                    <a:srgbClr val="FF0000"/>
                  </a:solidFill>
                </a:endParaRPr>
              </a:p>
              <a:p>
                <a:pPr>
                  <a:lnSpc>
                    <a:spcPct val="120000"/>
                  </a:lnSpc>
                </a:pPr>
                <a:r>
                  <a:rPr lang="en-US" sz="2000" b="1" dirty="0">
                    <a:solidFill>
                      <a:srgbClr val="FF0000"/>
                    </a:solidFill>
                  </a:rPr>
                  <a:t>Goal state: </a:t>
                </a:r>
                <a:r>
                  <a:rPr lang="en-US" sz="2000" dirty="0"/>
                  <a:t>Tiles are arranged empty and 1-8 in order</a:t>
                </a:r>
                <a:endParaRPr lang="en-US" sz="2000" b="1" dirty="0">
                  <a:solidFill>
                    <a:srgbClr val="FF0000"/>
                  </a:solidFill>
                </a:endParaRPr>
              </a:p>
              <a:p>
                <a:pPr>
                  <a:lnSpc>
                    <a:spcPct val="120000"/>
                  </a:lnSpc>
                </a:pPr>
                <a:r>
                  <a:rPr lang="en-US" sz="2000" b="1" dirty="0">
                    <a:solidFill>
                      <a:srgbClr val="FF0000"/>
                    </a:solidFill>
                  </a:rPr>
                  <a:t>Path cost: </a:t>
                </a:r>
                <a:r>
                  <a:rPr lang="en-US" sz="2000" dirty="0"/>
                  <a:t>1 per tile move.</a:t>
                </a:r>
              </a:p>
              <a:p>
                <a:pPr>
                  <a:lnSpc>
                    <a:spcPct val="120000"/>
                  </a:lnSpc>
                </a:pPr>
                <a:endParaRPr lang="en-US" sz="1800" dirty="0"/>
              </a:p>
              <a:p>
                <a:pPr marL="0" indent="0">
                  <a:lnSpc>
                    <a:spcPct val="120000"/>
                  </a:lnSpc>
                  <a:buNone/>
                </a:pPr>
                <a:r>
                  <a:rPr lang="en-US" sz="1800" b="1" dirty="0"/>
                  <a:t>State space size</a:t>
                </a:r>
              </a:p>
              <a:p>
                <a:pPr marL="0" indent="0">
                  <a:lnSpc>
                    <a:spcPct val="120000"/>
                  </a:lnSpc>
                  <a:buNone/>
                </a:pPr>
                <a:r>
                  <a:rPr lang="en-US" sz="1800" dirty="0"/>
                  <a:t>Each state describes the location of each tile (including the empty one). ½ of the permutations are unreachable.</a:t>
                </a:r>
              </a:p>
              <a:p>
                <a:pPr lvl="2">
                  <a:lnSpc>
                    <a:spcPct val="120000"/>
                  </a:lnSpc>
                </a:pPr>
                <a:r>
                  <a:rPr lang="en-US" sz="1600" dirty="0"/>
                  <a:t>8-puzzle: </a:t>
                </a:r>
                <a14:m>
                  <m:oMath xmlns:m="http://schemas.openxmlformats.org/officeDocument/2006/math">
                    <m:r>
                      <a:rPr lang="en-US" sz="1600" i="1" dirty="0" smtClean="0">
                        <a:latin typeface="Cambria Math" panose="02040503050406030204" pitchFamily="18" charset="0"/>
                      </a:rPr>
                      <m:t>9</m:t>
                    </m:r>
                    <m:r>
                      <a:rPr lang="en-US" sz="1600" b="0" i="1" dirty="0" smtClean="0">
                        <a:latin typeface="Cambria Math" panose="02040503050406030204" pitchFamily="18" charset="0"/>
                      </a:rPr>
                      <m:t>!/2</m:t>
                    </m:r>
                    <m:r>
                      <a:rPr lang="en-US" sz="1600" i="1" dirty="0" smtClean="0">
                        <a:latin typeface="Cambria Math" panose="02040503050406030204" pitchFamily="18" charset="0"/>
                      </a:rPr>
                      <m:t>=</m:t>
                    </m:r>
                    <m:r>
                      <a:rPr lang="en-US" sz="1600" b="0" i="1" dirty="0" smtClean="0">
                        <a:latin typeface="Cambria Math" panose="02040503050406030204" pitchFamily="18" charset="0"/>
                      </a:rPr>
                      <m:t>181,44</m:t>
                    </m:r>
                    <m:r>
                      <a:rPr lang="en-US" sz="1600" i="1" dirty="0" smtClean="0">
                        <a:latin typeface="Cambria Math" panose="02040503050406030204" pitchFamily="18" charset="0"/>
                      </a:rPr>
                      <m:t>0 </m:t>
                    </m:r>
                  </m:oMath>
                </a14:m>
                <a:r>
                  <a:rPr lang="en-US" sz="1600" dirty="0"/>
                  <a:t>states</a:t>
                </a:r>
              </a:p>
              <a:p>
                <a:pPr lvl="2">
                  <a:lnSpc>
                    <a:spcPct val="120000"/>
                  </a:lnSpc>
                </a:pPr>
                <a:r>
                  <a:rPr lang="en-US" sz="1600" dirty="0"/>
                  <a:t>15-puzzle: </a:t>
                </a:r>
                <a14:m>
                  <m:oMath xmlns:m="http://schemas.openxmlformats.org/officeDocument/2006/math">
                    <m:r>
                      <a:rPr lang="en-US" sz="1600" i="1" dirty="0" smtClean="0">
                        <a:latin typeface="Cambria Math" panose="02040503050406030204" pitchFamily="18" charset="0"/>
                      </a:rPr>
                      <m:t>1</m:t>
                    </m:r>
                    <m:r>
                      <a:rPr lang="en-US" sz="1600" b="0" i="1" dirty="0" smtClean="0">
                        <a:latin typeface="Cambria Math" panose="02040503050406030204" pitchFamily="18" charset="0"/>
                      </a:rPr>
                      <m:t>6</m:t>
                    </m:r>
                    <m:r>
                      <a:rPr lang="en-US" sz="1600" i="1" dirty="0">
                        <a:latin typeface="Cambria Math" panose="02040503050406030204" pitchFamily="18" charset="0"/>
                      </a:rPr>
                      <m:t>!</m:t>
                    </m:r>
                    <m:r>
                      <a:rPr lang="en-US" sz="1600" b="0" i="1" dirty="0" smtClean="0">
                        <a:latin typeface="Cambria Math" panose="02040503050406030204" pitchFamily="18" charset="0"/>
                      </a:rPr>
                      <m:t>/2</m:t>
                    </m:r>
                    <m:r>
                      <a:rPr lang="en-US" sz="1600" i="1" dirty="0">
                        <a:latin typeface="Cambria Math" panose="02040503050406030204" pitchFamily="18" charset="0"/>
                      </a:rPr>
                      <m:t> </m:t>
                    </m:r>
                    <m:r>
                      <a:rPr lang="en-US" sz="1600" i="1" dirty="0">
                        <a:latin typeface="Cambria Math" panose="02040503050406030204" pitchFamily="18" charset="0"/>
                        <a:ea typeface="Cambria Math" panose="02040503050406030204" pitchFamily="18" charset="0"/>
                      </a:rPr>
                      <m:t>≈</m:t>
                    </m:r>
                    <m:r>
                      <a:rPr lang="en-US" sz="1600" i="1" dirty="0">
                        <a:latin typeface="Cambria Math" panose="02040503050406030204" pitchFamily="18" charset="0"/>
                      </a:rPr>
                      <m:t> </m:t>
                    </m:r>
                    <m:sSup>
                      <m:sSupPr>
                        <m:ctrlPr>
                          <a:rPr lang="en-US" sz="1600" b="0" i="1" dirty="0" smtClean="0">
                            <a:latin typeface="Cambria Math" panose="02040503050406030204" pitchFamily="18" charset="0"/>
                            <a:ea typeface="Cambria Math" panose="02040503050406030204" pitchFamily="18" charset="0"/>
                          </a:rPr>
                        </m:ctrlPr>
                      </m:sSupPr>
                      <m:e>
                        <m:r>
                          <a:rPr lang="en-US" sz="1600" i="1" dirty="0">
                            <a:latin typeface="Cambria Math" panose="02040503050406030204" pitchFamily="18" charset="0"/>
                          </a:rPr>
                          <m:t>10</m:t>
                        </m:r>
                      </m:e>
                      <m:sup>
                        <m:r>
                          <a:rPr lang="en-US" sz="1600" b="0" i="1" dirty="0" smtClean="0">
                            <a:latin typeface="Cambria Math" panose="02040503050406030204" pitchFamily="18" charset="0"/>
                          </a:rPr>
                          <m:t>13</m:t>
                        </m:r>
                      </m:sup>
                    </m:sSup>
                  </m:oMath>
                </a14:m>
                <a:r>
                  <a:rPr lang="en-US" sz="1600" dirty="0"/>
                  <a:t> states</a:t>
                </a:r>
              </a:p>
              <a:p>
                <a:pPr lvl="2">
                  <a:lnSpc>
                    <a:spcPct val="120000"/>
                  </a:lnSpc>
                </a:pPr>
                <a:r>
                  <a:rPr lang="en-US" sz="1600" dirty="0"/>
                  <a:t>24-puzzle: </a:t>
                </a:r>
                <a14:m>
                  <m:oMath xmlns:m="http://schemas.openxmlformats.org/officeDocument/2006/math">
                    <m:r>
                      <a:rPr lang="en-US" sz="1600" i="1" dirty="0" smtClean="0">
                        <a:latin typeface="Cambria Math" panose="02040503050406030204" pitchFamily="18" charset="0"/>
                      </a:rPr>
                      <m:t>25!</m:t>
                    </m:r>
                    <m:r>
                      <a:rPr lang="en-US" sz="1600" b="0" i="1" dirty="0" smtClean="0">
                        <a:latin typeface="Cambria Math" panose="02040503050406030204" pitchFamily="18" charset="0"/>
                      </a:rPr>
                      <m:t>/2 </m:t>
                    </m:r>
                    <m:r>
                      <a:rPr lang="en-US" sz="1600" b="0" i="1" dirty="0" smtClean="0">
                        <a:latin typeface="Cambria Math" panose="02040503050406030204" pitchFamily="18" charset="0"/>
                        <a:ea typeface="Cambria Math" panose="02040503050406030204" pitchFamily="18" charset="0"/>
                      </a:rPr>
                      <m:t>≈</m:t>
                    </m:r>
                    <m:r>
                      <a:rPr lang="en-US" sz="1600" i="1" dirty="0" smtClean="0">
                        <a:latin typeface="Cambria Math" panose="02040503050406030204" pitchFamily="18" charset="0"/>
                      </a:rPr>
                      <m:t> 10</m:t>
                    </m:r>
                    <m:r>
                      <a:rPr lang="en-US" sz="1600" i="1" baseline="30000" dirty="0" smtClean="0">
                        <a:latin typeface="Cambria Math" panose="02040503050406030204" pitchFamily="18" charset="0"/>
                      </a:rPr>
                      <m:t>25</m:t>
                    </m:r>
                    <m:r>
                      <a:rPr lang="en-US" sz="1600" i="1" dirty="0" smtClean="0">
                        <a:latin typeface="Cambria Math" panose="02040503050406030204" pitchFamily="18" charset="0"/>
                      </a:rPr>
                      <m:t> </m:t>
                    </m:r>
                  </m:oMath>
                </a14:m>
                <a:r>
                  <a:rPr lang="en-US" sz="1600" dirty="0"/>
                  <a:t>states</a:t>
                </a:r>
                <a:endParaRPr lang="en-US" sz="1600" dirty="0">
                  <a:solidFill>
                    <a:srgbClr val="CC0099"/>
                  </a:solidFill>
                </a:endParaRPr>
              </a:p>
              <a:p>
                <a:pPr>
                  <a:lnSpc>
                    <a:spcPct val="120000"/>
                  </a:lnSpc>
                </a:pPr>
                <a:endParaRPr lang="en-US" dirty="0"/>
              </a:p>
            </p:txBody>
          </p:sp>
        </mc:Choice>
        <mc:Fallback xmlns="">
          <p:sp>
            <p:nvSpPr>
              <p:cNvPr id="17413" name="Rectangle 5"/>
              <p:cNvSpPr>
                <a:spLocks noGrp="1" noRot="1" noChangeAspect="1" noMove="1" noResize="1" noEditPoints="1" noAdjustHandles="1" noChangeArrowheads="1" noChangeShapeType="1" noTextEdit="1"/>
              </p:cNvSpPr>
              <p:nvPr>
                <p:ph idx="1"/>
              </p:nvPr>
            </p:nvSpPr>
            <p:spPr>
              <a:xfrm>
                <a:off x="637117" y="1408112"/>
                <a:ext cx="5848350" cy="5084762"/>
              </a:xfrm>
              <a:blipFill>
                <a:blip r:embed="rId3"/>
                <a:stretch>
                  <a:fillRect l="-938" r="-730"/>
                </a:stretch>
              </a:blipFill>
              <a:ln/>
            </p:spPr>
            <p:txBody>
              <a:bodyPr/>
              <a:lstStyle/>
              <a:p>
                <a:r>
                  <a:rPr lang="en-US">
                    <a:noFill/>
                  </a:rPr>
                  <a:t> </a:t>
                </a:r>
              </a:p>
            </p:txBody>
          </p:sp>
        </mc:Fallback>
      </mc:AlternateContent>
      <p:pic>
        <p:nvPicPr>
          <p:cNvPr id="17414" name="Picture 6" descr="8puzzle"/>
          <p:cNvPicPr>
            <a:picLocks noChangeAspect="1" noChangeArrowheads="1"/>
          </p:cNvPicPr>
          <p:nvPr/>
        </p:nvPicPr>
        <p:blipFill>
          <a:blip r:embed="rId4" cstate="print"/>
          <a:srcRect r="49396"/>
          <a:stretch>
            <a:fillRect/>
          </a:stretch>
        </p:blipFill>
        <p:spPr bwMode="auto">
          <a:xfrm>
            <a:off x="6608445" y="1447800"/>
            <a:ext cx="2154555" cy="2162175"/>
          </a:xfrm>
          <a:prstGeom prst="rect">
            <a:avLst/>
          </a:prstGeom>
          <a:noFill/>
        </p:spPr>
      </p:pic>
      <p:pic>
        <p:nvPicPr>
          <p:cNvPr id="8" name="Picture 6" descr="8puzzle"/>
          <p:cNvPicPr>
            <a:picLocks noChangeAspect="1" noChangeArrowheads="1"/>
          </p:cNvPicPr>
          <p:nvPr/>
        </p:nvPicPr>
        <p:blipFill>
          <a:blip r:embed="rId4" cstate="print"/>
          <a:srcRect l="49396"/>
          <a:stretch>
            <a:fillRect/>
          </a:stretch>
        </p:blipFill>
        <p:spPr bwMode="auto">
          <a:xfrm>
            <a:off x="6324600" y="3810000"/>
            <a:ext cx="2154555" cy="2162175"/>
          </a:xfrm>
          <a:prstGeom prst="rect">
            <a:avLst/>
          </a:prstGeom>
          <a:noFill/>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458" name="Rectangle 2"/>
          <p:cNvSpPr>
            <a:spLocks noGrp="1" noChangeArrowheads="1"/>
          </p:cNvSpPr>
          <p:nvPr>
            <p:ph type="title"/>
          </p:nvPr>
        </p:nvSpPr>
        <p:spPr/>
        <p:txBody>
          <a:bodyPr/>
          <a:lstStyle/>
          <a:p>
            <a:r>
              <a:rPr lang="en-US" dirty="0"/>
              <a:t>Example: Robot Motion Planning</a:t>
            </a:r>
          </a:p>
        </p:txBody>
      </p:sp>
      <p:sp>
        <p:nvSpPr>
          <p:cNvPr id="19459" name="Rectangle 3"/>
          <p:cNvSpPr>
            <a:spLocks noGrp="1" noChangeArrowheads="1"/>
          </p:cNvSpPr>
          <p:nvPr>
            <p:ph idx="1"/>
          </p:nvPr>
        </p:nvSpPr>
        <p:spPr>
          <a:xfrm>
            <a:off x="457200" y="4419600"/>
            <a:ext cx="8229600" cy="1866900"/>
          </a:xfrm>
        </p:spPr>
        <p:txBody>
          <a:bodyPr>
            <a:normAutofit fontScale="92500" lnSpcReduction="10000"/>
          </a:bodyPr>
          <a:lstStyle/>
          <a:p>
            <a:pPr>
              <a:lnSpc>
                <a:spcPct val="80000"/>
              </a:lnSpc>
            </a:pPr>
            <a:r>
              <a:rPr lang="en-US" sz="2200" b="1" dirty="0">
                <a:solidFill>
                  <a:srgbClr val="FF0000"/>
                </a:solidFill>
              </a:rPr>
              <a:t>Initial State: </a:t>
            </a:r>
            <a:r>
              <a:rPr lang="en-US" sz="1900" dirty="0"/>
              <a:t>Current arm position with real-valued coordinates of robot joint angles.</a:t>
            </a:r>
          </a:p>
          <a:p>
            <a:pPr>
              <a:lnSpc>
                <a:spcPct val="80000"/>
              </a:lnSpc>
            </a:pPr>
            <a:r>
              <a:rPr lang="en-US" sz="2200" b="1" dirty="0">
                <a:solidFill>
                  <a:srgbClr val="FF0000"/>
                </a:solidFill>
              </a:rPr>
              <a:t>Actions: </a:t>
            </a:r>
            <a:r>
              <a:rPr lang="en-US" sz="1900" b="1" dirty="0"/>
              <a:t>Continuous</a:t>
            </a:r>
            <a:r>
              <a:rPr lang="en-US" sz="1900" dirty="0"/>
              <a:t> motions of robot joints.</a:t>
            </a:r>
          </a:p>
          <a:p>
            <a:pPr>
              <a:lnSpc>
                <a:spcPct val="80000"/>
              </a:lnSpc>
            </a:pPr>
            <a:r>
              <a:rPr lang="en-US" sz="2200" b="1" dirty="0">
                <a:solidFill>
                  <a:srgbClr val="FF0000"/>
                </a:solidFill>
              </a:rPr>
              <a:t>Transition model: </a:t>
            </a:r>
            <a:r>
              <a:rPr lang="en-US" sz="2200" dirty="0"/>
              <a:t>Movement.</a:t>
            </a:r>
          </a:p>
          <a:p>
            <a:pPr>
              <a:lnSpc>
                <a:spcPct val="80000"/>
              </a:lnSpc>
            </a:pPr>
            <a:r>
              <a:rPr lang="en-US" sz="2200" b="1" dirty="0">
                <a:solidFill>
                  <a:srgbClr val="FF0000"/>
                </a:solidFill>
              </a:rPr>
              <a:t>Goal state: </a:t>
            </a:r>
            <a:r>
              <a:rPr lang="en-US" sz="1900" dirty="0"/>
              <a:t>Desired final configuration (e.g., object is grasped).</a:t>
            </a:r>
          </a:p>
          <a:p>
            <a:pPr>
              <a:lnSpc>
                <a:spcPct val="80000"/>
              </a:lnSpc>
            </a:pPr>
            <a:r>
              <a:rPr lang="en-US" sz="2200" b="1" dirty="0">
                <a:solidFill>
                  <a:srgbClr val="FF0000"/>
                </a:solidFill>
              </a:rPr>
              <a:t>Path cost: </a:t>
            </a:r>
            <a:r>
              <a:rPr lang="en-US" sz="1900" dirty="0"/>
              <a:t>Time to execute, smoothness of path, etc.</a:t>
            </a:r>
          </a:p>
        </p:txBody>
      </p:sp>
      <p:pic>
        <p:nvPicPr>
          <p:cNvPr id="19460" name="Picture 4" descr="stanford-arm+blocks"/>
          <p:cNvPicPr>
            <a:picLocks noChangeAspect="1" noChangeArrowheads="1"/>
          </p:cNvPicPr>
          <p:nvPr/>
        </p:nvPicPr>
        <p:blipFill>
          <a:blip r:embed="rId3" cstate="print"/>
          <a:srcRect/>
          <a:stretch>
            <a:fillRect/>
          </a:stretch>
        </p:blipFill>
        <p:spPr bwMode="auto">
          <a:xfrm>
            <a:off x="1676400" y="1409700"/>
            <a:ext cx="5800725" cy="2324100"/>
          </a:xfrm>
          <a:prstGeom prst="rect">
            <a:avLst/>
          </a:prstGeom>
          <a:noFill/>
        </p:spPr>
      </p:pic>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19607DC-64EF-F8C4-6016-F9A8ADA736FB}"/>
            </a:ext>
          </a:extLst>
        </p:cNvPr>
        <p:cNvGrpSpPr/>
        <p:nvPr/>
      </p:nvGrpSpPr>
      <p:grpSpPr>
        <a:xfrm>
          <a:off x="0" y="0"/>
          <a:ext cx="0" cy="0"/>
          <a:chOff x="0" y="0"/>
          <a:chExt cx="0" cy="0"/>
        </a:xfrm>
      </p:grpSpPr>
      <p:pic>
        <p:nvPicPr>
          <p:cNvPr id="5" name="Picture 4" descr="Small tree">
            <a:extLst>
              <a:ext uri="{FF2B5EF4-FFF2-40B4-BE49-F238E27FC236}">
                <a16:creationId xmlns:a16="http://schemas.microsoft.com/office/drawing/2014/main" id="{3ADDF624-42A3-DC61-D9D8-22C2ADE70AA3}"/>
              </a:ext>
            </a:extLst>
          </p:cNvPr>
          <p:cNvPicPr>
            <a:picLocks noChangeAspect="1"/>
          </p:cNvPicPr>
          <p:nvPr/>
        </p:nvPicPr>
        <p:blipFill>
          <a:blip r:embed="rId3">
            <a:alphaModFix/>
          </a:blip>
          <a:srcRect r="10999" b="-2"/>
          <a:stretch/>
        </p:blipFill>
        <p:spPr>
          <a:xfrm>
            <a:off x="20" y="1"/>
            <a:ext cx="9143980" cy="6857999"/>
          </a:xfrm>
          <a:prstGeom prst="rect">
            <a:avLst/>
          </a:prstGeom>
        </p:spPr>
      </p:pic>
      <p:sp>
        <p:nvSpPr>
          <p:cNvPr id="2" name="Title 1">
            <a:extLst>
              <a:ext uri="{FF2B5EF4-FFF2-40B4-BE49-F238E27FC236}">
                <a16:creationId xmlns:a16="http://schemas.microsoft.com/office/drawing/2014/main" id="{0579465B-7991-CAF5-C133-A63D30CEE1F4}"/>
              </a:ext>
            </a:extLst>
          </p:cNvPr>
          <p:cNvSpPr>
            <a:spLocks noGrp="1"/>
          </p:cNvSpPr>
          <p:nvPr>
            <p:ph type="title"/>
          </p:nvPr>
        </p:nvSpPr>
        <p:spPr>
          <a:xfrm>
            <a:off x="1143000" y="3657600"/>
            <a:ext cx="6858000" cy="2900518"/>
          </a:xfrm>
        </p:spPr>
        <p:txBody>
          <a:bodyPr vert="horz" lIns="91440" tIns="45720" rIns="91440" bIns="45720" rtlCol="0" anchor="b">
            <a:normAutofit/>
          </a:bodyPr>
          <a:lstStyle/>
          <a:p>
            <a:pPr algn="ctr" defTabSz="914400"/>
            <a:r>
              <a:rPr lang="en-US" sz="6000" b="1" dirty="0">
                <a:solidFill>
                  <a:srgbClr val="FFFFFF"/>
                </a:solidFill>
              </a:rPr>
              <a:t>Tree Search</a:t>
            </a:r>
          </a:p>
        </p:txBody>
      </p:sp>
    </p:spTree>
    <p:extLst>
      <p:ext uri="{BB962C8B-B14F-4D97-AF65-F5344CB8AC3E}">
        <p14:creationId xmlns:p14="http://schemas.microsoft.com/office/powerpoint/2010/main" val="3466429278"/>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Solving Search Problems</a:t>
            </a:r>
          </a:p>
        </p:txBody>
      </p:sp>
      <p:graphicFrame>
        <p:nvGraphicFramePr>
          <p:cNvPr id="8" name="Content Placeholder 7">
            <a:extLst>
              <a:ext uri="{FF2B5EF4-FFF2-40B4-BE49-F238E27FC236}">
                <a16:creationId xmlns:a16="http://schemas.microsoft.com/office/drawing/2014/main" id="{1A6D5AF7-114F-4BD9-9A5D-050071A97E56}"/>
              </a:ext>
            </a:extLst>
          </p:cNvPr>
          <p:cNvGraphicFramePr>
            <a:graphicFrameLocks noGrp="1"/>
          </p:cNvGraphicFramePr>
          <p:nvPr>
            <p:ph idx="4294967295"/>
            <p:extLst>
              <p:ext uri="{D42A27DB-BD31-4B8C-83A1-F6EECF244321}">
                <p14:modId xmlns:p14="http://schemas.microsoft.com/office/powerpoint/2010/main" val="4008603982"/>
              </p:ext>
            </p:extLst>
          </p:nvPr>
        </p:nvGraphicFramePr>
        <p:xfrm>
          <a:off x="735014" y="1455829"/>
          <a:ext cx="2167520" cy="2366961"/>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9" name="Rectangle 8">
            <a:extLst>
              <a:ext uri="{FF2B5EF4-FFF2-40B4-BE49-F238E27FC236}">
                <a16:creationId xmlns:a16="http://schemas.microsoft.com/office/drawing/2014/main" id="{35909678-34B1-4086-BE16-74D3C62031C2}"/>
              </a:ext>
            </a:extLst>
          </p:cNvPr>
          <p:cNvSpPr/>
          <p:nvPr/>
        </p:nvSpPr>
        <p:spPr>
          <a:xfrm>
            <a:off x="3008898" y="1888017"/>
            <a:ext cx="2538194" cy="1323439"/>
          </a:xfrm>
          <a:prstGeom prst="rect">
            <a:avLst/>
          </a:prstGeom>
        </p:spPr>
        <p:style>
          <a:lnRef idx="2">
            <a:schemeClr val="accent2"/>
          </a:lnRef>
          <a:fillRef idx="1">
            <a:schemeClr val="lt1"/>
          </a:fillRef>
          <a:effectRef idx="0">
            <a:schemeClr val="accent2"/>
          </a:effectRef>
          <a:fontRef idx="minor">
            <a:schemeClr val="dk1"/>
          </a:fontRef>
        </p:style>
        <p:txBody>
          <a:bodyPr wrap="square">
            <a:spAutoFit/>
          </a:bodyPr>
          <a:lstStyle/>
          <a:p>
            <a:r>
              <a:rPr lang="en-US" sz="1600" dirty="0"/>
              <a:t>How do we find the optimal solution (sequence of actions/states) when shortest path algorithms for graphs are too expensive?</a:t>
            </a:r>
          </a:p>
        </p:txBody>
      </p:sp>
      <p:sp>
        <p:nvSpPr>
          <p:cNvPr id="3" name="TextBox 2">
            <a:extLst>
              <a:ext uri="{FF2B5EF4-FFF2-40B4-BE49-F238E27FC236}">
                <a16:creationId xmlns:a16="http://schemas.microsoft.com/office/drawing/2014/main" id="{75C77B91-470E-4D83-B04D-01194B871D1C}"/>
              </a:ext>
            </a:extLst>
          </p:cNvPr>
          <p:cNvSpPr txBox="1"/>
          <p:nvPr/>
        </p:nvSpPr>
        <p:spPr>
          <a:xfrm>
            <a:off x="6629400" y="1850486"/>
            <a:ext cx="2011363" cy="1323439"/>
          </a:xfrm>
          <a:prstGeom prst="rect">
            <a:avLst/>
          </a:prstGeom>
        </p:spPr>
        <p:style>
          <a:lnRef idx="2">
            <a:schemeClr val="accent6">
              <a:shade val="50000"/>
            </a:schemeClr>
          </a:lnRef>
          <a:fillRef idx="1">
            <a:schemeClr val="accent6"/>
          </a:fillRef>
          <a:effectRef idx="0">
            <a:schemeClr val="accent6"/>
          </a:effectRef>
          <a:fontRef idx="minor">
            <a:schemeClr val="lt1"/>
          </a:fontRef>
        </p:style>
        <p:txBody>
          <a:bodyPr wrap="square" rtlCol="0">
            <a:spAutoFit/>
          </a:bodyPr>
          <a:lstStyle/>
          <a:p>
            <a:r>
              <a:rPr lang="en-US" sz="1600" dirty="0"/>
              <a:t>Construct a </a:t>
            </a:r>
            <a:r>
              <a:rPr lang="en-US" sz="1600" b="1" dirty="0"/>
              <a:t>search tree</a:t>
            </a:r>
            <a:r>
              <a:rPr lang="en-US" sz="1600" dirty="0"/>
              <a:t> for the state space graph so we can use much cheaper </a:t>
            </a:r>
            <a:r>
              <a:rPr lang="en-US" sz="1600" b="1" dirty="0"/>
              <a:t>tree search</a:t>
            </a:r>
            <a:r>
              <a:rPr lang="en-US" sz="1600" dirty="0"/>
              <a:t>!</a:t>
            </a:r>
          </a:p>
        </p:txBody>
      </p:sp>
      <p:sp>
        <p:nvSpPr>
          <p:cNvPr id="4" name="Arrow: Right 3">
            <a:extLst>
              <a:ext uri="{FF2B5EF4-FFF2-40B4-BE49-F238E27FC236}">
                <a16:creationId xmlns:a16="http://schemas.microsoft.com/office/drawing/2014/main" id="{8E275448-7194-49A8-9718-B24D47A51189}"/>
              </a:ext>
            </a:extLst>
          </p:cNvPr>
          <p:cNvSpPr/>
          <p:nvPr/>
        </p:nvSpPr>
        <p:spPr>
          <a:xfrm>
            <a:off x="5614687" y="2182109"/>
            <a:ext cx="629520" cy="457200"/>
          </a:xfrm>
          <a:prstGeom prst="rightArrow">
            <a:avLst/>
          </a:prstGeom>
        </p:spPr>
        <p:style>
          <a:lnRef idx="2">
            <a:schemeClr val="accent6">
              <a:shade val="50000"/>
            </a:schemeClr>
          </a:lnRef>
          <a:fillRef idx="1">
            <a:schemeClr val="accent6"/>
          </a:fillRef>
          <a:effectRef idx="0">
            <a:schemeClr val="accent6"/>
          </a:effectRef>
          <a:fontRef idx="minor">
            <a:schemeClr val="lt1"/>
          </a:fontRef>
        </p:style>
        <p:txBody>
          <a:bodyPr rtlCol="0" anchor="ctr"/>
          <a:lstStyle/>
          <a:p>
            <a:pPr algn="ctr"/>
            <a:endParaRPr lang="en-US"/>
          </a:p>
        </p:txBody>
      </p:sp>
      <p:grpSp>
        <p:nvGrpSpPr>
          <p:cNvPr id="5" name="Group 4">
            <a:extLst>
              <a:ext uri="{FF2B5EF4-FFF2-40B4-BE49-F238E27FC236}">
                <a16:creationId xmlns:a16="http://schemas.microsoft.com/office/drawing/2014/main" id="{F18EA982-9CB9-BAED-368B-97D2222517D5}"/>
              </a:ext>
            </a:extLst>
          </p:cNvPr>
          <p:cNvGrpSpPr/>
          <p:nvPr/>
        </p:nvGrpSpPr>
        <p:grpSpPr>
          <a:xfrm>
            <a:off x="1721672" y="3657849"/>
            <a:ext cx="5700655" cy="3071394"/>
            <a:chOff x="3443345" y="3786606"/>
            <a:chExt cx="5700655" cy="3071394"/>
          </a:xfrm>
        </p:grpSpPr>
        <p:pic>
          <p:nvPicPr>
            <p:cNvPr id="6" name="Picture 6">
              <a:extLst>
                <a:ext uri="{FF2B5EF4-FFF2-40B4-BE49-F238E27FC236}">
                  <a16:creationId xmlns:a16="http://schemas.microsoft.com/office/drawing/2014/main" id="{D4175709-7E24-4889-BB5C-3F5FE1A911FA}"/>
                </a:ext>
              </a:extLst>
            </p:cNvPr>
            <p:cNvPicPr>
              <a:picLocks noChangeAspect="1" noChangeArrowheads="1"/>
            </p:cNvPicPr>
            <p:nvPr/>
          </p:nvPicPr>
          <p:blipFill>
            <a:blip r:embed="rId8" cstate="print"/>
            <a:srcRect/>
            <a:stretch>
              <a:fillRect/>
            </a:stretch>
          </p:blipFill>
          <p:spPr bwMode="auto">
            <a:xfrm>
              <a:off x="3443345" y="4142196"/>
              <a:ext cx="5700655" cy="2715804"/>
            </a:xfrm>
            <a:prstGeom prst="rect">
              <a:avLst/>
            </a:prstGeom>
            <a:noFill/>
            <a:ln w="9525">
              <a:noFill/>
              <a:miter lim="800000"/>
              <a:headEnd/>
              <a:tailEnd/>
            </a:ln>
          </p:spPr>
        </p:pic>
        <p:cxnSp>
          <p:nvCxnSpPr>
            <p:cNvPr id="10" name="Straight Arrow Connector 9">
              <a:extLst>
                <a:ext uri="{FF2B5EF4-FFF2-40B4-BE49-F238E27FC236}">
                  <a16:creationId xmlns:a16="http://schemas.microsoft.com/office/drawing/2014/main" id="{60BFCA0D-F803-47D3-BFF3-549E7B288DC8}"/>
                </a:ext>
              </a:extLst>
            </p:cNvPr>
            <p:cNvCxnSpPr/>
            <p:nvPr/>
          </p:nvCxnSpPr>
          <p:spPr>
            <a:xfrm flipH="1">
              <a:off x="3976745" y="4588005"/>
              <a:ext cx="1676400" cy="631566"/>
            </a:xfrm>
            <a:prstGeom prst="straightConnector1">
              <a:avLst/>
            </a:prstGeom>
            <a:ln w="57150">
              <a:tailEnd type="triangle"/>
            </a:ln>
          </p:spPr>
          <p:style>
            <a:lnRef idx="3">
              <a:schemeClr val="accent2"/>
            </a:lnRef>
            <a:fillRef idx="0">
              <a:schemeClr val="accent2"/>
            </a:fillRef>
            <a:effectRef idx="2">
              <a:schemeClr val="accent2"/>
            </a:effectRef>
            <a:fontRef idx="minor">
              <a:schemeClr val="tx1"/>
            </a:fontRef>
          </p:style>
        </p:cxnSp>
        <p:cxnSp>
          <p:nvCxnSpPr>
            <p:cNvPr id="12" name="Straight Arrow Connector 11">
              <a:extLst>
                <a:ext uri="{FF2B5EF4-FFF2-40B4-BE49-F238E27FC236}">
                  <a16:creationId xmlns:a16="http://schemas.microsoft.com/office/drawing/2014/main" id="{FD2844A0-0C70-41CD-A70E-CE2ABC45F44C}"/>
                </a:ext>
              </a:extLst>
            </p:cNvPr>
            <p:cNvCxnSpPr/>
            <p:nvPr/>
          </p:nvCxnSpPr>
          <p:spPr>
            <a:xfrm>
              <a:off x="4510145" y="5328854"/>
              <a:ext cx="609600" cy="0"/>
            </a:xfrm>
            <a:prstGeom prst="straightConnector1">
              <a:avLst/>
            </a:prstGeom>
            <a:ln w="57150">
              <a:tailEnd type="triangle"/>
            </a:ln>
          </p:spPr>
          <p:style>
            <a:lnRef idx="3">
              <a:schemeClr val="accent2"/>
            </a:lnRef>
            <a:fillRef idx="0">
              <a:schemeClr val="accent2"/>
            </a:fillRef>
            <a:effectRef idx="2">
              <a:schemeClr val="accent2"/>
            </a:effectRef>
            <a:fontRef idx="minor">
              <a:schemeClr val="tx1"/>
            </a:fontRef>
          </p:style>
        </p:cxnSp>
        <p:cxnSp>
          <p:nvCxnSpPr>
            <p:cNvPr id="14" name="Straight Arrow Connector 13">
              <a:extLst>
                <a:ext uri="{FF2B5EF4-FFF2-40B4-BE49-F238E27FC236}">
                  <a16:creationId xmlns:a16="http://schemas.microsoft.com/office/drawing/2014/main" id="{812997ED-3FB6-43AF-B3BC-17BD86472D1E}"/>
                </a:ext>
              </a:extLst>
            </p:cNvPr>
            <p:cNvCxnSpPr/>
            <p:nvPr/>
          </p:nvCxnSpPr>
          <p:spPr>
            <a:xfrm>
              <a:off x="5386445" y="5500098"/>
              <a:ext cx="1638300" cy="633873"/>
            </a:xfrm>
            <a:prstGeom prst="straightConnector1">
              <a:avLst/>
            </a:prstGeom>
            <a:ln w="57150">
              <a:tailEnd type="triangle"/>
            </a:ln>
          </p:spPr>
          <p:style>
            <a:lnRef idx="3">
              <a:schemeClr val="accent2"/>
            </a:lnRef>
            <a:fillRef idx="0">
              <a:schemeClr val="accent2"/>
            </a:fillRef>
            <a:effectRef idx="2">
              <a:schemeClr val="accent2"/>
            </a:effectRef>
            <a:fontRef idx="minor">
              <a:schemeClr val="tx1"/>
            </a:fontRef>
          </p:style>
        </p:cxnSp>
        <p:sp>
          <p:nvSpPr>
            <p:cNvPr id="17" name="Rectangle 16">
              <a:extLst>
                <a:ext uri="{FF2B5EF4-FFF2-40B4-BE49-F238E27FC236}">
                  <a16:creationId xmlns:a16="http://schemas.microsoft.com/office/drawing/2014/main" id="{0A3F790A-73EE-4E53-B55A-5BE346E6B01C}"/>
                </a:ext>
              </a:extLst>
            </p:cNvPr>
            <p:cNvSpPr/>
            <p:nvPr/>
          </p:nvSpPr>
          <p:spPr>
            <a:xfrm>
              <a:off x="5195947" y="4180435"/>
              <a:ext cx="990598" cy="505736"/>
            </a:xfrm>
            <a:prstGeom prst="rect">
              <a:avLst/>
            </a:prstGeom>
            <a:noFill/>
            <a:ln w="38100" cap="flat" cmpd="sng" algn="ctr">
              <a:solidFill>
                <a:schemeClr val="accent2"/>
              </a:solidFill>
              <a:prstDash val="solid"/>
              <a:round/>
              <a:headEnd type="none" w="med" len="med"/>
              <a:tailEnd type="none" w="med" len="med"/>
            </a:ln>
          </p:spPr>
          <p:style>
            <a:lnRef idx="0">
              <a:scrgbClr r="0" g="0" b="0"/>
            </a:lnRef>
            <a:fillRef idx="0">
              <a:scrgbClr r="0" g="0" b="0"/>
            </a:fillRef>
            <a:effectRef idx="0">
              <a:scrgbClr r="0" g="0" b="0"/>
            </a:effectRef>
            <a:fontRef idx="minor">
              <a:schemeClr val="accent2"/>
            </a:fontRef>
          </p:style>
          <p:txBody>
            <a:bodyPr rtlCol="0" anchor="ctr"/>
            <a:lstStyle/>
            <a:p>
              <a:pPr algn="ctr"/>
              <a:endParaRPr lang="en-US"/>
            </a:p>
          </p:txBody>
        </p:sp>
        <p:sp>
          <p:nvSpPr>
            <p:cNvPr id="18" name="Rectangle 17">
              <a:extLst>
                <a:ext uri="{FF2B5EF4-FFF2-40B4-BE49-F238E27FC236}">
                  <a16:creationId xmlns:a16="http://schemas.microsoft.com/office/drawing/2014/main" id="{0B78AC21-C75B-4C15-AC11-ABD2538E14C3}"/>
                </a:ext>
              </a:extLst>
            </p:cNvPr>
            <p:cNvSpPr/>
            <p:nvPr/>
          </p:nvSpPr>
          <p:spPr>
            <a:xfrm>
              <a:off x="5195945" y="6009235"/>
              <a:ext cx="2133600" cy="505736"/>
            </a:xfrm>
            <a:prstGeom prst="rect">
              <a:avLst/>
            </a:prstGeom>
            <a:noFill/>
            <a:ln w="38100" cap="flat" cmpd="sng" algn="ctr">
              <a:solidFill>
                <a:schemeClr val="accent2"/>
              </a:solidFill>
              <a:prstDash val="solid"/>
              <a:round/>
              <a:headEnd type="none" w="med" len="med"/>
              <a:tailEnd type="none" w="med" len="med"/>
            </a:ln>
          </p:spPr>
          <p:style>
            <a:lnRef idx="0">
              <a:scrgbClr r="0" g="0" b="0"/>
            </a:lnRef>
            <a:fillRef idx="0">
              <a:scrgbClr r="0" g="0" b="0"/>
            </a:fillRef>
            <a:effectRef idx="0">
              <a:scrgbClr r="0" g="0" b="0"/>
            </a:effectRef>
            <a:fontRef idx="minor">
              <a:schemeClr val="accent2"/>
            </a:fontRef>
          </p:style>
          <p:txBody>
            <a:bodyPr rtlCol="0" anchor="ctr"/>
            <a:lstStyle/>
            <a:p>
              <a:pPr algn="ctr"/>
              <a:endParaRPr lang="en-US"/>
            </a:p>
          </p:txBody>
        </p:sp>
        <p:sp>
          <p:nvSpPr>
            <p:cNvPr id="21" name="TextBox 20">
              <a:extLst>
                <a:ext uri="{FF2B5EF4-FFF2-40B4-BE49-F238E27FC236}">
                  <a16:creationId xmlns:a16="http://schemas.microsoft.com/office/drawing/2014/main" id="{C819F4C7-5C99-4CB1-B4CA-2D9228EB892A}"/>
                </a:ext>
              </a:extLst>
            </p:cNvPr>
            <p:cNvSpPr txBox="1"/>
            <p:nvPr/>
          </p:nvSpPr>
          <p:spPr>
            <a:xfrm>
              <a:off x="5106832" y="3786606"/>
              <a:ext cx="1255344" cy="369332"/>
            </a:xfrm>
            <a:prstGeom prst="rect">
              <a:avLst/>
            </a:prstGeom>
            <a:noFill/>
          </p:spPr>
          <p:txBody>
            <a:bodyPr wrap="none" rtlCol="0">
              <a:spAutoFit/>
            </a:bodyPr>
            <a:lstStyle/>
            <a:p>
              <a:r>
                <a:rPr lang="en-US" b="1" dirty="0">
                  <a:solidFill>
                    <a:schemeClr val="accent2">
                      <a:lumMod val="50000"/>
                    </a:schemeClr>
                  </a:solidFill>
                </a:rPr>
                <a:t>Initial state</a:t>
              </a:r>
            </a:p>
          </p:txBody>
        </p:sp>
        <p:sp>
          <p:nvSpPr>
            <p:cNvPr id="22" name="TextBox 21">
              <a:extLst>
                <a:ext uri="{FF2B5EF4-FFF2-40B4-BE49-F238E27FC236}">
                  <a16:creationId xmlns:a16="http://schemas.microsoft.com/office/drawing/2014/main" id="{0EBD072D-4232-47C8-AB5E-6B5B2261D0DC}"/>
                </a:ext>
              </a:extLst>
            </p:cNvPr>
            <p:cNvSpPr txBox="1"/>
            <p:nvPr/>
          </p:nvSpPr>
          <p:spPr>
            <a:xfrm>
              <a:off x="3734781" y="6096000"/>
              <a:ext cx="1240917" cy="369332"/>
            </a:xfrm>
            <a:prstGeom prst="rect">
              <a:avLst/>
            </a:prstGeom>
            <a:noFill/>
          </p:spPr>
          <p:txBody>
            <a:bodyPr wrap="none" rtlCol="0">
              <a:spAutoFit/>
            </a:bodyPr>
            <a:lstStyle/>
            <a:p>
              <a:r>
                <a:rPr lang="en-US" b="1" dirty="0">
                  <a:solidFill>
                    <a:schemeClr val="accent2">
                      <a:lumMod val="50000"/>
                    </a:schemeClr>
                  </a:solidFill>
                </a:rPr>
                <a:t>Goal states</a:t>
              </a:r>
            </a:p>
          </p:txBody>
        </p:sp>
      </p:grpSp>
      <p:sp>
        <p:nvSpPr>
          <p:cNvPr id="19" name="TextBox 18">
            <a:extLst>
              <a:ext uri="{FF2B5EF4-FFF2-40B4-BE49-F238E27FC236}">
                <a16:creationId xmlns:a16="http://schemas.microsoft.com/office/drawing/2014/main" id="{BB1FA59E-D51B-462E-80A8-BBD43C78A614}"/>
              </a:ext>
            </a:extLst>
          </p:cNvPr>
          <p:cNvSpPr txBox="1"/>
          <p:nvPr/>
        </p:nvSpPr>
        <p:spPr>
          <a:xfrm>
            <a:off x="1397483" y="4070442"/>
            <a:ext cx="1752600" cy="400110"/>
          </a:xfrm>
          <a:prstGeom prst="rect">
            <a:avLst/>
          </a:prstGeom>
          <a:noFill/>
        </p:spPr>
        <p:txBody>
          <a:bodyPr wrap="square" rtlCol="0">
            <a:spAutoFit/>
          </a:bodyPr>
          <a:lstStyle/>
          <a:p>
            <a:pPr algn="ctr"/>
            <a:r>
              <a:rPr lang="en-US" sz="2000" b="1" dirty="0"/>
              <a:t>State space</a:t>
            </a:r>
          </a:p>
        </p:txBody>
      </p:sp>
      <p:sp>
        <p:nvSpPr>
          <p:cNvPr id="7" name="TextBox 6">
            <a:extLst>
              <a:ext uri="{FF2B5EF4-FFF2-40B4-BE49-F238E27FC236}">
                <a16:creationId xmlns:a16="http://schemas.microsoft.com/office/drawing/2014/main" id="{5784C3D6-A566-183A-1366-00B2861C5A2C}"/>
              </a:ext>
            </a:extLst>
          </p:cNvPr>
          <p:cNvSpPr txBox="1"/>
          <p:nvPr/>
        </p:nvSpPr>
        <p:spPr>
          <a:xfrm rot="19538169">
            <a:off x="1404837" y="4861610"/>
            <a:ext cx="5420986" cy="276999"/>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wrap="square" rtlCol="0">
            <a:spAutoFit/>
          </a:bodyPr>
          <a:lstStyle/>
          <a:p>
            <a:pPr algn="ctr"/>
            <a:r>
              <a:rPr lang="en-US" sz="1200" dirty="0"/>
              <a:t>Graphs for real problems do not fit into memory. Can’t use shortest path algorithms!</a:t>
            </a:r>
          </a:p>
        </p:txBody>
      </p:sp>
    </p:spTree>
    <p:extLst>
      <p:ext uri="{BB962C8B-B14F-4D97-AF65-F5344CB8AC3E}">
        <p14:creationId xmlns:p14="http://schemas.microsoft.com/office/powerpoint/2010/main" val="99316848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4" grpId="0" animBg="1"/>
    </p:bld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b="1" dirty="0"/>
              <a:t>Issue</a:t>
            </a:r>
            <a:r>
              <a:rPr lang="en-US" dirty="0"/>
              <a:t>: Transition Model is a Graph </a:t>
            </a:r>
            <a:br>
              <a:rPr lang="en-US" dirty="0"/>
            </a:br>
            <a:r>
              <a:rPr lang="en-US" dirty="0"/>
              <a:t>           and Not a Tree!</a:t>
            </a:r>
          </a:p>
        </p:txBody>
      </p:sp>
      <p:grpSp>
        <p:nvGrpSpPr>
          <p:cNvPr id="5" name="Group 4">
            <a:extLst>
              <a:ext uri="{FF2B5EF4-FFF2-40B4-BE49-F238E27FC236}">
                <a16:creationId xmlns:a16="http://schemas.microsoft.com/office/drawing/2014/main" id="{AD91C62D-9781-6CDB-E247-32F04BD0C50B}"/>
              </a:ext>
            </a:extLst>
          </p:cNvPr>
          <p:cNvGrpSpPr/>
          <p:nvPr/>
        </p:nvGrpSpPr>
        <p:grpSpPr>
          <a:xfrm>
            <a:off x="599863" y="1738171"/>
            <a:ext cx="4267200" cy="2833829"/>
            <a:chOff x="599863" y="1738171"/>
            <a:chExt cx="4267200" cy="2833829"/>
          </a:xfrm>
        </p:grpSpPr>
        <p:grpSp>
          <p:nvGrpSpPr>
            <p:cNvPr id="11" name="Group 10">
              <a:extLst>
                <a:ext uri="{FF2B5EF4-FFF2-40B4-BE49-F238E27FC236}">
                  <a16:creationId xmlns:a16="http://schemas.microsoft.com/office/drawing/2014/main" id="{FE7F8596-7AA1-07D3-90AD-BAA92CDB1CB9}"/>
                </a:ext>
              </a:extLst>
            </p:cNvPr>
            <p:cNvGrpSpPr/>
            <p:nvPr/>
          </p:nvGrpSpPr>
          <p:grpSpPr>
            <a:xfrm>
              <a:off x="599863" y="2286000"/>
              <a:ext cx="4267200" cy="2286000"/>
              <a:chOff x="3443345" y="3786606"/>
              <a:chExt cx="5700655" cy="3071394"/>
            </a:xfrm>
          </p:grpSpPr>
          <p:pic>
            <p:nvPicPr>
              <p:cNvPr id="6" name="Picture 6">
                <a:extLst>
                  <a:ext uri="{FF2B5EF4-FFF2-40B4-BE49-F238E27FC236}">
                    <a16:creationId xmlns:a16="http://schemas.microsoft.com/office/drawing/2014/main" id="{D4175709-7E24-4889-BB5C-3F5FE1A911FA}"/>
                  </a:ext>
                </a:extLst>
              </p:cNvPr>
              <p:cNvPicPr>
                <a:picLocks noChangeAspect="1" noChangeArrowheads="1"/>
              </p:cNvPicPr>
              <p:nvPr/>
            </p:nvPicPr>
            <p:blipFill>
              <a:blip r:embed="rId3" cstate="print"/>
              <a:srcRect/>
              <a:stretch>
                <a:fillRect/>
              </a:stretch>
            </p:blipFill>
            <p:spPr bwMode="auto">
              <a:xfrm>
                <a:off x="3443345" y="4142196"/>
                <a:ext cx="5700655" cy="2715804"/>
              </a:xfrm>
              <a:prstGeom prst="rect">
                <a:avLst/>
              </a:prstGeom>
              <a:noFill/>
              <a:ln w="9525">
                <a:noFill/>
                <a:miter lim="800000"/>
                <a:headEnd/>
                <a:tailEnd/>
              </a:ln>
            </p:spPr>
          </p:pic>
          <p:sp>
            <p:nvSpPr>
              <p:cNvPr id="21" name="TextBox 20">
                <a:extLst>
                  <a:ext uri="{FF2B5EF4-FFF2-40B4-BE49-F238E27FC236}">
                    <a16:creationId xmlns:a16="http://schemas.microsoft.com/office/drawing/2014/main" id="{C819F4C7-5C99-4CB1-B4CA-2D9228EB892A}"/>
                  </a:ext>
                </a:extLst>
              </p:cNvPr>
              <p:cNvSpPr txBox="1"/>
              <p:nvPr/>
            </p:nvSpPr>
            <p:spPr>
              <a:xfrm>
                <a:off x="5106832" y="3786606"/>
                <a:ext cx="1203860" cy="372167"/>
              </a:xfrm>
              <a:prstGeom prst="rect">
                <a:avLst/>
              </a:prstGeom>
              <a:noFill/>
            </p:spPr>
            <p:txBody>
              <a:bodyPr wrap="none" rtlCol="0">
                <a:spAutoFit/>
              </a:bodyPr>
              <a:lstStyle/>
              <a:p>
                <a:r>
                  <a:rPr lang="en-US" sz="1200" b="1" dirty="0"/>
                  <a:t>Initial state</a:t>
                </a:r>
              </a:p>
            </p:txBody>
          </p:sp>
          <p:sp>
            <p:nvSpPr>
              <p:cNvPr id="22" name="TextBox 21">
                <a:extLst>
                  <a:ext uri="{FF2B5EF4-FFF2-40B4-BE49-F238E27FC236}">
                    <a16:creationId xmlns:a16="http://schemas.microsoft.com/office/drawing/2014/main" id="{0EBD072D-4232-47C8-AB5E-6B5B2261D0DC}"/>
                  </a:ext>
                </a:extLst>
              </p:cNvPr>
              <p:cNvSpPr txBox="1"/>
              <p:nvPr/>
            </p:nvSpPr>
            <p:spPr>
              <a:xfrm>
                <a:off x="3734781" y="6096000"/>
                <a:ext cx="1186728" cy="372167"/>
              </a:xfrm>
              <a:prstGeom prst="rect">
                <a:avLst/>
              </a:prstGeom>
              <a:noFill/>
            </p:spPr>
            <p:txBody>
              <a:bodyPr wrap="none" rtlCol="0">
                <a:spAutoFit/>
              </a:bodyPr>
              <a:lstStyle/>
              <a:p>
                <a:r>
                  <a:rPr lang="en-US" sz="1200" b="1" dirty="0"/>
                  <a:t>Goal states</a:t>
                </a:r>
              </a:p>
            </p:txBody>
          </p:sp>
        </p:grpSp>
        <p:sp>
          <p:nvSpPr>
            <p:cNvPr id="13" name="Freeform: Shape 12">
              <a:extLst>
                <a:ext uri="{FF2B5EF4-FFF2-40B4-BE49-F238E27FC236}">
                  <a16:creationId xmlns:a16="http://schemas.microsoft.com/office/drawing/2014/main" id="{7123567F-35F0-E8E8-CCA0-97626BA2DFB6}"/>
                </a:ext>
              </a:extLst>
            </p:cNvPr>
            <p:cNvSpPr/>
            <p:nvPr/>
          </p:nvSpPr>
          <p:spPr>
            <a:xfrm>
              <a:off x="1810748" y="2605492"/>
              <a:ext cx="195245" cy="319596"/>
            </a:xfrm>
            <a:custGeom>
              <a:avLst/>
              <a:gdLst>
                <a:gd name="connsiteX0" fmla="*/ 257831 w 260833"/>
                <a:gd name="connsiteY0" fmla="*/ 119518 h 461313"/>
                <a:gd name="connsiteX1" fmla="*/ 108817 w 260833"/>
                <a:gd name="connsiteY1" fmla="*/ 4371 h 461313"/>
                <a:gd name="connsiteX2" fmla="*/ 444 w 260833"/>
                <a:gd name="connsiteY2" fmla="*/ 254985 h 461313"/>
                <a:gd name="connsiteX3" fmla="*/ 149457 w 260833"/>
                <a:gd name="connsiteY3" fmla="*/ 458185 h 461313"/>
                <a:gd name="connsiteX4" fmla="*/ 251057 w 260833"/>
                <a:gd name="connsiteY4" fmla="*/ 376905 h 461313"/>
                <a:gd name="connsiteX5" fmla="*/ 251057 w 260833"/>
                <a:gd name="connsiteY5" fmla="*/ 356585 h 46131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260833" h="461313">
                  <a:moveTo>
                    <a:pt x="257831" y="119518"/>
                  </a:moveTo>
                  <a:cubicBezTo>
                    <a:pt x="204773" y="50655"/>
                    <a:pt x="151715" y="-18207"/>
                    <a:pt x="108817" y="4371"/>
                  </a:cubicBezTo>
                  <a:cubicBezTo>
                    <a:pt x="65919" y="26949"/>
                    <a:pt x="-6329" y="179349"/>
                    <a:pt x="444" y="254985"/>
                  </a:cubicBezTo>
                  <a:cubicBezTo>
                    <a:pt x="7217" y="330621"/>
                    <a:pt x="107688" y="437865"/>
                    <a:pt x="149457" y="458185"/>
                  </a:cubicBezTo>
                  <a:cubicBezTo>
                    <a:pt x="191226" y="478505"/>
                    <a:pt x="234124" y="393838"/>
                    <a:pt x="251057" y="376905"/>
                  </a:cubicBezTo>
                  <a:cubicBezTo>
                    <a:pt x="267990" y="359972"/>
                    <a:pt x="259523" y="358278"/>
                    <a:pt x="251057" y="356585"/>
                  </a:cubicBezTo>
                </a:path>
              </a:pathLst>
            </a:custGeom>
            <a:ln w="28575">
              <a:headEnd type="none" w="med" len="med"/>
              <a:tailEnd type="triangle" w="med" len="med"/>
            </a:ln>
          </p:spPr>
          <p:style>
            <a:lnRef idx="3">
              <a:schemeClr val="accent2"/>
            </a:lnRef>
            <a:fillRef idx="0">
              <a:schemeClr val="accent2"/>
            </a:fillRef>
            <a:effectRef idx="2">
              <a:schemeClr val="accent2"/>
            </a:effectRef>
            <a:fontRef idx="minor">
              <a:schemeClr val="tx1"/>
            </a:fontRef>
          </p:style>
          <p:txBody>
            <a:bodyPr rtlCol="0" anchor="ctr"/>
            <a:lstStyle/>
            <a:p>
              <a:pPr algn="ctr"/>
              <a:endParaRPr lang="en-US"/>
            </a:p>
          </p:txBody>
        </p:sp>
        <p:sp>
          <p:nvSpPr>
            <p:cNvPr id="15" name="Freeform: Shape 14">
              <a:extLst>
                <a:ext uri="{FF2B5EF4-FFF2-40B4-BE49-F238E27FC236}">
                  <a16:creationId xmlns:a16="http://schemas.microsoft.com/office/drawing/2014/main" id="{81B6139F-5B85-E37A-2FB9-D407A4AEF172}"/>
                </a:ext>
              </a:extLst>
            </p:cNvPr>
            <p:cNvSpPr/>
            <p:nvPr/>
          </p:nvSpPr>
          <p:spPr>
            <a:xfrm>
              <a:off x="695112" y="3295485"/>
              <a:ext cx="195245" cy="319596"/>
            </a:xfrm>
            <a:custGeom>
              <a:avLst/>
              <a:gdLst>
                <a:gd name="connsiteX0" fmla="*/ 257831 w 260833"/>
                <a:gd name="connsiteY0" fmla="*/ 119518 h 461313"/>
                <a:gd name="connsiteX1" fmla="*/ 108817 w 260833"/>
                <a:gd name="connsiteY1" fmla="*/ 4371 h 461313"/>
                <a:gd name="connsiteX2" fmla="*/ 444 w 260833"/>
                <a:gd name="connsiteY2" fmla="*/ 254985 h 461313"/>
                <a:gd name="connsiteX3" fmla="*/ 149457 w 260833"/>
                <a:gd name="connsiteY3" fmla="*/ 458185 h 461313"/>
                <a:gd name="connsiteX4" fmla="*/ 251057 w 260833"/>
                <a:gd name="connsiteY4" fmla="*/ 376905 h 461313"/>
                <a:gd name="connsiteX5" fmla="*/ 251057 w 260833"/>
                <a:gd name="connsiteY5" fmla="*/ 356585 h 46131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260833" h="461313">
                  <a:moveTo>
                    <a:pt x="257831" y="119518"/>
                  </a:moveTo>
                  <a:cubicBezTo>
                    <a:pt x="204773" y="50655"/>
                    <a:pt x="151715" y="-18207"/>
                    <a:pt x="108817" y="4371"/>
                  </a:cubicBezTo>
                  <a:cubicBezTo>
                    <a:pt x="65919" y="26949"/>
                    <a:pt x="-6329" y="179349"/>
                    <a:pt x="444" y="254985"/>
                  </a:cubicBezTo>
                  <a:cubicBezTo>
                    <a:pt x="7217" y="330621"/>
                    <a:pt x="107688" y="437865"/>
                    <a:pt x="149457" y="458185"/>
                  </a:cubicBezTo>
                  <a:cubicBezTo>
                    <a:pt x="191226" y="478505"/>
                    <a:pt x="234124" y="393838"/>
                    <a:pt x="251057" y="376905"/>
                  </a:cubicBezTo>
                  <a:cubicBezTo>
                    <a:pt x="267990" y="359972"/>
                    <a:pt x="259523" y="358278"/>
                    <a:pt x="251057" y="356585"/>
                  </a:cubicBezTo>
                </a:path>
              </a:pathLst>
            </a:custGeom>
            <a:ln w="28575">
              <a:headEnd type="none" w="med" len="med"/>
              <a:tailEnd type="triangle" w="med" len="med"/>
            </a:ln>
          </p:spPr>
          <p:style>
            <a:lnRef idx="3">
              <a:schemeClr val="accent2"/>
            </a:lnRef>
            <a:fillRef idx="0">
              <a:schemeClr val="accent2"/>
            </a:fillRef>
            <a:effectRef idx="2">
              <a:schemeClr val="accent2"/>
            </a:effectRef>
            <a:fontRef idx="minor">
              <a:schemeClr val="tx1"/>
            </a:fontRef>
          </p:style>
          <p:txBody>
            <a:bodyPr rtlCol="0" anchor="ctr"/>
            <a:lstStyle/>
            <a:p>
              <a:pPr algn="ctr"/>
              <a:endParaRPr lang="en-US"/>
            </a:p>
          </p:txBody>
        </p:sp>
        <p:sp>
          <p:nvSpPr>
            <p:cNvPr id="16" name="Freeform: Shape 15">
              <a:extLst>
                <a:ext uri="{FF2B5EF4-FFF2-40B4-BE49-F238E27FC236}">
                  <a16:creationId xmlns:a16="http://schemas.microsoft.com/office/drawing/2014/main" id="{5860D624-D72E-1340-71F2-11D1AC08C1EC}"/>
                </a:ext>
              </a:extLst>
            </p:cNvPr>
            <p:cNvSpPr/>
            <p:nvPr/>
          </p:nvSpPr>
          <p:spPr>
            <a:xfrm>
              <a:off x="1810309" y="4004853"/>
              <a:ext cx="195245" cy="319596"/>
            </a:xfrm>
            <a:custGeom>
              <a:avLst/>
              <a:gdLst>
                <a:gd name="connsiteX0" fmla="*/ 257831 w 260833"/>
                <a:gd name="connsiteY0" fmla="*/ 119518 h 461313"/>
                <a:gd name="connsiteX1" fmla="*/ 108817 w 260833"/>
                <a:gd name="connsiteY1" fmla="*/ 4371 h 461313"/>
                <a:gd name="connsiteX2" fmla="*/ 444 w 260833"/>
                <a:gd name="connsiteY2" fmla="*/ 254985 h 461313"/>
                <a:gd name="connsiteX3" fmla="*/ 149457 w 260833"/>
                <a:gd name="connsiteY3" fmla="*/ 458185 h 461313"/>
                <a:gd name="connsiteX4" fmla="*/ 251057 w 260833"/>
                <a:gd name="connsiteY4" fmla="*/ 376905 h 461313"/>
                <a:gd name="connsiteX5" fmla="*/ 251057 w 260833"/>
                <a:gd name="connsiteY5" fmla="*/ 356585 h 46131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260833" h="461313">
                  <a:moveTo>
                    <a:pt x="257831" y="119518"/>
                  </a:moveTo>
                  <a:cubicBezTo>
                    <a:pt x="204773" y="50655"/>
                    <a:pt x="151715" y="-18207"/>
                    <a:pt x="108817" y="4371"/>
                  </a:cubicBezTo>
                  <a:cubicBezTo>
                    <a:pt x="65919" y="26949"/>
                    <a:pt x="-6329" y="179349"/>
                    <a:pt x="444" y="254985"/>
                  </a:cubicBezTo>
                  <a:cubicBezTo>
                    <a:pt x="7217" y="330621"/>
                    <a:pt x="107688" y="437865"/>
                    <a:pt x="149457" y="458185"/>
                  </a:cubicBezTo>
                  <a:cubicBezTo>
                    <a:pt x="191226" y="478505"/>
                    <a:pt x="234124" y="393838"/>
                    <a:pt x="251057" y="376905"/>
                  </a:cubicBezTo>
                  <a:cubicBezTo>
                    <a:pt x="267990" y="359972"/>
                    <a:pt x="259523" y="358278"/>
                    <a:pt x="251057" y="356585"/>
                  </a:cubicBezTo>
                </a:path>
              </a:pathLst>
            </a:custGeom>
            <a:ln w="28575">
              <a:headEnd type="none" w="med" len="med"/>
              <a:tailEnd type="triangle" w="med" len="med"/>
            </a:ln>
          </p:spPr>
          <p:style>
            <a:lnRef idx="3">
              <a:schemeClr val="accent2"/>
            </a:lnRef>
            <a:fillRef idx="0">
              <a:schemeClr val="accent2"/>
            </a:fillRef>
            <a:effectRef idx="2">
              <a:schemeClr val="accent2"/>
            </a:effectRef>
            <a:fontRef idx="minor">
              <a:schemeClr val="tx1"/>
            </a:fontRef>
          </p:style>
          <p:txBody>
            <a:bodyPr rtlCol="0" anchor="ctr"/>
            <a:lstStyle/>
            <a:p>
              <a:pPr algn="ctr"/>
              <a:endParaRPr lang="en-US"/>
            </a:p>
          </p:txBody>
        </p:sp>
        <p:sp>
          <p:nvSpPr>
            <p:cNvPr id="20" name="Freeform: Shape 19">
              <a:extLst>
                <a:ext uri="{FF2B5EF4-FFF2-40B4-BE49-F238E27FC236}">
                  <a16:creationId xmlns:a16="http://schemas.microsoft.com/office/drawing/2014/main" id="{03D5C403-C98A-96C0-46D3-E85A2CBD8BEA}"/>
                </a:ext>
              </a:extLst>
            </p:cNvPr>
            <p:cNvSpPr/>
            <p:nvPr/>
          </p:nvSpPr>
          <p:spPr>
            <a:xfrm>
              <a:off x="2885862" y="3291169"/>
              <a:ext cx="195245" cy="319596"/>
            </a:xfrm>
            <a:custGeom>
              <a:avLst/>
              <a:gdLst>
                <a:gd name="connsiteX0" fmla="*/ 257831 w 260833"/>
                <a:gd name="connsiteY0" fmla="*/ 119518 h 461313"/>
                <a:gd name="connsiteX1" fmla="*/ 108817 w 260833"/>
                <a:gd name="connsiteY1" fmla="*/ 4371 h 461313"/>
                <a:gd name="connsiteX2" fmla="*/ 444 w 260833"/>
                <a:gd name="connsiteY2" fmla="*/ 254985 h 461313"/>
                <a:gd name="connsiteX3" fmla="*/ 149457 w 260833"/>
                <a:gd name="connsiteY3" fmla="*/ 458185 h 461313"/>
                <a:gd name="connsiteX4" fmla="*/ 251057 w 260833"/>
                <a:gd name="connsiteY4" fmla="*/ 376905 h 461313"/>
                <a:gd name="connsiteX5" fmla="*/ 251057 w 260833"/>
                <a:gd name="connsiteY5" fmla="*/ 356585 h 46131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260833" h="461313">
                  <a:moveTo>
                    <a:pt x="257831" y="119518"/>
                  </a:moveTo>
                  <a:cubicBezTo>
                    <a:pt x="204773" y="50655"/>
                    <a:pt x="151715" y="-18207"/>
                    <a:pt x="108817" y="4371"/>
                  </a:cubicBezTo>
                  <a:cubicBezTo>
                    <a:pt x="65919" y="26949"/>
                    <a:pt x="-6329" y="179349"/>
                    <a:pt x="444" y="254985"/>
                  </a:cubicBezTo>
                  <a:cubicBezTo>
                    <a:pt x="7217" y="330621"/>
                    <a:pt x="107688" y="437865"/>
                    <a:pt x="149457" y="458185"/>
                  </a:cubicBezTo>
                  <a:cubicBezTo>
                    <a:pt x="191226" y="478505"/>
                    <a:pt x="234124" y="393838"/>
                    <a:pt x="251057" y="376905"/>
                  </a:cubicBezTo>
                  <a:cubicBezTo>
                    <a:pt x="267990" y="359972"/>
                    <a:pt x="259523" y="358278"/>
                    <a:pt x="251057" y="356585"/>
                  </a:cubicBezTo>
                </a:path>
              </a:pathLst>
            </a:custGeom>
            <a:ln w="28575">
              <a:headEnd type="none" w="med" len="med"/>
              <a:tailEnd type="triangle" w="med" len="med"/>
            </a:ln>
          </p:spPr>
          <p:style>
            <a:lnRef idx="3">
              <a:schemeClr val="accent2"/>
            </a:lnRef>
            <a:fillRef idx="0">
              <a:schemeClr val="accent2"/>
            </a:fillRef>
            <a:effectRef idx="2">
              <a:schemeClr val="accent2"/>
            </a:effectRef>
            <a:fontRef idx="minor">
              <a:schemeClr val="tx1"/>
            </a:fontRef>
          </p:style>
          <p:txBody>
            <a:bodyPr rtlCol="0" anchor="ctr"/>
            <a:lstStyle/>
            <a:p>
              <a:pPr algn="ctr"/>
              <a:endParaRPr lang="en-US"/>
            </a:p>
          </p:txBody>
        </p:sp>
        <p:sp>
          <p:nvSpPr>
            <p:cNvPr id="23" name="Freeform: Shape 22">
              <a:extLst>
                <a:ext uri="{FF2B5EF4-FFF2-40B4-BE49-F238E27FC236}">
                  <a16:creationId xmlns:a16="http://schemas.microsoft.com/office/drawing/2014/main" id="{72042F84-D873-F2B4-2DBB-C552BD63EB3C}"/>
                </a:ext>
              </a:extLst>
            </p:cNvPr>
            <p:cNvSpPr/>
            <p:nvPr/>
          </p:nvSpPr>
          <p:spPr>
            <a:xfrm flipH="1">
              <a:off x="3452617" y="2603416"/>
              <a:ext cx="195245" cy="319596"/>
            </a:xfrm>
            <a:custGeom>
              <a:avLst/>
              <a:gdLst>
                <a:gd name="connsiteX0" fmla="*/ 257831 w 260833"/>
                <a:gd name="connsiteY0" fmla="*/ 119518 h 461313"/>
                <a:gd name="connsiteX1" fmla="*/ 108817 w 260833"/>
                <a:gd name="connsiteY1" fmla="*/ 4371 h 461313"/>
                <a:gd name="connsiteX2" fmla="*/ 444 w 260833"/>
                <a:gd name="connsiteY2" fmla="*/ 254985 h 461313"/>
                <a:gd name="connsiteX3" fmla="*/ 149457 w 260833"/>
                <a:gd name="connsiteY3" fmla="*/ 458185 h 461313"/>
                <a:gd name="connsiteX4" fmla="*/ 251057 w 260833"/>
                <a:gd name="connsiteY4" fmla="*/ 376905 h 461313"/>
                <a:gd name="connsiteX5" fmla="*/ 251057 w 260833"/>
                <a:gd name="connsiteY5" fmla="*/ 356585 h 46131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260833" h="461313">
                  <a:moveTo>
                    <a:pt x="257831" y="119518"/>
                  </a:moveTo>
                  <a:cubicBezTo>
                    <a:pt x="204773" y="50655"/>
                    <a:pt x="151715" y="-18207"/>
                    <a:pt x="108817" y="4371"/>
                  </a:cubicBezTo>
                  <a:cubicBezTo>
                    <a:pt x="65919" y="26949"/>
                    <a:pt x="-6329" y="179349"/>
                    <a:pt x="444" y="254985"/>
                  </a:cubicBezTo>
                  <a:cubicBezTo>
                    <a:pt x="7217" y="330621"/>
                    <a:pt x="107688" y="437865"/>
                    <a:pt x="149457" y="458185"/>
                  </a:cubicBezTo>
                  <a:cubicBezTo>
                    <a:pt x="191226" y="478505"/>
                    <a:pt x="234124" y="393838"/>
                    <a:pt x="251057" y="376905"/>
                  </a:cubicBezTo>
                  <a:cubicBezTo>
                    <a:pt x="267990" y="359972"/>
                    <a:pt x="259523" y="358278"/>
                    <a:pt x="251057" y="356585"/>
                  </a:cubicBezTo>
                </a:path>
              </a:pathLst>
            </a:custGeom>
            <a:ln w="28575">
              <a:headEnd type="none" w="med" len="med"/>
              <a:tailEnd type="triangle" w="med" len="med"/>
            </a:ln>
          </p:spPr>
          <p:style>
            <a:lnRef idx="3">
              <a:schemeClr val="accent2"/>
            </a:lnRef>
            <a:fillRef idx="0">
              <a:schemeClr val="accent2"/>
            </a:fillRef>
            <a:effectRef idx="2">
              <a:schemeClr val="accent2"/>
            </a:effectRef>
            <a:fontRef idx="minor">
              <a:schemeClr val="tx1"/>
            </a:fontRef>
          </p:style>
          <p:txBody>
            <a:bodyPr rtlCol="0" anchor="ctr"/>
            <a:lstStyle/>
            <a:p>
              <a:pPr algn="ctr"/>
              <a:endParaRPr lang="en-US"/>
            </a:p>
          </p:txBody>
        </p:sp>
        <p:sp>
          <p:nvSpPr>
            <p:cNvPr id="24" name="Freeform: Shape 23">
              <a:extLst>
                <a:ext uri="{FF2B5EF4-FFF2-40B4-BE49-F238E27FC236}">
                  <a16:creationId xmlns:a16="http://schemas.microsoft.com/office/drawing/2014/main" id="{28A21368-6EA0-26C6-C4A1-23B1515F18E7}"/>
                </a:ext>
              </a:extLst>
            </p:cNvPr>
            <p:cNvSpPr/>
            <p:nvPr/>
          </p:nvSpPr>
          <p:spPr>
            <a:xfrm flipH="1">
              <a:off x="4565375" y="3311068"/>
              <a:ext cx="195245" cy="319596"/>
            </a:xfrm>
            <a:custGeom>
              <a:avLst/>
              <a:gdLst>
                <a:gd name="connsiteX0" fmla="*/ 257831 w 260833"/>
                <a:gd name="connsiteY0" fmla="*/ 119518 h 461313"/>
                <a:gd name="connsiteX1" fmla="*/ 108817 w 260833"/>
                <a:gd name="connsiteY1" fmla="*/ 4371 h 461313"/>
                <a:gd name="connsiteX2" fmla="*/ 444 w 260833"/>
                <a:gd name="connsiteY2" fmla="*/ 254985 h 461313"/>
                <a:gd name="connsiteX3" fmla="*/ 149457 w 260833"/>
                <a:gd name="connsiteY3" fmla="*/ 458185 h 461313"/>
                <a:gd name="connsiteX4" fmla="*/ 251057 w 260833"/>
                <a:gd name="connsiteY4" fmla="*/ 376905 h 461313"/>
                <a:gd name="connsiteX5" fmla="*/ 251057 w 260833"/>
                <a:gd name="connsiteY5" fmla="*/ 356585 h 46131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260833" h="461313">
                  <a:moveTo>
                    <a:pt x="257831" y="119518"/>
                  </a:moveTo>
                  <a:cubicBezTo>
                    <a:pt x="204773" y="50655"/>
                    <a:pt x="151715" y="-18207"/>
                    <a:pt x="108817" y="4371"/>
                  </a:cubicBezTo>
                  <a:cubicBezTo>
                    <a:pt x="65919" y="26949"/>
                    <a:pt x="-6329" y="179349"/>
                    <a:pt x="444" y="254985"/>
                  </a:cubicBezTo>
                  <a:cubicBezTo>
                    <a:pt x="7217" y="330621"/>
                    <a:pt x="107688" y="437865"/>
                    <a:pt x="149457" y="458185"/>
                  </a:cubicBezTo>
                  <a:cubicBezTo>
                    <a:pt x="191226" y="478505"/>
                    <a:pt x="234124" y="393838"/>
                    <a:pt x="251057" y="376905"/>
                  </a:cubicBezTo>
                  <a:cubicBezTo>
                    <a:pt x="267990" y="359972"/>
                    <a:pt x="259523" y="358278"/>
                    <a:pt x="251057" y="356585"/>
                  </a:cubicBezTo>
                </a:path>
              </a:pathLst>
            </a:custGeom>
            <a:ln w="28575">
              <a:headEnd type="none" w="med" len="med"/>
              <a:tailEnd type="triangle" w="med" len="med"/>
            </a:ln>
          </p:spPr>
          <p:style>
            <a:lnRef idx="3">
              <a:schemeClr val="accent2"/>
            </a:lnRef>
            <a:fillRef idx="0">
              <a:schemeClr val="accent2"/>
            </a:fillRef>
            <a:effectRef idx="2">
              <a:schemeClr val="accent2"/>
            </a:effectRef>
            <a:fontRef idx="minor">
              <a:schemeClr val="tx1"/>
            </a:fontRef>
          </p:style>
          <p:txBody>
            <a:bodyPr rtlCol="0" anchor="ctr"/>
            <a:lstStyle/>
            <a:p>
              <a:pPr algn="ctr"/>
              <a:endParaRPr lang="en-US"/>
            </a:p>
          </p:txBody>
        </p:sp>
        <p:sp>
          <p:nvSpPr>
            <p:cNvPr id="25" name="Freeform: Shape 24">
              <a:extLst>
                <a:ext uri="{FF2B5EF4-FFF2-40B4-BE49-F238E27FC236}">
                  <a16:creationId xmlns:a16="http://schemas.microsoft.com/office/drawing/2014/main" id="{57C5AC93-CB9B-CFD9-59FB-37E376E62C3D}"/>
                </a:ext>
              </a:extLst>
            </p:cNvPr>
            <p:cNvSpPr/>
            <p:nvPr/>
          </p:nvSpPr>
          <p:spPr>
            <a:xfrm flipH="1">
              <a:off x="2381316" y="3264819"/>
              <a:ext cx="195245" cy="319596"/>
            </a:xfrm>
            <a:custGeom>
              <a:avLst/>
              <a:gdLst>
                <a:gd name="connsiteX0" fmla="*/ 257831 w 260833"/>
                <a:gd name="connsiteY0" fmla="*/ 119518 h 461313"/>
                <a:gd name="connsiteX1" fmla="*/ 108817 w 260833"/>
                <a:gd name="connsiteY1" fmla="*/ 4371 h 461313"/>
                <a:gd name="connsiteX2" fmla="*/ 444 w 260833"/>
                <a:gd name="connsiteY2" fmla="*/ 254985 h 461313"/>
                <a:gd name="connsiteX3" fmla="*/ 149457 w 260833"/>
                <a:gd name="connsiteY3" fmla="*/ 458185 h 461313"/>
                <a:gd name="connsiteX4" fmla="*/ 251057 w 260833"/>
                <a:gd name="connsiteY4" fmla="*/ 376905 h 461313"/>
                <a:gd name="connsiteX5" fmla="*/ 251057 w 260833"/>
                <a:gd name="connsiteY5" fmla="*/ 356585 h 46131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260833" h="461313">
                  <a:moveTo>
                    <a:pt x="257831" y="119518"/>
                  </a:moveTo>
                  <a:cubicBezTo>
                    <a:pt x="204773" y="50655"/>
                    <a:pt x="151715" y="-18207"/>
                    <a:pt x="108817" y="4371"/>
                  </a:cubicBezTo>
                  <a:cubicBezTo>
                    <a:pt x="65919" y="26949"/>
                    <a:pt x="-6329" y="179349"/>
                    <a:pt x="444" y="254985"/>
                  </a:cubicBezTo>
                  <a:cubicBezTo>
                    <a:pt x="7217" y="330621"/>
                    <a:pt x="107688" y="437865"/>
                    <a:pt x="149457" y="458185"/>
                  </a:cubicBezTo>
                  <a:cubicBezTo>
                    <a:pt x="191226" y="478505"/>
                    <a:pt x="234124" y="393838"/>
                    <a:pt x="251057" y="376905"/>
                  </a:cubicBezTo>
                  <a:cubicBezTo>
                    <a:pt x="267990" y="359972"/>
                    <a:pt x="259523" y="358278"/>
                    <a:pt x="251057" y="356585"/>
                  </a:cubicBezTo>
                </a:path>
              </a:pathLst>
            </a:custGeom>
            <a:ln w="28575">
              <a:headEnd type="none" w="med" len="med"/>
              <a:tailEnd type="triangle" w="med" len="med"/>
            </a:ln>
          </p:spPr>
          <p:style>
            <a:lnRef idx="3">
              <a:schemeClr val="accent2"/>
            </a:lnRef>
            <a:fillRef idx="0">
              <a:schemeClr val="accent2"/>
            </a:fillRef>
            <a:effectRef idx="2">
              <a:schemeClr val="accent2"/>
            </a:effectRef>
            <a:fontRef idx="minor">
              <a:schemeClr val="tx1"/>
            </a:fontRef>
          </p:style>
          <p:txBody>
            <a:bodyPr rtlCol="0" anchor="ctr"/>
            <a:lstStyle/>
            <a:p>
              <a:pPr algn="ctr"/>
              <a:endParaRPr lang="en-US"/>
            </a:p>
          </p:txBody>
        </p:sp>
        <p:sp>
          <p:nvSpPr>
            <p:cNvPr id="26" name="Freeform: Shape 25">
              <a:extLst>
                <a:ext uri="{FF2B5EF4-FFF2-40B4-BE49-F238E27FC236}">
                  <a16:creationId xmlns:a16="http://schemas.microsoft.com/office/drawing/2014/main" id="{43E4567C-4644-D2DE-E55F-8DB6B7251583}"/>
                </a:ext>
              </a:extLst>
            </p:cNvPr>
            <p:cNvSpPr/>
            <p:nvPr/>
          </p:nvSpPr>
          <p:spPr>
            <a:xfrm flipH="1">
              <a:off x="3452617" y="4004853"/>
              <a:ext cx="195245" cy="319596"/>
            </a:xfrm>
            <a:custGeom>
              <a:avLst/>
              <a:gdLst>
                <a:gd name="connsiteX0" fmla="*/ 257831 w 260833"/>
                <a:gd name="connsiteY0" fmla="*/ 119518 h 461313"/>
                <a:gd name="connsiteX1" fmla="*/ 108817 w 260833"/>
                <a:gd name="connsiteY1" fmla="*/ 4371 h 461313"/>
                <a:gd name="connsiteX2" fmla="*/ 444 w 260833"/>
                <a:gd name="connsiteY2" fmla="*/ 254985 h 461313"/>
                <a:gd name="connsiteX3" fmla="*/ 149457 w 260833"/>
                <a:gd name="connsiteY3" fmla="*/ 458185 h 461313"/>
                <a:gd name="connsiteX4" fmla="*/ 251057 w 260833"/>
                <a:gd name="connsiteY4" fmla="*/ 376905 h 461313"/>
                <a:gd name="connsiteX5" fmla="*/ 251057 w 260833"/>
                <a:gd name="connsiteY5" fmla="*/ 356585 h 46131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260833" h="461313">
                  <a:moveTo>
                    <a:pt x="257831" y="119518"/>
                  </a:moveTo>
                  <a:cubicBezTo>
                    <a:pt x="204773" y="50655"/>
                    <a:pt x="151715" y="-18207"/>
                    <a:pt x="108817" y="4371"/>
                  </a:cubicBezTo>
                  <a:cubicBezTo>
                    <a:pt x="65919" y="26949"/>
                    <a:pt x="-6329" y="179349"/>
                    <a:pt x="444" y="254985"/>
                  </a:cubicBezTo>
                  <a:cubicBezTo>
                    <a:pt x="7217" y="330621"/>
                    <a:pt x="107688" y="437865"/>
                    <a:pt x="149457" y="458185"/>
                  </a:cubicBezTo>
                  <a:cubicBezTo>
                    <a:pt x="191226" y="478505"/>
                    <a:pt x="234124" y="393838"/>
                    <a:pt x="251057" y="376905"/>
                  </a:cubicBezTo>
                  <a:cubicBezTo>
                    <a:pt x="267990" y="359972"/>
                    <a:pt x="259523" y="358278"/>
                    <a:pt x="251057" y="356585"/>
                  </a:cubicBezTo>
                </a:path>
              </a:pathLst>
            </a:custGeom>
            <a:ln w="28575">
              <a:headEnd type="none" w="med" len="med"/>
              <a:tailEnd type="triangle" w="med" len="med"/>
            </a:ln>
          </p:spPr>
          <p:style>
            <a:lnRef idx="3">
              <a:schemeClr val="accent2"/>
            </a:lnRef>
            <a:fillRef idx="0">
              <a:schemeClr val="accent2"/>
            </a:fillRef>
            <a:effectRef idx="2">
              <a:schemeClr val="accent2"/>
            </a:effectRef>
            <a:fontRef idx="minor">
              <a:schemeClr val="tx1"/>
            </a:fontRef>
          </p:style>
          <p:txBody>
            <a:bodyPr rtlCol="0" anchor="ctr"/>
            <a:lstStyle/>
            <a:p>
              <a:pPr algn="ctr"/>
              <a:endParaRPr lang="en-US"/>
            </a:p>
          </p:txBody>
        </p:sp>
        <p:sp>
          <p:nvSpPr>
            <p:cNvPr id="31" name="Freeform: Shape 30">
              <a:extLst>
                <a:ext uri="{FF2B5EF4-FFF2-40B4-BE49-F238E27FC236}">
                  <a16:creationId xmlns:a16="http://schemas.microsoft.com/office/drawing/2014/main" id="{8D92EEB6-D280-98AE-4513-0E89A45D7D41}"/>
                </a:ext>
              </a:extLst>
            </p:cNvPr>
            <p:cNvSpPr/>
            <p:nvPr/>
          </p:nvSpPr>
          <p:spPr>
            <a:xfrm rot="16200000">
              <a:off x="2182046" y="4262274"/>
              <a:ext cx="195245" cy="319596"/>
            </a:xfrm>
            <a:custGeom>
              <a:avLst/>
              <a:gdLst>
                <a:gd name="connsiteX0" fmla="*/ 257831 w 260833"/>
                <a:gd name="connsiteY0" fmla="*/ 119518 h 461313"/>
                <a:gd name="connsiteX1" fmla="*/ 108817 w 260833"/>
                <a:gd name="connsiteY1" fmla="*/ 4371 h 461313"/>
                <a:gd name="connsiteX2" fmla="*/ 444 w 260833"/>
                <a:gd name="connsiteY2" fmla="*/ 254985 h 461313"/>
                <a:gd name="connsiteX3" fmla="*/ 149457 w 260833"/>
                <a:gd name="connsiteY3" fmla="*/ 458185 h 461313"/>
                <a:gd name="connsiteX4" fmla="*/ 251057 w 260833"/>
                <a:gd name="connsiteY4" fmla="*/ 376905 h 461313"/>
                <a:gd name="connsiteX5" fmla="*/ 251057 w 260833"/>
                <a:gd name="connsiteY5" fmla="*/ 356585 h 46131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260833" h="461313">
                  <a:moveTo>
                    <a:pt x="257831" y="119518"/>
                  </a:moveTo>
                  <a:cubicBezTo>
                    <a:pt x="204773" y="50655"/>
                    <a:pt x="151715" y="-18207"/>
                    <a:pt x="108817" y="4371"/>
                  </a:cubicBezTo>
                  <a:cubicBezTo>
                    <a:pt x="65919" y="26949"/>
                    <a:pt x="-6329" y="179349"/>
                    <a:pt x="444" y="254985"/>
                  </a:cubicBezTo>
                  <a:cubicBezTo>
                    <a:pt x="7217" y="330621"/>
                    <a:pt x="107688" y="437865"/>
                    <a:pt x="149457" y="458185"/>
                  </a:cubicBezTo>
                  <a:cubicBezTo>
                    <a:pt x="191226" y="478505"/>
                    <a:pt x="234124" y="393838"/>
                    <a:pt x="251057" y="376905"/>
                  </a:cubicBezTo>
                  <a:cubicBezTo>
                    <a:pt x="267990" y="359972"/>
                    <a:pt x="259523" y="358278"/>
                    <a:pt x="251057" y="356585"/>
                  </a:cubicBezTo>
                </a:path>
              </a:pathLst>
            </a:custGeom>
            <a:ln w="28575">
              <a:headEnd type="none" w="med" len="med"/>
              <a:tailEnd type="triangle" w="med" len="med"/>
            </a:ln>
          </p:spPr>
          <p:style>
            <a:lnRef idx="3">
              <a:schemeClr val="accent2"/>
            </a:lnRef>
            <a:fillRef idx="0">
              <a:schemeClr val="accent2"/>
            </a:fillRef>
            <a:effectRef idx="2">
              <a:schemeClr val="accent2"/>
            </a:effectRef>
            <a:fontRef idx="minor">
              <a:schemeClr val="tx1"/>
            </a:fontRef>
          </p:style>
          <p:txBody>
            <a:bodyPr rtlCol="0" anchor="ctr"/>
            <a:lstStyle/>
            <a:p>
              <a:pPr algn="ctr"/>
              <a:endParaRPr lang="en-US"/>
            </a:p>
          </p:txBody>
        </p:sp>
        <p:sp>
          <p:nvSpPr>
            <p:cNvPr id="32" name="Freeform: Shape 31">
              <a:extLst>
                <a:ext uri="{FF2B5EF4-FFF2-40B4-BE49-F238E27FC236}">
                  <a16:creationId xmlns:a16="http://schemas.microsoft.com/office/drawing/2014/main" id="{34C3F225-0C29-D123-EBF3-9B72F60C4B2F}"/>
                </a:ext>
              </a:extLst>
            </p:cNvPr>
            <p:cNvSpPr/>
            <p:nvPr/>
          </p:nvSpPr>
          <p:spPr>
            <a:xfrm rot="16200000">
              <a:off x="3055480" y="4262273"/>
              <a:ext cx="195245" cy="319596"/>
            </a:xfrm>
            <a:custGeom>
              <a:avLst/>
              <a:gdLst>
                <a:gd name="connsiteX0" fmla="*/ 257831 w 260833"/>
                <a:gd name="connsiteY0" fmla="*/ 119518 h 461313"/>
                <a:gd name="connsiteX1" fmla="*/ 108817 w 260833"/>
                <a:gd name="connsiteY1" fmla="*/ 4371 h 461313"/>
                <a:gd name="connsiteX2" fmla="*/ 444 w 260833"/>
                <a:gd name="connsiteY2" fmla="*/ 254985 h 461313"/>
                <a:gd name="connsiteX3" fmla="*/ 149457 w 260833"/>
                <a:gd name="connsiteY3" fmla="*/ 458185 h 461313"/>
                <a:gd name="connsiteX4" fmla="*/ 251057 w 260833"/>
                <a:gd name="connsiteY4" fmla="*/ 376905 h 461313"/>
                <a:gd name="connsiteX5" fmla="*/ 251057 w 260833"/>
                <a:gd name="connsiteY5" fmla="*/ 356585 h 46131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260833" h="461313">
                  <a:moveTo>
                    <a:pt x="257831" y="119518"/>
                  </a:moveTo>
                  <a:cubicBezTo>
                    <a:pt x="204773" y="50655"/>
                    <a:pt x="151715" y="-18207"/>
                    <a:pt x="108817" y="4371"/>
                  </a:cubicBezTo>
                  <a:cubicBezTo>
                    <a:pt x="65919" y="26949"/>
                    <a:pt x="-6329" y="179349"/>
                    <a:pt x="444" y="254985"/>
                  </a:cubicBezTo>
                  <a:cubicBezTo>
                    <a:pt x="7217" y="330621"/>
                    <a:pt x="107688" y="437865"/>
                    <a:pt x="149457" y="458185"/>
                  </a:cubicBezTo>
                  <a:cubicBezTo>
                    <a:pt x="191226" y="478505"/>
                    <a:pt x="234124" y="393838"/>
                    <a:pt x="251057" y="376905"/>
                  </a:cubicBezTo>
                  <a:cubicBezTo>
                    <a:pt x="267990" y="359972"/>
                    <a:pt x="259523" y="358278"/>
                    <a:pt x="251057" y="356585"/>
                  </a:cubicBezTo>
                </a:path>
              </a:pathLst>
            </a:custGeom>
            <a:ln w="28575">
              <a:headEnd type="none" w="med" len="med"/>
              <a:tailEnd type="triangle" w="med" len="med"/>
            </a:ln>
          </p:spPr>
          <p:style>
            <a:lnRef idx="3">
              <a:schemeClr val="accent2"/>
            </a:lnRef>
            <a:fillRef idx="0">
              <a:schemeClr val="accent2"/>
            </a:fillRef>
            <a:effectRef idx="2">
              <a:schemeClr val="accent2"/>
            </a:effectRef>
            <a:fontRef idx="minor">
              <a:schemeClr val="tx1"/>
            </a:fontRef>
          </p:style>
          <p:txBody>
            <a:bodyPr rtlCol="0" anchor="ctr"/>
            <a:lstStyle/>
            <a:p>
              <a:pPr algn="ctr"/>
              <a:endParaRPr lang="en-US"/>
            </a:p>
          </p:txBody>
        </p:sp>
        <p:sp>
          <p:nvSpPr>
            <p:cNvPr id="33" name="Freeform: Shape 32">
              <a:extLst>
                <a:ext uri="{FF2B5EF4-FFF2-40B4-BE49-F238E27FC236}">
                  <a16:creationId xmlns:a16="http://schemas.microsoft.com/office/drawing/2014/main" id="{88998FCB-C2DD-A32E-9B83-50C97E1F37D3}"/>
                </a:ext>
              </a:extLst>
            </p:cNvPr>
            <p:cNvSpPr/>
            <p:nvPr/>
          </p:nvSpPr>
          <p:spPr>
            <a:xfrm rot="16200000">
              <a:off x="1119238" y="3563141"/>
              <a:ext cx="195245" cy="319596"/>
            </a:xfrm>
            <a:custGeom>
              <a:avLst/>
              <a:gdLst>
                <a:gd name="connsiteX0" fmla="*/ 257831 w 260833"/>
                <a:gd name="connsiteY0" fmla="*/ 119518 h 461313"/>
                <a:gd name="connsiteX1" fmla="*/ 108817 w 260833"/>
                <a:gd name="connsiteY1" fmla="*/ 4371 h 461313"/>
                <a:gd name="connsiteX2" fmla="*/ 444 w 260833"/>
                <a:gd name="connsiteY2" fmla="*/ 254985 h 461313"/>
                <a:gd name="connsiteX3" fmla="*/ 149457 w 260833"/>
                <a:gd name="connsiteY3" fmla="*/ 458185 h 461313"/>
                <a:gd name="connsiteX4" fmla="*/ 251057 w 260833"/>
                <a:gd name="connsiteY4" fmla="*/ 376905 h 461313"/>
                <a:gd name="connsiteX5" fmla="*/ 251057 w 260833"/>
                <a:gd name="connsiteY5" fmla="*/ 356585 h 46131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260833" h="461313">
                  <a:moveTo>
                    <a:pt x="257831" y="119518"/>
                  </a:moveTo>
                  <a:cubicBezTo>
                    <a:pt x="204773" y="50655"/>
                    <a:pt x="151715" y="-18207"/>
                    <a:pt x="108817" y="4371"/>
                  </a:cubicBezTo>
                  <a:cubicBezTo>
                    <a:pt x="65919" y="26949"/>
                    <a:pt x="-6329" y="179349"/>
                    <a:pt x="444" y="254985"/>
                  </a:cubicBezTo>
                  <a:cubicBezTo>
                    <a:pt x="7217" y="330621"/>
                    <a:pt x="107688" y="437865"/>
                    <a:pt x="149457" y="458185"/>
                  </a:cubicBezTo>
                  <a:cubicBezTo>
                    <a:pt x="191226" y="478505"/>
                    <a:pt x="234124" y="393838"/>
                    <a:pt x="251057" y="376905"/>
                  </a:cubicBezTo>
                  <a:cubicBezTo>
                    <a:pt x="267990" y="359972"/>
                    <a:pt x="259523" y="358278"/>
                    <a:pt x="251057" y="356585"/>
                  </a:cubicBezTo>
                </a:path>
              </a:pathLst>
            </a:custGeom>
            <a:ln w="28575">
              <a:headEnd type="none" w="med" len="med"/>
              <a:tailEnd type="triangle" w="med" len="med"/>
            </a:ln>
          </p:spPr>
          <p:style>
            <a:lnRef idx="3">
              <a:schemeClr val="accent2"/>
            </a:lnRef>
            <a:fillRef idx="0">
              <a:schemeClr val="accent2"/>
            </a:fillRef>
            <a:effectRef idx="2">
              <a:schemeClr val="accent2"/>
            </a:effectRef>
            <a:fontRef idx="minor">
              <a:schemeClr val="tx1"/>
            </a:fontRef>
          </p:style>
          <p:txBody>
            <a:bodyPr rtlCol="0" anchor="ctr"/>
            <a:lstStyle/>
            <a:p>
              <a:pPr algn="ctr"/>
              <a:endParaRPr lang="en-US"/>
            </a:p>
          </p:txBody>
        </p:sp>
        <p:sp>
          <p:nvSpPr>
            <p:cNvPr id="34" name="Freeform: Shape 33">
              <a:extLst>
                <a:ext uri="{FF2B5EF4-FFF2-40B4-BE49-F238E27FC236}">
                  <a16:creationId xmlns:a16="http://schemas.microsoft.com/office/drawing/2014/main" id="{641AA2EA-11D1-67FB-F7F9-B165F36B7D67}"/>
                </a:ext>
              </a:extLst>
            </p:cNvPr>
            <p:cNvSpPr/>
            <p:nvPr/>
          </p:nvSpPr>
          <p:spPr>
            <a:xfrm rot="16200000">
              <a:off x="4176976" y="3551556"/>
              <a:ext cx="195245" cy="319596"/>
            </a:xfrm>
            <a:custGeom>
              <a:avLst/>
              <a:gdLst>
                <a:gd name="connsiteX0" fmla="*/ 257831 w 260833"/>
                <a:gd name="connsiteY0" fmla="*/ 119518 h 461313"/>
                <a:gd name="connsiteX1" fmla="*/ 108817 w 260833"/>
                <a:gd name="connsiteY1" fmla="*/ 4371 h 461313"/>
                <a:gd name="connsiteX2" fmla="*/ 444 w 260833"/>
                <a:gd name="connsiteY2" fmla="*/ 254985 h 461313"/>
                <a:gd name="connsiteX3" fmla="*/ 149457 w 260833"/>
                <a:gd name="connsiteY3" fmla="*/ 458185 h 461313"/>
                <a:gd name="connsiteX4" fmla="*/ 251057 w 260833"/>
                <a:gd name="connsiteY4" fmla="*/ 376905 h 461313"/>
                <a:gd name="connsiteX5" fmla="*/ 251057 w 260833"/>
                <a:gd name="connsiteY5" fmla="*/ 356585 h 46131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260833" h="461313">
                  <a:moveTo>
                    <a:pt x="257831" y="119518"/>
                  </a:moveTo>
                  <a:cubicBezTo>
                    <a:pt x="204773" y="50655"/>
                    <a:pt x="151715" y="-18207"/>
                    <a:pt x="108817" y="4371"/>
                  </a:cubicBezTo>
                  <a:cubicBezTo>
                    <a:pt x="65919" y="26949"/>
                    <a:pt x="-6329" y="179349"/>
                    <a:pt x="444" y="254985"/>
                  </a:cubicBezTo>
                  <a:cubicBezTo>
                    <a:pt x="7217" y="330621"/>
                    <a:pt x="107688" y="437865"/>
                    <a:pt x="149457" y="458185"/>
                  </a:cubicBezTo>
                  <a:cubicBezTo>
                    <a:pt x="191226" y="478505"/>
                    <a:pt x="234124" y="393838"/>
                    <a:pt x="251057" y="376905"/>
                  </a:cubicBezTo>
                  <a:cubicBezTo>
                    <a:pt x="267990" y="359972"/>
                    <a:pt x="259523" y="358278"/>
                    <a:pt x="251057" y="356585"/>
                  </a:cubicBezTo>
                </a:path>
              </a:pathLst>
            </a:custGeom>
            <a:ln w="28575">
              <a:headEnd type="none" w="med" len="med"/>
              <a:tailEnd type="triangle" w="med" len="med"/>
            </a:ln>
          </p:spPr>
          <p:style>
            <a:lnRef idx="3">
              <a:schemeClr val="accent2"/>
            </a:lnRef>
            <a:fillRef idx="0">
              <a:schemeClr val="accent2"/>
            </a:fillRef>
            <a:effectRef idx="2">
              <a:schemeClr val="accent2"/>
            </a:effectRef>
            <a:fontRef idx="minor">
              <a:schemeClr val="tx1"/>
            </a:fontRef>
          </p:style>
          <p:txBody>
            <a:bodyPr rtlCol="0" anchor="ctr"/>
            <a:lstStyle/>
            <a:p>
              <a:pPr algn="ctr"/>
              <a:endParaRPr lang="en-US"/>
            </a:p>
          </p:txBody>
        </p:sp>
        <p:sp>
          <p:nvSpPr>
            <p:cNvPr id="35" name="Freeform: Shape 34">
              <a:extLst>
                <a:ext uri="{FF2B5EF4-FFF2-40B4-BE49-F238E27FC236}">
                  <a16:creationId xmlns:a16="http://schemas.microsoft.com/office/drawing/2014/main" id="{AAC2F0D5-55DD-27A6-6928-ABD539F47068}"/>
                </a:ext>
              </a:extLst>
            </p:cNvPr>
            <p:cNvSpPr/>
            <p:nvPr/>
          </p:nvSpPr>
          <p:spPr>
            <a:xfrm rot="10800000" flipH="1">
              <a:off x="2669650" y="2700809"/>
              <a:ext cx="127626" cy="124809"/>
            </a:xfrm>
            <a:custGeom>
              <a:avLst/>
              <a:gdLst>
                <a:gd name="connsiteX0" fmla="*/ 257831 w 260833"/>
                <a:gd name="connsiteY0" fmla="*/ 119518 h 461313"/>
                <a:gd name="connsiteX1" fmla="*/ 108817 w 260833"/>
                <a:gd name="connsiteY1" fmla="*/ 4371 h 461313"/>
                <a:gd name="connsiteX2" fmla="*/ 444 w 260833"/>
                <a:gd name="connsiteY2" fmla="*/ 254985 h 461313"/>
                <a:gd name="connsiteX3" fmla="*/ 149457 w 260833"/>
                <a:gd name="connsiteY3" fmla="*/ 458185 h 461313"/>
                <a:gd name="connsiteX4" fmla="*/ 251057 w 260833"/>
                <a:gd name="connsiteY4" fmla="*/ 376905 h 461313"/>
                <a:gd name="connsiteX5" fmla="*/ 251057 w 260833"/>
                <a:gd name="connsiteY5" fmla="*/ 356585 h 46131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260833" h="461313">
                  <a:moveTo>
                    <a:pt x="257831" y="119518"/>
                  </a:moveTo>
                  <a:cubicBezTo>
                    <a:pt x="204773" y="50655"/>
                    <a:pt x="151715" y="-18207"/>
                    <a:pt x="108817" y="4371"/>
                  </a:cubicBezTo>
                  <a:cubicBezTo>
                    <a:pt x="65919" y="26949"/>
                    <a:pt x="-6329" y="179349"/>
                    <a:pt x="444" y="254985"/>
                  </a:cubicBezTo>
                  <a:cubicBezTo>
                    <a:pt x="7217" y="330621"/>
                    <a:pt x="107688" y="437865"/>
                    <a:pt x="149457" y="458185"/>
                  </a:cubicBezTo>
                  <a:cubicBezTo>
                    <a:pt x="191226" y="478505"/>
                    <a:pt x="234124" y="393838"/>
                    <a:pt x="251057" y="376905"/>
                  </a:cubicBezTo>
                  <a:cubicBezTo>
                    <a:pt x="267990" y="359972"/>
                    <a:pt x="259523" y="358278"/>
                    <a:pt x="251057" y="356585"/>
                  </a:cubicBezTo>
                </a:path>
              </a:pathLst>
            </a:custGeom>
            <a:ln w="28575">
              <a:headEnd type="none" w="med" len="med"/>
              <a:tailEnd type="triangle" w="med" len="med"/>
            </a:ln>
          </p:spPr>
          <p:style>
            <a:lnRef idx="3">
              <a:schemeClr val="accent2"/>
            </a:lnRef>
            <a:fillRef idx="0">
              <a:schemeClr val="accent2"/>
            </a:fillRef>
            <a:effectRef idx="2">
              <a:schemeClr val="accent2"/>
            </a:effectRef>
            <a:fontRef idx="minor">
              <a:schemeClr val="tx1"/>
            </a:fontRef>
          </p:style>
          <p:txBody>
            <a:bodyPr rtlCol="0" anchor="ctr"/>
            <a:lstStyle/>
            <a:p>
              <a:pPr algn="ctr"/>
              <a:endParaRPr lang="en-US"/>
            </a:p>
          </p:txBody>
        </p:sp>
        <p:sp>
          <p:nvSpPr>
            <p:cNvPr id="36" name="Freeform: Shape 35">
              <a:extLst>
                <a:ext uri="{FF2B5EF4-FFF2-40B4-BE49-F238E27FC236}">
                  <a16:creationId xmlns:a16="http://schemas.microsoft.com/office/drawing/2014/main" id="{FA3F6638-0F35-F59B-FB6E-E290E67FBA01}"/>
                </a:ext>
              </a:extLst>
            </p:cNvPr>
            <p:cNvSpPr/>
            <p:nvPr/>
          </p:nvSpPr>
          <p:spPr>
            <a:xfrm rot="10800000" flipH="1">
              <a:off x="1562237" y="3397434"/>
              <a:ext cx="127626" cy="124809"/>
            </a:xfrm>
            <a:custGeom>
              <a:avLst/>
              <a:gdLst>
                <a:gd name="connsiteX0" fmla="*/ 257831 w 260833"/>
                <a:gd name="connsiteY0" fmla="*/ 119518 h 461313"/>
                <a:gd name="connsiteX1" fmla="*/ 108817 w 260833"/>
                <a:gd name="connsiteY1" fmla="*/ 4371 h 461313"/>
                <a:gd name="connsiteX2" fmla="*/ 444 w 260833"/>
                <a:gd name="connsiteY2" fmla="*/ 254985 h 461313"/>
                <a:gd name="connsiteX3" fmla="*/ 149457 w 260833"/>
                <a:gd name="connsiteY3" fmla="*/ 458185 h 461313"/>
                <a:gd name="connsiteX4" fmla="*/ 251057 w 260833"/>
                <a:gd name="connsiteY4" fmla="*/ 376905 h 461313"/>
                <a:gd name="connsiteX5" fmla="*/ 251057 w 260833"/>
                <a:gd name="connsiteY5" fmla="*/ 356585 h 46131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260833" h="461313">
                  <a:moveTo>
                    <a:pt x="257831" y="119518"/>
                  </a:moveTo>
                  <a:cubicBezTo>
                    <a:pt x="204773" y="50655"/>
                    <a:pt x="151715" y="-18207"/>
                    <a:pt x="108817" y="4371"/>
                  </a:cubicBezTo>
                  <a:cubicBezTo>
                    <a:pt x="65919" y="26949"/>
                    <a:pt x="-6329" y="179349"/>
                    <a:pt x="444" y="254985"/>
                  </a:cubicBezTo>
                  <a:cubicBezTo>
                    <a:pt x="7217" y="330621"/>
                    <a:pt x="107688" y="437865"/>
                    <a:pt x="149457" y="458185"/>
                  </a:cubicBezTo>
                  <a:cubicBezTo>
                    <a:pt x="191226" y="478505"/>
                    <a:pt x="234124" y="393838"/>
                    <a:pt x="251057" y="376905"/>
                  </a:cubicBezTo>
                  <a:cubicBezTo>
                    <a:pt x="267990" y="359972"/>
                    <a:pt x="259523" y="358278"/>
                    <a:pt x="251057" y="356585"/>
                  </a:cubicBezTo>
                </a:path>
              </a:pathLst>
            </a:custGeom>
            <a:ln w="28575">
              <a:headEnd type="none" w="med" len="med"/>
              <a:tailEnd type="triangle" w="med" len="med"/>
            </a:ln>
          </p:spPr>
          <p:style>
            <a:lnRef idx="3">
              <a:schemeClr val="accent2"/>
            </a:lnRef>
            <a:fillRef idx="0">
              <a:schemeClr val="accent2"/>
            </a:fillRef>
            <a:effectRef idx="2">
              <a:schemeClr val="accent2"/>
            </a:effectRef>
            <a:fontRef idx="minor">
              <a:schemeClr val="tx1"/>
            </a:fontRef>
          </p:style>
          <p:txBody>
            <a:bodyPr rtlCol="0" anchor="ctr"/>
            <a:lstStyle/>
            <a:p>
              <a:pPr algn="ctr"/>
              <a:endParaRPr lang="en-US"/>
            </a:p>
          </p:txBody>
        </p:sp>
        <p:sp>
          <p:nvSpPr>
            <p:cNvPr id="37" name="Freeform: Shape 36">
              <a:extLst>
                <a:ext uri="{FF2B5EF4-FFF2-40B4-BE49-F238E27FC236}">
                  <a16:creationId xmlns:a16="http://schemas.microsoft.com/office/drawing/2014/main" id="{0FC01A1F-EEB0-AF31-8798-6F6A6C33B125}"/>
                </a:ext>
              </a:extLst>
            </p:cNvPr>
            <p:cNvSpPr/>
            <p:nvPr/>
          </p:nvSpPr>
          <p:spPr>
            <a:xfrm rot="10800000" flipH="1">
              <a:off x="3747160" y="3380390"/>
              <a:ext cx="127626" cy="124809"/>
            </a:xfrm>
            <a:custGeom>
              <a:avLst/>
              <a:gdLst>
                <a:gd name="connsiteX0" fmla="*/ 257831 w 260833"/>
                <a:gd name="connsiteY0" fmla="*/ 119518 h 461313"/>
                <a:gd name="connsiteX1" fmla="*/ 108817 w 260833"/>
                <a:gd name="connsiteY1" fmla="*/ 4371 h 461313"/>
                <a:gd name="connsiteX2" fmla="*/ 444 w 260833"/>
                <a:gd name="connsiteY2" fmla="*/ 254985 h 461313"/>
                <a:gd name="connsiteX3" fmla="*/ 149457 w 260833"/>
                <a:gd name="connsiteY3" fmla="*/ 458185 h 461313"/>
                <a:gd name="connsiteX4" fmla="*/ 251057 w 260833"/>
                <a:gd name="connsiteY4" fmla="*/ 376905 h 461313"/>
                <a:gd name="connsiteX5" fmla="*/ 251057 w 260833"/>
                <a:gd name="connsiteY5" fmla="*/ 356585 h 46131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260833" h="461313">
                  <a:moveTo>
                    <a:pt x="257831" y="119518"/>
                  </a:moveTo>
                  <a:cubicBezTo>
                    <a:pt x="204773" y="50655"/>
                    <a:pt x="151715" y="-18207"/>
                    <a:pt x="108817" y="4371"/>
                  </a:cubicBezTo>
                  <a:cubicBezTo>
                    <a:pt x="65919" y="26949"/>
                    <a:pt x="-6329" y="179349"/>
                    <a:pt x="444" y="254985"/>
                  </a:cubicBezTo>
                  <a:cubicBezTo>
                    <a:pt x="7217" y="330621"/>
                    <a:pt x="107688" y="437865"/>
                    <a:pt x="149457" y="458185"/>
                  </a:cubicBezTo>
                  <a:cubicBezTo>
                    <a:pt x="191226" y="478505"/>
                    <a:pt x="234124" y="393838"/>
                    <a:pt x="251057" y="376905"/>
                  </a:cubicBezTo>
                  <a:cubicBezTo>
                    <a:pt x="267990" y="359972"/>
                    <a:pt x="259523" y="358278"/>
                    <a:pt x="251057" y="356585"/>
                  </a:cubicBezTo>
                </a:path>
              </a:pathLst>
            </a:custGeom>
            <a:ln w="28575">
              <a:headEnd type="none" w="med" len="med"/>
              <a:tailEnd type="triangle" w="med" len="med"/>
            </a:ln>
          </p:spPr>
          <p:style>
            <a:lnRef idx="3">
              <a:schemeClr val="accent2"/>
            </a:lnRef>
            <a:fillRef idx="0">
              <a:schemeClr val="accent2"/>
            </a:fillRef>
            <a:effectRef idx="2">
              <a:schemeClr val="accent2"/>
            </a:effectRef>
            <a:fontRef idx="minor">
              <a:schemeClr val="tx1"/>
            </a:fontRef>
          </p:style>
          <p:txBody>
            <a:bodyPr rtlCol="0" anchor="ctr"/>
            <a:lstStyle/>
            <a:p>
              <a:pPr algn="ctr"/>
              <a:endParaRPr lang="en-US"/>
            </a:p>
          </p:txBody>
        </p:sp>
        <p:sp>
          <p:nvSpPr>
            <p:cNvPr id="38" name="Freeform: Shape 37">
              <a:extLst>
                <a:ext uri="{FF2B5EF4-FFF2-40B4-BE49-F238E27FC236}">
                  <a16:creationId xmlns:a16="http://schemas.microsoft.com/office/drawing/2014/main" id="{F9F3EFFB-7BE0-C07C-66AA-FC6401499AFB}"/>
                </a:ext>
              </a:extLst>
            </p:cNvPr>
            <p:cNvSpPr/>
            <p:nvPr/>
          </p:nvSpPr>
          <p:spPr>
            <a:xfrm rot="10800000" flipH="1">
              <a:off x="2665272" y="4102246"/>
              <a:ext cx="127626" cy="124809"/>
            </a:xfrm>
            <a:custGeom>
              <a:avLst/>
              <a:gdLst>
                <a:gd name="connsiteX0" fmla="*/ 257831 w 260833"/>
                <a:gd name="connsiteY0" fmla="*/ 119518 h 461313"/>
                <a:gd name="connsiteX1" fmla="*/ 108817 w 260833"/>
                <a:gd name="connsiteY1" fmla="*/ 4371 h 461313"/>
                <a:gd name="connsiteX2" fmla="*/ 444 w 260833"/>
                <a:gd name="connsiteY2" fmla="*/ 254985 h 461313"/>
                <a:gd name="connsiteX3" fmla="*/ 149457 w 260833"/>
                <a:gd name="connsiteY3" fmla="*/ 458185 h 461313"/>
                <a:gd name="connsiteX4" fmla="*/ 251057 w 260833"/>
                <a:gd name="connsiteY4" fmla="*/ 376905 h 461313"/>
                <a:gd name="connsiteX5" fmla="*/ 251057 w 260833"/>
                <a:gd name="connsiteY5" fmla="*/ 356585 h 46131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260833" h="461313">
                  <a:moveTo>
                    <a:pt x="257831" y="119518"/>
                  </a:moveTo>
                  <a:cubicBezTo>
                    <a:pt x="204773" y="50655"/>
                    <a:pt x="151715" y="-18207"/>
                    <a:pt x="108817" y="4371"/>
                  </a:cubicBezTo>
                  <a:cubicBezTo>
                    <a:pt x="65919" y="26949"/>
                    <a:pt x="-6329" y="179349"/>
                    <a:pt x="444" y="254985"/>
                  </a:cubicBezTo>
                  <a:cubicBezTo>
                    <a:pt x="7217" y="330621"/>
                    <a:pt x="107688" y="437865"/>
                    <a:pt x="149457" y="458185"/>
                  </a:cubicBezTo>
                  <a:cubicBezTo>
                    <a:pt x="191226" y="478505"/>
                    <a:pt x="234124" y="393838"/>
                    <a:pt x="251057" y="376905"/>
                  </a:cubicBezTo>
                  <a:cubicBezTo>
                    <a:pt x="267990" y="359972"/>
                    <a:pt x="259523" y="358278"/>
                    <a:pt x="251057" y="356585"/>
                  </a:cubicBezTo>
                </a:path>
              </a:pathLst>
            </a:custGeom>
            <a:ln w="28575">
              <a:headEnd type="none" w="med" len="med"/>
              <a:tailEnd type="triangle" w="med" len="med"/>
            </a:ln>
          </p:spPr>
          <p:style>
            <a:lnRef idx="3">
              <a:schemeClr val="accent2"/>
            </a:lnRef>
            <a:fillRef idx="0">
              <a:schemeClr val="accent2"/>
            </a:fillRef>
            <a:effectRef idx="2">
              <a:schemeClr val="accent2"/>
            </a:effectRef>
            <a:fontRef idx="minor">
              <a:schemeClr val="tx1"/>
            </a:fontRef>
          </p:style>
          <p:txBody>
            <a:bodyPr rtlCol="0" anchor="ctr"/>
            <a:lstStyle/>
            <a:p>
              <a:pPr algn="ctr"/>
              <a:endParaRPr lang="en-US"/>
            </a:p>
          </p:txBody>
        </p:sp>
        <p:sp>
          <p:nvSpPr>
            <p:cNvPr id="39" name="TextBox 38">
              <a:extLst>
                <a:ext uri="{FF2B5EF4-FFF2-40B4-BE49-F238E27FC236}">
                  <a16:creationId xmlns:a16="http://schemas.microsoft.com/office/drawing/2014/main" id="{EEB88FBA-A399-1735-D605-848F6786AEFA}"/>
                </a:ext>
              </a:extLst>
            </p:cNvPr>
            <p:cNvSpPr txBox="1"/>
            <p:nvPr/>
          </p:nvSpPr>
          <p:spPr>
            <a:xfrm>
              <a:off x="1644033" y="1738171"/>
              <a:ext cx="1803251" cy="553998"/>
            </a:xfrm>
            <a:prstGeom prst="rect">
              <a:avLst/>
            </a:prstGeom>
            <a:noFill/>
          </p:spPr>
          <p:txBody>
            <a:bodyPr wrap="none" rtlCol="0">
              <a:spAutoFit/>
            </a:bodyPr>
            <a:lstStyle/>
            <a:p>
              <a:pPr algn="ctr"/>
              <a:r>
                <a:rPr lang="en-US" b="1" dirty="0"/>
                <a:t>Cycles</a:t>
              </a:r>
            </a:p>
            <a:p>
              <a:pPr algn="ctr"/>
              <a:r>
                <a:rPr lang="en-US" sz="1200" dirty="0"/>
                <a:t>Return to the same state </a:t>
              </a:r>
              <a:endParaRPr lang="en-US" b="1" dirty="0">
                <a:solidFill>
                  <a:schemeClr val="accent2"/>
                </a:solidFill>
              </a:endParaRPr>
            </a:p>
          </p:txBody>
        </p:sp>
      </p:grpSp>
      <p:grpSp>
        <p:nvGrpSpPr>
          <p:cNvPr id="4" name="Group 3">
            <a:extLst>
              <a:ext uri="{FF2B5EF4-FFF2-40B4-BE49-F238E27FC236}">
                <a16:creationId xmlns:a16="http://schemas.microsoft.com/office/drawing/2014/main" id="{F5F003BA-EB20-10D3-9BCA-629B72EA4819}"/>
              </a:ext>
            </a:extLst>
          </p:cNvPr>
          <p:cNvGrpSpPr/>
          <p:nvPr/>
        </p:nvGrpSpPr>
        <p:grpSpPr>
          <a:xfrm>
            <a:off x="4424028" y="3530521"/>
            <a:ext cx="4267200" cy="2946479"/>
            <a:chOff x="4424028" y="3530521"/>
            <a:chExt cx="4267200" cy="2946479"/>
          </a:xfrm>
        </p:grpSpPr>
        <p:grpSp>
          <p:nvGrpSpPr>
            <p:cNvPr id="27" name="Group 26">
              <a:extLst>
                <a:ext uri="{FF2B5EF4-FFF2-40B4-BE49-F238E27FC236}">
                  <a16:creationId xmlns:a16="http://schemas.microsoft.com/office/drawing/2014/main" id="{DF299A47-AE29-7E27-BF02-2FD7E564A39A}"/>
                </a:ext>
              </a:extLst>
            </p:cNvPr>
            <p:cNvGrpSpPr/>
            <p:nvPr/>
          </p:nvGrpSpPr>
          <p:grpSpPr>
            <a:xfrm>
              <a:off x="4424028" y="4191000"/>
              <a:ext cx="4267200" cy="2286000"/>
              <a:chOff x="3443345" y="3786606"/>
              <a:chExt cx="5700655" cy="3071394"/>
            </a:xfrm>
          </p:grpSpPr>
          <p:pic>
            <p:nvPicPr>
              <p:cNvPr id="28" name="Picture 6">
                <a:extLst>
                  <a:ext uri="{FF2B5EF4-FFF2-40B4-BE49-F238E27FC236}">
                    <a16:creationId xmlns:a16="http://schemas.microsoft.com/office/drawing/2014/main" id="{5D4BAABC-4F6A-8331-C3AE-924FB702C733}"/>
                  </a:ext>
                </a:extLst>
              </p:cNvPr>
              <p:cNvPicPr>
                <a:picLocks noChangeAspect="1" noChangeArrowheads="1"/>
              </p:cNvPicPr>
              <p:nvPr/>
            </p:nvPicPr>
            <p:blipFill>
              <a:blip r:embed="rId3" cstate="print"/>
              <a:srcRect/>
              <a:stretch>
                <a:fillRect/>
              </a:stretch>
            </p:blipFill>
            <p:spPr bwMode="auto">
              <a:xfrm>
                <a:off x="3443345" y="4142196"/>
                <a:ext cx="5700655" cy="2715804"/>
              </a:xfrm>
              <a:prstGeom prst="rect">
                <a:avLst/>
              </a:prstGeom>
              <a:noFill/>
              <a:ln w="9525">
                <a:noFill/>
                <a:miter lim="800000"/>
                <a:headEnd/>
                <a:tailEnd/>
              </a:ln>
            </p:spPr>
          </p:pic>
          <p:sp>
            <p:nvSpPr>
              <p:cNvPr id="29" name="TextBox 28">
                <a:extLst>
                  <a:ext uri="{FF2B5EF4-FFF2-40B4-BE49-F238E27FC236}">
                    <a16:creationId xmlns:a16="http://schemas.microsoft.com/office/drawing/2014/main" id="{0E619782-B1E0-B73C-615A-52C4CE2FEBBB}"/>
                  </a:ext>
                </a:extLst>
              </p:cNvPr>
              <p:cNvSpPr txBox="1"/>
              <p:nvPr/>
            </p:nvSpPr>
            <p:spPr>
              <a:xfrm>
                <a:off x="5106832" y="3786606"/>
                <a:ext cx="1203860" cy="372167"/>
              </a:xfrm>
              <a:prstGeom prst="rect">
                <a:avLst/>
              </a:prstGeom>
              <a:noFill/>
            </p:spPr>
            <p:txBody>
              <a:bodyPr wrap="none" rtlCol="0">
                <a:spAutoFit/>
              </a:bodyPr>
              <a:lstStyle/>
              <a:p>
                <a:r>
                  <a:rPr lang="en-US" sz="1200" b="1" dirty="0"/>
                  <a:t>Initial state</a:t>
                </a:r>
              </a:p>
            </p:txBody>
          </p:sp>
          <p:sp>
            <p:nvSpPr>
              <p:cNvPr id="30" name="TextBox 29">
                <a:extLst>
                  <a:ext uri="{FF2B5EF4-FFF2-40B4-BE49-F238E27FC236}">
                    <a16:creationId xmlns:a16="http://schemas.microsoft.com/office/drawing/2014/main" id="{C7AB04B5-C07A-0CA8-38CE-384BEC1EE1A1}"/>
                  </a:ext>
                </a:extLst>
              </p:cNvPr>
              <p:cNvSpPr txBox="1"/>
              <p:nvPr/>
            </p:nvSpPr>
            <p:spPr>
              <a:xfrm>
                <a:off x="3734781" y="6096000"/>
                <a:ext cx="1186728" cy="372167"/>
              </a:xfrm>
              <a:prstGeom prst="rect">
                <a:avLst/>
              </a:prstGeom>
              <a:noFill/>
            </p:spPr>
            <p:txBody>
              <a:bodyPr wrap="none" rtlCol="0">
                <a:spAutoFit/>
              </a:bodyPr>
              <a:lstStyle/>
              <a:p>
                <a:r>
                  <a:rPr lang="en-US" sz="1200" b="1" dirty="0"/>
                  <a:t>Goal states</a:t>
                </a:r>
              </a:p>
            </p:txBody>
          </p:sp>
        </p:grpSp>
        <p:sp>
          <p:nvSpPr>
            <p:cNvPr id="40" name="TextBox 39">
              <a:extLst>
                <a:ext uri="{FF2B5EF4-FFF2-40B4-BE49-F238E27FC236}">
                  <a16:creationId xmlns:a16="http://schemas.microsoft.com/office/drawing/2014/main" id="{0F956628-70F0-5E39-885D-8261771E79F0}"/>
                </a:ext>
              </a:extLst>
            </p:cNvPr>
            <p:cNvSpPr txBox="1"/>
            <p:nvPr/>
          </p:nvSpPr>
          <p:spPr>
            <a:xfrm>
              <a:off x="4938725" y="3530521"/>
              <a:ext cx="2763770" cy="553998"/>
            </a:xfrm>
            <a:prstGeom prst="rect">
              <a:avLst/>
            </a:prstGeom>
            <a:noFill/>
          </p:spPr>
          <p:txBody>
            <a:bodyPr wrap="none" rtlCol="0">
              <a:spAutoFit/>
            </a:bodyPr>
            <a:lstStyle/>
            <a:p>
              <a:pPr algn="ctr"/>
              <a:r>
                <a:rPr lang="en-US" b="1" dirty="0"/>
                <a:t>Non-cycle redundant paths</a:t>
              </a:r>
            </a:p>
            <a:p>
              <a:pPr algn="ctr"/>
              <a:r>
                <a:rPr lang="en-US" sz="1200" dirty="0"/>
                <a:t>Multiple paths to get to the same state</a:t>
              </a:r>
            </a:p>
          </p:txBody>
        </p:sp>
        <p:grpSp>
          <p:nvGrpSpPr>
            <p:cNvPr id="59" name="Group 58">
              <a:extLst>
                <a:ext uri="{FF2B5EF4-FFF2-40B4-BE49-F238E27FC236}">
                  <a16:creationId xmlns:a16="http://schemas.microsoft.com/office/drawing/2014/main" id="{6043BF49-CF3B-3DD1-8413-8FE079536023}"/>
                </a:ext>
              </a:extLst>
            </p:cNvPr>
            <p:cNvGrpSpPr/>
            <p:nvPr/>
          </p:nvGrpSpPr>
          <p:grpSpPr>
            <a:xfrm>
              <a:off x="4953000" y="4748565"/>
              <a:ext cx="2114408" cy="1203294"/>
              <a:chOff x="4961971" y="4518479"/>
              <a:chExt cx="2114408" cy="1203294"/>
            </a:xfrm>
          </p:grpSpPr>
          <p:cxnSp>
            <p:nvCxnSpPr>
              <p:cNvPr id="56" name="Straight Arrow Connector 55">
                <a:extLst>
                  <a:ext uri="{FF2B5EF4-FFF2-40B4-BE49-F238E27FC236}">
                    <a16:creationId xmlns:a16="http://schemas.microsoft.com/office/drawing/2014/main" id="{D13EB897-7CB3-FA93-C311-D05A8A4BCC63}"/>
                  </a:ext>
                </a:extLst>
              </p:cNvPr>
              <p:cNvCxnSpPr>
                <a:cxnSpLocks/>
              </p:cNvCxnSpPr>
              <p:nvPr/>
            </p:nvCxnSpPr>
            <p:spPr>
              <a:xfrm flipH="1">
                <a:off x="4961971" y="4518479"/>
                <a:ext cx="1295400" cy="521092"/>
              </a:xfrm>
              <a:prstGeom prst="straightConnector1">
                <a:avLst/>
              </a:prstGeom>
              <a:ln w="57150">
                <a:solidFill>
                  <a:schemeClr val="accent6"/>
                </a:solidFill>
                <a:tailEnd type="triangle"/>
              </a:ln>
            </p:spPr>
            <p:style>
              <a:lnRef idx="3">
                <a:schemeClr val="accent2"/>
              </a:lnRef>
              <a:fillRef idx="0">
                <a:schemeClr val="accent2"/>
              </a:fillRef>
              <a:effectRef idx="2">
                <a:schemeClr val="accent2"/>
              </a:effectRef>
              <a:fontRef idx="minor">
                <a:schemeClr val="tx1"/>
              </a:fontRef>
            </p:style>
          </p:cxnSp>
          <p:cxnSp>
            <p:nvCxnSpPr>
              <p:cNvPr id="57" name="Straight Arrow Connector 56">
                <a:extLst>
                  <a:ext uri="{FF2B5EF4-FFF2-40B4-BE49-F238E27FC236}">
                    <a16:creationId xmlns:a16="http://schemas.microsoft.com/office/drawing/2014/main" id="{9BEF72B2-BD86-DECA-6099-2F5721FEE351}"/>
                  </a:ext>
                </a:extLst>
              </p:cNvPr>
              <p:cNvCxnSpPr/>
              <p:nvPr/>
            </p:nvCxnSpPr>
            <p:spPr>
              <a:xfrm>
                <a:off x="5197472" y="5112173"/>
                <a:ext cx="609600" cy="0"/>
              </a:xfrm>
              <a:prstGeom prst="straightConnector1">
                <a:avLst/>
              </a:prstGeom>
              <a:ln w="57150">
                <a:solidFill>
                  <a:schemeClr val="accent6"/>
                </a:solidFill>
                <a:tailEnd type="triangle"/>
              </a:ln>
            </p:spPr>
            <p:style>
              <a:lnRef idx="3">
                <a:schemeClr val="accent2"/>
              </a:lnRef>
              <a:fillRef idx="0">
                <a:schemeClr val="accent2"/>
              </a:fillRef>
              <a:effectRef idx="2">
                <a:schemeClr val="accent2"/>
              </a:effectRef>
              <a:fontRef idx="minor">
                <a:schemeClr val="tx1"/>
              </a:fontRef>
            </p:style>
          </p:cxnSp>
          <p:cxnSp>
            <p:nvCxnSpPr>
              <p:cNvPr id="58" name="Straight Arrow Connector 57">
                <a:extLst>
                  <a:ext uri="{FF2B5EF4-FFF2-40B4-BE49-F238E27FC236}">
                    <a16:creationId xmlns:a16="http://schemas.microsoft.com/office/drawing/2014/main" id="{47380A88-C7D4-1A4F-0039-4940A7676019}"/>
                  </a:ext>
                </a:extLst>
              </p:cNvPr>
              <p:cNvCxnSpPr>
                <a:cxnSpLocks/>
              </p:cNvCxnSpPr>
              <p:nvPr/>
            </p:nvCxnSpPr>
            <p:spPr>
              <a:xfrm>
                <a:off x="5876371" y="5236244"/>
                <a:ext cx="1200008" cy="485529"/>
              </a:xfrm>
              <a:prstGeom prst="straightConnector1">
                <a:avLst/>
              </a:prstGeom>
              <a:ln w="57150">
                <a:solidFill>
                  <a:schemeClr val="accent6"/>
                </a:solidFill>
                <a:tailEnd type="triangle"/>
              </a:ln>
            </p:spPr>
            <p:style>
              <a:lnRef idx="3">
                <a:schemeClr val="accent2"/>
              </a:lnRef>
              <a:fillRef idx="0">
                <a:schemeClr val="accent2"/>
              </a:fillRef>
              <a:effectRef idx="2">
                <a:schemeClr val="accent2"/>
              </a:effectRef>
              <a:fontRef idx="minor">
                <a:schemeClr val="tx1"/>
              </a:fontRef>
            </p:style>
          </p:cxnSp>
        </p:grpSp>
        <p:cxnSp>
          <p:nvCxnSpPr>
            <p:cNvPr id="63" name="Straight Arrow Connector 62">
              <a:extLst>
                <a:ext uri="{FF2B5EF4-FFF2-40B4-BE49-F238E27FC236}">
                  <a16:creationId xmlns:a16="http://schemas.microsoft.com/office/drawing/2014/main" id="{E41C405E-043C-032B-1291-73EFCBC0E78A}"/>
                </a:ext>
              </a:extLst>
            </p:cNvPr>
            <p:cNvCxnSpPr>
              <a:cxnSpLocks/>
            </p:cNvCxnSpPr>
            <p:nvPr/>
          </p:nvCxnSpPr>
          <p:spPr>
            <a:xfrm flipH="1" flipV="1">
              <a:off x="6191840" y="6012765"/>
              <a:ext cx="731576" cy="22013"/>
            </a:xfrm>
            <a:prstGeom prst="straightConnector1">
              <a:avLst/>
            </a:prstGeom>
            <a:ln w="57150">
              <a:solidFill>
                <a:schemeClr val="accent6"/>
              </a:solidFill>
              <a:tailEnd type="triangle"/>
            </a:ln>
          </p:spPr>
          <p:style>
            <a:lnRef idx="3">
              <a:schemeClr val="accent2"/>
            </a:lnRef>
            <a:fillRef idx="0">
              <a:schemeClr val="accent2"/>
            </a:fillRef>
            <a:effectRef idx="2">
              <a:schemeClr val="accent2"/>
            </a:effectRef>
            <a:fontRef idx="minor">
              <a:schemeClr val="tx1"/>
            </a:fontRef>
          </p:style>
        </p:cxnSp>
        <p:cxnSp>
          <p:nvCxnSpPr>
            <p:cNvPr id="65" name="Straight Arrow Connector 64">
              <a:extLst>
                <a:ext uri="{FF2B5EF4-FFF2-40B4-BE49-F238E27FC236}">
                  <a16:creationId xmlns:a16="http://schemas.microsoft.com/office/drawing/2014/main" id="{8D68AED4-7C72-BF84-7C20-5962CB1ACF55}"/>
                </a:ext>
              </a:extLst>
            </p:cNvPr>
            <p:cNvCxnSpPr>
              <a:cxnSpLocks/>
            </p:cNvCxnSpPr>
            <p:nvPr/>
          </p:nvCxnSpPr>
          <p:spPr>
            <a:xfrm>
              <a:off x="6923416" y="4748565"/>
              <a:ext cx="1306184" cy="481657"/>
            </a:xfrm>
            <a:prstGeom prst="straightConnector1">
              <a:avLst/>
            </a:prstGeom>
            <a:ln w="57150">
              <a:solidFill>
                <a:schemeClr val="accent1"/>
              </a:solidFill>
              <a:tailEnd type="triangle"/>
            </a:ln>
          </p:spPr>
          <p:style>
            <a:lnRef idx="3">
              <a:schemeClr val="accent2"/>
            </a:lnRef>
            <a:fillRef idx="0">
              <a:schemeClr val="accent2"/>
            </a:fillRef>
            <a:effectRef idx="2">
              <a:schemeClr val="accent2"/>
            </a:effectRef>
            <a:fontRef idx="minor">
              <a:schemeClr val="tx1"/>
            </a:fontRef>
          </p:style>
        </p:cxnSp>
        <p:cxnSp>
          <p:nvCxnSpPr>
            <p:cNvPr id="68" name="Straight Arrow Connector 67">
              <a:extLst>
                <a:ext uri="{FF2B5EF4-FFF2-40B4-BE49-F238E27FC236}">
                  <a16:creationId xmlns:a16="http://schemas.microsoft.com/office/drawing/2014/main" id="{929FD0DF-4B02-F74B-4A37-5A2540028CDB}"/>
                </a:ext>
              </a:extLst>
            </p:cNvPr>
            <p:cNvCxnSpPr>
              <a:cxnSpLocks/>
            </p:cNvCxnSpPr>
            <p:nvPr/>
          </p:nvCxnSpPr>
          <p:spPr>
            <a:xfrm flipH="1" flipV="1">
              <a:off x="7219198" y="5335822"/>
              <a:ext cx="731576" cy="22013"/>
            </a:xfrm>
            <a:prstGeom prst="straightConnector1">
              <a:avLst/>
            </a:prstGeom>
            <a:ln w="57150">
              <a:solidFill>
                <a:schemeClr val="accent1"/>
              </a:solidFill>
              <a:tailEnd type="triangle"/>
            </a:ln>
          </p:spPr>
          <p:style>
            <a:lnRef idx="3">
              <a:schemeClr val="accent2"/>
            </a:lnRef>
            <a:fillRef idx="0">
              <a:schemeClr val="accent2"/>
            </a:fillRef>
            <a:effectRef idx="2">
              <a:schemeClr val="accent2"/>
            </a:effectRef>
            <a:fontRef idx="minor">
              <a:schemeClr val="tx1"/>
            </a:fontRef>
          </p:style>
        </p:cxnSp>
        <p:cxnSp>
          <p:nvCxnSpPr>
            <p:cNvPr id="69" name="Straight Arrow Connector 68">
              <a:extLst>
                <a:ext uri="{FF2B5EF4-FFF2-40B4-BE49-F238E27FC236}">
                  <a16:creationId xmlns:a16="http://schemas.microsoft.com/office/drawing/2014/main" id="{52EB4673-AB04-388C-4EDA-E6BC0C831CE3}"/>
                </a:ext>
              </a:extLst>
            </p:cNvPr>
            <p:cNvCxnSpPr>
              <a:cxnSpLocks/>
            </p:cNvCxnSpPr>
            <p:nvPr/>
          </p:nvCxnSpPr>
          <p:spPr>
            <a:xfrm flipH="1">
              <a:off x="6019800" y="5447552"/>
              <a:ext cx="1295400" cy="521092"/>
            </a:xfrm>
            <a:prstGeom prst="straightConnector1">
              <a:avLst/>
            </a:prstGeom>
            <a:ln w="57150">
              <a:solidFill>
                <a:schemeClr val="accent1"/>
              </a:solidFill>
              <a:tailEnd type="triangle"/>
            </a:ln>
          </p:spPr>
          <p:style>
            <a:lnRef idx="3">
              <a:schemeClr val="accent2"/>
            </a:lnRef>
            <a:fillRef idx="0">
              <a:schemeClr val="accent2"/>
            </a:fillRef>
            <a:effectRef idx="2">
              <a:schemeClr val="accent2"/>
            </a:effectRef>
            <a:fontRef idx="minor">
              <a:schemeClr val="tx1"/>
            </a:fontRef>
          </p:style>
        </p:cxnSp>
        <p:sp>
          <p:nvSpPr>
            <p:cNvPr id="70" name="TextBox 69">
              <a:extLst>
                <a:ext uri="{FF2B5EF4-FFF2-40B4-BE49-F238E27FC236}">
                  <a16:creationId xmlns:a16="http://schemas.microsoft.com/office/drawing/2014/main" id="{AA1B0E73-4D18-B467-31F4-08941640BE97}"/>
                </a:ext>
              </a:extLst>
            </p:cNvPr>
            <p:cNvSpPr txBox="1"/>
            <p:nvPr/>
          </p:nvSpPr>
          <p:spPr>
            <a:xfrm>
              <a:off x="4946738" y="4727790"/>
              <a:ext cx="653962" cy="307777"/>
            </a:xfrm>
            <a:prstGeom prst="rect">
              <a:avLst/>
            </a:prstGeom>
            <a:noFill/>
          </p:spPr>
          <p:txBody>
            <a:bodyPr wrap="none" rtlCol="0">
              <a:spAutoFit/>
            </a:bodyPr>
            <a:lstStyle/>
            <a:p>
              <a:r>
                <a:rPr lang="en-US" sz="1400" b="1" dirty="0">
                  <a:solidFill>
                    <a:schemeClr val="accent6"/>
                  </a:solidFill>
                </a:rPr>
                <a:t>Path 1</a:t>
              </a:r>
            </a:p>
          </p:txBody>
        </p:sp>
        <p:sp>
          <p:nvSpPr>
            <p:cNvPr id="71" name="TextBox 70">
              <a:extLst>
                <a:ext uri="{FF2B5EF4-FFF2-40B4-BE49-F238E27FC236}">
                  <a16:creationId xmlns:a16="http://schemas.microsoft.com/office/drawing/2014/main" id="{1EC291E0-B4FB-936A-BC0E-E6FCBE67BCC1}"/>
                </a:ext>
              </a:extLst>
            </p:cNvPr>
            <p:cNvSpPr txBox="1"/>
            <p:nvPr/>
          </p:nvSpPr>
          <p:spPr>
            <a:xfrm>
              <a:off x="7568127" y="4681616"/>
              <a:ext cx="653962" cy="307777"/>
            </a:xfrm>
            <a:prstGeom prst="rect">
              <a:avLst/>
            </a:prstGeom>
            <a:noFill/>
          </p:spPr>
          <p:txBody>
            <a:bodyPr wrap="none" rtlCol="0">
              <a:spAutoFit/>
            </a:bodyPr>
            <a:lstStyle/>
            <a:p>
              <a:r>
                <a:rPr lang="en-US" sz="1400" b="1" dirty="0">
                  <a:solidFill>
                    <a:schemeClr val="accent1"/>
                  </a:solidFill>
                </a:rPr>
                <a:t>Path 2</a:t>
              </a:r>
            </a:p>
          </p:txBody>
        </p:sp>
        <p:cxnSp>
          <p:nvCxnSpPr>
            <p:cNvPr id="3" name="Straight Arrow Connector 2">
              <a:extLst>
                <a:ext uri="{FF2B5EF4-FFF2-40B4-BE49-F238E27FC236}">
                  <a16:creationId xmlns:a16="http://schemas.microsoft.com/office/drawing/2014/main" id="{822CD9CD-79F5-9E4F-DB81-46FC0FFE3B2E}"/>
                </a:ext>
              </a:extLst>
            </p:cNvPr>
            <p:cNvCxnSpPr>
              <a:cxnSpLocks/>
            </p:cNvCxnSpPr>
            <p:nvPr/>
          </p:nvCxnSpPr>
          <p:spPr>
            <a:xfrm flipV="1">
              <a:off x="6320609" y="4654832"/>
              <a:ext cx="472852" cy="4016"/>
            </a:xfrm>
            <a:prstGeom prst="straightConnector1">
              <a:avLst/>
            </a:prstGeom>
            <a:ln w="57150">
              <a:solidFill>
                <a:schemeClr val="accent1"/>
              </a:solidFill>
              <a:tailEnd type="triangle"/>
            </a:ln>
          </p:spPr>
          <p:style>
            <a:lnRef idx="3">
              <a:schemeClr val="accent2"/>
            </a:lnRef>
            <a:fillRef idx="0">
              <a:schemeClr val="accent2"/>
            </a:fillRef>
            <a:effectRef idx="2">
              <a:schemeClr val="accent2"/>
            </a:effectRef>
            <a:fontRef idx="minor">
              <a:schemeClr val="tx1"/>
            </a:fontRef>
          </p:style>
        </p:cxnSp>
      </p:grpSp>
    </p:spTree>
    <p:extLst>
      <p:ext uri="{BB962C8B-B14F-4D97-AF65-F5344CB8AC3E}">
        <p14:creationId xmlns:p14="http://schemas.microsoft.com/office/powerpoint/2010/main" val="11447959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482" name="Rectangle 2"/>
          <p:cNvSpPr>
            <a:spLocks noGrp="1" noChangeArrowheads="1"/>
          </p:cNvSpPr>
          <p:nvPr>
            <p:ph type="title"/>
          </p:nvPr>
        </p:nvSpPr>
        <p:spPr/>
        <p:txBody>
          <a:bodyPr/>
          <a:lstStyle/>
          <a:p>
            <a:r>
              <a:rPr lang="en-US" dirty="0"/>
              <a:t>Creating a Search Tree</a:t>
            </a:r>
          </a:p>
        </p:txBody>
      </p:sp>
      <p:sp>
        <p:nvSpPr>
          <p:cNvPr id="20483" name="Rectangle 3"/>
          <p:cNvSpPr>
            <a:spLocks noGrp="1" noChangeArrowheads="1"/>
          </p:cNvSpPr>
          <p:nvPr>
            <p:ph idx="1"/>
          </p:nvPr>
        </p:nvSpPr>
        <p:spPr>
          <a:xfrm>
            <a:off x="588210" y="1467732"/>
            <a:ext cx="4400550" cy="4933068"/>
          </a:xfrm>
        </p:spPr>
        <p:txBody>
          <a:bodyPr>
            <a:normAutofit fontScale="77500" lnSpcReduction="20000"/>
          </a:bodyPr>
          <a:lstStyle/>
          <a:p>
            <a:r>
              <a:rPr lang="en-US" dirty="0"/>
              <a:t>Superimpose a “what if” tree of possible actions and outcomes (states) on the state space graph.</a:t>
            </a:r>
          </a:p>
          <a:p>
            <a:r>
              <a:rPr lang="en-US" dirty="0"/>
              <a:t>The</a:t>
            </a:r>
            <a:r>
              <a:rPr lang="en-US" b="1" dirty="0">
                <a:solidFill>
                  <a:srgbClr val="FF0000"/>
                </a:solidFill>
              </a:rPr>
              <a:t> Root node</a:t>
            </a:r>
            <a:r>
              <a:rPr lang="en-US" dirty="0"/>
              <a:t> represents the initial stare.</a:t>
            </a:r>
          </a:p>
          <a:p>
            <a:r>
              <a:rPr lang="en-US" dirty="0"/>
              <a:t>An action child node is reached by an </a:t>
            </a:r>
            <a:r>
              <a:rPr lang="en-US" b="1" dirty="0">
                <a:solidFill>
                  <a:srgbClr val="FF0000"/>
                </a:solidFill>
              </a:rPr>
              <a:t>edge</a:t>
            </a:r>
            <a:r>
              <a:rPr lang="en-US" dirty="0"/>
              <a:t> representing an action. The corresponding state is defined by the transition model.</a:t>
            </a:r>
          </a:p>
          <a:p>
            <a:r>
              <a:rPr lang="en-US" dirty="0"/>
              <a:t>Trees cannot have </a:t>
            </a:r>
            <a:r>
              <a:rPr lang="en-US" b="1" dirty="0">
                <a:solidFill>
                  <a:srgbClr val="FF0000"/>
                </a:solidFill>
              </a:rPr>
              <a:t>cycles (loops). </a:t>
            </a:r>
            <a:r>
              <a:rPr lang="en-US" dirty="0"/>
              <a:t>Cycles in the search space must be broken to prevent infinite loops.</a:t>
            </a:r>
            <a:endParaRPr lang="en-US" b="1" dirty="0">
              <a:solidFill>
                <a:srgbClr val="FF0000"/>
              </a:solidFill>
            </a:endParaRPr>
          </a:p>
          <a:p>
            <a:r>
              <a:rPr lang="en-US" dirty="0"/>
              <a:t>Trees</a:t>
            </a:r>
            <a:r>
              <a:rPr lang="en-US" b="1" dirty="0"/>
              <a:t> </a:t>
            </a:r>
            <a:r>
              <a:rPr lang="en-US" dirty="0"/>
              <a:t>cannot have </a:t>
            </a:r>
            <a:r>
              <a:rPr lang="en-US" dirty="0">
                <a:solidFill>
                  <a:srgbClr val="FF0000"/>
                </a:solidFill>
              </a:rPr>
              <a:t> </a:t>
            </a:r>
            <a:r>
              <a:rPr lang="en-US" b="1" dirty="0">
                <a:solidFill>
                  <a:srgbClr val="FF0000"/>
                </a:solidFill>
              </a:rPr>
              <a:t>multiple paths to the same state.</a:t>
            </a:r>
            <a:r>
              <a:rPr lang="en-US" dirty="0"/>
              <a:t> These are called redundant paths. Removing suboptimal redundant paths improves search efficiency.</a:t>
            </a:r>
          </a:p>
          <a:p>
            <a:r>
              <a:rPr lang="en-US" dirty="0"/>
              <a:t>A </a:t>
            </a:r>
            <a:r>
              <a:rPr lang="en-US" b="1" dirty="0">
                <a:solidFill>
                  <a:srgbClr val="FF0000"/>
                </a:solidFill>
              </a:rPr>
              <a:t>path</a:t>
            </a:r>
            <a:r>
              <a:rPr lang="en-US" dirty="0"/>
              <a:t> through the tree corresponds to a sequence of actions (states).</a:t>
            </a:r>
          </a:p>
          <a:p>
            <a:r>
              <a:rPr lang="en-US" dirty="0"/>
              <a:t>A </a:t>
            </a:r>
            <a:r>
              <a:rPr lang="en-US" b="1" dirty="0">
                <a:solidFill>
                  <a:srgbClr val="FF0000"/>
                </a:solidFill>
              </a:rPr>
              <a:t>solution</a:t>
            </a:r>
            <a:r>
              <a:rPr lang="en-US" dirty="0"/>
              <a:t> is a path ending in a node representing a goal state.</a:t>
            </a:r>
          </a:p>
          <a:p>
            <a:r>
              <a:rPr lang="en-US" b="1" dirty="0">
                <a:solidFill>
                  <a:srgbClr val="FF0000"/>
                </a:solidFill>
              </a:rPr>
              <a:t>Nodes vs. states</a:t>
            </a:r>
            <a:r>
              <a:rPr lang="en-US" b="1" dirty="0"/>
              <a:t>: </a:t>
            </a:r>
            <a:r>
              <a:rPr lang="en-US" dirty="0"/>
              <a:t>Each tree node represents a state of the system. If redundant path cannot be prevented then state can be represented by multiple nodes in the tree.</a:t>
            </a:r>
          </a:p>
        </p:txBody>
      </p:sp>
      <p:grpSp>
        <p:nvGrpSpPr>
          <p:cNvPr id="8" name="Group 7"/>
          <p:cNvGrpSpPr/>
          <p:nvPr/>
        </p:nvGrpSpPr>
        <p:grpSpPr>
          <a:xfrm>
            <a:off x="5413756" y="1371600"/>
            <a:ext cx="2991909" cy="4646588"/>
            <a:chOff x="2748904" y="1792069"/>
            <a:chExt cx="2991909" cy="4646588"/>
          </a:xfrm>
        </p:grpSpPr>
        <p:sp>
          <p:nvSpPr>
            <p:cNvPr id="10" name="TextBox 9"/>
            <p:cNvSpPr txBox="1"/>
            <p:nvPr/>
          </p:nvSpPr>
          <p:spPr>
            <a:xfrm>
              <a:off x="3429000" y="4572000"/>
              <a:ext cx="676788" cy="923330"/>
            </a:xfrm>
            <a:prstGeom prst="rect">
              <a:avLst/>
            </a:prstGeom>
            <a:noFill/>
          </p:spPr>
          <p:txBody>
            <a:bodyPr wrap="none" rtlCol="0">
              <a:spAutoFit/>
            </a:bodyPr>
            <a:lstStyle/>
            <a:p>
              <a:r>
                <a:rPr lang="en-US" sz="5400" dirty="0">
                  <a:solidFill>
                    <a:srgbClr val="0070C0"/>
                  </a:solidFill>
                  <a:latin typeface="+mn-lt"/>
                </a:rPr>
                <a:t>…</a:t>
              </a:r>
            </a:p>
          </p:txBody>
        </p:sp>
        <p:sp>
          <p:nvSpPr>
            <p:cNvPr id="11" name="TextBox 10"/>
            <p:cNvSpPr txBox="1"/>
            <p:nvPr/>
          </p:nvSpPr>
          <p:spPr>
            <a:xfrm>
              <a:off x="4200012" y="4572000"/>
              <a:ext cx="676788" cy="923330"/>
            </a:xfrm>
            <a:prstGeom prst="rect">
              <a:avLst/>
            </a:prstGeom>
            <a:noFill/>
          </p:spPr>
          <p:txBody>
            <a:bodyPr wrap="none" rtlCol="0">
              <a:spAutoFit/>
            </a:bodyPr>
            <a:lstStyle/>
            <a:p>
              <a:r>
                <a:rPr lang="en-US" sz="5400" dirty="0">
                  <a:solidFill>
                    <a:srgbClr val="0070C0"/>
                  </a:solidFill>
                  <a:latin typeface="+mn-lt"/>
                </a:rPr>
                <a:t>…</a:t>
              </a:r>
            </a:p>
          </p:txBody>
        </p:sp>
        <p:sp>
          <p:nvSpPr>
            <p:cNvPr id="13" name="Oval 12"/>
            <p:cNvSpPr/>
            <p:nvPr/>
          </p:nvSpPr>
          <p:spPr>
            <a:xfrm>
              <a:off x="4419600" y="2438400"/>
              <a:ext cx="304800" cy="304800"/>
            </a:xfrm>
            <a:prstGeom prst="ellipse">
              <a:avLst/>
            </a:prstGeom>
            <a:solidFill>
              <a:schemeClr val="accent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a</a:t>
              </a:r>
            </a:p>
          </p:txBody>
        </p:sp>
        <p:cxnSp>
          <p:nvCxnSpPr>
            <p:cNvPr id="14" name="Straight Arrow Connector 13"/>
            <p:cNvCxnSpPr/>
            <p:nvPr/>
          </p:nvCxnSpPr>
          <p:spPr>
            <a:xfrm rot="5400000">
              <a:off x="3955863" y="2812863"/>
              <a:ext cx="654237" cy="425637"/>
            </a:xfrm>
            <a:prstGeom prst="straightConnector1">
              <a:avLst/>
            </a:prstGeom>
            <a:ln w="25400">
              <a:tailEnd type="arrow"/>
            </a:ln>
          </p:spPr>
          <p:style>
            <a:lnRef idx="1">
              <a:schemeClr val="accent1"/>
            </a:lnRef>
            <a:fillRef idx="0">
              <a:schemeClr val="accent1"/>
            </a:fillRef>
            <a:effectRef idx="0">
              <a:schemeClr val="accent1"/>
            </a:effectRef>
            <a:fontRef idx="minor">
              <a:schemeClr val="tx1"/>
            </a:fontRef>
          </p:style>
        </p:cxnSp>
        <p:cxnSp>
          <p:nvCxnSpPr>
            <p:cNvPr id="15" name="Straight Arrow Connector 14"/>
            <p:cNvCxnSpPr/>
            <p:nvPr/>
          </p:nvCxnSpPr>
          <p:spPr>
            <a:xfrm rot="5400000">
              <a:off x="3346262" y="3771900"/>
              <a:ext cx="654237" cy="425637"/>
            </a:xfrm>
            <a:prstGeom prst="straightConnector1">
              <a:avLst/>
            </a:prstGeom>
            <a:ln w="25400">
              <a:tailEnd type="arrow"/>
            </a:ln>
          </p:spPr>
          <p:style>
            <a:lnRef idx="1">
              <a:schemeClr val="accent1"/>
            </a:lnRef>
            <a:fillRef idx="0">
              <a:schemeClr val="accent1"/>
            </a:fillRef>
            <a:effectRef idx="0">
              <a:schemeClr val="accent1"/>
            </a:effectRef>
            <a:fontRef idx="minor">
              <a:schemeClr val="tx1"/>
            </a:fontRef>
          </p:style>
        </p:cxnSp>
        <p:cxnSp>
          <p:nvCxnSpPr>
            <p:cNvPr id="16" name="Straight Arrow Connector 15"/>
            <p:cNvCxnSpPr/>
            <p:nvPr/>
          </p:nvCxnSpPr>
          <p:spPr>
            <a:xfrm rot="5400000">
              <a:off x="2949480" y="4670517"/>
              <a:ext cx="501837" cy="304803"/>
            </a:xfrm>
            <a:prstGeom prst="straightConnector1">
              <a:avLst/>
            </a:prstGeom>
            <a:ln w="25400">
              <a:tailEnd type="arrow"/>
            </a:ln>
          </p:spPr>
          <p:style>
            <a:lnRef idx="1">
              <a:schemeClr val="accent1"/>
            </a:lnRef>
            <a:fillRef idx="0">
              <a:schemeClr val="accent1"/>
            </a:fillRef>
            <a:effectRef idx="0">
              <a:schemeClr val="accent1"/>
            </a:effectRef>
            <a:fontRef idx="minor">
              <a:schemeClr val="tx1"/>
            </a:fontRef>
          </p:style>
        </p:cxnSp>
        <p:sp>
          <p:nvSpPr>
            <p:cNvPr id="17" name="Oval 16"/>
            <p:cNvSpPr/>
            <p:nvPr/>
          </p:nvSpPr>
          <p:spPr>
            <a:xfrm>
              <a:off x="3308162" y="5931686"/>
              <a:ext cx="304800" cy="304800"/>
            </a:xfrm>
            <a:prstGeom prst="ellipse">
              <a:avLst/>
            </a:prstGeom>
          </p:spPr>
          <p:style>
            <a:lnRef idx="2">
              <a:schemeClr val="accent2">
                <a:shade val="50000"/>
              </a:schemeClr>
            </a:lnRef>
            <a:fillRef idx="1">
              <a:schemeClr val="accent2"/>
            </a:fillRef>
            <a:effectRef idx="0">
              <a:schemeClr val="accent2"/>
            </a:effectRef>
            <a:fontRef idx="minor">
              <a:schemeClr val="lt1"/>
            </a:fontRef>
          </p:style>
          <p:txBody>
            <a:bodyPr rtlCol="0" anchor="ctr"/>
            <a:lstStyle/>
            <a:p>
              <a:pPr algn="ctr"/>
              <a:r>
                <a:rPr lang="en-US" dirty="0"/>
                <a:t>f</a:t>
              </a:r>
            </a:p>
          </p:txBody>
        </p:sp>
        <p:cxnSp>
          <p:nvCxnSpPr>
            <p:cNvPr id="18" name="Straight Arrow Connector 17"/>
            <p:cNvCxnSpPr/>
            <p:nvPr/>
          </p:nvCxnSpPr>
          <p:spPr>
            <a:xfrm rot="5400000">
              <a:off x="3389953" y="5453115"/>
              <a:ext cx="501837" cy="304803"/>
            </a:xfrm>
            <a:prstGeom prst="straightConnector1">
              <a:avLst/>
            </a:prstGeom>
            <a:ln w="25400">
              <a:tailEnd type="arrow"/>
            </a:ln>
          </p:spPr>
          <p:style>
            <a:lnRef idx="1">
              <a:schemeClr val="accent1"/>
            </a:lnRef>
            <a:fillRef idx="0">
              <a:schemeClr val="accent1"/>
            </a:fillRef>
            <a:effectRef idx="0">
              <a:schemeClr val="accent1"/>
            </a:effectRef>
            <a:fontRef idx="minor">
              <a:schemeClr val="tx1"/>
            </a:fontRef>
          </p:style>
        </p:cxnSp>
        <p:cxnSp>
          <p:nvCxnSpPr>
            <p:cNvPr id="19" name="Straight Arrow Connector 18"/>
            <p:cNvCxnSpPr/>
            <p:nvPr/>
          </p:nvCxnSpPr>
          <p:spPr>
            <a:xfrm rot="16200000" flipH="1">
              <a:off x="4533900" y="2812863"/>
              <a:ext cx="654237" cy="425637"/>
            </a:xfrm>
            <a:prstGeom prst="straightConnector1">
              <a:avLst/>
            </a:prstGeom>
            <a:ln w="25400">
              <a:tailEnd type="arrow"/>
            </a:ln>
          </p:spPr>
          <p:style>
            <a:lnRef idx="1">
              <a:schemeClr val="accent1"/>
            </a:lnRef>
            <a:fillRef idx="0">
              <a:schemeClr val="accent1"/>
            </a:fillRef>
            <a:effectRef idx="0">
              <a:schemeClr val="accent1"/>
            </a:effectRef>
            <a:fontRef idx="minor">
              <a:schemeClr val="tx1"/>
            </a:fontRef>
          </p:style>
        </p:cxnSp>
        <p:cxnSp>
          <p:nvCxnSpPr>
            <p:cNvPr id="20" name="Straight Arrow Connector 19"/>
            <p:cNvCxnSpPr/>
            <p:nvPr/>
          </p:nvCxnSpPr>
          <p:spPr>
            <a:xfrm rot="16200000" flipH="1">
              <a:off x="3924300" y="3771900"/>
              <a:ext cx="654237" cy="425637"/>
            </a:xfrm>
            <a:prstGeom prst="straightConnector1">
              <a:avLst/>
            </a:prstGeom>
            <a:ln w="25400">
              <a:tailEnd type="arrow"/>
            </a:ln>
          </p:spPr>
          <p:style>
            <a:lnRef idx="1">
              <a:schemeClr val="accent1"/>
            </a:lnRef>
            <a:fillRef idx="0">
              <a:schemeClr val="accent1"/>
            </a:fillRef>
            <a:effectRef idx="0">
              <a:schemeClr val="accent1"/>
            </a:effectRef>
            <a:fontRef idx="minor">
              <a:schemeClr val="tx1"/>
            </a:fontRef>
          </p:style>
        </p:cxnSp>
        <p:cxnSp>
          <p:nvCxnSpPr>
            <p:cNvPr id="21" name="Straight Arrow Connector 20"/>
            <p:cNvCxnSpPr/>
            <p:nvPr/>
          </p:nvCxnSpPr>
          <p:spPr>
            <a:xfrm rot="16200000" flipH="1">
              <a:off x="3406680" y="4702080"/>
              <a:ext cx="501837" cy="304803"/>
            </a:xfrm>
            <a:prstGeom prst="straightConnector1">
              <a:avLst/>
            </a:prstGeom>
            <a:ln w="25400">
              <a:tailEnd type="arrow"/>
            </a:ln>
          </p:spPr>
          <p:style>
            <a:lnRef idx="1">
              <a:schemeClr val="accent1"/>
            </a:lnRef>
            <a:fillRef idx="0">
              <a:schemeClr val="accent1"/>
            </a:fillRef>
            <a:effectRef idx="0">
              <a:schemeClr val="accent1"/>
            </a:effectRef>
            <a:fontRef idx="minor">
              <a:schemeClr val="tx1"/>
            </a:fontRef>
          </p:style>
        </p:cxnSp>
        <p:cxnSp>
          <p:nvCxnSpPr>
            <p:cNvPr id="22" name="Straight Arrow Connector 21"/>
            <p:cNvCxnSpPr/>
            <p:nvPr/>
          </p:nvCxnSpPr>
          <p:spPr>
            <a:xfrm rot="5400000">
              <a:off x="4092484" y="4702080"/>
              <a:ext cx="501837" cy="304803"/>
            </a:xfrm>
            <a:prstGeom prst="straightConnector1">
              <a:avLst/>
            </a:prstGeom>
            <a:ln w="25400">
              <a:tailEnd type="arrow"/>
            </a:ln>
          </p:spPr>
          <p:style>
            <a:lnRef idx="1">
              <a:schemeClr val="accent1"/>
            </a:lnRef>
            <a:fillRef idx="0">
              <a:schemeClr val="accent1"/>
            </a:fillRef>
            <a:effectRef idx="0">
              <a:schemeClr val="accent1"/>
            </a:effectRef>
            <a:fontRef idx="minor">
              <a:schemeClr val="tx1"/>
            </a:fontRef>
          </p:style>
        </p:cxnSp>
        <p:cxnSp>
          <p:nvCxnSpPr>
            <p:cNvPr id="23" name="Straight Arrow Connector 22"/>
            <p:cNvCxnSpPr/>
            <p:nvPr/>
          </p:nvCxnSpPr>
          <p:spPr>
            <a:xfrm rot="16200000" flipH="1">
              <a:off x="4549683" y="4702080"/>
              <a:ext cx="501837" cy="304803"/>
            </a:xfrm>
            <a:prstGeom prst="straightConnector1">
              <a:avLst/>
            </a:prstGeom>
            <a:ln w="25400">
              <a:tailEnd type="arrow"/>
            </a:ln>
          </p:spPr>
          <p:style>
            <a:lnRef idx="1">
              <a:schemeClr val="accent1"/>
            </a:lnRef>
            <a:fillRef idx="0">
              <a:schemeClr val="accent1"/>
            </a:fillRef>
            <a:effectRef idx="0">
              <a:schemeClr val="accent1"/>
            </a:effectRef>
            <a:fontRef idx="minor">
              <a:schemeClr val="tx1"/>
            </a:fontRef>
          </p:style>
        </p:cxnSp>
        <p:cxnSp>
          <p:nvCxnSpPr>
            <p:cNvPr id="25" name="Straight Arrow Connector 24"/>
            <p:cNvCxnSpPr>
              <a:cxnSpLocks/>
            </p:cNvCxnSpPr>
            <p:nvPr/>
          </p:nvCxnSpPr>
          <p:spPr>
            <a:xfrm>
              <a:off x="5257799" y="3657601"/>
              <a:ext cx="258564" cy="632782"/>
            </a:xfrm>
            <a:prstGeom prst="straightConnector1">
              <a:avLst/>
            </a:prstGeom>
            <a:ln w="25400">
              <a:tailEnd type="arrow"/>
            </a:ln>
          </p:spPr>
          <p:style>
            <a:lnRef idx="1">
              <a:schemeClr val="accent1"/>
            </a:lnRef>
            <a:fillRef idx="0">
              <a:schemeClr val="accent1"/>
            </a:fillRef>
            <a:effectRef idx="0">
              <a:schemeClr val="accent1"/>
            </a:effectRef>
            <a:fontRef idx="minor">
              <a:schemeClr val="tx1"/>
            </a:fontRef>
          </p:style>
        </p:cxnSp>
        <p:sp>
          <p:nvSpPr>
            <p:cNvPr id="26" name="Rectangle 25"/>
            <p:cNvSpPr/>
            <p:nvPr/>
          </p:nvSpPr>
          <p:spPr>
            <a:xfrm>
              <a:off x="3962400" y="1792069"/>
              <a:ext cx="1447800" cy="646331"/>
            </a:xfrm>
            <a:prstGeom prst="rect">
              <a:avLst/>
            </a:prstGeom>
          </p:spPr>
          <p:txBody>
            <a:bodyPr wrap="square">
              <a:spAutoFit/>
            </a:bodyPr>
            <a:lstStyle/>
            <a:p>
              <a:pPr algn="ctr"/>
              <a:r>
                <a:rPr lang="en-US" dirty="0"/>
                <a:t>Root node  = </a:t>
              </a:r>
              <a:r>
                <a:rPr lang="en-US" b="1" dirty="0">
                  <a:solidFill>
                    <a:schemeClr val="accent1"/>
                  </a:solidFill>
                </a:rPr>
                <a:t>Initial state</a:t>
              </a:r>
            </a:p>
          </p:txBody>
        </p:sp>
        <p:sp>
          <p:nvSpPr>
            <p:cNvPr id="27" name="Rectangle 26"/>
            <p:cNvSpPr/>
            <p:nvPr/>
          </p:nvSpPr>
          <p:spPr>
            <a:xfrm>
              <a:off x="2748904" y="3087821"/>
              <a:ext cx="1226312" cy="369332"/>
            </a:xfrm>
            <a:prstGeom prst="rect">
              <a:avLst/>
            </a:prstGeom>
          </p:spPr>
          <p:txBody>
            <a:bodyPr wrap="square">
              <a:spAutoFit/>
            </a:bodyPr>
            <a:lstStyle/>
            <a:p>
              <a:pPr algn="ctr"/>
              <a:r>
                <a:rPr lang="en-US" dirty="0"/>
                <a:t>Child node</a:t>
              </a:r>
            </a:p>
          </p:txBody>
        </p:sp>
        <p:sp>
          <p:nvSpPr>
            <p:cNvPr id="28" name="Rectangle 27"/>
            <p:cNvSpPr/>
            <p:nvPr/>
          </p:nvSpPr>
          <p:spPr>
            <a:xfrm>
              <a:off x="2826153" y="2657053"/>
              <a:ext cx="1477777" cy="369332"/>
            </a:xfrm>
            <a:prstGeom prst="rect">
              <a:avLst/>
            </a:prstGeom>
          </p:spPr>
          <p:txBody>
            <a:bodyPr wrap="none">
              <a:spAutoFit/>
            </a:bodyPr>
            <a:lstStyle/>
            <a:p>
              <a:r>
                <a:rPr lang="en-US" dirty="0"/>
                <a:t>Edge = </a:t>
              </a:r>
              <a:r>
                <a:rPr lang="en-US" b="1" dirty="0">
                  <a:solidFill>
                    <a:schemeClr val="accent1"/>
                  </a:solidFill>
                </a:rPr>
                <a:t>Action</a:t>
              </a:r>
            </a:p>
          </p:txBody>
        </p:sp>
        <p:sp>
          <p:nvSpPr>
            <p:cNvPr id="29" name="Rectangle 28"/>
            <p:cNvSpPr/>
            <p:nvPr/>
          </p:nvSpPr>
          <p:spPr>
            <a:xfrm>
              <a:off x="3749690" y="5792326"/>
              <a:ext cx="1991123" cy="646331"/>
            </a:xfrm>
            <a:prstGeom prst="rect">
              <a:avLst/>
            </a:prstGeom>
          </p:spPr>
          <p:txBody>
            <a:bodyPr wrap="none">
              <a:spAutoFit/>
            </a:bodyPr>
            <a:lstStyle/>
            <a:p>
              <a:r>
                <a:rPr lang="en-US" dirty="0"/>
                <a:t>Node representing </a:t>
              </a:r>
              <a:br>
                <a:rPr lang="en-US" dirty="0"/>
              </a:br>
              <a:r>
                <a:rPr lang="en-US" dirty="0"/>
                <a:t>a </a:t>
              </a:r>
              <a:r>
                <a:rPr lang="en-US" b="1" dirty="0">
                  <a:solidFill>
                    <a:schemeClr val="accent2"/>
                  </a:solidFill>
                </a:rPr>
                <a:t>Goal state</a:t>
              </a:r>
            </a:p>
          </p:txBody>
        </p:sp>
        <p:sp>
          <p:nvSpPr>
            <p:cNvPr id="30" name="Oval 29"/>
            <p:cNvSpPr/>
            <p:nvPr/>
          </p:nvSpPr>
          <p:spPr>
            <a:xfrm>
              <a:off x="3810000" y="3352800"/>
              <a:ext cx="304800" cy="304800"/>
            </a:xfrm>
            <a:prstGeom prst="ellipse">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b</a:t>
              </a:r>
            </a:p>
          </p:txBody>
        </p:sp>
        <p:sp>
          <p:nvSpPr>
            <p:cNvPr id="31" name="Oval 30"/>
            <p:cNvSpPr/>
            <p:nvPr/>
          </p:nvSpPr>
          <p:spPr>
            <a:xfrm>
              <a:off x="3276600" y="4311837"/>
              <a:ext cx="304800" cy="304800"/>
            </a:xfrm>
            <a:prstGeom prst="ellipse">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d</a:t>
              </a:r>
            </a:p>
          </p:txBody>
        </p:sp>
        <p:sp>
          <p:nvSpPr>
            <p:cNvPr id="32" name="Oval 31"/>
            <p:cNvSpPr/>
            <p:nvPr/>
          </p:nvSpPr>
          <p:spPr>
            <a:xfrm>
              <a:off x="5029200" y="3352800"/>
              <a:ext cx="304800" cy="304800"/>
            </a:xfrm>
            <a:prstGeom prst="ellipse">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c</a:t>
              </a:r>
            </a:p>
          </p:txBody>
        </p:sp>
        <p:sp>
          <p:nvSpPr>
            <p:cNvPr id="33" name="Oval 32"/>
            <p:cNvSpPr/>
            <p:nvPr/>
          </p:nvSpPr>
          <p:spPr>
            <a:xfrm>
              <a:off x="4419600" y="4311837"/>
              <a:ext cx="304800" cy="304800"/>
            </a:xfrm>
            <a:prstGeom prst="ellipse">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e</a:t>
              </a:r>
            </a:p>
          </p:txBody>
        </p:sp>
      </p:grpSp>
      <p:grpSp>
        <p:nvGrpSpPr>
          <p:cNvPr id="9" name="Group 8">
            <a:extLst>
              <a:ext uri="{FF2B5EF4-FFF2-40B4-BE49-F238E27FC236}">
                <a16:creationId xmlns:a16="http://schemas.microsoft.com/office/drawing/2014/main" id="{8D287CE2-4FFC-75A4-EB2C-3DFCB1A37CF6}"/>
              </a:ext>
            </a:extLst>
          </p:cNvPr>
          <p:cNvGrpSpPr/>
          <p:nvPr/>
        </p:nvGrpSpPr>
        <p:grpSpPr>
          <a:xfrm>
            <a:off x="7745897" y="2141628"/>
            <a:ext cx="1487498" cy="1540864"/>
            <a:chOff x="7738689" y="2115483"/>
            <a:chExt cx="1487498" cy="1540872"/>
          </a:xfrm>
        </p:grpSpPr>
        <p:sp>
          <p:nvSpPr>
            <p:cNvPr id="42" name="Rectangle 41">
              <a:extLst>
                <a:ext uri="{FF2B5EF4-FFF2-40B4-BE49-F238E27FC236}">
                  <a16:creationId xmlns:a16="http://schemas.microsoft.com/office/drawing/2014/main" id="{B22A040B-3919-4942-B7C7-64E7EB35E7F9}"/>
                </a:ext>
              </a:extLst>
            </p:cNvPr>
            <p:cNvSpPr/>
            <p:nvPr/>
          </p:nvSpPr>
          <p:spPr>
            <a:xfrm>
              <a:off x="7999875" y="2115483"/>
              <a:ext cx="1226312" cy="1385002"/>
            </a:xfrm>
            <a:prstGeom prst="rect">
              <a:avLst/>
            </a:prstGeom>
          </p:spPr>
          <p:txBody>
            <a:bodyPr wrap="square">
              <a:spAutoFit/>
            </a:bodyPr>
            <a:lstStyle/>
            <a:p>
              <a:pPr algn="ctr"/>
              <a:r>
                <a:rPr lang="en-US" sz="1400" dirty="0"/>
                <a:t>Non-cycle redundant</a:t>
              </a:r>
            </a:p>
            <a:p>
              <a:pPr algn="ctr"/>
              <a:r>
                <a:rPr lang="en-US" sz="1400" dirty="0"/>
                <a:t>path leads to reexploring the same subtree</a:t>
              </a:r>
            </a:p>
          </p:txBody>
        </p:sp>
        <p:grpSp>
          <p:nvGrpSpPr>
            <p:cNvPr id="43" name="Group 42">
              <a:extLst>
                <a:ext uri="{FF2B5EF4-FFF2-40B4-BE49-F238E27FC236}">
                  <a16:creationId xmlns:a16="http://schemas.microsoft.com/office/drawing/2014/main" id="{55989EFE-E4C9-4186-8D71-597B85C68F60}"/>
                </a:ext>
              </a:extLst>
            </p:cNvPr>
            <p:cNvGrpSpPr/>
            <p:nvPr/>
          </p:nvGrpSpPr>
          <p:grpSpPr>
            <a:xfrm>
              <a:off x="7738689" y="3424523"/>
              <a:ext cx="626533" cy="231832"/>
              <a:chOff x="1219200" y="5045084"/>
              <a:chExt cx="2289484" cy="431902"/>
            </a:xfrm>
          </p:grpSpPr>
          <p:cxnSp>
            <p:nvCxnSpPr>
              <p:cNvPr id="44" name="Straight Connector 43">
                <a:extLst>
                  <a:ext uri="{FF2B5EF4-FFF2-40B4-BE49-F238E27FC236}">
                    <a16:creationId xmlns:a16="http://schemas.microsoft.com/office/drawing/2014/main" id="{BD597AAC-0047-4B0F-894D-F6241ACEEBDE}"/>
                  </a:ext>
                </a:extLst>
              </p:cNvPr>
              <p:cNvCxnSpPr>
                <a:cxnSpLocks/>
              </p:cNvCxnSpPr>
              <p:nvPr/>
            </p:nvCxnSpPr>
            <p:spPr>
              <a:xfrm>
                <a:off x="1219200" y="5045084"/>
                <a:ext cx="2209800" cy="431902"/>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45" name="Straight Connector 44">
                <a:extLst>
                  <a:ext uri="{FF2B5EF4-FFF2-40B4-BE49-F238E27FC236}">
                    <a16:creationId xmlns:a16="http://schemas.microsoft.com/office/drawing/2014/main" id="{DC9E55B2-4647-400B-A3B5-90BA76DA7834}"/>
                  </a:ext>
                </a:extLst>
              </p:cNvPr>
              <p:cNvCxnSpPr>
                <a:cxnSpLocks/>
              </p:cNvCxnSpPr>
              <p:nvPr/>
            </p:nvCxnSpPr>
            <p:spPr>
              <a:xfrm flipH="1">
                <a:off x="1219200" y="5045084"/>
                <a:ext cx="2289484" cy="380850"/>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grpSp>
      </p:grpSp>
      <p:grpSp>
        <p:nvGrpSpPr>
          <p:cNvPr id="38" name="Group 37">
            <a:extLst>
              <a:ext uri="{FF2B5EF4-FFF2-40B4-BE49-F238E27FC236}">
                <a16:creationId xmlns:a16="http://schemas.microsoft.com/office/drawing/2014/main" id="{5531DEB8-606C-CF93-4E17-6138B33E1DF5}"/>
              </a:ext>
            </a:extLst>
          </p:cNvPr>
          <p:cNvGrpSpPr/>
          <p:nvPr/>
        </p:nvGrpSpPr>
        <p:grpSpPr>
          <a:xfrm>
            <a:off x="6246252" y="2391043"/>
            <a:ext cx="1786890" cy="3092721"/>
            <a:chOff x="6246252" y="2391043"/>
            <a:chExt cx="1786890" cy="3092721"/>
          </a:xfrm>
        </p:grpSpPr>
        <p:sp>
          <p:nvSpPr>
            <p:cNvPr id="39" name="Rectangle 38">
              <a:extLst>
                <a:ext uri="{FF2B5EF4-FFF2-40B4-BE49-F238E27FC236}">
                  <a16:creationId xmlns:a16="http://schemas.microsoft.com/office/drawing/2014/main" id="{9105FE34-4611-45AF-B2C8-50E2984917BF}"/>
                </a:ext>
              </a:extLst>
            </p:cNvPr>
            <p:cNvSpPr/>
            <p:nvPr/>
          </p:nvSpPr>
          <p:spPr>
            <a:xfrm>
              <a:off x="6500133" y="4975605"/>
              <a:ext cx="1533009" cy="369332"/>
            </a:xfrm>
            <a:prstGeom prst="rect">
              <a:avLst/>
            </a:prstGeom>
          </p:spPr>
          <p:txBody>
            <a:bodyPr wrap="square">
              <a:spAutoFit/>
            </a:bodyPr>
            <a:lstStyle/>
            <a:p>
              <a:pPr algn="ctr"/>
              <a:r>
                <a:rPr lang="en-US" dirty="0">
                  <a:solidFill>
                    <a:schemeClr val="accent2"/>
                  </a:solidFill>
                </a:rPr>
                <a:t>Solution path</a:t>
              </a:r>
            </a:p>
          </p:txBody>
        </p:sp>
        <p:grpSp>
          <p:nvGrpSpPr>
            <p:cNvPr id="24" name="Group 23">
              <a:extLst>
                <a:ext uri="{FF2B5EF4-FFF2-40B4-BE49-F238E27FC236}">
                  <a16:creationId xmlns:a16="http://schemas.microsoft.com/office/drawing/2014/main" id="{BDECA28C-240E-7496-3D52-131939943F61}"/>
                </a:ext>
              </a:extLst>
            </p:cNvPr>
            <p:cNvGrpSpPr/>
            <p:nvPr/>
          </p:nvGrpSpPr>
          <p:grpSpPr>
            <a:xfrm>
              <a:off x="6246252" y="2391043"/>
              <a:ext cx="957006" cy="3092721"/>
              <a:chOff x="6246252" y="2391043"/>
              <a:chExt cx="957006" cy="3092721"/>
            </a:xfrm>
          </p:grpSpPr>
          <p:cxnSp>
            <p:nvCxnSpPr>
              <p:cNvPr id="3" name="Straight Arrow Connector 2">
                <a:extLst>
                  <a:ext uri="{FF2B5EF4-FFF2-40B4-BE49-F238E27FC236}">
                    <a16:creationId xmlns:a16="http://schemas.microsoft.com/office/drawing/2014/main" id="{59FEBE58-4685-386B-C6A7-3FCF7BF2B1BC}"/>
                  </a:ext>
                </a:extLst>
              </p:cNvPr>
              <p:cNvCxnSpPr>
                <a:cxnSpLocks/>
              </p:cNvCxnSpPr>
              <p:nvPr/>
            </p:nvCxnSpPr>
            <p:spPr>
              <a:xfrm flipH="1">
                <a:off x="6277814" y="4812064"/>
                <a:ext cx="402461" cy="671700"/>
              </a:xfrm>
              <a:prstGeom prst="straightConnector1">
                <a:avLst/>
              </a:prstGeom>
              <a:ln w="57150">
                <a:tailEnd type="arrow"/>
              </a:ln>
            </p:spPr>
            <p:style>
              <a:lnRef idx="3">
                <a:schemeClr val="accent2"/>
              </a:lnRef>
              <a:fillRef idx="0">
                <a:schemeClr val="accent2"/>
              </a:fillRef>
              <a:effectRef idx="2">
                <a:schemeClr val="accent2"/>
              </a:effectRef>
              <a:fontRef idx="minor">
                <a:schemeClr val="tx1"/>
              </a:fontRef>
            </p:style>
          </p:cxnSp>
          <p:cxnSp>
            <p:nvCxnSpPr>
              <p:cNvPr id="40" name="Straight Connector 39">
                <a:extLst>
                  <a:ext uri="{FF2B5EF4-FFF2-40B4-BE49-F238E27FC236}">
                    <a16:creationId xmlns:a16="http://schemas.microsoft.com/office/drawing/2014/main" id="{66652061-1483-0B6B-D242-4D99CEB6E2C5}"/>
                  </a:ext>
                </a:extLst>
              </p:cNvPr>
              <p:cNvCxnSpPr>
                <a:cxnSpLocks/>
                <a:endCxn id="31" idx="6"/>
              </p:cNvCxnSpPr>
              <p:nvPr/>
            </p:nvCxnSpPr>
            <p:spPr>
              <a:xfrm flipH="1">
                <a:off x="6246252" y="2391043"/>
                <a:ext cx="957006" cy="1652725"/>
              </a:xfrm>
              <a:prstGeom prst="line">
                <a:avLst/>
              </a:prstGeom>
              <a:ln w="57150"/>
            </p:spPr>
            <p:style>
              <a:lnRef idx="3">
                <a:schemeClr val="accent2"/>
              </a:lnRef>
              <a:fillRef idx="0">
                <a:schemeClr val="accent2"/>
              </a:fillRef>
              <a:effectRef idx="2">
                <a:schemeClr val="accent2"/>
              </a:effectRef>
              <a:fontRef idx="minor">
                <a:schemeClr val="tx1"/>
              </a:fontRef>
            </p:style>
          </p:cxnSp>
          <p:cxnSp>
            <p:nvCxnSpPr>
              <p:cNvPr id="41" name="Straight Connector 40">
                <a:extLst>
                  <a:ext uri="{FF2B5EF4-FFF2-40B4-BE49-F238E27FC236}">
                    <a16:creationId xmlns:a16="http://schemas.microsoft.com/office/drawing/2014/main" id="{C40584B3-7C87-585A-C5D4-0C685F7A8CAC}"/>
                  </a:ext>
                </a:extLst>
              </p:cNvPr>
              <p:cNvCxnSpPr>
                <a:cxnSpLocks/>
                <a:stCxn id="31" idx="6"/>
              </p:cNvCxnSpPr>
              <p:nvPr/>
            </p:nvCxnSpPr>
            <p:spPr>
              <a:xfrm>
                <a:off x="6246252" y="4043768"/>
                <a:ext cx="426289" cy="777941"/>
              </a:xfrm>
              <a:prstGeom prst="line">
                <a:avLst/>
              </a:prstGeom>
              <a:ln w="57150"/>
            </p:spPr>
            <p:style>
              <a:lnRef idx="3">
                <a:schemeClr val="accent2"/>
              </a:lnRef>
              <a:fillRef idx="0">
                <a:schemeClr val="accent2"/>
              </a:fillRef>
              <a:effectRef idx="2">
                <a:schemeClr val="accent2"/>
              </a:effectRef>
              <a:fontRef idx="minor">
                <a:schemeClr val="tx1"/>
              </a:fontRef>
            </p:style>
          </p:cxnSp>
        </p:grpSp>
      </p:grpSp>
      <p:grpSp>
        <p:nvGrpSpPr>
          <p:cNvPr id="12" name="Group 11">
            <a:extLst>
              <a:ext uri="{FF2B5EF4-FFF2-40B4-BE49-F238E27FC236}">
                <a16:creationId xmlns:a16="http://schemas.microsoft.com/office/drawing/2014/main" id="{C26CB06A-D585-3262-E226-F6BC2B4FFAE2}"/>
              </a:ext>
            </a:extLst>
          </p:cNvPr>
          <p:cNvGrpSpPr/>
          <p:nvPr/>
        </p:nvGrpSpPr>
        <p:grpSpPr>
          <a:xfrm>
            <a:off x="4800600" y="4174800"/>
            <a:ext cx="1447623" cy="397239"/>
            <a:chOff x="4800600" y="4174800"/>
            <a:chExt cx="1447623" cy="397239"/>
          </a:xfrm>
        </p:grpSpPr>
        <p:sp>
          <p:nvSpPr>
            <p:cNvPr id="34" name="Rectangle 33">
              <a:extLst>
                <a:ext uri="{FF2B5EF4-FFF2-40B4-BE49-F238E27FC236}">
                  <a16:creationId xmlns:a16="http://schemas.microsoft.com/office/drawing/2014/main" id="{018F8CBD-0FF9-413A-B4D5-AAC5A8B148C2}"/>
                </a:ext>
              </a:extLst>
            </p:cNvPr>
            <p:cNvSpPr/>
            <p:nvPr/>
          </p:nvSpPr>
          <p:spPr>
            <a:xfrm>
              <a:off x="4800600" y="4203842"/>
              <a:ext cx="1226312" cy="307777"/>
            </a:xfrm>
            <a:prstGeom prst="rect">
              <a:avLst/>
            </a:prstGeom>
          </p:spPr>
          <p:txBody>
            <a:bodyPr wrap="square">
              <a:spAutoFit/>
            </a:bodyPr>
            <a:lstStyle/>
            <a:p>
              <a:pPr algn="ctr"/>
              <a:r>
                <a:rPr lang="en-US" sz="1400" dirty="0"/>
                <a:t>Cycle</a:t>
              </a:r>
              <a:endParaRPr lang="en-US" dirty="0"/>
            </a:p>
          </p:txBody>
        </p:sp>
        <p:grpSp>
          <p:nvGrpSpPr>
            <p:cNvPr id="35" name="Group 34">
              <a:extLst>
                <a:ext uri="{FF2B5EF4-FFF2-40B4-BE49-F238E27FC236}">
                  <a16:creationId xmlns:a16="http://schemas.microsoft.com/office/drawing/2014/main" id="{935FE1E2-6862-4B7C-9BCA-FCC147456DF1}"/>
                </a:ext>
              </a:extLst>
            </p:cNvPr>
            <p:cNvGrpSpPr/>
            <p:nvPr/>
          </p:nvGrpSpPr>
          <p:grpSpPr>
            <a:xfrm>
              <a:off x="5482280" y="4174800"/>
              <a:ext cx="765943" cy="397239"/>
              <a:chOff x="1219200" y="5045074"/>
              <a:chExt cx="2289484" cy="431902"/>
            </a:xfrm>
          </p:grpSpPr>
          <p:cxnSp>
            <p:nvCxnSpPr>
              <p:cNvPr id="36" name="Straight Connector 35">
                <a:extLst>
                  <a:ext uri="{FF2B5EF4-FFF2-40B4-BE49-F238E27FC236}">
                    <a16:creationId xmlns:a16="http://schemas.microsoft.com/office/drawing/2014/main" id="{33E656F0-7E44-4750-A40B-08B26E1C2881}"/>
                  </a:ext>
                </a:extLst>
              </p:cNvPr>
              <p:cNvCxnSpPr>
                <a:cxnSpLocks/>
              </p:cNvCxnSpPr>
              <p:nvPr/>
            </p:nvCxnSpPr>
            <p:spPr>
              <a:xfrm>
                <a:off x="1219200" y="5045074"/>
                <a:ext cx="2209800" cy="431902"/>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37" name="Straight Connector 36">
                <a:extLst>
                  <a:ext uri="{FF2B5EF4-FFF2-40B4-BE49-F238E27FC236}">
                    <a16:creationId xmlns:a16="http://schemas.microsoft.com/office/drawing/2014/main" id="{898E7255-DDDF-4DB3-B9D7-63987FDC9C4F}"/>
                  </a:ext>
                </a:extLst>
              </p:cNvPr>
              <p:cNvCxnSpPr>
                <a:cxnSpLocks/>
              </p:cNvCxnSpPr>
              <p:nvPr/>
            </p:nvCxnSpPr>
            <p:spPr>
              <a:xfrm flipH="1">
                <a:off x="1219200" y="5045074"/>
                <a:ext cx="2289484" cy="431902"/>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grpSp>
      </p:grpSp>
      <p:sp>
        <p:nvSpPr>
          <p:cNvPr id="4" name="Oval 3">
            <a:extLst>
              <a:ext uri="{FF2B5EF4-FFF2-40B4-BE49-F238E27FC236}">
                <a16:creationId xmlns:a16="http://schemas.microsoft.com/office/drawing/2014/main" id="{0187AC6C-39F3-24CA-7924-BFFADDDF6F49}"/>
              </a:ext>
            </a:extLst>
          </p:cNvPr>
          <p:cNvSpPr/>
          <p:nvPr/>
        </p:nvSpPr>
        <p:spPr>
          <a:xfrm>
            <a:off x="5468468" y="4614889"/>
            <a:ext cx="304800" cy="304800"/>
          </a:xfrm>
          <a:prstGeom prst="ellipse">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b</a:t>
            </a:r>
          </a:p>
        </p:txBody>
      </p:sp>
      <p:cxnSp>
        <p:nvCxnSpPr>
          <p:cNvPr id="2" name="Straight Arrow Connector 1">
            <a:extLst>
              <a:ext uri="{FF2B5EF4-FFF2-40B4-BE49-F238E27FC236}">
                <a16:creationId xmlns:a16="http://schemas.microsoft.com/office/drawing/2014/main" id="{8C6F20CA-AACE-BF99-E049-030955EC0712}"/>
              </a:ext>
            </a:extLst>
          </p:cNvPr>
          <p:cNvCxnSpPr/>
          <p:nvPr/>
        </p:nvCxnSpPr>
        <p:spPr>
          <a:xfrm rot="5400000">
            <a:off x="7714339" y="4314347"/>
            <a:ext cx="501837" cy="304803"/>
          </a:xfrm>
          <a:prstGeom prst="straightConnector1">
            <a:avLst/>
          </a:prstGeom>
          <a:ln w="25400">
            <a:tailEnd type="arrow"/>
          </a:ln>
        </p:spPr>
        <p:style>
          <a:lnRef idx="1">
            <a:schemeClr val="accent1"/>
          </a:lnRef>
          <a:fillRef idx="0">
            <a:schemeClr val="accent1"/>
          </a:fillRef>
          <a:effectRef idx="0">
            <a:schemeClr val="accent1"/>
          </a:effectRef>
          <a:fontRef idx="minor">
            <a:schemeClr val="tx1"/>
          </a:fontRef>
        </p:style>
      </p:cxnSp>
      <p:cxnSp>
        <p:nvCxnSpPr>
          <p:cNvPr id="5" name="Straight Arrow Connector 4">
            <a:extLst>
              <a:ext uri="{FF2B5EF4-FFF2-40B4-BE49-F238E27FC236}">
                <a16:creationId xmlns:a16="http://schemas.microsoft.com/office/drawing/2014/main" id="{99FEA737-8951-0217-5767-65D2896A9500}"/>
              </a:ext>
            </a:extLst>
          </p:cNvPr>
          <p:cNvCxnSpPr/>
          <p:nvPr/>
        </p:nvCxnSpPr>
        <p:spPr>
          <a:xfrm rot="16200000" flipH="1">
            <a:off x="8171538" y="4314347"/>
            <a:ext cx="501837" cy="304803"/>
          </a:xfrm>
          <a:prstGeom prst="straightConnector1">
            <a:avLst/>
          </a:prstGeom>
          <a:ln w="25400">
            <a:tailEnd type="arrow"/>
          </a:ln>
        </p:spPr>
        <p:style>
          <a:lnRef idx="1">
            <a:schemeClr val="accent1"/>
          </a:lnRef>
          <a:fillRef idx="0">
            <a:schemeClr val="accent1"/>
          </a:fillRef>
          <a:effectRef idx="0">
            <a:schemeClr val="accent1"/>
          </a:effectRef>
          <a:fontRef idx="minor">
            <a:schemeClr val="tx1"/>
          </a:fontRef>
        </p:style>
      </p:cxnSp>
      <p:sp>
        <p:nvSpPr>
          <p:cNvPr id="6" name="Oval 5">
            <a:extLst>
              <a:ext uri="{FF2B5EF4-FFF2-40B4-BE49-F238E27FC236}">
                <a16:creationId xmlns:a16="http://schemas.microsoft.com/office/drawing/2014/main" id="{1C4F03D7-FD9F-B0E7-C75A-3E3F547A1C57}"/>
              </a:ext>
            </a:extLst>
          </p:cNvPr>
          <p:cNvSpPr/>
          <p:nvPr/>
        </p:nvSpPr>
        <p:spPr>
          <a:xfrm>
            <a:off x="8041455" y="3924104"/>
            <a:ext cx="304800" cy="304800"/>
          </a:xfrm>
          <a:prstGeom prst="ellipse">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e</a:t>
            </a:r>
          </a:p>
        </p:txBody>
      </p:sp>
      <p:sp>
        <p:nvSpPr>
          <p:cNvPr id="7" name="TextBox 6">
            <a:extLst>
              <a:ext uri="{FF2B5EF4-FFF2-40B4-BE49-F238E27FC236}">
                <a16:creationId xmlns:a16="http://schemas.microsoft.com/office/drawing/2014/main" id="{2CE28A43-022F-2733-AE6A-DC930EC0DEDC}"/>
              </a:ext>
            </a:extLst>
          </p:cNvPr>
          <p:cNvSpPr txBox="1"/>
          <p:nvPr/>
        </p:nvSpPr>
        <p:spPr>
          <a:xfrm>
            <a:off x="7889755" y="4127852"/>
            <a:ext cx="676788" cy="923330"/>
          </a:xfrm>
          <a:prstGeom prst="rect">
            <a:avLst/>
          </a:prstGeom>
          <a:noFill/>
        </p:spPr>
        <p:txBody>
          <a:bodyPr wrap="none" rtlCol="0">
            <a:spAutoFit/>
          </a:bodyPr>
          <a:lstStyle/>
          <a:p>
            <a:r>
              <a:rPr lang="en-US" sz="5400" dirty="0">
                <a:solidFill>
                  <a:srgbClr val="0070C0"/>
                </a:solidFill>
                <a:latin typeface="+mn-lt"/>
              </a:rPr>
              <a:t>…</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grpId="0" nodeType="withEffect">
                                  <p:stCondLst>
                                    <p:cond delay="0"/>
                                  </p:stCondLst>
                                  <p:childTnLst>
                                    <p:set>
                                      <p:cBhvr>
                                        <p:cTn id="6" dur="1" fill="hold">
                                          <p:stCondLst>
                                            <p:cond delay="0"/>
                                          </p:stCondLst>
                                        </p:cTn>
                                        <p:tgtEl>
                                          <p:spTgt spid="20483">
                                            <p:txEl>
                                              <p:pRg st="0" end="0"/>
                                            </p:tx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20483">
                                            <p:txEl>
                                              <p:pRg st="1" end="1"/>
                                            </p:txEl>
                                          </p:spTgt>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2048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20483">
                                            <p:txEl>
                                              <p:pRg st="3" end="3"/>
                                            </p:txEl>
                                          </p:spTgt>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12"/>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20483">
                                            <p:txEl>
                                              <p:pRg st="4" end="4"/>
                                            </p:txEl>
                                          </p:spTgt>
                                        </p:tgtEl>
                                        <p:attrNameLst>
                                          <p:attrName>style.visibility</p:attrName>
                                        </p:attrNameLst>
                                      </p:cBhvr>
                                      <p:to>
                                        <p:strVal val="visible"/>
                                      </p:to>
                                    </p:set>
                                  </p:childTnLst>
                                </p:cTn>
                              </p:par>
                              <p:par>
                                <p:cTn id="21" presetID="1" presetClass="entr" presetSubtype="0" fill="hold" nodeType="withEffect">
                                  <p:stCondLst>
                                    <p:cond delay="0"/>
                                  </p:stCondLst>
                                  <p:childTnLst>
                                    <p:set>
                                      <p:cBhvr>
                                        <p:cTn id="22" dur="1" fill="hold">
                                          <p:stCondLst>
                                            <p:cond delay="0"/>
                                          </p:stCondLst>
                                        </p:cTn>
                                        <p:tgtEl>
                                          <p:spTgt spid="9"/>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20483">
                                            <p:txEl>
                                              <p:pRg st="5" end="5"/>
                                            </p:txEl>
                                          </p:spTgt>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20483">
                                            <p:txEl>
                                              <p:pRg st="6" end="6"/>
                                            </p:txEl>
                                          </p:spTgt>
                                        </p:tgtEl>
                                        <p:attrNameLst>
                                          <p:attrName>style.visibility</p:attrName>
                                        </p:attrNameLst>
                                      </p:cBhvr>
                                      <p:to>
                                        <p:strVal val="visible"/>
                                      </p:to>
                                    </p:set>
                                  </p:childTnLst>
                                </p:cTn>
                              </p:par>
                              <p:par>
                                <p:cTn id="29" presetID="1" presetClass="entr" presetSubtype="0" fill="hold" nodeType="withEffect">
                                  <p:stCondLst>
                                    <p:cond delay="0"/>
                                  </p:stCondLst>
                                  <p:childTnLst>
                                    <p:set>
                                      <p:cBhvr>
                                        <p:cTn id="30" dur="1" fill="hold">
                                          <p:stCondLst>
                                            <p:cond delay="0"/>
                                          </p:stCondLst>
                                        </p:cTn>
                                        <p:tgtEl>
                                          <p:spTgt spid="38"/>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20483">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0483" grpId="0" uiExpand="1" build="p"/>
    </p:bld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4F69027-A669-4E9F-88BB-9B65EE4BFAAE}"/>
              </a:ext>
            </a:extLst>
          </p:cNvPr>
          <p:cNvSpPr>
            <a:spLocks noGrp="1"/>
          </p:cNvSpPr>
          <p:nvPr>
            <p:ph type="title"/>
          </p:nvPr>
        </p:nvSpPr>
        <p:spPr/>
        <p:txBody>
          <a:bodyPr/>
          <a:lstStyle/>
          <a:p>
            <a:r>
              <a:rPr lang="en-US" dirty="0"/>
              <a:t>Differences Between Typical Tree Search and AI Search</a:t>
            </a:r>
          </a:p>
        </p:txBody>
      </p:sp>
      <p:sp>
        <p:nvSpPr>
          <p:cNvPr id="4" name="Content Placeholder 3">
            <a:extLst>
              <a:ext uri="{FF2B5EF4-FFF2-40B4-BE49-F238E27FC236}">
                <a16:creationId xmlns:a16="http://schemas.microsoft.com/office/drawing/2014/main" id="{416DDDA6-AE40-4D9F-B2FA-432DA7239574}"/>
              </a:ext>
            </a:extLst>
          </p:cNvPr>
          <p:cNvSpPr>
            <a:spLocks noGrp="1"/>
          </p:cNvSpPr>
          <p:nvPr>
            <p:ph sz="half" idx="1"/>
          </p:nvPr>
        </p:nvSpPr>
        <p:spPr>
          <a:xfrm>
            <a:off x="628650" y="1825625"/>
            <a:ext cx="3257550" cy="4351338"/>
          </a:xfrm>
        </p:spPr>
        <p:txBody>
          <a:bodyPr>
            <a:normAutofit fontScale="85000" lnSpcReduction="20000"/>
          </a:bodyPr>
          <a:lstStyle/>
          <a:p>
            <a:pPr marL="0" indent="0" algn="ctr">
              <a:buNone/>
            </a:pPr>
            <a:r>
              <a:rPr lang="en-US" b="1" dirty="0"/>
              <a:t>Typical tree search</a:t>
            </a:r>
          </a:p>
          <a:p>
            <a:pPr marL="0" indent="0" algn="ctr">
              <a:buNone/>
            </a:pPr>
            <a:endParaRPr lang="en-US" b="1" dirty="0"/>
          </a:p>
          <a:p>
            <a:r>
              <a:rPr lang="en-US" dirty="0"/>
              <a:t>Assumes a given tree that fits in memory.</a:t>
            </a:r>
          </a:p>
          <a:p>
            <a:endParaRPr lang="en-US" dirty="0"/>
          </a:p>
          <a:p>
            <a:endParaRPr lang="en-US" dirty="0"/>
          </a:p>
          <a:p>
            <a:pPr marL="0" indent="0">
              <a:buNone/>
            </a:pPr>
            <a:endParaRPr lang="en-US" dirty="0"/>
          </a:p>
          <a:p>
            <a:pPr marL="0" indent="0">
              <a:buNone/>
            </a:pPr>
            <a:endParaRPr lang="en-US" dirty="0"/>
          </a:p>
          <a:p>
            <a:r>
              <a:rPr lang="en-US" dirty="0"/>
              <a:t>Trees have by construction no cycles or redundant paths.</a:t>
            </a:r>
          </a:p>
          <a:p>
            <a:endParaRPr lang="en-US" dirty="0"/>
          </a:p>
          <a:p>
            <a:endParaRPr lang="en-US" dirty="0"/>
          </a:p>
        </p:txBody>
      </p:sp>
      <p:sp>
        <p:nvSpPr>
          <p:cNvPr id="5" name="Content Placeholder 4">
            <a:extLst>
              <a:ext uri="{FF2B5EF4-FFF2-40B4-BE49-F238E27FC236}">
                <a16:creationId xmlns:a16="http://schemas.microsoft.com/office/drawing/2014/main" id="{06DAD876-9AB5-424E-B7CE-A6A6D5E3C7D0}"/>
              </a:ext>
            </a:extLst>
          </p:cNvPr>
          <p:cNvSpPr>
            <a:spLocks noGrp="1"/>
          </p:cNvSpPr>
          <p:nvPr>
            <p:ph sz="half" idx="2"/>
          </p:nvPr>
        </p:nvSpPr>
        <p:spPr>
          <a:xfrm>
            <a:off x="4629150" y="1825624"/>
            <a:ext cx="3886200" cy="4498975"/>
          </a:xfrm>
        </p:spPr>
        <p:txBody>
          <a:bodyPr>
            <a:normAutofit fontScale="85000" lnSpcReduction="20000"/>
          </a:bodyPr>
          <a:lstStyle/>
          <a:p>
            <a:pPr marL="0" indent="0" algn="ctr">
              <a:buNone/>
            </a:pPr>
            <a:r>
              <a:rPr lang="en-US" b="1" dirty="0"/>
              <a:t>AI tree/graph search</a:t>
            </a:r>
          </a:p>
          <a:p>
            <a:pPr marL="0" indent="0" algn="ctr">
              <a:buNone/>
            </a:pPr>
            <a:endParaRPr lang="en-US" b="1" dirty="0"/>
          </a:p>
          <a:p>
            <a:r>
              <a:rPr lang="en-US" dirty="0"/>
              <a:t>The search tree is too large to fit into </a:t>
            </a:r>
            <a:r>
              <a:rPr lang="en-US" b="1" dirty="0">
                <a:solidFill>
                  <a:srgbClr val="FF0000"/>
                </a:solidFill>
              </a:rPr>
              <a:t>memory</a:t>
            </a:r>
            <a:r>
              <a:rPr lang="en-US" dirty="0"/>
              <a:t>. </a:t>
            </a:r>
          </a:p>
          <a:p>
            <a:pPr marL="685800" lvl="1" indent="-342900">
              <a:buFont typeface="+mj-lt"/>
              <a:buAutoNum type="alphaLcPeriod"/>
            </a:pPr>
            <a:r>
              <a:rPr lang="en-US" b="1" dirty="0"/>
              <a:t>Builds parts of  the tree </a:t>
            </a:r>
            <a:r>
              <a:rPr lang="en-US" dirty="0"/>
              <a:t>from the initial state using the transition function representing the graph.</a:t>
            </a:r>
          </a:p>
          <a:p>
            <a:pPr marL="685800" lvl="1" indent="-342900">
              <a:buFont typeface="+mj-lt"/>
              <a:buAutoNum type="alphaLcPeriod"/>
            </a:pPr>
            <a:r>
              <a:rPr lang="en-US" b="1" dirty="0"/>
              <a:t>Memory management </a:t>
            </a:r>
            <a:r>
              <a:rPr lang="en-US" dirty="0"/>
              <a:t>is very important.</a:t>
            </a:r>
          </a:p>
          <a:p>
            <a:pPr marL="0" indent="0">
              <a:buNone/>
            </a:pPr>
            <a:endParaRPr lang="en-US" dirty="0"/>
          </a:p>
          <a:p>
            <a:r>
              <a:rPr lang="en-US" dirty="0"/>
              <a:t>The search space is typically a very large and complicated graph. Memory-efficient </a:t>
            </a:r>
            <a:r>
              <a:rPr lang="en-US" b="1" dirty="0">
                <a:solidFill>
                  <a:srgbClr val="FF0000"/>
                </a:solidFill>
              </a:rPr>
              <a:t>cycle checking</a:t>
            </a:r>
            <a:r>
              <a:rPr lang="en-US" dirty="0">
                <a:solidFill>
                  <a:srgbClr val="FF0000"/>
                </a:solidFill>
              </a:rPr>
              <a:t> </a:t>
            </a:r>
            <a:r>
              <a:rPr lang="en-US" dirty="0"/>
              <a:t>is very important to avoid infinite loops or minimize searching parts of the search space multiple times. </a:t>
            </a:r>
          </a:p>
          <a:p>
            <a:r>
              <a:rPr lang="en-US" dirty="0"/>
              <a:t>Checking redundant paths often requires too much memory and we accept searching the same part multiple times.</a:t>
            </a:r>
          </a:p>
        </p:txBody>
      </p:sp>
    </p:spTree>
    <p:extLst>
      <p:ext uri="{BB962C8B-B14F-4D97-AF65-F5344CB8AC3E}">
        <p14:creationId xmlns:p14="http://schemas.microsoft.com/office/powerpoint/2010/main" val="631091638"/>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482" name="Rectangle 2"/>
          <p:cNvSpPr>
            <a:spLocks noGrp="1" noChangeArrowheads="1"/>
          </p:cNvSpPr>
          <p:nvPr>
            <p:ph type="title"/>
          </p:nvPr>
        </p:nvSpPr>
        <p:spPr/>
        <p:txBody>
          <a:bodyPr/>
          <a:lstStyle/>
          <a:p>
            <a:r>
              <a:rPr lang="en-US" dirty="0"/>
              <a:t>Tree Search Algorithm Outline</a:t>
            </a:r>
          </a:p>
        </p:txBody>
      </p:sp>
      <p:sp>
        <p:nvSpPr>
          <p:cNvPr id="20483" name="Rectangle 3"/>
          <p:cNvSpPr>
            <a:spLocks noGrp="1" noChangeArrowheads="1"/>
          </p:cNvSpPr>
          <p:nvPr>
            <p:ph idx="1"/>
          </p:nvPr>
        </p:nvSpPr>
        <p:spPr>
          <a:xfrm>
            <a:off x="762000" y="1981200"/>
            <a:ext cx="7886700" cy="3657600"/>
          </a:xfrm>
        </p:spPr>
        <p:style>
          <a:lnRef idx="2">
            <a:schemeClr val="accent2"/>
          </a:lnRef>
          <a:fillRef idx="1">
            <a:schemeClr val="lt1"/>
          </a:fillRef>
          <a:effectRef idx="0">
            <a:schemeClr val="accent2"/>
          </a:effectRef>
          <a:fontRef idx="minor">
            <a:schemeClr val="dk1"/>
          </a:fontRef>
        </p:style>
        <p:txBody>
          <a:bodyPr>
            <a:normAutofit fontScale="92500"/>
          </a:bodyPr>
          <a:lstStyle/>
          <a:p>
            <a:pPr marL="457200" indent="-457200">
              <a:buFont typeface="+mj-lt"/>
              <a:buAutoNum type="arabicPeriod"/>
            </a:pPr>
            <a:r>
              <a:rPr lang="en-US" sz="2400" dirty="0"/>
              <a:t>Initialize</a:t>
            </a:r>
            <a:r>
              <a:rPr lang="en-US" sz="2400" b="1" dirty="0"/>
              <a:t> </a:t>
            </a:r>
            <a:r>
              <a:rPr lang="en-US" sz="2400" dirty="0"/>
              <a:t>the </a:t>
            </a:r>
            <a:r>
              <a:rPr lang="en-US" sz="2400" b="1" dirty="0">
                <a:solidFill>
                  <a:srgbClr val="FF0000"/>
                </a:solidFill>
              </a:rPr>
              <a:t>frontier</a:t>
            </a:r>
            <a:r>
              <a:rPr lang="en-US" sz="2400" b="1" dirty="0">
                <a:solidFill>
                  <a:srgbClr val="CC0099"/>
                </a:solidFill>
              </a:rPr>
              <a:t> </a:t>
            </a:r>
            <a:r>
              <a:rPr lang="en-US" sz="2400" dirty="0"/>
              <a:t>(set of unexplored known nodes) using the </a:t>
            </a:r>
            <a:r>
              <a:rPr lang="en-US" sz="2400" b="1" dirty="0">
                <a:solidFill>
                  <a:srgbClr val="FF0000"/>
                </a:solidFill>
              </a:rPr>
              <a:t>starting state/root node.</a:t>
            </a:r>
          </a:p>
          <a:p>
            <a:pPr marL="457200" indent="-457200">
              <a:buFont typeface="+mj-lt"/>
              <a:buAutoNum type="arabicPeriod"/>
            </a:pPr>
            <a:endParaRPr lang="en-US" sz="2400" dirty="0"/>
          </a:p>
          <a:p>
            <a:pPr marL="457200" indent="-457200">
              <a:buFont typeface="+mj-lt"/>
              <a:buAutoNum type="arabicPeriod"/>
            </a:pPr>
            <a:r>
              <a:rPr lang="en-US" sz="2400" dirty="0"/>
              <a:t>While the frontier is not empty:</a:t>
            </a:r>
          </a:p>
          <a:p>
            <a:pPr marL="800100" lvl="1" indent="-457200">
              <a:buFont typeface="+mj-lt"/>
              <a:buAutoNum type="alphaLcParenR"/>
            </a:pPr>
            <a:r>
              <a:rPr lang="en-US" sz="2400" dirty="0"/>
              <a:t>Choose the next frontier node to expand according to the </a:t>
            </a:r>
            <a:r>
              <a:rPr lang="en-US" sz="2400" b="1" dirty="0">
                <a:solidFill>
                  <a:srgbClr val="FF0000"/>
                </a:solidFill>
              </a:rPr>
              <a:t>search strategy.</a:t>
            </a:r>
          </a:p>
          <a:p>
            <a:pPr marL="800100" lvl="1" indent="-457200">
              <a:buFont typeface="+mj-lt"/>
              <a:buAutoNum type="alphaLcParenR"/>
            </a:pPr>
            <a:r>
              <a:rPr lang="en-US" sz="2400" dirty="0"/>
              <a:t>If the node represents a </a:t>
            </a:r>
            <a:r>
              <a:rPr lang="en-US" sz="2400" b="1" dirty="0">
                <a:solidFill>
                  <a:srgbClr val="FF0000"/>
                </a:solidFill>
              </a:rPr>
              <a:t>goal state,</a:t>
            </a:r>
            <a:r>
              <a:rPr lang="en-US" sz="2400" dirty="0"/>
              <a:t> return it as the solution.</a:t>
            </a:r>
          </a:p>
          <a:p>
            <a:pPr marL="800100" lvl="1" indent="-457200">
              <a:buFont typeface="+mj-lt"/>
              <a:buAutoNum type="alphaLcParenR"/>
            </a:pPr>
            <a:r>
              <a:rPr lang="en-US" sz="2400" dirty="0"/>
              <a:t>Else </a:t>
            </a:r>
            <a:r>
              <a:rPr lang="en-US" sz="2400" b="1" dirty="0">
                <a:solidFill>
                  <a:srgbClr val="FF0000"/>
                </a:solidFill>
              </a:rPr>
              <a:t>expand</a:t>
            </a:r>
            <a:r>
              <a:rPr lang="en-US" sz="2400" dirty="0"/>
              <a:t> the node (i.e., apply all possible actions to the transition model) and add its children nodes representing the newly reached states to the frontier.</a:t>
            </a: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1506" name="Rectangle 2"/>
          <p:cNvSpPr>
            <a:spLocks noGrp="1" noChangeArrowheads="1"/>
          </p:cNvSpPr>
          <p:nvPr>
            <p:ph type="title"/>
          </p:nvPr>
        </p:nvSpPr>
        <p:spPr/>
        <p:txBody>
          <a:bodyPr/>
          <a:lstStyle/>
          <a:p>
            <a:r>
              <a:rPr lang="en-US" dirty="0"/>
              <a:t>Tree Search Example</a:t>
            </a:r>
          </a:p>
        </p:txBody>
      </p:sp>
      <p:pic>
        <p:nvPicPr>
          <p:cNvPr id="21508" name="Picture 4" descr="search-map1c"/>
          <p:cNvPicPr>
            <a:picLocks noChangeArrowheads="1"/>
          </p:cNvPicPr>
          <p:nvPr/>
        </p:nvPicPr>
        <p:blipFill>
          <a:blip r:embed="rId3" cstate="print">
            <a:extLst>
              <a:ext uri="{BEBA8EAE-BF5A-486C-A8C5-ECC9F3942E4B}">
                <a14:imgProps xmlns:a14="http://schemas.microsoft.com/office/drawing/2010/main">
                  <a14:imgLayer r:embed="rId4">
                    <a14:imgEffect>
                      <a14:sharpenSoften amount="50000"/>
                    </a14:imgEffect>
                  </a14:imgLayer>
                </a14:imgProps>
              </a:ext>
            </a:extLst>
          </a:blip>
          <a:srcRect/>
          <a:stretch>
            <a:fillRect/>
          </a:stretch>
        </p:blipFill>
        <p:spPr bwMode="auto">
          <a:xfrm>
            <a:off x="1014984" y="1676400"/>
            <a:ext cx="6986016" cy="1728216"/>
          </a:xfrm>
          <a:prstGeom prst="rect">
            <a:avLst/>
          </a:prstGeom>
          <a:noFill/>
        </p:spPr>
      </p:pic>
      <p:pic>
        <p:nvPicPr>
          <p:cNvPr id="7" name="Picture 4" descr="romania-distances"/>
          <p:cNvPicPr>
            <a:picLocks noChangeAspect="1" noChangeArrowheads="1"/>
          </p:cNvPicPr>
          <p:nvPr/>
        </p:nvPicPr>
        <p:blipFill>
          <a:blip r:embed="rId5" cstate="print"/>
          <a:srcRect/>
          <a:stretch>
            <a:fillRect/>
          </a:stretch>
        </p:blipFill>
        <p:spPr>
          <a:xfrm>
            <a:off x="1905000" y="3456434"/>
            <a:ext cx="5279943" cy="3172966"/>
          </a:xfrm>
          <a:prstGeom prst="rect">
            <a:avLst/>
          </a:prstGeom>
          <a:noFill/>
          <a:ln/>
        </p:spPr>
      </p:pic>
      <p:sp>
        <p:nvSpPr>
          <p:cNvPr id="5" name="Rectangle: Rounded Corners 4">
            <a:extLst>
              <a:ext uri="{FF2B5EF4-FFF2-40B4-BE49-F238E27FC236}">
                <a16:creationId xmlns:a16="http://schemas.microsoft.com/office/drawing/2014/main" id="{9D048B3D-62C5-4B6B-A1E6-E58D13AAF595}"/>
              </a:ext>
            </a:extLst>
          </p:cNvPr>
          <p:cNvSpPr/>
          <p:nvPr/>
        </p:nvSpPr>
        <p:spPr>
          <a:xfrm>
            <a:off x="1790700" y="1475807"/>
            <a:ext cx="5562600" cy="533400"/>
          </a:xfrm>
          <a:prstGeom prst="roundRect">
            <a:avLst/>
          </a:prstGeom>
          <a:noFill/>
          <a:ln w="9525" cap="flat" cmpd="sng" algn="ctr">
            <a:solidFill>
              <a:srgbClr val="FF0000"/>
            </a:solidFill>
            <a:prstDash val="sysDash"/>
            <a:round/>
            <a:headEnd type="none" w="med" len="med"/>
            <a:tailEnd type="none" w="med" len="med"/>
          </a:ln>
        </p:spPr>
        <p:style>
          <a:lnRef idx="0">
            <a:scrgbClr r="0" g="0" b="0"/>
          </a:lnRef>
          <a:fillRef idx="0">
            <a:scrgbClr r="0" g="0" b="0"/>
          </a:fillRef>
          <a:effectRef idx="0">
            <a:scrgbClr r="0" g="0" b="0"/>
          </a:effectRef>
          <a:fontRef idx="minor">
            <a:schemeClr val="accent2"/>
          </a:fontRef>
        </p:style>
        <p:txBody>
          <a:bodyPr rtlCol="0" anchor="ctr"/>
          <a:lstStyle/>
          <a:p>
            <a:pPr algn="ctr"/>
            <a:endParaRPr lang="en-US"/>
          </a:p>
        </p:txBody>
      </p:sp>
      <p:sp>
        <p:nvSpPr>
          <p:cNvPr id="6" name="TextBox 5">
            <a:extLst>
              <a:ext uri="{FF2B5EF4-FFF2-40B4-BE49-F238E27FC236}">
                <a16:creationId xmlns:a16="http://schemas.microsoft.com/office/drawing/2014/main" id="{04E0B44B-579F-4FA8-BB7E-E434706A7F0B}"/>
              </a:ext>
            </a:extLst>
          </p:cNvPr>
          <p:cNvSpPr txBox="1"/>
          <p:nvPr/>
        </p:nvSpPr>
        <p:spPr>
          <a:xfrm>
            <a:off x="7695607" y="1506023"/>
            <a:ext cx="933845" cy="369332"/>
          </a:xfrm>
          <a:prstGeom prst="rect">
            <a:avLst/>
          </a:prstGeom>
          <a:noFill/>
        </p:spPr>
        <p:txBody>
          <a:bodyPr wrap="none" rtlCol="0">
            <a:spAutoFit/>
          </a:bodyPr>
          <a:lstStyle/>
          <a:p>
            <a:r>
              <a:rPr lang="en-US" dirty="0">
                <a:latin typeface="+mn-lt"/>
              </a:rPr>
              <a:t>Frontier</a:t>
            </a:r>
          </a:p>
        </p:txBody>
      </p:sp>
      <p:cxnSp>
        <p:nvCxnSpPr>
          <p:cNvPr id="3" name="Straight Arrow Connector 2">
            <a:extLst>
              <a:ext uri="{FF2B5EF4-FFF2-40B4-BE49-F238E27FC236}">
                <a16:creationId xmlns:a16="http://schemas.microsoft.com/office/drawing/2014/main" id="{FE462B81-3A2F-470B-914E-B45A0396CA0D}"/>
              </a:ext>
            </a:extLst>
          </p:cNvPr>
          <p:cNvCxnSpPr/>
          <p:nvPr/>
        </p:nvCxnSpPr>
        <p:spPr>
          <a:xfrm>
            <a:off x="2438400" y="4419600"/>
            <a:ext cx="2667000" cy="1371600"/>
          </a:xfrm>
          <a:prstGeom prst="straightConnector1">
            <a:avLst/>
          </a:prstGeom>
          <a:ln w="57150">
            <a:tailEnd type="triangle"/>
          </a:ln>
        </p:spPr>
        <p:style>
          <a:lnRef idx="3">
            <a:schemeClr val="accent2"/>
          </a:lnRef>
          <a:fillRef idx="0">
            <a:schemeClr val="accent2"/>
          </a:fillRef>
          <a:effectRef idx="2">
            <a:schemeClr val="accent2"/>
          </a:effectRef>
          <a:fontRef idx="minor">
            <a:schemeClr val="tx1"/>
          </a:fontRef>
        </p:style>
      </p:cxnSp>
      <p:sp>
        <p:nvSpPr>
          <p:cNvPr id="4" name="TextBox 3">
            <a:extLst>
              <a:ext uri="{FF2B5EF4-FFF2-40B4-BE49-F238E27FC236}">
                <a16:creationId xmlns:a16="http://schemas.microsoft.com/office/drawing/2014/main" id="{F2BA7F18-57E2-6DDF-35C6-35C2618D0695}"/>
              </a:ext>
            </a:extLst>
          </p:cNvPr>
          <p:cNvSpPr txBox="1"/>
          <p:nvPr/>
        </p:nvSpPr>
        <p:spPr>
          <a:xfrm>
            <a:off x="5638800" y="3429000"/>
            <a:ext cx="1755802" cy="369332"/>
          </a:xfrm>
          <a:prstGeom prst="rect">
            <a:avLst/>
          </a:prstGeom>
          <a:noFill/>
        </p:spPr>
        <p:txBody>
          <a:bodyPr wrap="none" rtlCol="0">
            <a:spAutoFit/>
          </a:bodyPr>
          <a:lstStyle/>
          <a:p>
            <a:r>
              <a:rPr lang="en-US" dirty="0"/>
              <a:t>Transition model</a:t>
            </a:r>
          </a:p>
        </p:txBody>
      </p:sp>
      <p:sp>
        <p:nvSpPr>
          <p:cNvPr id="8" name="Rectangle 7">
            <a:extLst>
              <a:ext uri="{FF2B5EF4-FFF2-40B4-BE49-F238E27FC236}">
                <a16:creationId xmlns:a16="http://schemas.microsoft.com/office/drawing/2014/main" id="{B78437C2-E630-573A-B2D1-DC4097F7BFA3}"/>
              </a:ext>
            </a:extLst>
          </p:cNvPr>
          <p:cNvSpPr/>
          <p:nvPr/>
        </p:nvSpPr>
        <p:spPr>
          <a:xfrm>
            <a:off x="1600200" y="3320481"/>
            <a:ext cx="5943600" cy="3461319"/>
          </a:xfrm>
          <a:prstGeom prst="rect">
            <a:avLst/>
          </a:prstGeom>
          <a:noFill/>
          <a:ln w="9525" cap="flat" cmpd="sng" algn="ctr">
            <a:solidFill>
              <a:schemeClr val="accent2"/>
            </a:solidFill>
            <a:prstDash val="solid"/>
            <a:round/>
            <a:headEnd type="none" w="med" len="med"/>
            <a:tailEnd type="none" w="med" len="med"/>
          </a:ln>
        </p:spPr>
        <p:style>
          <a:lnRef idx="0">
            <a:scrgbClr r="0" g="0" b="0"/>
          </a:lnRef>
          <a:fillRef idx="0">
            <a:scrgbClr r="0" g="0" b="0"/>
          </a:fillRef>
          <a:effectRef idx="0">
            <a:scrgbClr r="0" g="0" b="0"/>
          </a:effectRef>
          <a:fontRef idx="minor">
            <a:schemeClr val="accent2"/>
          </a:fontRef>
        </p:style>
        <p:txBody>
          <a:bodyPr rtlCol="0" anchor="ctr"/>
          <a:lstStyle/>
          <a:p>
            <a:pPr algn="ctr"/>
            <a:endParaRPr lang="en-US"/>
          </a:p>
        </p:txBody>
      </p:sp>
      <p:sp>
        <p:nvSpPr>
          <p:cNvPr id="9" name="Oval 8">
            <a:extLst>
              <a:ext uri="{FF2B5EF4-FFF2-40B4-BE49-F238E27FC236}">
                <a16:creationId xmlns:a16="http://schemas.microsoft.com/office/drawing/2014/main" id="{D1CE3C75-A732-7D51-ADB4-E3BBD0ACA798}"/>
              </a:ext>
            </a:extLst>
          </p:cNvPr>
          <p:cNvSpPr/>
          <p:nvPr/>
        </p:nvSpPr>
        <p:spPr>
          <a:xfrm>
            <a:off x="2133600" y="4203191"/>
            <a:ext cx="304800" cy="329182"/>
          </a:xfrm>
          <a:prstGeom prst="ellipse">
            <a:avLst/>
          </a:prstGeom>
          <a:noFill/>
          <a:ln w="28575" cap="flat" cmpd="sng" algn="ctr">
            <a:solidFill>
              <a:schemeClr val="bg2">
                <a:lumMod val="75000"/>
              </a:schemeClr>
            </a:solidFill>
            <a:prstDash val="solid"/>
            <a:round/>
            <a:headEnd type="none" w="med" len="med"/>
            <a:tailEnd type="none" w="med" len="med"/>
          </a:ln>
        </p:spPr>
        <p:style>
          <a:lnRef idx="0">
            <a:scrgbClr r="0" g="0" b="0"/>
          </a:lnRef>
          <a:fillRef idx="0">
            <a:scrgbClr r="0" g="0" b="0"/>
          </a:fillRef>
          <a:effectRef idx="0">
            <a:scrgbClr r="0" g="0" b="0"/>
          </a:effectRef>
          <a:fontRef idx="minor">
            <a:schemeClr val="accent2"/>
          </a:fontRef>
        </p:style>
        <p:txBody>
          <a:bodyPr rtlCol="0" anchor="ctr"/>
          <a:lstStyle/>
          <a:p>
            <a:pPr algn="ctr"/>
            <a:endParaRPr lang="en-US"/>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p:bld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5778" name="Rectangle 2"/>
          <p:cNvSpPr>
            <a:spLocks noGrp="1" noChangeArrowheads="1"/>
          </p:cNvSpPr>
          <p:nvPr>
            <p:ph type="title"/>
          </p:nvPr>
        </p:nvSpPr>
        <p:spPr/>
        <p:txBody>
          <a:bodyPr/>
          <a:lstStyle/>
          <a:p>
            <a:r>
              <a:rPr lang="en-US" dirty="0"/>
              <a:t>Tree Search Example</a:t>
            </a:r>
          </a:p>
        </p:txBody>
      </p:sp>
      <p:pic>
        <p:nvPicPr>
          <p:cNvPr id="75780" name="Picture 4" descr="search-map2c"/>
          <p:cNvPicPr>
            <a:picLocks noGrp="1" noChangeAspect="1" noChangeArrowheads="1"/>
          </p:cNvPicPr>
          <p:nvPr>
            <p:ph idx="1"/>
          </p:nvPr>
        </p:nvPicPr>
        <p:blipFill>
          <a:blip r:embed="rId3" cstate="print">
            <a:extLst>
              <a:ext uri="{BEBA8EAE-BF5A-486C-A8C5-ECC9F3942E4B}">
                <a14:imgProps xmlns:a14="http://schemas.microsoft.com/office/drawing/2010/main">
                  <a14:imgLayer r:embed="rId4">
                    <a14:imgEffect>
                      <a14:sharpenSoften amount="50000"/>
                    </a14:imgEffect>
                  </a14:imgLayer>
                </a14:imgProps>
              </a:ext>
            </a:extLst>
          </a:blip>
          <a:srcRect/>
          <a:stretch>
            <a:fillRect/>
          </a:stretch>
        </p:blipFill>
        <p:spPr>
          <a:xfrm>
            <a:off x="1014413" y="1671638"/>
            <a:ext cx="6986587" cy="1724025"/>
          </a:xfrm>
          <a:noFill/>
          <a:ln/>
        </p:spPr>
      </p:pic>
      <p:pic>
        <p:nvPicPr>
          <p:cNvPr id="7" name="Picture 4" descr="romania-distances"/>
          <p:cNvPicPr>
            <a:picLocks noChangeAspect="1" noChangeArrowheads="1"/>
          </p:cNvPicPr>
          <p:nvPr/>
        </p:nvPicPr>
        <p:blipFill>
          <a:blip r:embed="rId5" cstate="print"/>
          <a:srcRect/>
          <a:stretch>
            <a:fillRect/>
          </a:stretch>
        </p:blipFill>
        <p:spPr>
          <a:xfrm>
            <a:off x="1981200" y="3457574"/>
            <a:ext cx="5278046" cy="3171826"/>
          </a:xfrm>
          <a:prstGeom prst="rect">
            <a:avLst/>
          </a:prstGeom>
          <a:noFill/>
          <a:ln/>
        </p:spPr>
      </p:pic>
      <p:sp>
        <p:nvSpPr>
          <p:cNvPr id="2" name="TextBox 1">
            <a:extLst>
              <a:ext uri="{FF2B5EF4-FFF2-40B4-BE49-F238E27FC236}">
                <a16:creationId xmlns:a16="http://schemas.microsoft.com/office/drawing/2014/main" id="{D4DE90C8-02CD-4486-BFCA-183F237EC384}"/>
              </a:ext>
            </a:extLst>
          </p:cNvPr>
          <p:cNvSpPr txBox="1"/>
          <p:nvPr/>
        </p:nvSpPr>
        <p:spPr>
          <a:xfrm>
            <a:off x="5715000" y="1582223"/>
            <a:ext cx="1593770" cy="369332"/>
          </a:xfrm>
          <a:prstGeom prst="rect">
            <a:avLst/>
          </a:prstGeom>
          <a:noFill/>
        </p:spPr>
        <p:txBody>
          <a:bodyPr wrap="none" rtlCol="0">
            <a:spAutoFit/>
          </a:bodyPr>
          <a:lstStyle/>
          <a:p>
            <a:r>
              <a:rPr lang="en-US" dirty="0"/>
              <a:t>1. Expand Arad</a:t>
            </a:r>
          </a:p>
        </p:txBody>
      </p:sp>
      <p:sp>
        <p:nvSpPr>
          <p:cNvPr id="3" name="Rectangle: Rounded Corners 2">
            <a:extLst>
              <a:ext uri="{FF2B5EF4-FFF2-40B4-BE49-F238E27FC236}">
                <a16:creationId xmlns:a16="http://schemas.microsoft.com/office/drawing/2014/main" id="{1255725C-0C1D-4539-BAF0-B10FD4466656}"/>
              </a:ext>
            </a:extLst>
          </p:cNvPr>
          <p:cNvSpPr/>
          <p:nvPr/>
        </p:nvSpPr>
        <p:spPr>
          <a:xfrm>
            <a:off x="2133600" y="2057400"/>
            <a:ext cx="5562600" cy="533400"/>
          </a:xfrm>
          <a:prstGeom prst="roundRect">
            <a:avLst/>
          </a:prstGeom>
          <a:noFill/>
          <a:ln w="9525" cap="flat" cmpd="sng" algn="ctr">
            <a:solidFill>
              <a:srgbClr val="FF0000"/>
            </a:solidFill>
            <a:prstDash val="sysDash"/>
            <a:round/>
            <a:headEnd type="none" w="med" len="med"/>
            <a:tailEnd type="none" w="med" len="med"/>
          </a:ln>
        </p:spPr>
        <p:style>
          <a:lnRef idx="0">
            <a:scrgbClr r="0" g="0" b="0"/>
          </a:lnRef>
          <a:fillRef idx="0">
            <a:scrgbClr r="0" g="0" b="0"/>
          </a:fillRef>
          <a:effectRef idx="0">
            <a:scrgbClr r="0" g="0" b="0"/>
          </a:effectRef>
          <a:fontRef idx="minor">
            <a:schemeClr val="accent2"/>
          </a:fontRef>
        </p:style>
        <p:txBody>
          <a:bodyPr rtlCol="0" anchor="ctr"/>
          <a:lstStyle/>
          <a:p>
            <a:pPr algn="ctr"/>
            <a:endParaRPr lang="en-US"/>
          </a:p>
        </p:txBody>
      </p:sp>
      <p:sp>
        <p:nvSpPr>
          <p:cNvPr id="8" name="TextBox 7">
            <a:extLst>
              <a:ext uri="{FF2B5EF4-FFF2-40B4-BE49-F238E27FC236}">
                <a16:creationId xmlns:a16="http://schemas.microsoft.com/office/drawing/2014/main" id="{F5D70510-3A84-417A-915A-E8440AEA050B}"/>
              </a:ext>
            </a:extLst>
          </p:cNvPr>
          <p:cNvSpPr txBox="1"/>
          <p:nvPr/>
        </p:nvSpPr>
        <p:spPr>
          <a:xfrm>
            <a:off x="7696200" y="2107095"/>
            <a:ext cx="933845" cy="369332"/>
          </a:xfrm>
          <a:prstGeom prst="rect">
            <a:avLst/>
          </a:prstGeom>
          <a:noFill/>
        </p:spPr>
        <p:txBody>
          <a:bodyPr wrap="none" rtlCol="0">
            <a:spAutoFit/>
          </a:bodyPr>
          <a:lstStyle/>
          <a:p>
            <a:r>
              <a:rPr lang="en-US" dirty="0">
                <a:latin typeface="+mn-lt"/>
              </a:rPr>
              <a:t>Frontier</a:t>
            </a:r>
          </a:p>
        </p:txBody>
      </p:sp>
      <p:sp>
        <p:nvSpPr>
          <p:cNvPr id="9" name="Oval 8">
            <a:extLst>
              <a:ext uri="{FF2B5EF4-FFF2-40B4-BE49-F238E27FC236}">
                <a16:creationId xmlns:a16="http://schemas.microsoft.com/office/drawing/2014/main" id="{3E384DE9-A2E5-45D2-A9F0-4EF888BB8AEE}"/>
              </a:ext>
            </a:extLst>
          </p:cNvPr>
          <p:cNvSpPr/>
          <p:nvPr/>
        </p:nvSpPr>
        <p:spPr>
          <a:xfrm>
            <a:off x="3352800" y="4537584"/>
            <a:ext cx="304800" cy="329182"/>
          </a:xfrm>
          <a:prstGeom prst="ellipse">
            <a:avLst/>
          </a:prstGeom>
          <a:noFill/>
          <a:ln w="28575" cap="flat" cmpd="sng" algn="ctr">
            <a:solidFill>
              <a:srgbClr val="FF0000"/>
            </a:solidFill>
            <a:prstDash val="solid"/>
            <a:round/>
            <a:headEnd type="none" w="med" len="med"/>
            <a:tailEnd type="none" w="med" len="med"/>
          </a:ln>
        </p:spPr>
        <p:style>
          <a:lnRef idx="0">
            <a:scrgbClr r="0" g="0" b="0"/>
          </a:lnRef>
          <a:fillRef idx="0">
            <a:scrgbClr r="0" g="0" b="0"/>
          </a:fillRef>
          <a:effectRef idx="0">
            <a:scrgbClr r="0" g="0" b="0"/>
          </a:effectRef>
          <a:fontRef idx="minor">
            <a:schemeClr val="accent2"/>
          </a:fontRef>
        </p:style>
        <p:txBody>
          <a:bodyPr rtlCol="0" anchor="ctr"/>
          <a:lstStyle/>
          <a:p>
            <a:pPr algn="ctr"/>
            <a:endParaRPr lang="en-US"/>
          </a:p>
        </p:txBody>
      </p:sp>
      <p:sp>
        <p:nvSpPr>
          <p:cNvPr id="10" name="Oval 9">
            <a:extLst>
              <a:ext uri="{FF2B5EF4-FFF2-40B4-BE49-F238E27FC236}">
                <a16:creationId xmlns:a16="http://schemas.microsoft.com/office/drawing/2014/main" id="{ACD1270E-1E26-4E08-8807-C52D91B1AF13}"/>
              </a:ext>
            </a:extLst>
          </p:cNvPr>
          <p:cNvSpPr/>
          <p:nvPr/>
        </p:nvSpPr>
        <p:spPr>
          <a:xfrm>
            <a:off x="2209800" y="5021771"/>
            <a:ext cx="304800" cy="329182"/>
          </a:xfrm>
          <a:prstGeom prst="ellipse">
            <a:avLst/>
          </a:prstGeom>
          <a:noFill/>
          <a:ln w="28575" cap="flat" cmpd="sng" algn="ctr">
            <a:solidFill>
              <a:srgbClr val="FF0000"/>
            </a:solidFill>
            <a:prstDash val="solid"/>
            <a:round/>
            <a:headEnd type="none" w="med" len="med"/>
            <a:tailEnd type="none" w="med" len="med"/>
          </a:ln>
        </p:spPr>
        <p:style>
          <a:lnRef idx="0">
            <a:scrgbClr r="0" g="0" b="0"/>
          </a:lnRef>
          <a:fillRef idx="0">
            <a:scrgbClr r="0" g="0" b="0"/>
          </a:fillRef>
          <a:effectRef idx="0">
            <a:scrgbClr r="0" g="0" b="0"/>
          </a:effectRef>
          <a:fontRef idx="minor">
            <a:schemeClr val="accent2"/>
          </a:fontRef>
        </p:style>
        <p:txBody>
          <a:bodyPr rtlCol="0" anchor="ctr"/>
          <a:lstStyle/>
          <a:p>
            <a:pPr algn="ctr"/>
            <a:endParaRPr lang="en-US"/>
          </a:p>
        </p:txBody>
      </p:sp>
      <p:sp>
        <p:nvSpPr>
          <p:cNvPr id="11" name="Oval 10">
            <a:extLst>
              <a:ext uri="{FF2B5EF4-FFF2-40B4-BE49-F238E27FC236}">
                <a16:creationId xmlns:a16="http://schemas.microsoft.com/office/drawing/2014/main" id="{82DC03A8-BAE9-488F-84AD-2CA7FE9B150F}"/>
              </a:ext>
            </a:extLst>
          </p:cNvPr>
          <p:cNvSpPr/>
          <p:nvPr/>
        </p:nvSpPr>
        <p:spPr>
          <a:xfrm>
            <a:off x="2369634" y="3762374"/>
            <a:ext cx="304800" cy="329182"/>
          </a:xfrm>
          <a:prstGeom prst="ellipse">
            <a:avLst/>
          </a:prstGeom>
          <a:noFill/>
          <a:ln w="28575" cap="flat" cmpd="sng" algn="ctr">
            <a:solidFill>
              <a:srgbClr val="FF0000"/>
            </a:solidFill>
            <a:prstDash val="solid"/>
            <a:round/>
            <a:headEnd type="none" w="med" len="med"/>
            <a:tailEnd type="none" w="med" len="med"/>
          </a:ln>
        </p:spPr>
        <p:style>
          <a:lnRef idx="0">
            <a:scrgbClr r="0" g="0" b="0"/>
          </a:lnRef>
          <a:fillRef idx="0">
            <a:scrgbClr r="0" g="0" b="0"/>
          </a:fillRef>
          <a:effectRef idx="0">
            <a:scrgbClr r="0" g="0" b="0"/>
          </a:effectRef>
          <a:fontRef idx="minor">
            <a:schemeClr val="accent2"/>
          </a:fontRef>
        </p:style>
        <p:txBody>
          <a:bodyPr rtlCol="0" anchor="ctr"/>
          <a:lstStyle/>
          <a:p>
            <a:pPr algn="ctr"/>
            <a:endParaRPr lang="en-US"/>
          </a:p>
        </p:txBody>
      </p:sp>
      <p:sp>
        <p:nvSpPr>
          <p:cNvPr id="12" name="Oval 11">
            <a:extLst>
              <a:ext uri="{FF2B5EF4-FFF2-40B4-BE49-F238E27FC236}">
                <a16:creationId xmlns:a16="http://schemas.microsoft.com/office/drawing/2014/main" id="{CCFFAA73-B0A7-4BD5-9939-0F87BE95767F}"/>
              </a:ext>
            </a:extLst>
          </p:cNvPr>
          <p:cNvSpPr/>
          <p:nvPr/>
        </p:nvSpPr>
        <p:spPr>
          <a:xfrm>
            <a:off x="2209800" y="4170812"/>
            <a:ext cx="304800" cy="329182"/>
          </a:xfrm>
          <a:prstGeom prst="ellipse">
            <a:avLst/>
          </a:prstGeom>
          <a:noFill/>
          <a:ln w="28575" cap="flat" cmpd="sng" algn="ctr">
            <a:solidFill>
              <a:schemeClr val="bg2">
                <a:lumMod val="75000"/>
              </a:schemeClr>
            </a:solidFill>
            <a:prstDash val="solid"/>
            <a:round/>
            <a:headEnd type="none" w="med" len="med"/>
            <a:tailEnd type="none" w="med" len="med"/>
          </a:ln>
        </p:spPr>
        <p:style>
          <a:lnRef idx="0">
            <a:scrgbClr r="0" g="0" b="0"/>
          </a:lnRef>
          <a:fillRef idx="0">
            <a:scrgbClr r="0" g="0" b="0"/>
          </a:fillRef>
          <a:effectRef idx="0">
            <a:scrgbClr r="0" g="0" b="0"/>
          </a:effectRef>
          <a:fontRef idx="minor">
            <a:schemeClr val="accent2"/>
          </a:fontRef>
        </p:style>
        <p:txBody>
          <a:bodyPr rtlCol="0" anchor="ctr"/>
          <a:lstStyle/>
          <a:p>
            <a:pPr algn="ctr"/>
            <a:endParaRPr lang="en-US"/>
          </a:p>
        </p:txBody>
      </p:sp>
      <p:sp>
        <p:nvSpPr>
          <p:cNvPr id="4" name="TextBox 3">
            <a:extLst>
              <a:ext uri="{FF2B5EF4-FFF2-40B4-BE49-F238E27FC236}">
                <a16:creationId xmlns:a16="http://schemas.microsoft.com/office/drawing/2014/main" id="{48D03A57-A239-621F-0310-C0846B6E8CAC}"/>
              </a:ext>
            </a:extLst>
          </p:cNvPr>
          <p:cNvSpPr txBox="1"/>
          <p:nvPr/>
        </p:nvSpPr>
        <p:spPr>
          <a:xfrm>
            <a:off x="5715000" y="3429000"/>
            <a:ext cx="1755802" cy="369332"/>
          </a:xfrm>
          <a:prstGeom prst="rect">
            <a:avLst/>
          </a:prstGeom>
          <a:noFill/>
        </p:spPr>
        <p:txBody>
          <a:bodyPr wrap="none" rtlCol="0">
            <a:spAutoFit/>
          </a:bodyPr>
          <a:lstStyle/>
          <a:p>
            <a:r>
              <a:rPr lang="en-US" dirty="0"/>
              <a:t>Transition model</a:t>
            </a:r>
          </a:p>
        </p:txBody>
      </p:sp>
      <p:sp>
        <p:nvSpPr>
          <p:cNvPr id="5" name="Rectangle 4">
            <a:extLst>
              <a:ext uri="{FF2B5EF4-FFF2-40B4-BE49-F238E27FC236}">
                <a16:creationId xmlns:a16="http://schemas.microsoft.com/office/drawing/2014/main" id="{A6EBE704-004A-F4D8-E6F6-A8BAB3DA0F71}"/>
              </a:ext>
            </a:extLst>
          </p:cNvPr>
          <p:cNvSpPr/>
          <p:nvPr/>
        </p:nvSpPr>
        <p:spPr>
          <a:xfrm>
            <a:off x="1676400" y="3320481"/>
            <a:ext cx="5943600" cy="3461319"/>
          </a:xfrm>
          <a:prstGeom prst="rect">
            <a:avLst/>
          </a:prstGeom>
          <a:noFill/>
          <a:ln w="9525" cap="flat" cmpd="sng" algn="ctr">
            <a:solidFill>
              <a:schemeClr val="accent2"/>
            </a:solidFill>
            <a:prstDash val="solid"/>
            <a:round/>
            <a:headEnd type="none" w="med" len="med"/>
            <a:tailEnd type="none" w="med" len="med"/>
          </a:ln>
        </p:spPr>
        <p:style>
          <a:lnRef idx="0">
            <a:scrgbClr r="0" g="0" b="0"/>
          </a:lnRef>
          <a:fillRef idx="0">
            <a:scrgbClr r="0" g="0" b="0"/>
          </a:fillRef>
          <a:effectRef idx="0">
            <a:scrgbClr r="0" g="0" b="0"/>
          </a:effectRef>
          <a:fontRef idx="minor">
            <a:schemeClr val="accent2"/>
          </a:fontRef>
        </p:style>
        <p:txBody>
          <a:bodyPr rtlCol="0" anchor="ctr"/>
          <a:lstStyle/>
          <a:p>
            <a:pPr algn="ctr"/>
            <a:endParaRPr lang="en-US"/>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3"/>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11"/>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10"/>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8" grpId="0"/>
      <p:bldP spid="9" grpId="0" animBg="1"/>
      <p:bldP spid="10" grpId="0" animBg="1"/>
      <p:bldP spid="11" grpId="0" animBg="1"/>
    </p:bld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6802" name="Rectangle 2"/>
          <p:cNvSpPr>
            <a:spLocks noGrp="1" noChangeArrowheads="1"/>
          </p:cNvSpPr>
          <p:nvPr>
            <p:ph type="title"/>
          </p:nvPr>
        </p:nvSpPr>
        <p:spPr/>
        <p:txBody>
          <a:bodyPr/>
          <a:lstStyle/>
          <a:p>
            <a:r>
              <a:rPr lang="en-US" dirty="0"/>
              <a:t>Tree Search Example</a:t>
            </a:r>
          </a:p>
        </p:txBody>
      </p:sp>
      <p:pic>
        <p:nvPicPr>
          <p:cNvPr id="76804" name="Picture 4" descr="search-map3c"/>
          <p:cNvPicPr>
            <a:picLocks noGrp="1" noChangeAspect="1" noChangeArrowheads="1"/>
          </p:cNvPicPr>
          <p:nvPr>
            <p:ph idx="1"/>
          </p:nvPr>
        </p:nvPicPr>
        <p:blipFill>
          <a:blip r:embed="rId3" cstate="print">
            <a:extLst>
              <a:ext uri="{BEBA8EAE-BF5A-486C-A8C5-ECC9F3942E4B}">
                <a14:imgProps xmlns:a14="http://schemas.microsoft.com/office/drawing/2010/main">
                  <a14:imgLayer r:embed="rId4">
                    <a14:imgEffect>
                      <a14:sharpenSoften amount="50000"/>
                    </a14:imgEffect>
                  </a14:imgLayer>
                </a14:imgProps>
              </a:ext>
            </a:extLst>
          </a:blip>
          <a:srcRect/>
          <a:stretch>
            <a:fillRect/>
          </a:stretch>
        </p:blipFill>
        <p:spPr>
          <a:xfrm>
            <a:off x="1014413" y="1671638"/>
            <a:ext cx="6986587" cy="1724025"/>
          </a:xfrm>
          <a:noFill/>
          <a:ln/>
        </p:spPr>
      </p:pic>
      <p:sp>
        <p:nvSpPr>
          <p:cNvPr id="8" name="Freeform 7"/>
          <p:cNvSpPr/>
          <p:nvPr/>
        </p:nvSpPr>
        <p:spPr>
          <a:xfrm>
            <a:off x="720456" y="1976894"/>
            <a:ext cx="7248472" cy="1426919"/>
          </a:xfrm>
          <a:custGeom>
            <a:avLst/>
            <a:gdLst>
              <a:gd name="connsiteX0" fmla="*/ 643180 w 7798231"/>
              <a:gd name="connsiteY0" fmla="*/ 700006 h 1560163"/>
              <a:gd name="connsiteX1" fmla="*/ 2859437 w 7798231"/>
              <a:gd name="connsiteY1" fmla="*/ 731003 h 1560163"/>
              <a:gd name="connsiteX2" fmla="*/ 4037309 w 7798231"/>
              <a:gd name="connsiteY2" fmla="*/ 591518 h 1560163"/>
              <a:gd name="connsiteX3" fmla="*/ 4688237 w 7798231"/>
              <a:gd name="connsiteY3" fmla="*/ 250556 h 1560163"/>
              <a:gd name="connsiteX4" fmla="*/ 6036590 w 7798231"/>
              <a:gd name="connsiteY4" fmla="*/ 18081 h 1560163"/>
              <a:gd name="connsiteX5" fmla="*/ 7555424 w 7798231"/>
              <a:gd name="connsiteY5" fmla="*/ 142067 h 1560163"/>
              <a:gd name="connsiteX6" fmla="*/ 7493431 w 7798231"/>
              <a:gd name="connsiteY6" fmla="*/ 622515 h 1560163"/>
              <a:gd name="connsiteX7" fmla="*/ 5943600 w 7798231"/>
              <a:gd name="connsiteY7" fmla="*/ 762000 h 1560163"/>
              <a:gd name="connsiteX8" fmla="*/ 4626244 w 7798231"/>
              <a:gd name="connsiteY8" fmla="*/ 560522 h 1560163"/>
              <a:gd name="connsiteX9" fmla="*/ 4130298 w 7798231"/>
              <a:gd name="connsiteY9" fmla="*/ 1056467 h 1560163"/>
              <a:gd name="connsiteX10" fmla="*/ 3665349 w 7798231"/>
              <a:gd name="connsiteY10" fmla="*/ 1521417 h 1560163"/>
              <a:gd name="connsiteX11" fmla="*/ 503695 w 7798231"/>
              <a:gd name="connsiteY11" fmla="*/ 1288942 h 1560163"/>
              <a:gd name="connsiteX12" fmla="*/ 643180 w 7798231"/>
              <a:gd name="connsiteY12" fmla="*/ 700006 h 1560163"/>
              <a:gd name="connsiteX0" fmla="*/ 416517 w 7571568"/>
              <a:gd name="connsiteY0" fmla="*/ 700006 h 1502044"/>
              <a:gd name="connsiteX1" fmla="*/ 2632774 w 7571568"/>
              <a:gd name="connsiteY1" fmla="*/ 731003 h 1502044"/>
              <a:gd name="connsiteX2" fmla="*/ 3810646 w 7571568"/>
              <a:gd name="connsiteY2" fmla="*/ 591518 h 1502044"/>
              <a:gd name="connsiteX3" fmla="*/ 4461574 w 7571568"/>
              <a:gd name="connsiteY3" fmla="*/ 250556 h 1502044"/>
              <a:gd name="connsiteX4" fmla="*/ 5809927 w 7571568"/>
              <a:gd name="connsiteY4" fmla="*/ 18081 h 1502044"/>
              <a:gd name="connsiteX5" fmla="*/ 7328761 w 7571568"/>
              <a:gd name="connsiteY5" fmla="*/ 142067 h 1502044"/>
              <a:gd name="connsiteX6" fmla="*/ 7266768 w 7571568"/>
              <a:gd name="connsiteY6" fmla="*/ 622515 h 1502044"/>
              <a:gd name="connsiteX7" fmla="*/ 5716937 w 7571568"/>
              <a:gd name="connsiteY7" fmla="*/ 762000 h 1502044"/>
              <a:gd name="connsiteX8" fmla="*/ 4399581 w 7571568"/>
              <a:gd name="connsiteY8" fmla="*/ 560522 h 1502044"/>
              <a:gd name="connsiteX9" fmla="*/ 3903635 w 7571568"/>
              <a:gd name="connsiteY9" fmla="*/ 1056467 h 1502044"/>
              <a:gd name="connsiteX10" fmla="*/ 2078710 w 7571568"/>
              <a:gd name="connsiteY10" fmla="*/ 1463298 h 1502044"/>
              <a:gd name="connsiteX11" fmla="*/ 277032 w 7571568"/>
              <a:gd name="connsiteY11" fmla="*/ 1288942 h 1502044"/>
              <a:gd name="connsiteX12" fmla="*/ 416517 w 7571568"/>
              <a:gd name="connsiteY12" fmla="*/ 700006 h 1502044"/>
              <a:gd name="connsiteX0" fmla="*/ 416517 w 7571568"/>
              <a:gd name="connsiteY0" fmla="*/ 700006 h 1502044"/>
              <a:gd name="connsiteX1" fmla="*/ 2632774 w 7571568"/>
              <a:gd name="connsiteY1" fmla="*/ 731003 h 1502044"/>
              <a:gd name="connsiteX2" fmla="*/ 3810646 w 7571568"/>
              <a:gd name="connsiteY2" fmla="*/ 591518 h 1502044"/>
              <a:gd name="connsiteX3" fmla="*/ 4461574 w 7571568"/>
              <a:gd name="connsiteY3" fmla="*/ 250556 h 1502044"/>
              <a:gd name="connsiteX4" fmla="*/ 5809927 w 7571568"/>
              <a:gd name="connsiteY4" fmla="*/ 18081 h 1502044"/>
              <a:gd name="connsiteX5" fmla="*/ 7328761 w 7571568"/>
              <a:gd name="connsiteY5" fmla="*/ 142067 h 1502044"/>
              <a:gd name="connsiteX6" fmla="*/ 7266768 w 7571568"/>
              <a:gd name="connsiteY6" fmla="*/ 622515 h 1502044"/>
              <a:gd name="connsiteX7" fmla="*/ 5716937 w 7571568"/>
              <a:gd name="connsiteY7" fmla="*/ 762000 h 1502044"/>
              <a:gd name="connsiteX8" fmla="*/ 4288509 w 7571568"/>
              <a:gd name="connsiteY8" fmla="*/ 777498 h 1502044"/>
              <a:gd name="connsiteX9" fmla="*/ 3903635 w 7571568"/>
              <a:gd name="connsiteY9" fmla="*/ 1056467 h 1502044"/>
              <a:gd name="connsiteX10" fmla="*/ 2078710 w 7571568"/>
              <a:gd name="connsiteY10" fmla="*/ 1463298 h 1502044"/>
              <a:gd name="connsiteX11" fmla="*/ 277032 w 7571568"/>
              <a:gd name="connsiteY11" fmla="*/ 1288942 h 1502044"/>
              <a:gd name="connsiteX12" fmla="*/ 416517 w 7571568"/>
              <a:gd name="connsiteY12" fmla="*/ 700006 h 1502044"/>
              <a:gd name="connsiteX0" fmla="*/ 416517 w 7571568"/>
              <a:gd name="connsiteY0" fmla="*/ 700006 h 1502044"/>
              <a:gd name="connsiteX1" fmla="*/ 2632774 w 7571568"/>
              <a:gd name="connsiteY1" fmla="*/ 731003 h 1502044"/>
              <a:gd name="connsiteX2" fmla="*/ 3810646 w 7571568"/>
              <a:gd name="connsiteY2" fmla="*/ 591518 h 1502044"/>
              <a:gd name="connsiteX3" fmla="*/ 4461574 w 7571568"/>
              <a:gd name="connsiteY3" fmla="*/ 250556 h 1502044"/>
              <a:gd name="connsiteX4" fmla="*/ 5809927 w 7571568"/>
              <a:gd name="connsiteY4" fmla="*/ 18081 h 1502044"/>
              <a:gd name="connsiteX5" fmla="*/ 7328761 w 7571568"/>
              <a:gd name="connsiteY5" fmla="*/ 142067 h 1502044"/>
              <a:gd name="connsiteX6" fmla="*/ 7266768 w 7571568"/>
              <a:gd name="connsiteY6" fmla="*/ 622515 h 1502044"/>
              <a:gd name="connsiteX7" fmla="*/ 5716937 w 7571568"/>
              <a:gd name="connsiteY7" fmla="*/ 762000 h 1502044"/>
              <a:gd name="connsiteX8" fmla="*/ 4288509 w 7571568"/>
              <a:gd name="connsiteY8" fmla="*/ 777498 h 1502044"/>
              <a:gd name="connsiteX9" fmla="*/ 3903635 w 7571568"/>
              <a:gd name="connsiteY9" fmla="*/ 1056467 h 1502044"/>
              <a:gd name="connsiteX10" fmla="*/ 2078710 w 7571568"/>
              <a:gd name="connsiteY10" fmla="*/ 1463298 h 1502044"/>
              <a:gd name="connsiteX11" fmla="*/ 277032 w 7571568"/>
              <a:gd name="connsiteY11" fmla="*/ 1288942 h 1502044"/>
              <a:gd name="connsiteX12" fmla="*/ 416517 w 7571568"/>
              <a:gd name="connsiteY12" fmla="*/ 700006 h 1502044"/>
              <a:gd name="connsiteX0" fmla="*/ 416517 w 7571568"/>
              <a:gd name="connsiteY0" fmla="*/ 700006 h 1502044"/>
              <a:gd name="connsiteX1" fmla="*/ 2632774 w 7571568"/>
              <a:gd name="connsiteY1" fmla="*/ 731003 h 1502044"/>
              <a:gd name="connsiteX2" fmla="*/ 3810646 w 7571568"/>
              <a:gd name="connsiteY2" fmla="*/ 591518 h 1502044"/>
              <a:gd name="connsiteX3" fmla="*/ 4461574 w 7571568"/>
              <a:gd name="connsiteY3" fmla="*/ 250556 h 1502044"/>
              <a:gd name="connsiteX4" fmla="*/ 5809927 w 7571568"/>
              <a:gd name="connsiteY4" fmla="*/ 18081 h 1502044"/>
              <a:gd name="connsiteX5" fmla="*/ 7328761 w 7571568"/>
              <a:gd name="connsiteY5" fmla="*/ 142067 h 1502044"/>
              <a:gd name="connsiteX6" fmla="*/ 7266768 w 7571568"/>
              <a:gd name="connsiteY6" fmla="*/ 622515 h 1502044"/>
              <a:gd name="connsiteX7" fmla="*/ 5716937 w 7571568"/>
              <a:gd name="connsiteY7" fmla="*/ 762000 h 1502044"/>
              <a:gd name="connsiteX8" fmla="*/ 4288509 w 7571568"/>
              <a:gd name="connsiteY8" fmla="*/ 777498 h 1502044"/>
              <a:gd name="connsiteX9" fmla="*/ 3903635 w 7571568"/>
              <a:gd name="connsiteY9" fmla="*/ 1056467 h 1502044"/>
              <a:gd name="connsiteX10" fmla="*/ 2078710 w 7571568"/>
              <a:gd name="connsiteY10" fmla="*/ 1463298 h 1502044"/>
              <a:gd name="connsiteX11" fmla="*/ 277032 w 7571568"/>
              <a:gd name="connsiteY11" fmla="*/ 1288942 h 1502044"/>
              <a:gd name="connsiteX12" fmla="*/ 416517 w 7571568"/>
              <a:gd name="connsiteY12" fmla="*/ 700006 h 1502044"/>
              <a:gd name="connsiteX0" fmla="*/ 416517 w 7571568"/>
              <a:gd name="connsiteY0" fmla="*/ 700006 h 1502044"/>
              <a:gd name="connsiteX1" fmla="*/ 2632774 w 7571568"/>
              <a:gd name="connsiteY1" fmla="*/ 731003 h 1502044"/>
              <a:gd name="connsiteX2" fmla="*/ 3810646 w 7571568"/>
              <a:gd name="connsiteY2" fmla="*/ 591518 h 1502044"/>
              <a:gd name="connsiteX3" fmla="*/ 4461574 w 7571568"/>
              <a:gd name="connsiteY3" fmla="*/ 250556 h 1502044"/>
              <a:gd name="connsiteX4" fmla="*/ 5809927 w 7571568"/>
              <a:gd name="connsiteY4" fmla="*/ 18081 h 1502044"/>
              <a:gd name="connsiteX5" fmla="*/ 7328761 w 7571568"/>
              <a:gd name="connsiteY5" fmla="*/ 142067 h 1502044"/>
              <a:gd name="connsiteX6" fmla="*/ 7266768 w 7571568"/>
              <a:gd name="connsiteY6" fmla="*/ 622515 h 1502044"/>
              <a:gd name="connsiteX7" fmla="*/ 5716937 w 7571568"/>
              <a:gd name="connsiteY7" fmla="*/ 762000 h 1502044"/>
              <a:gd name="connsiteX8" fmla="*/ 4288509 w 7571568"/>
              <a:gd name="connsiteY8" fmla="*/ 777498 h 1502044"/>
              <a:gd name="connsiteX9" fmla="*/ 3903635 w 7571568"/>
              <a:gd name="connsiteY9" fmla="*/ 1056467 h 1502044"/>
              <a:gd name="connsiteX10" fmla="*/ 2078710 w 7571568"/>
              <a:gd name="connsiteY10" fmla="*/ 1463298 h 1502044"/>
              <a:gd name="connsiteX11" fmla="*/ 277032 w 7571568"/>
              <a:gd name="connsiteY11" fmla="*/ 1288942 h 1502044"/>
              <a:gd name="connsiteX12" fmla="*/ 416517 w 7571568"/>
              <a:gd name="connsiteY12" fmla="*/ 700006 h 1502044"/>
              <a:gd name="connsiteX0" fmla="*/ 416517 w 7571568"/>
              <a:gd name="connsiteY0" fmla="*/ 700006 h 1502044"/>
              <a:gd name="connsiteX1" fmla="*/ 2632774 w 7571568"/>
              <a:gd name="connsiteY1" fmla="*/ 731003 h 1502044"/>
              <a:gd name="connsiteX2" fmla="*/ 3810646 w 7571568"/>
              <a:gd name="connsiteY2" fmla="*/ 591518 h 1502044"/>
              <a:gd name="connsiteX3" fmla="*/ 4461574 w 7571568"/>
              <a:gd name="connsiteY3" fmla="*/ 250556 h 1502044"/>
              <a:gd name="connsiteX4" fmla="*/ 5809927 w 7571568"/>
              <a:gd name="connsiteY4" fmla="*/ 18081 h 1502044"/>
              <a:gd name="connsiteX5" fmla="*/ 7328761 w 7571568"/>
              <a:gd name="connsiteY5" fmla="*/ 142067 h 1502044"/>
              <a:gd name="connsiteX6" fmla="*/ 7266768 w 7571568"/>
              <a:gd name="connsiteY6" fmla="*/ 622515 h 1502044"/>
              <a:gd name="connsiteX7" fmla="*/ 5716937 w 7571568"/>
              <a:gd name="connsiteY7" fmla="*/ 762000 h 1502044"/>
              <a:gd name="connsiteX8" fmla="*/ 3903635 w 7571568"/>
              <a:gd name="connsiteY8" fmla="*/ 1056467 h 1502044"/>
              <a:gd name="connsiteX9" fmla="*/ 2078710 w 7571568"/>
              <a:gd name="connsiteY9" fmla="*/ 1463298 h 1502044"/>
              <a:gd name="connsiteX10" fmla="*/ 277032 w 7571568"/>
              <a:gd name="connsiteY10" fmla="*/ 1288942 h 1502044"/>
              <a:gd name="connsiteX11" fmla="*/ 416517 w 7571568"/>
              <a:gd name="connsiteY11" fmla="*/ 700006 h 1502044"/>
              <a:gd name="connsiteX0" fmla="*/ 416517 w 7571568"/>
              <a:gd name="connsiteY0" fmla="*/ 700006 h 1502044"/>
              <a:gd name="connsiteX1" fmla="*/ 2632774 w 7571568"/>
              <a:gd name="connsiteY1" fmla="*/ 731003 h 1502044"/>
              <a:gd name="connsiteX2" fmla="*/ 3810646 w 7571568"/>
              <a:gd name="connsiteY2" fmla="*/ 591518 h 1502044"/>
              <a:gd name="connsiteX3" fmla="*/ 4461574 w 7571568"/>
              <a:gd name="connsiteY3" fmla="*/ 250556 h 1502044"/>
              <a:gd name="connsiteX4" fmla="*/ 5809927 w 7571568"/>
              <a:gd name="connsiteY4" fmla="*/ 18081 h 1502044"/>
              <a:gd name="connsiteX5" fmla="*/ 7328761 w 7571568"/>
              <a:gd name="connsiteY5" fmla="*/ 142067 h 1502044"/>
              <a:gd name="connsiteX6" fmla="*/ 7266768 w 7571568"/>
              <a:gd name="connsiteY6" fmla="*/ 622515 h 1502044"/>
              <a:gd name="connsiteX7" fmla="*/ 5716937 w 7571568"/>
              <a:gd name="connsiteY7" fmla="*/ 762000 h 1502044"/>
              <a:gd name="connsiteX8" fmla="*/ 3903635 w 7571568"/>
              <a:gd name="connsiteY8" fmla="*/ 1056467 h 1502044"/>
              <a:gd name="connsiteX9" fmla="*/ 2078710 w 7571568"/>
              <a:gd name="connsiteY9" fmla="*/ 1463298 h 1502044"/>
              <a:gd name="connsiteX10" fmla="*/ 277032 w 7571568"/>
              <a:gd name="connsiteY10" fmla="*/ 1288942 h 1502044"/>
              <a:gd name="connsiteX11" fmla="*/ 416517 w 7571568"/>
              <a:gd name="connsiteY11" fmla="*/ 700006 h 1502044"/>
              <a:gd name="connsiteX0" fmla="*/ 416517 w 7571568"/>
              <a:gd name="connsiteY0" fmla="*/ 700006 h 1502044"/>
              <a:gd name="connsiteX1" fmla="*/ 2632774 w 7571568"/>
              <a:gd name="connsiteY1" fmla="*/ 731003 h 1502044"/>
              <a:gd name="connsiteX2" fmla="*/ 3810646 w 7571568"/>
              <a:gd name="connsiteY2" fmla="*/ 591518 h 1502044"/>
              <a:gd name="connsiteX3" fmla="*/ 4461574 w 7571568"/>
              <a:gd name="connsiteY3" fmla="*/ 250556 h 1502044"/>
              <a:gd name="connsiteX4" fmla="*/ 5809927 w 7571568"/>
              <a:gd name="connsiteY4" fmla="*/ 18081 h 1502044"/>
              <a:gd name="connsiteX5" fmla="*/ 7328761 w 7571568"/>
              <a:gd name="connsiteY5" fmla="*/ 142067 h 1502044"/>
              <a:gd name="connsiteX6" fmla="*/ 7266768 w 7571568"/>
              <a:gd name="connsiteY6" fmla="*/ 622515 h 1502044"/>
              <a:gd name="connsiteX7" fmla="*/ 5716937 w 7571568"/>
              <a:gd name="connsiteY7" fmla="*/ 762000 h 1502044"/>
              <a:gd name="connsiteX8" fmla="*/ 3903635 w 7571568"/>
              <a:gd name="connsiteY8" fmla="*/ 1056467 h 1502044"/>
              <a:gd name="connsiteX9" fmla="*/ 2078710 w 7571568"/>
              <a:gd name="connsiteY9" fmla="*/ 1463298 h 1502044"/>
              <a:gd name="connsiteX10" fmla="*/ 277032 w 7571568"/>
              <a:gd name="connsiteY10" fmla="*/ 1288942 h 1502044"/>
              <a:gd name="connsiteX11" fmla="*/ 416517 w 7571568"/>
              <a:gd name="connsiteY11" fmla="*/ 700006 h 1502044"/>
              <a:gd name="connsiteX0" fmla="*/ 416517 w 7571568"/>
              <a:gd name="connsiteY0" fmla="*/ 700006 h 1502044"/>
              <a:gd name="connsiteX1" fmla="*/ 2632774 w 7571568"/>
              <a:gd name="connsiteY1" fmla="*/ 731003 h 1502044"/>
              <a:gd name="connsiteX2" fmla="*/ 3810646 w 7571568"/>
              <a:gd name="connsiteY2" fmla="*/ 591518 h 1502044"/>
              <a:gd name="connsiteX3" fmla="*/ 4461574 w 7571568"/>
              <a:gd name="connsiteY3" fmla="*/ 250556 h 1502044"/>
              <a:gd name="connsiteX4" fmla="*/ 5809927 w 7571568"/>
              <a:gd name="connsiteY4" fmla="*/ 18081 h 1502044"/>
              <a:gd name="connsiteX5" fmla="*/ 7328761 w 7571568"/>
              <a:gd name="connsiteY5" fmla="*/ 142067 h 1502044"/>
              <a:gd name="connsiteX6" fmla="*/ 7266768 w 7571568"/>
              <a:gd name="connsiteY6" fmla="*/ 622515 h 1502044"/>
              <a:gd name="connsiteX7" fmla="*/ 5716937 w 7571568"/>
              <a:gd name="connsiteY7" fmla="*/ 762000 h 1502044"/>
              <a:gd name="connsiteX8" fmla="*/ 3903635 w 7571568"/>
              <a:gd name="connsiteY8" fmla="*/ 1056467 h 1502044"/>
              <a:gd name="connsiteX9" fmla="*/ 2078710 w 7571568"/>
              <a:gd name="connsiteY9" fmla="*/ 1463298 h 1502044"/>
              <a:gd name="connsiteX10" fmla="*/ 277032 w 7571568"/>
              <a:gd name="connsiteY10" fmla="*/ 1288942 h 1502044"/>
              <a:gd name="connsiteX11" fmla="*/ 416517 w 7571568"/>
              <a:gd name="connsiteY11" fmla="*/ 700006 h 1502044"/>
              <a:gd name="connsiteX0" fmla="*/ 416517 w 7571568"/>
              <a:gd name="connsiteY0" fmla="*/ 700006 h 1502044"/>
              <a:gd name="connsiteX1" fmla="*/ 2632774 w 7571568"/>
              <a:gd name="connsiteY1" fmla="*/ 731003 h 1502044"/>
              <a:gd name="connsiteX2" fmla="*/ 3810646 w 7571568"/>
              <a:gd name="connsiteY2" fmla="*/ 591518 h 1502044"/>
              <a:gd name="connsiteX3" fmla="*/ 4461574 w 7571568"/>
              <a:gd name="connsiteY3" fmla="*/ 250556 h 1502044"/>
              <a:gd name="connsiteX4" fmla="*/ 5809927 w 7571568"/>
              <a:gd name="connsiteY4" fmla="*/ 18081 h 1502044"/>
              <a:gd name="connsiteX5" fmla="*/ 7328761 w 7571568"/>
              <a:gd name="connsiteY5" fmla="*/ 142067 h 1502044"/>
              <a:gd name="connsiteX6" fmla="*/ 7266768 w 7571568"/>
              <a:gd name="connsiteY6" fmla="*/ 622515 h 1502044"/>
              <a:gd name="connsiteX7" fmla="*/ 5716937 w 7571568"/>
              <a:gd name="connsiteY7" fmla="*/ 762000 h 1502044"/>
              <a:gd name="connsiteX8" fmla="*/ 3903635 w 7571568"/>
              <a:gd name="connsiteY8" fmla="*/ 1056467 h 1502044"/>
              <a:gd name="connsiteX9" fmla="*/ 2078710 w 7571568"/>
              <a:gd name="connsiteY9" fmla="*/ 1463298 h 1502044"/>
              <a:gd name="connsiteX10" fmla="*/ 277032 w 7571568"/>
              <a:gd name="connsiteY10" fmla="*/ 1288942 h 1502044"/>
              <a:gd name="connsiteX11" fmla="*/ 416517 w 7571568"/>
              <a:gd name="connsiteY11" fmla="*/ 700006 h 1502044"/>
              <a:gd name="connsiteX0" fmla="*/ 416517 w 7571568"/>
              <a:gd name="connsiteY0" fmla="*/ 700006 h 1502044"/>
              <a:gd name="connsiteX1" fmla="*/ 2632774 w 7571568"/>
              <a:gd name="connsiteY1" fmla="*/ 731003 h 1502044"/>
              <a:gd name="connsiteX2" fmla="*/ 3810646 w 7571568"/>
              <a:gd name="connsiteY2" fmla="*/ 591518 h 1502044"/>
              <a:gd name="connsiteX3" fmla="*/ 4461574 w 7571568"/>
              <a:gd name="connsiteY3" fmla="*/ 250556 h 1502044"/>
              <a:gd name="connsiteX4" fmla="*/ 5809927 w 7571568"/>
              <a:gd name="connsiteY4" fmla="*/ 18081 h 1502044"/>
              <a:gd name="connsiteX5" fmla="*/ 7328761 w 7571568"/>
              <a:gd name="connsiteY5" fmla="*/ 142067 h 1502044"/>
              <a:gd name="connsiteX6" fmla="*/ 7266768 w 7571568"/>
              <a:gd name="connsiteY6" fmla="*/ 622515 h 1502044"/>
              <a:gd name="connsiteX7" fmla="*/ 5716937 w 7571568"/>
              <a:gd name="connsiteY7" fmla="*/ 762000 h 1502044"/>
              <a:gd name="connsiteX8" fmla="*/ 3903635 w 7571568"/>
              <a:gd name="connsiteY8" fmla="*/ 1056467 h 1502044"/>
              <a:gd name="connsiteX9" fmla="*/ 2078710 w 7571568"/>
              <a:gd name="connsiteY9" fmla="*/ 1463298 h 1502044"/>
              <a:gd name="connsiteX10" fmla="*/ 277032 w 7571568"/>
              <a:gd name="connsiteY10" fmla="*/ 1288942 h 1502044"/>
              <a:gd name="connsiteX11" fmla="*/ 416517 w 7571568"/>
              <a:gd name="connsiteY11" fmla="*/ 700006 h 1502044"/>
              <a:gd name="connsiteX0" fmla="*/ 416517 w 7571568"/>
              <a:gd name="connsiteY0" fmla="*/ 700006 h 1505272"/>
              <a:gd name="connsiteX1" fmla="*/ 2632774 w 7571568"/>
              <a:gd name="connsiteY1" fmla="*/ 731003 h 1505272"/>
              <a:gd name="connsiteX2" fmla="*/ 3810646 w 7571568"/>
              <a:gd name="connsiteY2" fmla="*/ 591518 h 1505272"/>
              <a:gd name="connsiteX3" fmla="*/ 4461574 w 7571568"/>
              <a:gd name="connsiteY3" fmla="*/ 250556 h 1505272"/>
              <a:gd name="connsiteX4" fmla="*/ 5809927 w 7571568"/>
              <a:gd name="connsiteY4" fmla="*/ 18081 h 1505272"/>
              <a:gd name="connsiteX5" fmla="*/ 7328761 w 7571568"/>
              <a:gd name="connsiteY5" fmla="*/ 142067 h 1505272"/>
              <a:gd name="connsiteX6" fmla="*/ 7266768 w 7571568"/>
              <a:gd name="connsiteY6" fmla="*/ 622515 h 1505272"/>
              <a:gd name="connsiteX7" fmla="*/ 5716937 w 7571568"/>
              <a:gd name="connsiteY7" fmla="*/ 762000 h 1505272"/>
              <a:gd name="connsiteX8" fmla="*/ 3903635 w 7571568"/>
              <a:gd name="connsiteY8" fmla="*/ 1056467 h 1505272"/>
              <a:gd name="connsiteX9" fmla="*/ 2078710 w 7571568"/>
              <a:gd name="connsiteY9" fmla="*/ 1463298 h 1505272"/>
              <a:gd name="connsiteX10" fmla="*/ 277032 w 7571568"/>
              <a:gd name="connsiteY10" fmla="*/ 1288942 h 1505272"/>
              <a:gd name="connsiteX11" fmla="*/ 416517 w 7571568"/>
              <a:gd name="connsiteY11" fmla="*/ 700006 h 1505272"/>
              <a:gd name="connsiteX0" fmla="*/ 416517 w 7571568"/>
              <a:gd name="connsiteY0" fmla="*/ 700006 h 1505272"/>
              <a:gd name="connsiteX1" fmla="*/ 2632774 w 7571568"/>
              <a:gd name="connsiteY1" fmla="*/ 731003 h 1505272"/>
              <a:gd name="connsiteX2" fmla="*/ 3810646 w 7571568"/>
              <a:gd name="connsiteY2" fmla="*/ 591518 h 1505272"/>
              <a:gd name="connsiteX3" fmla="*/ 4461574 w 7571568"/>
              <a:gd name="connsiteY3" fmla="*/ 250556 h 1505272"/>
              <a:gd name="connsiteX4" fmla="*/ 5809927 w 7571568"/>
              <a:gd name="connsiteY4" fmla="*/ 18081 h 1505272"/>
              <a:gd name="connsiteX5" fmla="*/ 7328761 w 7571568"/>
              <a:gd name="connsiteY5" fmla="*/ 142067 h 1505272"/>
              <a:gd name="connsiteX6" fmla="*/ 7266768 w 7571568"/>
              <a:gd name="connsiteY6" fmla="*/ 622515 h 1505272"/>
              <a:gd name="connsiteX7" fmla="*/ 5716937 w 7571568"/>
              <a:gd name="connsiteY7" fmla="*/ 762000 h 1505272"/>
              <a:gd name="connsiteX8" fmla="*/ 3903635 w 7571568"/>
              <a:gd name="connsiteY8" fmla="*/ 1056467 h 1505272"/>
              <a:gd name="connsiteX9" fmla="*/ 2078710 w 7571568"/>
              <a:gd name="connsiteY9" fmla="*/ 1463298 h 1505272"/>
              <a:gd name="connsiteX10" fmla="*/ 277032 w 7571568"/>
              <a:gd name="connsiteY10" fmla="*/ 1288942 h 1505272"/>
              <a:gd name="connsiteX11" fmla="*/ 416517 w 7571568"/>
              <a:gd name="connsiteY11" fmla="*/ 700006 h 1505272"/>
              <a:gd name="connsiteX0" fmla="*/ 416517 w 7571568"/>
              <a:gd name="connsiteY0" fmla="*/ 700006 h 1518187"/>
              <a:gd name="connsiteX1" fmla="*/ 2632774 w 7571568"/>
              <a:gd name="connsiteY1" fmla="*/ 731003 h 1518187"/>
              <a:gd name="connsiteX2" fmla="*/ 3810646 w 7571568"/>
              <a:gd name="connsiteY2" fmla="*/ 591518 h 1518187"/>
              <a:gd name="connsiteX3" fmla="*/ 4461574 w 7571568"/>
              <a:gd name="connsiteY3" fmla="*/ 250556 h 1518187"/>
              <a:gd name="connsiteX4" fmla="*/ 5809927 w 7571568"/>
              <a:gd name="connsiteY4" fmla="*/ 18081 h 1518187"/>
              <a:gd name="connsiteX5" fmla="*/ 7328761 w 7571568"/>
              <a:gd name="connsiteY5" fmla="*/ 142067 h 1518187"/>
              <a:gd name="connsiteX6" fmla="*/ 7266768 w 7571568"/>
              <a:gd name="connsiteY6" fmla="*/ 622515 h 1518187"/>
              <a:gd name="connsiteX7" fmla="*/ 5716937 w 7571568"/>
              <a:gd name="connsiteY7" fmla="*/ 762000 h 1518187"/>
              <a:gd name="connsiteX8" fmla="*/ 3903635 w 7571568"/>
              <a:gd name="connsiteY8" fmla="*/ 1056467 h 1518187"/>
              <a:gd name="connsiteX9" fmla="*/ 2078710 w 7571568"/>
              <a:gd name="connsiteY9" fmla="*/ 1463298 h 1518187"/>
              <a:gd name="connsiteX10" fmla="*/ 277032 w 7571568"/>
              <a:gd name="connsiteY10" fmla="*/ 1288942 h 1518187"/>
              <a:gd name="connsiteX11" fmla="*/ 416517 w 7571568"/>
              <a:gd name="connsiteY11" fmla="*/ 700006 h 1518187"/>
              <a:gd name="connsiteX0" fmla="*/ 416517 w 7571568"/>
              <a:gd name="connsiteY0" fmla="*/ 700006 h 1502044"/>
              <a:gd name="connsiteX1" fmla="*/ 2632774 w 7571568"/>
              <a:gd name="connsiteY1" fmla="*/ 731003 h 1502044"/>
              <a:gd name="connsiteX2" fmla="*/ 3810646 w 7571568"/>
              <a:gd name="connsiteY2" fmla="*/ 591518 h 1502044"/>
              <a:gd name="connsiteX3" fmla="*/ 4461574 w 7571568"/>
              <a:gd name="connsiteY3" fmla="*/ 250556 h 1502044"/>
              <a:gd name="connsiteX4" fmla="*/ 5809927 w 7571568"/>
              <a:gd name="connsiteY4" fmla="*/ 18081 h 1502044"/>
              <a:gd name="connsiteX5" fmla="*/ 7328761 w 7571568"/>
              <a:gd name="connsiteY5" fmla="*/ 142067 h 1502044"/>
              <a:gd name="connsiteX6" fmla="*/ 7266768 w 7571568"/>
              <a:gd name="connsiteY6" fmla="*/ 622515 h 1502044"/>
              <a:gd name="connsiteX7" fmla="*/ 5716937 w 7571568"/>
              <a:gd name="connsiteY7" fmla="*/ 762000 h 1502044"/>
              <a:gd name="connsiteX8" fmla="*/ 3903635 w 7571568"/>
              <a:gd name="connsiteY8" fmla="*/ 1056467 h 1502044"/>
              <a:gd name="connsiteX9" fmla="*/ 2078710 w 7571568"/>
              <a:gd name="connsiteY9" fmla="*/ 1463298 h 1502044"/>
              <a:gd name="connsiteX10" fmla="*/ 277032 w 7571568"/>
              <a:gd name="connsiteY10" fmla="*/ 1288942 h 1502044"/>
              <a:gd name="connsiteX11" fmla="*/ 416517 w 7571568"/>
              <a:gd name="connsiteY11" fmla="*/ 700006 h 1502044"/>
              <a:gd name="connsiteX0" fmla="*/ 416517 w 7571568"/>
              <a:gd name="connsiteY0" fmla="*/ 700006 h 1502044"/>
              <a:gd name="connsiteX1" fmla="*/ 2632774 w 7571568"/>
              <a:gd name="connsiteY1" fmla="*/ 731003 h 1502044"/>
              <a:gd name="connsiteX2" fmla="*/ 3810646 w 7571568"/>
              <a:gd name="connsiteY2" fmla="*/ 591518 h 1502044"/>
              <a:gd name="connsiteX3" fmla="*/ 4461574 w 7571568"/>
              <a:gd name="connsiteY3" fmla="*/ 250556 h 1502044"/>
              <a:gd name="connsiteX4" fmla="*/ 5809927 w 7571568"/>
              <a:gd name="connsiteY4" fmla="*/ 18081 h 1502044"/>
              <a:gd name="connsiteX5" fmla="*/ 7328761 w 7571568"/>
              <a:gd name="connsiteY5" fmla="*/ 142067 h 1502044"/>
              <a:gd name="connsiteX6" fmla="*/ 7266768 w 7571568"/>
              <a:gd name="connsiteY6" fmla="*/ 622515 h 1502044"/>
              <a:gd name="connsiteX7" fmla="*/ 5716937 w 7571568"/>
              <a:gd name="connsiteY7" fmla="*/ 762000 h 1502044"/>
              <a:gd name="connsiteX8" fmla="*/ 3903635 w 7571568"/>
              <a:gd name="connsiteY8" fmla="*/ 1056467 h 1502044"/>
              <a:gd name="connsiteX9" fmla="*/ 2078710 w 7571568"/>
              <a:gd name="connsiteY9" fmla="*/ 1463298 h 1502044"/>
              <a:gd name="connsiteX10" fmla="*/ 277032 w 7571568"/>
              <a:gd name="connsiteY10" fmla="*/ 1288942 h 1502044"/>
              <a:gd name="connsiteX11" fmla="*/ 416517 w 7571568"/>
              <a:gd name="connsiteY11" fmla="*/ 700006 h 1502044"/>
              <a:gd name="connsiteX0" fmla="*/ 416517 w 7571568"/>
              <a:gd name="connsiteY0" fmla="*/ 700006 h 1502044"/>
              <a:gd name="connsiteX1" fmla="*/ 2632774 w 7571568"/>
              <a:gd name="connsiteY1" fmla="*/ 731003 h 1502044"/>
              <a:gd name="connsiteX2" fmla="*/ 3810646 w 7571568"/>
              <a:gd name="connsiteY2" fmla="*/ 591518 h 1502044"/>
              <a:gd name="connsiteX3" fmla="*/ 4461574 w 7571568"/>
              <a:gd name="connsiteY3" fmla="*/ 250556 h 1502044"/>
              <a:gd name="connsiteX4" fmla="*/ 5809927 w 7571568"/>
              <a:gd name="connsiteY4" fmla="*/ 18081 h 1502044"/>
              <a:gd name="connsiteX5" fmla="*/ 7328761 w 7571568"/>
              <a:gd name="connsiteY5" fmla="*/ 142067 h 1502044"/>
              <a:gd name="connsiteX6" fmla="*/ 7266768 w 7571568"/>
              <a:gd name="connsiteY6" fmla="*/ 622515 h 1502044"/>
              <a:gd name="connsiteX7" fmla="*/ 5888709 w 7571568"/>
              <a:gd name="connsiteY7" fmla="*/ 625098 h 1502044"/>
              <a:gd name="connsiteX8" fmla="*/ 3903635 w 7571568"/>
              <a:gd name="connsiteY8" fmla="*/ 1056467 h 1502044"/>
              <a:gd name="connsiteX9" fmla="*/ 2078710 w 7571568"/>
              <a:gd name="connsiteY9" fmla="*/ 1463298 h 1502044"/>
              <a:gd name="connsiteX10" fmla="*/ 277032 w 7571568"/>
              <a:gd name="connsiteY10" fmla="*/ 1288942 h 1502044"/>
              <a:gd name="connsiteX11" fmla="*/ 416517 w 7571568"/>
              <a:gd name="connsiteY11" fmla="*/ 700006 h 1502044"/>
              <a:gd name="connsiteX0" fmla="*/ 416517 w 7558438"/>
              <a:gd name="connsiteY0" fmla="*/ 633708 h 1435746"/>
              <a:gd name="connsiteX1" fmla="*/ 2632774 w 7558438"/>
              <a:gd name="connsiteY1" fmla="*/ 664705 h 1435746"/>
              <a:gd name="connsiteX2" fmla="*/ 3810646 w 7558438"/>
              <a:gd name="connsiteY2" fmla="*/ 525220 h 1435746"/>
              <a:gd name="connsiteX3" fmla="*/ 4461574 w 7558438"/>
              <a:gd name="connsiteY3" fmla="*/ 184258 h 1435746"/>
              <a:gd name="connsiteX4" fmla="*/ 5888709 w 7558438"/>
              <a:gd name="connsiteY4" fmla="*/ 101600 h 1435746"/>
              <a:gd name="connsiteX5" fmla="*/ 7328761 w 7558438"/>
              <a:gd name="connsiteY5" fmla="*/ 75769 h 1435746"/>
              <a:gd name="connsiteX6" fmla="*/ 7266768 w 7558438"/>
              <a:gd name="connsiteY6" fmla="*/ 556217 h 1435746"/>
              <a:gd name="connsiteX7" fmla="*/ 5888709 w 7558438"/>
              <a:gd name="connsiteY7" fmla="*/ 558800 h 1435746"/>
              <a:gd name="connsiteX8" fmla="*/ 3903635 w 7558438"/>
              <a:gd name="connsiteY8" fmla="*/ 990169 h 1435746"/>
              <a:gd name="connsiteX9" fmla="*/ 2078710 w 7558438"/>
              <a:gd name="connsiteY9" fmla="*/ 1397000 h 1435746"/>
              <a:gd name="connsiteX10" fmla="*/ 277032 w 7558438"/>
              <a:gd name="connsiteY10" fmla="*/ 1222644 h 1435746"/>
              <a:gd name="connsiteX11" fmla="*/ 416517 w 7558438"/>
              <a:gd name="connsiteY11" fmla="*/ 633708 h 1435746"/>
              <a:gd name="connsiteX0" fmla="*/ 416517 w 7558438"/>
              <a:gd name="connsiteY0" fmla="*/ 633708 h 1435746"/>
              <a:gd name="connsiteX1" fmla="*/ 2632774 w 7558438"/>
              <a:gd name="connsiteY1" fmla="*/ 664705 h 1435746"/>
              <a:gd name="connsiteX2" fmla="*/ 3810646 w 7558438"/>
              <a:gd name="connsiteY2" fmla="*/ 525220 h 1435746"/>
              <a:gd name="connsiteX3" fmla="*/ 4593309 w 7558438"/>
              <a:gd name="connsiteY3" fmla="*/ 101600 h 1435746"/>
              <a:gd name="connsiteX4" fmla="*/ 5888709 w 7558438"/>
              <a:gd name="connsiteY4" fmla="*/ 101600 h 1435746"/>
              <a:gd name="connsiteX5" fmla="*/ 7328761 w 7558438"/>
              <a:gd name="connsiteY5" fmla="*/ 75769 h 1435746"/>
              <a:gd name="connsiteX6" fmla="*/ 7266768 w 7558438"/>
              <a:gd name="connsiteY6" fmla="*/ 556217 h 1435746"/>
              <a:gd name="connsiteX7" fmla="*/ 5888709 w 7558438"/>
              <a:gd name="connsiteY7" fmla="*/ 558800 h 1435746"/>
              <a:gd name="connsiteX8" fmla="*/ 3903635 w 7558438"/>
              <a:gd name="connsiteY8" fmla="*/ 990169 h 1435746"/>
              <a:gd name="connsiteX9" fmla="*/ 2078710 w 7558438"/>
              <a:gd name="connsiteY9" fmla="*/ 1397000 h 1435746"/>
              <a:gd name="connsiteX10" fmla="*/ 277032 w 7558438"/>
              <a:gd name="connsiteY10" fmla="*/ 1222644 h 1435746"/>
              <a:gd name="connsiteX11" fmla="*/ 416517 w 7558438"/>
              <a:gd name="connsiteY11" fmla="*/ 633708 h 1435746"/>
              <a:gd name="connsiteX0" fmla="*/ 416517 w 7533037"/>
              <a:gd name="connsiteY0" fmla="*/ 688813 h 1490851"/>
              <a:gd name="connsiteX1" fmla="*/ 2632774 w 7533037"/>
              <a:gd name="connsiteY1" fmla="*/ 719810 h 1490851"/>
              <a:gd name="connsiteX2" fmla="*/ 3810646 w 7533037"/>
              <a:gd name="connsiteY2" fmla="*/ 580325 h 1490851"/>
              <a:gd name="connsiteX3" fmla="*/ 4593309 w 7533037"/>
              <a:gd name="connsiteY3" fmla="*/ 156705 h 1490851"/>
              <a:gd name="connsiteX4" fmla="*/ 6041109 w 7533037"/>
              <a:gd name="connsiteY4" fmla="*/ 4305 h 1490851"/>
              <a:gd name="connsiteX5" fmla="*/ 7328761 w 7533037"/>
              <a:gd name="connsiteY5" fmla="*/ 130874 h 1490851"/>
              <a:gd name="connsiteX6" fmla="*/ 7266768 w 7533037"/>
              <a:gd name="connsiteY6" fmla="*/ 611322 h 1490851"/>
              <a:gd name="connsiteX7" fmla="*/ 5888709 w 7533037"/>
              <a:gd name="connsiteY7" fmla="*/ 613905 h 1490851"/>
              <a:gd name="connsiteX8" fmla="*/ 3903635 w 7533037"/>
              <a:gd name="connsiteY8" fmla="*/ 1045274 h 1490851"/>
              <a:gd name="connsiteX9" fmla="*/ 2078710 w 7533037"/>
              <a:gd name="connsiteY9" fmla="*/ 1452105 h 1490851"/>
              <a:gd name="connsiteX10" fmla="*/ 277032 w 7533037"/>
              <a:gd name="connsiteY10" fmla="*/ 1277749 h 1490851"/>
              <a:gd name="connsiteX11" fmla="*/ 416517 w 7533037"/>
              <a:gd name="connsiteY11" fmla="*/ 688813 h 1490851"/>
              <a:gd name="connsiteX0" fmla="*/ 403817 w 7520337"/>
              <a:gd name="connsiteY0" fmla="*/ 688813 h 1426919"/>
              <a:gd name="connsiteX1" fmla="*/ 2620074 w 7520337"/>
              <a:gd name="connsiteY1" fmla="*/ 719810 h 1426919"/>
              <a:gd name="connsiteX2" fmla="*/ 3797946 w 7520337"/>
              <a:gd name="connsiteY2" fmla="*/ 580325 h 1426919"/>
              <a:gd name="connsiteX3" fmla="*/ 4580609 w 7520337"/>
              <a:gd name="connsiteY3" fmla="*/ 156705 h 1426919"/>
              <a:gd name="connsiteX4" fmla="*/ 6028409 w 7520337"/>
              <a:gd name="connsiteY4" fmla="*/ 4305 h 1426919"/>
              <a:gd name="connsiteX5" fmla="*/ 7316061 w 7520337"/>
              <a:gd name="connsiteY5" fmla="*/ 130874 h 1426919"/>
              <a:gd name="connsiteX6" fmla="*/ 7254068 w 7520337"/>
              <a:gd name="connsiteY6" fmla="*/ 611322 h 1426919"/>
              <a:gd name="connsiteX7" fmla="*/ 5876009 w 7520337"/>
              <a:gd name="connsiteY7" fmla="*/ 613905 h 1426919"/>
              <a:gd name="connsiteX8" fmla="*/ 3890935 w 7520337"/>
              <a:gd name="connsiteY8" fmla="*/ 1045274 h 1426919"/>
              <a:gd name="connsiteX9" fmla="*/ 1989810 w 7520337"/>
              <a:gd name="connsiteY9" fmla="*/ 1299706 h 1426919"/>
              <a:gd name="connsiteX10" fmla="*/ 264332 w 7520337"/>
              <a:gd name="connsiteY10" fmla="*/ 1277749 h 1426919"/>
              <a:gd name="connsiteX11" fmla="*/ 403817 w 7520337"/>
              <a:gd name="connsiteY11" fmla="*/ 688813 h 1426919"/>
              <a:gd name="connsiteX0" fmla="*/ 430939 w 7547459"/>
              <a:gd name="connsiteY0" fmla="*/ 688813 h 1426919"/>
              <a:gd name="connsiteX1" fmla="*/ 2647196 w 7547459"/>
              <a:gd name="connsiteY1" fmla="*/ 719810 h 1426919"/>
              <a:gd name="connsiteX2" fmla="*/ 3825068 w 7547459"/>
              <a:gd name="connsiteY2" fmla="*/ 580325 h 1426919"/>
              <a:gd name="connsiteX3" fmla="*/ 4607731 w 7547459"/>
              <a:gd name="connsiteY3" fmla="*/ 156705 h 1426919"/>
              <a:gd name="connsiteX4" fmla="*/ 6055531 w 7547459"/>
              <a:gd name="connsiteY4" fmla="*/ 4305 h 1426919"/>
              <a:gd name="connsiteX5" fmla="*/ 7343183 w 7547459"/>
              <a:gd name="connsiteY5" fmla="*/ 130874 h 1426919"/>
              <a:gd name="connsiteX6" fmla="*/ 7281190 w 7547459"/>
              <a:gd name="connsiteY6" fmla="*/ 611322 h 1426919"/>
              <a:gd name="connsiteX7" fmla="*/ 5903131 w 7547459"/>
              <a:gd name="connsiteY7" fmla="*/ 613905 h 1426919"/>
              <a:gd name="connsiteX8" fmla="*/ 3918057 w 7547459"/>
              <a:gd name="connsiteY8" fmla="*/ 1045274 h 1426919"/>
              <a:gd name="connsiteX9" fmla="*/ 2016932 w 7547459"/>
              <a:gd name="connsiteY9" fmla="*/ 1299706 h 1426919"/>
              <a:gd name="connsiteX10" fmla="*/ 264332 w 7547459"/>
              <a:gd name="connsiteY10" fmla="*/ 1071106 h 1426919"/>
              <a:gd name="connsiteX11" fmla="*/ 430939 w 7547459"/>
              <a:gd name="connsiteY11" fmla="*/ 688813 h 1426919"/>
              <a:gd name="connsiteX0" fmla="*/ 430939 w 7547459"/>
              <a:gd name="connsiteY0" fmla="*/ 688813 h 1426919"/>
              <a:gd name="connsiteX1" fmla="*/ 2647196 w 7547459"/>
              <a:gd name="connsiteY1" fmla="*/ 719810 h 1426919"/>
              <a:gd name="connsiteX2" fmla="*/ 3464732 w 7547459"/>
              <a:gd name="connsiteY2" fmla="*/ 613906 h 1426919"/>
              <a:gd name="connsiteX3" fmla="*/ 4607731 w 7547459"/>
              <a:gd name="connsiteY3" fmla="*/ 156705 h 1426919"/>
              <a:gd name="connsiteX4" fmla="*/ 6055531 w 7547459"/>
              <a:gd name="connsiteY4" fmla="*/ 4305 h 1426919"/>
              <a:gd name="connsiteX5" fmla="*/ 7343183 w 7547459"/>
              <a:gd name="connsiteY5" fmla="*/ 130874 h 1426919"/>
              <a:gd name="connsiteX6" fmla="*/ 7281190 w 7547459"/>
              <a:gd name="connsiteY6" fmla="*/ 611322 h 1426919"/>
              <a:gd name="connsiteX7" fmla="*/ 5903131 w 7547459"/>
              <a:gd name="connsiteY7" fmla="*/ 613905 h 1426919"/>
              <a:gd name="connsiteX8" fmla="*/ 3918057 w 7547459"/>
              <a:gd name="connsiteY8" fmla="*/ 1045274 h 1426919"/>
              <a:gd name="connsiteX9" fmla="*/ 2016932 w 7547459"/>
              <a:gd name="connsiteY9" fmla="*/ 1299706 h 1426919"/>
              <a:gd name="connsiteX10" fmla="*/ 264332 w 7547459"/>
              <a:gd name="connsiteY10" fmla="*/ 1071106 h 1426919"/>
              <a:gd name="connsiteX11" fmla="*/ 430939 w 7547459"/>
              <a:gd name="connsiteY11" fmla="*/ 688813 h 1426919"/>
              <a:gd name="connsiteX0" fmla="*/ 430939 w 7547459"/>
              <a:gd name="connsiteY0" fmla="*/ 688813 h 1426919"/>
              <a:gd name="connsiteX1" fmla="*/ 2647196 w 7547459"/>
              <a:gd name="connsiteY1" fmla="*/ 719810 h 1426919"/>
              <a:gd name="connsiteX2" fmla="*/ 3464732 w 7547459"/>
              <a:gd name="connsiteY2" fmla="*/ 613906 h 1426919"/>
              <a:gd name="connsiteX3" fmla="*/ 4607731 w 7547459"/>
              <a:gd name="connsiteY3" fmla="*/ 156705 h 1426919"/>
              <a:gd name="connsiteX4" fmla="*/ 6055531 w 7547459"/>
              <a:gd name="connsiteY4" fmla="*/ 4305 h 1426919"/>
              <a:gd name="connsiteX5" fmla="*/ 7343183 w 7547459"/>
              <a:gd name="connsiteY5" fmla="*/ 130874 h 1426919"/>
              <a:gd name="connsiteX6" fmla="*/ 7281190 w 7547459"/>
              <a:gd name="connsiteY6" fmla="*/ 611322 h 1426919"/>
              <a:gd name="connsiteX7" fmla="*/ 5903131 w 7547459"/>
              <a:gd name="connsiteY7" fmla="*/ 613905 h 1426919"/>
              <a:gd name="connsiteX8" fmla="*/ 3918057 w 7547459"/>
              <a:gd name="connsiteY8" fmla="*/ 1045274 h 1426919"/>
              <a:gd name="connsiteX9" fmla="*/ 2016932 w 7547459"/>
              <a:gd name="connsiteY9" fmla="*/ 1299706 h 1426919"/>
              <a:gd name="connsiteX10" fmla="*/ 264332 w 7547459"/>
              <a:gd name="connsiteY10" fmla="*/ 1071106 h 1426919"/>
              <a:gd name="connsiteX11" fmla="*/ 430939 w 7547459"/>
              <a:gd name="connsiteY11" fmla="*/ 688813 h 1426919"/>
              <a:gd name="connsiteX0" fmla="*/ 430939 w 7547459"/>
              <a:gd name="connsiteY0" fmla="*/ 688813 h 1426919"/>
              <a:gd name="connsiteX1" fmla="*/ 2647196 w 7547459"/>
              <a:gd name="connsiteY1" fmla="*/ 719810 h 1426919"/>
              <a:gd name="connsiteX2" fmla="*/ 3464732 w 7547459"/>
              <a:gd name="connsiteY2" fmla="*/ 613906 h 1426919"/>
              <a:gd name="connsiteX3" fmla="*/ 4607731 w 7547459"/>
              <a:gd name="connsiteY3" fmla="*/ 156705 h 1426919"/>
              <a:gd name="connsiteX4" fmla="*/ 6055531 w 7547459"/>
              <a:gd name="connsiteY4" fmla="*/ 4305 h 1426919"/>
              <a:gd name="connsiteX5" fmla="*/ 7343183 w 7547459"/>
              <a:gd name="connsiteY5" fmla="*/ 130874 h 1426919"/>
              <a:gd name="connsiteX6" fmla="*/ 7281190 w 7547459"/>
              <a:gd name="connsiteY6" fmla="*/ 611322 h 1426919"/>
              <a:gd name="connsiteX7" fmla="*/ 5903131 w 7547459"/>
              <a:gd name="connsiteY7" fmla="*/ 613905 h 1426919"/>
              <a:gd name="connsiteX8" fmla="*/ 3918057 w 7547459"/>
              <a:gd name="connsiteY8" fmla="*/ 1045274 h 1426919"/>
              <a:gd name="connsiteX9" fmla="*/ 2016932 w 7547459"/>
              <a:gd name="connsiteY9" fmla="*/ 1299706 h 1426919"/>
              <a:gd name="connsiteX10" fmla="*/ 264332 w 7547459"/>
              <a:gd name="connsiteY10" fmla="*/ 1071106 h 1426919"/>
              <a:gd name="connsiteX11" fmla="*/ 430939 w 7547459"/>
              <a:gd name="connsiteY11" fmla="*/ 688813 h 1426919"/>
              <a:gd name="connsiteX0" fmla="*/ 430939 w 7547459"/>
              <a:gd name="connsiteY0" fmla="*/ 688813 h 1426919"/>
              <a:gd name="connsiteX1" fmla="*/ 2647196 w 7547459"/>
              <a:gd name="connsiteY1" fmla="*/ 719810 h 1426919"/>
              <a:gd name="connsiteX2" fmla="*/ 3464732 w 7547459"/>
              <a:gd name="connsiteY2" fmla="*/ 613906 h 1426919"/>
              <a:gd name="connsiteX3" fmla="*/ 4607731 w 7547459"/>
              <a:gd name="connsiteY3" fmla="*/ 156705 h 1426919"/>
              <a:gd name="connsiteX4" fmla="*/ 6055531 w 7547459"/>
              <a:gd name="connsiteY4" fmla="*/ 4305 h 1426919"/>
              <a:gd name="connsiteX5" fmla="*/ 7343183 w 7547459"/>
              <a:gd name="connsiteY5" fmla="*/ 130874 h 1426919"/>
              <a:gd name="connsiteX6" fmla="*/ 7281190 w 7547459"/>
              <a:gd name="connsiteY6" fmla="*/ 611322 h 1426919"/>
              <a:gd name="connsiteX7" fmla="*/ 5903131 w 7547459"/>
              <a:gd name="connsiteY7" fmla="*/ 613905 h 1426919"/>
              <a:gd name="connsiteX8" fmla="*/ 3918057 w 7547459"/>
              <a:gd name="connsiteY8" fmla="*/ 1045274 h 1426919"/>
              <a:gd name="connsiteX9" fmla="*/ 2016932 w 7547459"/>
              <a:gd name="connsiteY9" fmla="*/ 1299706 h 1426919"/>
              <a:gd name="connsiteX10" fmla="*/ 264332 w 7547459"/>
              <a:gd name="connsiteY10" fmla="*/ 1071106 h 1426919"/>
              <a:gd name="connsiteX11" fmla="*/ 430939 w 7547459"/>
              <a:gd name="connsiteY11" fmla="*/ 688813 h 1426919"/>
              <a:gd name="connsiteX0" fmla="*/ 430939 w 7547459"/>
              <a:gd name="connsiteY0" fmla="*/ 688813 h 1426919"/>
              <a:gd name="connsiteX1" fmla="*/ 2647196 w 7547459"/>
              <a:gd name="connsiteY1" fmla="*/ 719810 h 1426919"/>
              <a:gd name="connsiteX2" fmla="*/ 3464732 w 7547459"/>
              <a:gd name="connsiteY2" fmla="*/ 613906 h 1426919"/>
              <a:gd name="connsiteX3" fmla="*/ 4607731 w 7547459"/>
              <a:gd name="connsiteY3" fmla="*/ 156705 h 1426919"/>
              <a:gd name="connsiteX4" fmla="*/ 6055531 w 7547459"/>
              <a:gd name="connsiteY4" fmla="*/ 4305 h 1426919"/>
              <a:gd name="connsiteX5" fmla="*/ 7343183 w 7547459"/>
              <a:gd name="connsiteY5" fmla="*/ 130874 h 1426919"/>
              <a:gd name="connsiteX6" fmla="*/ 7281190 w 7547459"/>
              <a:gd name="connsiteY6" fmla="*/ 611322 h 1426919"/>
              <a:gd name="connsiteX7" fmla="*/ 5903131 w 7547459"/>
              <a:gd name="connsiteY7" fmla="*/ 613905 h 1426919"/>
              <a:gd name="connsiteX8" fmla="*/ 3918057 w 7547459"/>
              <a:gd name="connsiteY8" fmla="*/ 1045274 h 1426919"/>
              <a:gd name="connsiteX9" fmla="*/ 2016932 w 7547459"/>
              <a:gd name="connsiteY9" fmla="*/ 1299706 h 1426919"/>
              <a:gd name="connsiteX10" fmla="*/ 264332 w 7547459"/>
              <a:gd name="connsiteY10" fmla="*/ 1071106 h 1426919"/>
              <a:gd name="connsiteX11" fmla="*/ 430939 w 7547459"/>
              <a:gd name="connsiteY11" fmla="*/ 688813 h 1426919"/>
              <a:gd name="connsiteX0" fmla="*/ 346344 w 7462864"/>
              <a:gd name="connsiteY0" fmla="*/ 688813 h 1426919"/>
              <a:gd name="connsiteX1" fmla="*/ 2562601 w 7462864"/>
              <a:gd name="connsiteY1" fmla="*/ 719810 h 1426919"/>
              <a:gd name="connsiteX2" fmla="*/ 3380137 w 7462864"/>
              <a:gd name="connsiteY2" fmla="*/ 613906 h 1426919"/>
              <a:gd name="connsiteX3" fmla="*/ 4523136 w 7462864"/>
              <a:gd name="connsiteY3" fmla="*/ 156705 h 1426919"/>
              <a:gd name="connsiteX4" fmla="*/ 5970936 w 7462864"/>
              <a:gd name="connsiteY4" fmla="*/ 4305 h 1426919"/>
              <a:gd name="connsiteX5" fmla="*/ 7258588 w 7462864"/>
              <a:gd name="connsiteY5" fmla="*/ 130874 h 1426919"/>
              <a:gd name="connsiteX6" fmla="*/ 7196595 w 7462864"/>
              <a:gd name="connsiteY6" fmla="*/ 611322 h 1426919"/>
              <a:gd name="connsiteX7" fmla="*/ 5818536 w 7462864"/>
              <a:gd name="connsiteY7" fmla="*/ 613905 h 1426919"/>
              <a:gd name="connsiteX8" fmla="*/ 3833462 w 7462864"/>
              <a:gd name="connsiteY8" fmla="*/ 1045274 h 1426919"/>
              <a:gd name="connsiteX9" fmla="*/ 1932337 w 7462864"/>
              <a:gd name="connsiteY9" fmla="*/ 1299706 h 1426919"/>
              <a:gd name="connsiteX10" fmla="*/ 484537 w 7462864"/>
              <a:gd name="connsiteY10" fmla="*/ 1223506 h 1426919"/>
              <a:gd name="connsiteX11" fmla="*/ 346344 w 7462864"/>
              <a:gd name="connsiteY11" fmla="*/ 688813 h 1426919"/>
              <a:gd name="connsiteX0" fmla="*/ 346344 w 7248472"/>
              <a:gd name="connsiteY0" fmla="*/ 766306 h 1426919"/>
              <a:gd name="connsiteX1" fmla="*/ 2348209 w 7248472"/>
              <a:gd name="connsiteY1" fmla="*/ 719810 h 1426919"/>
              <a:gd name="connsiteX2" fmla="*/ 3165745 w 7248472"/>
              <a:gd name="connsiteY2" fmla="*/ 613906 h 1426919"/>
              <a:gd name="connsiteX3" fmla="*/ 4308744 w 7248472"/>
              <a:gd name="connsiteY3" fmla="*/ 156705 h 1426919"/>
              <a:gd name="connsiteX4" fmla="*/ 5756544 w 7248472"/>
              <a:gd name="connsiteY4" fmla="*/ 4305 h 1426919"/>
              <a:gd name="connsiteX5" fmla="*/ 7044196 w 7248472"/>
              <a:gd name="connsiteY5" fmla="*/ 130874 h 1426919"/>
              <a:gd name="connsiteX6" fmla="*/ 6982203 w 7248472"/>
              <a:gd name="connsiteY6" fmla="*/ 611322 h 1426919"/>
              <a:gd name="connsiteX7" fmla="*/ 5604144 w 7248472"/>
              <a:gd name="connsiteY7" fmla="*/ 613905 h 1426919"/>
              <a:gd name="connsiteX8" fmla="*/ 3619070 w 7248472"/>
              <a:gd name="connsiteY8" fmla="*/ 1045274 h 1426919"/>
              <a:gd name="connsiteX9" fmla="*/ 1717945 w 7248472"/>
              <a:gd name="connsiteY9" fmla="*/ 1299706 h 1426919"/>
              <a:gd name="connsiteX10" fmla="*/ 270145 w 7248472"/>
              <a:gd name="connsiteY10" fmla="*/ 1223506 h 1426919"/>
              <a:gd name="connsiteX11" fmla="*/ 346344 w 7248472"/>
              <a:gd name="connsiteY11" fmla="*/ 766306 h 1426919"/>
              <a:gd name="connsiteX0" fmla="*/ 346344 w 7248472"/>
              <a:gd name="connsiteY0" fmla="*/ 690106 h 1426919"/>
              <a:gd name="connsiteX1" fmla="*/ 2348209 w 7248472"/>
              <a:gd name="connsiteY1" fmla="*/ 719810 h 1426919"/>
              <a:gd name="connsiteX2" fmla="*/ 3165745 w 7248472"/>
              <a:gd name="connsiteY2" fmla="*/ 613906 h 1426919"/>
              <a:gd name="connsiteX3" fmla="*/ 4308744 w 7248472"/>
              <a:gd name="connsiteY3" fmla="*/ 156705 h 1426919"/>
              <a:gd name="connsiteX4" fmla="*/ 5756544 w 7248472"/>
              <a:gd name="connsiteY4" fmla="*/ 4305 h 1426919"/>
              <a:gd name="connsiteX5" fmla="*/ 7044196 w 7248472"/>
              <a:gd name="connsiteY5" fmla="*/ 130874 h 1426919"/>
              <a:gd name="connsiteX6" fmla="*/ 6982203 w 7248472"/>
              <a:gd name="connsiteY6" fmla="*/ 611322 h 1426919"/>
              <a:gd name="connsiteX7" fmla="*/ 5604144 w 7248472"/>
              <a:gd name="connsiteY7" fmla="*/ 613905 h 1426919"/>
              <a:gd name="connsiteX8" fmla="*/ 3619070 w 7248472"/>
              <a:gd name="connsiteY8" fmla="*/ 1045274 h 1426919"/>
              <a:gd name="connsiteX9" fmla="*/ 1717945 w 7248472"/>
              <a:gd name="connsiteY9" fmla="*/ 1299706 h 1426919"/>
              <a:gd name="connsiteX10" fmla="*/ 270145 w 7248472"/>
              <a:gd name="connsiteY10" fmla="*/ 1223506 h 1426919"/>
              <a:gd name="connsiteX11" fmla="*/ 346344 w 7248472"/>
              <a:gd name="connsiteY11" fmla="*/ 690106 h 1426919"/>
              <a:gd name="connsiteX0" fmla="*/ 333644 w 7235772"/>
              <a:gd name="connsiteY0" fmla="*/ 690106 h 1426919"/>
              <a:gd name="connsiteX1" fmla="*/ 2335509 w 7235772"/>
              <a:gd name="connsiteY1" fmla="*/ 719810 h 1426919"/>
              <a:gd name="connsiteX2" fmla="*/ 3153045 w 7235772"/>
              <a:gd name="connsiteY2" fmla="*/ 613906 h 1426919"/>
              <a:gd name="connsiteX3" fmla="*/ 4296044 w 7235772"/>
              <a:gd name="connsiteY3" fmla="*/ 156705 h 1426919"/>
              <a:gd name="connsiteX4" fmla="*/ 5743844 w 7235772"/>
              <a:gd name="connsiteY4" fmla="*/ 4305 h 1426919"/>
              <a:gd name="connsiteX5" fmla="*/ 7031496 w 7235772"/>
              <a:gd name="connsiteY5" fmla="*/ 130874 h 1426919"/>
              <a:gd name="connsiteX6" fmla="*/ 6969503 w 7235772"/>
              <a:gd name="connsiteY6" fmla="*/ 611322 h 1426919"/>
              <a:gd name="connsiteX7" fmla="*/ 5591444 w 7235772"/>
              <a:gd name="connsiteY7" fmla="*/ 613905 h 1426919"/>
              <a:gd name="connsiteX8" fmla="*/ 3606370 w 7235772"/>
              <a:gd name="connsiteY8" fmla="*/ 1045274 h 1426919"/>
              <a:gd name="connsiteX9" fmla="*/ 1705245 w 7235772"/>
              <a:gd name="connsiteY9" fmla="*/ 1299706 h 1426919"/>
              <a:gd name="connsiteX10" fmla="*/ 333644 w 7235772"/>
              <a:gd name="connsiteY10" fmla="*/ 1147306 h 1426919"/>
              <a:gd name="connsiteX11" fmla="*/ 333644 w 7235772"/>
              <a:gd name="connsiteY11" fmla="*/ 690106 h 1426919"/>
              <a:gd name="connsiteX0" fmla="*/ 346344 w 7248472"/>
              <a:gd name="connsiteY0" fmla="*/ 690106 h 1426919"/>
              <a:gd name="connsiteX1" fmla="*/ 2348209 w 7248472"/>
              <a:gd name="connsiteY1" fmla="*/ 719810 h 1426919"/>
              <a:gd name="connsiteX2" fmla="*/ 3165745 w 7248472"/>
              <a:gd name="connsiteY2" fmla="*/ 613906 h 1426919"/>
              <a:gd name="connsiteX3" fmla="*/ 4308744 w 7248472"/>
              <a:gd name="connsiteY3" fmla="*/ 156705 h 1426919"/>
              <a:gd name="connsiteX4" fmla="*/ 5756544 w 7248472"/>
              <a:gd name="connsiteY4" fmla="*/ 4305 h 1426919"/>
              <a:gd name="connsiteX5" fmla="*/ 7044196 w 7248472"/>
              <a:gd name="connsiteY5" fmla="*/ 130874 h 1426919"/>
              <a:gd name="connsiteX6" fmla="*/ 6982203 w 7248472"/>
              <a:gd name="connsiteY6" fmla="*/ 611322 h 1426919"/>
              <a:gd name="connsiteX7" fmla="*/ 5604144 w 7248472"/>
              <a:gd name="connsiteY7" fmla="*/ 613905 h 1426919"/>
              <a:gd name="connsiteX8" fmla="*/ 3619070 w 7248472"/>
              <a:gd name="connsiteY8" fmla="*/ 1045274 h 1426919"/>
              <a:gd name="connsiteX9" fmla="*/ 1717945 w 7248472"/>
              <a:gd name="connsiteY9" fmla="*/ 1299706 h 1426919"/>
              <a:gd name="connsiteX10" fmla="*/ 270144 w 7248472"/>
              <a:gd name="connsiteY10" fmla="*/ 1147306 h 1426919"/>
              <a:gd name="connsiteX11" fmla="*/ 346344 w 7248472"/>
              <a:gd name="connsiteY11" fmla="*/ 690106 h 142691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7248472" h="1426919">
                <a:moveTo>
                  <a:pt x="346344" y="690106"/>
                </a:moveTo>
                <a:cubicBezTo>
                  <a:pt x="692688" y="618857"/>
                  <a:pt x="1878309" y="732510"/>
                  <a:pt x="2348209" y="719810"/>
                </a:cubicBezTo>
                <a:cubicBezTo>
                  <a:pt x="2818109" y="707110"/>
                  <a:pt x="2876443" y="804621"/>
                  <a:pt x="3165745" y="613906"/>
                </a:cubicBezTo>
                <a:cubicBezTo>
                  <a:pt x="3455047" y="423191"/>
                  <a:pt x="3876944" y="258305"/>
                  <a:pt x="4308744" y="156705"/>
                </a:cubicBezTo>
                <a:cubicBezTo>
                  <a:pt x="4740544" y="55105"/>
                  <a:pt x="5300635" y="8610"/>
                  <a:pt x="5756544" y="4305"/>
                </a:cubicBezTo>
                <a:cubicBezTo>
                  <a:pt x="6212453" y="0"/>
                  <a:pt x="6839920" y="29705"/>
                  <a:pt x="7044196" y="130874"/>
                </a:cubicBezTo>
                <a:cubicBezTo>
                  <a:pt x="7248472" y="232043"/>
                  <a:pt x="7222212" y="530817"/>
                  <a:pt x="6982203" y="611322"/>
                </a:cubicBezTo>
                <a:cubicBezTo>
                  <a:pt x="6742194" y="691827"/>
                  <a:pt x="6127212" y="646194"/>
                  <a:pt x="5604144" y="613905"/>
                </a:cubicBezTo>
                <a:cubicBezTo>
                  <a:pt x="5078493" y="622945"/>
                  <a:pt x="4211714" y="441741"/>
                  <a:pt x="3619070" y="1045274"/>
                </a:cubicBezTo>
                <a:cubicBezTo>
                  <a:pt x="3085025" y="1426919"/>
                  <a:pt x="2276099" y="1282701"/>
                  <a:pt x="1717945" y="1299706"/>
                </a:cubicBezTo>
                <a:cubicBezTo>
                  <a:pt x="1159791" y="1316711"/>
                  <a:pt x="498744" y="1248906"/>
                  <a:pt x="270144" y="1147306"/>
                </a:cubicBezTo>
                <a:cubicBezTo>
                  <a:pt x="41544" y="1045706"/>
                  <a:pt x="0" y="761355"/>
                  <a:pt x="346344" y="690106"/>
                </a:cubicBezTo>
                <a:close/>
              </a:path>
            </a:pathLst>
          </a:custGeom>
          <a:noFill/>
          <a:ln>
            <a:solidFill>
              <a:srgbClr val="FF0000"/>
            </a:solidFill>
            <a:prstDash val="sysDo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TextBox 8"/>
          <p:cNvSpPr txBox="1"/>
          <p:nvPr/>
        </p:nvSpPr>
        <p:spPr>
          <a:xfrm>
            <a:off x="7537961" y="1688068"/>
            <a:ext cx="933845" cy="369332"/>
          </a:xfrm>
          <a:prstGeom prst="rect">
            <a:avLst/>
          </a:prstGeom>
          <a:noFill/>
        </p:spPr>
        <p:txBody>
          <a:bodyPr wrap="none" rtlCol="0">
            <a:spAutoFit/>
          </a:bodyPr>
          <a:lstStyle/>
          <a:p>
            <a:r>
              <a:rPr lang="en-US" dirty="0">
                <a:latin typeface="+mn-lt"/>
              </a:rPr>
              <a:t>Frontier</a:t>
            </a:r>
          </a:p>
        </p:txBody>
      </p:sp>
      <p:sp>
        <p:nvSpPr>
          <p:cNvPr id="10" name="TextBox 9">
            <a:extLst>
              <a:ext uri="{FF2B5EF4-FFF2-40B4-BE49-F238E27FC236}">
                <a16:creationId xmlns:a16="http://schemas.microsoft.com/office/drawing/2014/main" id="{9D32D472-F6A7-473F-BBA8-0DCF9977C4C6}"/>
              </a:ext>
            </a:extLst>
          </p:cNvPr>
          <p:cNvSpPr txBox="1"/>
          <p:nvPr/>
        </p:nvSpPr>
        <p:spPr>
          <a:xfrm>
            <a:off x="720456" y="2134943"/>
            <a:ext cx="1608133" cy="369332"/>
          </a:xfrm>
          <a:prstGeom prst="rect">
            <a:avLst/>
          </a:prstGeom>
          <a:noFill/>
        </p:spPr>
        <p:txBody>
          <a:bodyPr wrap="none" rtlCol="0">
            <a:spAutoFit/>
          </a:bodyPr>
          <a:lstStyle/>
          <a:p>
            <a:r>
              <a:rPr lang="en-US" dirty="0"/>
              <a:t>2. Expand Sibiu</a:t>
            </a:r>
          </a:p>
        </p:txBody>
      </p:sp>
      <p:pic>
        <p:nvPicPr>
          <p:cNvPr id="11" name="Picture 4" descr="romania-distances">
            <a:extLst>
              <a:ext uri="{FF2B5EF4-FFF2-40B4-BE49-F238E27FC236}">
                <a16:creationId xmlns:a16="http://schemas.microsoft.com/office/drawing/2014/main" id="{97B2D255-7FB5-4D3D-841B-5752BBE5D27E}"/>
              </a:ext>
            </a:extLst>
          </p:cNvPr>
          <p:cNvPicPr>
            <a:picLocks noChangeAspect="1" noChangeArrowheads="1"/>
          </p:cNvPicPr>
          <p:nvPr/>
        </p:nvPicPr>
        <p:blipFill>
          <a:blip r:embed="rId5" cstate="print"/>
          <a:srcRect/>
          <a:stretch>
            <a:fillRect/>
          </a:stretch>
        </p:blipFill>
        <p:spPr>
          <a:xfrm>
            <a:off x="2362200" y="3457574"/>
            <a:ext cx="5278046" cy="3171826"/>
          </a:xfrm>
          <a:prstGeom prst="rect">
            <a:avLst/>
          </a:prstGeom>
          <a:noFill/>
          <a:ln/>
        </p:spPr>
      </p:pic>
      <p:sp>
        <p:nvSpPr>
          <p:cNvPr id="12" name="Oval 11">
            <a:extLst>
              <a:ext uri="{FF2B5EF4-FFF2-40B4-BE49-F238E27FC236}">
                <a16:creationId xmlns:a16="http://schemas.microsoft.com/office/drawing/2014/main" id="{987B2805-A04B-4C0A-976D-13B674BCEB8D}"/>
              </a:ext>
            </a:extLst>
          </p:cNvPr>
          <p:cNvSpPr/>
          <p:nvPr/>
        </p:nvSpPr>
        <p:spPr>
          <a:xfrm>
            <a:off x="2590800" y="4191000"/>
            <a:ext cx="304800" cy="329182"/>
          </a:xfrm>
          <a:prstGeom prst="ellipse">
            <a:avLst/>
          </a:prstGeom>
          <a:noFill/>
          <a:ln w="28575" cap="flat" cmpd="sng" algn="ctr">
            <a:solidFill>
              <a:srgbClr val="FF0000"/>
            </a:solidFill>
            <a:prstDash val="solid"/>
            <a:round/>
            <a:headEnd type="none" w="med" len="med"/>
            <a:tailEnd type="none" w="med" len="med"/>
          </a:ln>
        </p:spPr>
        <p:style>
          <a:lnRef idx="0">
            <a:scrgbClr r="0" g="0" b="0"/>
          </a:lnRef>
          <a:fillRef idx="0">
            <a:scrgbClr r="0" g="0" b="0"/>
          </a:fillRef>
          <a:effectRef idx="0">
            <a:scrgbClr r="0" g="0" b="0"/>
          </a:effectRef>
          <a:fontRef idx="minor">
            <a:schemeClr val="accent2"/>
          </a:fontRef>
        </p:style>
        <p:txBody>
          <a:bodyPr rtlCol="0" anchor="ctr"/>
          <a:lstStyle/>
          <a:p>
            <a:pPr algn="ctr"/>
            <a:endParaRPr lang="en-US"/>
          </a:p>
        </p:txBody>
      </p:sp>
      <p:sp>
        <p:nvSpPr>
          <p:cNvPr id="13" name="Oval 12">
            <a:extLst>
              <a:ext uri="{FF2B5EF4-FFF2-40B4-BE49-F238E27FC236}">
                <a16:creationId xmlns:a16="http://schemas.microsoft.com/office/drawing/2014/main" id="{88BBB50D-BF74-414E-BF5F-54174907CE53}"/>
              </a:ext>
            </a:extLst>
          </p:cNvPr>
          <p:cNvSpPr/>
          <p:nvPr/>
        </p:nvSpPr>
        <p:spPr>
          <a:xfrm>
            <a:off x="4696423" y="4648200"/>
            <a:ext cx="304800" cy="329182"/>
          </a:xfrm>
          <a:prstGeom prst="ellipse">
            <a:avLst/>
          </a:prstGeom>
          <a:noFill/>
          <a:ln w="28575" cap="flat" cmpd="sng" algn="ctr">
            <a:solidFill>
              <a:srgbClr val="FF0000"/>
            </a:solidFill>
            <a:prstDash val="solid"/>
            <a:round/>
            <a:headEnd type="none" w="med" len="med"/>
            <a:tailEnd type="none" w="med" len="med"/>
          </a:ln>
        </p:spPr>
        <p:style>
          <a:lnRef idx="0">
            <a:scrgbClr r="0" g="0" b="0"/>
          </a:lnRef>
          <a:fillRef idx="0">
            <a:scrgbClr r="0" g="0" b="0"/>
          </a:fillRef>
          <a:effectRef idx="0">
            <a:scrgbClr r="0" g="0" b="0"/>
          </a:effectRef>
          <a:fontRef idx="minor">
            <a:schemeClr val="accent2"/>
          </a:fontRef>
        </p:style>
        <p:txBody>
          <a:bodyPr rtlCol="0" anchor="ctr"/>
          <a:lstStyle/>
          <a:p>
            <a:pPr algn="ctr"/>
            <a:endParaRPr lang="en-US"/>
          </a:p>
        </p:txBody>
      </p:sp>
      <p:sp>
        <p:nvSpPr>
          <p:cNvPr id="14" name="Oval 13">
            <a:extLst>
              <a:ext uri="{FF2B5EF4-FFF2-40B4-BE49-F238E27FC236}">
                <a16:creationId xmlns:a16="http://schemas.microsoft.com/office/drawing/2014/main" id="{04682399-767A-43D5-B887-9F194570AD63}"/>
              </a:ext>
            </a:extLst>
          </p:cNvPr>
          <p:cNvSpPr/>
          <p:nvPr/>
        </p:nvSpPr>
        <p:spPr>
          <a:xfrm>
            <a:off x="2936488" y="3352686"/>
            <a:ext cx="304800" cy="329182"/>
          </a:xfrm>
          <a:prstGeom prst="ellipse">
            <a:avLst/>
          </a:prstGeom>
          <a:noFill/>
          <a:ln w="28575" cap="flat" cmpd="sng" algn="ctr">
            <a:solidFill>
              <a:srgbClr val="FF0000"/>
            </a:solidFill>
            <a:prstDash val="solid"/>
            <a:round/>
            <a:headEnd type="none" w="med" len="med"/>
            <a:tailEnd type="none" w="med" len="med"/>
          </a:ln>
        </p:spPr>
        <p:style>
          <a:lnRef idx="0">
            <a:scrgbClr r="0" g="0" b="0"/>
          </a:lnRef>
          <a:fillRef idx="0">
            <a:scrgbClr r="0" g="0" b="0"/>
          </a:fillRef>
          <a:effectRef idx="0">
            <a:scrgbClr r="0" g="0" b="0"/>
          </a:effectRef>
          <a:fontRef idx="minor">
            <a:schemeClr val="accent2"/>
          </a:fontRef>
        </p:style>
        <p:txBody>
          <a:bodyPr rtlCol="0" anchor="ctr"/>
          <a:lstStyle/>
          <a:p>
            <a:pPr algn="ctr"/>
            <a:endParaRPr lang="en-US"/>
          </a:p>
        </p:txBody>
      </p:sp>
      <p:sp>
        <p:nvSpPr>
          <p:cNvPr id="15" name="Oval 14">
            <a:extLst>
              <a:ext uri="{FF2B5EF4-FFF2-40B4-BE49-F238E27FC236}">
                <a16:creationId xmlns:a16="http://schemas.microsoft.com/office/drawing/2014/main" id="{F3C85D7A-8DF9-46E2-9E6C-EE53B30D19B9}"/>
              </a:ext>
            </a:extLst>
          </p:cNvPr>
          <p:cNvSpPr/>
          <p:nvPr/>
        </p:nvSpPr>
        <p:spPr>
          <a:xfrm>
            <a:off x="4025024" y="4977382"/>
            <a:ext cx="304800" cy="329182"/>
          </a:xfrm>
          <a:prstGeom prst="ellipse">
            <a:avLst/>
          </a:prstGeom>
          <a:noFill/>
          <a:ln w="28575" cap="flat" cmpd="sng" algn="ctr">
            <a:solidFill>
              <a:srgbClr val="FF0000"/>
            </a:solidFill>
            <a:prstDash val="solid"/>
            <a:round/>
            <a:headEnd type="none" w="med" len="med"/>
            <a:tailEnd type="none" w="med" len="med"/>
          </a:ln>
        </p:spPr>
        <p:style>
          <a:lnRef idx="0">
            <a:scrgbClr r="0" g="0" b="0"/>
          </a:lnRef>
          <a:fillRef idx="0">
            <a:scrgbClr r="0" g="0" b="0"/>
          </a:fillRef>
          <a:effectRef idx="0">
            <a:scrgbClr r="0" g="0" b="0"/>
          </a:effectRef>
          <a:fontRef idx="minor">
            <a:schemeClr val="accent2"/>
          </a:fontRef>
        </p:style>
        <p:txBody>
          <a:bodyPr rtlCol="0" anchor="ctr"/>
          <a:lstStyle/>
          <a:p>
            <a:pPr algn="ctr"/>
            <a:endParaRPr lang="en-US"/>
          </a:p>
        </p:txBody>
      </p:sp>
      <p:sp>
        <p:nvSpPr>
          <p:cNvPr id="17" name="Oval 16">
            <a:extLst>
              <a:ext uri="{FF2B5EF4-FFF2-40B4-BE49-F238E27FC236}">
                <a16:creationId xmlns:a16="http://schemas.microsoft.com/office/drawing/2014/main" id="{A06AEF80-FA19-4201-970E-6677EE202BB1}"/>
              </a:ext>
            </a:extLst>
          </p:cNvPr>
          <p:cNvSpPr/>
          <p:nvPr/>
        </p:nvSpPr>
        <p:spPr>
          <a:xfrm>
            <a:off x="3720224" y="4483609"/>
            <a:ext cx="304800" cy="329182"/>
          </a:xfrm>
          <a:prstGeom prst="ellipse">
            <a:avLst/>
          </a:prstGeom>
          <a:noFill/>
          <a:ln w="28575" cap="flat" cmpd="sng" algn="ctr">
            <a:solidFill>
              <a:schemeClr val="bg2">
                <a:lumMod val="75000"/>
              </a:schemeClr>
            </a:solidFill>
            <a:prstDash val="solid"/>
            <a:round/>
            <a:headEnd type="none" w="med" len="med"/>
            <a:tailEnd type="none" w="med" len="med"/>
          </a:ln>
        </p:spPr>
        <p:style>
          <a:lnRef idx="0">
            <a:scrgbClr r="0" g="0" b="0"/>
          </a:lnRef>
          <a:fillRef idx="0">
            <a:scrgbClr r="0" g="0" b="0"/>
          </a:fillRef>
          <a:effectRef idx="0">
            <a:scrgbClr r="0" g="0" b="0"/>
          </a:effectRef>
          <a:fontRef idx="minor">
            <a:schemeClr val="accent2"/>
          </a:fontRef>
        </p:style>
        <p:txBody>
          <a:bodyPr rtlCol="0" anchor="ctr"/>
          <a:lstStyle/>
          <a:p>
            <a:pPr algn="ctr"/>
            <a:endParaRPr lang="en-US"/>
          </a:p>
        </p:txBody>
      </p:sp>
      <p:sp>
        <p:nvSpPr>
          <p:cNvPr id="2" name="Speech Bubble: Rectangle 1">
            <a:extLst>
              <a:ext uri="{FF2B5EF4-FFF2-40B4-BE49-F238E27FC236}">
                <a16:creationId xmlns:a16="http://schemas.microsoft.com/office/drawing/2014/main" id="{477829B3-F2D1-4D4B-91F4-D481BCE2B034}"/>
              </a:ext>
            </a:extLst>
          </p:cNvPr>
          <p:cNvSpPr/>
          <p:nvPr/>
        </p:nvSpPr>
        <p:spPr>
          <a:xfrm>
            <a:off x="628650" y="3657600"/>
            <a:ext cx="1278561" cy="621791"/>
          </a:xfrm>
          <a:prstGeom prst="wedgeRectCallout">
            <a:avLst>
              <a:gd name="adj1" fmla="val 57125"/>
              <a:gd name="adj2" fmla="val -210138"/>
            </a:avLst>
          </a:prstGeom>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r>
              <a:rPr lang="en-US" dirty="0"/>
              <a:t>Example of a cycle</a:t>
            </a:r>
          </a:p>
        </p:txBody>
      </p:sp>
      <p:sp>
        <p:nvSpPr>
          <p:cNvPr id="3" name="TextBox 2">
            <a:extLst>
              <a:ext uri="{FF2B5EF4-FFF2-40B4-BE49-F238E27FC236}">
                <a16:creationId xmlns:a16="http://schemas.microsoft.com/office/drawing/2014/main" id="{A536A736-27D8-396F-AF11-BDA8860B2900}"/>
              </a:ext>
            </a:extLst>
          </p:cNvPr>
          <p:cNvSpPr txBox="1"/>
          <p:nvPr/>
        </p:nvSpPr>
        <p:spPr>
          <a:xfrm>
            <a:off x="6096000" y="3429000"/>
            <a:ext cx="1755802" cy="369332"/>
          </a:xfrm>
          <a:prstGeom prst="rect">
            <a:avLst/>
          </a:prstGeom>
          <a:noFill/>
        </p:spPr>
        <p:txBody>
          <a:bodyPr wrap="none" rtlCol="0">
            <a:spAutoFit/>
          </a:bodyPr>
          <a:lstStyle/>
          <a:p>
            <a:r>
              <a:rPr lang="en-US" dirty="0"/>
              <a:t>Transition model</a:t>
            </a:r>
          </a:p>
        </p:txBody>
      </p:sp>
      <p:sp>
        <p:nvSpPr>
          <p:cNvPr id="4" name="Rectangle 3">
            <a:extLst>
              <a:ext uri="{FF2B5EF4-FFF2-40B4-BE49-F238E27FC236}">
                <a16:creationId xmlns:a16="http://schemas.microsoft.com/office/drawing/2014/main" id="{F5C1F982-99DD-D1C7-C76F-D3C58978645F}"/>
              </a:ext>
            </a:extLst>
          </p:cNvPr>
          <p:cNvSpPr/>
          <p:nvPr/>
        </p:nvSpPr>
        <p:spPr>
          <a:xfrm>
            <a:off x="2057400" y="3320481"/>
            <a:ext cx="5943600" cy="3461319"/>
          </a:xfrm>
          <a:prstGeom prst="rect">
            <a:avLst/>
          </a:prstGeom>
          <a:noFill/>
          <a:ln w="9525" cap="flat" cmpd="sng" algn="ctr">
            <a:solidFill>
              <a:schemeClr val="accent2"/>
            </a:solidFill>
            <a:prstDash val="solid"/>
            <a:round/>
            <a:headEnd type="none" w="med" len="med"/>
            <a:tailEnd type="none" w="med" len="med"/>
          </a:ln>
        </p:spPr>
        <p:style>
          <a:lnRef idx="0">
            <a:scrgbClr r="0" g="0" b="0"/>
          </a:lnRef>
          <a:fillRef idx="0">
            <a:scrgbClr r="0" g="0" b="0"/>
          </a:fillRef>
          <a:effectRef idx="0">
            <a:scrgbClr r="0" g="0" b="0"/>
          </a:effectRef>
          <a:fontRef idx="minor">
            <a:schemeClr val="accent2"/>
          </a:fontRef>
        </p:style>
        <p:txBody>
          <a:bodyPr rtlCol="0" anchor="ctr"/>
          <a:lstStyle/>
          <a:p>
            <a:pPr algn="ctr"/>
            <a:endParaRPr lang="en-US"/>
          </a:p>
        </p:txBody>
      </p:sp>
      <p:sp>
        <p:nvSpPr>
          <p:cNvPr id="5" name="TextBox 4">
            <a:extLst>
              <a:ext uri="{FF2B5EF4-FFF2-40B4-BE49-F238E27FC236}">
                <a16:creationId xmlns:a16="http://schemas.microsoft.com/office/drawing/2014/main" id="{DD94D350-73AD-6B0D-8B20-2A0C71C50AC2}"/>
              </a:ext>
            </a:extLst>
          </p:cNvPr>
          <p:cNvSpPr txBox="1"/>
          <p:nvPr/>
        </p:nvSpPr>
        <p:spPr>
          <a:xfrm flipH="1">
            <a:off x="255604" y="4662872"/>
            <a:ext cx="1590239" cy="1200329"/>
          </a:xfrm>
          <a:prstGeom prst="rect">
            <a:avLst/>
          </a:prstGeom>
          <a:noFill/>
        </p:spPr>
        <p:txBody>
          <a:bodyPr wrap="square" rtlCol="0">
            <a:spAutoFit/>
          </a:bodyPr>
          <a:lstStyle/>
          <a:p>
            <a:r>
              <a:rPr lang="en-US" dirty="0"/>
              <a:t>We could have also expanded Timisoara or </a:t>
            </a:r>
            <a:r>
              <a:rPr lang="en-US" dirty="0" err="1"/>
              <a:t>Zerind</a:t>
            </a:r>
            <a:r>
              <a:rPr lang="en-US" dirty="0"/>
              <a:t>!</a:t>
            </a:r>
          </a:p>
        </p:txBody>
      </p:sp>
      <p:cxnSp>
        <p:nvCxnSpPr>
          <p:cNvPr id="7" name="Straight Connector 6">
            <a:extLst>
              <a:ext uri="{FF2B5EF4-FFF2-40B4-BE49-F238E27FC236}">
                <a16:creationId xmlns:a16="http://schemas.microsoft.com/office/drawing/2014/main" id="{75A58988-1DF2-E558-4844-2E6D127ACB37}"/>
              </a:ext>
            </a:extLst>
          </p:cNvPr>
          <p:cNvCxnSpPr>
            <a:cxnSpLocks/>
            <a:stCxn id="12" idx="6"/>
          </p:cNvCxnSpPr>
          <p:nvPr/>
        </p:nvCxnSpPr>
        <p:spPr>
          <a:xfrm>
            <a:off x="2895600" y="4355591"/>
            <a:ext cx="824624" cy="292609"/>
          </a:xfrm>
          <a:prstGeom prst="line">
            <a:avLst/>
          </a:prstGeom>
          <a:ln/>
        </p:spPr>
        <p:style>
          <a:lnRef idx="3">
            <a:schemeClr val="accent6"/>
          </a:lnRef>
          <a:fillRef idx="0">
            <a:schemeClr val="accent6"/>
          </a:fillRef>
          <a:effectRef idx="2">
            <a:schemeClr val="accent6"/>
          </a:effectRef>
          <a:fontRef idx="minor">
            <a:schemeClr val="tx1"/>
          </a:fontRef>
        </p:style>
      </p:cxn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8"/>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14"/>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12"/>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15"/>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13"/>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nodeType="clickEffect">
                                  <p:stCondLst>
                                    <p:cond delay="0"/>
                                  </p:stCondLst>
                                  <p:childTnLst>
                                    <p:set>
                                      <p:cBhvr>
                                        <p:cTn id="20" dur="1" fill="hold">
                                          <p:stCondLst>
                                            <p:cond delay="0"/>
                                          </p:stCondLst>
                                        </p:cTn>
                                        <p:tgtEl>
                                          <p:spTgt spid="7"/>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P spid="9" grpId="0"/>
      <p:bldP spid="12" grpId="0" animBg="1"/>
      <p:bldP spid="13" grpId="0" animBg="1"/>
      <p:bldP spid="14" grpId="0" animBg="1"/>
      <p:bldP spid="15" grpId="0" animBg="1"/>
      <p:bldP spid="2" grpId="0" animBg="1"/>
    </p:bld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4578" name="Rectangle 2"/>
          <p:cNvSpPr>
            <a:spLocks noGrp="1" noChangeArrowheads="1"/>
          </p:cNvSpPr>
          <p:nvPr>
            <p:ph type="title"/>
          </p:nvPr>
        </p:nvSpPr>
        <p:spPr/>
        <p:txBody>
          <a:bodyPr/>
          <a:lstStyle/>
          <a:p>
            <a:r>
              <a:rPr lang="en-US" dirty="0"/>
              <a:t>Search Strategies: Properties</a:t>
            </a:r>
          </a:p>
        </p:txBody>
      </p:sp>
      <p:sp>
        <p:nvSpPr>
          <p:cNvPr id="24579" name="Rectangle 3"/>
          <p:cNvSpPr>
            <a:spLocks noGrp="1" noChangeArrowheads="1"/>
          </p:cNvSpPr>
          <p:nvPr>
            <p:ph idx="1"/>
          </p:nvPr>
        </p:nvSpPr>
        <p:spPr/>
        <p:txBody>
          <a:bodyPr>
            <a:normAutofit/>
          </a:bodyPr>
          <a:lstStyle/>
          <a:p>
            <a:pPr>
              <a:lnSpc>
                <a:spcPct val="90000"/>
              </a:lnSpc>
            </a:pPr>
            <a:r>
              <a:rPr lang="en-US" sz="2400" dirty="0"/>
              <a:t>A </a:t>
            </a:r>
            <a:r>
              <a:rPr lang="en-US" sz="2400" b="1" dirty="0">
                <a:solidFill>
                  <a:srgbClr val="FF0000"/>
                </a:solidFill>
              </a:rPr>
              <a:t>search strategy</a:t>
            </a:r>
            <a:r>
              <a:rPr lang="en-US" sz="2400" b="1" dirty="0"/>
              <a:t> </a:t>
            </a:r>
            <a:r>
              <a:rPr lang="en-US" sz="2400" dirty="0"/>
              <a:t>is defined by picking the </a:t>
            </a:r>
            <a:r>
              <a:rPr lang="en-US" sz="2400" b="1" dirty="0">
                <a:solidFill>
                  <a:srgbClr val="FF0000"/>
                </a:solidFill>
              </a:rPr>
              <a:t>order of node expansion</a:t>
            </a:r>
            <a:r>
              <a:rPr lang="en-US" sz="2400" dirty="0"/>
              <a:t>.</a:t>
            </a:r>
          </a:p>
          <a:p>
            <a:pPr>
              <a:lnSpc>
                <a:spcPct val="90000"/>
              </a:lnSpc>
            </a:pPr>
            <a:endParaRPr lang="en-US" sz="2400" dirty="0"/>
          </a:p>
          <a:p>
            <a:pPr>
              <a:lnSpc>
                <a:spcPct val="90000"/>
              </a:lnSpc>
            </a:pPr>
            <a:r>
              <a:rPr lang="en-US" sz="2400" dirty="0"/>
              <a:t>Strategies are evaluated along the following dimensions:</a:t>
            </a:r>
          </a:p>
          <a:p>
            <a:pPr lvl="1">
              <a:lnSpc>
                <a:spcPct val="90000"/>
              </a:lnSpc>
            </a:pPr>
            <a:r>
              <a:rPr lang="en-US" sz="2000" b="1" dirty="0">
                <a:solidFill>
                  <a:srgbClr val="FF0000"/>
                </a:solidFill>
              </a:rPr>
              <a:t>Completeness:</a:t>
            </a:r>
            <a:r>
              <a:rPr lang="en-US" sz="2000" dirty="0">
                <a:solidFill>
                  <a:srgbClr val="FF0000"/>
                </a:solidFill>
              </a:rPr>
              <a:t> </a:t>
            </a:r>
            <a:r>
              <a:rPr lang="en-US" sz="2000" dirty="0"/>
              <a:t>does it always find a solution if one exists?</a:t>
            </a:r>
          </a:p>
          <a:p>
            <a:pPr lvl="1">
              <a:lnSpc>
                <a:spcPct val="90000"/>
              </a:lnSpc>
            </a:pPr>
            <a:r>
              <a:rPr lang="en-US" sz="2000" b="1" dirty="0">
                <a:solidFill>
                  <a:srgbClr val="FF0000"/>
                </a:solidFill>
              </a:rPr>
              <a:t>Optimality:</a:t>
            </a:r>
            <a:r>
              <a:rPr lang="en-US" sz="2000" dirty="0">
                <a:solidFill>
                  <a:srgbClr val="FF0000"/>
                </a:solidFill>
              </a:rPr>
              <a:t> </a:t>
            </a:r>
            <a:r>
              <a:rPr lang="en-US" sz="2000" dirty="0"/>
              <a:t>does it always find a least-cost solution?</a:t>
            </a:r>
          </a:p>
          <a:p>
            <a:pPr lvl="1">
              <a:lnSpc>
                <a:spcPct val="90000"/>
              </a:lnSpc>
            </a:pPr>
            <a:r>
              <a:rPr lang="en-US" sz="2000" b="1" dirty="0">
                <a:solidFill>
                  <a:srgbClr val="FF0000"/>
                </a:solidFill>
              </a:rPr>
              <a:t>Time complexity:</a:t>
            </a:r>
            <a:r>
              <a:rPr lang="en-US" sz="2000" b="1" dirty="0"/>
              <a:t> </a:t>
            </a:r>
            <a:r>
              <a:rPr lang="en-US" sz="2000" dirty="0"/>
              <a:t>how long does it take?</a:t>
            </a:r>
          </a:p>
          <a:p>
            <a:pPr lvl="1">
              <a:lnSpc>
                <a:spcPct val="90000"/>
              </a:lnSpc>
            </a:pPr>
            <a:r>
              <a:rPr lang="en-US" sz="2000" b="1" dirty="0">
                <a:solidFill>
                  <a:srgbClr val="FF0000"/>
                </a:solidFill>
              </a:rPr>
              <a:t>Space complexity: </a:t>
            </a:r>
            <a:r>
              <a:rPr lang="en-US" sz="2000" dirty="0"/>
              <a:t> how much memory does it need?</a:t>
            </a:r>
          </a:p>
          <a:p>
            <a:pPr lvl="1">
              <a:lnSpc>
                <a:spcPct val="90000"/>
              </a:lnSpc>
            </a:pPr>
            <a:endParaRPr lang="en-US" sz="2000" dirty="0"/>
          </a:p>
          <a:p>
            <a:r>
              <a:rPr lang="en-US" sz="2300" dirty="0"/>
              <a:t>We will discuss different search strategies and use these properties to compare them.</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4579">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24579">
                                            <p:txEl>
                                              <p:pRg st="2" end="2"/>
                                            </p:txEl>
                                          </p:spTgt>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24579">
                                            <p:txEl>
                                              <p:pRg st="3" end="3"/>
                                            </p:txEl>
                                          </p:spTgt>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24579">
                                            <p:txEl>
                                              <p:pRg st="4" end="4"/>
                                            </p:txEl>
                                          </p:spTgt>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24579">
                                            <p:txEl>
                                              <p:pRg st="5" end="5"/>
                                            </p:txEl>
                                          </p:spTgt>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24579">
                                            <p:txEl>
                                              <p:pRg st="6" end="6"/>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24579">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4579" grpId="0" uiExpand="1" build="p"/>
    </p:bldLst>
  </p:timing>
</p:sld>
</file>

<file path=ppt/slides/slide23.xml><?xml version="1.0" encoding="utf-8"?>
<p:sld xmlns:a="http://schemas.openxmlformats.org/drawingml/2006/main" xmlns:r="http://schemas.openxmlformats.org/officeDocument/2006/relationships" xmlns:p="http://schemas.openxmlformats.org/presentationml/2006/main">
  <p:cSld>
    <p:bg>
      <p:bgPr>
        <a:solidFill>
          <a:srgbClr val="000000"/>
        </a:solidFill>
        <a:effectLst/>
      </p:bgPr>
    </p:bg>
    <p:spTree>
      <p:nvGrpSpPr>
        <p:cNvPr id="1" name=""/>
        <p:cNvGrpSpPr/>
        <p:nvPr/>
      </p:nvGrpSpPr>
      <p:grpSpPr>
        <a:xfrm>
          <a:off x="0" y="0"/>
          <a:ext cx="0" cy="0"/>
          <a:chOff x="0" y="0"/>
          <a:chExt cx="0" cy="0"/>
        </a:xfrm>
      </p:grpSpPr>
      <p:pic>
        <p:nvPicPr>
          <p:cNvPr id="1026" name="Picture 2" descr="space galaxy NASA star">
            <a:extLst>
              <a:ext uri="{FF2B5EF4-FFF2-40B4-BE49-F238E27FC236}">
                <a16:creationId xmlns:a16="http://schemas.microsoft.com/office/drawing/2014/main" id="{44A495EF-F008-40D3-BF47-B0CC444E9D71}"/>
              </a:ext>
            </a:extLst>
          </p:cNvPr>
          <p:cNvPicPr>
            <a:picLocks noChangeAspect="1" noChangeArrowheads="1"/>
          </p:cNvPicPr>
          <p:nvPr/>
        </p:nvPicPr>
        <p:blipFill rotWithShape="1">
          <a:blip r:embed="rId2">
            <a:alphaModFix amt="50000"/>
            <a:extLst>
              <a:ext uri="{28A0092B-C50C-407E-A947-70E740481C1C}">
                <a14:useLocalDpi xmlns:a14="http://schemas.microsoft.com/office/drawing/2010/main" val="0"/>
              </a:ext>
            </a:extLst>
          </a:blip>
          <a:srcRect r="25000"/>
          <a:stretch/>
        </p:blipFill>
        <p:spPr bwMode="auto">
          <a:xfrm>
            <a:off x="20" y="1"/>
            <a:ext cx="9143980" cy="6857999"/>
          </a:xfrm>
          <a:prstGeom prst="rect">
            <a:avLst/>
          </a:prstGeom>
          <a:noFill/>
          <a:extLst>
            <a:ext uri="{909E8E84-426E-40DD-AFC4-6F175D3DCCD1}">
              <a14:hiddenFill xmlns:a14="http://schemas.microsoft.com/office/drawing/2010/main">
                <a:solidFill>
                  <a:srgbClr val="FFFFFF"/>
                </a:solidFill>
              </a14:hiddenFill>
            </a:ext>
          </a:extLst>
        </p:spPr>
      </p:pic>
      <p:sp>
        <p:nvSpPr>
          <p:cNvPr id="4" name="Title 3">
            <a:extLst>
              <a:ext uri="{FF2B5EF4-FFF2-40B4-BE49-F238E27FC236}">
                <a16:creationId xmlns:a16="http://schemas.microsoft.com/office/drawing/2014/main" id="{2EDC18A5-378A-442B-84F7-BEF1FCF0E905}"/>
              </a:ext>
            </a:extLst>
          </p:cNvPr>
          <p:cNvSpPr>
            <a:spLocks noGrp="1"/>
          </p:cNvSpPr>
          <p:nvPr>
            <p:ph type="title"/>
          </p:nvPr>
        </p:nvSpPr>
        <p:spPr>
          <a:xfrm>
            <a:off x="628650" y="4495800"/>
            <a:ext cx="7886700" cy="1325563"/>
          </a:xfrm>
        </p:spPr>
        <p:txBody>
          <a:bodyPr>
            <a:normAutofit fontScale="90000"/>
          </a:bodyPr>
          <a:lstStyle/>
          <a:p>
            <a:pPr algn="ctr"/>
            <a:r>
              <a:rPr lang="en-US" b="1" dirty="0">
                <a:solidFill>
                  <a:srgbClr val="FFFFFF"/>
                </a:solidFill>
                <a:latin typeface="+mn-lt"/>
              </a:rPr>
              <a:t>Space and Time Complexity</a:t>
            </a:r>
            <a:br>
              <a:rPr lang="en-US" b="1" dirty="0">
                <a:solidFill>
                  <a:srgbClr val="FFFFFF"/>
                </a:solidFill>
                <a:latin typeface="+mn-lt"/>
              </a:rPr>
            </a:br>
            <a:br>
              <a:rPr lang="en-US" b="1" dirty="0">
                <a:solidFill>
                  <a:srgbClr val="FFFFFF"/>
                </a:solidFill>
                <a:latin typeface="+mn-lt"/>
              </a:rPr>
            </a:br>
            <a:r>
              <a:rPr lang="en-US" b="1" dirty="0">
                <a:solidFill>
                  <a:srgbClr val="FFFFFF"/>
                </a:solidFill>
                <a:latin typeface="+mn-lt"/>
              </a:rPr>
              <a:t>State Space vs. Search Tree Size</a:t>
            </a:r>
          </a:p>
        </p:txBody>
      </p:sp>
    </p:spTree>
    <p:extLst>
      <p:ext uri="{BB962C8B-B14F-4D97-AF65-F5344CB8AC3E}">
        <p14:creationId xmlns:p14="http://schemas.microsoft.com/office/powerpoint/2010/main" val="888205885"/>
      </p:ext>
    </p:extLst>
  </p:cSld>
  <p:clrMapOvr>
    <a:overrideClrMapping bg1="dk1" tx1="lt1" bg2="dk2" tx2="lt2" accent1="accent1" accent2="accent2" accent3="accent3" accent4="accent4" accent5="accent5" accent6="accent6" hlink="hlink" folHlink="folHlink"/>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4578" name="Rectangle 2"/>
          <p:cNvSpPr>
            <a:spLocks noGrp="1" noChangeArrowheads="1"/>
          </p:cNvSpPr>
          <p:nvPr>
            <p:ph type="title"/>
          </p:nvPr>
        </p:nvSpPr>
        <p:spPr>
          <a:xfrm>
            <a:off x="628650" y="365127"/>
            <a:ext cx="7886700" cy="930274"/>
          </a:xfrm>
        </p:spPr>
        <p:txBody>
          <a:bodyPr/>
          <a:lstStyle/>
          <a:p>
            <a:r>
              <a:rPr lang="en-US" dirty="0"/>
              <a:t>State Space vs. Search Tree Size</a:t>
            </a:r>
          </a:p>
        </p:txBody>
      </p:sp>
      <mc:AlternateContent xmlns:mc="http://schemas.openxmlformats.org/markup-compatibility/2006" xmlns:a14="http://schemas.microsoft.com/office/drawing/2010/main">
        <mc:Choice Requires="a14">
          <p:sp>
            <p:nvSpPr>
              <p:cNvPr id="24579" name="Rectangle 3"/>
              <p:cNvSpPr>
                <a:spLocks noGrp="1" noChangeArrowheads="1"/>
              </p:cNvSpPr>
              <p:nvPr>
                <p:ph idx="1"/>
              </p:nvPr>
            </p:nvSpPr>
            <p:spPr>
              <a:xfrm>
                <a:off x="628650" y="1219200"/>
                <a:ext cx="7886700" cy="5105399"/>
              </a:xfrm>
            </p:spPr>
            <p:txBody>
              <a:bodyPr>
                <a:normAutofit fontScale="92500" lnSpcReduction="20000"/>
              </a:bodyPr>
              <a:lstStyle/>
              <a:p>
                <a:pPr>
                  <a:lnSpc>
                    <a:spcPct val="90000"/>
                  </a:lnSpc>
                </a:pPr>
                <a:r>
                  <a:rPr lang="en-US" dirty="0"/>
                  <a:t>Space and time complexity depend on the </a:t>
                </a:r>
                <a:r>
                  <a:rPr lang="en-US" b="1" dirty="0">
                    <a:solidFill>
                      <a:srgbClr val="FF0000"/>
                    </a:solidFill>
                  </a:rPr>
                  <a:t>number of tree nodes </a:t>
                </a:r>
                <a:r>
                  <a:rPr lang="en-US" dirty="0"/>
                  <a:t>searched (created and visited) till a goal node is found. For a tree with </a:t>
                </a:r>
                <a14:m>
                  <m:oMath xmlns:m="http://schemas.openxmlformats.org/officeDocument/2006/math">
                    <m:r>
                      <a:rPr lang="en-US" b="0" i="1" smtClean="0">
                        <a:latin typeface="Cambria Math" panose="02040503050406030204" pitchFamily="18" charset="0"/>
                      </a:rPr>
                      <m:t>𝑛</m:t>
                    </m:r>
                  </m:oMath>
                </a14:m>
                <a:r>
                  <a:rPr lang="en-US" dirty="0"/>
                  <a:t> nodes we have:</a:t>
                </a:r>
                <a:br>
                  <a:rPr lang="en-US" dirty="0"/>
                </a:br>
                <a14:m>
                  <m:oMath xmlns:m="http://schemas.openxmlformats.org/officeDocument/2006/math">
                    <m:r>
                      <a:rPr lang="en-US" i="1">
                        <a:latin typeface="Cambria Math" panose="02040503050406030204" pitchFamily="18" charset="0"/>
                      </a:rPr>
                      <m:t>𝑂</m:t>
                    </m:r>
                    <m:r>
                      <a:rPr lang="en-US" i="1">
                        <a:latin typeface="Cambria Math" panose="02040503050406030204" pitchFamily="18" charset="0"/>
                      </a:rPr>
                      <m:t>(</m:t>
                    </m:r>
                    <m:r>
                      <a:rPr lang="en-US" i="1">
                        <a:latin typeface="Cambria Math" panose="02040503050406030204" pitchFamily="18" charset="0"/>
                      </a:rPr>
                      <m:t>𝑛</m:t>
                    </m:r>
                    <m:r>
                      <a:rPr lang="en-US" i="1">
                        <a:latin typeface="Cambria Math" panose="02040503050406030204" pitchFamily="18" charset="0"/>
                      </a:rPr>
                      <m:t>)</m:t>
                    </m:r>
                  </m:oMath>
                </a14:m>
                <a:endParaRPr lang="en-US" dirty="0"/>
              </a:p>
              <a:p>
                <a:pPr marL="0" indent="0">
                  <a:lnSpc>
                    <a:spcPct val="90000"/>
                  </a:lnSpc>
                  <a:buNone/>
                </a:pPr>
                <a:endParaRPr lang="en-US" dirty="0"/>
              </a:p>
              <a:p>
                <a:r>
                  <a:rPr lang="en-US" b="1" dirty="0"/>
                  <a:t>Remember</a:t>
                </a:r>
                <a:r>
                  <a:rPr lang="en-US" dirty="0"/>
                  <a:t>: For perfect cycle checking and redundant path elimination, we have a 1:1 mapping between nodes and states:</a:t>
                </a:r>
              </a:p>
              <a:p>
                <a:pPr marL="0" indent="0" algn="ctr">
                  <a:buNone/>
                </a:pPr>
                <a:r>
                  <a:rPr lang="en-US" dirty="0"/>
                  <a:t>Nodes in the search tree </a:t>
                </a:r>
                <a14:m>
                  <m:oMath xmlns:m="http://schemas.openxmlformats.org/officeDocument/2006/math">
                    <m:r>
                      <a:rPr lang="en-US" i="1">
                        <a:latin typeface="Cambria Math" panose="02040503050406030204" pitchFamily="18" charset="0"/>
                      </a:rPr>
                      <m:t>=</m:t>
                    </m:r>
                  </m:oMath>
                </a14:m>
                <a:r>
                  <a:rPr lang="en-US" dirty="0"/>
                  <a:t> states in the search space</a:t>
                </a:r>
              </a:p>
              <a:p>
                <a:pPr marL="342900" lvl="1" indent="0">
                  <a:buNone/>
                </a:pPr>
                <a:r>
                  <a:rPr lang="en-US" dirty="0"/>
                  <a:t>Otherwise, we may have multiple nodes representing a state.</a:t>
                </a:r>
              </a:p>
              <a:p>
                <a:pPr marL="0" indent="0">
                  <a:lnSpc>
                    <a:spcPct val="90000"/>
                  </a:lnSpc>
                  <a:buNone/>
                </a:pPr>
                <a:endParaRPr lang="en-US" dirty="0"/>
              </a:p>
              <a:p>
                <a:r>
                  <a:rPr lang="en-US" dirty="0"/>
                  <a:t>We have the following options to estimate </a:t>
                </a:r>
                <a14:m>
                  <m:oMath xmlns:m="http://schemas.openxmlformats.org/officeDocument/2006/math">
                    <m:r>
                      <a:rPr lang="en-US" b="0" i="1" smtClean="0">
                        <a:latin typeface="Cambria Math" panose="02040503050406030204" pitchFamily="18" charset="0"/>
                      </a:rPr>
                      <m:t>𝑛</m:t>
                    </m:r>
                  </m:oMath>
                </a14:m>
                <a:r>
                  <a:rPr lang="en-US" dirty="0"/>
                  <a:t> for a search problem:</a:t>
                </a:r>
              </a:p>
              <a:p>
                <a:pPr marL="685800" lvl="1" indent="-342900">
                  <a:buFont typeface="+mj-lt"/>
                  <a:buAutoNum type="alphaLcPeriod"/>
                </a:pPr>
                <a:r>
                  <a:rPr lang="en-US" b="1" dirty="0">
                    <a:solidFill>
                      <a:srgbClr val="FF0000"/>
                    </a:solidFill>
                  </a:rPr>
                  <a:t>Estimate the reachable state space size.</a:t>
                </a:r>
                <a:endParaRPr lang="en-US" dirty="0"/>
              </a:p>
              <a:p>
                <a:pPr marL="685800" lvl="1" indent="-342900">
                  <a:buFont typeface="+mj-lt"/>
                  <a:buAutoNum type="alphaLcPeriod"/>
                </a:pPr>
                <a:r>
                  <a:rPr lang="en-US" b="1" dirty="0">
                    <a:solidFill>
                      <a:srgbClr val="FF0000"/>
                    </a:solidFill>
                  </a:rPr>
                  <a:t>Estimate the number of searched tree nodes.</a:t>
                </a:r>
                <a:endParaRPr lang="en-US" dirty="0"/>
              </a:p>
              <a:p>
                <a:endParaRPr lang="en-US" sz="3000" dirty="0"/>
              </a:p>
              <a:p>
                <a:r>
                  <a:rPr lang="en-US" dirty="0"/>
                  <a:t>Estimating the complexity is important to judge:</a:t>
                </a:r>
              </a:p>
              <a:p>
                <a:pPr lvl="1">
                  <a:buFont typeface="Wingdings" panose="05000000000000000000" pitchFamily="2" charset="2"/>
                  <a:buChar char="§"/>
                </a:pPr>
                <a:r>
                  <a:rPr lang="en-US" dirty="0"/>
                  <a:t>How difficult is the problem?</a:t>
                </a:r>
              </a:p>
              <a:p>
                <a:pPr lvl="1">
                  <a:buFont typeface="Wingdings" panose="05000000000000000000" pitchFamily="2" charset="2"/>
                  <a:buChar char="§"/>
                </a:pPr>
                <a:r>
                  <a:rPr lang="en-US" dirty="0"/>
                  <a:t>What algorithm will fit in memory?</a:t>
                </a:r>
              </a:p>
              <a:p>
                <a:pPr lvl="1">
                  <a:buFont typeface="Wingdings" panose="05000000000000000000" pitchFamily="2" charset="2"/>
                  <a:buChar char="§"/>
                </a:pPr>
                <a:r>
                  <a:rPr lang="en-US" dirty="0"/>
                  <a:t>Can we find a solution fast enough?</a:t>
                </a:r>
              </a:p>
              <a:p>
                <a:pPr lvl="1">
                  <a:buFont typeface="Wingdings" panose="05000000000000000000" pitchFamily="2" charset="2"/>
                  <a:buChar char="§"/>
                </a:pPr>
                <a:r>
                  <a:rPr lang="en-US" dirty="0"/>
                  <a:t>Can we find the optimal solution, or do we need to use a heuristic?</a:t>
                </a:r>
              </a:p>
            </p:txBody>
          </p:sp>
        </mc:Choice>
        <mc:Fallback xmlns="">
          <p:sp>
            <p:nvSpPr>
              <p:cNvPr id="24579" name="Rectangle 3"/>
              <p:cNvSpPr>
                <a:spLocks noGrp="1" noRot="1" noChangeAspect="1" noMove="1" noResize="1" noEditPoints="1" noAdjustHandles="1" noChangeArrowheads="1" noChangeShapeType="1" noTextEdit="1"/>
              </p:cNvSpPr>
              <p:nvPr>
                <p:ph idx="1"/>
              </p:nvPr>
            </p:nvSpPr>
            <p:spPr>
              <a:xfrm>
                <a:off x="628650" y="1219200"/>
                <a:ext cx="7886700" cy="5105399"/>
              </a:xfrm>
              <a:blipFill>
                <a:blip r:embed="rId3"/>
                <a:stretch>
                  <a:fillRect l="-541" t="-2031"/>
                </a:stretch>
              </a:blipFill>
            </p:spPr>
            <p:txBody>
              <a:bodyPr/>
              <a:lstStyle/>
              <a:p>
                <a:r>
                  <a:rPr lang="en-US">
                    <a:noFill/>
                  </a:rPr>
                  <a:t> </a:t>
                </a:r>
              </a:p>
            </p:txBody>
          </p:sp>
        </mc:Fallback>
      </mc:AlternateContent>
    </p:spTree>
    <p:extLst>
      <p:ext uri="{BB962C8B-B14F-4D97-AF65-F5344CB8AC3E}">
        <p14:creationId xmlns:p14="http://schemas.microsoft.com/office/powerpoint/2010/main" val="113612807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4579">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24579">
                                            <p:txEl>
                                              <p:pRg st="2" end="2"/>
                                            </p:txEl>
                                          </p:spTgt>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24579">
                                            <p:txEl>
                                              <p:pRg st="3" end="3"/>
                                            </p:txEl>
                                          </p:spTgt>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24579">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24579">
                                            <p:txEl>
                                              <p:pRg st="6" end="6"/>
                                            </p:txEl>
                                          </p:spTgt>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24579">
                                            <p:txEl>
                                              <p:pRg st="7" end="7"/>
                                            </p:txEl>
                                          </p:spTgt>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24579">
                                            <p:txEl>
                                              <p:pRg st="8" end="8"/>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24579">
                                            <p:txEl>
                                              <p:pRg st="10" end="10"/>
                                            </p:txEl>
                                          </p:spTgt>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24579">
                                            <p:txEl>
                                              <p:pRg st="11" end="11"/>
                                            </p:txEl>
                                          </p:spTgt>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24579">
                                            <p:txEl>
                                              <p:pRg st="12" end="12"/>
                                            </p:txEl>
                                          </p:spTgt>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24579">
                                            <p:txEl>
                                              <p:pRg st="13" end="13"/>
                                            </p:txEl>
                                          </p:spTgt>
                                        </p:tgtEl>
                                        <p:attrNameLst>
                                          <p:attrName>style.visibility</p:attrName>
                                        </p:attrNameLst>
                                      </p:cBhvr>
                                      <p:to>
                                        <p:strVal val="visible"/>
                                      </p:to>
                                    </p:set>
                                  </p:childTnLst>
                                </p:cTn>
                              </p:par>
                              <p:par>
                                <p:cTn id="33" presetID="1" presetClass="entr" presetSubtype="0" fill="hold" grpId="0" nodeType="withEffect">
                                  <p:stCondLst>
                                    <p:cond delay="0"/>
                                  </p:stCondLst>
                                  <p:childTnLst>
                                    <p:set>
                                      <p:cBhvr>
                                        <p:cTn id="34" dur="1" fill="hold">
                                          <p:stCondLst>
                                            <p:cond delay="0"/>
                                          </p:stCondLst>
                                        </p:cTn>
                                        <p:tgtEl>
                                          <p:spTgt spid="24579">
                                            <p:txEl>
                                              <p:pRg st="14" end="1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4579" grpId="0" uiExpand="1" build="p"/>
    </p:bld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C78118D6-875C-4F36-B0D3-613393EA516B}"/>
              </a:ext>
            </a:extLst>
          </p:cNvPr>
          <p:cNvSpPr>
            <a:spLocks noGrp="1"/>
          </p:cNvSpPr>
          <p:nvPr>
            <p:ph type="title"/>
          </p:nvPr>
        </p:nvSpPr>
        <p:spPr/>
        <p:txBody>
          <a:bodyPr>
            <a:normAutofit/>
          </a:bodyPr>
          <a:lstStyle/>
          <a:p>
            <a:r>
              <a:rPr lang="en-US" dirty="0"/>
              <a:t>State Space Size Estimation</a:t>
            </a:r>
          </a:p>
        </p:txBody>
      </p:sp>
      <mc:AlternateContent xmlns:mc="http://schemas.openxmlformats.org/markup-compatibility/2006" xmlns:a14="http://schemas.microsoft.com/office/drawing/2010/main">
        <mc:Choice Requires="a14">
          <p:sp>
            <p:nvSpPr>
              <p:cNvPr id="5" name="Content Placeholder 4">
                <a:extLst>
                  <a:ext uri="{FF2B5EF4-FFF2-40B4-BE49-F238E27FC236}">
                    <a16:creationId xmlns:a16="http://schemas.microsoft.com/office/drawing/2014/main" id="{185DDB57-3B13-4459-BDD1-8D24C72653BF}"/>
                  </a:ext>
                </a:extLst>
              </p:cNvPr>
              <p:cNvSpPr>
                <a:spLocks noGrp="1"/>
              </p:cNvSpPr>
              <p:nvPr>
                <p:ph idx="1"/>
              </p:nvPr>
            </p:nvSpPr>
            <p:spPr>
              <a:xfrm>
                <a:off x="628650" y="1494944"/>
                <a:ext cx="4723935" cy="4753455"/>
              </a:xfrm>
            </p:spPr>
            <p:txBody>
              <a:bodyPr>
                <a:normAutofit fontScale="85000" lnSpcReduction="20000"/>
              </a:bodyPr>
              <a:lstStyle/>
              <a:p>
                <a:pPr marL="0" indent="0">
                  <a:buNone/>
                </a:pPr>
                <a:r>
                  <a:rPr lang="en-US" sz="2400" b="1" dirty="0"/>
                  <a:t>State Space</a:t>
                </a:r>
                <a:endParaRPr lang="en-US" dirty="0"/>
              </a:p>
              <a:p>
                <a:r>
                  <a:rPr lang="en-US" dirty="0"/>
                  <a:t>Number of different states the agent and environment can be in.</a:t>
                </a:r>
              </a:p>
              <a:p>
                <a:r>
                  <a:rPr lang="en-US" b="1" dirty="0">
                    <a:solidFill>
                      <a:srgbClr val="FF0000"/>
                    </a:solidFill>
                  </a:rPr>
                  <a:t>Reachable states </a:t>
                </a:r>
                <a:r>
                  <a:rPr lang="en-US" dirty="0"/>
                  <a:t>are defined by the initial state and the transition model. Only reachable states are important for search.</a:t>
                </a:r>
              </a:p>
              <a:p>
                <a:pPr marL="0" indent="0">
                  <a:buNone/>
                </a:pPr>
                <a:endParaRPr lang="en-US" dirty="0"/>
              </a:p>
              <a:p>
                <a:pPr marL="0" indent="0">
                  <a:buNone/>
                </a:pPr>
                <a:r>
                  <a:rPr lang="en-US" sz="2600" b="1" dirty="0"/>
                  <a:t>Estimation</a:t>
                </a:r>
                <a:endParaRPr lang="en-US" dirty="0"/>
              </a:p>
              <a:p>
                <a:r>
                  <a:rPr lang="en-US" dirty="0"/>
                  <a:t>Even if the used algorithm represents the state space using atomic states, we may know the internal (factored) representation. It can be used to estimate the problem size. </a:t>
                </a:r>
              </a:p>
              <a:p>
                <a:r>
                  <a:rPr lang="en-US" dirty="0"/>
                  <a:t>The basic rule is to estimate the state space size for factored state representation with </a:t>
                </a:r>
                <a14:m>
                  <m:oMath xmlns:m="http://schemas.openxmlformats.org/officeDocument/2006/math">
                    <m:r>
                      <a:rPr lang="en-US" b="0" i="1" smtClean="0">
                        <a:latin typeface="Cambria Math" panose="02040503050406030204" pitchFamily="18" charset="0"/>
                      </a:rPr>
                      <m:t>𝑙</m:t>
                    </m:r>
                  </m:oMath>
                </a14:m>
                <a:r>
                  <a:rPr lang="en-US" dirty="0"/>
                  <a:t> fluents (variables) as:</a:t>
                </a:r>
                <a:br>
                  <a:rPr lang="en-US" dirty="0"/>
                </a:br>
                <a:br>
                  <a:rPr lang="en-US" dirty="0"/>
                </a:br>
                <a:r>
                  <a:rPr lang="en-US" dirty="0"/>
                  <a:t>		</a:t>
                </a:r>
                <a14:m>
                  <m:oMath xmlns:m="http://schemas.openxmlformats.org/officeDocument/2006/math">
                    <m:r>
                      <a:rPr lang="en-US" i="1">
                        <a:latin typeface="Cambria Math" panose="02040503050406030204" pitchFamily="18" charset="0"/>
                      </a:rPr>
                      <m:t>𝑛</m:t>
                    </m:r>
                    <m:r>
                      <a:rPr lang="en-US" b="0" i="0" smtClean="0">
                        <a:latin typeface="Cambria Math" panose="02040503050406030204" pitchFamily="18" charset="0"/>
                      </a:rPr>
                      <m:t>=</m:t>
                    </m:r>
                    <m:d>
                      <m:dPr>
                        <m:begChr m:val="|"/>
                        <m:endChr m:val="|"/>
                        <m:ctrlPr>
                          <a:rPr lang="en-US" b="0" i="1" smtClean="0">
                            <a:latin typeface="Cambria Math" panose="02040503050406030204" pitchFamily="18" charset="0"/>
                          </a:rPr>
                        </m:ctrlPr>
                      </m:dPr>
                      <m:e>
                        <m:sSub>
                          <m:sSubPr>
                            <m:ctrlPr>
                              <a:rPr lang="en-US" b="0" i="1" smtClean="0">
                                <a:latin typeface="Cambria Math" panose="02040503050406030204" pitchFamily="18" charset="0"/>
                              </a:rPr>
                            </m:ctrlPr>
                          </m:sSubPr>
                          <m:e>
                            <m:r>
                              <a:rPr lang="en-US" b="0" i="1" smtClean="0">
                                <a:latin typeface="Cambria Math" panose="02040503050406030204" pitchFamily="18" charset="0"/>
                              </a:rPr>
                              <m:t>𝑋</m:t>
                            </m:r>
                          </m:e>
                          <m:sub>
                            <m:r>
                              <a:rPr lang="en-US" b="0" i="1" smtClean="0">
                                <a:latin typeface="Cambria Math" panose="02040503050406030204" pitchFamily="18" charset="0"/>
                              </a:rPr>
                              <m:t>1</m:t>
                            </m:r>
                          </m:sub>
                        </m:sSub>
                      </m:e>
                    </m:d>
                    <m:r>
                      <a:rPr lang="en-US" b="0" i="1" smtClean="0">
                        <a:latin typeface="Cambria Math" panose="02040503050406030204" pitchFamily="18" charset="0"/>
                      </a:rPr>
                      <m:t>×</m:t>
                    </m:r>
                    <m:d>
                      <m:dPr>
                        <m:begChr m:val="|"/>
                        <m:endChr m:val="|"/>
                        <m:ctrlPr>
                          <a:rPr lang="en-US" b="0" i="1" smtClean="0">
                            <a:latin typeface="Cambria Math" panose="02040503050406030204" pitchFamily="18" charset="0"/>
                          </a:rPr>
                        </m:ctrlPr>
                      </m:dPr>
                      <m:e>
                        <m:sSub>
                          <m:sSubPr>
                            <m:ctrlPr>
                              <a:rPr lang="en-US" b="0" i="1" smtClean="0">
                                <a:latin typeface="Cambria Math" panose="02040503050406030204" pitchFamily="18" charset="0"/>
                              </a:rPr>
                            </m:ctrlPr>
                          </m:sSubPr>
                          <m:e>
                            <m:r>
                              <a:rPr lang="en-US" b="0" i="1" smtClean="0">
                                <a:latin typeface="Cambria Math" panose="02040503050406030204" pitchFamily="18" charset="0"/>
                              </a:rPr>
                              <m:t>𝑋</m:t>
                            </m:r>
                          </m:e>
                          <m:sub>
                            <m:r>
                              <a:rPr lang="en-US" b="0" i="1" smtClean="0">
                                <a:latin typeface="Cambria Math" panose="02040503050406030204" pitchFamily="18" charset="0"/>
                              </a:rPr>
                              <m:t>2</m:t>
                            </m:r>
                          </m:sub>
                        </m:sSub>
                      </m:e>
                    </m:d>
                    <m:r>
                      <a:rPr lang="en-US" b="0" i="1" smtClean="0">
                        <a:latin typeface="Cambria Math" panose="02040503050406030204" pitchFamily="18" charset="0"/>
                      </a:rPr>
                      <m:t>×⋯×</m:t>
                    </m:r>
                    <m:r>
                      <m:rPr>
                        <m:lit/>
                      </m:rPr>
                      <a:rPr lang="en-US" b="0" i="1" smtClean="0">
                        <a:latin typeface="Cambria Math" panose="02040503050406030204" pitchFamily="18" charset="0"/>
                      </a:rPr>
                      <m:t> </m:t>
                    </m:r>
                    <m:d>
                      <m:dPr>
                        <m:begChr m:val="|"/>
                        <m:endChr m:val="|"/>
                        <m:ctrlPr>
                          <a:rPr lang="en-US" b="0" i="1" smtClean="0">
                            <a:latin typeface="Cambria Math" panose="02040503050406030204" pitchFamily="18" charset="0"/>
                          </a:rPr>
                        </m:ctrlPr>
                      </m:dPr>
                      <m:e>
                        <m:sSub>
                          <m:sSubPr>
                            <m:ctrlPr>
                              <a:rPr lang="en-US" b="0" i="1" smtClean="0">
                                <a:latin typeface="Cambria Math" panose="02040503050406030204" pitchFamily="18" charset="0"/>
                              </a:rPr>
                            </m:ctrlPr>
                          </m:sSubPr>
                          <m:e>
                            <m:r>
                              <a:rPr lang="en-US" b="0" i="1" smtClean="0">
                                <a:latin typeface="Cambria Math" panose="02040503050406030204" pitchFamily="18" charset="0"/>
                              </a:rPr>
                              <m:t>𝑋</m:t>
                            </m:r>
                          </m:e>
                          <m:sub>
                            <m:r>
                              <a:rPr lang="en-US" b="0" i="1" smtClean="0">
                                <a:latin typeface="Cambria Math" panose="02040503050406030204" pitchFamily="18" charset="0"/>
                              </a:rPr>
                              <m:t>𝑙</m:t>
                            </m:r>
                          </m:sub>
                        </m:sSub>
                      </m:e>
                    </m:d>
                  </m:oMath>
                </a14:m>
                <a:r>
                  <a:rPr lang="en-US" dirty="0"/>
                  <a:t> </a:t>
                </a:r>
                <a:br>
                  <a:rPr lang="en-US" dirty="0"/>
                </a:br>
                <a:br>
                  <a:rPr lang="en-US" dirty="0"/>
                </a:br>
                <a:r>
                  <a:rPr lang="en-US" dirty="0"/>
                  <a:t>where </a:t>
                </a:r>
                <a14:m>
                  <m:oMath xmlns:m="http://schemas.openxmlformats.org/officeDocument/2006/math">
                    <m:d>
                      <m:dPr>
                        <m:begChr m:val="|"/>
                        <m:endChr m:val="|"/>
                        <m:ctrlPr>
                          <a:rPr lang="en-US" b="0" i="1" smtClean="0">
                            <a:latin typeface="Cambria Math" panose="02040503050406030204" pitchFamily="18" charset="0"/>
                          </a:rPr>
                        </m:ctrlPr>
                      </m:dPr>
                      <m:e>
                        <m:r>
                          <a:rPr lang="en-US" b="0" i="1" smtClean="0">
                            <a:latin typeface="Cambria Math" panose="02040503050406030204" pitchFamily="18" charset="0"/>
                          </a:rPr>
                          <m:t>⋅</m:t>
                        </m:r>
                      </m:e>
                    </m:d>
                  </m:oMath>
                </a14:m>
                <a:r>
                  <a:rPr lang="en-US" dirty="0"/>
                  <a:t> is the number of possible values.</a:t>
                </a:r>
              </a:p>
            </p:txBody>
          </p:sp>
        </mc:Choice>
        <mc:Fallback xmlns="">
          <p:sp>
            <p:nvSpPr>
              <p:cNvPr id="5" name="Content Placeholder 4">
                <a:extLst>
                  <a:ext uri="{FF2B5EF4-FFF2-40B4-BE49-F238E27FC236}">
                    <a16:creationId xmlns:a16="http://schemas.microsoft.com/office/drawing/2014/main" id="{185DDB57-3B13-4459-BDD1-8D24C72653BF}"/>
                  </a:ext>
                </a:extLst>
              </p:cNvPr>
              <p:cNvSpPr>
                <a:spLocks noGrp="1" noRot="1" noChangeAspect="1" noMove="1" noResize="1" noEditPoints="1" noAdjustHandles="1" noChangeArrowheads="1" noChangeShapeType="1" noTextEdit="1"/>
              </p:cNvSpPr>
              <p:nvPr>
                <p:ph idx="1"/>
              </p:nvPr>
            </p:nvSpPr>
            <p:spPr>
              <a:xfrm>
                <a:off x="628650" y="1494944"/>
                <a:ext cx="4723935" cy="4753455"/>
              </a:xfrm>
              <a:blipFill>
                <a:blip r:embed="rId2"/>
                <a:stretch>
                  <a:fillRect l="-1677" t="-2308" r="-1677"/>
                </a:stretch>
              </a:blipFill>
            </p:spPr>
            <p:txBody>
              <a:bodyPr/>
              <a:lstStyle/>
              <a:p>
                <a:r>
                  <a:rPr lang="en-US">
                    <a:noFill/>
                  </a:rPr>
                  <a:t> </a:t>
                </a:r>
              </a:p>
            </p:txBody>
          </p:sp>
        </mc:Fallback>
      </mc:AlternateContent>
      <p:pic>
        <p:nvPicPr>
          <p:cNvPr id="6" name="Picture 5">
            <a:extLst>
              <a:ext uri="{FF2B5EF4-FFF2-40B4-BE49-F238E27FC236}">
                <a16:creationId xmlns:a16="http://schemas.microsoft.com/office/drawing/2014/main" id="{97419CB3-A5F5-45B5-9B50-CC14E55695EE}"/>
              </a:ext>
            </a:extLst>
          </p:cNvPr>
          <p:cNvPicPr>
            <a:picLocks noChangeAspect="1"/>
          </p:cNvPicPr>
          <p:nvPr/>
        </p:nvPicPr>
        <p:blipFill rotWithShape="1">
          <a:blip r:embed="rId3"/>
          <a:srcRect r="40771" b="29953"/>
          <a:stretch/>
        </p:blipFill>
        <p:spPr>
          <a:xfrm>
            <a:off x="5537974" y="1771944"/>
            <a:ext cx="2741806" cy="1682146"/>
          </a:xfrm>
          <a:prstGeom prst="rect">
            <a:avLst/>
          </a:prstGeom>
        </p:spPr>
      </p:pic>
      <p:sp>
        <p:nvSpPr>
          <p:cNvPr id="2" name="TextBox 1">
            <a:extLst>
              <a:ext uri="{FF2B5EF4-FFF2-40B4-BE49-F238E27FC236}">
                <a16:creationId xmlns:a16="http://schemas.microsoft.com/office/drawing/2014/main" id="{4A56BBB3-48CE-435F-8293-AE90174BDE8A}"/>
              </a:ext>
            </a:extLst>
          </p:cNvPr>
          <p:cNvSpPr txBox="1"/>
          <p:nvPr/>
        </p:nvSpPr>
        <p:spPr>
          <a:xfrm>
            <a:off x="5963810" y="1494945"/>
            <a:ext cx="1890132" cy="300082"/>
          </a:xfrm>
          <a:prstGeom prst="rect">
            <a:avLst/>
          </a:prstGeom>
          <a:noFill/>
        </p:spPr>
        <p:txBody>
          <a:bodyPr wrap="square" rtlCol="0">
            <a:spAutoFit/>
          </a:bodyPr>
          <a:lstStyle/>
          <a:p>
            <a:pPr algn="ctr"/>
            <a:r>
              <a:rPr lang="en-US" sz="1350" b="1" dirty="0"/>
              <a:t>State representation</a:t>
            </a:r>
          </a:p>
        </p:txBody>
      </p:sp>
      <mc:AlternateContent xmlns:mc="http://schemas.openxmlformats.org/markup-compatibility/2006" xmlns:a14="http://schemas.microsoft.com/office/drawing/2010/main">
        <mc:Choice Requires="a14">
          <p:sp>
            <p:nvSpPr>
              <p:cNvPr id="7" name="TextBox 6">
                <a:extLst>
                  <a:ext uri="{FF2B5EF4-FFF2-40B4-BE49-F238E27FC236}">
                    <a16:creationId xmlns:a16="http://schemas.microsoft.com/office/drawing/2014/main" id="{FACB8FA8-E2DA-13C1-9414-6862763E35F4}"/>
                  </a:ext>
                </a:extLst>
              </p:cNvPr>
              <p:cNvSpPr txBox="1"/>
              <p:nvPr/>
            </p:nvSpPr>
            <p:spPr>
              <a:xfrm>
                <a:off x="6934200" y="2057400"/>
                <a:ext cx="304800" cy="276999"/>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n-US" sz="1200" b="0" i="1" smtClean="0">
                              <a:latin typeface="Cambria Math" panose="02040503050406030204" pitchFamily="18" charset="0"/>
                            </a:rPr>
                          </m:ctrlPr>
                        </m:sSubPr>
                        <m:e>
                          <m:r>
                            <a:rPr lang="en-US" sz="1200" b="0" i="1" smtClean="0">
                              <a:latin typeface="Cambria Math" panose="02040503050406030204" pitchFamily="18" charset="0"/>
                            </a:rPr>
                            <m:t>𝑥</m:t>
                          </m:r>
                        </m:e>
                        <m:sub>
                          <m:r>
                            <a:rPr lang="en-US" sz="1200" b="0" i="1" smtClean="0">
                              <a:latin typeface="Cambria Math" panose="02040503050406030204" pitchFamily="18" charset="0"/>
                            </a:rPr>
                            <m:t>1</m:t>
                          </m:r>
                        </m:sub>
                      </m:sSub>
                    </m:oMath>
                  </m:oMathPara>
                </a14:m>
                <a:endParaRPr lang="en-US" sz="1200" dirty="0"/>
              </a:p>
            </p:txBody>
          </p:sp>
        </mc:Choice>
        <mc:Fallback xmlns="">
          <p:sp>
            <p:nvSpPr>
              <p:cNvPr id="7" name="TextBox 6">
                <a:extLst>
                  <a:ext uri="{FF2B5EF4-FFF2-40B4-BE49-F238E27FC236}">
                    <a16:creationId xmlns:a16="http://schemas.microsoft.com/office/drawing/2014/main" id="{FACB8FA8-E2DA-13C1-9414-6862763E35F4}"/>
                  </a:ext>
                </a:extLst>
              </p:cNvPr>
              <p:cNvSpPr txBox="1">
                <a:spLocks noRot="1" noChangeAspect="1" noMove="1" noResize="1" noEditPoints="1" noAdjustHandles="1" noChangeArrowheads="1" noChangeShapeType="1" noTextEdit="1"/>
              </p:cNvSpPr>
              <p:nvPr/>
            </p:nvSpPr>
            <p:spPr>
              <a:xfrm>
                <a:off x="6934200" y="2057400"/>
                <a:ext cx="304800" cy="276999"/>
              </a:xfrm>
              <a:prstGeom prst="rect">
                <a:avLst/>
              </a:prstGeom>
              <a:blipFill>
                <a:blip r:embed="rId4"/>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8" name="TextBox 7">
                <a:extLst>
                  <a:ext uri="{FF2B5EF4-FFF2-40B4-BE49-F238E27FC236}">
                    <a16:creationId xmlns:a16="http://schemas.microsoft.com/office/drawing/2014/main" id="{32F16EB7-8877-146A-1634-D751ED618037}"/>
                  </a:ext>
                </a:extLst>
              </p:cNvPr>
              <p:cNvSpPr txBox="1"/>
              <p:nvPr/>
            </p:nvSpPr>
            <p:spPr>
              <a:xfrm>
                <a:off x="6934200" y="2195899"/>
                <a:ext cx="304800" cy="276999"/>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n-US" sz="1200" b="0" i="1" smtClean="0">
                              <a:latin typeface="Cambria Math" panose="02040503050406030204" pitchFamily="18" charset="0"/>
                            </a:rPr>
                          </m:ctrlPr>
                        </m:sSubPr>
                        <m:e>
                          <m:r>
                            <a:rPr lang="en-US" sz="1200" b="0" i="1" smtClean="0">
                              <a:latin typeface="Cambria Math" panose="02040503050406030204" pitchFamily="18" charset="0"/>
                            </a:rPr>
                            <m:t>𝑥</m:t>
                          </m:r>
                        </m:e>
                        <m:sub>
                          <m:r>
                            <a:rPr lang="en-US" sz="1200" b="0" i="1" smtClean="0">
                              <a:latin typeface="Cambria Math" panose="02040503050406030204" pitchFamily="18" charset="0"/>
                            </a:rPr>
                            <m:t>2</m:t>
                          </m:r>
                        </m:sub>
                      </m:sSub>
                    </m:oMath>
                  </m:oMathPara>
                </a14:m>
                <a:endParaRPr lang="en-US" sz="1200" dirty="0"/>
              </a:p>
            </p:txBody>
          </p:sp>
        </mc:Choice>
        <mc:Fallback xmlns="">
          <p:sp>
            <p:nvSpPr>
              <p:cNvPr id="8" name="TextBox 7">
                <a:extLst>
                  <a:ext uri="{FF2B5EF4-FFF2-40B4-BE49-F238E27FC236}">
                    <a16:creationId xmlns:a16="http://schemas.microsoft.com/office/drawing/2014/main" id="{32F16EB7-8877-146A-1634-D751ED618037}"/>
                  </a:ext>
                </a:extLst>
              </p:cNvPr>
              <p:cNvSpPr txBox="1">
                <a:spLocks noRot="1" noChangeAspect="1" noMove="1" noResize="1" noEditPoints="1" noAdjustHandles="1" noChangeArrowheads="1" noChangeShapeType="1" noTextEdit="1"/>
              </p:cNvSpPr>
              <p:nvPr/>
            </p:nvSpPr>
            <p:spPr>
              <a:xfrm>
                <a:off x="6934200" y="2195899"/>
                <a:ext cx="304800" cy="276999"/>
              </a:xfrm>
              <a:prstGeom prst="rect">
                <a:avLst/>
              </a:prstGeom>
              <a:blipFill>
                <a:blip r:embed="rId5"/>
                <a:stretch>
                  <a:fillRect/>
                </a:stretch>
              </a:blipFill>
            </p:spPr>
            <p:txBody>
              <a:bodyPr/>
              <a:lstStyle/>
              <a:p>
                <a:r>
                  <a:rPr lang="en-US">
                    <a:noFill/>
                  </a:rPr>
                  <a:t> </a:t>
                </a:r>
              </a:p>
            </p:txBody>
          </p:sp>
        </mc:Fallback>
      </mc:AlternateContent>
      <p:sp>
        <p:nvSpPr>
          <p:cNvPr id="9" name="TextBox 8">
            <a:extLst>
              <a:ext uri="{FF2B5EF4-FFF2-40B4-BE49-F238E27FC236}">
                <a16:creationId xmlns:a16="http://schemas.microsoft.com/office/drawing/2014/main" id="{ECE6445D-9DD9-2056-455D-AD2119014BF2}"/>
              </a:ext>
            </a:extLst>
          </p:cNvPr>
          <p:cNvSpPr txBox="1"/>
          <p:nvPr/>
        </p:nvSpPr>
        <p:spPr>
          <a:xfrm>
            <a:off x="6938554" y="2334398"/>
            <a:ext cx="304800" cy="276999"/>
          </a:xfrm>
          <a:prstGeom prst="rect">
            <a:avLst/>
          </a:prstGeom>
          <a:noFill/>
        </p:spPr>
        <p:txBody>
          <a:bodyPr wrap="square">
            <a:spAutoFit/>
          </a:bodyPr>
          <a:lstStyle/>
          <a:p>
            <a:r>
              <a:rPr lang="en-US" sz="1200" dirty="0"/>
              <a:t>…</a:t>
            </a:r>
          </a:p>
        </p:txBody>
      </p:sp>
      <p:sp>
        <p:nvSpPr>
          <p:cNvPr id="3" name="TextBox 2">
            <a:extLst>
              <a:ext uri="{FF2B5EF4-FFF2-40B4-BE49-F238E27FC236}">
                <a16:creationId xmlns:a16="http://schemas.microsoft.com/office/drawing/2014/main" id="{636DE728-A071-5DDA-9E07-4BBBA5BF67B6}"/>
              </a:ext>
            </a:extLst>
          </p:cNvPr>
          <p:cNvSpPr txBox="1"/>
          <p:nvPr/>
        </p:nvSpPr>
        <p:spPr>
          <a:xfrm>
            <a:off x="6781800" y="3535345"/>
            <a:ext cx="1597237" cy="1200329"/>
          </a:xfrm>
          <a:prstGeom prst="rect">
            <a:avLst/>
          </a:prstGeom>
        </p:spPr>
        <p:style>
          <a:lnRef idx="3">
            <a:schemeClr val="lt1"/>
          </a:lnRef>
          <a:fillRef idx="1">
            <a:schemeClr val="accent6"/>
          </a:fillRef>
          <a:effectRef idx="1">
            <a:schemeClr val="accent6"/>
          </a:effectRef>
          <a:fontRef idx="minor">
            <a:schemeClr val="lt1"/>
          </a:fontRef>
        </p:style>
        <p:txBody>
          <a:bodyPr wrap="square" rtlCol="0">
            <a:spAutoFit/>
          </a:bodyPr>
          <a:lstStyle/>
          <a:p>
            <a:pPr algn="ctr"/>
            <a:r>
              <a:rPr lang="en-US" sz="1200" dirty="0"/>
              <a:t>The factored state consists of variables called </a:t>
            </a:r>
            <a:r>
              <a:rPr lang="en-US" sz="1200" dirty="0" err="1"/>
              <a:t>fluents</a:t>
            </a:r>
            <a:r>
              <a:rPr lang="en-US" sz="1200" dirty="0"/>
              <a:t> that represent conditions that can change over time.</a:t>
            </a:r>
          </a:p>
        </p:txBody>
      </p:sp>
    </p:spTree>
    <p:extLst>
      <p:ext uri="{BB962C8B-B14F-4D97-AF65-F5344CB8AC3E}">
        <p14:creationId xmlns:p14="http://schemas.microsoft.com/office/powerpoint/2010/main" val="314761271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grpId="0" nodeType="withEffect">
                                  <p:stCondLst>
                                    <p:cond delay="0"/>
                                  </p:stCondLst>
                                  <p:childTnLst>
                                    <p:set>
                                      <p:cBhvr>
                                        <p:cTn id="6" dur="1" fill="hold">
                                          <p:stCondLst>
                                            <p:cond delay="0"/>
                                          </p:stCondLst>
                                        </p:cTn>
                                        <p:tgtEl>
                                          <p:spTgt spid="5">
                                            <p:txEl>
                                              <p:pRg st="0" end="0"/>
                                            </p:tx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5">
                                            <p:txEl>
                                              <p:pRg st="1" end="1"/>
                                            </p:txEl>
                                          </p:spTgt>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5">
                                            <p:txEl>
                                              <p:pRg st="2" end="2"/>
                                            </p:txEl>
                                          </p:spTgt>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5">
                                            <p:txEl>
                                              <p:pRg st="4" end="4"/>
                                            </p:txEl>
                                          </p:spTgt>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5">
                                            <p:txEl>
                                              <p:pRg st="5" end="5"/>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5">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uiExpand="1" build="p"/>
    </p:bldLst>
  </p:timing>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5" name="Group 14">
            <a:extLst>
              <a:ext uri="{FF2B5EF4-FFF2-40B4-BE49-F238E27FC236}">
                <a16:creationId xmlns:a16="http://schemas.microsoft.com/office/drawing/2014/main" id="{17BD2101-39D6-D1FD-64B8-57DED739FD71}"/>
              </a:ext>
            </a:extLst>
          </p:cNvPr>
          <p:cNvGrpSpPr/>
          <p:nvPr/>
        </p:nvGrpSpPr>
        <p:grpSpPr>
          <a:xfrm>
            <a:off x="152400" y="1074234"/>
            <a:ext cx="8436827" cy="5589664"/>
            <a:chOff x="152400" y="1074234"/>
            <a:chExt cx="8436827" cy="5589664"/>
          </a:xfrm>
        </p:grpSpPr>
        <p:pic>
          <p:nvPicPr>
            <p:cNvPr id="4" name="Picture 3">
              <a:extLst>
                <a:ext uri="{FF2B5EF4-FFF2-40B4-BE49-F238E27FC236}">
                  <a16:creationId xmlns:a16="http://schemas.microsoft.com/office/drawing/2014/main" id="{C40EEE11-3EF9-482C-A51E-4412DD213EB4}"/>
                </a:ext>
              </a:extLst>
            </p:cNvPr>
            <p:cNvPicPr/>
            <p:nvPr/>
          </p:nvPicPr>
          <p:blipFill>
            <a:blip r:embed="rId2"/>
            <a:stretch/>
          </p:blipFill>
          <p:spPr>
            <a:xfrm>
              <a:off x="408015" y="1074234"/>
              <a:ext cx="4767014" cy="5402766"/>
            </a:xfrm>
            <a:prstGeom prst="rect">
              <a:avLst/>
            </a:prstGeom>
            <a:ln>
              <a:noFill/>
            </a:ln>
          </p:spPr>
        </p:pic>
        <p:sp>
          <p:nvSpPr>
            <p:cNvPr id="6" name="TextBox 5">
              <a:extLst>
                <a:ext uri="{FF2B5EF4-FFF2-40B4-BE49-F238E27FC236}">
                  <a16:creationId xmlns:a16="http://schemas.microsoft.com/office/drawing/2014/main" id="{4E01AF50-6F40-4291-B9BF-F0A30339DEF6}"/>
                </a:ext>
              </a:extLst>
            </p:cNvPr>
            <p:cNvSpPr txBox="1"/>
            <p:nvPr/>
          </p:nvSpPr>
          <p:spPr>
            <a:xfrm>
              <a:off x="4572000" y="2010973"/>
              <a:ext cx="2532252" cy="584775"/>
            </a:xfrm>
            <a:prstGeom prst="rect">
              <a:avLst/>
            </a:prstGeom>
            <a:noFill/>
          </p:spPr>
          <p:txBody>
            <a:bodyPr wrap="square" rtlCol="0">
              <a:spAutoFit/>
            </a:bodyPr>
            <a:lstStyle/>
            <a:p>
              <a:r>
                <a:rPr lang="en-US" sz="1600" dirty="0"/>
                <a:t>In how many ways can we order/arrange n objects?</a:t>
              </a:r>
            </a:p>
          </p:txBody>
        </p:sp>
        <p:sp>
          <p:nvSpPr>
            <p:cNvPr id="9" name="Rectangle 8">
              <a:extLst>
                <a:ext uri="{FF2B5EF4-FFF2-40B4-BE49-F238E27FC236}">
                  <a16:creationId xmlns:a16="http://schemas.microsoft.com/office/drawing/2014/main" id="{DA6EA4A3-CD88-4537-805D-B237E13E9DA3}"/>
                </a:ext>
              </a:extLst>
            </p:cNvPr>
            <p:cNvSpPr/>
            <p:nvPr/>
          </p:nvSpPr>
          <p:spPr>
            <a:xfrm>
              <a:off x="6400800" y="5417403"/>
              <a:ext cx="2188427" cy="830997"/>
            </a:xfrm>
            <a:prstGeom prst="rect">
              <a:avLst/>
            </a:prstGeom>
          </p:spPr>
          <p:txBody>
            <a:bodyPr wrap="square">
              <a:spAutoFit/>
            </a:bodyPr>
            <a:lstStyle/>
            <a:p>
              <a:r>
                <a:rPr lang="en-US" sz="1200" b="1" dirty="0"/>
                <a:t># Python</a:t>
              </a:r>
            </a:p>
            <a:p>
              <a:r>
                <a:rPr lang="en-US" sz="1200" b="1" dirty="0"/>
                <a:t>import math </a:t>
              </a:r>
            </a:p>
            <a:p>
              <a:r>
                <a:rPr lang="en-US" sz="1200" b="1" dirty="0"/>
                <a:t>  </a:t>
              </a:r>
            </a:p>
            <a:p>
              <a:r>
                <a:rPr lang="en-US" sz="1200" b="1" dirty="0" err="1"/>
                <a:t>math.factorial</a:t>
              </a:r>
              <a:r>
                <a:rPr lang="en-US" sz="1200" b="1" dirty="0"/>
                <a:t>(23)</a:t>
              </a:r>
            </a:p>
          </p:txBody>
        </p:sp>
        <mc:AlternateContent xmlns:mc="http://schemas.openxmlformats.org/markup-compatibility/2006" xmlns:a14="http://schemas.microsoft.com/office/drawing/2010/main">
          <mc:Choice Requires="a14">
            <p:sp>
              <p:nvSpPr>
                <p:cNvPr id="3" name="Speech Bubble: Rectangle 2">
                  <a:extLst>
                    <a:ext uri="{FF2B5EF4-FFF2-40B4-BE49-F238E27FC236}">
                      <a16:creationId xmlns:a16="http://schemas.microsoft.com/office/drawing/2014/main" id="{FCD4A03F-1E3F-46C2-BBAA-14F4664632F5}"/>
                    </a:ext>
                  </a:extLst>
                </p:cNvPr>
                <p:cNvSpPr/>
                <p:nvPr/>
              </p:nvSpPr>
              <p:spPr>
                <a:xfrm>
                  <a:off x="5363122" y="4932645"/>
                  <a:ext cx="3085572" cy="438582"/>
                </a:xfrm>
                <a:prstGeom prst="wedgeRectCallout">
                  <a:avLst>
                    <a:gd name="adj1" fmla="val -83008"/>
                    <a:gd name="adj2" fmla="val 65917"/>
                  </a:avLst>
                </a:prstGeom>
              </p:spPr>
              <p:style>
                <a:lnRef idx="3">
                  <a:schemeClr val="lt1"/>
                </a:lnRef>
                <a:fillRef idx="1">
                  <a:schemeClr val="accent6"/>
                </a:fillRef>
                <a:effectRef idx="1">
                  <a:schemeClr val="accent6"/>
                </a:effectRef>
                <a:fontRef idx="minor">
                  <a:schemeClr val="lt1"/>
                </a:fontRef>
              </p:style>
              <p:txBody>
                <a:bodyPr rtlCol="0" anchor="ctr"/>
                <a:lstStyle/>
                <a:p>
                  <a:r>
                    <a:rPr lang="en-US" sz="1350" b="1" dirty="0"/>
                    <a:t>Factorial</a:t>
                  </a:r>
                  <a:r>
                    <a:rPr lang="en-US" sz="1350" dirty="0"/>
                    <a:t>: </a:t>
                  </a:r>
                  <a14:m>
                    <m:oMath xmlns:m="http://schemas.openxmlformats.org/officeDocument/2006/math">
                      <m:r>
                        <a:rPr lang="en-US" sz="1350" i="1">
                          <a:latin typeface="Cambria Math" panose="02040503050406030204" pitchFamily="18" charset="0"/>
                        </a:rPr>
                        <m:t>𝑛</m:t>
                      </m:r>
                      <m:r>
                        <a:rPr lang="en-US" sz="1350" i="1">
                          <a:latin typeface="Cambria Math" panose="02040503050406030204" pitchFamily="18" charset="0"/>
                        </a:rPr>
                        <m:t>!=</m:t>
                      </m:r>
                      <m:r>
                        <a:rPr lang="en-US" sz="1350" i="1">
                          <a:latin typeface="Cambria Math" panose="02040503050406030204" pitchFamily="18" charset="0"/>
                        </a:rPr>
                        <m:t>𝑛</m:t>
                      </m:r>
                      <m:r>
                        <a:rPr lang="en-US" sz="1350" i="1">
                          <a:latin typeface="Cambria Math" panose="02040503050406030204" pitchFamily="18" charset="0"/>
                        </a:rPr>
                        <m:t>×</m:t>
                      </m:r>
                      <m:d>
                        <m:dPr>
                          <m:ctrlPr>
                            <a:rPr lang="en-US" sz="1350" i="1">
                              <a:latin typeface="Cambria Math" panose="02040503050406030204" pitchFamily="18" charset="0"/>
                            </a:rPr>
                          </m:ctrlPr>
                        </m:dPr>
                        <m:e>
                          <m:r>
                            <a:rPr lang="en-US" sz="1350" i="1">
                              <a:latin typeface="Cambria Math" panose="02040503050406030204" pitchFamily="18" charset="0"/>
                            </a:rPr>
                            <m:t>𝑛</m:t>
                          </m:r>
                          <m:r>
                            <a:rPr lang="en-US" sz="1350" i="1">
                              <a:latin typeface="Cambria Math" panose="02040503050406030204" pitchFamily="18" charset="0"/>
                            </a:rPr>
                            <m:t>−1</m:t>
                          </m:r>
                        </m:e>
                      </m:d>
                      <m:r>
                        <a:rPr lang="en-US" sz="1350" i="1">
                          <a:latin typeface="Cambria Math" panose="02040503050406030204" pitchFamily="18" charset="0"/>
                        </a:rPr>
                        <m:t>×…×2×1</m:t>
                      </m:r>
                    </m:oMath>
                  </a14:m>
                  <a:endParaRPr lang="en-US" sz="1350" dirty="0"/>
                </a:p>
              </p:txBody>
            </p:sp>
          </mc:Choice>
          <mc:Fallback xmlns="">
            <p:sp>
              <p:nvSpPr>
                <p:cNvPr id="3" name="Speech Bubble: Rectangle 2">
                  <a:extLst>
                    <a:ext uri="{FF2B5EF4-FFF2-40B4-BE49-F238E27FC236}">
                      <a16:creationId xmlns:a16="http://schemas.microsoft.com/office/drawing/2014/main" id="{FCD4A03F-1E3F-46C2-BBAA-14F4664632F5}"/>
                    </a:ext>
                  </a:extLst>
                </p:cNvPr>
                <p:cNvSpPr>
                  <a:spLocks noRot="1" noChangeAspect="1" noMove="1" noResize="1" noEditPoints="1" noAdjustHandles="1" noChangeArrowheads="1" noChangeShapeType="1" noTextEdit="1"/>
                </p:cNvSpPr>
                <p:nvPr/>
              </p:nvSpPr>
              <p:spPr>
                <a:xfrm>
                  <a:off x="5363122" y="4932645"/>
                  <a:ext cx="3085572" cy="438582"/>
                </a:xfrm>
                <a:prstGeom prst="wedgeRectCallout">
                  <a:avLst>
                    <a:gd name="adj1" fmla="val -83008"/>
                    <a:gd name="adj2" fmla="val 65917"/>
                  </a:avLst>
                </a:prstGeom>
                <a:blipFill>
                  <a:blip r:embed="rId3"/>
                  <a:stretch>
                    <a:fillRect/>
                  </a:stretch>
                </a:blipFill>
              </p:spPr>
              <p:txBody>
                <a:bodyPr/>
                <a:lstStyle/>
                <a:p>
                  <a:r>
                    <a:rPr lang="en-US">
                      <a:noFill/>
                    </a:rPr>
                    <a:t> </a:t>
                  </a:r>
                </a:p>
              </p:txBody>
            </p:sp>
          </mc:Fallback>
        </mc:AlternateContent>
        <p:sp>
          <p:nvSpPr>
            <p:cNvPr id="2" name="Rectangle 1">
              <a:extLst>
                <a:ext uri="{FF2B5EF4-FFF2-40B4-BE49-F238E27FC236}">
                  <a16:creationId xmlns:a16="http://schemas.microsoft.com/office/drawing/2014/main" id="{7AEE92DB-B619-4020-ABA9-C22B1AD6E060}"/>
                </a:ext>
              </a:extLst>
            </p:cNvPr>
            <p:cNvSpPr/>
            <p:nvPr/>
          </p:nvSpPr>
          <p:spPr>
            <a:xfrm>
              <a:off x="609600" y="6248400"/>
              <a:ext cx="4767014" cy="415498"/>
            </a:xfrm>
            <a:prstGeom prst="rect">
              <a:avLst/>
            </a:prstGeom>
          </p:spPr>
          <p:txBody>
            <a:bodyPr wrap="square">
              <a:spAutoFit/>
            </a:bodyPr>
            <a:lstStyle/>
            <a:p>
              <a:r>
                <a:rPr lang="en-US" sz="1050" dirty="0"/>
                <a:t>Source: Permutations/Combinations Cheat Sheets by Oleksii </a:t>
              </a:r>
              <a:r>
                <a:rPr lang="en-US" sz="1050" dirty="0" err="1"/>
                <a:t>Trekhleb</a:t>
              </a:r>
              <a:r>
                <a:rPr lang="en-US" sz="1050" dirty="0"/>
                <a:t> </a:t>
              </a:r>
              <a:br>
                <a:rPr lang="en-US" sz="1050" dirty="0"/>
              </a:br>
              <a:r>
                <a:rPr lang="en-US" sz="1050" dirty="0">
                  <a:hlinkClick r:id="rId4"/>
                </a:rPr>
                <a:t>https://itnext.io/permutations-combinations-algorithms-cheat-sheet-68c14879aba5</a:t>
              </a:r>
              <a:r>
                <a:rPr lang="en-US" sz="1050" dirty="0"/>
                <a:t> </a:t>
              </a:r>
            </a:p>
          </p:txBody>
        </p:sp>
        <p:grpSp>
          <p:nvGrpSpPr>
            <p:cNvPr id="13" name="Group 12">
              <a:extLst>
                <a:ext uri="{FF2B5EF4-FFF2-40B4-BE49-F238E27FC236}">
                  <a16:creationId xmlns:a16="http://schemas.microsoft.com/office/drawing/2014/main" id="{0AC5C3B3-4E97-E771-36C4-2FEF76C02E0F}"/>
                </a:ext>
              </a:extLst>
            </p:cNvPr>
            <p:cNvGrpSpPr/>
            <p:nvPr/>
          </p:nvGrpSpPr>
          <p:grpSpPr>
            <a:xfrm>
              <a:off x="4822049" y="3775617"/>
              <a:ext cx="1306437" cy="1195968"/>
              <a:chOff x="4822049" y="3310983"/>
              <a:chExt cx="1306437" cy="1195968"/>
            </a:xfrm>
          </p:grpSpPr>
          <mc:AlternateContent xmlns:mc="http://schemas.openxmlformats.org/markup-compatibility/2006" xmlns:a14="http://schemas.microsoft.com/office/drawing/2010/main">
            <mc:Choice Requires="a14">
              <p:sp>
                <p:nvSpPr>
                  <p:cNvPr id="8" name="TextBox 7">
                    <a:extLst>
                      <a:ext uri="{FF2B5EF4-FFF2-40B4-BE49-F238E27FC236}">
                        <a16:creationId xmlns:a16="http://schemas.microsoft.com/office/drawing/2014/main" id="{BD4BE92A-7CD0-4BBA-96F7-3894EFF9892F}"/>
                      </a:ext>
                    </a:extLst>
                  </p:cNvPr>
                  <p:cNvSpPr txBox="1"/>
                  <p:nvPr/>
                </p:nvSpPr>
                <p:spPr>
                  <a:xfrm>
                    <a:off x="5078519" y="3821672"/>
                    <a:ext cx="1049967" cy="207749"/>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1350" i="1">
                              <a:latin typeface="Cambria Math" panose="02040503050406030204" pitchFamily="18" charset="0"/>
                            </a:rPr>
                            <m:t>3×2×1=6</m:t>
                          </m:r>
                        </m:oMath>
                      </m:oMathPara>
                    </a14:m>
                    <a:endParaRPr lang="en-US" sz="1350" dirty="0"/>
                  </a:p>
                </p:txBody>
              </p:sp>
            </mc:Choice>
            <mc:Fallback xmlns="">
              <p:sp>
                <p:nvSpPr>
                  <p:cNvPr id="8" name="TextBox 7">
                    <a:extLst>
                      <a:ext uri="{FF2B5EF4-FFF2-40B4-BE49-F238E27FC236}">
                        <a16:creationId xmlns:a16="http://schemas.microsoft.com/office/drawing/2014/main" id="{BD4BE92A-7CD0-4BBA-96F7-3894EFF9892F}"/>
                      </a:ext>
                    </a:extLst>
                  </p:cNvPr>
                  <p:cNvSpPr txBox="1">
                    <a:spLocks noRot="1" noChangeAspect="1" noMove="1" noResize="1" noEditPoints="1" noAdjustHandles="1" noChangeArrowheads="1" noChangeShapeType="1" noTextEdit="1"/>
                  </p:cNvSpPr>
                  <p:nvPr/>
                </p:nvSpPr>
                <p:spPr>
                  <a:xfrm>
                    <a:off x="5078519" y="3821672"/>
                    <a:ext cx="1049967" cy="207749"/>
                  </a:xfrm>
                  <a:prstGeom prst="rect">
                    <a:avLst/>
                  </a:prstGeom>
                  <a:blipFill>
                    <a:blip r:embed="rId5"/>
                    <a:stretch>
                      <a:fillRect l="-3488" r="-4070" b="-5882"/>
                    </a:stretch>
                  </a:blipFill>
                </p:spPr>
                <p:txBody>
                  <a:bodyPr/>
                  <a:lstStyle/>
                  <a:p>
                    <a:r>
                      <a:rPr lang="en-US">
                        <a:noFill/>
                      </a:rPr>
                      <a:t> </a:t>
                    </a:r>
                  </a:p>
                </p:txBody>
              </p:sp>
            </mc:Fallback>
          </mc:AlternateContent>
          <p:sp>
            <p:nvSpPr>
              <p:cNvPr id="7" name="Right Brace 6">
                <a:extLst>
                  <a:ext uri="{FF2B5EF4-FFF2-40B4-BE49-F238E27FC236}">
                    <a16:creationId xmlns:a16="http://schemas.microsoft.com/office/drawing/2014/main" id="{832903D7-0F00-4199-8E78-87316DEBA609}"/>
                  </a:ext>
                </a:extLst>
              </p:cNvPr>
              <p:cNvSpPr/>
              <p:nvPr/>
            </p:nvSpPr>
            <p:spPr>
              <a:xfrm>
                <a:off x="4822049" y="3310983"/>
                <a:ext cx="159959" cy="1195968"/>
              </a:xfrm>
              <a:prstGeom prst="rightBrace">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sz="1350"/>
              </a:p>
            </p:txBody>
          </p:sp>
        </p:grpSp>
        <p:grpSp>
          <p:nvGrpSpPr>
            <p:cNvPr id="14" name="Group 13">
              <a:extLst>
                <a:ext uri="{FF2B5EF4-FFF2-40B4-BE49-F238E27FC236}">
                  <a16:creationId xmlns:a16="http://schemas.microsoft.com/office/drawing/2014/main" id="{24424A86-80A3-9E6A-800D-213BF8391D9A}"/>
                </a:ext>
              </a:extLst>
            </p:cNvPr>
            <p:cNvGrpSpPr/>
            <p:nvPr/>
          </p:nvGrpSpPr>
          <p:grpSpPr>
            <a:xfrm>
              <a:off x="152400" y="3886200"/>
              <a:ext cx="1371600" cy="838200"/>
              <a:chOff x="166270" y="3917797"/>
              <a:chExt cx="1340201" cy="685799"/>
            </a:xfrm>
          </p:grpSpPr>
          <mc:AlternateContent xmlns:mc="http://schemas.openxmlformats.org/markup-compatibility/2006" xmlns:a14="http://schemas.microsoft.com/office/drawing/2010/main">
            <mc:Choice Requires="a14">
              <p:sp>
                <p:nvSpPr>
                  <p:cNvPr id="5" name="TextBox 4">
                    <a:extLst>
                      <a:ext uri="{FF2B5EF4-FFF2-40B4-BE49-F238E27FC236}">
                        <a16:creationId xmlns:a16="http://schemas.microsoft.com/office/drawing/2014/main" id="{423E7246-5209-4939-9D32-2863C9937833}"/>
                      </a:ext>
                    </a:extLst>
                  </p:cNvPr>
                  <p:cNvSpPr txBox="1"/>
                  <p:nvPr/>
                </p:nvSpPr>
                <p:spPr>
                  <a:xfrm>
                    <a:off x="166270" y="4138759"/>
                    <a:ext cx="1156535" cy="207749"/>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1350" i="1" smtClean="0">
                              <a:latin typeface="Cambria Math" panose="02040503050406030204" pitchFamily="18" charset="0"/>
                            </a:rPr>
                            <m:t>2×2=</m:t>
                          </m:r>
                          <m:sSup>
                            <m:sSupPr>
                              <m:ctrlPr>
                                <a:rPr lang="en-US" sz="1350" b="0" i="1" smtClean="0">
                                  <a:latin typeface="Cambria Math" panose="02040503050406030204" pitchFamily="18" charset="0"/>
                                </a:rPr>
                              </m:ctrlPr>
                            </m:sSupPr>
                            <m:e>
                              <m:r>
                                <a:rPr lang="en-US" sz="1350" b="0" i="1" smtClean="0">
                                  <a:latin typeface="Cambria Math" panose="02040503050406030204" pitchFamily="18" charset="0"/>
                                </a:rPr>
                                <m:t>2</m:t>
                              </m:r>
                            </m:e>
                            <m:sup>
                              <m:r>
                                <a:rPr lang="en-US" sz="1350" b="0" i="1" smtClean="0">
                                  <a:latin typeface="Cambria Math" panose="02040503050406030204" pitchFamily="18" charset="0"/>
                                </a:rPr>
                                <m:t>2</m:t>
                              </m:r>
                            </m:sup>
                          </m:sSup>
                          <m:r>
                            <a:rPr lang="en-US" sz="1350" b="0" i="1" smtClean="0">
                              <a:latin typeface="Cambria Math" panose="02040503050406030204" pitchFamily="18" charset="0"/>
                            </a:rPr>
                            <m:t>=</m:t>
                          </m:r>
                          <m:r>
                            <a:rPr lang="en-US" sz="1350" i="1">
                              <a:latin typeface="Cambria Math" panose="02040503050406030204" pitchFamily="18" charset="0"/>
                            </a:rPr>
                            <m:t>4</m:t>
                          </m:r>
                        </m:oMath>
                      </m:oMathPara>
                    </a14:m>
                    <a:endParaRPr lang="en-US" sz="1350" dirty="0"/>
                  </a:p>
                </p:txBody>
              </p:sp>
            </mc:Choice>
            <mc:Fallback xmlns="">
              <p:sp>
                <p:nvSpPr>
                  <p:cNvPr id="5" name="TextBox 4">
                    <a:extLst>
                      <a:ext uri="{FF2B5EF4-FFF2-40B4-BE49-F238E27FC236}">
                        <a16:creationId xmlns:a16="http://schemas.microsoft.com/office/drawing/2014/main" id="{423E7246-5209-4939-9D32-2863C9937833}"/>
                      </a:ext>
                    </a:extLst>
                  </p:cNvPr>
                  <p:cNvSpPr txBox="1">
                    <a:spLocks noRot="1" noChangeAspect="1" noMove="1" noResize="1" noEditPoints="1" noAdjustHandles="1" noChangeArrowheads="1" noChangeShapeType="1" noTextEdit="1"/>
                  </p:cNvSpPr>
                  <p:nvPr/>
                </p:nvSpPr>
                <p:spPr>
                  <a:xfrm>
                    <a:off x="166270" y="4138759"/>
                    <a:ext cx="1156535" cy="207749"/>
                  </a:xfrm>
                  <a:prstGeom prst="rect">
                    <a:avLst/>
                  </a:prstGeom>
                  <a:blipFill>
                    <a:blip r:embed="rId6"/>
                    <a:stretch>
                      <a:fillRect l="-2062" r="-2062"/>
                    </a:stretch>
                  </a:blipFill>
                </p:spPr>
                <p:txBody>
                  <a:bodyPr/>
                  <a:lstStyle/>
                  <a:p>
                    <a:r>
                      <a:rPr lang="en-US">
                        <a:noFill/>
                      </a:rPr>
                      <a:t> </a:t>
                    </a:r>
                  </a:p>
                </p:txBody>
              </p:sp>
            </mc:Fallback>
          </mc:AlternateContent>
          <p:sp>
            <p:nvSpPr>
              <p:cNvPr id="10" name="Left Brace 9">
                <a:extLst>
                  <a:ext uri="{FF2B5EF4-FFF2-40B4-BE49-F238E27FC236}">
                    <a16:creationId xmlns:a16="http://schemas.microsoft.com/office/drawing/2014/main" id="{9D39EEC9-6ABD-4FCF-9821-4B0E78B5BC22}"/>
                  </a:ext>
                </a:extLst>
              </p:cNvPr>
              <p:cNvSpPr/>
              <p:nvPr/>
            </p:nvSpPr>
            <p:spPr>
              <a:xfrm>
                <a:off x="1346512" y="3917797"/>
                <a:ext cx="159959" cy="685799"/>
              </a:xfrm>
              <a:prstGeom prst="leftBrace">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sz="1350"/>
              </a:p>
            </p:txBody>
          </p:sp>
        </p:grpSp>
      </p:grpSp>
      <p:sp>
        <p:nvSpPr>
          <p:cNvPr id="11" name="Title 10">
            <a:extLst>
              <a:ext uri="{FF2B5EF4-FFF2-40B4-BE49-F238E27FC236}">
                <a16:creationId xmlns:a16="http://schemas.microsoft.com/office/drawing/2014/main" id="{15FC7854-686E-E321-C83E-5FE194A7652C}"/>
              </a:ext>
            </a:extLst>
          </p:cNvPr>
          <p:cNvSpPr>
            <a:spLocks noGrp="1"/>
          </p:cNvSpPr>
          <p:nvPr>
            <p:ph type="title"/>
          </p:nvPr>
        </p:nvSpPr>
        <p:spPr>
          <a:xfrm>
            <a:off x="609600" y="239980"/>
            <a:ext cx="7886700" cy="396874"/>
          </a:xfrm>
        </p:spPr>
        <p:txBody>
          <a:bodyPr vert="horz" lIns="91440" tIns="45720" rIns="91440" bIns="45720" rtlCol="0" anchor="ctr">
            <a:normAutofit fontScale="90000"/>
          </a:bodyPr>
          <a:lstStyle/>
          <a:p>
            <a:r>
              <a:rPr lang="en-US" dirty="0"/>
              <a:t>Reminder: Combinatorics - Permutations</a:t>
            </a:r>
          </a:p>
        </p:txBody>
      </p:sp>
    </p:spTree>
    <p:extLst>
      <p:ext uri="{BB962C8B-B14F-4D97-AF65-F5344CB8AC3E}">
        <p14:creationId xmlns:p14="http://schemas.microsoft.com/office/powerpoint/2010/main" val="2745393459"/>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0" name="Group 9">
            <a:extLst>
              <a:ext uri="{FF2B5EF4-FFF2-40B4-BE49-F238E27FC236}">
                <a16:creationId xmlns:a16="http://schemas.microsoft.com/office/drawing/2014/main" id="{AF89F6DE-CA6F-448C-B2EB-44D2B8B57B32}"/>
              </a:ext>
            </a:extLst>
          </p:cNvPr>
          <p:cNvGrpSpPr/>
          <p:nvPr/>
        </p:nvGrpSpPr>
        <p:grpSpPr>
          <a:xfrm>
            <a:off x="135286" y="903174"/>
            <a:ext cx="8597800" cy="5731286"/>
            <a:chOff x="135286" y="903174"/>
            <a:chExt cx="8597800" cy="5731286"/>
          </a:xfrm>
        </p:grpSpPr>
        <p:pic>
          <p:nvPicPr>
            <p:cNvPr id="2" name="Picture 1">
              <a:extLst>
                <a:ext uri="{FF2B5EF4-FFF2-40B4-BE49-F238E27FC236}">
                  <a16:creationId xmlns:a16="http://schemas.microsoft.com/office/drawing/2014/main" id="{0DE12820-9C59-4FC2-9F30-AA414080FE31}"/>
                </a:ext>
              </a:extLst>
            </p:cNvPr>
            <p:cNvPicPr/>
            <p:nvPr/>
          </p:nvPicPr>
          <p:blipFill>
            <a:blip r:embed="rId2"/>
            <a:stretch/>
          </p:blipFill>
          <p:spPr>
            <a:xfrm>
              <a:off x="135286" y="903174"/>
              <a:ext cx="4980410" cy="5336456"/>
            </a:xfrm>
            <a:prstGeom prst="rect">
              <a:avLst/>
            </a:prstGeom>
            <a:ln>
              <a:noFill/>
            </a:ln>
          </p:spPr>
        </p:pic>
        <p:sp>
          <p:nvSpPr>
            <p:cNvPr id="5" name="Rectangle 4">
              <a:extLst>
                <a:ext uri="{FF2B5EF4-FFF2-40B4-BE49-F238E27FC236}">
                  <a16:creationId xmlns:a16="http://schemas.microsoft.com/office/drawing/2014/main" id="{EAC57651-C384-4CFB-8C8D-E93B01D373E0}"/>
                </a:ext>
              </a:extLst>
            </p:cNvPr>
            <p:cNvSpPr/>
            <p:nvPr/>
          </p:nvSpPr>
          <p:spPr>
            <a:xfrm>
              <a:off x="6248400" y="4854635"/>
              <a:ext cx="1917865" cy="1384995"/>
            </a:xfrm>
            <a:prstGeom prst="rect">
              <a:avLst/>
            </a:prstGeom>
          </p:spPr>
          <p:txBody>
            <a:bodyPr wrap="square">
              <a:spAutoFit/>
            </a:bodyPr>
            <a:lstStyle/>
            <a:p>
              <a:r>
                <a:rPr lang="en-US" sz="1200" b="1" dirty="0"/>
                <a:t># Python</a:t>
              </a:r>
            </a:p>
            <a:p>
              <a:r>
                <a:rPr lang="en-US" sz="1200" b="1" dirty="0"/>
                <a:t>import </a:t>
              </a:r>
              <a:r>
                <a:rPr lang="en-US" sz="1200" b="1" dirty="0" err="1"/>
                <a:t>scipy.special</a:t>
              </a:r>
              <a:endParaRPr lang="en-US" sz="1200" b="1" dirty="0"/>
            </a:p>
            <a:p>
              <a:endParaRPr lang="en-US" sz="1200" b="1" dirty="0"/>
            </a:p>
            <a:p>
              <a:r>
                <a:rPr lang="en-US" sz="1200" b="1" dirty="0"/>
                <a:t># the two give the same results </a:t>
              </a:r>
            </a:p>
            <a:p>
              <a:r>
                <a:rPr lang="en-US" sz="1200" b="1" dirty="0" err="1"/>
                <a:t>scipy.special.binom</a:t>
              </a:r>
              <a:r>
                <a:rPr lang="en-US" sz="1200" b="1" dirty="0"/>
                <a:t>(10, 5)</a:t>
              </a:r>
            </a:p>
            <a:p>
              <a:r>
                <a:rPr lang="en-US" sz="1200" b="1" dirty="0" err="1"/>
                <a:t>scipy.special.comb</a:t>
              </a:r>
              <a:r>
                <a:rPr lang="en-US" sz="1200" b="1" dirty="0"/>
                <a:t>(10, 5)</a:t>
              </a:r>
            </a:p>
          </p:txBody>
        </p:sp>
        <mc:AlternateContent xmlns:mc="http://schemas.openxmlformats.org/markup-compatibility/2006" xmlns:a14="http://schemas.microsoft.com/office/drawing/2010/main">
          <mc:Choice Requires="a14">
            <p:sp>
              <p:nvSpPr>
                <p:cNvPr id="3" name="Speech Bubble: Rectangle 2">
                  <a:extLst>
                    <a:ext uri="{FF2B5EF4-FFF2-40B4-BE49-F238E27FC236}">
                      <a16:creationId xmlns:a16="http://schemas.microsoft.com/office/drawing/2014/main" id="{F451DC6A-E75C-423E-AC32-B08AEF248B1D}"/>
                    </a:ext>
                  </a:extLst>
                </p:cNvPr>
                <p:cNvSpPr/>
                <p:nvPr/>
              </p:nvSpPr>
              <p:spPr>
                <a:xfrm>
                  <a:off x="5292935" y="3240895"/>
                  <a:ext cx="3440151" cy="1384995"/>
                </a:xfrm>
                <a:prstGeom prst="wedgeRectCallout">
                  <a:avLst>
                    <a:gd name="adj1" fmla="val -88660"/>
                    <a:gd name="adj2" fmla="val 95946"/>
                  </a:avLst>
                </a:prstGeom>
              </p:spPr>
              <p:style>
                <a:lnRef idx="3">
                  <a:schemeClr val="lt1"/>
                </a:lnRef>
                <a:fillRef idx="1">
                  <a:schemeClr val="accent6"/>
                </a:fillRef>
                <a:effectRef idx="1">
                  <a:schemeClr val="accent6"/>
                </a:effectRef>
                <a:fontRef idx="minor">
                  <a:schemeClr val="lt1"/>
                </a:fontRef>
              </p:style>
              <p:txBody>
                <a:bodyPr rtlCol="0" anchor="ctr"/>
                <a:lstStyle/>
                <a:p>
                  <a:r>
                    <a:rPr lang="en-US" sz="1350" b="1" dirty="0"/>
                    <a:t>Binomial Coefficient: </a:t>
                  </a:r>
                  <a14:m>
                    <m:oMath xmlns:m="http://schemas.openxmlformats.org/officeDocument/2006/math">
                      <m:d>
                        <m:dPr>
                          <m:ctrlPr>
                            <a:rPr lang="en-US" sz="1350" i="1">
                              <a:latin typeface="Cambria Math" panose="02040503050406030204" pitchFamily="18" charset="0"/>
                            </a:rPr>
                          </m:ctrlPr>
                        </m:dPr>
                        <m:e>
                          <m:m>
                            <m:mPr>
                              <m:mcs>
                                <m:mc>
                                  <m:mcPr>
                                    <m:count m:val="1"/>
                                    <m:mcJc m:val="center"/>
                                  </m:mcPr>
                                </m:mc>
                              </m:mcs>
                              <m:ctrlPr>
                                <a:rPr lang="en-US" sz="1350" i="1">
                                  <a:latin typeface="Cambria Math" panose="02040503050406030204" pitchFamily="18" charset="0"/>
                                </a:rPr>
                              </m:ctrlPr>
                            </m:mPr>
                            <m:mr>
                              <m:e>
                                <m:r>
                                  <m:rPr>
                                    <m:brk m:alnAt="7"/>
                                  </m:rPr>
                                  <a:rPr lang="en-US" sz="1350" i="1">
                                    <a:latin typeface="Cambria Math" panose="02040503050406030204" pitchFamily="18" charset="0"/>
                                  </a:rPr>
                                  <m:t>𝑛</m:t>
                                </m:r>
                              </m:e>
                            </m:mr>
                            <m:mr>
                              <m:e>
                                <m:r>
                                  <a:rPr lang="en-US" sz="1350" i="1">
                                    <a:latin typeface="Cambria Math" panose="02040503050406030204" pitchFamily="18" charset="0"/>
                                  </a:rPr>
                                  <m:t>𝑟</m:t>
                                </m:r>
                              </m:e>
                            </m:mr>
                          </m:m>
                        </m:e>
                      </m:d>
                      <m:r>
                        <a:rPr lang="en-US" sz="1350" i="1">
                          <a:latin typeface="Cambria Math" panose="02040503050406030204" pitchFamily="18" charset="0"/>
                        </a:rPr>
                        <m:t>=</m:t>
                      </m:r>
                      <m:r>
                        <a:rPr lang="en-US" sz="1350" i="1">
                          <a:latin typeface="Cambria Math" panose="02040503050406030204" pitchFamily="18" charset="0"/>
                        </a:rPr>
                        <m:t>𝐶</m:t>
                      </m:r>
                      <m:d>
                        <m:dPr>
                          <m:ctrlPr>
                            <a:rPr lang="en-US" sz="1350" i="1">
                              <a:latin typeface="Cambria Math" panose="02040503050406030204" pitchFamily="18" charset="0"/>
                            </a:rPr>
                          </m:ctrlPr>
                        </m:dPr>
                        <m:e>
                          <m:r>
                            <a:rPr lang="en-US" sz="1350" i="1">
                              <a:latin typeface="Cambria Math" panose="02040503050406030204" pitchFamily="18" charset="0"/>
                            </a:rPr>
                            <m:t>𝑛</m:t>
                          </m:r>
                          <m:r>
                            <a:rPr lang="en-US" sz="1350" i="1">
                              <a:latin typeface="Cambria Math" panose="02040503050406030204" pitchFamily="18" charset="0"/>
                            </a:rPr>
                            <m:t>,</m:t>
                          </m:r>
                          <m:r>
                            <a:rPr lang="en-US" sz="1350" i="1">
                              <a:latin typeface="Cambria Math" panose="02040503050406030204" pitchFamily="18" charset="0"/>
                            </a:rPr>
                            <m:t>𝑟</m:t>
                          </m:r>
                        </m:e>
                      </m:d>
                      <m:r>
                        <a:rPr lang="en-US" sz="1350" i="1">
                          <a:latin typeface="Cambria Math" panose="02040503050406030204" pitchFamily="18" charset="0"/>
                        </a:rPr>
                        <m:t>=</m:t>
                      </m:r>
                      <m:sSub>
                        <m:sSubPr>
                          <m:ctrlPr>
                            <a:rPr lang="en-US" sz="1350" i="1">
                              <a:latin typeface="Cambria Math" panose="02040503050406030204" pitchFamily="18" charset="0"/>
                            </a:rPr>
                          </m:ctrlPr>
                        </m:sSubPr>
                        <m:e>
                          <m:sSub>
                            <m:sSubPr>
                              <m:ctrlPr>
                                <a:rPr lang="en-US" sz="1350" i="1">
                                  <a:latin typeface="Cambria Math" panose="02040503050406030204" pitchFamily="18" charset="0"/>
                                </a:rPr>
                              </m:ctrlPr>
                            </m:sSubPr>
                            <m:e/>
                            <m:sub>
                              <m:r>
                                <a:rPr lang="en-US" sz="1350" i="1">
                                  <a:latin typeface="Cambria Math" panose="02040503050406030204" pitchFamily="18" charset="0"/>
                                </a:rPr>
                                <m:t>𝑛</m:t>
                              </m:r>
                            </m:sub>
                          </m:sSub>
                          <m:r>
                            <a:rPr lang="en-US" sz="1350" i="1">
                              <a:latin typeface="Cambria Math" panose="02040503050406030204" pitchFamily="18" charset="0"/>
                            </a:rPr>
                            <m:t>𝐶</m:t>
                          </m:r>
                        </m:e>
                        <m:sub>
                          <m:r>
                            <a:rPr lang="en-US" sz="1350" i="1">
                              <a:latin typeface="Cambria Math" panose="02040503050406030204" pitchFamily="18" charset="0"/>
                            </a:rPr>
                            <m:t>𝑟</m:t>
                          </m:r>
                        </m:sub>
                      </m:sSub>
                    </m:oMath>
                  </a14:m>
                  <a:endParaRPr lang="en-US" sz="1350" dirty="0"/>
                </a:p>
                <a:p>
                  <a:r>
                    <a:rPr lang="en-US" sz="1350" dirty="0"/>
                    <a:t>Read as  “n choose r” because it is the number of ways can we choose </a:t>
                  </a:r>
                  <a14:m>
                    <m:oMath xmlns:m="http://schemas.openxmlformats.org/officeDocument/2006/math">
                      <m:r>
                        <a:rPr lang="en-US" sz="1350" i="1" dirty="0">
                          <a:latin typeface="Cambria Math" panose="02040503050406030204" pitchFamily="18" charset="0"/>
                        </a:rPr>
                        <m:t>𝑟</m:t>
                      </m:r>
                    </m:oMath>
                  </a14:m>
                  <a:r>
                    <a:rPr lang="en-US" sz="1350" dirty="0"/>
                    <a:t> out of </a:t>
                  </a:r>
                  <a14:m>
                    <m:oMath xmlns:m="http://schemas.openxmlformats.org/officeDocument/2006/math">
                      <m:r>
                        <a:rPr lang="en-US" sz="1350" i="1" dirty="0">
                          <a:latin typeface="Cambria Math" panose="02040503050406030204" pitchFamily="18" charset="0"/>
                        </a:rPr>
                        <m:t>𝑛</m:t>
                      </m:r>
                    </m:oMath>
                  </a14:m>
                  <a:r>
                    <a:rPr lang="en-US" sz="1350" dirty="0"/>
                    <a:t> objects?</a:t>
                  </a:r>
                </a:p>
                <a:p>
                  <a:r>
                    <a:rPr lang="en-US" sz="1350" dirty="0"/>
                    <a:t>Special case for </a:t>
                  </a:r>
                  <a14:m>
                    <m:oMath xmlns:m="http://schemas.openxmlformats.org/officeDocument/2006/math">
                      <m:r>
                        <a:rPr lang="en-US" sz="1350" i="1" dirty="0">
                          <a:latin typeface="Cambria Math" panose="02040503050406030204" pitchFamily="18" charset="0"/>
                        </a:rPr>
                        <m:t>𝑟</m:t>
                      </m:r>
                      <m:r>
                        <a:rPr lang="en-US" sz="1350" i="1" dirty="0">
                          <a:latin typeface="Cambria Math" panose="02040503050406030204" pitchFamily="18" charset="0"/>
                        </a:rPr>
                        <m:t> = 2</m:t>
                      </m:r>
                    </m:oMath>
                  </a14:m>
                  <a:r>
                    <a:rPr lang="en-US" sz="1350" dirty="0"/>
                    <a:t>: </a:t>
                  </a:r>
                  <a14:m>
                    <m:oMath xmlns:m="http://schemas.openxmlformats.org/officeDocument/2006/math">
                      <m:d>
                        <m:dPr>
                          <m:ctrlPr>
                            <a:rPr lang="en-US" sz="1350" i="1">
                              <a:latin typeface="Cambria Math" panose="02040503050406030204" pitchFamily="18" charset="0"/>
                            </a:rPr>
                          </m:ctrlPr>
                        </m:dPr>
                        <m:e>
                          <m:m>
                            <m:mPr>
                              <m:mcs>
                                <m:mc>
                                  <m:mcPr>
                                    <m:count m:val="1"/>
                                    <m:mcJc m:val="center"/>
                                  </m:mcPr>
                                </m:mc>
                              </m:mcs>
                              <m:ctrlPr>
                                <a:rPr lang="en-US" sz="1350" i="1">
                                  <a:latin typeface="Cambria Math" panose="02040503050406030204" pitchFamily="18" charset="0"/>
                                </a:rPr>
                              </m:ctrlPr>
                            </m:mPr>
                            <m:mr>
                              <m:e>
                                <m:r>
                                  <m:rPr>
                                    <m:brk m:alnAt="7"/>
                                  </m:rPr>
                                  <a:rPr lang="en-US" sz="1350" i="1">
                                    <a:latin typeface="Cambria Math" panose="02040503050406030204" pitchFamily="18" charset="0"/>
                                  </a:rPr>
                                  <m:t>𝑛</m:t>
                                </m:r>
                              </m:e>
                            </m:mr>
                            <m:mr>
                              <m:e>
                                <m:r>
                                  <a:rPr lang="en-US" sz="1350" i="1">
                                    <a:latin typeface="Cambria Math" panose="02040503050406030204" pitchFamily="18" charset="0"/>
                                  </a:rPr>
                                  <m:t>2</m:t>
                                </m:r>
                              </m:e>
                            </m:mr>
                          </m:m>
                        </m:e>
                      </m:d>
                      <m:r>
                        <a:rPr lang="en-US" sz="1350" i="1">
                          <a:latin typeface="Cambria Math" panose="02040503050406030204" pitchFamily="18" charset="0"/>
                        </a:rPr>
                        <m:t>=</m:t>
                      </m:r>
                      <m:f>
                        <m:fPr>
                          <m:ctrlPr>
                            <a:rPr lang="en-US" sz="1350" i="1">
                              <a:latin typeface="Cambria Math" panose="02040503050406030204" pitchFamily="18" charset="0"/>
                            </a:rPr>
                          </m:ctrlPr>
                        </m:fPr>
                        <m:num>
                          <m:r>
                            <a:rPr lang="en-US" sz="1350" i="1">
                              <a:latin typeface="Cambria Math" panose="02040503050406030204" pitchFamily="18" charset="0"/>
                            </a:rPr>
                            <m:t>𝑛</m:t>
                          </m:r>
                          <m:r>
                            <a:rPr lang="en-US" sz="1350" i="1">
                              <a:latin typeface="Cambria Math" panose="02040503050406030204" pitchFamily="18" charset="0"/>
                            </a:rPr>
                            <m:t>(</m:t>
                          </m:r>
                          <m:r>
                            <a:rPr lang="en-US" sz="1350" i="1">
                              <a:latin typeface="Cambria Math" panose="02040503050406030204" pitchFamily="18" charset="0"/>
                            </a:rPr>
                            <m:t>𝑛</m:t>
                          </m:r>
                          <m:r>
                            <a:rPr lang="en-US" sz="1350" i="1">
                              <a:latin typeface="Cambria Math" panose="02040503050406030204" pitchFamily="18" charset="0"/>
                            </a:rPr>
                            <m:t>−1)</m:t>
                          </m:r>
                        </m:num>
                        <m:den>
                          <m:r>
                            <a:rPr lang="en-US" sz="1350" i="1">
                              <a:latin typeface="Cambria Math" panose="02040503050406030204" pitchFamily="18" charset="0"/>
                            </a:rPr>
                            <m:t>2</m:t>
                          </m:r>
                        </m:den>
                      </m:f>
                    </m:oMath>
                  </a14:m>
                  <a:endParaRPr lang="en-US" sz="1350" dirty="0"/>
                </a:p>
              </p:txBody>
            </p:sp>
          </mc:Choice>
          <mc:Fallback xmlns="">
            <p:sp>
              <p:nvSpPr>
                <p:cNvPr id="3" name="Speech Bubble: Rectangle 2">
                  <a:extLst>
                    <a:ext uri="{FF2B5EF4-FFF2-40B4-BE49-F238E27FC236}">
                      <a16:creationId xmlns:a16="http://schemas.microsoft.com/office/drawing/2014/main" id="{F451DC6A-E75C-423E-AC32-B08AEF248B1D}"/>
                    </a:ext>
                  </a:extLst>
                </p:cNvPr>
                <p:cNvSpPr>
                  <a:spLocks noRot="1" noChangeAspect="1" noMove="1" noResize="1" noEditPoints="1" noAdjustHandles="1" noChangeArrowheads="1" noChangeShapeType="1" noTextEdit="1"/>
                </p:cNvSpPr>
                <p:nvPr/>
              </p:nvSpPr>
              <p:spPr>
                <a:xfrm>
                  <a:off x="5292935" y="3240895"/>
                  <a:ext cx="3440151" cy="1384995"/>
                </a:xfrm>
                <a:prstGeom prst="wedgeRectCallout">
                  <a:avLst>
                    <a:gd name="adj1" fmla="val -88660"/>
                    <a:gd name="adj2" fmla="val 95946"/>
                  </a:avLst>
                </a:prstGeom>
                <a:blipFill>
                  <a:blip r:embed="rId3"/>
                  <a:stretch>
                    <a:fillRect r="-502"/>
                  </a:stretch>
                </a:blipFill>
              </p:spPr>
              <p:txBody>
                <a:bodyPr/>
                <a:lstStyle/>
                <a:p>
                  <a:r>
                    <a:rPr lang="en-US">
                      <a:noFill/>
                    </a:rPr>
                    <a:t> </a:t>
                  </a:r>
                </a:p>
              </p:txBody>
            </p:sp>
          </mc:Fallback>
        </mc:AlternateContent>
        <p:sp>
          <p:nvSpPr>
            <p:cNvPr id="6" name="Rectangle 5">
              <a:extLst>
                <a:ext uri="{FF2B5EF4-FFF2-40B4-BE49-F238E27FC236}">
                  <a16:creationId xmlns:a16="http://schemas.microsoft.com/office/drawing/2014/main" id="{59DE6AB8-0BD3-437A-AF6B-ED87A13705D9}"/>
                </a:ext>
              </a:extLst>
            </p:cNvPr>
            <p:cNvSpPr/>
            <p:nvPr/>
          </p:nvSpPr>
          <p:spPr>
            <a:xfrm>
              <a:off x="533865" y="6218962"/>
              <a:ext cx="4767014" cy="415498"/>
            </a:xfrm>
            <a:prstGeom prst="rect">
              <a:avLst/>
            </a:prstGeom>
          </p:spPr>
          <p:txBody>
            <a:bodyPr wrap="square">
              <a:spAutoFit/>
            </a:bodyPr>
            <a:lstStyle/>
            <a:p>
              <a:r>
                <a:rPr lang="en-US" sz="1050" dirty="0"/>
                <a:t>Source: Permutations/Combinations Cheat Sheets by Oleksii </a:t>
              </a:r>
              <a:r>
                <a:rPr lang="en-US" sz="1050" dirty="0" err="1"/>
                <a:t>Trekhleb</a:t>
              </a:r>
              <a:r>
                <a:rPr lang="en-US" sz="1050" dirty="0"/>
                <a:t> </a:t>
              </a:r>
              <a:br>
                <a:rPr lang="en-US" sz="1050" dirty="0"/>
              </a:br>
              <a:r>
                <a:rPr lang="en-US" sz="1050" dirty="0">
                  <a:hlinkClick r:id="rId4"/>
                </a:rPr>
                <a:t>https://itnext.io/permutations-combinations-algorithms-cheat-sheet-68c14879aba5</a:t>
              </a:r>
              <a:r>
                <a:rPr lang="en-US" sz="1050" dirty="0"/>
                <a:t> </a:t>
              </a:r>
            </a:p>
          </p:txBody>
        </p:sp>
        <p:grpSp>
          <p:nvGrpSpPr>
            <p:cNvPr id="9" name="Group 8">
              <a:extLst>
                <a:ext uri="{FF2B5EF4-FFF2-40B4-BE49-F238E27FC236}">
                  <a16:creationId xmlns:a16="http://schemas.microsoft.com/office/drawing/2014/main" id="{0AFE552A-A9D9-7D22-D0CA-9A9167734DE2}"/>
                </a:ext>
              </a:extLst>
            </p:cNvPr>
            <p:cNvGrpSpPr/>
            <p:nvPr/>
          </p:nvGrpSpPr>
          <p:grpSpPr>
            <a:xfrm>
              <a:off x="4343400" y="3661734"/>
              <a:ext cx="925151" cy="602166"/>
              <a:chOff x="4323885" y="3116433"/>
              <a:chExt cx="925151" cy="602166"/>
            </a:xfrm>
          </p:grpSpPr>
          <p:sp>
            <p:nvSpPr>
              <p:cNvPr id="4" name="Right Brace 3">
                <a:extLst>
                  <a:ext uri="{FF2B5EF4-FFF2-40B4-BE49-F238E27FC236}">
                    <a16:creationId xmlns:a16="http://schemas.microsoft.com/office/drawing/2014/main" id="{AE6E5F9E-C81D-4F4B-B165-D063708EEA5C}"/>
                  </a:ext>
                </a:extLst>
              </p:cNvPr>
              <p:cNvSpPr/>
              <p:nvPr/>
            </p:nvSpPr>
            <p:spPr>
              <a:xfrm>
                <a:off x="4323885" y="3116433"/>
                <a:ext cx="133815" cy="602166"/>
              </a:xfrm>
              <a:prstGeom prst="rightBrace">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sz="1350"/>
              </a:p>
            </p:txBody>
          </p:sp>
          <mc:AlternateContent xmlns:mc="http://schemas.openxmlformats.org/markup-compatibility/2006" xmlns:a14="http://schemas.microsoft.com/office/drawing/2010/main">
            <mc:Choice Requires="a14">
              <p:sp>
                <p:nvSpPr>
                  <p:cNvPr id="7" name="Rectangle 6">
                    <a:extLst>
                      <a:ext uri="{FF2B5EF4-FFF2-40B4-BE49-F238E27FC236}">
                        <a16:creationId xmlns:a16="http://schemas.microsoft.com/office/drawing/2014/main" id="{60DEA3CF-FC0B-4EEF-BA23-2B4D1E9EA006}"/>
                      </a:ext>
                    </a:extLst>
                  </p:cNvPr>
                  <p:cNvSpPr/>
                  <p:nvPr/>
                </p:nvSpPr>
                <p:spPr>
                  <a:xfrm>
                    <a:off x="4437724" y="3227440"/>
                    <a:ext cx="811312" cy="437427"/>
                  </a:xfrm>
                  <a:prstGeom prst="rect">
                    <a:avLst/>
                  </a:prstGeom>
                </p:spPr>
                <p:txBody>
                  <a:bodyPr wrap="none">
                    <a:spAutoFit/>
                  </a:bodyPr>
                  <a:lstStyle/>
                  <a:p>
                    <a:pPr/>
                    <a14:m>
                      <m:oMathPara xmlns:m="http://schemas.openxmlformats.org/officeDocument/2006/math">
                        <m:oMathParaPr>
                          <m:jc m:val="centerGroup"/>
                        </m:oMathParaPr>
                        <m:oMath xmlns:m="http://schemas.openxmlformats.org/officeDocument/2006/math">
                          <m:d>
                            <m:dPr>
                              <m:ctrlPr>
                                <a:rPr lang="en-US" sz="1350" i="1">
                                  <a:latin typeface="Cambria Math" panose="02040503050406030204" pitchFamily="18" charset="0"/>
                                </a:rPr>
                              </m:ctrlPr>
                            </m:dPr>
                            <m:e>
                              <m:m>
                                <m:mPr>
                                  <m:mcs>
                                    <m:mc>
                                      <m:mcPr>
                                        <m:count m:val="1"/>
                                        <m:mcJc m:val="center"/>
                                      </m:mcPr>
                                    </m:mc>
                                  </m:mcs>
                                  <m:ctrlPr>
                                    <a:rPr lang="en-US" sz="1350" i="1">
                                      <a:latin typeface="Cambria Math" panose="02040503050406030204" pitchFamily="18" charset="0"/>
                                    </a:rPr>
                                  </m:ctrlPr>
                                </m:mPr>
                                <m:mr>
                                  <m:e>
                                    <m:r>
                                      <m:rPr>
                                        <m:brk m:alnAt="7"/>
                                      </m:rPr>
                                      <a:rPr lang="en-US" sz="1350" i="1">
                                        <a:latin typeface="Cambria Math" panose="02040503050406030204" pitchFamily="18" charset="0"/>
                                      </a:rPr>
                                      <m:t>3</m:t>
                                    </m:r>
                                  </m:e>
                                </m:mr>
                                <m:mr>
                                  <m:e>
                                    <m:r>
                                      <a:rPr lang="en-US" sz="1350" i="1">
                                        <a:latin typeface="Cambria Math" panose="02040503050406030204" pitchFamily="18" charset="0"/>
                                      </a:rPr>
                                      <m:t>2</m:t>
                                    </m:r>
                                  </m:e>
                                </m:mr>
                              </m:m>
                            </m:e>
                          </m:d>
                          <m:r>
                            <a:rPr lang="en-US" sz="1350" i="1">
                              <a:latin typeface="Cambria Math" panose="02040503050406030204" pitchFamily="18" charset="0"/>
                            </a:rPr>
                            <m:t>=3</m:t>
                          </m:r>
                        </m:oMath>
                      </m:oMathPara>
                    </a14:m>
                    <a:endParaRPr lang="en-US" sz="1350" dirty="0"/>
                  </a:p>
                </p:txBody>
              </p:sp>
            </mc:Choice>
            <mc:Fallback xmlns="">
              <p:sp>
                <p:nvSpPr>
                  <p:cNvPr id="7" name="Rectangle 6">
                    <a:extLst>
                      <a:ext uri="{FF2B5EF4-FFF2-40B4-BE49-F238E27FC236}">
                        <a16:creationId xmlns:a16="http://schemas.microsoft.com/office/drawing/2014/main" id="{60DEA3CF-FC0B-4EEF-BA23-2B4D1E9EA006}"/>
                      </a:ext>
                    </a:extLst>
                  </p:cNvPr>
                  <p:cNvSpPr>
                    <a:spLocks noRot="1" noChangeAspect="1" noMove="1" noResize="1" noEditPoints="1" noAdjustHandles="1" noChangeArrowheads="1" noChangeShapeType="1" noTextEdit="1"/>
                  </p:cNvSpPr>
                  <p:nvPr/>
                </p:nvSpPr>
                <p:spPr>
                  <a:xfrm>
                    <a:off x="4437724" y="3227440"/>
                    <a:ext cx="811312" cy="437427"/>
                  </a:xfrm>
                  <a:prstGeom prst="rect">
                    <a:avLst/>
                  </a:prstGeom>
                  <a:blipFill>
                    <a:blip r:embed="rId5"/>
                    <a:stretch>
                      <a:fillRect b="-1389"/>
                    </a:stretch>
                  </a:blipFill>
                </p:spPr>
                <p:txBody>
                  <a:bodyPr/>
                  <a:lstStyle/>
                  <a:p>
                    <a:r>
                      <a:rPr lang="en-US">
                        <a:noFill/>
                      </a:rPr>
                      <a:t> </a:t>
                    </a:r>
                  </a:p>
                </p:txBody>
              </p:sp>
            </mc:Fallback>
          </mc:AlternateContent>
        </p:grpSp>
      </p:grpSp>
      <p:sp>
        <p:nvSpPr>
          <p:cNvPr id="8" name="Title 7">
            <a:extLst>
              <a:ext uri="{FF2B5EF4-FFF2-40B4-BE49-F238E27FC236}">
                <a16:creationId xmlns:a16="http://schemas.microsoft.com/office/drawing/2014/main" id="{8F578A23-5E6F-460D-25E4-1BFFD63A61C1}"/>
              </a:ext>
            </a:extLst>
          </p:cNvPr>
          <p:cNvSpPr>
            <a:spLocks noGrp="1"/>
          </p:cNvSpPr>
          <p:nvPr>
            <p:ph type="title"/>
          </p:nvPr>
        </p:nvSpPr>
        <p:spPr>
          <a:xfrm>
            <a:off x="533865" y="431289"/>
            <a:ext cx="7886700" cy="481989"/>
          </a:xfrm>
        </p:spPr>
        <p:txBody>
          <a:bodyPr vert="horz" lIns="91440" tIns="45720" rIns="91440" bIns="45720" rtlCol="0" anchor="ctr">
            <a:normAutofit fontScale="90000"/>
          </a:bodyPr>
          <a:lstStyle/>
          <a:p>
            <a:r>
              <a:rPr lang="en-US" dirty="0"/>
              <a:t>Reminder: Combinatorics - Combinations</a:t>
            </a:r>
          </a:p>
        </p:txBody>
      </p:sp>
    </p:spTree>
    <p:extLst>
      <p:ext uri="{BB962C8B-B14F-4D97-AF65-F5344CB8AC3E}">
        <p14:creationId xmlns:p14="http://schemas.microsoft.com/office/powerpoint/2010/main" val="3989000973"/>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0F39E30-6893-4BA5-A7BD-8CE03B569160}"/>
              </a:ext>
            </a:extLst>
          </p:cNvPr>
          <p:cNvSpPr>
            <a:spLocks noGrp="1"/>
          </p:cNvSpPr>
          <p:nvPr>
            <p:ph type="title"/>
          </p:nvPr>
        </p:nvSpPr>
        <p:spPr/>
        <p:txBody>
          <a:bodyPr vert="horz" lIns="68580" tIns="34290" rIns="68580" bIns="34290" rtlCol="0" anchor="ctr">
            <a:normAutofit/>
          </a:bodyPr>
          <a:lstStyle/>
          <a:p>
            <a:r>
              <a:rPr lang="en-US" sz="3000" dirty="0"/>
              <a:t>Example: What is the State Space Size?</a:t>
            </a:r>
          </a:p>
        </p:txBody>
      </p:sp>
      <p:pic>
        <p:nvPicPr>
          <p:cNvPr id="3" name="Picture 4" descr="vacuum2-environment">
            <a:extLst>
              <a:ext uri="{FF2B5EF4-FFF2-40B4-BE49-F238E27FC236}">
                <a16:creationId xmlns:a16="http://schemas.microsoft.com/office/drawing/2014/main" id="{E224BE64-C346-D3E4-1D1E-11567FB0BC89}"/>
              </a:ext>
            </a:extLst>
          </p:cNvPr>
          <p:cNvPicPr>
            <a:picLocks noChangeAspect="1" noChangeArrowheads="1"/>
          </p:cNvPicPr>
          <p:nvPr/>
        </p:nvPicPr>
        <p:blipFill>
          <a:blip r:embed="rId2" cstate="print"/>
          <a:srcRect/>
          <a:stretch>
            <a:fillRect/>
          </a:stretch>
        </p:blipFill>
        <p:spPr bwMode="auto">
          <a:xfrm>
            <a:off x="1898860" y="1341233"/>
            <a:ext cx="1193377" cy="610565"/>
          </a:xfrm>
          <a:prstGeom prst="rect">
            <a:avLst/>
          </a:prstGeom>
          <a:noFill/>
        </p:spPr>
      </p:pic>
      <p:pic>
        <p:nvPicPr>
          <p:cNvPr id="9" name="Picture 8">
            <a:extLst>
              <a:ext uri="{FF2B5EF4-FFF2-40B4-BE49-F238E27FC236}">
                <a16:creationId xmlns:a16="http://schemas.microsoft.com/office/drawing/2014/main" id="{DA8E13B6-4252-A139-34A0-8DF3C278CC28}"/>
              </a:ext>
            </a:extLst>
          </p:cNvPr>
          <p:cNvPicPr/>
          <p:nvPr/>
        </p:nvPicPr>
        <p:blipFill>
          <a:blip r:embed="rId3"/>
          <a:stretch/>
        </p:blipFill>
        <p:spPr>
          <a:xfrm>
            <a:off x="4800600" y="1341233"/>
            <a:ext cx="3962398" cy="4800600"/>
          </a:xfrm>
          <a:prstGeom prst="rect">
            <a:avLst/>
          </a:prstGeom>
          <a:ln>
            <a:noFill/>
          </a:ln>
        </p:spPr>
      </p:pic>
      <mc:AlternateContent xmlns:mc="http://schemas.openxmlformats.org/markup-compatibility/2006" xmlns:a14="http://schemas.microsoft.com/office/drawing/2010/main">
        <mc:Choice Requires="a14">
          <p:sp>
            <p:nvSpPr>
              <p:cNvPr id="10" name="TextBox 9">
                <a:extLst>
                  <a:ext uri="{FF2B5EF4-FFF2-40B4-BE49-F238E27FC236}">
                    <a16:creationId xmlns:a16="http://schemas.microsoft.com/office/drawing/2014/main" id="{AA4BE5D2-9BA6-DB08-A4B5-2ED3B98CB6AD}"/>
                  </a:ext>
                </a:extLst>
              </p:cNvPr>
              <p:cNvSpPr txBox="1"/>
              <p:nvPr/>
            </p:nvSpPr>
            <p:spPr>
              <a:xfrm>
                <a:off x="609351" y="1947704"/>
                <a:ext cx="4115049" cy="3108543"/>
              </a:xfrm>
              <a:prstGeom prst="rect">
                <a:avLst/>
              </a:prstGeom>
              <a:noFill/>
            </p:spPr>
            <p:txBody>
              <a:bodyPr wrap="square" rtlCol="0">
                <a:spAutoFit/>
              </a:bodyPr>
              <a:lstStyle/>
              <a:p>
                <a:r>
                  <a:rPr lang="en-US" sz="1400" b="1" dirty="0"/>
                  <a:t>Dirt</a:t>
                </a:r>
              </a:p>
              <a:p>
                <a:pPr marL="285750" indent="-285750">
                  <a:buFont typeface="Arial" panose="020B0604020202020204" pitchFamily="34" charset="0"/>
                  <a:buChar char="•"/>
                </a:pPr>
                <a:r>
                  <a:rPr lang="en-US" sz="1400" b="1" dirty="0"/>
                  <a:t>Permutation:</a:t>
                </a:r>
                <a:r>
                  <a:rPr lang="en-US" sz="1400" dirty="0"/>
                  <a:t> A and B are different rooms, order does matter!</a:t>
                </a:r>
              </a:p>
              <a:p>
                <a:pPr marL="285750" indent="-285750">
                  <a:buFont typeface="Arial" panose="020B0604020202020204" pitchFamily="34" charset="0"/>
                  <a:buChar char="•"/>
                </a:pPr>
                <a:r>
                  <a:rPr lang="en-US" sz="1400" b="1" dirty="0"/>
                  <a:t>With repetition: </a:t>
                </a:r>
                <a:r>
                  <a:rPr lang="en-US" sz="1400" dirty="0"/>
                  <a:t>Dirt can be in both rooms.</a:t>
                </a:r>
              </a:p>
              <a:p>
                <a:pPr marL="285750" indent="-285750">
                  <a:buFont typeface="Arial" panose="020B0604020202020204" pitchFamily="34" charset="0"/>
                  <a:buChar char="•"/>
                </a:pPr>
                <a:r>
                  <a:rPr lang="en-US" sz="1400" dirty="0"/>
                  <a:t>There are </a:t>
                </a:r>
                <a14:m>
                  <m:oMath xmlns:m="http://schemas.openxmlformats.org/officeDocument/2006/math">
                    <m:r>
                      <a:rPr lang="en-US" sz="1400" b="0" i="1" smtClean="0">
                        <a:latin typeface="Cambria Math" panose="02040503050406030204" pitchFamily="18" charset="0"/>
                      </a:rPr>
                      <m:t>2</m:t>
                    </m:r>
                  </m:oMath>
                </a14:m>
                <a:r>
                  <a:rPr lang="en-US" sz="1400" dirty="0"/>
                  <a:t> options (clean/dirty)</a:t>
                </a:r>
              </a:p>
              <a:p>
                <a:endParaRPr lang="en-US" sz="1400" dirty="0"/>
              </a:p>
              <a:p>
                <a:pPr/>
                <a14:m>
                  <m:oMathPara xmlns:m="http://schemas.openxmlformats.org/officeDocument/2006/math">
                    <m:oMathParaPr>
                      <m:jc m:val="centerGroup"/>
                    </m:oMathParaPr>
                    <m:oMath xmlns:m="http://schemas.openxmlformats.org/officeDocument/2006/math">
                      <m:sSup>
                        <m:sSupPr>
                          <m:ctrlPr>
                            <a:rPr lang="en-US" sz="1400" b="0" i="1" smtClean="0">
                              <a:latin typeface="Cambria Math" panose="02040503050406030204" pitchFamily="18" charset="0"/>
                            </a:rPr>
                          </m:ctrlPr>
                        </m:sSupPr>
                        <m:e>
                          <m:r>
                            <a:rPr lang="en-US" sz="1400" i="1">
                              <a:latin typeface="Cambria Math" panose="02040503050406030204" pitchFamily="18" charset="0"/>
                            </a:rPr>
                            <m:t>→</m:t>
                          </m:r>
                          <m:r>
                            <a:rPr lang="en-US" sz="1400" b="0" i="1" smtClean="0">
                              <a:latin typeface="Cambria Math" panose="02040503050406030204" pitchFamily="18" charset="0"/>
                            </a:rPr>
                            <m:t>2</m:t>
                          </m:r>
                        </m:e>
                        <m:sup>
                          <m:r>
                            <a:rPr lang="en-US" sz="1400" b="0" i="1" smtClean="0">
                              <a:latin typeface="Cambria Math" panose="02040503050406030204" pitchFamily="18" charset="0"/>
                            </a:rPr>
                            <m:t>2</m:t>
                          </m:r>
                        </m:sup>
                      </m:sSup>
                    </m:oMath>
                  </m:oMathPara>
                </a14:m>
                <a:endParaRPr lang="en-US" sz="1400" dirty="0"/>
              </a:p>
              <a:p>
                <a:endParaRPr lang="en-US" sz="1400" dirty="0"/>
              </a:p>
              <a:p>
                <a:r>
                  <a:rPr lang="en-US" sz="1400" b="1" dirty="0"/>
                  <a:t>Robot location</a:t>
                </a:r>
              </a:p>
              <a:p>
                <a:pPr marL="285750" indent="-285750">
                  <a:buFont typeface="Arial" panose="020B0604020202020204" pitchFamily="34" charset="0"/>
                  <a:buChar char="•"/>
                </a:pPr>
                <a:r>
                  <a:rPr lang="en-US" sz="1400" dirty="0"/>
                  <a:t>Can be in 1 out of 2 rooms.</a:t>
                </a:r>
              </a:p>
              <a:p>
                <a:pPr/>
                <a14:m>
                  <m:oMathPara xmlns:m="http://schemas.openxmlformats.org/officeDocument/2006/math">
                    <m:oMathParaPr>
                      <m:jc m:val="centerGroup"/>
                    </m:oMathParaPr>
                    <m:oMath xmlns:m="http://schemas.openxmlformats.org/officeDocument/2006/math">
                      <m:r>
                        <a:rPr lang="en-US" sz="1400" b="0" i="1" smtClean="0">
                          <a:latin typeface="Cambria Math" panose="02040503050406030204" pitchFamily="18" charset="0"/>
                        </a:rPr>
                        <m:t>→2</m:t>
                      </m:r>
                    </m:oMath>
                  </m:oMathPara>
                </a14:m>
                <a:endParaRPr lang="en-US" sz="1400" dirty="0"/>
              </a:p>
              <a:p>
                <a:endParaRPr lang="en-US" sz="1400" dirty="0"/>
              </a:p>
              <a:p>
                <a:r>
                  <a:rPr lang="en-US" sz="1400" dirty="0"/>
                  <a:t>Total:    </a:t>
                </a:r>
                <a14:m>
                  <m:oMath xmlns:m="http://schemas.openxmlformats.org/officeDocument/2006/math">
                    <m:r>
                      <a:rPr lang="en-US" sz="1400" b="0" i="1" smtClean="0">
                        <a:latin typeface="Cambria Math" panose="02040503050406030204" pitchFamily="18" charset="0"/>
                      </a:rPr>
                      <m:t>𝑛</m:t>
                    </m:r>
                    <m:r>
                      <a:rPr lang="en-US" sz="1400" b="0" i="0" smtClean="0">
                        <a:latin typeface="Cambria Math" panose="02040503050406030204" pitchFamily="18" charset="0"/>
                      </a:rPr>
                      <m:t>=</m:t>
                    </m:r>
                    <m:r>
                      <a:rPr lang="en-US" sz="1400" b="0" i="1" smtClean="0">
                        <a:latin typeface="Cambria Math" panose="02040503050406030204" pitchFamily="18" charset="0"/>
                      </a:rPr>
                      <m:t>2</m:t>
                    </m:r>
                    <m:sSup>
                      <m:sSupPr>
                        <m:ctrlPr>
                          <a:rPr lang="en-US" sz="1400" b="0" i="1" smtClean="0">
                            <a:latin typeface="Cambria Math" panose="02040503050406030204" pitchFamily="18" charset="0"/>
                          </a:rPr>
                        </m:ctrlPr>
                      </m:sSupPr>
                      <m:e>
                        <m:r>
                          <a:rPr lang="en-US" sz="1400" b="0" i="1" smtClean="0">
                            <a:latin typeface="Cambria Math" panose="02040503050406030204" pitchFamily="18" charset="0"/>
                          </a:rPr>
                          <m:t>×2</m:t>
                        </m:r>
                      </m:e>
                      <m:sup>
                        <m:r>
                          <a:rPr lang="en-US" sz="1400" b="0" i="1" smtClean="0">
                            <a:latin typeface="Cambria Math" panose="02040503050406030204" pitchFamily="18" charset="0"/>
                          </a:rPr>
                          <m:t>2</m:t>
                        </m:r>
                      </m:sup>
                    </m:sSup>
                    <m:r>
                      <a:rPr lang="en-US" sz="1400" b="0" i="1" smtClean="0">
                        <a:latin typeface="Cambria Math" panose="02040503050406030204" pitchFamily="18" charset="0"/>
                      </a:rPr>
                      <m:t>=</m:t>
                    </m:r>
                    <m:sSup>
                      <m:sSupPr>
                        <m:ctrlPr>
                          <a:rPr lang="en-US" sz="1400" b="0" i="1" smtClean="0">
                            <a:latin typeface="Cambria Math" panose="02040503050406030204" pitchFamily="18" charset="0"/>
                          </a:rPr>
                        </m:ctrlPr>
                      </m:sSupPr>
                      <m:e>
                        <m:r>
                          <a:rPr lang="en-US" sz="1400" b="0" i="1" smtClean="0">
                            <a:latin typeface="Cambria Math" panose="02040503050406030204" pitchFamily="18" charset="0"/>
                          </a:rPr>
                          <m:t>2</m:t>
                        </m:r>
                      </m:e>
                      <m:sup>
                        <m:r>
                          <a:rPr lang="en-US" sz="1400" b="0" i="1" smtClean="0">
                            <a:latin typeface="Cambria Math" panose="02040503050406030204" pitchFamily="18" charset="0"/>
                          </a:rPr>
                          <m:t>3</m:t>
                        </m:r>
                      </m:sup>
                    </m:sSup>
                    <m:r>
                      <a:rPr lang="en-US" sz="1400" b="0" i="1" smtClean="0">
                        <a:latin typeface="Cambria Math" panose="02040503050406030204" pitchFamily="18" charset="0"/>
                      </a:rPr>
                      <m:t>=8</m:t>
                    </m:r>
                  </m:oMath>
                </a14:m>
                <a:endParaRPr lang="en-US" sz="1400" dirty="0"/>
              </a:p>
              <a:p>
                <a:endParaRPr lang="en-US" sz="1400" dirty="0"/>
              </a:p>
            </p:txBody>
          </p:sp>
        </mc:Choice>
        <mc:Fallback xmlns="">
          <p:sp>
            <p:nvSpPr>
              <p:cNvPr id="10" name="TextBox 9">
                <a:extLst>
                  <a:ext uri="{FF2B5EF4-FFF2-40B4-BE49-F238E27FC236}">
                    <a16:creationId xmlns:a16="http://schemas.microsoft.com/office/drawing/2014/main" id="{AA4BE5D2-9BA6-DB08-A4B5-2ED3B98CB6AD}"/>
                  </a:ext>
                </a:extLst>
              </p:cNvPr>
              <p:cNvSpPr txBox="1">
                <a:spLocks noRot="1" noChangeAspect="1" noMove="1" noResize="1" noEditPoints="1" noAdjustHandles="1" noChangeArrowheads="1" noChangeShapeType="1" noTextEdit="1"/>
              </p:cNvSpPr>
              <p:nvPr/>
            </p:nvSpPr>
            <p:spPr>
              <a:xfrm>
                <a:off x="609351" y="1947704"/>
                <a:ext cx="4115049" cy="3108543"/>
              </a:xfrm>
              <a:prstGeom prst="rect">
                <a:avLst/>
              </a:prstGeom>
              <a:blipFill>
                <a:blip r:embed="rId4"/>
                <a:stretch>
                  <a:fillRect l="-444" t="-393"/>
                </a:stretch>
              </a:blipFill>
            </p:spPr>
            <p:txBody>
              <a:bodyPr/>
              <a:lstStyle/>
              <a:p>
                <a:r>
                  <a:rPr lang="en-US">
                    <a:noFill/>
                  </a:rPr>
                  <a:t> </a:t>
                </a:r>
              </a:p>
            </p:txBody>
          </p:sp>
        </mc:Fallback>
      </mc:AlternateContent>
      <p:sp>
        <p:nvSpPr>
          <p:cNvPr id="14" name="Rectangle 13">
            <a:extLst>
              <a:ext uri="{FF2B5EF4-FFF2-40B4-BE49-F238E27FC236}">
                <a16:creationId xmlns:a16="http://schemas.microsoft.com/office/drawing/2014/main" id="{BD37989B-9DC4-B573-F0AD-894463503E2E}"/>
              </a:ext>
            </a:extLst>
          </p:cNvPr>
          <p:cNvSpPr/>
          <p:nvPr/>
        </p:nvSpPr>
        <p:spPr>
          <a:xfrm>
            <a:off x="4835589" y="2152949"/>
            <a:ext cx="1637800" cy="3810000"/>
          </a:xfrm>
          <a:prstGeom prst="rect">
            <a:avLst/>
          </a:prstGeom>
          <a:noFill/>
          <a:ln w="9525" cap="flat" cmpd="sng" algn="ctr">
            <a:solidFill>
              <a:schemeClr val="accent2"/>
            </a:solidFill>
            <a:prstDash val="solid"/>
            <a:round/>
            <a:headEnd type="none" w="med" len="med"/>
            <a:tailEnd type="none" w="med" len="med"/>
          </a:ln>
        </p:spPr>
        <p:style>
          <a:lnRef idx="0">
            <a:scrgbClr r="0" g="0" b="0"/>
          </a:lnRef>
          <a:fillRef idx="0">
            <a:scrgbClr r="0" g="0" b="0"/>
          </a:fillRef>
          <a:effectRef idx="0">
            <a:scrgbClr r="0" g="0" b="0"/>
          </a:effectRef>
          <a:fontRef idx="minor">
            <a:schemeClr val="accent2"/>
          </a:fontRef>
        </p:style>
        <p:txBody>
          <a:bodyPr rtlCol="0" anchor="ctr"/>
          <a:lstStyle/>
          <a:p>
            <a:pPr algn="ctr"/>
            <a:endParaRPr lang="en-US"/>
          </a:p>
        </p:txBody>
      </p:sp>
      <p:cxnSp>
        <p:nvCxnSpPr>
          <p:cNvPr id="7" name="Straight Arrow Connector 6">
            <a:extLst>
              <a:ext uri="{FF2B5EF4-FFF2-40B4-BE49-F238E27FC236}">
                <a16:creationId xmlns:a16="http://schemas.microsoft.com/office/drawing/2014/main" id="{6E7C59E0-D992-775F-588C-62C6634E6ECF}"/>
              </a:ext>
            </a:extLst>
          </p:cNvPr>
          <p:cNvCxnSpPr>
            <a:cxnSpLocks/>
          </p:cNvCxnSpPr>
          <p:nvPr/>
        </p:nvCxnSpPr>
        <p:spPr>
          <a:xfrm flipH="1" flipV="1">
            <a:off x="2782253" y="3463521"/>
            <a:ext cx="2551747" cy="1718079"/>
          </a:xfrm>
          <a:prstGeom prst="straightConnector1">
            <a:avLst/>
          </a:prstGeom>
          <a:ln w="19050" cap="flat" cmpd="sng" algn="ctr">
            <a:solidFill>
              <a:schemeClr val="accent2"/>
            </a:solidFill>
            <a:prstDash val="solid"/>
            <a:round/>
            <a:headEnd type="none" w="med" len="med"/>
            <a:tailEnd type="arrow" w="med" len="med"/>
          </a:ln>
        </p:spPr>
        <p:style>
          <a:lnRef idx="0">
            <a:scrgbClr r="0" g="0" b="0"/>
          </a:lnRef>
          <a:fillRef idx="0">
            <a:scrgbClr r="0" g="0" b="0"/>
          </a:fillRef>
          <a:effectRef idx="0">
            <a:scrgbClr r="0" g="0" b="0"/>
          </a:effectRef>
          <a:fontRef idx="minor">
            <a:schemeClr val="tx1"/>
          </a:fontRef>
        </p:style>
      </p:cxnSp>
      <p:sp>
        <p:nvSpPr>
          <p:cNvPr id="5" name="TextBox 4">
            <a:extLst>
              <a:ext uri="{FF2B5EF4-FFF2-40B4-BE49-F238E27FC236}">
                <a16:creationId xmlns:a16="http://schemas.microsoft.com/office/drawing/2014/main" id="{54AA3B0F-E12F-0ECA-945E-B140E472F50A}"/>
              </a:ext>
            </a:extLst>
          </p:cNvPr>
          <p:cNvSpPr txBox="1"/>
          <p:nvPr/>
        </p:nvSpPr>
        <p:spPr>
          <a:xfrm>
            <a:off x="4964235" y="5568793"/>
            <a:ext cx="1399376" cy="523220"/>
          </a:xfrm>
          <a:prstGeom prst="rect">
            <a:avLst/>
          </a:prstGeom>
        </p:spPr>
        <p:style>
          <a:lnRef idx="3">
            <a:schemeClr val="lt1"/>
          </a:lnRef>
          <a:fillRef idx="1">
            <a:schemeClr val="accent2"/>
          </a:fillRef>
          <a:effectRef idx="1">
            <a:schemeClr val="accent2"/>
          </a:effectRef>
          <a:fontRef idx="minor">
            <a:schemeClr val="lt1"/>
          </a:fontRef>
        </p:style>
        <p:txBody>
          <a:bodyPr wrap="square" rtlCol="0">
            <a:spAutoFit/>
          </a:bodyPr>
          <a:lstStyle/>
          <a:p>
            <a:pPr algn="ctr"/>
            <a:r>
              <a:rPr lang="en-US" sz="1400" b="1" dirty="0"/>
              <a:t>r … # of rooms</a:t>
            </a:r>
            <a:br>
              <a:rPr lang="en-US" sz="1400" b="1" dirty="0"/>
            </a:br>
            <a:r>
              <a:rPr lang="en-US" sz="1400" b="1" dirty="0"/>
              <a:t>n … options</a:t>
            </a:r>
          </a:p>
        </p:txBody>
      </p:sp>
      <p:pic>
        <p:nvPicPr>
          <p:cNvPr id="6" name="Picture 5">
            <a:extLst>
              <a:ext uri="{FF2B5EF4-FFF2-40B4-BE49-F238E27FC236}">
                <a16:creationId xmlns:a16="http://schemas.microsoft.com/office/drawing/2014/main" id="{2A8D7251-0F0F-237E-29D7-20093B0B33F8}"/>
              </a:ext>
            </a:extLst>
          </p:cNvPr>
          <p:cNvPicPr>
            <a:picLocks noChangeAspect="1"/>
          </p:cNvPicPr>
          <p:nvPr/>
        </p:nvPicPr>
        <p:blipFill>
          <a:blip r:embed="rId5"/>
          <a:stretch>
            <a:fillRect/>
          </a:stretch>
        </p:blipFill>
        <p:spPr>
          <a:xfrm>
            <a:off x="2362200" y="4805346"/>
            <a:ext cx="2108595" cy="1816981"/>
          </a:xfrm>
          <a:prstGeom prst="rect">
            <a:avLst/>
          </a:prstGeom>
        </p:spPr>
      </p:pic>
    </p:spTree>
    <p:extLst>
      <p:ext uri="{BB962C8B-B14F-4D97-AF65-F5344CB8AC3E}">
        <p14:creationId xmlns:p14="http://schemas.microsoft.com/office/powerpoint/2010/main" val="122215232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0">
                                            <p:txEl>
                                              <p:pRg st="7" end="7"/>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0">
                                            <p:txEl>
                                              <p:pRg st="8" end="8"/>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10">
                                            <p:txEl>
                                              <p:pRg st="9" end="9"/>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0">
                                            <p:txEl>
                                              <p:pRg st="11" end="11"/>
                                            </p:txEl>
                                          </p:spTgt>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032" name="Picture 8" descr="MAZE. In Black and White.&quot; Art Board Print by TOMSREDBUBBLE | Redbubble">
            <a:extLst>
              <a:ext uri="{FF2B5EF4-FFF2-40B4-BE49-F238E27FC236}">
                <a16:creationId xmlns:a16="http://schemas.microsoft.com/office/drawing/2014/main" id="{2571153B-B059-4858-BF01-466BDD0CE4B3}"/>
              </a:ext>
            </a:extLst>
          </p:cNvPr>
          <p:cNvPicPr>
            <a:picLocks noChangeAspect="1" noChangeArrowheads="1"/>
          </p:cNvPicPr>
          <p:nvPr/>
        </p:nvPicPr>
        <p:blipFill rotWithShape="1">
          <a:blip r:embed="rId2" cstate="print">
            <a:extLst>
              <a:ext uri="{28A0092B-C50C-407E-A947-70E740481C1C}">
                <a14:useLocalDpi xmlns:a14="http://schemas.microsoft.com/office/drawing/2010/main" val="0"/>
              </a:ext>
            </a:extLst>
          </a:blip>
          <a:srcRect t="13335" b="12480"/>
          <a:stretch/>
        </p:blipFill>
        <p:spPr bwMode="auto">
          <a:xfrm>
            <a:off x="914400" y="2133600"/>
            <a:ext cx="1778794" cy="1758554"/>
          </a:xfrm>
          <a:prstGeom prst="rect">
            <a:avLst/>
          </a:prstGeom>
          <a:extLst>
            <a:ext uri="{909E8E84-426E-40DD-AFC4-6F175D3DCCD1}">
              <a14:hiddenFill xmlns:a14="http://schemas.microsoft.com/office/drawing/2010/main">
                <a:solidFill>
                  <a:srgbClr val="FFFFFF"/>
                </a:solidFill>
              </a14:hiddenFill>
            </a:ext>
          </a:extLst>
        </p:spPr>
      </p:pic>
      <p:sp>
        <p:nvSpPr>
          <p:cNvPr id="8" name="Rectangle 7">
            <a:extLst>
              <a:ext uri="{FF2B5EF4-FFF2-40B4-BE49-F238E27FC236}">
                <a16:creationId xmlns:a16="http://schemas.microsoft.com/office/drawing/2014/main" id="{B08B44E6-866D-4A5E-AFB3-D9DCA58C75D3}"/>
              </a:ext>
            </a:extLst>
          </p:cNvPr>
          <p:cNvSpPr/>
          <p:nvPr/>
        </p:nvSpPr>
        <p:spPr>
          <a:xfrm>
            <a:off x="914400" y="3908908"/>
            <a:ext cx="1778794" cy="351235"/>
          </a:xfrm>
          <a:prstGeom prst="rect">
            <a:avLst/>
          </a:prstGeom>
          <a:solidFill>
            <a:srgbClr val="000000">
              <a:alpha val="50000"/>
            </a:srgbClr>
          </a:solidFill>
          <a:ln>
            <a:noFill/>
          </a:ln>
        </p:spPr>
        <p:txBody>
          <a:bodyPr wrap="square" anchor="ctr">
            <a:noAutofit/>
          </a:bodyPr>
          <a:lstStyle/>
          <a:p>
            <a:pPr algn="ctr">
              <a:spcAft>
                <a:spcPts val="450"/>
              </a:spcAft>
            </a:pPr>
            <a:r>
              <a:rPr lang="en-US" sz="1200">
                <a:solidFill>
                  <a:srgbClr val="FFFFFF"/>
                </a:solidFill>
              </a:rPr>
              <a:t>Maze</a:t>
            </a:r>
          </a:p>
        </p:txBody>
      </p:sp>
      <p:pic>
        <p:nvPicPr>
          <p:cNvPr id="1028" name="Picture 4" descr="The eight queens puzzle in Python | Solarian Programmer">
            <a:extLst>
              <a:ext uri="{FF2B5EF4-FFF2-40B4-BE49-F238E27FC236}">
                <a16:creationId xmlns:a16="http://schemas.microsoft.com/office/drawing/2014/main" id="{9FC19A06-CBF6-4819-B189-F9D337D6FC14}"/>
              </a:ext>
            </a:extLst>
          </p:cNvPr>
          <p:cNvPicPr>
            <a:picLocks noChangeAspect="1" noChangeArrowheads="1"/>
          </p:cNvPicPr>
          <p:nvPr/>
        </p:nvPicPr>
        <p:blipFill>
          <a:blip r:embed="rId3">
            <a:extLst>
              <a:ext uri="{28A0092B-C50C-407E-A947-70E740481C1C}">
                <a14:useLocalDpi xmlns:a14="http://schemas.microsoft.com/office/drawing/2010/main" val="0"/>
              </a:ext>
            </a:extLst>
          </a:blip>
          <a:stretch>
            <a:fillRect/>
          </a:stretch>
        </p:blipFill>
        <p:spPr bwMode="auto">
          <a:xfrm>
            <a:off x="2743200" y="2133600"/>
            <a:ext cx="1759744" cy="1758554"/>
          </a:xfrm>
          <a:prstGeom prst="rect">
            <a:avLst/>
          </a:prstGeom>
          <a:extLst>
            <a:ext uri="{909E8E84-426E-40DD-AFC4-6F175D3DCCD1}">
              <a14:hiddenFill xmlns:a14="http://schemas.microsoft.com/office/drawing/2010/main">
                <a:solidFill>
                  <a:srgbClr val="FFFFFF"/>
                </a:solidFill>
              </a14:hiddenFill>
            </a:ext>
          </a:extLst>
        </p:spPr>
      </p:pic>
      <p:sp>
        <p:nvSpPr>
          <p:cNvPr id="7" name="Rectangle 6">
            <a:extLst>
              <a:ext uri="{FF2B5EF4-FFF2-40B4-BE49-F238E27FC236}">
                <a16:creationId xmlns:a16="http://schemas.microsoft.com/office/drawing/2014/main" id="{14677E2A-E997-42CC-B03B-6B72B6934E54}"/>
              </a:ext>
            </a:extLst>
          </p:cNvPr>
          <p:cNvSpPr/>
          <p:nvPr/>
        </p:nvSpPr>
        <p:spPr>
          <a:xfrm>
            <a:off x="2743200" y="3908908"/>
            <a:ext cx="1759744" cy="351235"/>
          </a:xfrm>
          <a:prstGeom prst="rect">
            <a:avLst/>
          </a:prstGeom>
          <a:solidFill>
            <a:srgbClr val="000000">
              <a:alpha val="50000"/>
            </a:srgbClr>
          </a:solidFill>
          <a:ln>
            <a:noFill/>
          </a:ln>
        </p:spPr>
        <p:txBody>
          <a:bodyPr wrap="square" anchor="ctr">
            <a:noAutofit/>
          </a:bodyPr>
          <a:lstStyle/>
          <a:p>
            <a:pPr algn="ctr">
              <a:spcAft>
                <a:spcPts val="450"/>
              </a:spcAft>
            </a:pPr>
            <a:r>
              <a:rPr lang="en-US" sz="1200" dirty="0">
                <a:solidFill>
                  <a:srgbClr val="FFFFFF"/>
                </a:solidFill>
              </a:rPr>
              <a:t>8-queens problem</a:t>
            </a:r>
          </a:p>
        </p:txBody>
      </p:sp>
      <p:pic>
        <p:nvPicPr>
          <p:cNvPr id="1026" name="Picture 2">
            <a:extLst>
              <a:ext uri="{FF2B5EF4-FFF2-40B4-BE49-F238E27FC236}">
                <a16:creationId xmlns:a16="http://schemas.microsoft.com/office/drawing/2014/main" id="{BEECF329-1304-4A9B-905D-61E6EC19569A}"/>
              </a:ext>
            </a:extLst>
          </p:cNvPr>
          <p:cNvPicPr>
            <a:picLocks noChangeAspect="1" noChangeArrowheads="1"/>
          </p:cNvPicPr>
          <p:nvPr/>
        </p:nvPicPr>
        <p:blipFill rotWithShape="1">
          <a:blip r:embed="rId4">
            <a:extLst>
              <a:ext uri="{28A0092B-C50C-407E-A947-70E740481C1C}">
                <a14:useLocalDpi xmlns:a14="http://schemas.microsoft.com/office/drawing/2010/main" val="0"/>
              </a:ext>
            </a:extLst>
          </a:blip>
          <a:srcRect r="54439"/>
          <a:stretch/>
        </p:blipFill>
        <p:spPr bwMode="auto">
          <a:xfrm>
            <a:off x="4554139" y="2133600"/>
            <a:ext cx="1872854" cy="1758554"/>
          </a:xfrm>
          <a:prstGeom prst="rect">
            <a:avLst/>
          </a:prstGeom>
          <a:extLst>
            <a:ext uri="{909E8E84-426E-40DD-AFC4-6F175D3DCCD1}">
              <a14:hiddenFill xmlns:a14="http://schemas.microsoft.com/office/drawing/2010/main">
                <a:solidFill>
                  <a:srgbClr val="FFFFFF"/>
                </a:solidFill>
              </a14:hiddenFill>
            </a:ext>
          </a:extLst>
        </p:spPr>
      </p:pic>
      <p:sp>
        <p:nvSpPr>
          <p:cNvPr id="5" name="Rectangle 4">
            <a:extLst>
              <a:ext uri="{FF2B5EF4-FFF2-40B4-BE49-F238E27FC236}">
                <a16:creationId xmlns:a16="http://schemas.microsoft.com/office/drawing/2014/main" id="{C6680FC1-2E9B-4D1E-BE6C-BA13EF788FB4}"/>
              </a:ext>
            </a:extLst>
          </p:cNvPr>
          <p:cNvSpPr/>
          <p:nvPr/>
        </p:nvSpPr>
        <p:spPr>
          <a:xfrm>
            <a:off x="4554139" y="3908908"/>
            <a:ext cx="1872854" cy="351235"/>
          </a:xfrm>
          <a:prstGeom prst="rect">
            <a:avLst/>
          </a:prstGeom>
          <a:solidFill>
            <a:srgbClr val="000000">
              <a:alpha val="50000"/>
            </a:srgbClr>
          </a:solidFill>
          <a:ln>
            <a:noFill/>
          </a:ln>
        </p:spPr>
        <p:txBody>
          <a:bodyPr wrap="square" anchor="ctr">
            <a:noAutofit/>
          </a:bodyPr>
          <a:lstStyle/>
          <a:p>
            <a:pPr algn="ctr">
              <a:spcAft>
                <a:spcPts val="450"/>
              </a:spcAft>
            </a:pPr>
            <a:r>
              <a:rPr lang="en-US" sz="1200" dirty="0">
                <a:solidFill>
                  <a:srgbClr val="FFFFFF"/>
                </a:solidFill>
              </a:rPr>
              <a:t>8-puzzle problem</a:t>
            </a:r>
          </a:p>
        </p:txBody>
      </p:sp>
      <p:pic>
        <p:nvPicPr>
          <p:cNvPr id="1030" name="Picture 6" descr="Tic-tac-toe - Wikipedia">
            <a:extLst>
              <a:ext uri="{FF2B5EF4-FFF2-40B4-BE49-F238E27FC236}">
                <a16:creationId xmlns:a16="http://schemas.microsoft.com/office/drawing/2014/main" id="{C8966331-BED0-4CC1-988D-8EF4F768252A}"/>
              </a:ext>
            </a:extLst>
          </p:cNvPr>
          <p:cNvPicPr>
            <a:picLocks noChangeAspect="1" noChangeArrowheads="1"/>
          </p:cNvPicPr>
          <p:nvPr/>
        </p:nvPicPr>
        <p:blipFill>
          <a:blip r:embed="rId5" cstate="print">
            <a:biLevel thresh="25000"/>
            <a:extLst>
              <a:ext uri="{BEBA8EAE-BF5A-486C-A8C5-ECC9F3942E4B}">
                <a14:imgProps xmlns:a14="http://schemas.microsoft.com/office/drawing/2010/main">
                  <a14:imgLayer r:embed="rId6">
                    <a14:imgEffect>
                      <a14:saturation sat="33000"/>
                    </a14:imgEffect>
                  </a14:imgLayer>
                </a14:imgProps>
              </a:ext>
              <a:ext uri="{28A0092B-C50C-407E-A947-70E740481C1C}">
                <a14:useLocalDpi xmlns:a14="http://schemas.microsoft.com/office/drawing/2010/main" val="0"/>
              </a:ext>
            </a:extLst>
          </a:blip>
          <a:stretch>
            <a:fillRect/>
          </a:stretch>
        </p:blipFill>
        <p:spPr bwMode="auto">
          <a:xfrm>
            <a:off x="6479381" y="2133600"/>
            <a:ext cx="1983581" cy="1758554"/>
          </a:xfrm>
          <a:prstGeom prst="rect">
            <a:avLst/>
          </a:prstGeom>
          <a:extLst>
            <a:ext uri="{909E8E84-426E-40DD-AFC4-6F175D3DCCD1}">
              <a14:hiddenFill xmlns:a14="http://schemas.microsoft.com/office/drawing/2010/main">
                <a:solidFill>
                  <a:srgbClr val="FFFFFF"/>
                </a:solidFill>
              </a14:hiddenFill>
            </a:ext>
          </a:extLst>
        </p:spPr>
      </p:pic>
      <p:sp>
        <p:nvSpPr>
          <p:cNvPr id="6" name="Rectangle 5">
            <a:extLst>
              <a:ext uri="{FF2B5EF4-FFF2-40B4-BE49-F238E27FC236}">
                <a16:creationId xmlns:a16="http://schemas.microsoft.com/office/drawing/2014/main" id="{02506F6E-739D-46C1-AF74-95E930538CAD}"/>
              </a:ext>
            </a:extLst>
          </p:cNvPr>
          <p:cNvSpPr/>
          <p:nvPr/>
        </p:nvSpPr>
        <p:spPr>
          <a:xfrm>
            <a:off x="6479381" y="3908908"/>
            <a:ext cx="1983581" cy="351235"/>
          </a:xfrm>
          <a:prstGeom prst="rect">
            <a:avLst/>
          </a:prstGeom>
          <a:solidFill>
            <a:srgbClr val="000000">
              <a:alpha val="50000"/>
            </a:srgbClr>
          </a:solidFill>
          <a:ln>
            <a:noFill/>
          </a:ln>
        </p:spPr>
        <p:txBody>
          <a:bodyPr wrap="square" anchor="ctr">
            <a:noAutofit/>
          </a:bodyPr>
          <a:lstStyle/>
          <a:p>
            <a:pPr algn="ctr">
              <a:spcAft>
                <a:spcPts val="450"/>
              </a:spcAft>
            </a:pPr>
            <a:r>
              <a:rPr lang="en-US" sz="1200" dirty="0">
                <a:solidFill>
                  <a:srgbClr val="FFFFFF"/>
                </a:solidFill>
              </a:rPr>
              <a:t>Tic-tac-toe</a:t>
            </a:r>
          </a:p>
        </p:txBody>
      </p:sp>
      <p:sp>
        <p:nvSpPr>
          <p:cNvPr id="2" name="Title 1">
            <a:extLst>
              <a:ext uri="{FF2B5EF4-FFF2-40B4-BE49-F238E27FC236}">
                <a16:creationId xmlns:a16="http://schemas.microsoft.com/office/drawing/2014/main" id="{E0F39E30-6893-4BA5-A7BD-8CE03B569160}"/>
              </a:ext>
            </a:extLst>
          </p:cNvPr>
          <p:cNvSpPr>
            <a:spLocks noGrp="1"/>
          </p:cNvSpPr>
          <p:nvPr>
            <p:ph type="title"/>
          </p:nvPr>
        </p:nvSpPr>
        <p:spPr/>
        <p:txBody>
          <a:bodyPr vert="horz" lIns="68580" tIns="34290" rIns="68580" bIns="34290" rtlCol="0" anchor="ctr">
            <a:normAutofit/>
          </a:bodyPr>
          <a:lstStyle/>
          <a:p>
            <a:r>
              <a:rPr lang="en-US" sz="3000" dirty="0"/>
              <a:t>Examples: What is the State Space Size?</a:t>
            </a:r>
          </a:p>
        </p:txBody>
      </p:sp>
      <p:sp>
        <p:nvSpPr>
          <p:cNvPr id="4" name="TextBox 3">
            <a:extLst>
              <a:ext uri="{FF2B5EF4-FFF2-40B4-BE49-F238E27FC236}">
                <a16:creationId xmlns:a16="http://schemas.microsoft.com/office/drawing/2014/main" id="{8FCC58D6-DB77-4484-9D8D-2B3CEA578693}"/>
              </a:ext>
            </a:extLst>
          </p:cNvPr>
          <p:cNvSpPr txBox="1"/>
          <p:nvPr/>
        </p:nvSpPr>
        <p:spPr>
          <a:xfrm>
            <a:off x="628650" y="1506023"/>
            <a:ext cx="8058150" cy="369332"/>
          </a:xfrm>
          <a:prstGeom prst="rect">
            <a:avLst/>
          </a:prstGeom>
          <a:noFill/>
        </p:spPr>
        <p:txBody>
          <a:bodyPr wrap="square" rtlCol="0">
            <a:spAutoFit/>
          </a:bodyPr>
          <a:lstStyle/>
          <a:p>
            <a:r>
              <a:rPr lang="en-US" dirty="0"/>
              <a:t>Often a rough upper limit is sufficient to determine how hard the search problem is.</a:t>
            </a:r>
          </a:p>
        </p:txBody>
      </p:sp>
    </p:spTree>
    <p:extLst>
      <p:ext uri="{BB962C8B-B14F-4D97-AF65-F5344CB8AC3E}">
        <p14:creationId xmlns:p14="http://schemas.microsoft.com/office/powerpoint/2010/main" val="3336624629"/>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41009B0-C3B3-4372-8611-9599815018B5}"/>
            </a:ext>
          </a:extLst>
        </p:cNvPr>
        <p:cNvGrpSpPr/>
        <p:nvPr/>
      </p:nvGrpSpPr>
      <p:grpSpPr>
        <a:xfrm>
          <a:off x="0" y="0"/>
          <a:ext cx="0" cy="0"/>
          <a:chOff x="0" y="0"/>
          <a:chExt cx="0" cy="0"/>
        </a:xfrm>
      </p:grpSpPr>
      <p:pic>
        <p:nvPicPr>
          <p:cNvPr id="1032" name="Picture 8" descr="MAZE. In Black and White.&quot; Art Board Print by TOMSREDBUBBLE | Redbubble">
            <a:extLst>
              <a:ext uri="{FF2B5EF4-FFF2-40B4-BE49-F238E27FC236}">
                <a16:creationId xmlns:a16="http://schemas.microsoft.com/office/drawing/2014/main" id="{919FC951-B8E8-5127-A904-DE8A7AF32B7E}"/>
              </a:ext>
            </a:extLst>
          </p:cNvPr>
          <p:cNvPicPr>
            <a:picLocks noChangeAspect="1" noChangeArrowheads="1"/>
          </p:cNvPicPr>
          <p:nvPr/>
        </p:nvPicPr>
        <p:blipFill rotWithShape="1">
          <a:blip r:embed="rId2" cstate="print">
            <a:extLst>
              <a:ext uri="{28A0092B-C50C-407E-A947-70E740481C1C}">
                <a14:useLocalDpi xmlns:a14="http://schemas.microsoft.com/office/drawing/2010/main" val="0"/>
              </a:ext>
            </a:extLst>
          </a:blip>
          <a:srcRect t="13335" b="12480"/>
          <a:stretch/>
        </p:blipFill>
        <p:spPr bwMode="auto">
          <a:xfrm>
            <a:off x="914400" y="2133600"/>
            <a:ext cx="1778794" cy="1758554"/>
          </a:xfrm>
          <a:prstGeom prst="rect">
            <a:avLst/>
          </a:prstGeom>
          <a:extLst>
            <a:ext uri="{909E8E84-426E-40DD-AFC4-6F175D3DCCD1}">
              <a14:hiddenFill xmlns:a14="http://schemas.microsoft.com/office/drawing/2010/main">
                <a:solidFill>
                  <a:srgbClr val="FFFFFF"/>
                </a:solidFill>
              </a14:hiddenFill>
            </a:ext>
          </a:extLst>
        </p:spPr>
      </p:pic>
      <p:sp>
        <p:nvSpPr>
          <p:cNvPr id="8" name="Rectangle 7">
            <a:extLst>
              <a:ext uri="{FF2B5EF4-FFF2-40B4-BE49-F238E27FC236}">
                <a16:creationId xmlns:a16="http://schemas.microsoft.com/office/drawing/2014/main" id="{1DA3F89B-1168-673A-0662-D7E903AC24FB}"/>
              </a:ext>
            </a:extLst>
          </p:cNvPr>
          <p:cNvSpPr/>
          <p:nvPr/>
        </p:nvSpPr>
        <p:spPr>
          <a:xfrm>
            <a:off x="914400" y="3908908"/>
            <a:ext cx="1778794" cy="351235"/>
          </a:xfrm>
          <a:prstGeom prst="rect">
            <a:avLst/>
          </a:prstGeom>
          <a:solidFill>
            <a:srgbClr val="000000">
              <a:alpha val="50000"/>
            </a:srgbClr>
          </a:solidFill>
          <a:ln>
            <a:noFill/>
          </a:ln>
        </p:spPr>
        <p:txBody>
          <a:bodyPr wrap="square" anchor="ctr">
            <a:noAutofit/>
          </a:bodyPr>
          <a:lstStyle/>
          <a:p>
            <a:pPr algn="ctr">
              <a:spcAft>
                <a:spcPts val="450"/>
              </a:spcAft>
            </a:pPr>
            <a:r>
              <a:rPr lang="en-US" sz="1200">
                <a:solidFill>
                  <a:srgbClr val="FFFFFF"/>
                </a:solidFill>
              </a:rPr>
              <a:t>Maze</a:t>
            </a:r>
          </a:p>
        </p:txBody>
      </p:sp>
      <p:pic>
        <p:nvPicPr>
          <p:cNvPr id="1028" name="Picture 4" descr="The eight queens puzzle in Python | Solarian Programmer">
            <a:extLst>
              <a:ext uri="{FF2B5EF4-FFF2-40B4-BE49-F238E27FC236}">
                <a16:creationId xmlns:a16="http://schemas.microsoft.com/office/drawing/2014/main" id="{4DBDC790-C2DE-54FB-0690-FAADFEB25229}"/>
              </a:ext>
            </a:extLst>
          </p:cNvPr>
          <p:cNvPicPr>
            <a:picLocks noChangeAspect="1" noChangeArrowheads="1"/>
          </p:cNvPicPr>
          <p:nvPr/>
        </p:nvPicPr>
        <p:blipFill>
          <a:blip r:embed="rId3">
            <a:extLst>
              <a:ext uri="{28A0092B-C50C-407E-A947-70E740481C1C}">
                <a14:useLocalDpi xmlns:a14="http://schemas.microsoft.com/office/drawing/2010/main" val="0"/>
              </a:ext>
            </a:extLst>
          </a:blip>
          <a:stretch>
            <a:fillRect/>
          </a:stretch>
        </p:blipFill>
        <p:spPr bwMode="auto">
          <a:xfrm>
            <a:off x="2743200" y="2133600"/>
            <a:ext cx="1759744" cy="1758554"/>
          </a:xfrm>
          <a:prstGeom prst="rect">
            <a:avLst/>
          </a:prstGeom>
          <a:extLst>
            <a:ext uri="{909E8E84-426E-40DD-AFC4-6F175D3DCCD1}">
              <a14:hiddenFill xmlns:a14="http://schemas.microsoft.com/office/drawing/2010/main">
                <a:solidFill>
                  <a:srgbClr val="FFFFFF"/>
                </a:solidFill>
              </a14:hiddenFill>
            </a:ext>
          </a:extLst>
        </p:spPr>
      </p:pic>
      <p:sp>
        <p:nvSpPr>
          <p:cNvPr id="7" name="Rectangle 6">
            <a:extLst>
              <a:ext uri="{FF2B5EF4-FFF2-40B4-BE49-F238E27FC236}">
                <a16:creationId xmlns:a16="http://schemas.microsoft.com/office/drawing/2014/main" id="{00581061-96C1-8410-9D29-EB45FBCEAB2F}"/>
              </a:ext>
            </a:extLst>
          </p:cNvPr>
          <p:cNvSpPr/>
          <p:nvPr/>
        </p:nvSpPr>
        <p:spPr>
          <a:xfrm>
            <a:off x="2743200" y="3908908"/>
            <a:ext cx="1759744" cy="351235"/>
          </a:xfrm>
          <a:prstGeom prst="rect">
            <a:avLst/>
          </a:prstGeom>
          <a:solidFill>
            <a:srgbClr val="000000">
              <a:alpha val="50000"/>
            </a:srgbClr>
          </a:solidFill>
          <a:ln>
            <a:noFill/>
          </a:ln>
        </p:spPr>
        <p:txBody>
          <a:bodyPr wrap="square" anchor="ctr">
            <a:noAutofit/>
          </a:bodyPr>
          <a:lstStyle/>
          <a:p>
            <a:pPr algn="ctr">
              <a:spcAft>
                <a:spcPts val="450"/>
              </a:spcAft>
            </a:pPr>
            <a:r>
              <a:rPr lang="en-US" sz="1200" dirty="0">
                <a:solidFill>
                  <a:srgbClr val="FFFFFF"/>
                </a:solidFill>
              </a:rPr>
              <a:t>8-queens problem</a:t>
            </a:r>
          </a:p>
        </p:txBody>
      </p:sp>
      <p:pic>
        <p:nvPicPr>
          <p:cNvPr id="1026" name="Picture 2">
            <a:extLst>
              <a:ext uri="{FF2B5EF4-FFF2-40B4-BE49-F238E27FC236}">
                <a16:creationId xmlns:a16="http://schemas.microsoft.com/office/drawing/2014/main" id="{CB0CAEA0-4BD4-D1B6-4861-331017057E04}"/>
              </a:ext>
            </a:extLst>
          </p:cNvPr>
          <p:cNvPicPr>
            <a:picLocks noChangeAspect="1" noChangeArrowheads="1"/>
          </p:cNvPicPr>
          <p:nvPr/>
        </p:nvPicPr>
        <p:blipFill rotWithShape="1">
          <a:blip r:embed="rId4">
            <a:extLst>
              <a:ext uri="{28A0092B-C50C-407E-A947-70E740481C1C}">
                <a14:useLocalDpi xmlns:a14="http://schemas.microsoft.com/office/drawing/2010/main" val="0"/>
              </a:ext>
            </a:extLst>
          </a:blip>
          <a:srcRect r="54439"/>
          <a:stretch/>
        </p:blipFill>
        <p:spPr bwMode="auto">
          <a:xfrm>
            <a:off x="4554139" y="2133600"/>
            <a:ext cx="1872854" cy="1758554"/>
          </a:xfrm>
          <a:prstGeom prst="rect">
            <a:avLst/>
          </a:prstGeom>
          <a:extLst>
            <a:ext uri="{909E8E84-426E-40DD-AFC4-6F175D3DCCD1}">
              <a14:hiddenFill xmlns:a14="http://schemas.microsoft.com/office/drawing/2010/main">
                <a:solidFill>
                  <a:srgbClr val="FFFFFF"/>
                </a:solidFill>
              </a14:hiddenFill>
            </a:ext>
          </a:extLst>
        </p:spPr>
      </p:pic>
      <p:sp>
        <p:nvSpPr>
          <p:cNvPr id="5" name="Rectangle 4">
            <a:extLst>
              <a:ext uri="{FF2B5EF4-FFF2-40B4-BE49-F238E27FC236}">
                <a16:creationId xmlns:a16="http://schemas.microsoft.com/office/drawing/2014/main" id="{725794C8-869A-4446-ED77-AA84F07764F7}"/>
              </a:ext>
            </a:extLst>
          </p:cNvPr>
          <p:cNvSpPr/>
          <p:nvPr/>
        </p:nvSpPr>
        <p:spPr>
          <a:xfrm>
            <a:off x="4554139" y="3908908"/>
            <a:ext cx="1872854" cy="351235"/>
          </a:xfrm>
          <a:prstGeom prst="rect">
            <a:avLst/>
          </a:prstGeom>
          <a:solidFill>
            <a:srgbClr val="000000">
              <a:alpha val="50000"/>
            </a:srgbClr>
          </a:solidFill>
          <a:ln>
            <a:noFill/>
          </a:ln>
        </p:spPr>
        <p:txBody>
          <a:bodyPr wrap="square" anchor="ctr">
            <a:noAutofit/>
          </a:bodyPr>
          <a:lstStyle/>
          <a:p>
            <a:pPr algn="ctr">
              <a:spcAft>
                <a:spcPts val="450"/>
              </a:spcAft>
            </a:pPr>
            <a:r>
              <a:rPr lang="en-US" sz="1200" dirty="0">
                <a:solidFill>
                  <a:srgbClr val="FFFFFF"/>
                </a:solidFill>
              </a:rPr>
              <a:t>8-puzzle problem</a:t>
            </a:r>
          </a:p>
        </p:txBody>
      </p:sp>
      <p:pic>
        <p:nvPicPr>
          <p:cNvPr id="1030" name="Picture 6" descr="Tic-tac-toe - Wikipedia">
            <a:extLst>
              <a:ext uri="{FF2B5EF4-FFF2-40B4-BE49-F238E27FC236}">
                <a16:creationId xmlns:a16="http://schemas.microsoft.com/office/drawing/2014/main" id="{414EA962-7633-FF8E-D45A-CD621CE39C0C}"/>
              </a:ext>
            </a:extLst>
          </p:cNvPr>
          <p:cNvPicPr>
            <a:picLocks noChangeAspect="1" noChangeArrowheads="1"/>
          </p:cNvPicPr>
          <p:nvPr/>
        </p:nvPicPr>
        <p:blipFill>
          <a:blip r:embed="rId5" cstate="print">
            <a:biLevel thresh="25000"/>
            <a:extLst>
              <a:ext uri="{BEBA8EAE-BF5A-486C-A8C5-ECC9F3942E4B}">
                <a14:imgProps xmlns:a14="http://schemas.microsoft.com/office/drawing/2010/main">
                  <a14:imgLayer r:embed="rId6">
                    <a14:imgEffect>
                      <a14:saturation sat="33000"/>
                    </a14:imgEffect>
                  </a14:imgLayer>
                </a14:imgProps>
              </a:ext>
              <a:ext uri="{28A0092B-C50C-407E-A947-70E740481C1C}">
                <a14:useLocalDpi xmlns:a14="http://schemas.microsoft.com/office/drawing/2010/main" val="0"/>
              </a:ext>
            </a:extLst>
          </a:blip>
          <a:stretch>
            <a:fillRect/>
          </a:stretch>
        </p:blipFill>
        <p:spPr bwMode="auto">
          <a:xfrm>
            <a:off x="6479381" y="2133600"/>
            <a:ext cx="1983581" cy="1758554"/>
          </a:xfrm>
          <a:prstGeom prst="rect">
            <a:avLst/>
          </a:prstGeom>
          <a:extLst>
            <a:ext uri="{909E8E84-426E-40DD-AFC4-6F175D3DCCD1}">
              <a14:hiddenFill xmlns:a14="http://schemas.microsoft.com/office/drawing/2010/main">
                <a:solidFill>
                  <a:srgbClr val="FFFFFF"/>
                </a:solidFill>
              </a14:hiddenFill>
            </a:ext>
          </a:extLst>
        </p:spPr>
      </p:pic>
      <p:sp>
        <p:nvSpPr>
          <p:cNvPr id="6" name="Rectangle 5">
            <a:extLst>
              <a:ext uri="{FF2B5EF4-FFF2-40B4-BE49-F238E27FC236}">
                <a16:creationId xmlns:a16="http://schemas.microsoft.com/office/drawing/2014/main" id="{93731585-6367-DB65-4FDC-B99E58BC7526}"/>
              </a:ext>
            </a:extLst>
          </p:cNvPr>
          <p:cNvSpPr/>
          <p:nvPr/>
        </p:nvSpPr>
        <p:spPr>
          <a:xfrm>
            <a:off x="6479381" y="3908908"/>
            <a:ext cx="1983581" cy="351235"/>
          </a:xfrm>
          <a:prstGeom prst="rect">
            <a:avLst/>
          </a:prstGeom>
          <a:solidFill>
            <a:srgbClr val="000000">
              <a:alpha val="50000"/>
            </a:srgbClr>
          </a:solidFill>
          <a:ln>
            <a:noFill/>
          </a:ln>
        </p:spPr>
        <p:txBody>
          <a:bodyPr wrap="square" anchor="ctr">
            <a:noAutofit/>
          </a:bodyPr>
          <a:lstStyle/>
          <a:p>
            <a:pPr algn="ctr">
              <a:spcAft>
                <a:spcPts val="450"/>
              </a:spcAft>
            </a:pPr>
            <a:r>
              <a:rPr lang="en-US" sz="1200" dirty="0">
                <a:solidFill>
                  <a:srgbClr val="FFFFFF"/>
                </a:solidFill>
              </a:rPr>
              <a:t>Tic-tac-toe</a:t>
            </a:r>
          </a:p>
        </p:txBody>
      </p:sp>
      <p:sp>
        <p:nvSpPr>
          <p:cNvPr id="2" name="Title 1">
            <a:extLst>
              <a:ext uri="{FF2B5EF4-FFF2-40B4-BE49-F238E27FC236}">
                <a16:creationId xmlns:a16="http://schemas.microsoft.com/office/drawing/2014/main" id="{C32EB4C7-5944-5D61-664F-D8ECDA4D36EC}"/>
              </a:ext>
            </a:extLst>
          </p:cNvPr>
          <p:cNvSpPr>
            <a:spLocks noGrp="1"/>
          </p:cNvSpPr>
          <p:nvPr>
            <p:ph type="title"/>
          </p:nvPr>
        </p:nvSpPr>
        <p:spPr/>
        <p:txBody>
          <a:bodyPr vert="horz" lIns="68580" tIns="34290" rIns="68580" bIns="34290" rtlCol="0" anchor="ctr">
            <a:normAutofit/>
          </a:bodyPr>
          <a:lstStyle/>
          <a:p>
            <a:r>
              <a:rPr lang="en-US" sz="3000" dirty="0"/>
              <a:t>Examples: What is the State Space Size?</a:t>
            </a:r>
          </a:p>
        </p:txBody>
      </p:sp>
      <p:sp>
        <p:nvSpPr>
          <p:cNvPr id="4" name="TextBox 3">
            <a:extLst>
              <a:ext uri="{FF2B5EF4-FFF2-40B4-BE49-F238E27FC236}">
                <a16:creationId xmlns:a16="http://schemas.microsoft.com/office/drawing/2014/main" id="{95CDD5FF-CBDC-A4B1-03FE-A5241EEC062C}"/>
              </a:ext>
            </a:extLst>
          </p:cNvPr>
          <p:cNvSpPr txBox="1"/>
          <p:nvPr/>
        </p:nvSpPr>
        <p:spPr>
          <a:xfrm>
            <a:off x="628650" y="1506023"/>
            <a:ext cx="8058150" cy="369332"/>
          </a:xfrm>
          <a:prstGeom prst="rect">
            <a:avLst/>
          </a:prstGeom>
          <a:noFill/>
        </p:spPr>
        <p:txBody>
          <a:bodyPr wrap="square" rtlCol="0">
            <a:spAutoFit/>
          </a:bodyPr>
          <a:lstStyle/>
          <a:p>
            <a:r>
              <a:rPr lang="en-US" dirty="0"/>
              <a:t>Often a rough upper limit is sufficient to determine how hard the search problem is.</a:t>
            </a:r>
          </a:p>
        </p:txBody>
      </p:sp>
      <mc:AlternateContent xmlns:mc="http://schemas.openxmlformats.org/markup-compatibility/2006" xmlns:a14="http://schemas.microsoft.com/office/drawing/2010/main">
        <mc:Choice Requires="a14">
          <p:sp>
            <p:nvSpPr>
              <p:cNvPr id="3" name="TextBox 2">
                <a:extLst>
                  <a:ext uri="{FF2B5EF4-FFF2-40B4-BE49-F238E27FC236}">
                    <a16:creationId xmlns:a16="http://schemas.microsoft.com/office/drawing/2014/main" id="{A78B2A05-8718-D264-3F91-B1C48EDD3534}"/>
                  </a:ext>
                </a:extLst>
              </p:cNvPr>
              <p:cNvSpPr txBox="1"/>
              <p:nvPr/>
            </p:nvSpPr>
            <p:spPr>
              <a:xfrm>
                <a:off x="990600" y="4343400"/>
                <a:ext cx="1600200" cy="1200329"/>
              </a:xfrm>
              <a:prstGeom prst="rect">
                <a:avLst/>
              </a:prstGeom>
              <a:noFill/>
            </p:spPr>
            <p:txBody>
              <a:bodyPr wrap="square" rtlCol="0">
                <a:spAutoFit/>
              </a:bodyPr>
              <a:lstStyle/>
              <a:p>
                <a:r>
                  <a:rPr lang="en-US" sz="1200" dirty="0"/>
                  <a:t>State: Positions the agent can be in. </a:t>
                </a:r>
              </a:p>
              <a:p>
                <a:endParaRPr lang="en-US" sz="1200" dirty="0"/>
              </a:p>
              <a:p>
                <a:pPr/>
                <a14:m>
                  <m:oMathPara xmlns:m="http://schemas.openxmlformats.org/officeDocument/2006/math">
                    <m:oMathParaPr>
                      <m:jc m:val="centerGroup"/>
                    </m:oMathParaPr>
                    <m:oMath xmlns:m="http://schemas.openxmlformats.org/officeDocument/2006/math">
                      <m:r>
                        <a:rPr lang="en-US" sz="1200" b="0" i="1" smtClean="0">
                          <a:latin typeface="Cambria Math" panose="02040503050406030204" pitchFamily="18" charset="0"/>
                        </a:rPr>
                        <m:t>𝑛</m:t>
                      </m:r>
                      <m:r>
                        <a:rPr lang="en-US" sz="1200" b="0" i="1" smtClean="0">
                          <a:latin typeface="Cambria Math" panose="02040503050406030204" pitchFamily="18" charset="0"/>
                        </a:rPr>
                        <m:t>≤ </m:t>
                      </m:r>
                      <m:d>
                        <m:dPr>
                          <m:begChr m:val="|"/>
                          <m:endChr m:val="|"/>
                          <m:ctrlPr>
                            <a:rPr lang="en-US" sz="1200" b="0" i="1" smtClean="0">
                              <a:latin typeface="Cambria Math" panose="02040503050406030204" pitchFamily="18" charset="0"/>
                            </a:rPr>
                          </m:ctrlPr>
                        </m:dPr>
                        <m:e>
                          <m:r>
                            <a:rPr lang="en-US" sz="1200" b="0" i="1" smtClean="0">
                              <a:latin typeface="Cambria Math" panose="02040503050406030204" pitchFamily="18" charset="0"/>
                            </a:rPr>
                            <m:t>𝑥</m:t>
                          </m:r>
                        </m:e>
                      </m:d>
                      <m:r>
                        <a:rPr lang="en-US" sz="1200" b="0" i="1" smtClean="0">
                          <a:latin typeface="Cambria Math" panose="02040503050406030204" pitchFamily="18" charset="0"/>
                        </a:rPr>
                        <m:t>×|</m:t>
                      </m:r>
                      <m:r>
                        <a:rPr lang="en-US" sz="1200" b="0" i="1" smtClean="0">
                          <a:latin typeface="Cambria Math" panose="02040503050406030204" pitchFamily="18" charset="0"/>
                        </a:rPr>
                        <m:t>𝑦</m:t>
                      </m:r>
                      <m:r>
                        <a:rPr lang="en-US" sz="1200" b="0" i="1" smtClean="0">
                          <a:latin typeface="Cambria Math" panose="02040503050406030204" pitchFamily="18" charset="0"/>
                        </a:rPr>
                        <m:t>|</m:t>
                      </m:r>
                    </m:oMath>
                  </m:oMathPara>
                </a14:m>
                <a:endParaRPr lang="en-US" sz="1200" dirty="0"/>
              </a:p>
              <a:p>
                <a:endParaRPr lang="en-US" sz="1200" dirty="0"/>
              </a:p>
              <a:p>
                <a14:m>
                  <m:oMath xmlns:m="http://schemas.openxmlformats.org/officeDocument/2006/math">
                    <m:r>
                      <a:rPr lang="en-US" sz="1200" i="1" dirty="0" smtClean="0">
                        <a:latin typeface="Cambria Math" panose="02040503050406030204" pitchFamily="18" charset="0"/>
                      </a:rPr>
                      <m:t>𝑛</m:t>
                    </m:r>
                    <m:r>
                      <a:rPr lang="en-US" sz="1200" i="1" dirty="0" smtClean="0">
                        <a:latin typeface="Cambria Math" panose="02040503050406030204" pitchFamily="18" charset="0"/>
                      </a:rPr>
                      <m:t> =#</m:t>
                    </m:r>
                  </m:oMath>
                </a14:m>
                <a:r>
                  <a:rPr lang="en-US" sz="1200" dirty="0"/>
                  <a:t> white squares.</a:t>
                </a:r>
              </a:p>
            </p:txBody>
          </p:sp>
        </mc:Choice>
        <mc:Fallback xmlns="">
          <p:sp>
            <p:nvSpPr>
              <p:cNvPr id="3" name="TextBox 2">
                <a:extLst>
                  <a:ext uri="{FF2B5EF4-FFF2-40B4-BE49-F238E27FC236}">
                    <a16:creationId xmlns:a16="http://schemas.microsoft.com/office/drawing/2014/main" id="{A78B2A05-8718-D264-3F91-B1C48EDD3534}"/>
                  </a:ext>
                </a:extLst>
              </p:cNvPr>
              <p:cNvSpPr txBox="1">
                <a:spLocks noRot="1" noChangeAspect="1" noMove="1" noResize="1" noEditPoints="1" noAdjustHandles="1" noChangeArrowheads="1" noChangeShapeType="1" noTextEdit="1"/>
              </p:cNvSpPr>
              <p:nvPr/>
            </p:nvSpPr>
            <p:spPr>
              <a:xfrm>
                <a:off x="990600" y="4343400"/>
                <a:ext cx="1600200" cy="1200329"/>
              </a:xfrm>
              <a:prstGeom prst="rect">
                <a:avLst/>
              </a:prstGeom>
              <a:blipFill>
                <a:blip r:embed="rId7"/>
                <a:stretch>
                  <a:fillRect l="-382" t="-510" b="-3061"/>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9" name="TextBox 8">
                <a:extLst>
                  <a:ext uri="{FF2B5EF4-FFF2-40B4-BE49-F238E27FC236}">
                    <a16:creationId xmlns:a16="http://schemas.microsoft.com/office/drawing/2014/main" id="{E2A165D8-8BE5-9430-2C62-8F2EC4CF31CA}"/>
                  </a:ext>
                </a:extLst>
              </p:cNvPr>
              <p:cNvSpPr txBox="1"/>
              <p:nvPr/>
            </p:nvSpPr>
            <p:spPr>
              <a:xfrm>
                <a:off x="2693194" y="4343400"/>
                <a:ext cx="1860945" cy="2347053"/>
              </a:xfrm>
              <a:prstGeom prst="rect">
                <a:avLst/>
              </a:prstGeom>
              <a:noFill/>
            </p:spPr>
            <p:txBody>
              <a:bodyPr wrap="square" rtlCol="0">
                <a:spAutoFit/>
              </a:bodyPr>
              <a:lstStyle/>
              <a:p>
                <a:r>
                  <a:rPr lang="en-US" sz="1200" dirty="0"/>
                  <a:t>State: Board</a:t>
                </a:r>
              </a:p>
              <a:p>
                <a:r>
                  <a:rPr lang="en-US" sz="1200" dirty="0"/>
                  <a:t>Action: Move one queen at a time</a:t>
                </a:r>
              </a:p>
              <a:p>
                <a:endParaRPr lang="en-US" sz="1200" dirty="0"/>
              </a:p>
              <a:p>
                <a:r>
                  <a:rPr lang="en-US" sz="1200" dirty="0"/>
                  <a:t>Each square can have a queen:</a:t>
                </a:r>
              </a:p>
              <a:p>
                <a:pPr/>
                <a14:m>
                  <m:oMathPara xmlns:m="http://schemas.openxmlformats.org/officeDocument/2006/math">
                    <m:oMathParaPr>
                      <m:jc m:val="centerGroup"/>
                    </m:oMathParaPr>
                    <m:oMath xmlns:m="http://schemas.openxmlformats.org/officeDocument/2006/math">
                      <m:r>
                        <a:rPr lang="en-US" sz="1200" i="1" dirty="0" smtClean="0">
                          <a:latin typeface="Cambria Math" panose="02040503050406030204" pitchFamily="18" charset="0"/>
                        </a:rPr>
                        <m:t>𝑛</m:t>
                      </m:r>
                      <m:r>
                        <a:rPr lang="en-US" sz="1200" i="1" dirty="0" smtClean="0">
                          <a:latin typeface="Cambria Math" panose="02040503050406030204" pitchFamily="18" charset="0"/>
                        </a:rPr>
                        <m:t> &lt;</m:t>
                      </m:r>
                      <m:sSup>
                        <m:sSupPr>
                          <m:ctrlPr>
                            <a:rPr lang="en-US" sz="1200" b="0" i="1" dirty="0" smtClean="0">
                              <a:latin typeface="Cambria Math" panose="02040503050406030204" pitchFamily="18" charset="0"/>
                            </a:rPr>
                          </m:ctrlPr>
                        </m:sSupPr>
                        <m:e>
                          <m:r>
                            <a:rPr lang="en-US" sz="1200" b="0" i="1" dirty="0" smtClean="0">
                              <a:latin typeface="Cambria Math" panose="02040503050406030204" pitchFamily="18" charset="0"/>
                            </a:rPr>
                            <m:t>2</m:t>
                          </m:r>
                        </m:e>
                        <m:sup>
                          <m:r>
                            <a:rPr lang="en-US" sz="1200" b="0" i="1" dirty="0" smtClean="0">
                              <a:latin typeface="Cambria Math" panose="02040503050406030204" pitchFamily="18" charset="0"/>
                            </a:rPr>
                            <m:t>64</m:t>
                          </m:r>
                        </m:sup>
                      </m:sSup>
                      <m:r>
                        <a:rPr lang="en-US" sz="1200" b="0" i="1" dirty="0" smtClean="0">
                          <a:latin typeface="Cambria Math" panose="02040503050406030204" pitchFamily="18" charset="0"/>
                        </a:rPr>
                        <m:t>≈1.8×</m:t>
                      </m:r>
                      <m:sSup>
                        <m:sSupPr>
                          <m:ctrlPr>
                            <a:rPr lang="en-US" sz="1200" b="0" i="1" dirty="0" smtClean="0">
                              <a:latin typeface="Cambria Math" panose="02040503050406030204" pitchFamily="18" charset="0"/>
                            </a:rPr>
                          </m:ctrlPr>
                        </m:sSupPr>
                        <m:e>
                          <m:r>
                            <a:rPr lang="en-US" sz="1200" b="0" i="1" dirty="0" smtClean="0">
                              <a:latin typeface="Cambria Math" panose="02040503050406030204" pitchFamily="18" charset="0"/>
                            </a:rPr>
                            <m:t>10</m:t>
                          </m:r>
                        </m:e>
                        <m:sup>
                          <m:r>
                            <a:rPr lang="en-US" sz="1200" b="0" i="1" dirty="0" smtClean="0">
                              <a:latin typeface="Cambria Math" panose="02040503050406030204" pitchFamily="18" charset="0"/>
                            </a:rPr>
                            <m:t>19</m:t>
                          </m:r>
                        </m:sup>
                      </m:sSup>
                    </m:oMath>
                  </m:oMathPara>
                </a14:m>
                <a:endParaRPr lang="en-US" sz="1200" b="0" dirty="0"/>
              </a:p>
              <a:p>
                <a:r>
                  <a:rPr lang="en-US" sz="1200" dirty="0"/>
                  <a:t>Each queen chooses a square:</a:t>
                </a:r>
              </a:p>
              <a:p>
                <a:pPr/>
                <a14:m>
                  <m:oMathPara xmlns:m="http://schemas.openxmlformats.org/officeDocument/2006/math">
                    <m:oMathParaPr>
                      <m:jc m:val="centerGroup"/>
                    </m:oMathParaPr>
                    <m:oMath xmlns:m="http://schemas.openxmlformats.org/officeDocument/2006/math">
                      <m:r>
                        <a:rPr lang="en-US" sz="1200" b="0" i="1" smtClean="0">
                          <a:latin typeface="Cambria Math" panose="02040503050406030204" pitchFamily="18" charset="0"/>
                        </a:rPr>
                        <m:t>𝑛</m:t>
                      </m:r>
                      <m:r>
                        <a:rPr lang="en-US" sz="1200" b="0" i="1" smtClean="0">
                          <a:latin typeface="Cambria Math" panose="02040503050406030204" pitchFamily="18" charset="0"/>
                        </a:rPr>
                        <m:t>&lt;</m:t>
                      </m:r>
                      <m:sSup>
                        <m:sSupPr>
                          <m:ctrlPr>
                            <a:rPr lang="en-US" sz="1200" b="0" i="1" smtClean="0">
                              <a:latin typeface="Cambria Math" panose="02040503050406030204" pitchFamily="18" charset="0"/>
                            </a:rPr>
                          </m:ctrlPr>
                        </m:sSupPr>
                        <m:e>
                          <m:r>
                            <a:rPr lang="en-US" sz="1200" b="0" i="1" smtClean="0">
                              <a:latin typeface="Cambria Math" panose="02040503050406030204" pitchFamily="18" charset="0"/>
                            </a:rPr>
                            <m:t>64</m:t>
                          </m:r>
                        </m:e>
                        <m:sup>
                          <m:r>
                            <a:rPr lang="en-US" sz="1200" b="0" i="1" smtClean="0">
                              <a:latin typeface="Cambria Math" panose="02040503050406030204" pitchFamily="18" charset="0"/>
                            </a:rPr>
                            <m:t>8</m:t>
                          </m:r>
                        </m:sup>
                      </m:sSup>
                      <m:r>
                        <a:rPr lang="en-US" sz="1200" b="0" i="1" smtClean="0">
                          <a:latin typeface="Cambria Math" panose="02040503050406030204" pitchFamily="18" charset="0"/>
                        </a:rPr>
                        <m:t>≈2.9×</m:t>
                      </m:r>
                      <m:sSup>
                        <m:sSupPr>
                          <m:ctrlPr>
                            <a:rPr lang="en-US" sz="1200" b="0" i="1" smtClean="0">
                              <a:latin typeface="Cambria Math" panose="02040503050406030204" pitchFamily="18" charset="0"/>
                            </a:rPr>
                          </m:ctrlPr>
                        </m:sSupPr>
                        <m:e>
                          <m:r>
                            <a:rPr lang="en-US" sz="1200" b="0" i="1" smtClean="0">
                              <a:latin typeface="Cambria Math" panose="02040503050406030204" pitchFamily="18" charset="0"/>
                            </a:rPr>
                            <m:t>10</m:t>
                          </m:r>
                        </m:e>
                        <m:sup>
                          <m:r>
                            <a:rPr lang="en-US" sz="1200" b="0" i="1" smtClean="0">
                              <a:latin typeface="Cambria Math" panose="02040503050406030204" pitchFamily="18" charset="0"/>
                            </a:rPr>
                            <m:t>14</m:t>
                          </m:r>
                        </m:sup>
                      </m:sSup>
                    </m:oMath>
                  </m:oMathPara>
                </a14:m>
                <a:endParaRPr lang="en-US" sz="1200" b="0" dirty="0"/>
              </a:p>
              <a:p>
                <a:r>
                  <a:rPr lang="en-US" sz="1200" dirty="0"/>
                  <a:t>Choose 8 squares</a:t>
                </a:r>
                <a:r>
                  <a:rPr lang="en-US" sz="1200" b="0" dirty="0"/>
                  <a:t>:</a:t>
                </a:r>
                <a:endParaRPr lang="en-US" sz="1200" dirty="0"/>
              </a:p>
              <a:p>
                <a:pPr algn="ctr"/>
                <a14:m>
                  <m:oMath xmlns:m="http://schemas.openxmlformats.org/officeDocument/2006/math">
                    <m:r>
                      <a:rPr lang="en-US" sz="1200" b="0" i="1" smtClean="0">
                        <a:latin typeface="Cambria Math" panose="02040503050406030204" pitchFamily="18" charset="0"/>
                      </a:rPr>
                      <m:t>𝑛</m:t>
                    </m:r>
                    <m:r>
                      <a:rPr lang="en-US" sz="1200" b="0" i="1" smtClean="0">
                        <a:latin typeface="Cambria Math" panose="02040503050406030204" pitchFamily="18" charset="0"/>
                      </a:rPr>
                      <m:t>= </m:t>
                    </m:r>
                    <m:d>
                      <m:dPr>
                        <m:ctrlPr>
                          <a:rPr lang="en-US" sz="1200" b="0" i="1" smtClean="0">
                            <a:latin typeface="Cambria Math" panose="02040503050406030204" pitchFamily="18" charset="0"/>
                          </a:rPr>
                        </m:ctrlPr>
                      </m:dPr>
                      <m:e>
                        <m:f>
                          <m:fPr>
                            <m:type m:val="noBar"/>
                            <m:ctrlPr>
                              <a:rPr lang="en-US" sz="1200" b="0" i="1" smtClean="0">
                                <a:latin typeface="Cambria Math" panose="02040503050406030204" pitchFamily="18" charset="0"/>
                              </a:rPr>
                            </m:ctrlPr>
                          </m:fPr>
                          <m:num>
                            <m:r>
                              <a:rPr lang="en-US" sz="1200" b="0" i="1" smtClean="0">
                                <a:latin typeface="Cambria Math" panose="02040503050406030204" pitchFamily="18" charset="0"/>
                              </a:rPr>
                              <m:t>64</m:t>
                            </m:r>
                          </m:num>
                          <m:den>
                            <m:r>
                              <a:rPr lang="en-US" sz="1200" b="0" i="1" smtClean="0">
                                <a:latin typeface="Cambria Math" panose="02040503050406030204" pitchFamily="18" charset="0"/>
                              </a:rPr>
                              <m:t>8</m:t>
                            </m:r>
                          </m:den>
                        </m:f>
                      </m:e>
                    </m:d>
                    <m:r>
                      <a:rPr lang="en-US" sz="1200" b="0" i="1" smtClean="0">
                        <a:latin typeface="Cambria Math" panose="02040503050406030204" pitchFamily="18" charset="0"/>
                      </a:rPr>
                      <m:t>≈4.4×</m:t>
                    </m:r>
                    <m:sSup>
                      <m:sSupPr>
                        <m:ctrlPr>
                          <a:rPr lang="en-US" sz="1200" b="0" i="1" smtClean="0">
                            <a:latin typeface="Cambria Math" panose="02040503050406030204" pitchFamily="18" charset="0"/>
                          </a:rPr>
                        </m:ctrlPr>
                      </m:sSupPr>
                      <m:e>
                        <m:r>
                          <a:rPr lang="en-US" sz="1200" b="0" i="1" smtClean="0">
                            <a:latin typeface="Cambria Math" panose="02040503050406030204" pitchFamily="18" charset="0"/>
                          </a:rPr>
                          <m:t>10</m:t>
                        </m:r>
                      </m:e>
                      <m:sup>
                        <m:r>
                          <a:rPr lang="en-US" sz="1200" b="0" i="1" smtClean="0">
                            <a:latin typeface="Cambria Math" panose="02040503050406030204" pitchFamily="18" charset="0"/>
                          </a:rPr>
                          <m:t>9</m:t>
                        </m:r>
                      </m:sup>
                    </m:sSup>
                  </m:oMath>
                </a14:m>
                <a:r>
                  <a:rPr lang="en-US" sz="1200" dirty="0"/>
                  <a:t> </a:t>
                </a:r>
              </a:p>
            </p:txBody>
          </p:sp>
        </mc:Choice>
        <mc:Fallback xmlns="">
          <p:sp>
            <p:nvSpPr>
              <p:cNvPr id="9" name="TextBox 8">
                <a:extLst>
                  <a:ext uri="{FF2B5EF4-FFF2-40B4-BE49-F238E27FC236}">
                    <a16:creationId xmlns:a16="http://schemas.microsoft.com/office/drawing/2014/main" id="{E2A165D8-8BE5-9430-2C62-8F2EC4CF31CA}"/>
                  </a:ext>
                </a:extLst>
              </p:cNvPr>
              <p:cNvSpPr txBox="1">
                <a:spLocks noRot="1" noChangeAspect="1" noMove="1" noResize="1" noEditPoints="1" noAdjustHandles="1" noChangeArrowheads="1" noChangeShapeType="1" noTextEdit="1"/>
              </p:cNvSpPr>
              <p:nvPr/>
            </p:nvSpPr>
            <p:spPr>
              <a:xfrm>
                <a:off x="2693194" y="4343400"/>
                <a:ext cx="1860945" cy="2347053"/>
              </a:xfrm>
              <a:prstGeom prst="rect">
                <a:avLst/>
              </a:prstGeom>
              <a:blipFill>
                <a:blip r:embed="rId8"/>
                <a:stretch>
                  <a:fillRect l="-328" t="-26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0" name="TextBox 9">
                <a:extLst>
                  <a:ext uri="{FF2B5EF4-FFF2-40B4-BE49-F238E27FC236}">
                    <a16:creationId xmlns:a16="http://schemas.microsoft.com/office/drawing/2014/main" id="{80027BE1-A7EB-7C07-29B2-A714C3981D16}"/>
                  </a:ext>
                </a:extLst>
              </p:cNvPr>
              <p:cNvSpPr txBox="1"/>
              <p:nvPr/>
            </p:nvSpPr>
            <p:spPr>
              <a:xfrm>
                <a:off x="4720830" y="4343400"/>
                <a:ext cx="1600200" cy="2099998"/>
              </a:xfrm>
              <a:prstGeom prst="rect">
                <a:avLst/>
              </a:prstGeom>
              <a:noFill/>
            </p:spPr>
            <p:txBody>
              <a:bodyPr wrap="square" rtlCol="0">
                <a:spAutoFit/>
              </a:bodyPr>
              <a:lstStyle/>
              <a:p>
                <a:r>
                  <a:rPr lang="en-US" sz="1200" dirty="0"/>
                  <a:t>State: Tile arrangement</a:t>
                </a:r>
              </a:p>
              <a:p>
                <a:endParaRPr lang="en-US" sz="1200" dirty="0"/>
              </a:p>
              <a:p>
                <a:r>
                  <a:rPr lang="en-US" sz="1200" dirty="0"/>
                  <a:t>All arrangements of 9 elements.</a:t>
                </a:r>
              </a:p>
              <a:p>
                <a:endParaRPr lang="en-US" sz="1200" dirty="0"/>
              </a:p>
              <a:p>
                <a:pPr/>
                <a14:m>
                  <m:oMathPara xmlns:m="http://schemas.openxmlformats.org/officeDocument/2006/math">
                    <m:oMathParaPr>
                      <m:jc m:val="centerGroup"/>
                    </m:oMathParaPr>
                    <m:oMath xmlns:m="http://schemas.openxmlformats.org/officeDocument/2006/math">
                      <m:r>
                        <a:rPr lang="en-US" sz="1200" i="1" dirty="0" smtClean="0">
                          <a:latin typeface="Cambria Math" panose="02040503050406030204" pitchFamily="18" charset="0"/>
                        </a:rPr>
                        <m:t>𝑛</m:t>
                      </m:r>
                      <m:r>
                        <a:rPr lang="en-US" sz="1200" b="0" i="1" dirty="0" smtClean="0">
                          <a:latin typeface="Cambria Math" panose="02040503050406030204" pitchFamily="18" charset="0"/>
                        </a:rPr>
                        <m:t>≤9!</m:t>
                      </m:r>
                    </m:oMath>
                  </m:oMathPara>
                </a14:m>
                <a:endParaRPr lang="en-US" sz="1200" b="0" dirty="0"/>
              </a:p>
              <a:p>
                <a:pPr/>
                <a:br>
                  <a:rPr lang="en-US" sz="1200" b="0" dirty="0"/>
                </a:br>
                <a:r>
                  <a:rPr lang="en-US" sz="1200" b="0" dirty="0"/>
                  <a:t>Half is unreachable:</a:t>
                </a:r>
                <a:br>
                  <a:rPr lang="en-US" sz="1200" b="0" dirty="0"/>
                </a:br>
                <a14:m>
                  <m:oMathPara xmlns:m="http://schemas.openxmlformats.org/officeDocument/2006/math">
                    <m:oMathParaPr>
                      <m:jc m:val="centerGroup"/>
                    </m:oMathParaPr>
                    <m:oMath xmlns:m="http://schemas.openxmlformats.org/officeDocument/2006/math">
                      <m:r>
                        <a:rPr lang="en-US" sz="1200" b="0" i="1" smtClean="0">
                          <a:latin typeface="Cambria Math" panose="02040503050406030204" pitchFamily="18" charset="0"/>
                        </a:rPr>
                        <m:t>𝑛</m:t>
                      </m:r>
                      <m:r>
                        <a:rPr lang="en-US" sz="1200" b="0" i="1" smtClean="0">
                          <a:latin typeface="Cambria Math" panose="02040503050406030204" pitchFamily="18" charset="0"/>
                        </a:rPr>
                        <m:t>=</m:t>
                      </m:r>
                      <m:f>
                        <m:fPr>
                          <m:ctrlPr>
                            <a:rPr lang="en-US" sz="1200" b="0" i="1" smtClean="0">
                              <a:latin typeface="Cambria Math" panose="02040503050406030204" pitchFamily="18" charset="0"/>
                            </a:rPr>
                          </m:ctrlPr>
                        </m:fPr>
                        <m:num>
                          <m:r>
                            <a:rPr lang="en-US" sz="1200" b="0" i="1" smtClean="0">
                              <a:latin typeface="Cambria Math" panose="02040503050406030204" pitchFamily="18" charset="0"/>
                            </a:rPr>
                            <m:t>9!</m:t>
                          </m:r>
                        </m:num>
                        <m:den>
                          <m:r>
                            <a:rPr lang="en-US" sz="1200" b="0" i="1" smtClean="0">
                              <a:latin typeface="Cambria Math" panose="02040503050406030204" pitchFamily="18" charset="0"/>
                            </a:rPr>
                            <m:t>2</m:t>
                          </m:r>
                        </m:den>
                      </m:f>
                      <m:r>
                        <a:rPr lang="en-US" sz="1200" b="0" i="1" smtClean="0">
                          <a:latin typeface="Cambria Math" panose="02040503050406030204" pitchFamily="18" charset="0"/>
                        </a:rPr>
                        <m:t>=</m:t>
                      </m:r>
                      <m:r>
                        <a:rPr lang="en-US" sz="1200" i="1" dirty="0">
                          <a:latin typeface="Cambria Math" panose="02040503050406030204" pitchFamily="18" charset="0"/>
                        </a:rPr>
                        <m:t>181,440</m:t>
                      </m:r>
                    </m:oMath>
                  </m:oMathPara>
                </a14:m>
                <a:endParaRPr lang="en-US" sz="1200" dirty="0"/>
              </a:p>
            </p:txBody>
          </p:sp>
        </mc:Choice>
        <mc:Fallback xmlns="">
          <p:sp>
            <p:nvSpPr>
              <p:cNvPr id="10" name="TextBox 9">
                <a:extLst>
                  <a:ext uri="{FF2B5EF4-FFF2-40B4-BE49-F238E27FC236}">
                    <a16:creationId xmlns:a16="http://schemas.microsoft.com/office/drawing/2014/main" id="{80027BE1-A7EB-7C07-29B2-A714C3981D16}"/>
                  </a:ext>
                </a:extLst>
              </p:cNvPr>
              <p:cNvSpPr txBox="1">
                <a:spLocks noRot="1" noChangeAspect="1" noMove="1" noResize="1" noEditPoints="1" noAdjustHandles="1" noChangeArrowheads="1" noChangeShapeType="1" noTextEdit="1"/>
              </p:cNvSpPr>
              <p:nvPr/>
            </p:nvSpPr>
            <p:spPr>
              <a:xfrm>
                <a:off x="4720830" y="4343400"/>
                <a:ext cx="1600200" cy="2099998"/>
              </a:xfrm>
              <a:prstGeom prst="rect">
                <a:avLst/>
              </a:prstGeom>
              <a:blipFill>
                <a:blip r:embed="rId9"/>
                <a:stretch>
                  <a:fillRect t="-291"/>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1" name="TextBox 10">
                <a:extLst>
                  <a:ext uri="{FF2B5EF4-FFF2-40B4-BE49-F238E27FC236}">
                    <a16:creationId xmlns:a16="http://schemas.microsoft.com/office/drawing/2014/main" id="{27531B30-85E0-5207-115C-CF4ED7E58208}"/>
                  </a:ext>
                </a:extLst>
              </p:cNvPr>
              <p:cNvSpPr txBox="1"/>
              <p:nvPr/>
            </p:nvSpPr>
            <p:spPr>
              <a:xfrm>
                <a:off x="6558096" y="4367293"/>
                <a:ext cx="1904865" cy="2123658"/>
              </a:xfrm>
              <a:prstGeom prst="rect">
                <a:avLst/>
              </a:prstGeom>
              <a:noFill/>
            </p:spPr>
            <p:txBody>
              <a:bodyPr wrap="square" rtlCol="0">
                <a:spAutoFit/>
              </a:bodyPr>
              <a:lstStyle/>
              <a:p>
                <a:r>
                  <a:rPr lang="en-US" sz="1200" dirty="0"/>
                  <a:t>State: Board</a:t>
                </a:r>
              </a:p>
              <a:p>
                <a:endParaRPr lang="en-US" sz="1200" b="0" dirty="0"/>
              </a:p>
              <a:p>
                <a:pPr/>
                <a:r>
                  <a:rPr lang="en-US" sz="1200" dirty="0"/>
                  <a:t>Each place can be ‘ ‘ , ‘x’, ‘o’</a:t>
                </a:r>
                <a:br>
                  <a:rPr lang="en-US" sz="1200" b="0" dirty="0"/>
                </a:br>
                <a14:m>
                  <m:oMathPara xmlns:m="http://schemas.openxmlformats.org/officeDocument/2006/math">
                    <m:oMathParaPr>
                      <m:jc m:val="centerGroup"/>
                    </m:oMathParaPr>
                    <m:oMath xmlns:m="http://schemas.openxmlformats.org/officeDocument/2006/math">
                      <m:r>
                        <a:rPr lang="en-US" sz="1200" b="0" i="1" smtClean="0">
                          <a:latin typeface="Cambria Math" panose="02040503050406030204" pitchFamily="18" charset="0"/>
                        </a:rPr>
                        <m:t>𝑛</m:t>
                      </m:r>
                      <m:r>
                        <a:rPr lang="en-US" sz="1200" b="0" i="1" smtClean="0">
                          <a:latin typeface="Cambria Math" panose="02040503050406030204" pitchFamily="18" charset="0"/>
                        </a:rPr>
                        <m:t>&lt;</m:t>
                      </m:r>
                      <m:sSup>
                        <m:sSupPr>
                          <m:ctrlPr>
                            <a:rPr lang="en-US" sz="1200" b="0" i="1" smtClean="0">
                              <a:latin typeface="Cambria Math" panose="02040503050406030204" pitchFamily="18" charset="0"/>
                            </a:rPr>
                          </m:ctrlPr>
                        </m:sSupPr>
                        <m:e>
                          <m:r>
                            <a:rPr lang="en-US" sz="1200" b="0" i="1" smtClean="0">
                              <a:latin typeface="Cambria Math" panose="02040503050406030204" pitchFamily="18" charset="0"/>
                            </a:rPr>
                            <m:t>3</m:t>
                          </m:r>
                        </m:e>
                        <m:sup>
                          <m:r>
                            <a:rPr lang="en-US" sz="1200" b="0" i="1" smtClean="0">
                              <a:latin typeface="Cambria Math" panose="02040503050406030204" pitchFamily="18" charset="0"/>
                            </a:rPr>
                            <m:t>9</m:t>
                          </m:r>
                        </m:sup>
                      </m:sSup>
                      <m:r>
                        <a:rPr lang="en-US" sz="1200" b="0" i="1" smtClean="0">
                          <a:latin typeface="Cambria Math" panose="02040503050406030204" pitchFamily="18" charset="0"/>
                        </a:rPr>
                        <m:t>=19,683</m:t>
                      </m:r>
                    </m:oMath>
                  </m:oMathPara>
                </a14:m>
                <a:endParaRPr lang="en-US" sz="1200" dirty="0"/>
              </a:p>
              <a:p>
                <a:endParaRPr lang="en-US" sz="1200" dirty="0"/>
              </a:p>
              <a:p>
                <a:r>
                  <a:rPr lang="en-US" sz="1200" dirty="0"/>
                  <a:t>Many boards are not legal (e.g., all x’s)</a:t>
                </a:r>
              </a:p>
              <a:p>
                <a:endParaRPr lang="en-US" sz="1200" dirty="0"/>
              </a:p>
              <a:p>
                <a:r>
                  <a:rPr lang="en-US" sz="1200" dirty="0"/>
                  <a:t>The actual number can be obtained by a depth-first traversal of the game tree.</a:t>
                </a:r>
              </a:p>
            </p:txBody>
          </p:sp>
        </mc:Choice>
        <mc:Fallback xmlns="">
          <p:sp>
            <p:nvSpPr>
              <p:cNvPr id="11" name="TextBox 10">
                <a:extLst>
                  <a:ext uri="{FF2B5EF4-FFF2-40B4-BE49-F238E27FC236}">
                    <a16:creationId xmlns:a16="http://schemas.microsoft.com/office/drawing/2014/main" id="{27531B30-85E0-5207-115C-CF4ED7E58208}"/>
                  </a:ext>
                </a:extLst>
              </p:cNvPr>
              <p:cNvSpPr txBox="1">
                <a:spLocks noRot="1" noChangeAspect="1" noMove="1" noResize="1" noEditPoints="1" noAdjustHandles="1" noChangeArrowheads="1" noChangeShapeType="1" noTextEdit="1"/>
              </p:cNvSpPr>
              <p:nvPr/>
            </p:nvSpPr>
            <p:spPr>
              <a:xfrm>
                <a:off x="6558096" y="4367293"/>
                <a:ext cx="1904865" cy="2123658"/>
              </a:xfrm>
              <a:prstGeom prst="rect">
                <a:avLst/>
              </a:prstGeom>
              <a:blipFill>
                <a:blip r:embed="rId10"/>
                <a:stretch>
                  <a:fillRect l="-321" b="-1146"/>
                </a:stretch>
              </a:blipFill>
            </p:spPr>
            <p:txBody>
              <a:bodyPr/>
              <a:lstStyle/>
              <a:p>
                <a:r>
                  <a:rPr lang="en-US">
                    <a:noFill/>
                  </a:rPr>
                  <a:t> </a:t>
                </a:r>
              </a:p>
            </p:txBody>
          </p:sp>
        </mc:Fallback>
      </mc:AlternateContent>
      <p:cxnSp>
        <p:nvCxnSpPr>
          <p:cNvPr id="15" name="Straight Connector 14">
            <a:extLst>
              <a:ext uri="{FF2B5EF4-FFF2-40B4-BE49-F238E27FC236}">
                <a16:creationId xmlns:a16="http://schemas.microsoft.com/office/drawing/2014/main" id="{3D01DA36-F4F3-A135-DF09-7FB207F88BFC}"/>
              </a:ext>
            </a:extLst>
          </p:cNvPr>
          <p:cNvCxnSpPr/>
          <p:nvPr/>
        </p:nvCxnSpPr>
        <p:spPr>
          <a:xfrm>
            <a:off x="2693194" y="4343400"/>
            <a:ext cx="0" cy="1981200"/>
          </a:xfrm>
          <a:prstGeom prst="line">
            <a:avLst/>
          </a:prstGeom>
          <a:ln w="12700" cap="flat" cmpd="sng" algn="ctr">
            <a:solidFill>
              <a:schemeClr val="accent3"/>
            </a:solidFill>
            <a:prstDash val="dash"/>
            <a:round/>
            <a:headEnd type="none" w="med" len="med"/>
            <a:tailEnd type="none" w="med" len="med"/>
          </a:ln>
        </p:spPr>
        <p:style>
          <a:lnRef idx="0">
            <a:scrgbClr r="0" g="0" b="0"/>
          </a:lnRef>
          <a:fillRef idx="0">
            <a:scrgbClr r="0" g="0" b="0"/>
          </a:fillRef>
          <a:effectRef idx="0">
            <a:scrgbClr r="0" g="0" b="0"/>
          </a:effectRef>
          <a:fontRef idx="minor">
            <a:schemeClr val="tx1"/>
          </a:fontRef>
        </p:style>
      </p:cxnSp>
      <p:cxnSp>
        <p:nvCxnSpPr>
          <p:cNvPr id="16" name="Straight Connector 15">
            <a:extLst>
              <a:ext uri="{FF2B5EF4-FFF2-40B4-BE49-F238E27FC236}">
                <a16:creationId xmlns:a16="http://schemas.microsoft.com/office/drawing/2014/main" id="{8CF66C1F-4B47-8B1B-8497-94886E691E2B}"/>
              </a:ext>
            </a:extLst>
          </p:cNvPr>
          <p:cNvCxnSpPr/>
          <p:nvPr/>
        </p:nvCxnSpPr>
        <p:spPr>
          <a:xfrm>
            <a:off x="4554139" y="4343400"/>
            <a:ext cx="0" cy="1981200"/>
          </a:xfrm>
          <a:prstGeom prst="line">
            <a:avLst/>
          </a:prstGeom>
          <a:ln w="12700" cap="flat" cmpd="sng" algn="ctr">
            <a:solidFill>
              <a:schemeClr val="accent3"/>
            </a:solidFill>
            <a:prstDash val="dash"/>
            <a:round/>
            <a:headEnd type="none" w="med" len="med"/>
            <a:tailEnd type="none" w="med" len="med"/>
          </a:ln>
        </p:spPr>
        <p:style>
          <a:lnRef idx="0">
            <a:scrgbClr r="0" g="0" b="0"/>
          </a:lnRef>
          <a:fillRef idx="0">
            <a:scrgbClr r="0" g="0" b="0"/>
          </a:fillRef>
          <a:effectRef idx="0">
            <a:scrgbClr r="0" g="0" b="0"/>
          </a:effectRef>
          <a:fontRef idx="minor">
            <a:schemeClr val="tx1"/>
          </a:fontRef>
        </p:style>
      </p:cxnSp>
      <p:cxnSp>
        <p:nvCxnSpPr>
          <p:cNvPr id="17" name="Straight Connector 16">
            <a:extLst>
              <a:ext uri="{FF2B5EF4-FFF2-40B4-BE49-F238E27FC236}">
                <a16:creationId xmlns:a16="http://schemas.microsoft.com/office/drawing/2014/main" id="{82AC0B37-DD12-F003-69A2-759148500B35}"/>
              </a:ext>
            </a:extLst>
          </p:cNvPr>
          <p:cNvCxnSpPr/>
          <p:nvPr/>
        </p:nvCxnSpPr>
        <p:spPr>
          <a:xfrm>
            <a:off x="6479381" y="4343400"/>
            <a:ext cx="0" cy="1981200"/>
          </a:xfrm>
          <a:prstGeom prst="line">
            <a:avLst/>
          </a:prstGeom>
          <a:ln w="12700" cap="flat" cmpd="sng" algn="ctr">
            <a:solidFill>
              <a:schemeClr val="accent3"/>
            </a:solidFill>
            <a:prstDash val="dash"/>
            <a:round/>
            <a:headEnd type="none" w="med" len="med"/>
            <a:tailEnd type="none" w="med" len="med"/>
          </a:ln>
        </p:spPr>
        <p:style>
          <a:lnRef idx="0">
            <a:scrgbClr r="0" g="0" b="0"/>
          </a:lnRef>
          <a:fillRef idx="0">
            <a:scrgbClr r="0" g="0" b="0"/>
          </a:fillRef>
          <a:effectRef idx="0">
            <a:scrgbClr r="0" g="0" b="0"/>
          </a:effectRef>
          <a:fontRef idx="minor">
            <a:schemeClr val="tx1"/>
          </a:fontRef>
        </p:style>
      </p:cxnSp>
    </p:spTree>
    <p:extLst>
      <p:ext uri="{BB962C8B-B14F-4D97-AF65-F5344CB8AC3E}">
        <p14:creationId xmlns:p14="http://schemas.microsoft.com/office/powerpoint/2010/main" val="328427413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9"/>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0"/>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p:bldP spid="9" grpId="0"/>
      <p:bldP spid="10" grpId="0"/>
      <p:bldP spid="11" grpId="0"/>
    </p:bldLst>
  </p:timing>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itle 5">
            <a:extLst>
              <a:ext uri="{FF2B5EF4-FFF2-40B4-BE49-F238E27FC236}">
                <a16:creationId xmlns:a16="http://schemas.microsoft.com/office/drawing/2014/main" id="{15AFC9AD-CD1A-A9E8-A614-1242CA046DE6}"/>
              </a:ext>
            </a:extLst>
          </p:cNvPr>
          <p:cNvSpPr>
            <a:spLocks noGrp="1"/>
          </p:cNvSpPr>
          <p:nvPr>
            <p:ph type="title"/>
          </p:nvPr>
        </p:nvSpPr>
        <p:spPr/>
        <p:txBody>
          <a:bodyPr/>
          <a:lstStyle/>
          <a:p>
            <a:r>
              <a:rPr lang="en-US" dirty="0"/>
              <a:t>Estimating the Search Tree Size</a:t>
            </a:r>
          </a:p>
        </p:txBody>
      </p:sp>
      <mc:AlternateContent xmlns:mc="http://schemas.openxmlformats.org/markup-compatibility/2006" xmlns:a14="http://schemas.microsoft.com/office/drawing/2010/main">
        <mc:Choice Requires="a14">
          <p:sp>
            <p:nvSpPr>
              <p:cNvPr id="7" name="Content Placeholder 6">
                <a:extLst>
                  <a:ext uri="{FF2B5EF4-FFF2-40B4-BE49-F238E27FC236}">
                    <a16:creationId xmlns:a16="http://schemas.microsoft.com/office/drawing/2014/main" id="{71402481-FEF9-22CD-A0A0-E3E8C6E42D48}"/>
                  </a:ext>
                </a:extLst>
              </p:cNvPr>
              <p:cNvSpPr>
                <a:spLocks noGrp="1"/>
              </p:cNvSpPr>
              <p:nvPr>
                <p:ph idx="1"/>
              </p:nvPr>
            </p:nvSpPr>
            <p:spPr>
              <a:xfrm>
                <a:off x="628650" y="1825625"/>
                <a:ext cx="7886700" cy="4041775"/>
              </a:xfrm>
            </p:spPr>
            <p:txBody>
              <a:bodyPr>
                <a:normAutofit fontScale="62500" lnSpcReduction="20000"/>
              </a:bodyPr>
              <a:lstStyle/>
              <a:p>
                <a:pPr>
                  <a:lnSpc>
                    <a:spcPct val="90000"/>
                  </a:lnSpc>
                </a:pPr>
                <a:r>
                  <a:rPr lang="en-US" sz="2400" dirty="0"/>
                  <a:t>Instead of estimating the state space size, it is often more useful to estimate the number of searched nodes in the search tree. </a:t>
                </a:r>
              </a:p>
              <a:p>
                <a:pPr>
                  <a:lnSpc>
                    <a:spcPct val="90000"/>
                  </a:lnSpc>
                </a:pPr>
                <a:r>
                  <a:rPr lang="en-US" sz="2400" dirty="0"/>
                  <a:t>This is especially important when </a:t>
                </a:r>
                <a:r>
                  <a:rPr lang="en-US" sz="2400" b="1" dirty="0"/>
                  <a:t>redundant paths are not eliminated, </a:t>
                </a:r>
                <a:r>
                  <a:rPr lang="en-US" sz="2400" dirty="0"/>
                  <a:t>where one state can be represented by multiple nodes.</a:t>
                </a:r>
              </a:p>
              <a:p>
                <a:pPr>
                  <a:lnSpc>
                    <a:spcPct val="90000"/>
                  </a:lnSpc>
                </a:pPr>
                <a:endParaRPr lang="en-US" sz="2400" dirty="0"/>
              </a:p>
              <a:p>
                <a:pPr>
                  <a:lnSpc>
                    <a:spcPct val="90000"/>
                  </a:lnSpc>
                </a:pPr>
                <a:r>
                  <a:rPr lang="en-US" sz="2400" dirty="0"/>
                  <a:t>We can base the estimation on the search problem description: </a:t>
                </a:r>
              </a:p>
              <a:p>
                <a:pPr lvl="1"/>
                <a:r>
                  <a:rPr lang="en-US" sz="2100" dirty="0"/>
                  <a:t>initial state</a:t>
                </a:r>
              </a:p>
              <a:p>
                <a:pPr lvl="1"/>
                <a:r>
                  <a:rPr lang="en-US" sz="2100" dirty="0"/>
                  <a:t>Actions</a:t>
                </a:r>
              </a:p>
              <a:p>
                <a:pPr lvl="1"/>
                <a:r>
                  <a:rPr lang="en-US" sz="2100" dirty="0"/>
                  <a:t>transition function.</a:t>
                </a:r>
              </a:p>
              <a:p>
                <a:pPr>
                  <a:lnSpc>
                    <a:spcPct val="90000"/>
                  </a:lnSpc>
                </a:pPr>
                <a:endParaRPr lang="en-US" sz="2400" dirty="0"/>
              </a:p>
              <a:p>
                <a:pPr>
                  <a:lnSpc>
                    <a:spcPct val="90000"/>
                  </a:lnSpc>
                </a:pPr>
                <a:r>
                  <a:rPr lang="en-US" sz="2400" dirty="0"/>
                  <a:t>Used metrics are:</a:t>
                </a:r>
              </a:p>
              <a:p>
                <a:pPr lvl="1"/>
                <a14:m>
                  <m:oMath xmlns:m="http://schemas.openxmlformats.org/officeDocument/2006/math">
                    <m:r>
                      <a:rPr lang="en-US" sz="2000" i="1" dirty="0" smtClean="0">
                        <a:latin typeface="Cambria Math" panose="02040503050406030204" pitchFamily="18" charset="0"/>
                      </a:rPr>
                      <m:t>𝑏</m:t>
                    </m:r>
                  </m:oMath>
                </a14:m>
                <a:r>
                  <a:rPr lang="en-US" sz="2000" i="1" dirty="0"/>
                  <a:t>:</a:t>
                </a:r>
                <a:r>
                  <a:rPr lang="en-US" sz="2000" dirty="0"/>
                  <a:t> maximum branching factor of the search tree</a:t>
                </a:r>
                <a:br>
                  <a:rPr lang="en-US" sz="2000" dirty="0"/>
                </a:br>
                <a:r>
                  <a:rPr lang="en-US" sz="2000" dirty="0"/>
                  <a:t>    max. number of available actions.</a:t>
                </a:r>
                <a:endParaRPr lang="en-US" sz="2000" b="1" i="1" dirty="0"/>
              </a:p>
              <a:p>
                <a:pPr lvl="1"/>
                <a14:m>
                  <m:oMath xmlns:m="http://schemas.openxmlformats.org/officeDocument/2006/math">
                    <m:r>
                      <a:rPr lang="en-US" sz="2000" i="1" dirty="0">
                        <a:latin typeface="Cambria Math" panose="02040503050406030204" pitchFamily="18" charset="0"/>
                      </a:rPr>
                      <m:t>𝑚</m:t>
                    </m:r>
                  </m:oMath>
                </a14:m>
                <a:r>
                  <a:rPr lang="en-US" sz="2000" i="1" dirty="0"/>
                  <a:t>: </a:t>
                </a:r>
                <a:r>
                  <a:rPr lang="en-US" sz="2000" dirty="0"/>
                  <a:t>maximal tree depth</a:t>
                </a:r>
                <a:br>
                  <a:rPr lang="en-US" sz="2000" dirty="0"/>
                </a:br>
                <a:r>
                  <a:rPr lang="en-US" sz="2000" dirty="0"/>
                  <a:t>      length of the longest path with loops removed.</a:t>
                </a:r>
                <a:endParaRPr lang="en-US" sz="2000" i="1" dirty="0">
                  <a:latin typeface="Cambria Math" panose="02040503050406030204" pitchFamily="18" charset="0"/>
                </a:endParaRPr>
              </a:p>
              <a:p>
                <a:pPr lvl="1">
                  <a:lnSpc>
                    <a:spcPct val="90000"/>
                  </a:lnSpc>
                </a:pPr>
                <a14:m>
                  <m:oMath xmlns:m="http://schemas.openxmlformats.org/officeDocument/2006/math">
                    <m:r>
                      <a:rPr lang="en-US" sz="2000" i="1" dirty="0" smtClean="0">
                        <a:latin typeface="Cambria Math" panose="02040503050406030204" pitchFamily="18" charset="0"/>
                      </a:rPr>
                      <m:t>𝑑</m:t>
                    </m:r>
                  </m:oMath>
                </a14:m>
                <a:r>
                  <a:rPr lang="en-US" sz="2000" i="1" dirty="0"/>
                  <a:t>: </a:t>
                </a:r>
                <a:r>
                  <a:rPr lang="en-US" sz="2000" dirty="0"/>
                  <a:t>depth of the optimal solution </a:t>
                </a:r>
                <a:br>
                  <a:rPr lang="en-US" sz="2000" dirty="0"/>
                </a:br>
                <a:r>
                  <a:rPr lang="en-US" sz="2000" dirty="0"/>
                  <a:t>     min. length of the path from the initial state to a solution state.</a:t>
                </a:r>
              </a:p>
              <a:p>
                <a:pPr lvl="1">
                  <a:lnSpc>
                    <a:spcPct val="90000"/>
                  </a:lnSpc>
                </a:pPr>
                <a:endParaRPr lang="en-US" sz="2500" dirty="0"/>
              </a:p>
              <a:p>
                <a:r>
                  <a:rPr lang="en-US" sz="2500" dirty="0"/>
                  <a:t>The number of searched nodes is then a function of </a:t>
                </a:r>
                <a14:m>
                  <m:oMath xmlns:m="http://schemas.openxmlformats.org/officeDocument/2006/math">
                    <m:r>
                      <a:rPr lang="en-US" sz="2500" i="1" dirty="0" smtClean="0">
                        <a:latin typeface="Cambria Math" panose="02040503050406030204" pitchFamily="18" charset="0"/>
                      </a:rPr>
                      <m:t>𝑏</m:t>
                    </m:r>
                    <m:r>
                      <a:rPr lang="en-US" sz="2500" i="1" dirty="0" smtClean="0">
                        <a:latin typeface="Cambria Math" panose="02040503050406030204" pitchFamily="18" charset="0"/>
                      </a:rPr>
                      <m:t>, </m:t>
                    </m:r>
                    <m:r>
                      <a:rPr lang="en-US" sz="2500" i="1" dirty="0" smtClean="0">
                        <a:latin typeface="Cambria Math" panose="02040503050406030204" pitchFamily="18" charset="0"/>
                      </a:rPr>
                      <m:t>𝑚</m:t>
                    </m:r>
                    <m:r>
                      <a:rPr lang="en-US" sz="2500" i="1" dirty="0" smtClean="0">
                        <a:latin typeface="Cambria Math" panose="02040503050406030204" pitchFamily="18" charset="0"/>
                      </a:rPr>
                      <m:t> </m:t>
                    </m:r>
                  </m:oMath>
                </a14:m>
                <a:r>
                  <a:rPr lang="en-US" sz="2500" dirty="0"/>
                  <a:t>and </a:t>
                </a:r>
                <a14:m>
                  <m:oMath xmlns:m="http://schemas.openxmlformats.org/officeDocument/2006/math">
                    <m:r>
                      <a:rPr lang="en-US" sz="2500" i="1" dirty="0" smtClean="0">
                        <a:latin typeface="Cambria Math" panose="02040503050406030204" pitchFamily="18" charset="0"/>
                      </a:rPr>
                      <m:t>𝑑</m:t>
                    </m:r>
                  </m:oMath>
                </a14:m>
                <a:r>
                  <a:rPr lang="en-US" sz="2500" dirty="0"/>
                  <a:t>.</a:t>
                </a:r>
                <a:endParaRPr lang="en-US" sz="2000" dirty="0"/>
              </a:p>
              <a:p>
                <a:pPr marL="0" indent="0">
                  <a:buNone/>
                </a:pPr>
                <a:endParaRPr lang="en-US" dirty="0"/>
              </a:p>
            </p:txBody>
          </p:sp>
        </mc:Choice>
        <mc:Fallback xmlns="">
          <p:sp>
            <p:nvSpPr>
              <p:cNvPr id="7" name="Content Placeholder 6">
                <a:extLst>
                  <a:ext uri="{FF2B5EF4-FFF2-40B4-BE49-F238E27FC236}">
                    <a16:creationId xmlns:a16="http://schemas.microsoft.com/office/drawing/2014/main" id="{71402481-FEF9-22CD-A0A0-E3E8C6E42D48}"/>
                  </a:ext>
                </a:extLst>
              </p:cNvPr>
              <p:cNvSpPr>
                <a:spLocks noGrp="1" noRot="1" noChangeAspect="1" noMove="1" noResize="1" noEditPoints="1" noAdjustHandles="1" noChangeArrowheads="1" noChangeShapeType="1" noTextEdit="1"/>
              </p:cNvSpPr>
              <p:nvPr>
                <p:ph idx="1"/>
              </p:nvPr>
            </p:nvSpPr>
            <p:spPr>
              <a:xfrm>
                <a:off x="628650" y="1825625"/>
                <a:ext cx="7886700" cy="4041775"/>
              </a:xfrm>
              <a:blipFill>
                <a:blip r:embed="rId2"/>
                <a:stretch>
                  <a:fillRect l="-309" t="-165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 name="TextBox 2">
                <a:extLst>
                  <a:ext uri="{FF2B5EF4-FFF2-40B4-BE49-F238E27FC236}">
                    <a16:creationId xmlns:a16="http://schemas.microsoft.com/office/drawing/2014/main" id="{544D236A-7F33-1A94-FD33-747BCD1DF5F0}"/>
                  </a:ext>
                </a:extLst>
              </p:cNvPr>
              <p:cNvSpPr txBox="1"/>
              <p:nvPr/>
            </p:nvSpPr>
            <p:spPr>
              <a:xfrm>
                <a:off x="2703583" y="5968454"/>
                <a:ext cx="3962400" cy="400110"/>
              </a:xfrm>
              <a:prstGeom prst="rect">
                <a:avLst/>
              </a:prstGeom>
            </p:spPr>
            <p:style>
              <a:lnRef idx="2">
                <a:schemeClr val="accent2"/>
              </a:lnRef>
              <a:fillRef idx="1">
                <a:schemeClr val="lt1"/>
              </a:fillRef>
              <a:effectRef idx="0">
                <a:schemeClr val="accent2"/>
              </a:effectRef>
              <a:fontRef idx="minor">
                <a:schemeClr val="dk1"/>
              </a:fontRef>
            </p:style>
            <p:txBody>
              <a:bodyPr wrap="square">
                <a:spAutoFit/>
              </a:bodyPr>
              <a:lstStyle/>
              <a:p>
                <a:pPr/>
                <a14:m>
                  <m:oMathPara xmlns:m="http://schemas.openxmlformats.org/officeDocument/2006/math">
                    <m:oMathParaPr>
                      <m:jc m:val="centerGroup"/>
                    </m:oMathParaPr>
                    <m:oMath xmlns:m="http://schemas.openxmlformats.org/officeDocument/2006/math">
                      <m:r>
                        <a:rPr lang="en-US" sz="2000" b="0" i="1" smtClean="0">
                          <a:latin typeface="Cambria Math" panose="02040503050406030204" pitchFamily="18" charset="0"/>
                        </a:rPr>
                        <m:t>𝑛</m:t>
                      </m:r>
                      <m:r>
                        <a:rPr lang="en-US" sz="2000" b="0" i="1" smtClean="0">
                          <a:latin typeface="Cambria Math" panose="02040503050406030204" pitchFamily="18" charset="0"/>
                        </a:rPr>
                        <m:t>=</m:t>
                      </m:r>
                      <m:r>
                        <a:rPr lang="en-US" sz="2000" b="0" i="1" smtClean="0">
                          <a:latin typeface="Cambria Math" panose="02040503050406030204" pitchFamily="18" charset="0"/>
                        </a:rPr>
                        <m:t>𝑓</m:t>
                      </m:r>
                      <m:d>
                        <m:dPr>
                          <m:ctrlPr>
                            <a:rPr lang="en-US" sz="2000" b="0" i="1" smtClean="0">
                              <a:latin typeface="Cambria Math" panose="02040503050406030204" pitchFamily="18" charset="0"/>
                            </a:rPr>
                          </m:ctrlPr>
                        </m:dPr>
                        <m:e>
                          <m:r>
                            <a:rPr lang="en-US" sz="2000" b="0" i="1" smtClean="0">
                              <a:latin typeface="Cambria Math" panose="02040503050406030204" pitchFamily="18" charset="0"/>
                            </a:rPr>
                            <m:t>𝑏</m:t>
                          </m:r>
                          <m:r>
                            <a:rPr lang="en-US" sz="2000" b="0" i="1" smtClean="0">
                              <a:latin typeface="Cambria Math" panose="02040503050406030204" pitchFamily="18" charset="0"/>
                            </a:rPr>
                            <m:t>,</m:t>
                          </m:r>
                          <m:r>
                            <a:rPr lang="en-US" sz="2000" b="0" i="1" smtClean="0">
                              <a:latin typeface="Cambria Math" panose="02040503050406030204" pitchFamily="18" charset="0"/>
                            </a:rPr>
                            <m:t>𝑚</m:t>
                          </m:r>
                          <m:r>
                            <a:rPr lang="en-US" sz="2000" b="0" i="1" smtClean="0">
                              <a:latin typeface="Cambria Math" panose="02040503050406030204" pitchFamily="18" charset="0"/>
                            </a:rPr>
                            <m:t>,</m:t>
                          </m:r>
                          <m:r>
                            <a:rPr lang="en-US" sz="2000" b="0" i="1" smtClean="0">
                              <a:latin typeface="Cambria Math" panose="02040503050406030204" pitchFamily="18" charset="0"/>
                            </a:rPr>
                            <m:t>𝑑</m:t>
                          </m:r>
                        </m:e>
                      </m:d>
                      <m:r>
                        <a:rPr lang="en-US" sz="2000" b="0" i="1" smtClean="0">
                          <a:latin typeface="Cambria Math" panose="02040503050406030204" pitchFamily="18" charset="0"/>
                        </a:rPr>
                        <m:t>⇒</m:t>
                      </m:r>
                      <m:r>
                        <a:rPr lang="en-US" sz="2000" b="0" i="1" smtClean="0">
                          <a:latin typeface="Cambria Math" panose="02040503050406030204" pitchFamily="18" charset="0"/>
                        </a:rPr>
                        <m:t>𝑂</m:t>
                      </m:r>
                      <m:r>
                        <a:rPr lang="en-US" sz="2000" b="0" i="1" smtClean="0">
                          <a:latin typeface="Cambria Math" panose="02040503050406030204" pitchFamily="18" charset="0"/>
                        </a:rPr>
                        <m:t>(</m:t>
                      </m:r>
                      <m:r>
                        <a:rPr lang="en-US" sz="2000" b="0" i="1" smtClean="0">
                          <a:latin typeface="Cambria Math" panose="02040503050406030204" pitchFamily="18" charset="0"/>
                        </a:rPr>
                        <m:t>𝑓</m:t>
                      </m:r>
                      <m:r>
                        <a:rPr lang="en-US" sz="2000" b="0" i="1" smtClean="0">
                          <a:latin typeface="Cambria Math" panose="02040503050406030204" pitchFamily="18" charset="0"/>
                        </a:rPr>
                        <m:t>(</m:t>
                      </m:r>
                      <m:r>
                        <a:rPr lang="en-US" sz="2000" b="0" i="1" smtClean="0">
                          <a:latin typeface="Cambria Math" panose="02040503050406030204" pitchFamily="18" charset="0"/>
                        </a:rPr>
                        <m:t>𝑏</m:t>
                      </m:r>
                      <m:r>
                        <a:rPr lang="en-US" sz="2000" b="0" i="1" smtClean="0">
                          <a:latin typeface="Cambria Math" panose="02040503050406030204" pitchFamily="18" charset="0"/>
                        </a:rPr>
                        <m:t>,</m:t>
                      </m:r>
                      <m:r>
                        <a:rPr lang="en-US" sz="2000" b="0" i="1" smtClean="0">
                          <a:latin typeface="Cambria Math" panose="02040503050406030204" pitchFamily="18" charset="0"/>
                        </a:rPr>
                        <m:t>𝑚</m:t>
                      </m:r>
                      <m:r>
                        <a:rPr lang="en-US" sz="2000" b="0" i="1" smtClean="0">
                          <a:latin typeface="Cambria Math" panose="02040503050406030204" pitchFamily="18" charset="0"/>
                        </a:rPr>
                        <m:t>,</m:t>
                      </m:r>
                      <m:r>
                        <a:rPr lang="en-US" sz="2000" b="0" i="1" smtClean="0">
                          <a:latin typeface="Cambria Math" panose="02040503050406030204" pitchFamily="18" charset="0"/>
                        </a:rPr>
                        <m:t>𝑑</m:t>
                      </m:r>
                      <m:r>
                        <a:rPr lang="en-US" sz="2000" b="0" i="1" smtClean="0">
                          <a:latin typeface="Cambria Math" panose="02040503050406030204" pitchFamily="18" charset="0"/>
                        </a:rPr>
                        <m:t>))</m:t>
                      </m:r>
                    </m:oMath>
                  </m:oMathPara>
                </a14:m>
                <a:endParaRPr lang="en-US" sz="2000" dirty="0"/>
              </a:p>
            </p:txBody>
          </p:sp>
        </mc:Choice>
        <mc:Fallback xmlns="">
          <p:sp>
            <p:nvSpPr>
              <p:cNvPr id="3" name="TextBox 2">
                <a:extLst>
                  <a:ext uri="{FF2B5EF4-FFF2-40B4-BE49-F238E27FC236}">
                    <a16:creationId xmlns:a16="http://schemas.microsoft.com/office/drawing/2014/main" id="{544D236A-7F33-1A94-FD33-747BCD1DF5F0}"/>
                  </a:ext>
                </a:extLst>
              </p:cNvPr>
              <p:cNvSpPr txBox="1">
                <a:spLocks noRot="1" noChangeAspect="1" noMove="1" noResize="1" noEditPoints="1" noAdjustHandles="1" noChangeArrowheads="1" noChangeShapeType="1" noTextEdit="1"/>
              </p:cNvSpPr>
              <p:nvPr/>
            </p:nvSpPr>
            <p:spPr>
              <a:xfrm>
                <a:off x="2703583" y="5968454"/>
                <a:ext cx="3962400" cy="400110"/>
              </a:xfrm>
              <a:prstGeom prst="rect">
                <a:avLst/>
              </a:prstGeom>
              <a:blipFill>
                <a:blip r:embed="rId3"/>
                <a:stretch>
                  <a:fillRect b="-13235"/>
                </a:stretch>
              </a:blipFill>
            </p:spPr>
            <p:txBody>
              <a:bodyPr/>
              <a:lstStyle/>
              <a:p>
                <a:r>
                  <a:rPr lang="en-US">
                    <a:noFill/>
                  </a:rPr>
                  <a:t> </a:t>
                </a:r>
              </a:p>
            </p:txBody>
          </p:sp>
        </mc:Fallback>
      </mc:AlternateContent>
      <p:grpSp>
        <p:nvGrpSpPr>
          <p:cNvPr id="48" name="Group 47">
            <a:extLst>
              <a:ext uri="{FF2B5EF4-FFF2-40B4-BE49-F238E27FC236}">
                <a16:creationId xmlns:a16="http://schemas.microsoft.com/office/drawing/2014/main" id="{87AE4626-F3B0-A91C-E384-279032601261}"/>
              </a:ext>
            </a:extLst>
          </p:cNvPr>
          <p:cNvGrpSpPr/>
          <p:nvPr/>
        </p:nvGrpSpPr>
        <p:grpSpPr>
          <a:xfrm>
            <a:off x="5319826" y="3888731"/>
            <a:ext cx="3753766" cy="1521469"/>
            <a:chOff x="-325560" y="1682474"/>
            <a:chExt cx="8516025" cy="3651526"/>
          </a:xfrm>
        </p:grpSpPr>
        <p:sp>
          <p:nvSpPr>
            <p:cNvPr id="21" name="TextBox 20">
              <a:extLst>
                <a:ext uri="{FF2B5EF4-FFF2-40B4-BE49-F238E27FC236}">
                  <a16:creationId xmlns:a16="http://schemas.microsoft.com/office/drawing/2014/main" id="{A50B8E76-4650-690B-92F3-0C46FF012644}"/>
                </a:ext>
              </a:extLst>
            </p:cNvPr>
            <p:cNvSpPr txBox="1"/>
            <p:nvPr/>
          </p:nvSpPr>
          <p:spPr>
            <a:xfrm>
              <a:off x="5030541" y="2895494"/>
              <a:ext cx="1330885" cy="664798"/>
            </a:xfrm>
            <a:prstGeom prst="rect">
              <a:avLst/>
            </a:prstGeom>
            <a:noFill/>
          </p:spPr>
          <p:txBody>
            <a:bodyPr wrap="square" rtlCol="0">
              <a:spAutoFit/>
            </a:bodyPr>
            <a:lstStyle/>
            <a:p>
              <a:r>
                <a:rPr lang="en-US" sz="1200" dirty="0"/>
                <a:t>Goal</a:t>
              </a:r>
            </a:p>
          </p:txBody>
        </p:sp>
        <mc:AlternateContent xmlns:mc="http://schemas.openxmlformats.org/markup-compatibility/2006" xmlns:a14="http://schemas.microsoft.com/office/drawing/2010/main">
          <mc:Choice Requires="a14">
            <p:sp>
              <p:nvSpPr>
                <p:cNvPr id="22" name="TextBox 21">
                  <a:extLst>
                    <a:ext uri="{FF2B5EF4-FFF2-40B4-BE49-F238E27FC236}">
                      <a16:creationId xmlns:a16="http://schemas.microsoft.com/office/drawing/2014/main" id="{E9405240-8682-C405-08EE-7A66660440DB}"/>
                    </a:ext>
                  </a:extLst>
                </p:cNvPr>
                <p:cNvSpPr txBox="1"/>
                <p:nvPr/>
              </p:nvSpPr>
              <p:spPr>
                <a:xfrm>
                  <a:off x="-325560" y="3190152"/>
                  <a:ext cx="1597226" cy="664798"/>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US" sz="1200" i="1" dirty="0" smtClean="0">
                            <a:latin typeface="Cambria Math" panose="02040503050406030204" pitchFamily="18" charset="0"/>
                          </a:rPr>
                          <m:t>𝑚</m:t>
                        </m:r>
                        <m:r>
                          <a:rPr lang="en-US" sz="1200" i="1" dirty="0" smtClean="0">
                            <a:latin typeface="Cambria Math" panose="02040503050406030204" pitchFamily="18" charset="0"/>
                          </a:rPr>
                          <m:t> = 3</m:t>
                        </m:r>
                      </m:oMath>
                    </m:oMathPara>
                  </a14:m>
                  <a:endParaRPr lang="en-US" sz="1200" dirty="0"/>
                </a:p>
              </p:txBody>
            </p:sp>
          </mc:Choice>
          <mc:Fallback xmlns="">
            <p:sp>
              <p:nvSpPr>
                <p:cNvPr id="22" name="TextBox 21">
                  <a:extLst>
                    <a:ext uri="{FF2B5EF4-FFF2-40B4-BE49-F238E27FC236}">
                      <a16:creationId xmlns:a16="http://schemas.microsoft.com/office/drawing/2014/main" id="{E9405240-8682-C405-08EE-7A66660440DB}"/>
                    </a:ext>
                  </a:extLst>
                </p:cNvPr>
                <p:cNvSpPr txBox="1">
                  <a:spLocks noRot="1" noChangeAspect="1" noMove="1" noResize="1" noEditPoints="1" noAdjustHandles="1" noChangeArrowheads="1" noChangeShapeType="1" noTextEdit="1"/>
                </p:cNvSpPr>
                <p:nvPr/>
              </p:nvSpPr>
              <p:spPr>
                <a:xfrm>
                  <a:off x="-325560" y="3190152"/>
                  <a:ext cx="1597226" cy="664798"/>
                </a:xfrm>
                <a:prstGeom prst="rect">
                  <a:avLst/>
                </a:prstGeom>
                <a:blipFill>
                  <a:blip r:embed="rId4"/>
                  <a:stretch>
                    <a:fillRect/>
                  </a:stretch>
                </a:blipFill>
              </p:spPr>
              <p:txBody>
                <a:bodyPr/>
                <a:lstStyle/>
                <a:p>
                  <a:r>
                    <a:rPr lang="en-US">
                      <a:noFill/>
                    </a:rPr>
                    <a:t> </a:t>
                  </a:r>
                </a:p>
              </p:txBody>
            </p:sp>
          </mc:Fallback>
        </mc:AlternateContent>
        <p:sp>
          <p:nvSpPr>
            <p:cNvPr id="23" name="Left Brace 22">
              <a:extLst>
                <a:ext uri="{FF2B5EF4-FFF2-40B4-BE49-F238E27FC236}">
                  <a16:creationId xmlns:a16="http://schemas.microsoft.com/office/drawing/2014/main" id="{778F4312-D897-0586-F8E2-989AFFC8C564}"/>
                </a:ext>
              </a:extLst>
            </p:cNvPr>
            <p:cNvSpPr/>
            <p:nvPr/>
          </p:nvSpPr>
          <p:spPr>
            <a:xfrm>
              <a:off x="1087810" y="1752600"/>
              <a:ext cx="230612" cy="3581400"/>
            </a:xfrm>
            <a:prstGeom prst="leftBrace">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sz="1200"/>
            </a:p>
          </p:txBody>
        </p:sp>
        <p:sp>
          <p:nvSpPr>
            <p:cNvPr id="24" name="Right Brace 23">
              <a:extLst>
                <a:ext uri="{FF2B5EF4-FFF2-40B4-BE49-F238E27FC236}">
                  <a16:creationId xmlns:a16="http://schemas.microsoft.com/office/drawing/2014/main" id="{1C1C1A76-2587-CD44-781D-34A33A0271B9}"/>
                </a:ext>
              </a:extLst>
            </p:cNvPr>
            <p:cNvSpPr/>
            <p:nvPr/>
          </p:nvSpPr>
          <p:spPr>
            <a:xfrm>
              <a:off x="6515916" y="1682474"/>
              <a:ext cx="223003" cy="1667232"/>
            </a:xfrm>
            <a:prstGeom prst="rightBrace">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sz="1200" dirty="0"/>
            </a:p>
          </p:txBody>
        </p:sp>
        <mc:AlternateContent xmlns:mc="http://schemas.openxmlformats.org/markup-compatibility/2006" xmlns:a14="http://schemas.microsoft.com/office/drawing/2010/main">
          <mc:Choice Requires="a14">
            <p:sp>
              <p:nvSpPr>
                <p:cNvPr id="25" name="TextBox 24">
                  <a:extLst>
                    <a:ext uri="{FF2B5EF4-FFF2-40B4-BE49-F238E27FC236}">
                      <a16:creationId xmlns:a16="http://schemas.microsoft.com/office/drawing/2014/main" id="{E3FC90AA-E65A-2753-5F9B-EBA812D3FD8C}"/>
                    </a:ext>
                  </a:extLst>
                </p:cNvPr>
                <p:cNvSpPr txBox="1"/>
                <p:nvPr/>
              </p:nvSpPr>
              <p:spPr>
                <a:xfrm>
                  <a:off x="6666312" y="2230696"/>
                  <a:ext cx="1524153" cy="664798"/>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sz="1200" i="1" dirty="0" smtClean="0">
                            <a:latin typeface="Cambria Math" panose="02040503050406030204" pitchFamily="18" charset="0"/>
                          </a:rPr>
                          <m:t>𝑑</m:t>
                        </m:r>
                        <m:r>
                          <a:rPr lang="en-US" sz="1200" i="1" dirty="0" smtClean="0">
                            <a:latin typeface="Cambria Math" panose="02040503050406030204" pitchFamily="18" charset="0"/>
                          </a:rPr>
                          <m:t> = 1</m:t>
                        </m:r>
                      </m:oMath>
                    </m:oMathPara>
                  </a14:m>
                  <a:endParaRPr lang="en-US" sz="1200" dirty="0"/>
                </a:p>
              </p:txBody>
            </p:sp>
          </mc:Choice>
          <mc:Fallback xmlns="">
            <p:sp>
              <p:nvSpPr>
                <p:cNvPr id="25" name="TextBox 24">
                  <a:extLst>
                    <a:ext uri="{FF2B5EF4-FFF2-40B4-BE49-F238E27FC236}">
                      <a16:creationId xmlns:a16="http://schemas.microsoft.com/office/drawing/2014/main" id="{E3FC90AA-E65A-2753-5F9B-EBA812D3FD8C}"/>
                    </a:ext>
                  </a:extLst>
                </p:cNvPr>
                <p:cNvSpPr txBox="1">
                  <a:spLocks noRot="1" noChangeAspect="1" noMove="1" noResize="1" noEditPoints="1" noAdjustHandles="1" noChangeArrowheads="1" noChangeShapeType="1" noTextEdit="1"/>
                </p:cNvSpPr>
                <p:nvPr/>
              </p:nvSpPr>
              <p:spPr>
                <a:xfrm>
                  <a:off x="6666312" y="2230696"/>
                  <a:ext cx="1524153" cy="664798"/>
                </a:xfrm>
                <a:prstGeom prst="rect">
                  <a:avLst/>
                </a:prstGeom>
                <a:blipFill>
                  <a:blip r:embed="rId5"/>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6" name="TextBox 25">
                  <a:extLst>
                    <a:ext uri="{FF2B5EF4-FFF2-40B4-BE49-F238E27FC236}">
                      <a16:creationId xmlns:a16="http://schemas.microsoft.com/office/drawing/2014/main" id="{A8BD79DD-63F1-7BC8-E25E-A661CF96560C}"/>
                    </a:ext>
                  </a:extLst>
                </p:cNvPr>
                <p:cNvSpPr txBox="1"/>
                <p:nvPr/>
              </p:nvSpPr>
              <p:spPr>
                <a:xfrm>
                  <a:off x="3674363" y="2401174"/>
                  <a:ext cx="1497144" cy="664798"/>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US" sz="1200" i="1" dirty="0" smtClean="0">
                            <a:latin typeface="Cambria Math" panose="02040503050406030204" pitchFamily="18" charset="0"/>
                          </a:rPr>
                          <m:t>𝑏</m:t>
                        </m:r>
                        <m:r>
                          <a:rPr lang="en-US" sz="1200" i="1" dirty="0" smtClean="0">
                            <a:latin typeface="Cambria Math" panose="02040503050406030204" pitchFamily="18" charset="0"/>
                          </a:rPr>
                          <m:t> = 2</m:t>
                        </m:r>
                      </m:oMath>
                    </m:oMathPara>
                  </a14:m>
                  <a:endParaRPr lang="en-US" sz="1200" dirty="0"/>
                </a:p>
              </p:txBody>
            </p:sp>
          </mc:Choice>
          <mc:Fallback xmlns="">
            <p:sp>
              <p:nvSpPr>
                <p:cNvPr id="26" name="TextBox 25">
                  <a:extLst>
                    <a:ext uri="{FF2B5EF4-FFF2-40B4-BE49-F238E27FC236}">
                      <a16:creationId xmlns:a16="http://schemas.microsoft.com/office/drawing/2014/main" id="{A8BD79DD-63F1-7BC8-E25E-A661CF96560C}"/>
                    </a:ext>
                  </a:extLst>
                </p:cNvPr>
                <p:cNvSpPr txBox="1">
                  <a:spLocks noRot="1" noChangeAspect="1" noMove="1" noResize="1" noEditPoints="1" noAdjustHandles="1" noChangeArrowheads="1" noChangeShapeType="1" noTextEdit="1"/>
                </p:cNvSpPr>
                <p:nvPr/>
              </p:nvSpPr>
              <p:spPr>
                <a:xfrm>
                  <a:off x="3674363" y="2401174"/>
                  <a:ext cx="1497144" cy="664798"/>
                </a:xfrm>
                <a:prstGeom prst="rect">
                  <a:avLst/>
                </a:prstGeom>
                <a:blipFill>
                  <a:blip r:embed="rId6"/>
                  <a:stretch>
                    <a:fillRect/>
                  </a:stretch>
                </a:blipFill>
              </p:spPr>
              <p:txBody>
                <a:bodyPr/>
                <a:lstStyle/>
                <a:p>
                  <a:r>
                    <a:rPr lang="en-US">
                      <a:noFill/>
                    </a:rPr>
                    <a:t> </a:t>
                  </a:r>
                </a:p>
              </p:txBody>
            </p:sp>
          </mc:Fallback>
        </mc:AlternateContent>
        <p:grpSp>
          <p:nvGrpSpPr>
            <p:cNvPr id="27" name="Group 26">
              <a:extLst>
                <a:ext uri="{FF2B5EF4-FFF2-40B4-BE49-F238E27FC236}">
                  <a16:creationId xmlns:a16="http://schemas.microsoft.com/office/drawing/2014/main" id="{072D8C8F-577D-7540-DFB8-6B52EE369C8D}"/>
                </a:ext>
              </a:extLst>
            </p:cNvPr>
            <p:cNvGrpSpPr/>
            <p:nvPr/>
          </p:nvGrpSpPr>
          <p:grpSpPr>
            <a:xfrm>
              <a:off x="1411245" y="1828800"/>
              <a:ext cx="6132555" cy="2406837"/>
              <a:chOff x="2590800" y="3460563"/>
              <a:chExt cx="4191000" cy="1644837"/>
            </a:xfrm>
          </p:grpSpPr>
          <p:cxnSp>
            <p:nvCxnSpPr>
              <p:cNvPr id="28" name="Straight Arrow Connector 27">
                <a:extLst>
                  <a:ext uri="{FF2B5EF4-FFF2-40B4-BE49-F238E27FC236}">
                    <a16:creationId xmlns:a16="http://schemas.microsoft.com/office/drawing/2014/main" id="{8197542B-5712-176F-FE11-21711D3CAD3C}"/>
                  </a:ext>
                </a:extLst>
              </p:cNvPr>
              <p:cNvCxnSpPr>
                <a:cxnSpLocks/>
                <a:stCxn id="29" idx="3"/>
                <a:endCxn id="36" idx="7"/>
              </p:cNvCxnSpPr>
              <p:nvPr/>
            </p:nvCxnSpPr>
            <p:spPr>
              <a:xfrm flipH="1">
                <a:off x="3689163" y="3720726"/>
                <a:ext cx="927474" cy="591111"/>
              </a:xfrm>
              <a:prstGeom prst="straightConnector1">
                <a:avLst/>
              </a:prstGeom>
              <a:ln w="19050" cap="flat" cmpd="sng" algn="ctr">
                <a:solidFill>
                  <a:schemeClr val="accent1"/>
                </a:solidFill>
                <a:prstDash val="solid"/>
                <a:round/>
                <a:headEnd type="none" w="med" len="med"/>
                <a:tailEnd type="arrow" w="med" len="med"/>
              </a:ln>
            </p:spPr>
            <p:style>
              <a:lnRef idx="0">
                <a:scrgbClr r="0" g="0" b="0"/>
              </a:lnRef>
              <a:fillRef idx="0">
                <a:scrgbClr r="0" g="0" b="0"/>
              </a:fillRef>
              <a:effectRef idx="0">
                <a:scrgbClr r="0" g="0" b="0"/>
              </a:effectRef>
              <a:fontRef idx="minor">
                <a:schemeClr val="tx1"/>
              </a:fontRef>
            </p:style>
          </p:cxnSp>
          <p:sp>
            <p:nvSpPr>
              <p:cNvPr id="29" name="Oval 28">
                <a:extLst>
                  <a:ext uri="{FF2B5EF4-FFF2-40B4-BE49-F238E27FC236}">
                    <a16:creationId xmlns:a16="http://schemas.microsoft.com/office/drawing/2014/main" id="{BD0EDF84-7871-1FD5-6E15-094621033B29}"/>
                  </a:ext>
                </a:extLst>
              </p:cNvPr>
              <p:cNvSpPr/>
              <p:nvPr/>
            </p:nvSpPr>
            <p:spPr>
              <a:xfrm>
                <a:off x="4572000" y="3460563"/>
                <a:ext cx="304800" cy="304800"/>
              </a:xfrm>
              <a:prstGeom prst="ellipse">
                <a:avLst/>
              </a:prstGeom>
              <a:ln/>
            </p:spPr>
            <p:style>
              <a:lnRef idx="2">
                <a:schemeClr val="dk1"/>
              </a:lnRef>
              <a:fillRef idx="1">
                <a:schemeClr val="lt1"/>
              </a:fillRef>
              <a:effectRef idx="0">
                <a:schemeClr val="dk1"/>
              </a:effectRef>
              <a:fontRef idx="minor">
                <a:schemeClr val="dk1"/>
              </a:fontRef>
            </p:style>
            <p:txBody>
              <a:bodyPr rtlCol="0" anchor="ctr"/>
              <a:lstStyle/>
              <a:p>
                <a:pPr algn="ctr"/>
                <a:r>
                  <a:rPr lang="en-US" sz="1600" dirty="0">
                    <a:solidFill>
                      <a:schemeClr val="tx1"/>
                    </a:solidFill>
                  </a:rPr>
                  <a:t>A</a:t>
                </a:r>
              </a:p>
            </p:txBody>
          </p:sp>
          <p:sp>
            <p:nvSpPr>
              <p:cNvPr id="30" name="Oval 29">
                <a:extLst>
                  <a:ext uri="{FF2B5EF4-FFF2-40B4-BE49-F238E27FC236}">
                    <a16:creationId xmlns:a16="http://schemas.microsoft.com/office/drawing/2014/main" id="{35DFE4C7-A16F-D229-38FA-CA3E6E22397F}"/>
                  </a:ext>
                </a:extLst>
              </p:cNvPr>
              <p:cNvSpPr/>
              <p:nvPr/>
            </p:nvSpPr>
            <p:spPr>
              <a:xfrm>
                <a:off x="2590800" y="4800600"/>
                <a:ext cx="304800" cy="304800"/>
              </a:xfrm>
              <a:prstGeom prst="ellipse">
                <a:avLst/>
              </a:prstGeom>
              <a:ln/>
            </p:spPr>
            <p:style>
              <a:lnRef idx="2">
                <a:schemeClr val="dk1"/>
              </a:lnRef>
              <a:fillRef idx="1">
                <a:schemeClr val="lt1"/>
              </a:fillRef>
              <a:effectRef idx="0">
                <a:schemeClr val="dk1"/>
              </a:effectRef>
              <a:fontRef idx="minor">
                <a:schemeClr val="dk1"/>
              </a:fontRef>
            </p:style>
            <p:txBody>
              <a:bodyPr rtlCol="0" anchor="ctr"/>
              <a:lstStyle/>
              <a:p>
                <a:pPr algn="ctr"/>
                <a:r>
                  <a:rPr lang="en-US" sz="1600" dirty="0">
                    <a:solidFill>
                      <a:schemeClr val="tx1"/>
                    </a:solidFill>
                  </a:rPr>
                  <a:t>D</a:t>
                </a:r>
              </a:p>
            </p:txBody>
          </p:sp>
          <p:cxnSp>
            <p:nvCxnSpPr>
              <p:cNvPr id="31" name="Straight Arrow Connector 30">
                <a:extLst>
                  <a:ext uri="{FF2B5EF4-FFF2-40B4-BE49-F238E27FC236}">
                    <a16:creationId xmlns:a16="http://schemas.microsoft.com/office/drawing/2014/main" id="{D6A7A245-9E24-6F6E-E2F0-DFD4A2EE7EA9}"/>
                  </a:ext>
                </a:extLst>
              </p:cNvPr>
              <p:cNvCxnSpPr>
                <a:cxnSpLocks/>
                <a:stCxn id="29" idx="5"/>
                <a:endCxn id="38" idx="1"/>
              </p:cNvCxnSpPr>
              <p:nvPr/>
            </p:nvCxnSpPr>
            <p:spPr>
              <a:xfrm>
                <a:off x="4832163" y="3720726"/>
                <a:ext cx="927474" cy="591111"/>
              </a:xfrm>
              <a:prstGeom prst="straightConnector1">
                <a:avLst/>
              </a:prstGeom>
              <a:ln w="19050" cap="flat" cmpd="sng" algn="ctr">
                <a:solidFill>
                  <a:schemeClr val="accent1"/>
                </a:solidFill>
                <a:prstDash val="solid"/>
                <a:round/>
                <a:headEnd type="none" w="med" len="med"/>
                <a:tailEnd type="arrow" w="med" len="med"/>
              </a:ln>
            </p:spPr>
            <p:style>
              <a:lnRef idx="0">
                <a:scrgbClr r="0" g="0" b="0"/>
              </a:lnRef>
              <a:fillRef idx="0">
                <a:scrgbClr r="0" g="0" b="0"/>
              </a:fillRef>
              <a:effectRef idx="0">
                <a:scrgbClr r="0" g="0" b="0"/>
              </a:effectRef>
              <a:fontRef idx="minor">
                <a:schemeClr val="tx1"/>
              </a:fontRef>
            </p:style>
          </p:cxnSp>
          <p:cxnSp>
            <p:nvCxnSpPr>
              <p:cNvPr id="32" name="Straight Arrow Connector 31">
                <a:extLst>
                  <a:ext uri="{FF2B5EF4-FFF2-40B4-BE49-F238E27FC236}">
                    <a16:creationId xmlns:a16="http://schemas.microsoft.com/office/drawing/2014/main" id="{DEAFFBFE-6BB4-305D-0F72-04F0CF5C1C4A}"/>
                  </a:ext>
                </a:extLst>
              </p:cNvPr>
              <p:cNvCxnSpPr>
                <a:cxnSpLocks/>
                <a:stCxn id="36" idx="3"/>
                <a:endCxn id="30" idx="7"/>
              </p:cNvCxnSpPr>
              <p:nvPr/>
            </p:nvCxnSpPr>
            <p:spPr>
              <a:xfrm flipH="1">
                <a:off x="2850963" y="4527363"/>
                <a:ext cx="622674" cy="317874"/>
              </a:xfrm>
              <a:prstGeom prst="straightConnector1">
                <a:avLst/>
              </a:prstGeom>
              <a:ln w="19050" cap="flat" cmpd="sng" algn="ctr">
                <a:solidFill>
                  <a:schemeClr val="accent1"/>
                </a:solidFill>
                <a:prstDash val="solid"/>
                <a:round/>
                <a:headEnd type="none" w="med" len="med"/>
                <a:tailEnd type="arrow" w="med" len="med"/>
              </a:ln>
            </p:spPr>
            <p:style>
              <a:lnRef idx="0">
                <a:scrgbClr r="0" g="0" b="0"/>
              </a:lnRef>
              <a:fillRef idx="0">
                <a:scrgbClr r="0" g="0" b="0"/>
              </a:fillRef>
              <a:effectRef idx="0">
                <a:scrgbClr r="0" g="0" b="0"/>
              </a:effectRef>
              <a:fontRef idx="minor">
                <a:schemeClr val="tx1"/>
              </a:fontRef>
            </p:style>
          </p:cxnSp>
          <p:sp>
            <p:nvSpPr>
              <p:cNvPr id="33" name="Oval 32">
                <a:extLst>
                  <a:ext uri="{FF2B5EF4-FFF2-40B4-BE49-F238E27FC236}">
                    <a16:creationId xmlns:a16="http://schemas.microsoft.com/office/drawing/2014/main" id="{1CABA515-B460-D8B3-6F32-E6C01E1E5ADF}"/>
                  </a:ext>
                </a:extLst>
              </p:cNvPr>
              <p:cNvSpPr/>
              <p:nvPr/>
            </p:nvSpPr>
            <p:spPr>
              <a:xfrm>
                <a:off x="4953000" y="4800600"/>
                <a:ext cx="304800" cy="304800"/>
              </a:xfrm>
              <a:prstGeom prst="ellipse">
                <a:avLst/>
              </a:prstGeom>
              <a:ln/>
            </p:spPr>
            <p:style>
              <a:lnRef idx="2">
                <a:schemeClr val="dk1"/>
              </a:lnRef>
              <a:fillRef idx="1">
                <a:schemeClr val="lt1"/>
              </a:fillRef>
              <a:effectRef idx="0">
                <a:schemeClr val="dk1"/>
              </a:effectRef>
              <a:fontRef idx="minor">
                <a:schemeClr val="dk1"/>
              </a:fontRef>
            </p:style>
            <p:txBody>
              <a:bodyPr rtlCol="0" anchor="ctr"/>
              <a:lstStyle/>
              <a:p>
                <a:pPr algn="ctr"/>
                <a:r>
                  <a:rPr lang="en-US" sz="1600" dirty="0">
                    <a:solidFill>
                      <a:schemeClr val="tx1"/>
                    </a:solidFill>
                  </a:rPr>
                  <a:t>F</a:t>
                </a:r>
              </a:p>
            </p:txBody>
          </p:sp>
          <p:cxnSp>
            <p:nvCxnSpPr>
              <p:cNvPr id="34" name="Straight Arrow Connector 33">
                <a:extLst>
                  <a:ext uri="{FF2B5EF4-FFF2-40B4-BE49-F238E27FC236}">
                    <a16:creationId xmlns:a16="http://schemas.microsoft.com/office/drawing/2014/main" id="{97A2EFC1-752F-9126-6A70-77B9AB2431DE}"/>
                  </a:ext>
                </a:extLst>
              </p:cNvPr>
              <p:cNvCxnSpPr>
                <a:cxnSpLocks/>
                <a:stCxn id="38" idx="3"/>
                <a:endCxn id="33" idx="7"/>
              </p:cNvCxnSpPr>
              <p:nvPr/>
            </p:nvCxnSpPr>
            <p:spPr>
              <a:xfrm flipH="1">
                <a:off x="5213163" y="4527363"/>
                <a:ext cx="546474" cy="317874"/>
              </a:xfrm>
              <a:prstGeom prst="straightConnector1">
                <a:avLst/>
              </a:prstGeom>
              <a:ln w="19050" cap="flat" cmpd="sng" algn="ctr">
                <a:solidFill>
                  <a:schemeClr val="accent1"/>
                </a:solidFill>
                <a:prstDash val="solid"/>
                <a:round/>
                <a:headEnd type="none" w="med" len="med"/>
                <a:tailEnd type="arrow" w="med" len="med"/>
              </a:ln>
            </p:spPr>
            <p:style>
              <a:lnRef idx="0">
                <a:scrgbClr r="0" g="0" b="0"/>
              </a:lnRef>
              <a:fillRef idx="0">
                <a:scrgbClr r="0" g="0" b="0"/>
              </a:fillRef>
              <a:effectRef idx="0">
                <a:scrgbClr r="0" g="0" b="0"/>
              </a:effectRef>
              <a:fontRef idx="minor">
                <a:schemeClr val="tx1"/>
              </a:fontRef>
            </p:style>
          </p:cxnSp>
          <p:cxnSp>
            <p:nvCxnSpPr>
              <p:cNvPr id="35" name="Straight Arrow Connector 34">
                <a:extLst>
                  <a:ext uri="{FF2B5EF4-FFF2-40B4-BE49-F238E27FC236}">
                    <a16:creationId xmlns:a16="http://schemas.microsoft.com/office/drawing/2014/main" id="{F2A50567-97A1-638A-9D9C-709FC0D1EDE6}"/>
                  </a:ext>
                </a:extLst>
              </p:cNvPr>
              <p:cNvCxnSpPr>
                <a:cxnSpLocks/>
                <a:stCxn id="36" idx="5"/>
                <a:endCxn id="39" idx="1"/>
              </p:cNvCxnSpPr>
              <p:nvPr/>
            </p:nvCxnSpPr>
            <p:spPr>
              <a:xfrm>
                <a:off x="3689163" y="4527363"/>
                <a:ext cx="622674" cy="317874"/>
              </a:xfrm>
              <a:prstGeom prst="straightConnector1">
                <a:avLst/>
              </a:prstGeom>
              <a:ln w="19050" cap="flat" cmpd="sng" algn="ctr">
                <a:solidFill>
                  <a:schemeClr val="accent1"/>
                </a:solidFill>
                <a:prstDash val="solid"/>
                <a:round/>
                <a:headEnd type="none" w="med" len="med"/>
                <a:tailEnd type="arrow" w="med" len="med"/>
              </a:ln>
            </p:spPr>
            <p:style>
              <a:lnRef idx="0">
                <a:scrgbClr r="0" g="0" b="0"/>
              </a:lnRef>
              <a:fillRef idx="0">
                <a:scrgbClr r="0" g="0" b="0"/>
              </a:fillRef>
              <a:effectRef idx="0">
                <a:scrgbClr r="0" g="0" b="0"/>
              </a:effectRef>
              <a:fontRef idx="minor">
                <a:schemeClr val="tx1"/>
              </a:fontRef>
            </p:style>
          </p:cxnSp>
          <p:sp>
            <p:nvSpPr>
              <p:cNvPr id="36" name="Oval 35">
                <a:extLst>
                  <a:ext uri="{FF2B5EF4-FFF2-40B4-BE49-F238E27FC236}">
                    <a16:creationId xmlns:a16="http://schemas.microsoft.com/office/drawing/2014/main" id="{7B962F7C-81C9-BF16-5890-C7EE18C8E0F0}"/>
                  </a:ext>
                </a:extLst>
              </p:cNvPr>
              <p:cNvSpPr/>
              <p:nvPr/>
            </p:nvSpPr>
            <p:spPr>
              <a:xfrm>
                <a:off x="3429000" y="4267200"/>
                <a:ext cx="304800" cy="304800"/>
              </a:xfrm>
              <a:prstGeom prst="ellipse">
                <a:avLst/>
              </a:prstGeom>
              <a:ln/>
            </p:spPr>
            <p:style>
              <a:lnRef idx="2">
                <a:schemeClr val="dk1"/>
              </a:lnRef>
              <a:fillRef idx="1">
                <a:schemeClr val="lt1"/>
              </a:fillRef>
              <a:effectRef idx="0">
                <a:schemeClr val="dk1"/>
              </a:effectRef>
              <a:fontRef idx="minor">
                <a:schemeClr val="dk1"/>
              </a:fontRef>
            </p:style>
            <p:txBody>
              <a:bodyPr rtlCol="0" anchor="ctr"/>
              <a:lstStyle/>
              <a:p>
                <a:pPr algn="ctr"/>
                <a:r>
                  <a:rPr lang="en-US" sz="1600" dirty="0">
                    <a:solidFill>
                      <a:schemeClr val="tx1"/>
                    </a:solidFill>
                  </a:rPr>
                  <a:t>B</a:t>
                </a:r>
                <a:endParaRPr lang="en-US" sz="1600" dirty="0"/>
              </a:p>
            </p:txBody>
          </p:sp>
          <p:cxnSp>
            <p:nvCxnSpPr>
              <p:cNvPr id="37" name="Straight Arrow Connector 36">
                <a:extLst>
                  <a:ext uri="{FF2B5EF4-FFF2-40B4-BE49-F238E27FC236}">
                    <a16:creationId xmlns:a16="http://schemas.microsoft.com/office/drawing/2014/main" id="{E193BB9B-045D-4407-7278-6EBEF9303A9B}"/>
                  </a:ext>
                </a:extLst>
              </p:cNvPr>
              <p:cNvCxnSpPr>
                <a:cxnSpLocks/>
                <a:stCxn id="38" idx="5"/>
                <a:endCxn id="40" idx="1"/>
              </p:cNvCxnSpPr>
              <p:nvPr/>
            </p:nvCxnSpPr>
            <p:spPr>
              <a:xfrm>
                <a:off x="5975163" y="4527363"/>
                <a:ext cx="546474" cy="317874"/>
              </a:xfrm>
              <a:prstGeom prst="straightConnector1">
                <a:avLst/>
              </a:prstGeom>
              <a:ln w="19050" cap="flat" cmpd="sng" algn="ctr">
                <a:solidFill>
                  <a:schemeClr val="accent1"/>
                </a:solidFill>
                <a:prstDash val="solid"/>
                <a:round/>
                <a:headEnd type="none" w="med" len="med"/>
                <a:tailEnd type="arrow" w="med" len="med"/>
              </a:ln>
            </p:spPr>
            <p:style>
              <a:lnRef idx="0">
                <a:scrgbClr r="0" g="0" b="0"/>
              </a:lnRef>
              <a:fillRef idx="0">
                <a:scrgbClr r="0" g="0" b="0"/>
              </a:fillRef>
              <a:effectRef idx="0">
                <a:scrgbClr r="0" g="0" b="0"/>
              </a:effectRef>
              <a:fontRef idx="minor">
                <a:schemeClr val="tx1"/>
              </a:fontRef>
            </p:style>
          </p:cxnSp>
          <p:sp>
            <p:nvSpPr>
              <p:cNvPr id="38" name="Oval 37">
                <a:extLst>
                  <a:ext uri="{FF2B5EF4-FFF2-40B4-BE49-F238E27FC236}">
                    <a16:creationId xmlns:a16="http://schemas.microsoft.com/office/drawing/2014/main" id="{D1BE6527-3BFE-F514-1619-3A8ED1FCBE2E}"/>
                  </a:ext>
                </a:extLst>
              </p:cNvPr>
              <p:cNvSpPr/>
              <p:nvPr/>
            </p:nvSpPr>
            <p:spPr>
              <a:xfrm>
                <a:off x="5715000" y="4267200"/>
                <a:ext cx="304800" cy="304800"/>
              </a:xfrm>
              <a:prstGeom prst="ellipse">
                <a:avLst/>
              </a:prstGeom>
              <a:ln/>
            </p:spPr>
            <p:style>
              <a:lnRef idx="2">
                <a:schemeClr val="accent2">
                  <a:shade val="50000"/>
                </a:schemeClr>
              </a:lnRef>
              <a:fillRef idx="1">
                <a:schemeClr val="accent2"/>
              </a:fillRef>
              <a:effectRef idx="0">
                <a:schemeClr val="accent2"/>
              </a:effectRef>
              <a:fontRef idx="minor">
                <a:schemeClr val="lt1"/>
              </a:fontRef>
            </p:style>
            <p:txBody>
              <a:bodyPr rtlCol="0" anchor="ctr"/>
              <a:lstStyle/>
              <a:p>
                <a:pPr algn="ctr"/>
                <a:r>
                  <a:rPr lang="en-US" sz="1600" dirty="0">
                    <a:solidFill>
                      <a:schemeClr val="tx1"/>
                    </a:solidFill>
                  </a:rPr>
                  <a:t>C</a:t>
                </a:r>
                <a:endParaRPr lang="en-US" sz="1600" dirty="0"/>
              </a:p>
            </p:txBody>
          </p:sp>
          <p:sp>
            <p:nvSpPr>
              <p:cNvPr id="39" name="Oval 38">
                <a:extLst>
                  <a:ext uri="{FF2B5EF4-FFF2-40B4-BE49-F238E27FC236}">
                    <a16:creationId xmlns:a16="http://schemas.microsoft.com/office/drawing/2014/main" id="{B59B5171-2ADE-B052-2A98-1E0184B52FC5}"/>
                  </a:ext>
                </a:extLst>
              </p:cNvPr>
              <p:cNvSpPr/>
              <p:nvPr/>
            </p:nvSpPr>
            <p:spPr>
              <a:xfrm>
                <a:off x="4267200" y="4800600"/>
                <a:ext cx="304800" cy="304800"/>
              </a:xfrm>
              <a:prstGeom prst="ellipse">
                <a:avLst/>
              </a:prstGeom>
              <a:ln/>
            </p:spPr>
            <p:style>
              <a:lnRef idx="2">
                <a:schemeClr val="dk1"/>
              </a:lnRef>
              <a:fillRef idx="1">
                <a:schemeClr val="lt1"/>
              </a:fillRef>
              <a:effectRef idx="0">
                <a:schemeClr val="dk1"/>
              </a:effectRef>
              <a:fontRef idx="minor">
                <a:schemeClr val="dk1"/>
              </a:fontRef>
            </p:style>
            <p:txBody>
              <a:bodyPr rtlCol="0" anchor="ctr"/>
              <a:lstStyle/>
              <a:p>
                <a:pPr algn="ctr"/>
                <a:r>
                  <a:rPr lang="en-US" sz="1600" dirty="0">
                    <a:solidFill>
                      <a:schemeClr val="tx1"/>
                    </a:solidFill>
                  </a:rPr>
                  <a:t>E</a:t>
                </a:r>
              </a:p>
            </p:txBody>
          </p:sp>
          <p:sp>
            <p:nvSpPr>
              <p:cNvPr id="40" name="Oval 39">
                <a:extLst>
                  <a:ext uri="{FF2B5EF4-FFF2-40B4-BE49-F238E27FC236}">
                    <a16:creationId xmlns:a16="http://schemas.microsoft.com/office/drawing/2014/main" id="{FCE01900-C8AD-0A1A-1BD7-D1698F7857CF}"/>
                  </a:ext>
                </a:extLst>
              </p:cNvPr>
              <p:cNvSpPr/>
              <p:nvPr/>
            </p:nvSpPr>
            <p:spPr>
              <a:xfrm>
                <a:off x="6477000" y="4800600"/>
                <a:ext cx="304800" cy="304800"/>
              </a:xfrm>
              <a:prstGeom prst="ellipse">
                <a:avLst/>
              </a:prstGeom>
              <a:ln/>
            </p:spPr>
            <p:style>
              <a:lnRef idx="2">
                <a:schemeClr val="dk1"/>
              </a:lnRef>
              <a:fillRef idx="1">
                <a:schemeClr val="lt1"/>
              </a:fillRef>
              <a:effectRef idx="0">
                <a:schemeClr val="dk1"/>
              </a:effectRef>
              <a:fontRef idx="minor">
                <a:schemeClr val="dk1"/>
              </a:fontRef>
            </p:style>
            <p:txBody>
              <a:bodyPr rtlCol="0" anchor="ctr"/>
              <a:lstStyle/>
              <a:p>
                <a:pPr algn="ctr"/>
                <a:r>
                  <a:rPr lang="en-US" sz="1600" dirty="0">
                    <a:solidFill>
                      <a:schemeClr val="tx1"/>
                    </a:solidFill>
                  </a:rPr>
                  <a:t>G</a:t>
                </a:r>
              </a:p>
            </p:txBody>
          </p:sp>
        </p:grpSp>
        <p:sp>
          <p:nvSpPr>
            <p:cNvPr id="41" name="Oval 40">
              <a:extLst>
                <a:ext uri="{FF2B5EF4-FFF2-40B4-BE49-F238E27FC236}">
                  <a16:creationId xmlns:a16="http://schemas.microsoft.com/office/drawing/2014/main" id="{63E0BC72-8B42-0E71-CC3B-235BE30137ED}"/>
                </a:ext>
              </a:extLst>
            </p:cNvPr>
            <p:cNvSpPr/>
            <p:nvPr/>
          </p:nvSpPr>
          <p:spPr>
            <a:xfrm>
              <a:off x="3028009" y="4645863"/>
              <a:ext cx="446004" cy="446004"/>
            </a:xfrm>
            <a:prstGeom prst="ellipse">
              <a:avLst/>
            </a:prstGeom>
            <a:ln/>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1600" dirty="0">
                  <a:solidFill>
                    <a:schemeClr val="tx1"/>
                  </a:solidFill>
                </a:rPr>
                <a:t>C</a:t>
              </a:r>
              <a:endParaRPr lang="en-US" sz="1600" dirty="0"/>
            </a:p>
          </p:txBody>
        </p:sp>
        <p:cxnSp>
          <p:nvCxnSpPr>
            <p:cNvPr id="42" name="Straight Arrow Connector 41">
              <a:extLst>
                <a:ext uri="{FF2B5EF4-FFF2-40B4-BE49-F238E27FC236}">
                  <a16:creationId xmlns:a16="http://schemas.microsoft.com/office/drawing/2014/main" id="{87ED25B0-20DC-F6C7-93CA-17C1C8924106}"/>
                </a:ext>
              </a:extLst>
            </p:cNvPr>
            <p:cNvCxnSpPr>
              <a:cxnSpLocks/>
              <a:stCxn id="39" idx="3"/>
              <a:endCxn id="41" idx="7"/>
            </p:cNvCxnSpPr>
            <p:nvPr/>
          </p:nvCxnSpPr>
          <p:spPr>
            <a:xfrm flipH="1">
              <a:off x="3408697" y="4170321"/>
              <a:ext cx="520886" cy="540858"/>
            </a:xfrm>
            <a:prstGeom prst="straightConnector1">
              <a:avLst/>
            </a:prstGeom>
            <a:ln w="19050" cap="flat" cmpd="sng" algn="ctr">
              <a:solidFill>
                <a:schemeClr val="accent1"/>
              </a:solidFill>
              <a:prstDash val="solid"/>
              <a:round/>
              <a:headEnd type="none" w="med" len="med"/>
              <a:tailEnd type="arrow" w="med" len="med"/>
            </a:ln>
          </p:spPr>
          <p:style>
            <a:lnRef idx="0">
              <a:scrgbClr r="0" g="0" b="0"/>
            </a:lnRef>
            <a:fillRef idx="0">
              <a:scrgbClr r="0" g="0" b="0"/>
            </a:fillRef>
            <a:effectRef idx="0">
              <a:scrgbClr r="0" g="0" b="0"/>
            </a:effectRef>
            <a:fontRef idx="minor">
              <a:schemeClr val="tx1"/>
            </a:fontRef>
          </p:style>
        </p:cxnSp>
        <p:sp>
          <p:nvSpPr>
            <p:cNvPr id="43" name="TextBox 42">
              <a:extLst>
                <a:ext uri="{FF2B5EF4-FFF2-40B4-BE49-F238E27FC236}">
                  <a16:creationId xmlns:a16="http://schemas.microsoft.com/office/drawing/2014/main" id="{240D4BC9-2661-FF41-3F35-C122BECB01AA}"/>
                </a:ext>
              </a:extLst>
            </p:cNvPr>
            <p:cNvSpPr txBox="1"/>
            <p:nvPr/>
          </p:nvSpPr>
          <p:spPr>
            <a:xfrm>
              <a:off x="3467878" y="4607808"/>
              <a:ext cx="1524979" cy="664798"/>
            </a:xfrm>
            <a:prstGeom prst="rect">
              <a:avLst/>
            </a:prstGeom>
            <a:noFill/>
          </p:spPr>
          <p:txBody>
            <a:bodyPr wrap="square" rtlCol="0">
              <a:spAutoFit/>
            </a:bodyPr>
            <a:lstStyle/>
            <a:p>
              <a:r>
                <a:rPr lang="en-US" sz="1200" dirty="0"/>
                <a:t>Goal</a:t>
              </a:r>
            </a:p>
          </p:txBody>
        </p:sp>
        <p:sp>
          <p:nvSpPr>
            <p:cNvPr id="46" name="Oval 45">
              <a:extLst>
                <a:ext uri="{FF2B5EF4-FFF2-40B4-BE49-F238E27FC236}">
                  <a16:creationId xmlns:a16="http://schemas.microsoft.com/office/drawing/2014/main" id="{BBBC7E5D-3244-07E1-9C97-0D4174EC1ECB}"/>
                </a:ext>
              </a:extLst>
            </p:cNvPr>
            <p:cNvSpPr/>
            <p:nvPr/>
          </p:nvSpPr>
          <p:spPr>
            <a:xfrm>
              <a:off x="2117475" y="4608923"/>
              <a:ext cx="446004" cy="446004"/>
            </a:xfrm>
            <a:prstGeom prst="ellipse">
              <a:avLst/>
            </a:prstGeom>
            <a:ln/>
          </p:spPr>
          <p:style>
            <a:lnRef idx="2">
              <a:schemeClr val="dk1"/>
            </a:lnRef>
            <a:fillRef idx="1">
              <a:schemeClr val="lt1"/>
            </a:fillRef>
            <a:effectRef idx="0">
              <a:schemeClr val="dk1"/>
            </a:effectRef>
            <a:fontRef idx="minor">
              <a:schemeClr val="dk1"/>
            </a:fontRef>
          </p:style>
          <p:txBody>
            <a:bodyPr rtlCol="0" anchor="ctr"/>
            <a:lstStyle/>
            <a:p>
              <a:pPr algn="ctr"/>
              <a:r>
                <a:rPr lang="en-US" sz="1600" dirty="0">
                  <a:solidFill>
                    <a:schemeClr val="tx1"/>
                  </a:solidFill>
                </a:rPr>
                <a:t>E</a:t>
              </a:r>
            </a:p>
          </p:txBody>
        </p:sp>
        <p:cxnSp>
          <p:nvCxnSpPr>
            <p:cNvPr id="47" name="Straight Arrow Connector 46">
              <a:extLst>
                <a:ext uri="{FF2B5EF4-FFF2-40B4-BE49-F238E27FC236}">
                  <a16:creationId xmlns:a16="http://schemas.microsoft.com/office/drawing/2014/main" id="{EDC01ED3-9D3F-7AAC-196F-DCC209260523}"/>
                </a:ext>
              </a:extLst>
            </p:cNvPr>
            <p:cNvCxnSpPr>
              <a:cxnSpLocks/>
              <a:stCxn id="30" idx="5"/>
              <a:endCxn id="46" idx="1"/>
            </p:cNvCxnSpPr>
            <p:nvPr/>
          </p:nvCxnSpPr>
          <p:spPr>
            <a:xfrm>
              <a:off x="1791933" y="4170321"/>
              <a:ext cx="390858" cy="503918"/>
            </a:xfrm>
            <a:prstGeom prst="straightConnector1">
              <a:avLst/>
            </a:prstGeom>
            <a:ln w="19050" cap="flat" cmpd="sng" algn="ctr">
              <a:solidFill>
                <a:schemeClr val="accent1"/>
              </a:solidFill>
              <a:prstDash val="solid"/>
              <a:round/>
              <a:headEnd type="none" w="med" len="med"/>
              <a:tailEnd type="arrow" w="med" len="med"/>
            </a:ln>
          </p:spPr>
          <p:style>
            <a:lnRef idx="0">
              <a:scrgbClr r="0" g="0" b="0"/>
            </a:lnRef>
            <a:fillRef idx="0">
              <a:scrgbClr r="0" g="0" b="0"/>
            </a:fillRef>
            <a:effectRef idx="0">
              <a:scrgbClr r="0" g="0" b="0"/>
            </a:effectRef>
            <a:fontRef idx="minor">
              <a:schemeClr val="tx1"/>
            </a:fontRef>
          </p:style>
        </p:cxnSp>
      </p:grpSp>
    </p:spTree>
    <p:extLst>
      <p:ext uri="{BB962C8B-B14F-4D97-AF65-F5344CB8AC3E}">
        <p14:creationId xmlns:p14="http://schemas.microsoft.com/office/powerpoint/2010/main" val="127173457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7">
                                            <p:txEl>
                                              <p:pRg st="8" end="8"/>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7">
                                            <p:txEl>
                                              <p:pRg st="9" end="9"/>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7">
                                            <p:txEl>
                                              <p:pRg st="10" end="10"/>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7">
                                            <p:txEl>
                                              <p:pRg st="11" end="11"/>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48"/>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7">
                                            <p:txEl>
                                              <p:pRg st="13" end="13"/>
                                            </p:txEl>
                                          </p:spTgt>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Lst>
  </p:timing>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0F39E30-6893-4BA5-A7BD-8CE03B569160}"/>
              </a:ext>
            </a:extLst>
          </p:cNvPr>
          <p:cNvSpPr>
            <a:spLocks noGrp="1"/>
          </p:cNvSpPr>
          <p:nvPr>
            <p:ph type="title"/>
          </p:nvPr>
        </p:nvSpPr>
        <p:spPr/>
        <p:txBody>
          <a:bodyPr vert="horz" lIns="68580" tIns="34290" rIns="68580" bIns="34290" rtlCol="0" anchor="ctr">
            <a:normAutofit/>
          </a:bodyPr>
          <a:lstStyle/>
          <a:p>
            <a:r>
              <a:rPr lang="en-US" sz="3000" dirty="0"/>
              <a:t>Example: What is the Search Complexity?</a:t>
            </a:r>
          </a:p>
        </p:txBody>
      </p:sp>
      <mc:AlternateContent xmlns:mc="http://schemas.openxmlformats.org/markup-compatibility/2006" xmlns:a14="http://schemas.microsoft.com/office/drawing/2010/main">
        <mc:Choice Requires="a14">
          <p:sp>
            <p:nvSpPr>
              <p:cNvPr id="21" name="Content Placeholder 20">
                <a:extLst>
                  <a:ext uri="{FF2B5EF4-FFF2-40B4-BE49-F238E27FC236}">
                    <a16:creationId xmlns:a16="http://schemas.microsoft.com/office/drawing/2014/main" id="{39A5693D-07D0-6814-1463-F5C269E85442}"/>
                  </a:ext>
                </a:extLst>
              </p:cNvPr>
              <p:cNvSpPr>
                <a:spLocks noGrp="1"/>
              </p:cNvSpPr>
              <p:nvPr>
                <p:ph sz="half" idx="1"/>
              </p:nvPr>
            </p:nvSpPr>
            <p:spPr>
              <a:xfrm>
                <a:off x="628650" y="1825625"/>
                <a:ext cx="4033984" cy="4351338"/>
              </a:xfrm>
            </p:spPr>
            <p:txBody>
              <a:bodyPr>
                <a:normAutofit fontScale="77500" lnSpcReduction="20000"/>
              </a:bodyPr>
              <a:lstStyle/>
              <a:p>
                <a14:m>
                  <m:oMath xmlns:m="http://schemas.openxmlformats.org/officeDocument/2006/math">
                    <m:r>
                      <a:rPr lang="en-US" sz="2700" i="1" dirty="0" smtClean="0">
                        <a:latin typeface="Cambria Math" panose="02040503050406030204" pitchFamily="18" charset="0"/>
                      </a:rPr>
                      <m:t>𝑏</m:t>
                    </m:r>
                  </m:oMath>
                </a14:m>
                <a:r>
                  <a:rPr lang="en-US" sz="2700" i="1" dirty="0"/>
                  <a:t>:</a:t>
                </a:r>
                <a:r>
                  <a:rPr lang="en-US" sz="2700" dirty="0"/>
                  <a:t> maximum branching factor = max. number of available actions?</a:t>
                </a:r>
                <a:br>
                  <a:rPr lang="en-US" sz="2700" dirty="0"/>
                </a:br>
                <a:endParaRPr lang="en-US" sz="2700" dirty="0"/>
              </a:p>
              <a:p>
                <a:pPr marL="342900" lvl="1" indent="0">
                  <a:buNone/>
                </a:pPr>
                <a:r>
                  <a:rPr lang="en-US" sz="2400" dirty="0"/>
                  <a:t>3</a:t>
                </a:r>
                <a:br>
                  <a:rPr lang="en-US" sz="2400" dirty="0"/>
                </a:br>
                <a:endParaRPr lang="en-US" sz="2400" b="1" i="1" dirty="0"/>
              </a:p>
              <a:p>
                <a14:m>
                  <m:oMath xmlns:m="http://schemas.openxmlformats.org/officeDocument/2006/math">
                    <m:r>
                      <a:rPr lang="en-US" sz="2700" i="1" dirty="0">
                        <a:latin typeface="Cambria Math" panose="02040503050406030204" pitchFamily="18" charset="0"/>
                      </a:rPr>
                      <m:t>𝑚</m:t>
                    </m:r>
                  </m:oMath>
                </a14:m>
                <a:r>
                  <a:rPr lang="en-US" sz="2700" i="1" dirty="0"/>
                  <a:t>: </a:t>
                </a:r>
                <a:r>
                  <a:rPr lang="en-US" sz="2700" dirty="0"/>
                  <a:t>the number of actions in the longest path? Without loops!</a:t>
                </a:r>
                <a:br>
                  <a:rPr lang="en-US" sz="2700" dirty="0"/>
                </a:br>
                <a:endParaRPr lang="en-US" sz="2700" dirty="0"/>
              </a:p>
              <a:p>
                <a:pPr marL="342900" lvl="1" indent="0">
                  <a:buNone/>
                </a:pPr>
                <a:r>
                  <a:rPr lang="en-US" sz="2400" dirty="0"/>
                  <a:t>3</a:t>
                </a:r>
                <a:br>
                  <a:rPr lang="en-US" sz="2400" dirty="0"/>
                </a:br>
                <a:endParaRPr lang="en-US" sz="2400" dirty="0"/>
              </a:p>
              <a:p>
                <a14:m>
                  <m:oMath xmlns:m="http://schemas.openxmlformats.org/officeDocument/2006/math">
                    <m:r>
                      <a:rPr lang="en-US" sz="2700" i="1" dirty="0" smtClean="0">
                        <a:latin typeface="Cambria Math" panose="02040503050406030204" pitchFamily="18" charset="0"/>
                      </a:rPr>
                      <m:t>𝑑</m:t>
                    </m:r>
                  </m:oMath>
                </a14:m>
                <a:r>
                  <a:rPr lang="en-US" sz="2700" i="1" dirty="0"/>
                  <a:t>: </a:t>
                </a:r>
                <a:r>
                  <a:rPr lang="en-US" sz="2700" dirty="0"/>
                  <a:t>min. depth of the optimal solution?</a:t>
                </a:r>
                <a:br>
                  <a:rPr lang="en-US" sz="2700" dirty="0"/>
                </a:br>
                <a:endParaRPr lang="en-US" sz="2700" dirty="0"/>
              </a:p>
              <a:p>
                <a:pPr marL="342900" lvl="1" indent="0">
                  <a:buNone/>
                </a:pPr>
                <a:r>
                  <a:rPr lang="en-US" sz="2400" dirty="0"/>
                  <a:t>3</a:t>
                </a:r>
                <a:br>
                  <a:rPr lang="en-US" sz="2400" dirty="0"/>
                </a:br>
                <a:endParaRPr lang="en-US" dirty="0"/>
              </a:p>
            </p:txBody>
          </p:sp>
        </mc:Choice>
        <mc:Fallback xmlns="">
          <p:sp>
            <p:nvSpPr>
              <p:cNvPr id="21" name="Content Placeholder 20">
                <a:extLst>
                  <a:ext uri="{FF2B5EF4-FFF2-40B4-BE49-F238E27FC236}">
                    <a16:creationId xmlns:a16="http://schemas.microsoft.com/office/drawing/2014/main" id="{39A5693D-07D0-6814-1463-F5C269E85442}"/>
                  </a:ext>
                </a:extLst>
              </p:cNvPr>
              <p:cNvSpPr>
                <a:spLocks noGrp="1" noRot="1" noChangeAspect="1" noMove="1" noResize="1" noEditPoints="1" noAdjustHandles="1" noChangeArrowheads="1" noChangeShapeType="1" noTextEdit="1"/>
              </p:cNvSpPr>
              <p:nvPr>
                <p:ph sz="half" idx="1"/>
              </p:nvPr>
            </p:nvSpPr>
            <p:spPr>
              <a:xfrm>
                <a:off x="628650" y="1825625"/>
                <a:ext cx="4033984" cy="4351338"/>
              </a:xfrm>
              <a:blipFill>
                <a:blip r:embed="rId2"/>
                <a:stretch>
                  <a:fillRect l="-1511" t="-2661"/>
                </a:stretch>
              </a:blipFill>
            </p:spPr>
            <p:txBody>
              <a:bodyPr/>
              <a:lstStyle/>
              <a:p>
                <a:r>
                  <a:rPr lang="en-US">
                    <a:noFill/>
                  </a:rPr>
                  <a:t> </a:t>
                </a:r>
              </a:p>
            </p:txBody>
          </p:sp>
        </mc:Fallback>
      </mc:AlternateContent>
      <p:sp>
        <p:nvSpPr>
          <p:cNvPr id="28" name="TextBox 27">
            <a:extLst>
              <a:ext uri="{FF2B5EF4-FFF2-40B4-BE49-F238E27FC236}">
                <a16:creationId xmlns:a16="http://schemas.microsoft.com/office/drawing/2014/main" id="{77679CBA-ABAB-A930-AE02-106964BF8603}"/>
              </a:ext>
            </a:extLst>
          </p:cNvPr>
          <p:cNvSpPr txBox="1"/>
          <p:nvPr/>
        </p:nvSpPr>
        <p:spPr>
          <a:xfrm>
            <a:off x="5181599" y="1842870"/>
            <a:ext cx="3486401" cy="369332"/>
          </a:xfrm>
          <a:prstGeom prst="rect">
            <a:avLst/>
          </a:prstGeom>
          <a:noFill/>
        </p:spPr>
        <p:txBody>
          <a:bodyPr wrap="square" rtlCol="0">
            <a:spAutoFit/>
          </a:bodyPr>
          <a:lstStyle/>
          <a:p>
            <a:r>
              <a:rPr lang="en-US" dirty="0"/>
              <a:t>State Space with Transition Model</a:t>
            </a:r>
          </a:p>
        </p:txBody>
      </p:sp>
      <p:grpSp>
        <p:nvGrpSpPr>
          <p:cNvPr id="77" name="Group 76">
            <a:extLst>
              <a:ext uri="{FF2B5EF4-FFF2-40B4-BE49-F238E27FC236}">
                <a16:creationId xmlns:a16="http://schemas.microsoft.com/office/drawing/2014/main" id="{C10E8D84-0FAD-0495-A54A-052DA62E0FC4}"/>
              </a:ext>
            </a:extLst>
          </p:cNvPr>
          <p:cNvGrpSpPr/>
          <p:nvPr/>
        </p:nvGrpSpPr>
        <p:grpSpPr>
          <a:xfrm>
            <a:off x="5181599" y="2338557"/>
            <a:ext cx="3567668" cy="3014934"/>
            <a:chOff x="5181599" y="2338557"/>
            <a:chExt cx="3567668" cy="3014934"/>
          </a:xfrm>
        </p:grpSpPr>
        <p:grpSp>
          <p:nvGrpSpPr>
            <p:cNvPr id="11" name="Group 10">
              <a:extLst>
                <a:ext uri="{FF2B5EF4-FFF2-40B4-BE49-F238E27FC236}">
                  <a16:creationId xmlns:a16="http://schemas.microsoft.com/office/drawing/2014/main" id="{AE29FF94-932F-99E0-EC33-B30357C17189}"/>
                </a:ext>
              </a:extLst>
            </p:cNvPr>
            <p:cNvGrpSpPr/>
            <p:nvPr/>
          </p:nvGrpSpPr>
          <p:grpSpPr>
            <a:xfrm>
              <a:off x="5181599" y="2338557"/>
              <a:ext cx="3562601" cy="2157243"/>
              <a:chOff x="3443345" y="3786606"/>
              <a:chExt cx="5700655" cy="3071394"/>
            </a:xfrm>
          </p:grpSpPr>
          <p:pic>
            <p:nvPicPr>
              <p:cNvPr id="12" name="Picture 6">
                <a:extLst>
                  <a:ext uri="{FF2B5EF4-FFF2-40B4-BE49-F238E27FC236}">
                    <a16:creationId xmlns:a16="http://schemas.microsoft.com/office/drawing/2014/main" id="{C47B5471-F4C2-5D4B-0E0B-3E432E733C1D}"/>
                  </a:ext>
                </a:extLst>
              </p:cNvPr>
              <p:cNvPicPr>
                <a:picLocks noChangeAspect="1" noChangeArrowheads="1"/>
              </p:cNvPicPr>
              <p:nvPr/>
            </p:nvPicPr>
            <p:blipFill>
              <a:blip r:embed="rId3" cstate="print"/>
              <a:srcRect/>
              <a:stretch>
                <a:fillRect/>
              </a:stretch>
            </p:blipFill>
            <p:spPr bwMode="auto">
              <a:xfrm>
                <a:off x="3443345" y="4142196"/>
                <a:ext cx="5700655" cy="2715804"/>
              </a:xfrm>
              <a:prstGeom prst="rect">
                <a:avLst/>
              </a:prstGeom>
              <a:noFill/>
              <a:ln w="9525">
                <a:noFill/>
                <a:miter lim="800000"/>
                <a:headEnd/>
                <a:tailEnd/>
              </a:ln>
            </p:spPr>
          </p:pic>
          <p:sp>
            <p:nvSpPr>
              <p:cNvPr id="18" name="Rectangle 17">
                <a:extLst>
                  <a:ext uri="{FF2B5EF4-FFF2-40B4-BE49-F238E27FC236}">
                    <a16:creationId xmlns:a16="http://schemas.microsoft.com/office/drawing/2014/main" id="{87E4871E-1C38-FE1D-0C87-EB6B7FBF36B9}"/>
                  </a:ext>
                </a:extLst>
              </p:cNvPr>
              <p:cNvSpPr/>
              <p:nvPr/>
            </p:nvSpPr>
            <p:spPr>
              <a:xfrm>
                <a:off x="5195945" y="6009235"/>
                <a:ext cx="2133600" cy="505736"/>
              </a:xfrm>
              <a:prstGeom prst="rect">
                <a:avLst/>
              </a:prstGeom>
              <a:noFill/>
              <a:ln w="38100" cap="flat" cmpd="sng" algn="ctr">
                <a:solidFill>
                  <a:schemeClr val="accent2"/>
                </a:solidFill>
                <a:prstDash val="solid"/>
                <a:round/>
                <a:headEnd type="none" w="med" len="med"/>
                <a:tailEnd type="none" w="med" len="med"/>
              </a:ln>
            </p:spPr>
            <p:style>
              <a:lnRef idx="0">
                <a:scrgbClr r="0" g="0" b="0"/>
              </a:lnRef>
              <a:fillRef idx="0">
                <a:scrgbClr r="0" g="0" b="0"/>
              </a:fillRef>
              <a:effectRef idx="0">
                <a:scrgbClr r="0" g="0" b="0"/>
              </a:effectRef>
              <a:fontRef idx="minor">
                <a:schemeClr val="accent2"/>
              </a:fontRef>
            </p:style>
            <p:txBody>
              <a:bodyPr rtlCol="0" anchor="ctr"/>
              <a:lstStyle/>
              <a:p>
                <a:pPr algn="ctr"/>
                <a:endParaRPr lang="en-US" sz="1200"/>
              </a:p>
            </p:txBody>
          </p:sp>
          <p:sp>
            <p:nvSpPr>
              <p:cNvPr id="19" name="TextBox 18">
                <a:extLst>
                  <a:ext uri="{FF2B5EF4-FFF2-40B4-BE49-F238E27FC236}">
                    <a16:creationId xmlns:a16="http://schemas.microsoft.com/office/drawing/2014/main" id="{AE270D5F-3798-5A7A-89E4-58DBA42598C4}"/>
                  </a:ext>
                </a:extLst>
              </p:cNvPr>
              <p:cNvSpPr txBox="1"/>
              <p:nvPr/>
            </p:nvSpPr>
            <p:spPr>
              <a:xfrm>
                <a:off x="5106831" y="3786606"/>
                <a:ext cx="1441955" cy="394380"/>
              </a:xfrm>
              <a:prstGeom prst="rect">
                <a:avLst/>
              </a:prstGeom>
              <a:noFill/>
            </p:spPr>
            <p:txBody>
              <a:bodyPr wrap="none" rtlCol="0">
                <a:spAutoFit/>
              </a:bodyPr>
              <a:lstStyle/>
              <a:p>
                <a:r>
                  <a:rPr lang="en-US" sz="1200" b="1" dirty="0">
                    <a:solidFill>
                      <a:schemeClr val="accent2">
                        <a:lumMod val="50000"/>
                      </a:schemeClr>
                    </a:solidFill>
                  </a:rPr>
                  <a:t>Initial state</a:t>
                </a:r>
              </a:p>
            </p:txBody>
          </p:sp>
          <p:sp>
            <p:nvSpPr>
              <p:cNvPr id="20" name="TextBox 19">
                <a:extLst>
                  <a:ext uri="{FF2B5EF4-FFF2-40B4-BE49-F238E27FC236}">
                    <a16:creationId xmlns:a16="http://schemas.microsoft.com/office/drawing/2014/main" id="{BDA9B98B-A967-CB14-C48B-C9D0922C3C05}"/>
                  </a:ext>
                </a:extLst>
              </p:cNvPr>
              <p:cNvSpPr txBox="1"/>
              <p:nvPr/>
            </p:nvSpPr>
            <p:spPr>
              <a:xfrm>
                <a:off x="3734781" y="6096000"/>
                <a:ext cx="1421435" cy="394380"/>
              </a:xfrm>
              <a:prstGeom prst="rect">
                <a:avLst/>
              </a:prstGeom>
              <a:noFill/>
            </p:spPr>
            <p:txBody>
              <a:bodyPr wrap="none" rtlCol="0">
                <a:spAutoFit/>
              </a:bodyPr>
              <a:lstStyle/>
              <a:p>
                <a:r>
                  <a:rPr lang="en-US" sz="1200" b="1" dirty="0">
                    <a:solidFill>
                      <a:schemeClr val="accent2">
                        <a:lumMod val="50000"/>
                      </a:schemeClr>
                    </a:solidFill>
                  </a:rPr>
                  <a:t>Goal states</a:t>
                </a:r>
              </a:p>
            </p:txBody>
          </p:sp>
        </p:grpSp>
        <p:grpSp>
          <p:nvGrpSpPr>
            <p:cNvPr id="10" name="Group 9">
              <a:extLst>
                <a:ext uri="{FF2B5EF4-FFF2-40B4-BE49-F238E27FC236}">
                  <a16:creationId xmlns:a16="http://schemas.microsoft.com/office/drawing/2014/main" id="{F9071931-E6F6-2B2B-4DA9-FA2DFE7BB502}"/>
                </a:ext>
              </a:extLst>
            </p:cNvPr>
            <p:cNvGrpSpPr/>
            <p:nvPr/>
          </p:nvGrpSpPr>
          <p:grpSpPr>
            <a:xfrm>
              <a:off x="5181599" y="3399665"/>
              <a:ext cx="182132" cy="123482"/>
              <a:chOff x="5181599" y="5334000"/>
              <a:chExt cx="182132" cy="123482"/>
            </a:xfrm>
          </p:grpSpPr>
          <p:cxnSp>
            <p:nvCxnSpPr>
              <p:cNvPr id="13" name="Straight Connector 12">
                <a:extLst>
                  <a:ext uri="{FF2B5EF4-FFF2-40B4-BE49-F238E27FC236}">
                    <a16:creationId xmlns:a16="http://schemas.microsoft.com/office/drawing/2014/main" id="{0520DEE8-820B-9138-3824-0492D719B883}"/>
                  </a:ext>
                </a:extLst>
              </p:cNvPr>
              <p:cNvCxnSpPr>
                <a:cxnSpLocks/>
              </p:cNvCxnSpPr>
              <p:nvPr/>
            </p:nvCxnSpPr>
            <p:spPr>
              <a:xfrm>
                <a:off x="5181599" y="5334000"/>
                <a:ext cx="182132" cy="123482"/>
              </a:xfrm>
              <a:prstGeom prst="line">
                <a:avLst/>
              </a:prstGeom>
              <a:ln w="28575">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14" name="Straight Connector 13">
                <a:extLst>
                  <a:ext uri="{FF2B5EF4-FFF2-40B4-BE49-F238E27FC236}">
                    <a16:creationId xmlns:a16="http://schemas.microsoft.com/office/drawing/2014/main" id="{70D7DF08-05DC-121F-892E-391C89359606}"/>
                  </a:ext>
                </a:extLst>
              </p:cNvPr>
              <p:cNvCxnSpPr>
                <a:cxnSpLocks/>
              </p:cNvCxnSpPr>
              <p:nvPr/>
            </p:nvCxnSpPr>
            <p:spPr>
              <a:xfrm flipV="1">
                <a:off x="5196295" y="5334000"/>
                <a:ext cx="167436" cy="123482"/>
              </a:xfrm>
              <a:prstGeom prst="line">
                <a:avLst/>
              </a:prstGeom>
              <a:ln w="28575">
                <a:solidFill>
                  <a:srgbClr val="FF0000"/>
                </a:solidFill>
              </a:ln>
            </p:spPr>
            <p:style>
              <a:lnRef idx="1">
                <a:schemeClr val="accent1"/>
              </a:lnRef>
              <a:fillRef idx="0">
                <a:schemeClr val="accent1"/>
              </a:fillRef>
              <a:effectRef idx="0">
                <a:schemeClr val="accent1"/>
              </a:effectRef>
              <a:fontRef idx="minor">
                <a:schemeClr val="tx1"/>
              </a:fontRef>
            </p:style>
          </p:cxnSp>
        </p:grpSp>
        <p:grpSp>
          <p:nvGrpSpPr>
            <p:cNvPr id="15" name="Group 14">
              <a:extLst>
                <a:ext uri="{FF2B5EF4-FFF2-40B4-BE49-F238E27FC236}">
                  <a16:creationId xmlns:a16="http://schemas.microsoft.com/office/drawing/2014/main" id="{FF714E15-2584-8522-4B42-115B95CE418A}"/>
                </a:ext>
              </a:extLst>
            </p:cNvPr>
            <p:cNvGrpSpPr/>
            <p:nvPr/>
          </p:nvGrpSpPr>
          <p:grpSpPr>
            <a:xfrm>
              <a:off x="5562600" y="3690744"/>
              <a:ext cx="182132" cy="123482"/>
              <a:chOff x="5181599" y="5334000"/>
              <a:chExt cx="182132" cy="123482"/>
            </a:xfrm>
          </p:grpSpPr>
          <p:cxnSp>
            <p:nvCxnSpPr>
              <p:cNvPr id="16" name="Straight Connector 15">
                <a:extLst>
                  <a:ext uri="{FF2B5EF4-FFF2-40B4-BE49-F238E27FC236}">
                    <a16:creationId xmlns:a16="http://schemas.microsoft.com/office/drawing/2014/main" id="{4D0D9C5C-E908-FBBE-5FE4-D1AD47ACA5DF}"/>
                  </a:ext>
                </a:extLst>
              </p:cNvPr>
              <p:cNvCxnSpPr>
                <a:cxnSpLocks/>
              </p:cNvCxnSpPr>
              <p:nvPr/>
            </p:nvCxnSpPr>
            <p:spPr>
              <a:xfrm>
                <a:off x="5181599" y="5334000"/>
                <a:ext cx="182132" cy="123482"/>
              </a:xfrm>
              <a:prstGeom prst="line">
                <a:avLst/>
              </a:prstGeom>
              <a:ln w="28575">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17" name="Straight Connector 16">
                <a:extLst>
                  <a:ext uri="{FF2B5EF4-FFF2-40B4-BE49-F238E27FC236}">
                    <a16:creationId xmlns:a16="http://schemas.microsoft.com/office/drawing/2014/main" id="{05EF4051-09C9-E4F3-84F6-C3BA2012D5F8}"/>
                  </a:ext>
                </a:extLst>
              </p:cNvPr>
              <p:cNvCxnSpPr>
                <a:cxnSpLocks/>
              </p:cNvCxnSpPr>
              <p:nvPr/>
            </p:nvCxnSpPr>
            <p:spPr>
              <a:xfrm flipV="1">
                <a:off x="5196295" y="5334000"/>
                <a:ext cx="167436" cy="123482"/>
              </a:xfrm>
              <a:prstGeom prst="line">
                <a:avLst/>
              </a:prstGeom>
              <a:ln w="28575">
                <a:solidFill>
                  <a:srgbClr val="FF0000"/>
                </a:solidFill>
              </a:ln>
            </p:spPr>
            <p:style>
              <a:lnRef idx="1">
                <a:schemeClr val="accent1"/>
              </a:lnRef>
              <a:fillRef idx="0">
                <a:schemeClr val="accent1"/>
              </a:fillRef>
              <a:effectRef idx="0">
                <a:schemeClr val="accent1"/>
              </a:effectRef>
              <a:fontRef idx="minor">
                <a:schemeClr val="tx1"/>
              </a:fontRef>
            </p:style>
          </p:cxnSp>
        </p:grpSp>
        <p:grpSp>
          <p:nvGrpSpPr>
            <p:cNvPr id="22" name="Group 21">
              <a:extLst>
                <a:ext uri="{FF2B5EF4-FFF2-40B4-BE49-F238E27FC236}">
                  <a16:creationId xmlns:a16="http://schemas.microsoft.com/office/drawing/2014/main" id="{AB39F4FC-C5D3-FB2D-0B99-9A28625966F1}"/>
                </a:ext>
              </a:extLst>
            </p:cNvPr>
            <p:cNvGrpSpPr/>
            <p:nvPr/>
          </p:nvGrpSpPr>
          <p:grpSpPr>
            <a:xfrm>
              <a:off x="5939414" y="3495502"/>
              <a:ext cx="182132" cy="123482"/>
              <a:chOff x="5181599" y="5334000"/>
              <a:chExt cx="182132" cy="123482"/>
            </a:xfrm>
          </p:grpSpPr>
          <p:cxnSp>
            <p:nvCxnSpPr>
              <p:cNvPr id="23" name="Straight Connector 22">
                <a:extLst>
                  <a:ext uri="{FF2B5EF4-FFF2-40B4-BE49-F238E27FC236}">
                    <a16:creationId xmlns:a16="http://schemas.microsoft.com/office/drawing/2014/main" id="{C4AAF4BF-7456-7C41-C70A-46AE7193D663}"/>
                  </a:ext>
                </a:extLst>
              </p:cNvPr>
              <p:cNvCxnSpPr>
                <a:cxnSpLocks/>
              </p:cNvCxnSpPr>
              <p:nvPr/>
            </p:nvCxnSpPr>
            <p:spPr>
              <a:xfrm>
                <a:off x="5181599" y="5334000"/>
                <a:ext cx="182132" cy="123482"/>
              </a:xfrm>
              <a:prstGeom prst="line">
                <a:avLst/>
              </a:prstGeom>
              <a:ln w="28575">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24" name="Straight Connector 23">
                <a:extLst>
                  <a:ext uri="{FF2B5EF4-FFF2-40B4-BE49-F238E27FC236}">
                    <a16:creationId xmlns:a16="http://schemas.microsoft.com/office/drawing/2014/main" id="{E57E059E-7C28-19A5-5973-CD131EC15EBD}"/>
                  </a:ext>
                </a:extLst>
              </p:cNvPr>
              <p:cNvCxnSpPr>
                <a:cxnSpLocks/>
              </p:cNvCxnSpPr>
              <p:nvPr/>
            </p:nvCxnSpPr>
            <p:spPr>
              <a:xfrm flipV="1">
                <a:off x="5196295" y="5334000"/>
                <a:ext cx="167436" cy="123482"/>
              </a:xfrm>
              <a:prstGeom prst="line">
                <a:avLst/>
              </a:prstGeom>
              <a:ln w="28575">
                <a:solidFill>
                  <a:srgbClr val="FF0000"/>
                </a:solidFill>
              </a:ln>
            </p:spPr>
            <p:style>
              <a:lnRef idx="1">
                <a:schemeClr val="accent1"/>
              </a:lnRef>
              <a:fillRef idx="0">
                <a:schemeClr val="accent1"/>
              </a:fillRef>
              <a:effectRef idx="0">
                <a:schemeClr val="accent1"/>
              </a:effectRef>
              <a:fontRef idx="minor">
                <a:schemeClr val="tx1"/>
              </a:fontRef>
            </p:style>
          </p:cxnSp>
        </p:grpSp>
        <p:grpSp>
          <p:nvGrpSpPr>
            <p:cNvPr id="25" name="Group 24">
              <a:extLst>
                <a:ext uri="{FF2B5EF4-FFF2-40B4-BE49-F238E27FC236}">
                  <a16:creationId xmlns:a16="http://schemas.microsoft.com/office/drawing/2014/main" id="{7BE17529-99B4-3826-7E09-21D4D48F0871}"/>
                </a:ext>
              </a:extLst>
            </p:cNvPr>
            <p:cNvGrpSpPr/>
            <p:nvPr/>
          </p:nvGrpSpPr>
          <p:grpSpPr>
            <a:xfrm>
              <a:off x="6057064" y="2699499"/>
              <a:ext cx="182132" cy="123482"/>
              <a:chOff x="5181599" y="5334000"/>
              <a:chExt cx="182132" cy="123482"/>
            </a:xfrm>
          </p:grpSpPr>
          <p:cxnSp>
            <p:nvCxnSpPr>
              <p:cNvPr id="26" name="Straight Connector 25">
                <a:extLst>
                  <a:ext uri="{FF2B5EF4-FFF2-40B4-BE49-F238E27FC236}">
                    <a16:creationId xmlns:a16="http://schemas.microsoft.com/office/drawing/2014/main" id="{1C9A758F-EA69-BFDF-1EA7-E4C6E80F1854}"/>
                  </a:ext>
                </a:extLst>
              </p:cNvPr>
              <p:cNvCxnSpPr>
                <a:cxnSpLocks/>
              </p:cNvCxnSpPr>
              <p:nvPr/>
            </p:nvCxnSpPr>
            <p:spPr>
              <a:xfrm>
                <a:off x="5181599" y="5334000"/>
                <a:ext cx="182132" cy="123482"/>
              </a:xfrm>
              <a:prstGeom prst="line">
                <a:avLst/>
              </a:prstGeom>
              <a:ln w="28575">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27" name="Straight Connector 26">
                <a:extLst>
                  <a:ext uri="{FF2B5EF4-FFF2-40B4-BE49-F238E27FC236}">
                    <a16:creationId xmlns:a16="http://schemas.microsoft.com/office/drawing/2014/main" id="{272B1AD5-5495-09D6-B0B5-09E324361957}"/>
                  </a:ext>
                </a:extLst>
              </p:cNvPr>
              <p:cNvCxnSpPr>
                <a:cxnSpLocks/>
              </p:cNvCxnSpPr>
              <p:nvPr/>
            </p:nvCxnSpPr>
            <p:spPr>
              <a:xfrm flipV="1">
                <a:off x="5196295" y="5334000"/>
                <a:ext cx="167436" cy="123482"/>
              </a:xfrm>
              <a:prstGeom prst="line">
                <a:avLst/>
              </a:prstGeom>
              <a:ln w="28575">
                <a:solidFill>
                  <a:srgbClr val="FF0000"/>
                </a:solidFill>
              </a:ln>
            </p:spPr>
            <p:style>
              <a:lnRef idx="1">
                <a:schemeClr val="accent1"/>
              </a:lnRef>
              <a:fillRef idx="0">
                <a:schemeClr val="accent1"/>
              </a:fillRef>
              <a:effectRef idx="0">
                <a:schemeClr val="accent1"/>
              </a:effectRef>
              <a:fontRef idx="minor">
                <a:schemeClr val="tx1"/>
              </a:fontRef>
            </p:style>
          </p:cxnSp>
        </p:grpSp>
        <p:grpSp>
          <p:nvGrpSpPr>
            <p:cNvPr id="29" name="Group 28">
              <a:extLst>
                <a:ext uri="{FF2B5EF4-FFF2-40B4-BE49-F238E27FC236}">
                  <a16:creationId xmlns:a16="http://schemas.microsoft.com/office/drawing/2014/main" id="{1C72B7C6-941C-5B5E-F373-759589115E7E}"/>
                </a:ext>
              </a:extLst>
            </p:cNvPr>
            <p:cNvGrpSpPr/>
            <p:nvPr/>
          </p:nvGrpSpPr>
          <p:grpSpPr>
            <a:xfrm>
              <a:off x="7610264" y="2696858"/>
              <a:ext cx="182132" cy="123482"/>
              <a:chOff x="5181599" y="5334000"/>
              <a:chExt cx="182132" cy="123482"/>
            </a:xfrm>
          </p:grpSpPr>
          <p:cxnSp>
            <p:nvCxnSpPr>
              <p:cNvPr id="30" name="Straight Connector 29">
                <a:extLst>
                  <a:ext uri="{FF2B5EF4-FFF2-40B4-BE49-F238E27FC236}">
                    <a16:creationId xmlns:a16="http://schemas.microsoft.com/office/drawing/2014/main" id="{AEF5FCE8-9747-34E1-1009-45BA4D2397C4}"/>
                  </a:ext>
                </a:extLst>
              </p:cNvPr>
              <p:cNvCxnSpPr>
                <a:cxnSpLocks/>
              </p:cNvCxnSpPr>
              <p:nvPr/>
            </p:nvCxnSpPr>
            <p:spPr>
              <a:xfrm>
                <a:off x="5181599" y="5334000"/>
                <a:ext cx="182132" cy="123482"/>
              </a:xfrm>
              <a:prstGeom prst="line">
                <a:avLst/>
              </a:prstGeom>
              <a:ln w="28575">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31" name="Straight Connector 30">
                <a:extLst>
                  <a:ext uri="{FF2B5EF4-FFF2-40B4-BE49-F238E27FC236}">
                    <a16:creationId xmlns:a16="http://schemas.microsoft.com/office/drawing/2014/main" id="{B40A9039-E22E-CEFF-A656-43C5229EC2EA}"/>
                  </a:ext>
                </a:extLst>
              </p:cNvPr>
              <p:cNvCxnSpPr>
                <a:cxnSpLocks/>
              </p:cNvCxnSpPr>
              <p:nvPr/>
            </p:nvCxnSpPr>
            <p:spPr>
              <a:xfrm flipV="1">
                <a:off x="5196295" y="5334000"/>
                <a:ext cx="167436" cy="123482"/>
              </a:xfrm>
              <a:prstGeom prst="line">
                <a:avLst/>
              </a:prstGeom>
              <a:ln w="28575">
                <a:solidFill>
                  <a:srgbClr val="FF0000"/>
                </a:solidFill>
              </a:ln>
            </p:spPr>
            <p:style>
              <a:lnRef idx="1">
                <a:schemeClr val="accent1"/>
              </a:lnRef>
              <a:fillRef idx="0">
                <a:schemeClr val="accent1"/>
              </a:fillRef>
              <a:effectRef idx="0">
                <a:schemeClr val="accent1"/>
              </a:effectRef>
              <a:fontRef idx="minor">
                <a:schemeClr val="tx1"/>
              </a:fontRef>
            </p:style>
          </p:cxnSp>
        </p:grpSp>
        <p:grpSp>
          <p:nvGrpSpPr>
            <p:cNvPr id="32" name="Group 31">
              <a:extLst>
                <a:ext uri="{FF2B5EF4-FFF2-40B4-BE49-F238E27FC236}">
                  <a16:creationId xmlns:a16="http://schemas.microsoft.com/office/drawing/2014/main" id="{604E6577-F173-4039-352D-CD4789B2CE2E}"/>
                </a:ext>
              </a:extLst>
            </p:cNvPr>
            <p:cNvGrpSpPr/>
            <p:nvPr/>
          </p:nvGrpSpPr>
          <p:grpSpPr>
            <a:xfrm>
              <a:off x="6852505" y="2834862"/>
              <a:ext cx="182132" cy="123482"/>
              <a:chOff x="5181599" y="5334000"/>
              <a:chExt cx="182132" cy="123482"/>
            </a:xfrm>
          </p:grpSpPr>
          <p:cxnSp>
            <p:nvCxnSpPr>
              <p:cNvPr id="33" name="Straight Connector 32">
                <a:extLst>
                  <a:ext uri="{FF2B5EF4-FFF2-40B4-BE49-F238E27FC236}">
                    <a16:creationId xmlns:a16="http://schemas.microsoft.com/office/drawing/2014/main" id="{60FD4308-76DA-3B04-F012-4EC4E5EA145D}"/>
                  </a:ext>
                </a:extLst>
              </p:cNvPr>
              <p:cNvCxnSpPr>
                <a:cxnSpLocks/>
              </p:cNvCxnSpPr>
              <p:nvPr/>
            </p:nvCxnSpPr>
            <p:spPr>
              <a:xfrm>
                <a:off x="5181599" y="5334000"/>
                <a:ext cx="182132" cy="123482"/>
              </a:xfrm>
              <a:prstGeom prst="line">
                <a:avLst/>
              </a:prstGeom>
              <a:ln w="28575">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34" name="Straight Connector 33">
                <a:extLst>
                  <a:ext uri="{FF2B5EF4-FFF2-40B4-BE49-F238E27FC236}">
                    <a16:creationId xmlns:a16="http://schemas.microsoft.com/office/drawing/2014/main" id="{826B1C40-EC99-F685-A449-370F82714101}"/>
                  </a:ext>
                </a:extLst>
              </p:cNvPr>
              <p:cNvCxnSpPr>
                <a:cxnSpLocks/>
              </p:cNvCxnSpPr>
              <p:nvPr/>
            </p:nvCxnSpPr>
            <p:spPr>
              <a:xfrm flipV="1">
                <a:off x="5196295" y="5334000"/>
                <a:ext cx="167436" cy="123482"/>
              </a:xfrm>
              <a:prstGeom prst="line">
                <a:avLst/>
              </a:prstGeom>
              <a:ln w="28575">
                <a:solidFill>
                  <a:srgbClr val="FF0000"/>
                </a:solidFill>
              </a:ln>
            </p:spPr>
            <p:style>
              <a:lnRef idx="1">
                <a:schemeClr val="accent1"/>
              </a:lnRef>
              <a:fillRef idx="0">
                <a:schemeClr val="accent1"/>
              </a:fillRef>
              <a:effectRef idx="0">
                <a:schemeClr val="accent1"/>
              </a:effectRef>
              <a:fontRef idx="minor">
                <a:schemeClr val="tx1"/>
              </a:fontRef>
            </p:style>
          </p:cxnSp>
        </p:grpSp>
        <p:grpSp>
          <p:nvGrpSpPr>
            <p:cNvPr id="35" name="Group 34">
              <a:extLst>
                <a:ext uri="{FF2B5EF4-FFF2-40B4-BE49-F238E27FC236}">
                  <a16:creationId xmlns:a16="http://schemas.microsoft.com/office/drawing/2014/main" id="{7DBC0261-E705-F48B-9A73-C12A7A2BE24C}"/>
                </a:ext>
              </a:extLst>
            </p:cNvPr>
            <p:cNvGrpSpPr/>
            <p:nvPr/>
          </p:nvGrpSpPr>
          <p:grpSpPr>
            <a:xfrm>
              <a:off x="6741918" y="3343991"/>
              <a:ext cx="182132" cy="123482"/>
              <a:chOff x="5181599" y="5334000"/>
              <a:chExt cx="182132" cy="123482"/>
            </a:xfrm>
          </p:grpSpPr>
          <p:cxnSp>
            <p:nvCxnSpPr>
              <p:cNvPr id="36" name="Straight Connector 35">
                <a:extLst>
                  <a:ext uri="{FF2B5EF4-FFF2-40B4-BE49-F238E27FC236}">
                    <a16:creationId xmlns:a16="http://schemas.microsoft.com/office/drawing/2014/main" id="{3CA1F50E-0B54-24AB-299A-8DF15E6C5590}"/>
                  </a:ext>
                </a:extLst>
              </p:cNvPr>
              <p:cNvCxnSpPr>
                <a:cxnSpLocks/>
              </p:cNvCxnSpPr>
              <p:nvPr/>
            </p:nvCxnSpPr>
            <p:spPr>
              <a:xfrm>
                <a:off x="5181599" y="5334000"/>
                <a:ext cx="182132" cy="123482"/>
              </a:xfrm>
              <a:prstGeom prst="line">
                <a:avLst/>
              </a:prstGeom>
              <a:ln w="28575">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37" name="Straight Connector 36">
                <a:extLst>
                  <a:ext uri="{FF2B5EF4-FFF2-40B4-BE49-F238E27FC236}">
                    <a16:creationId xmlns:a16="http://schemas.microsoft.com/office/drawing/2014/main" id="{3F64BF14-8443-D1DB-7531-915EE872AEB6}"/>
                  </a:ext>
                </a:extLst>
              </p:cNvPr>
              <p:cNvCxnSpPr>
                <a:cxnSpLocks/>
              </p:cNvCxnSpPr>
              <p:nvPr/>
            </p:nvCxnSpPr>
            <p:spPr>
              <a:xfrm flipV="1">
                <a:off x="5196295" y="5334000"/>
                <a:ext cx="167436" cy="123482"/>
              </a:xfrm>
              <a:prstGeom prst="line">
                <a:avLst/>
              </a:prstGeom>
              <a:ln w="28575">
                <a:solidFill>
                  <a:srgbClr val="FF0000"/>
                </a:solidFill>
              </a:ln>
            </p:spPr>
            <p:style>
              <a:lnRef idx="1">
                <a:schemeClr val="accent1"/>
              </a:lnRef>
              <a:fillRef idx="0">
                <a:schemeClr val="accent1"/>
              </a:fillRef>
              <a:effectRef idx="0">
                <a:schemeClr val="accent1"/>
              </a:effectRef>
              <a:fontRef idx="minor">
                <a:schemeClr val="tx1"/>
              </a:fontRef>
            </p:style>
          </p:cxnSp>
        </p:grpSp>
        <p:grpSp>
          <p:nvGrpSpPr>
            <p:cNvPr id="38" name="Group 37">
              <a:extLst>
                <a:ext uri="{FF2B5EF4-FFF2-40B4-BE49-F238E27FC236}">
                  <a16:creationId xmlns:a16="http://schemas.microsoft.com/office/drawing/2014/main" id="{8B7923D2-BA24-B979-6AC0-1E159E7058FF}"/>
                </a:ext>
              </a:extLst>
            </p:cNvPr>
            <p:cNvGrpSpPr/>
            <p:nvPr/>
          </p:nvGrpSpPr>
          <p:grpSpPr>
            <a:xfrm>
              <a:off x="6840332" y="4134167"/>
              <a:ext cx="182132" cy="123482"/>
              <a:chOff x="5181599" y="5334000"/>
              <a:chExt cx="182132" cy="123482"/>
            </a:xfrm>
          </p:grpSpPr>
          <p:cxnSp>
            <p:nvCxnSpPr>
              <p:cNvPr id="39" name="Straight Connector 38">
                <a:extLst>
                  <a:ext uri="{FF2B5EF4-FFF2-40B4-BE49-F238E27FC236}">
                    <a16:creationId xmlns:a16="http://schemas.microsoft.com/office/drawing/2014/main" id="{F9851111-FDF6-3092-B410-F060B59951E1}"/>
                  </a:ext>
                </a:extLst>
              </p:cNvPr>
              <p:cNvCxnSpPr>
                <a:cxnSpLocks/>
              </p:cNvCxnSpPr>
              <p:nvPr/>
            </p:nvCxnSpPr>
            <p:spPr>
              <a:xfrm>
                <a:off x="5181599" y="5334000"/>
                <a:ext cx="182132" cy="123482"/>
              </a:xfrm>
              <a:prstGeom prst="line">
                <a:avLst/>
              </a:prstGeom>
              <a:ln w="28575">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40" name="Straight Connector 39">
                <a:extLst>
                  <a:ext uri="{FF2B5EF4-FFF2-40B4-BE49-F238E27FC236}">
                    <a16:creationId xmlns:a16="http://schemas.microsoft.com/office/drawing/2014/main" id="{228EA79D-3B09-C43E-04EC-635C11B74ECE}"/>
                  </a:ext>
                </a:extLst>
              </p:cNvPr>
              <p:cNvCxnSpPr>
                <a:cxnSpLocks/>
              </p:cNvCxnSpPr>
              <p:nvPr/>
            </p:nvCxnSpPr>
            <p:spPr>
              <a:xfrm flipV="1">
                <a:off x="5196295" y="5334000"/>
                <a:ext cx="167436" cy="123482"/>
              </a:xfrm>
              <a:prstGeom prst="line">
                <a:avLst/>
              </a:prstGeom>
              <a:ln w="28575">
                <a:solidFill>
                  <a:srgbClr val="FF0000"/>
                </a:solidFill>
              </a:ln>
            </p:spPr>
            <p:style>
              <a:lnRef idx="1">
                <a:schemeClr val="accent1"/>
              </a:lnRef>
              <a:fillRef idx="0">
                <a:schemeClr val="accent1"/>
              </a:fillRef>
              <a:effectRef idx="0">
                <a:schemeClr val="accent1"/>
              </a:effectRef>
              <a:fontRef idx="minor">
                <a:schemeClr val="tx1"/>
              </a:fontRef>
            </p:style>
          </p:cxnSp>
        </p:grpSp>
        <p:grpSp>
          <p:nvGrpSpPr>
            <p:cNvPr id="41" name="Group 40">
              <a:extLst>
                <a:ext uri="{FF2B5EF4-FFF2-40B4-BE49-F238E27FC236}">
                  <a16:creationId xmlns:a16="http://schemas.microsoft.com/office/drawing/2014/main" id="{04A91DE8-1CED-A037-9776-AB5910E213C9}"/>
                </a:ext>
              </a:extLst>
            </p:cNvPr>
            <p:cNvGrpSpPr/>
            <p:nvPr/>
          </p:nvGrpSpPr>
          <p:grpSpPr>
            <a:xfrm>
              <a:off x="6064412" y="3973210"/>
              <a:ext cx="182132" cy="123482"/>
              <a:chOff x="5181599" y="5334000"/>
              <a:chExt cx="182132" cy="123482"/>
            </a:xfrm>
          </p:grpSpPr>
          <p:cxnSp>
            <p:nvCxnSpPr>
              <p:cNvPr id="42" name="Straight Connector 41">
                <a:extLst>
                  <a:ext uri="{FF2B5EF4-FFF2-40B4-BE49-F238E27FC236}">
                    <a16:creationId xmlns:a16="http://schemas.microsoft.com/office/drawing/2014/main" id="{019CFA8E-8913-A568-B5D5-862A8973422A}"/>
                  </a:ext>
                </a:extLst>
              </p:cNvPr>
              <p:cNvCxnSpPr>
                <a:cxnSpLocks/>
              </p:cNvCxnSpPr>
              <p:nvPr/>
            </p:nvCxnSpPr>
            <p:spPr>
              <a:xfrm>
                <a:off x="5181599" y="5334000"/>
                <a:ext cx="182132" cy="123482"/>
              </a:xfrm>
              <a:prstGeom prst="line">
                <a:avLst/>
              </a:prstGeom>
              <a:ln w="28575">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43" name="Straight Connector 42">
                <a:extLst>
                  <a:ext uri="{FF2B5EF4-FFF2-40B4-BE49-F238E27FC236}">
                    <a16:creationId xmlns:a16="http://schemas.microsoft.com/office/drawing/2014/main" id="{FB9A8AD6-641C-1626-82FD-87274E239D64}"/>
                  </a:ext>
                </a:extLst>
              </p:cNvPr>
              <p:cNvCxnSpPr>
                <a:cxnSpLocks/>
              </p:cNvCxnSpPr>
              <p:nvPr/>
            </p:nvCxnSpPr>
            <p:spPr>
              <a:xfrm flipV="1">
                <a:off x="5196295" y="5334000"/>
                <a:ext cx="167436" cy="123482"/>
              </a:xfrm>
              <a:prstGeom prst="line">
                <a:avLst/>
              </a:prstGeom>
              <a:ln w="28575">
                <a:solidFill>
                  <a:srgbClr val="FF0000"/>
                </a:solidFill>
              </a:ln>
            </p:spPr>
            <p:style>
              <a:lnRef idx="1">
                <a:schemeClr val="accent1"/>
              </a:lnRef>
              <a:fillRef idx="0">
                <a:schemeClr val="accent1"/>
              </a:fillRef>
              <a:effectRef idx="0">
                <a:schemeClr val="accent1"/>
              </a:effectRef>
              <a:fontRef idx="minor">
                <a:schemeClr val="tx1"/>
              </a:fontRef>
            </p:style>
          </p:cxnSp>
        </p:grpSp>
        <p:grpSp>
          <p:nvGrpSpPr>
            <p:cNvPr id="44" name="Group 43">
              <a:extLst>
                <a:ext uri="{FF2B5EF4-FFF2-40B4-BE49-F238E27FC236}">
                  <a16:creationId xmlns:a16="http://schemas.microsoft.com/office/drawing/2014/main" id="{A110F7E9-F068-1486-532F-4B64D5CB9C5A}"/>
                </a:ext>
              </a:extLst>
            </p:cNvPr>
            <p:cNvGrpSpPr/>
            <p:nvPr/>
          </p:nvGrpSpPr>
          <p:grpSpPr>
            <a:xfrm>
              <a:off x="6489628" y="4358564"/>
              <a:ext cx="182132" cy="123482"/>
              <a:chOff x="5181599" y="5334000"/>
              <a:chExt cx="182132" cy="123482"/>
            </a:xfrm>
          </p:grpSpPr>
          <p:cxnSp>
            <p:nvCxnSpPr>
              <p:cNvPr id="45" name="Straight Connector 44">
                <a:extLst>
                  <a:ext uri="{FF2B5EF4-FFF2-40B4-BE49-F238E27FC236}">
                    <a16:creationId xmlns:a16="http://schemas.microsoft.com/office/drawing/2014/main" id="{56F297E9-C499-B1E5-BBB0-AD5EB74EFFBF}"/>
                  </a:ext>
                </a:extLst>
              </p:cNvPr>
              <p:cNvCxnSpPr>
                <a:cxnSpLocks/>
              </p:cNvCxnSpPr>
              <p:nvPr/>
            </p:nvCxnSpPr>
            <p:spPr>
              <a:xfrm>
                <a:off x="5181599" y="5334000"/>
                <a:ext cx="182132" cy="123482"/>
              </a:xfrm>
              <a:prstGeom prst="line">
                <a:avLst/>
              </a:prstGeom>
              <a:ln w="28575">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46" name="Straight Connector 45">
                <a:extLst>
                  <a:ext uri="{FF2B5EF4-FFF2-40B4-BE49-F238E27FC236}">
                    <a16:creationId xmlns:a16="http://schemas.microsoft.com/office/drawing/2014/main" id="{73BC6450-C4F3-5422-ED8D-D85BFAF711E6}"/>
                  </a:ext>
                </a:extLst>
              </p:cNvPr>
              <p:cNvCxnSpPr>
                <a:cxnSpLocks/>
              </p:cNvCxnSpPr>
              <p:nvPr/>
            </p:nvCxnSpPr>
            <p:spPr>
              <a:xfrm flipV="1">
                <a:off x="5196295" y="5334000"/>
                <a:ext cx="167436" cy="123482"/>
              </a:xfrm>
              <a:prstGeom prst="line">
                <a:avLst/>
              </a:prstGeom>
              <a:ln w="28575">
                <a:solidFill>
                  <a:srgbClr val="FF0000"/>
                </a:solidFill>
              </a:ln>
            </p:spPr>
            <p:style>
              <a:lnRef idx="1">
                <a:schemeClr val="accent1"/>
              </a:lnRef>
              <a:fillRef idx="0">
                <a:schemeClr val="accent1"/>
              </a:fillRef>
              <a:effectRef idx="0">
                <a:schemeClr val="accent1"/>
              </a:effectRef>
              <a:fontRef idx="minor">
                <a:schemeClr val="tx1"/>
              </a:fontRef>
            </p:style>
          </p:cxnSp>
        </p:grpSp>
        <p:grpSp>
          <p:nvGrpSpPr>
            <p:cNvPr id="47" name="Group 46">
              <a:extLst>
                <a:ext uri="{FF2B5EF4-FFF2-40B4-BE49-F238E27FC236}">
                  <a16:creationId xmlns:a16="http://schemas.microsoft.com/office/drawing/2014/main" id="{D58D15D4-AE25-EC50-59E3-5F308DFFA993}"/>
                </a:ext>
              </a:extLst>
            </p:cNvPr>
            <p:cNvGrpSpPr/>
            <p:nvPr/>
          </p:nvGrpSpPr>
          <p:grpSpPr>
            <a:xfrm>
              <a:off x="7174252" y="4352610"/>
              <a:ext cx="182132" cy="123482"/>
              <a:chOff x="5181599" y="5334000"/>
              <a:chExt cx="182132" cy="123482"/>
            </a:xfrm>
          </p:grpSpPr>
          <p:cxnSp>
            <p:nvCxnSpPr>
              <p:cNvPr id="48" name="Straight Connector 47">
                <a:extLst>
                  <a:ext uri="{FF2B5EF4-FFF2-40B4-BE49-F238E27FC236}">
                    <a16:creationId xmlns:a16="http://schemas.microsoft.com/office/drawing/2014/main" id="{EFB2786D-1A47-1F08-364F-4AC4E0CBE32F}"/>
                  </a:ext>
                </a:extLst>
              </p:cNvPr>
              <p:cNvCxnSpPr>
                <a:cxnSpLocks/>
              </p:cNvCxnSpPr>
              <p:nvPr/>
            </p:nvCxnSpPr>
            <p:spPr>
              <a:xfrm>
                <a:off x="5181599" y="5334000"/>
                <a:ext cx="182132" cy="123482"/>
              </a:xfrm>
              <a:prstGeom prst="line">
                <a:avLst/>
              </a:prstGeom>
              <a:ln w="28575">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49" name="Straight Connector 48">
                <a:extLst>
                  <a:ext uri="{FF2B5EF4-FFF2-40B4-BE49-F238E27FC236}">
                    <a16:creationId xmlns:a16="http://schemas.microsoft.com/office/drawing/2014/main" id="{8DAEFECC-73EC-3D2D-2DEB-01E1CBC0F837}"/>
                  </a:ext>
                </a:extLst>
              </p:cNvPr>
              <p:cNvCxnSpPr>
                <a:cxnSpLocks/>
              </p:cNvCxnSpPr>
              <p:nvPr/>
            </p:nvCxnSpPr>
            <p:spPr>
              <a:xfrm flipV="1">
                <a:off x="5196295" y="5334000"/>
                <a:ext cx="167436" cy="123482"/>
              </a:xfrm>
              <a:prstGeom prst="line">
                <a:avLst/>
              </a:prstGeom>
              <a:ln w="28575">
                <a:solidFill>
                  <a:srgbClr val="FF0000"/>
                </a:solidFill>
              </a:ln>
            </p:spPr>
            <p:style>
              <a:lnRef idx="1">
                <a:schemeClr val="accent1"/>
              </a:lnRef>
              <a:fillRef idx="0">
                <a:schemeClr val="accent1"/>
              </a:fillRef>
              <a:effectRef idx="0">
                <a:schemeClr val="accent1"/>
              </a:effectRef>
              <a:fontRef idx="minor">
                <a:schemeClr val="tx1"/>
              </a:fontRef>
            </p:style>
          </p:cxnSp>
        </p:grpSp>
        <p:grpSp>
          <p:nvGrpSpPr>
            <p:cNvPr id="50" name="Group 49">
              <a:extLst>
                <a:ext uri="{FF2B5EF4-FFF2-40B4-BE49-F238E27FC236}">
                  <a16:creationId xmlns:a16="http://schemas.microsoft.com/office/drawing/2014/main" id="{5A600175-9CDF-FB2D-0DA6-6D2C7B2BACD2}"/>
                </a:ext>
              </a:extLst>
            </p:cNvPr>
            <p:cNvGrpSpPr/>
            <p:nvPr/>
          </p:nvGrpSpPr>
          <p:grpSpPr>
            <a:xfrm>
              <a:off x="7617612" y="4048732"/>
              <a:ext cx="182132" cy="123482"/>
              <a:chOff x="5181599" y="5334000"/>
              <a:chExt cx="182132" cy="123482"/>
            </a:xfrm>
          </p:grpSpPr>
          <p:cxnSp>
            <p:nvCxnSpPr>
              <p:cNvPr id="51" name="Straight Connector 50">
                <a:extLst>
                  <a:ext uri="{FF2B5EF4-FFF2-40B4-BE49-F238E27FC236}">
                    <a16:creationId xmlns:a16="http://schemas.microsoft.com/office/drawing/2014/main" id="{AACB5DC4-49D5-9F63-3A6E-9F24EACC0346}"/>
                  </a:ext>
                </a:extLst>
              </p:cNvPr>
              <p:cNvCxnSpPr>
                <a:cxnSpLocks/>
              </p:cNvCxnSpPr>
              <p:nvPr/>
            </p:nvCxnSpPr>
            <p:spPr>
              <a:xfrm>
                <a:off x="5181599" y="5334000"/>
                <a:ext cx="182132" cy="123482"/>
              </a:xfrm>
              <a:prstGeom prst="line">
                <a:avLst/>
              </a:prstGeom>
              <a:ln w="28575">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52" name="Straight Connector 51">
                <a:extLst>
                  <a:ext uri="{FF2B5EF4-FFF2-40B4-BE49-F238E27FC236}">
                    <a16:creationId xmlns:a16="http://schemas.microsoft.com/office/drawing/2014/main" id="{E176933F-CC53-5910-A1FA-ED9CB5619047}"/>
                  </a:ext>
                </a:extLst>
              </p:cNvPr>
              <p:cNvCxnSpPr>
                <a:cxnSpLocks/>
              </p:cNvCxnSpPr>
              <p:nvPr/>
            </p:nvCxnSpPr>
            <p:spPr>
              <a:xfrm flipV="1">
                <a:off x="5196295" y="5334000"/>
                <a:ext cx="167436" cy="123482"/>
              </a:xfrm>
              <a:prstGeom prst="line">
                <a:avLst/>
              </a:prstGeom>
              <a:ln w="28575">
                <a:solidFill>
                  <a:srgbClr val="FF0000"/>
                </a:solidFill>
              </a:ln>
            </p:spPr>
            <p:style>
              <a:lnRef idx="1">
                <a:schemeClr val="accent1"/>
              </a:lnRef>
              <a:fillRef idx="0">
                <a:schemeClr val="accent1"/>
              </a:fillRef>
              <a:effectRef idx="0">
                <a:schemeClr val="accent1"/>
              </a:effectRef>
              <a:fontRef idx="minor">
                <a:schemeClr val="tx1"/>
              </a:fontRef>
            </p:style>
          </p:cxnSp>
        </p:grpSp>
        <p:grpSp>
          <p:nvGrpSpPr>
            <p:cNvPr id="53" name="Group 52">
              <a:extLst>
                <a:ext uri="{FF2B5EF4-FFF2-40B4-BE49-F238E27FC236}">
                  <a16:creationId xmlns:a16="http://schemas.microsoft.com/office/drawing/2014/main" id="{4E5E1984-45E0-E7C7-97B9-FE43B72D8CDD}"/>
                </a:ext>
              </a:extLst>
            </p:cNvPr>
            <p:cNvGrpSpPr/>
            <p:nvPr/>
          </p:nvGrpSpPr>
          <p:grpSpPr>
            <a:xfrm>
              <a:off x="7006816" y="3367259"/>
              <a:ext cx="182132" cy="123482"/>
              <a:chOff x="5181599" y="5334000"/>
              <a:chExt cx="182132" cy="123482"/>
            </a:xfrm>
          </p:grpSpPr>
          <p:cxnSp>
            <p:nvCxnSpPr>
              <p:cNvPr id="54" name="Straight Connector 53">
                <a:extLst>
                  <a:ext uri="{FF2B5EF4-FFF2-40B4-BE49-F238E27FC236}">
                    <a16:creationId xmlns:a16="http://schemas.microsoft.com/office/drawing/2014/main" id="{1AB36DF1-FA9F-9FEF-078E-2E704EBE9BCC}"/>
                  </a:ext>
                </a:extLst>
              </p:cNvPr>
              <p:cNvCxnSpPr>
                <a:cxnSpLocks/>
              </p:cNvCxnSpPr>
              <p:nvPr/>
            </p:nvCxnSpPr>
            <p:spPr>
              <a:xfrm>
                <a:off x="5181599" y="5334000"/>
                <a:ext cx="182132" cy="123482"/>
              </a:xfrm>
              <a:prstGeom prst="line">
                <a:avLst/>
              </a:prstGeom>
              <a:ln w="28575">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55" name="Straight Connector 54">
                <a:extLst>
                  <a:ext uri="{FF2B5EF4-FFF2-40B4-BE49-F238E27FC236}">
                    <a16:creationId xmlns:a16="http://schemas.microsoft.com/office/drawing/2014/main" id="{F93F4E56-422F-F34D-0FFD-9D17D13A17D2}"/>
                  </a:ext>
                </a:extLst>
              </p:cNvPr>
              <p:cNvCxnSpPr>
                <a:cxnSpLocks/>
              </p:cNvCxnSpPr>
              <p:nvPr/>
            </p:nvCxnSpPr>
            <p:spPr>
              <a:xfrm flipV="1">
                <a:off x="5196295" y="5334000"/>
                <a:ext cx="167436" cy="123482"/>
              </a:xfrm>
              <a:prstGeom prst="line">
                <a:avLst/>
              </a:prstGeom>
              <a:ln w="28575">
                <a:solidFill>
                  <a:srgbClr val="FF0000"/>
                </a:solidFill>
              </a:ln>
            </p:spPr>
            <p:style>
              <a:lnRef idx="1">
                <a:schemeClr val="accent1"/>
              </a:lnRef>
              <a:fillRef idx="0">
                <a:schemeClr val="accent1"/>
              </a:fillRef>
              <a:effectRef idx="0">
                <a:schemeClr val="accent1"/>
              </a:effectRef>
              <a:fontRef idx="minor">
                <a:schemeClr val="tx1"/>
              </a:fontRef>
            </p:style>
          </p:cxnSp>
        </p:grpSp>
        <p:grpSp>
          <p:nvGrpSpPr>
            <p:cNvPr id="56" name="Group 55">
              <a:extLst>
                <a:ext uri="{FF2B5EF4-FFF2-40B4-BE49-F238E27FC236}">
                  <a16:creationId xmlns:a16="http://schemas.microsoft.com/office/drawing/2014/main" id="{E8005E11-D4BF-B362-FA7D-E4B48B69D32A}"/>
                </a:ext>
              </a:extLst>
            </p:cNvPr>
            <p:cNvGrpSpPr/>
            <p:nvPr/>
          </p:nvGrpSpPr>
          <p:grpSpPr>
            <a:xfrm>
              <a:off x="7756813" y="3276183"/>
              <a:ext cx="182132" cy="123482"/>
              <a:chOff x="5181599" y="5334000"/>
              <a:chExt cx="182132" cy="123482"/>
            </a:xfrm>
          </p:grpSpPr>
          <p:cxnSp>
            <p:nvCxnSpPr>
              <p:cNvPr id="57" name="Straight Connector 56">
                <a:extLst>
                  <a:ext uri="{FF2B5EF4-FFF2-40B4-BE49-F238E27FC236}">
                    <a16:creationId xmlns:a16="http://schemas.microsoft.com/office/drawing/2014/main" id="{F7478B4E-0F16-C92C-2C0D-3296A8F994BA}"/>
                  </a:ext>
                </a:extLst>
              </p:cNvPr>
              <p:cNvCxnSpPr>
                <a:cxnSpLocks/>
              </p:cNvCxnSpPr>
              <p:nvPr/>
            </p:nvCxnSpPr>
            <p:spPr>
              <a:xfrm>
                <a:off x="5181599" y="5334000"/>
                <a:ext cx="182132" cy="123482"/>
              </a:xfrm>
              <a:prstGeom prst="line">
                <a:avLst/>
              </a:prstGeom>
              <a:ln w="28575">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58" name="Straight Connector 57">
                <a:extLst>
                  <a:ext uri="{FF2B5EF4-FFF2-40B4-BE49-F238E27FC236}">
                    <a16:creationId xmlns:a16="http://schemas.microsoft.com/office/drawing/2014/main" id="{DC67B589-5422-B1F8-8177-477692F967A1}"/>
                  </a:ext>
                </a:extLst>
              </p:cNvPr>
              <p:cNvCxnSpPr>
                <a:cxnSpLocks/>
              </p:cNvCxnSpPr>
              <p:nvPr/>
            </p:nvCxnSpPr>
            <p:spPr>
              <a:xfrm flipV="1">
                <a:off x="5196295" y="5334000"/>
                <a:ext cx="167436" cy="123482"/>
              </a:xfrm>
              <a:prstGeom prst="line">
                <a:avLst/>
              </a:prstGeom>
              <a:ln w="28575">
                <a:solidFill>
                  <a:srgbClr val="FF0000"/>
                </a:solidFill>
              </a:ln>
            </p:spPr>
            <p:style>
              <a:lnRef idx="1">
                <a:schemeClr val="accent1"/>
              </a:lnRef>
              <a:fillRef idx="0">
                <a:schemeClr val="accent1"/>
              </a:fillRef>
              <a:effectRef idx="0">
                <a:schemeClr val="accent1"/>
              </a:effectRef>
              <a:fontRef idx="minor">
                <a:schemeClr val="tx1"/>
              </a:fontRef>
            </p:style>
          </p:cxnSp>
        </p:grpSp>
        <p:grpSp>
          <p:nvGrpSpPr>
            <p:cNvPr id="59" name="Group 58">
              <a:extLst>
                <a:ext uri="{FF2B5EF4-FFF2-40B4-BE49-F238E27FC236}">
                  <a16:creationId xmlns:a16="http://schemas.microsoft.com/office/drawing/2014/main" id="{18DF0A0C-6FE4-351D-6041-18975DFC73C2}"/>
                </a:ext>
              </a:extLst>
            </p:cNvPr>
            <p:cNvGrpSpPr/>
            <p:nvPr/>
          </p:nvGrpSpPr>
          <p:grpSpPr>
            <a:xfrm>
              <a:off x="8153400" y="3680777"/>
              <a:ext cx="182132" cy="123482"/>
              <a:chOff x="5181599" y="5334000"/>
              <a:chExt cx="182132" cy="123482"/>
            </a:xfrm>
          </p:grpSpPr>
          <p:cxnSp>
            <p:nvCxnSpPr>
              <p:cNvPr id="60" name="Straight Connector 59">
                <a:extLst>
                  <a:ext uri="{FF2B5EF4-FFF2-40B4-BE49-F238E27FC236}">
                    <a16:creationId xmlns:a16="http://schemas.microsoft.com/office/drawing/2014/main" id="{6CC60B0C-111C-CABA-6ADB-D64F992A9133}"/>
                  </a:ext>
                </a:extLst>
              </p:cNvPr>
              <p:cNvCxnSpPr>
                <a:cxnSpLocks/>
              </p:cNvCxnSpPr>
              <p:nvPr/>
            </p:nvCxnSpPr>
            <p:spPr>
              <a:xfrm>
                <a:off x="5181599" y="5334000"/>
                <a:ext cx="182132" cy="123482"/>
              </a:xfrm>
              <a:prstGeom prst="line">
                <a:avLst/>
              </a:prstGeom>
              <a:ln w="28575">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61" name="Straight Connector 60">
                <a:extLst>
                  <a:ext uri="{FF2B5EF4-FFF2-40B4-BE49-F238E27FC236}">
                    <a16:creationId xmlns:a16="http://schemas.microsoft.com/office/drawing/2014/main" id="{53EF6937-7839-33D8-65EB-685D707D5C84}"/>
                  </a:ext>
                </a:extLst>
              </p:cNvPr>
              <p:cNvCxnSpPr>
                <a:cxnSpLocks/>
              </p:cNvCxnSpPr>
              <p:nvPr/>
            </p:nvCxnSpPr>
            <p:spPr>
              <a:xfrm flipV="1">
                <a:off x="5196295" y="5334000"/>
                <a:ext cx="167436" cy="123482"/>
              </a:xfrm>
              <a:prstGeom prst="line">
                <a:avLst/>
              </a:prstGeom>
              <a:ln w="28575">
                <a:solidFill>
                  <a:srgbClr val="FF0000"/>
                </a:solidFill>
              </a:ln>
            </p:spPr>
            <p:style>
              <a:lnRef idx="1">
                <a:schemeClr val="accent1"/>
              </a:lnRef>
              <a:fillRef idx="0">
                <a:schemeClr val="accent1"/>
              </a:fillRef>
              <a:effectRef idx="0">
                <a:schemeClr val="accent1"/>
              </a:effectRef>
              <a:fontRef idx="minor">
                <a:schemeClr val="tx1"/>
              </a:fontRef>
            </p:style>
          </p:cxnSp>
        </p:grpSp>
        <p:grpSp>
          <p:nvGrpSpPr>
            <p:cNvPr id="62" name="Group 61">
              <a:extLst>
                <a:ext uri="{FF2B5EF4-FFF2-40B4-BE49-F238E27FC236}">
                  <a16:creationId xmlns:a16="http://schemas.microsoft.com/office/drawing/2014/main" id="{4A95027F-B001-2F1F-BDA0-09ABAE40CFCD}"/>
                </a:ext>
              </a:extLst>
            </p:cNvPr>
            <p:cNvGrpSpPr/>
            <p:nvPr/>
          </p:nvGrpSpPr>
          <p:grpSpPr>
            <a:xfrm>
              <a:off x="5333999" y="3552065"/>
              <a:ext cx="182132" cy="123482"/>
              <a:chOff x="5181599" y="5334000"/>
              <a:chExt cx="182132" cy="123482"/>
            </a:xfrm>
          </p:grpSpPr>
          <p:cxnSp>
            <p:nvCxnSpPr>
              <p:cNvPr id="63" name="Straight Connector 62">
                <a:extLst>
                  <a:ext uri="{FF2B5EF4-FFF2-40B4-BE49-F238E27FC236}">
                    <a16:creationId xmlns:a16="http://schemas.microsoft.com/office/drawing/2014/main" id="{E5D27ED5-C9DB-DBF9-D090-24DEFF96CC7D}"/>
                  </a:ext>
                </a:extLst>
              </p:cNvPr>
              <p:cNvCxnSpPr>
                <a:cxnSpLocks/>
              </p:cNvCxnSpPr>
              <p:nvPr/>
            </p:nvCxnSpPr>
            <p:spPr>
              <a:xfrm>
                <a:off x="5181599" y="5334000"/>
                <a:ext cx="182132" cy="123482"/>
              </a:xfrm>
              <a:prstGeom prst="line">
                <a:avLst/>
              </a:prstGeom>
              <a:ln w="28575">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64" name="Straight Connector 63">
                <a:extLst>
                  <a:ext uri="{FF2B5EF4-FFF2-40B4-BE49-F238E27FC236}">
                    <a16:creationId xmlns:a16="http://schemas.microsoft.com/office/drawing/2014/main" id="{25F13766-1DFC-71C2-3425-E154DF0EF795}"/>
                  </a:ext>
                </a:extLst>
              </p:cNvPr>
              <p:cNvCxnSpPr>
                <a:cxnSpLocks/>
              </p:cNvCxnSpPr>
              <p:nvPr/>
            </p:nvCxnSpPr>
            <p:spPr>
              <a:xfrm flipV="1">
                <a:off x="5196295" y="5334000"/>
                <a:ext cx="167436" cy="123482"/>
              </a:xfrm>
              <a:prstGeom prst="line">
                <a:avLst/>
              </a:prstGeom>
              <a:ln w="28575">
                <a:solidFill>
                  <a:srgbClr val="FF0000"/>
                </a:solidFill>
              </a:ln>
            </p:spPr>
            <p:style>
              <a:lnRef idx="1">
                <a:schemeClr val="accent1"/>
              </a:lnRef>
              <a:fillRef idx="0">
                <a:schemeClr val="accent1"/>
              </a:fillRef>
              <a:effectRef idx="0">
                <a:schemeClr val="accent1"/>
              </a:effectRef>
              <a:fontRef idx="minor">
                <a:schemeClr val="tx1"/>
              </a:fontRef>
            </p:style>
          </p:cxnSp>
        </p:grpSp>
        <p:grpSp>
          <p:nvGrpSpPr>
            <p:cNvPr id="65" name="Group 64">
              <a:extLst>
                <a:ext uri="{FF2B5EF4-FFF2-40B4-BE49-F238E27FC236}">
                  <a16:creationId xmlns:a16="http://schemas.microsoft.com/office/drawing/2014/main" id="{94700605-5C5C-07CE-BDCE-0B5EA1A964B8}"/>
                </a:ext>
              </a:extLst>
            </p:cNvPr>
            <p:cNvGrpSpPr/>
            <p:nvPr/>
          </p:nvGrpSpPr>
          <p:grpSpPr>
            <a:xfrm>
              <a:off x="8567135" y="3367259"/>
              <a:ext cx="182132" cy="123482"/>
              <a:chOff x="5181599" y="5334000"/>
              <a:chExt cx="182132" cy="123482"/>
            </a:xfrm>
          </p:grpSpPr>
          <p:cxnSp>
            <p:nvCxnSpPr>
              <p:cNvPr id="66" name="Straight Connector 65">
                <a:extLst>
                  <a:ext uri="{FF2B5EF4-FFF2-40B4-BE49-F238E27FC236}">
                    <a16:creationId xmlns:a16="http://schemas.microsoft.com/office/drawing/2014/main" id="{4BB5293E-8BC6-3A11-1DD9-21ED1F6E4813}"/>
                  </a:ext>
                </a:extLst>
              </p:cNvPr>
              <p:cNvCxnSpPr>
                <a:cxnSpLocks/>
              </p:cNvCxnSpPr>
              <p:nvPr/>
            </p:nvCxnSpPr>
            <p:spPr>
              <a:xfrm>
                <a:off x="5181599" y="5334000"/>
                <a:ext cx="182132" cy="123482"/>
              </a:xfrm>
              <a:prstGeom prst="line">
                <a:avLst/>
              </a:prstGeom>
              <a:ln w="28575">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67" name="Straight Connector 66">
                <a:extLst>
                  <a:ext uri="{FF2B5EF4-FFF2-40B4-BE49-F238E27FC236}">
                    <a16:creationId xmlns:a16="http://schemas.microsoft.com/office/drawing/2014/main" id="{E5277931-B4EA-353C-77C9-E838F4E19262}"/>
                  </a:ext>
                </a:extLst>
              </p:cNvPr>
              <p:cNvCxnSpPr>
                <a:cxnSpLocks/>
              </p:cNvCxnSpPr>
              <p:nvPr/>
            </p:nvCxnSpPr>
            <p:spPr>
              <a:xfrm flipV="1">
                <a:off x="5196295" y="5334000"/>
                <a:ext cx="167436" cy="123482"/>
              </a:xfrm>
              <a:prstGeom prst="line">
                <a:avLst/>
              </a:prstGeom>
              <a:ln w="28575">
                <a:solidFill>
                  <a:srgbClr val="FF0000"/>
                </a:solidFill>
              </a:ln>
            </p:spPr>
            <p:style>
              <a:lnRef idx="1">
                <a:schemeClr val="accent1"/>
              </a:lnRef>
              <a:fillRef idx="0">
                <a:schemeClr val="accent1"/>
              </a:fillRef>
              <a:effectRef idx="0">
                <a:schemeClr val="accent1"/>
              </a:effectRef>
              <a:fontRef idx="minor">
                <a:schemeClr val="tx1"/>
              </a:fontRef>
            </p:style>
          </p:cxnSp>
        </p:grpSp>
        <p:sp>
          <p:nvSpPr>
            <p:cNvPr id="71" name="TextBox 70">
              <a:extLst>
                <a:ext uri="{FF2B5EF4-FFF2-40B4-BE49-F238E27FC236}">
                  <a16:creationId xmlns:a16="http://schemas.microsoft.com/office/drawing/2014/main" id="{7CA8F96E-3336-83F2-B92D-381B9F9B8E5C}"/>
                </a:ext>
              </a:extLst>
            </p:cNvPr>
            <p:cNvSpPr txBox="1"/>
            <p:nvPr/>
          </p:nvSpPr>
          <p:spPr>
            <a:xfrm>
              <a:off x="6327258" y="5045714"/>
              <a:ext cx="2254573" cy="307777"/>
            </a:xfrm>
            <a:prstGeom prst="rect">
              <a:avLst/>
            </a:prstGeom>
            <a:noFill/>
          </p:spPr>
          <p:txBody>
            <a:bodyPr wrap="square" rtlCol="0">
              <a:spAutoFit/>
            </a:bodyPr>
            <a:lstStyle/>
            <a:p>
              <a:r>
                <a:rPr lang="en-US" sz="1400" dirty="0"/>
                <a:t>Make sure it has no cycles!</a:t>
              </a:r>
            </a:p>
          </p:txBody>
        </p:sp>
      </p:grpSp>
      <p:cxnSp>
        <p:nvCxnSpPr>
          <p:cNvPr id="73" name="Straight Connector 72">
            <a:extLst>
              <a:ext uri="{FF2B5EF4-FFF2-40B4-BE49-F238E27FC236}">
                <a16:creationId xmlns:a16="http://schemas.microsoft.com/office/drawing/2014/main" id="{34E007F6-EFC9-1BE6-2862-AB0E2BF38AAD}"/>
              </a:ext>
            </a:extLst>
          </p:cNvPr>
          <p:cNvCxnSpPr>
            <a:cxnSpLocks/>
          </p:cNvCxnSpPr>
          <p:nvPr/>
        </p:nvCxnSpPr>
        <p:spPr>
          <a:xfrm>
            <a:off x="6130122" y="5134439"/>
            <a:ext cx="182132" cy="123482"/>
          </a:xfrm>
          <a:prstGeom prst="line">
            <a:avLst/>
          </a:prstGeom>
          <a:ln w="28575">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74" name="Straight Connector 73">
            <a:extLst>
              <a:ext uri="{FF2B5EF4-FFF2-40B4-BE49-F238E27FC236}">
                <a16:creationId xmlns:a16="http://schemas.microsoft.com/office/drawing/2014/main" id="{B6070B08-D6FB-01C5-A703-DBBBC5CCBBEC}"/>
              </a:ext>
            </a:extLst>
          </p:cNvPr>
          <p:cNvCxnSpPr>
            <a:cxnSpLocks/>
          </p:cNvCxnSpPr>
          <p:nvPr/>
        </p:nvCxnSpPr>
        <p:spPr>
          <a:xfrm flipV="1">
            <a:off x="6144818" y="5134439"/>
            <a:ext cx="167436" cy="123482"/>
          </a:xfrm>
          <a:prstGeom prst="line">
            <a:avLst/>
          </a:prstGeom>
          <a:ln w="28575">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75" name="Straight Connector 74">
            <a:extLst>
              <a:ext uri="{FF2B5EF4-FFF2-40B4-BE49-F238E27FC236}">
                <a16:creationId xmlns:a16="http://schemas.microsoft.com/office/drawing/2014/main" id="{65B3088D-F5DE-A85D-F249-0099FD80A317}"/>
              </a:ext>
            </a:extLst>
          </p:cNvPr>
          <p:cNvCxnSpPr>
            <a:cxnSpLocks/>
          </p:cNvCxnSpPr>
          <p:nvPr/>
        </p:nvCxnSpPr>
        <p:spPr>
          <a:xfrm>
            <a:off x="6865877" y="3925250"/>
            <a:ext cx="182132" cy="123482"/>
          </a:xfrm>
          <a:prstGeom prst="line">
            <a:avLst/>
          </a:prstGeom>
          <a:ln w="28575">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76" name="Straight Connector 75">
            <a:extLst>
              <a:ext uri="{FF2B5EF4-FFF2-40B4-BE49-F238E27FC236}">
                <a16:creationId xmlns:a16="http://schemas.microsoft.com/office/drawing/2014/main" id="{8FDFA5FC-69F8-9CBF-2459-3F6B7F81DD4C}"/>
              </a:ext>
            </a:extLst>
          </p:cNvPr>
          <p:cNvCxnSpPr>
            <a:cxnSpLocks/>
          </p:cNvCxnSpPr>
          <p:nvPr/>
        </p:nvCxnSpPr>
        <p:spPr>
          <a:xfrm flipV="1">
            <a:off x="6880573" y="3925250"/>
            <a:ext cx="167436" cy="123482"/>
          </a:xfrm>
          <a:prstGeom prst="line">
            <a:avLst/>
          </a:prstGeom>
          <a:ln w="28575">
            <a:solidFill>
              <a:srgbClr val="FF0000"/>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4346837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1">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21">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21">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21">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21">
                                            <p:txEl>
                                              <p:pRg st="4" end="4"/>
                                            </p:txEl>
                                          </p:spTgt>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21">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1" grpId="0" uiExpand="1" build="p"/>
    </p:bldLst>
  </p:timing>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032" name="Picture 8" descr="MAZE. In Black and White.&quot; Art Board Print by TOMSREDBUBBLE | Redbubble">
            <a:extLst>
              <a:ext uri="{FF2B5EF4-FFF2-40B4-BE49-F238E27FC236}">
                <a16:creationId xmlns:a16="http://schemas.microsoft.com/office/drawing/2014/main" id="{2571153B-B059-4858-BF01-466BDD0CE4B3}"/>
              </a:ext>
            </a:extLst>
          </p:cNvPr>
          <p:cNvPicPr>
            <a:picLocks noChangeAspect="1" noChangeArrowheads="1"/>
          </p:cNvPicPr>
          <p:nvPr/>
        </p:nvPicPr>
        <p:blipFill rotWithShape="1">
          <a:blip r:embed="rId2" cstate="print">
            <a:extLst>
              <a:ext uri="{28A0092B-C50C-407E-A947-70E740481C1C}">
                <a14:useLocalDpi xmlns:a14="http://schemas.microsoft.com/office/drawing/2010/main" val="0"/>
              </a:ext>
            </a:extLst>
          </a:blip>
          <a:srcRect t="13335" b="12480"/>
          <a:stretch/>
        </p:blipFill>
        <p:spPr bwMode="auto">
          <a:xfrm>
            <a:off x="914400" y="2133600"/>
            <a:ext cx="1778794" cy="1758554"/>
          </a:xfrm>
          <a:prstGeom prst="rect">
            <a:avLst/>
          </a:prstGeom>
          <a:extLst>
            <a:ext uri="{909E8E84-426E-40DD-AFC4-6F175D3DCCD1}">
              <a14:hiddenFill xmlns:a14="http://schemas.microsoft.com/office/drawing/2010/main">
                <a:solidFill>
                  <a:srgbClr val="FFFFFF"/>
                </a:solidFill>
              </a14:hiddenFill>
            </a:ext>
          </a:extLst>
        </p:spPr>
      </p:pic>
      <p:sp>
        <p:nvSpPr>
          <p:cNvPr id="8" name="Rectangle 7">
            <a:extLst>
              <a:ext uri="{FF2B5EF4-FFF2-40B4-BE49-F238E27FC236}">
                <a16:creationId xmlns:a16="http://schemas.microsoft.com/office/drawing/2014/main" id="{B08B44E6-866D-4A5E-AFB3-D9DCA58C75D3}"/>
              </a:ext>
            </a:extLst>
          </p:cNvPr>
          <p:cNvSpPr/>
          <p:nvPr/>
        </p:nvSpPr>
        <p:spPr>
          <a:xfrm>
            <a:off x="914400" y="3908908"/>
            <a:ext cx="1778794" cy="351235"/>
          </a:xfrm>
          <a:prstGeom prst="rect">
            <a:avLst/>
          </a:prstGeom>
          <a:solidFill>
            <a:srgbClr val="000000">
              <a:alpha val="50000"/>
            </a:srgbClr>
          </a:solidFill>
          <a:ln>
            <a:noFill/>
          </a:ln>
        </p:spPr>
        <p:txBody>
          <a:bodyPr wrap="square" anchor="ctr">
            <a:noAutofit/>
          </a:bodyPr>
          <a:lstStyle/>
          <a:p>
            <a:pPr algn="ctr">
              <a:spcAft>
                <a:spcPts val="450"/>
              </a:spcAft>
            </a:pPr>
            <a:r>
              <a:rPr lang="en-US" sz="1200">
                <a:solidFill>
                  <a:srgbClr val="FFFFFF"/>
                </a:solidFill>
              </a:rPr>
              <a:t>Maze</a:t>
            </a:r>
          </a:p>
        </p:txBody>
      </p:sp>
      <p:pic>
        <p:nvPicPr>
          <p:cNvPr id="1028" name="Picture 4" descr="The eight queens puzzle in Python | Solarian Programmer">
            <a:extLst>
              <a:ext uri="{FF2B5EF4-FFF2-40B4-BE49-F238E27FC236}">
                <a16:creationId xmlns:a16="http://schemas.microsoft.com/office/drawing/2014/main" id="{9FC19A06-CBF6-4819-B189-F9D337D6FC14}"/>
              </a:ext>
            </a:extLst>
          </p:cNvPr>
          <p:cNvPicPr>
            <a:picLocks noChangeAspect="1" noChangeArrowheads="1"/>
          </p:cNvPicPr>
          <p:nvPr/>
        </p:nvPicPr>
        <p:blipFill>
          <a:blip r:embed="rId3">
            <a:extLst>
              <a:ext uri="{28A0092B-C50C-407E-A947-70E740481C1C}">
                <a14:useLocalDpi xmlns:a14="http://schemas.microsoft.com/office/drawing/2010/main" val="0"/>
              </a:ext>
            </a:extLst>
          </a:blip>
          <a:stretch>
            <a:fillRect/>
          </a:stretch>
        </p:blipFill>
        <p:spPr bwMode="auto">
          <a:xfrm>
            <a:off x="2743200" y="2133600"/>
            <a:ext cx="1759744" cy="1758554"/>
          </a:xfrm>
          <a:prstGeom prst="rect">
            <a:avLst/>
          </a:prstGeom>
          <a:extLst>
            <a:ext uri="{909E8E84-426E-40DD-AFC4-6F175D3DCCD1}">
              <a14:hiddenFill xmlns:a14="http://schemas.microsoft.com/office/drawing/2010/main">
                <a:solidFill>
                  <a:srgbClr val="FFFFFF"/>
                </a:solidFill>
              </a14:hiddenFill>
            </a:ext>
          </a:extLst>
        </p:spPr>
      </p:pic>
      <p:sp>
        <p:nvSpPr>
          <p:cNvPr id="7" name="Rectangle 6">
            <a:extLst>
              <a:ext uri="{FF2B5EF4-FFF2-40B4-BE49-F238E27FC236}">
                <a16:creationId xmlns:a16="http://schemas.microsoft.com/office/drawing/2014/main" id="{14677E2A-E997-42CC-B03B-6B72B6934E54}"/>
              </a:ext>
            </a:extLst>
          </p:cNvPr>
          <p:cNvSpPr/>
          <p:nvPr/>
        </p:nvSpPr>
        <p:spPr>
          <a:xfrm>
            <a:off x="2743200" y="3908908"/>
            <a:ext cx="1759744" cy="351235"/>
          </a:xfrm>
          <a:prstGeom prst="rect">
            <a:avLst/>
          </a:prstGeom>
          <a:solidFill>
            <a:srgbClr val="000000">
              <a:alpha val="50000"/>
            </a:srgbClr>
          </a:solidFill>
          <a:ln>
            <a:noFill/>
          </a:ln>
        </p:spPr>
        <p:txBody>
          <a:bodyPr wrap="square" anchor="ctr">
            <a:noAutofit/>
          </a:bodyPr>
          <a:lstStyle/>
          <a:p>
            <a:pPr algn="ctr">
              <a:spcAft>
                <a:spcPts val="450"/>
              </a:spcAft>
            </a:pPr>
            <a:r>
              <a:rPr lang="en-US" sz="1200" dirty="0">
                <a:solidFill>
                  <a:srgbClr val="FFFFFF"/>
                </a:solidFill>
              </a:rPr>
              <a:t>8-queens problem</a:t>
            </a:r>
          </a:p>
        </p:txBody>
      </p:sp>
      <p:pic>
        <p:nvPicPr>
          <p:cNvPr id="1026" name="Picture 2">
            <a:extLst>
              <a:ext uri="{FF2B5EF4-FFF2-40B4-BE49-F238E27FC236}">
                <a16:creationId xmlns:a16="http://schemas.microsoft.com/office/drawing/2014/main" id="{BEECF329-1304-4A9B-905D-61E6EC19569A}"/>
              </a:ext>
            </a:extLst>
          </p:cNvPr>
          <p:cNvPicPr>
            <a:picLocks noChangeAspect="1" noChangeArrowheads="1"/>
          </p:cNvPicPr>
          <p:nvPr/>
        </p:nvPicPr>
        <p:blipFill rotWithShape="1">
          <a:blip r:embed="rId4">
            <a:extLst>
              <a:ext uri="{28A0092B-C50C-407E-A947-70E740481C1C}">
                <a14:useLocalDpi xmlns:a14="http://schemas.microsoft.com/office/drawing/2010/main" val="0"/>
              </a:ext>
            </a:extLst>
          </a:blip>
          <a:srcRect r="54439"/>
          <a:stretch/>
        </p:blipFill>
        <p:spPr bwMode="auto">
          <a:xfrm>
            <a:off x="4554139" y="2133600"/>
            <a:ext cx="1872854" cy="1758554"/>
          </a:xfrm>
          <a:prstGeom prst="rect">
            <a:avLst/>
          </a:prstGeom>
          <a:extLst>
            <a:ext uri="{909E8E84-426E-40DD-AFC4-6F175D3DCCD1}">
              <a14:hiddenFill xmlns:a14="http://schemas.microsoft.com/office/drawing/2010/main">
                <a:solidFill>
                  <a:srgbClr val="FFFFFF"/>
                </a:solidFill>
              </a14:hiddenFill>
            </a:ext>
          </a:extLst>
        </p:spPr>
      </p:pic>
      <p:sp>
        <p:nvSpPr>
          <p:cNvPr id="5" name="Rectangle 4">
            <a:extLst>
              <a:ext uri="{FF2B5EF4-FFF2-40B4-BE49-F238E27FC236}">
                <a16:creationId xmlns:a16="http://schemas.microsoft.com/office/drawing/2014/main" id="{C6680FC1-2E9B-4D1E-BE6C-BA13EF788FB4}"/>
              </a:ext>
            </a:extLst>
          </p:cNvPr>
          <p:cNvSpPr/>
          <p:nvPr/>
        </p:nvSpPr>
        <p:spPr>
          <a:xfrm>
            <a:off x="4554139" y="3908908"/>
            <a:ext cx="1872854" cy="351235"/>
          </a:xfrm>
          <a:prstGeom prst="rect">
            <a:avLst/>
          </a:prstGeom>
          <a:solidFill>
            <a:srgbClr val="000000">
              <a:alpha val="50000"/>
            </a:srgbClr>
          </a:solidFill>
          <a:ln>
            <a:noFill/>
          </a:ln>
        </p:spPr>
        <p:txBody>
          <a:bodyPr wrap="square" anchor="ctr">
            <a:noAutofit/>
          </a:bodyPr>
          <a:lstStyle/>
          <a:p>
            <a:pPr algn="ctr">
              <a:spcAft>
                <a:spcPts val="450"/>
              </a:spcAft>
            </a:pPr>
            <a:r>
              <a:rPr lang="en-US" sz="1200" dirty="0">
                <a:solidFill>
                  <a:srgbClr val="FFFFFF"/>
                </a:solidFill>
              </a:rPr>
              <a:t>8-puzzle problem</a:t>
            </a:r>
          </a:p>
        </p:txBody>
      </p:sp>
      <p:pic>
        <p:nvPicPr>
          <p:cNvPr id="1030" name="Picture 6" descr="Tic-tac-toe - Wikipedia">
            <a:extLst>
              <a:ext uri="{FF2B5EF4-FFF2-40B4-BE49-F238E27FC236}">
                <a16:creationId xmlns:a16="http://schemas.microsoft.com/office/drawing/2014/main" id="{C8966331-BED0-4CC1-988D-8EF4F768252A}"/>
              </a:ext>
            </a:extLst>
          </p:cNvPr>
          <p:cNvPicPr>
            <a:picLocks noChangeAspect="1" noChangeArrowheads="1"/>
          </p:cNvPicPr>
          <p:nvPr/>
        </p:nvPicPr>
        <p:blipFill>
          <a:blip r:embed="rId5" cstate="print">
            <a:biLevel thresh="25000"/>
            <a:extLst>
              <a:ext uri="{BEBA8EAE-BF5A-486C-A8C5-ECC9F3942E4B}">
                <a14:imgProps xmlns:a14="http://schemas.microsoft.com/office/drawing/2010/main">
                  <a14:imgLayer r:embed="rId6">
                    <a14:imgEffect>
                      <a14:saturation sat="33000"/>
                    </a14:imgEffect>
                  </a14:imgLayer>
                </a14:imgProps>
              </a:ext>
              <a:ext uri="{28A0092B-C50C-407E-A947-70E740481C1C}">
                <a14:useLocalDpi xmlns:a14="http://schemas.microsoft.com/office/drawing/2010/main" val="0"/>
              </a:ext>
            </a:extLst>
          </a:blip>
          <a:stretch>
            <a:fillRect/>
          </a:stretch>
        </p:blipFill>
        <p:spPr bwMode="auto">
          <a:xfrm>
            <a:off x="6479381" y="2133600"/>
            <a:ext cx="1983581" cy="1758554"/>
          </a:xfrm>
          <a:prstGeom prst="rect">
            <a:avLst/>
          </a:prstGeom>
          <a:extLst>
            <a:ext uri="{909E8E84-426E-40DD-AFC4-6F175D3DCCD1}">
              <a14:hiddenFill xmlns:a14="http://schemas.microsoft.com/office/drawing/2010/main">
                <a:solidFill>
                  <a:srgbClr val="FFFFFF"/>
                </a:solidFill>
              </a14:hiddenFill>
            </a:ext>
          </a:extLst>
        </p:spPr>
      </p:pic>
      <p:sp>
        <p:nvSpPr>
          <p:cNvPr id="6" name="Rectangle 5">
            <a:extLst>
              <a:ext uri="{FF2B5EF4-FFF2-40B4-BE49-F238E27FC236}">
                <a16:creationId xmlns:a16="http://schemas.microsoft.com/office/drawing/2014/main" id="{02506F6E-739D-46C1-AF74-95E930538CAD}"/>
              </a:ext>
            </a:extLst>
          </p:cNvPr>
          <p:cNvSpPr/>
          <p:nvPr/>
        </p:nvSpPr>
        <p:spPr>
          <a:xfrm>
            <a:off x="6479381" y="3908908"/>
            <a:ext cx="1983581" cy="351235"/>
          </a:xfrm>
          <a:prstGeom prst="rect">
            <a:avLst/>
          </a:prstGeom>
          <a:solidFill>
            <a:srgbClr val="000000">
              <a:alpha val="50000"/>
            </a:srgbClr>
          </a:solidFill>
          <a:ln>
            <a:noFill/>
          </a:ln>
        </p:spPr>
        <p:txBody>
          <a:bodyPr wrap="square" anchor="ctr">
            <a:noAutofit/>
          </a:bodyPr>
          <a:lstStyle/>
          <a:p>
            <a:pPr algn="ctr">
              <a:spcAft>
                <a:spcPts val="450"/>
              </a:spcAft>
            </a:pPr>
            <a:r>
              <a:rPr lang="en-US" sz="1200" dirty="0">
                <a:solidFill>
                  <a:srgbClr val="FFFFFF"/>
                </a:solidFill>
              </a:rPr>
              <a:t>Tic-tac-toe</a:t>
            </a:r>
          </a:p>
        </p:txBody>
      </p:sp>
      <p:sp>
        <p:nvSpPr>
          <p:cNvPr id="2" name="Title 1">
            <a:extLst>
              <a:ext uri="{FF2B5EF4-FFF2-40B4-BE49-F238E27FC236}">
                <a16:creationId xmlns:a16="http://schemas.microsoft.com/office/drawing/2014/main" id="{E0F39E30-6893-4BA5-A7BD-8CE03B569160}"/>
              </a:ext>
            </a:extLst>
          </p:cNvPr>
          <p:cNvSpPr>
            <a:spLocks noGrp="1"/>
          </p:cNvSpPr>
          <p:nvPr>
            <p:ph type="title"/>
          </p:nvPr>
        </p:nvSpPr>
        <p:spPr/>
        <p:txBody>
          <a:bodyPr vert="horz" lIns="68580" tIns="34290" rIns="68580" bIns="34290" rtlCol="0" anchor="ctr">
            <a:normAutofit/>
          </a:bodyPr>
          <a:lstStyle/>
          <a:p>
            <a:r>
              <a:rPr lang="en-US" sz="3000" dirty="0"/>
              <a:t>Examples: What is the </a:t>
            </a:r>
            <a:br>
              <a:rPr lang="en-US" sz="3000" dirty="0"/>
            </a:br>
            <a:r>
              <a:rPr lang="en-US" sz="3000" dirty="0"/>
              <a:t>Search Complexity?</a:t>
            </a:r>
          </a:p>
        </p:txBody>
      </p:sp>
      <p:sp>
        <p:nvSpPr>
          <p:cNvPr id="4" name="TextBox 3">
            <a:extLst>
              <a:ext uri="{FF2B5EF4-FFF2-40B4-BE49-F238E27FC236}">
                <a16:creationId xmlns:a16="http://schemas.microsoft.com/office/drawing/2014/main" id="{8FCC58D6-DB77-4484-9D8D-2B3CEA578693}"/>
              </a:ext>
            </a:extLst>
          </p:cNvPr>
          <p:cNvSpPr txBox="1"/>
          <p:nvPr/>
        </p:nvSpPr>
        <p:spPr>
          <a:xfrm>
            <a:off x="628650" y="1506023"/>
            <a:ext cx="8058150" cy="369332"/>
          </a:xfrm>
          <a:prstGeom prst="rect">
            <a:avLst/>
          </a:prstGeom>
          <a:noFill/>
        </p:spPr>
        <p:txBody>
          <a:bodyPr wrap="square" rtlCol="0">
            <a:spAutoFit/>
          </a:bodyPr>
          <a:lstStyle/>
          <a:p>
            <a:r>
              <a:rPr lang="en-US" dirty="0"/>
              <a:t>Often a rough upper limit is sufficient to determine how hard the search problem is.</a:t>
            </a:r>
          </a:p>
        </p:txBody>
      </p:sp>
      <mc:AlternateContent xmlns:mc="http://schemas.openxmlformats.org/markup-compatibility/2006" xmlns:a14="http://schemas.microsoft.com/office/drawing/2010/main">
        <mc:Choice Requires="a14">
          <p:sp>
            <p:nvSpPr>
              <p:cNvPr id="3" name="TextBox 2">
                <a:extLst>
                  <a:ext uri="{FF2B5EF4-FFF2-40B4-BE49-F238E27FC236}">
                    <a16:creationId xmlns:a16="http://schemas.microsoft.com/office/drawing/2014/main" id="{9BAAA905-860A-94E6-E3CF-51870995A788}"/>
                  </a:ext>
                </a:extLst>
              </p:cNvPr>
              <p:cNvSpPr txBox="1"/>
              <p:nvPr/>
            </p:nvSpPr>
            <p:spPr>
              <a:xfrm>
                <a:off x="646942" y="4428647"/>
                <a:ext cx="1143000" cy="923330"/>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𝑏</m:t>
                      </m:r>
                      <m:r>
                        <a:rPr lang="en-US" b="0" i="1" smtClean="0">
                          <a:latin typeface="Cambria Math" panose="02040503050406030204" pitchFamily="18" charset="0"/>
                        </a:rPr>
                        <m:t> =</m:t>
                      </m:r>
                    </m:oMath>
                  </m:oMathPara>
                </a14:m>
                <a:endParaRPr lang="en-US" b="0" dirty="0"/>
              </a:p>
              <a:p>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𝑚</m:t>
                      </m:r>
                      <m:r>
                        <a:rPr lang="en-US" b="0" i="1" smtClean="0">
                          <a:latin typeface="Cambria Math" panose="02040503050406030204" pitchFamily="18" charset="0"/>
                        </a:rPr>
                        <m:t>=</m:t>
                      </m:r>
                    </m:oMath>
                  </m:oMathPara>
                </a14:m>
                <a:endParaRPr lang="en-US" b="0" dirty="0"/>
              </a:p>
              <a:p>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𝑑</m:t>
                      </m:r>
                      <m:r>
                        <a:rPr lang="en-US" b="0" i="1" smtClean="0">
                          <a:latin typeface="Cambria Math" panose="02040503050406030204" pitchFamily="18" charset="0"/>
                        </a:rPr>
                        <m:t> =</m:t>
                      </m:r>
                    </m:oMath>
                  </m:oMathPara>
                </a14:m>
                <a:endParaRPr lang="en-US" dirty="0"/>
              </a:p>
            </p:txBody>
          </p:sp>
        </mc:Choice>
        <mc:Fallback xmlns="">
          <p:sp>
            <p:nvSpPr>
              <p:cNvPr id="3" name="TextBox 2">
                <a:extLst>
                  <a:ext uri="{FF2B5EF4-FFF2-40B4-BE49-F238E27FC236}">
                    <a16:creationId xmlns:a16="http://schemas.microsoft.com/office/drawing/2014/main" id="{9BAAA905-860A-94E6-E3CF-51870995A788}"/>
                  </a:ext>
                </a:extLst>
              </p:cNvPr>
              <p:cNvSpPr txBox="1">
                <a:spLocks noRot="1" noChangeAspect="1" noMove="1" noResize="1" noEditPoints="1" noAdjustHandles="1" noChangeArrowheads="1" noChangeShapeType="1" noTextEdit="1"/>
              </p:cNvSpPr>
              <p:nvPr/>
            </p:nvSpPr>
            <p:spPr>
              <a:xfrm>
                <a:off x="646942" y="4428647"/>
                <a:ext cx="1143000" cy="923330"/>
              </a:xfrm>
              <a:prstGeom prst="rect">
                <a:avLst/>
              </a:prstGeom>
              <a:blipFill>
                <a:blip r:embed="rId7"/>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0" name="Rectangle 9">
                <a:extLst>
                  <a:ext uri="{FF2B5EF4-FFF2-40B4-BE49-F238E27FC236}">
                    <a16:creationId xmlns:a16="http://schemas.microsoft.com/office/drawing/2014/main" id="{EE7B21E8-57C0-5AD0-E7B5-27323CF7027D}"/>
                  </a:ext>
                </a:extLst>
              </p:cNvPr>
              <p:cNvSpPr/>
              <p:nvPr/>
            </p:nvSpPr>
            <p:spPr>
              <a:xfrm>
                <a:off x="5867400" y="607328"/>
                <a:ext cx="2514600" cy="674031"/>
              </a:xfrm>
              <a:prstGeom prst="rect">
                <a:avLst/>
              </a:prstGeom>
            </p:spPr>
            <p:style>
              <a:lnRef idx="2">
                <a:schemeClr val="accent6">
                  <a:shade val="15000"/>
                </a:schemeClr>
              </a:lnRef>
              <a:fillRef idx="1">
                <a:schemeClr val="accent6"/>
              </a:fillRef>
              <a:effectRef idx="0">
                <a:schemeClr val="accent6"/>
              </a:effectRef>
              <a:fontRef idx="minor">
                <a:schemeClr val="lt1"/>
              </a:fontRef>
            </p:style>
            <p:txBody>
              <a:bodyPr wrap="square">
                <a:spAutoFit/>
              </a:bodyPr>
              <a:lstStyle/>
              <a:p>
                <a:pPr>
                  <a:lnSpc>
                    <a:spcPct val="90000"/>
                  </a:lnSpc>
                </a:pPr>
                <a14:m>
                  <m:oMath xmlns:m="http://schemas.openxmlformats.org/officeDocument/2006/math">
                    <m:r>
                      <a:rPr lang="en-US" sz="1400" i="1" dirty="0" smtClean="0">
                        <a:latin typeface="Cambria Math" panose="02040503050406030204" pitchFamily="18" charset="0"/>
                      </a:rPr>
                      <m:t>𝑏</m:t>
                    </m:r>
                  </m:oMath>
                </a14:m>
                <a:r>
                  <a:rPr lang="en-US" sz="1400" i="1" dirty="0"/>
                  <a:t>:</a:t>
                </a:r>
                <a:r>
                  <a:rPr lang="en-US" sz="1400" dirty="0"/>
                  <a:t> maximum branching factor</a:t>
                </a:r>
                <a:endParaRPr lang="en-US" sz="1400" i="1" dirty="0"/>
              </a:p>
              <a:p>
                <a:pPr>
                  <a:lnSpc>
                    <a:spcPct val="90000"/>
                  </a:lnSpc>
                </a:pPr>
                <a14:m>
                  <m:oMath xmlns:m="http://schemas.openxmlformats.org/officeDocument/2006/math">
                    <m:r>
                      <a:rPr lang="en-US" sz="1400" i="1" dirty="0" smtClean="0">
                        <a:latin typeface="Cambria Math" panose="02040503050406030204" pitchFamily="18" charset="0"/>
                      </a:rPr>
                      <m:t>𝑚</m:t>
                    </m:r>
                  </m:oMath>
                </a14:m>
                <a:r>
                  <a:rPr lang="en-US" sz="1400" i="1" dirty="0"/>
                  <a:t>: </a:t>
                </a:r>
                <a:r>
                  <a:rPr lang="en-US" sz="1400" dirty="0"/>
                  <a:t>max. depth of tree</a:t>
                </a:r>
              </a:p>
              <a:p>
                <a:pPr>
                  <a:lnSpc>
                    <a:spcPct val="90000"/>
                  </a:lnSpc>
                </a:pPr>
                <a14:m>
                  <m:oMath xmlns:m="http://schemas.openxmlformats.org/officeDocument/2006/math">
                    <m:r>
                      <a:rPr lang="en-US" sz="1400" i="1" dirty="0" smtClean="0">
                        <a:latin typeface="Cambria Math" panose="02040503050406030204" pitchFamily="18" charset="0"/>
                      </a:rPr>
                      <m:t>𝑑</m:t>
                    </m:r>
                  </m:oMath>
                </a14:m>
                <a:r>
                  <a:rPr lang="en-US" sz="1400" i="1" dirty="0"/>
                  <a:t>: </a:t>
                </a:r>
                <a:r>
                  <a:rPr lang="en-US" sz="1400" dirty="0"/>
                  <a:t>depth of the optimal solution</a:t>
                </a:r>
              </a:p>
            </p:txBody>
          </p:sp>
        </mc:Choice>
        <mc:Fallback xmlns="">
          <p:sp>
            <p:nvSpPr>
              <p:cNvPr id="10" name="Rectangle 9">
                <a:extLst>
                  <a:ext uri="{FF2B5EF4-FFF2-40B4-BE49-F238E27FC236}">
                    <a16:creationId xmlns:a16="http://schemas.microsoft.com/office/drawing/2014/main" id="{EE7B21E8-57C0-5AD0-E7B5-27323CF7027D}"/>
                  </a:ext>
                </a:extLst>
              </p:cNvPr>
              <p:cNvSpPr>
                <a:spLocks noRot="1" noChangeAspect="1" noMove="1" noResize="1" noEditPoints="1" noAdjustHandles="1" noChangeArrowheads="1" noChangeShapeType="1" noTextEdit="1"/>
              </p:cNvSpPr>
              <p:nvPr/>
            </p:nvSpPr>
            <p:spPr>
              <a:xfrm>
                <a:off x="5867400" y="607328"/>
                <a:ext cx="2514600" cy="674031"/>
              </a:xfrm>
              <a:prstGeom prst="rect">
                <a:avLst/>
              </a:prstGeom>
              <a:blipFill>
                <a:blip r:embed="rId8"/>
                <a:stretch>
                  <a:fillRect t="-3571" b="-8036"/>
                </a:stretch>
              </a:blipFill>
            </p:spPr>
            <p:txBody>
              <a:bodyPr/>
              <a:lstStyle/>
              <a:p>
                <a:r>
                  <a:rPr lang="en-US">
                    <a:noFill/>
                  </a:rPr>
                  <a:t> </a:t>
                </a:r>
              </a:p>
            </p:txBody>
          </p:sp>
        </mc:Fallback>
      </mc:AlternateContent>
    </p:spTree>
    <p:extLst>
      <p:ext uri="{BB962C8B-B14F-4D97-AF65-F5344CB8AC3E}">
        <p14:creationId xmlns:p14="http://schemas.microsoft.com/office/powerpoint/2010/main" val="4185064401"/>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41009B0-C3B3-4372-8611-9599815018B5}"/>
            </a:ext>
          </a:extLst>
        </p:cNvPr>
        <p:cNvGrpSpPr/>
        <p:nvPr/>
      </p:nvGrpSpPr>
      <p:grpSpPr>
        <a:xfrm>
          <a:off x="0" y="0"/>
          <a:ext cx="0" cy="0"/>
          <a:chOff x="0" y="0"/>
          <a:chExt cx="0" cy="0"/>
        </a:xfrm>
      </p:grpSpPr>
      <p:pic>
        <p:nvPicPr>
          <p:cNvPr id="1032" name="Picture 8" descr="MAZE. In Black and White.&quot; Art Board Print by TOMSREDBUBBLE | Redbubble">
            <a:extLst>
              <a:ext uri="{FF2B5EF4-FFF2-40B4-BE49-F238E27FC236}">
                <a16:creationId xmlns:a16="http://schemas.microsoft.com/office/drawing/2014/main" id="{919FC951-B8E8-5127-A904-DE8A7AF32B7E}"/>
              </a:ext>
            </a:extLst>
          </p:cNvPr>
          <p:cNvPicPr>
            <a:picLocks noChangeAspect="1" noChangeArrowheads="1"/>
          </p:cNvPicPr>
          <p:nvPr/>
        </p:nvPicPr>
        <p:blipFill rotWithShape="1">
          <a:blip r:embed="rId2" cstate="print">
            <a:extLst>
              <a:ext uri="{28A0092B-C50C-407E-A947-70E740481C1C}">
                <a14:useLocalDpi xmlns:a14="http://schemas.microsoft.com/office/drawing/2010/main" val="0"/>
              </a:ext>
            </a:extLst>
          </a:blip>
          <a:srcRect t="13335" b="12480"/>
          <a:stretch/>
        </p:blipFill>
        <p:spPr bwMode="auto">
          <a:xfrm>
            <a:off x="914400" y="2133600"/>
            <a:ext cx="1778794" cy="1758554"/>
          </a:xfrm>
          <a:prstGeom prst="rect">
            <a:avLst/>
          </a:prstGeom>
          <a:extLst>
            <a:ext uri="{909E8E84-426E-40DD-AFC4-6F175D3DCCD1}">
              <a14:hiddenFill xmlns:a14="http://schemas.microsoft.com/office/drawing/2010/main">
                <a:solidFill>
                  <a:srgbClr val="FFFFFF"/>
                </a:solidFill>
              </a14:hiddenFill>
            </a:ext>
          </a:extLst>
        </p:spPr>
      </p:pic>
      <p:sp>
        <p:nvSpPr>
          <p:cNvPr id="8" name="Rectangle 7">
            <a:extLst>
              <a:ext uri="{FF2B5EF4-FFF2-40B4-BE49-F238E27FC236}">
                <a16:creationId xmlns:a16="http://schemas.microsoft.com/office/drawing/2014/main" id="{1DA3F89B-1168-673A-0662-D7E903AC24FB}"/>
              </a:ext>
            </a:extLst>
          </p:cNvPr>
          <p:cNvSpPr/>
          <p:nvPr/>
        </p:nvSpPr>
        <p:spPr>
          <a:xfrm>
            <a:off x="914400" y="3908908"/>
            <a:ext cx="1778794" cy="351235"/>
          </a:xfrm>
          <a:prstGeom prst="rect">
            <a:avLst/>
          </a:prstGeom>
          <a:solidFill>
            <a:srgbClr val="000000">
              <a:alpha val="50000"/>
            </a:srgbClr>
          </a:solidFill>
          <a:ln>
            <a:noFill/>
          </a:ln>
        </p:spPr>
        <p:txBody>
          <a:bodyPr wrap="square" anchor="ctr">
            <a:noAutofit/>
          </a:bodyPr>
          <a:lstStyle/>
          <a:p>
            <a:pPr algn="ctr">
              <a:spcAft>
                <a:spcPts val="450"/>
              </a:spcAft>
            </a:pPr>
            <a:r>
              <a:rPr lang="en-US" sz="1200">
                <a:solidFill>
                  <a:srgbClr val="FFFFFF"/>
                </a:solidFill>
              </a:rPr>
              <a:t>Maze</a:t>
            </a:r>
          </a:p>
        </p:txBody>
      </p:sp>
      <p:pic>
        <p:nvPicPr>
          <p:cNvPr id="1028" name="Picture 4" descr="The eight queens puzzle in Python | Solarian Programmer">
            <a:extLst>
              <a:ext uri="{FF2B5EF4-FFF2-40B4-BE49-F238E27FC236}">
                <a16:creationId xmlns:a16="http://schemas.microsoft.com/office/drawing/2014/main" id="{4DBDC790-C2DE-54FB-0690-FAADFEB25229}"/>
              </a:ext>
            </a:extLst>
          </p:cNvPr>
          <p:cNvPicPr>
            <a:picLocks noChangeAspect="1" noChangeArrowheads="1"/>
          </p:cNvPicPr>
          <p:nvPr/>
        </p:nvPicPr>
        <p:blipFill>
          <a:blip r:embed="rId3">
            <a:extLst>
              <a:ext uri="{28A0092B-C50C-407E-A947-70E740481C1C}">
                <a14:useLocalDpi xmlns:a14="http://schemas.microsoft.com/office/drawing/2010/main" val="0"/>
              </a:ext>
            </a:extLst>
          </a:blip>
          <a:stretch>
            <a:fillRect/>
          </a:stretch>
        </p:blipFill>
        <p:spPr bwMode="auto">
          <a:xfrm>
            <a:off x="2743200" y="2133600"/>
            <a:ext cx="1759744" cy="1758554"/>
          </a:xfrm>
          <a:prstGeom prst="rect">
            <a:avLst/>
          </a:prstGeom>
          <a:extLst>
            <a:ext uri="{909E8E84-426E-40DD-AFC4-6F175D3DCCD1}">
              <a14:hiddenFill xmlns:a14="http://schemas.microsoft.com/office/drawing/2010/main">
                <a:solidFill>
                  <a:srgbClr val="FFFFFF"/>
                </a:solidFill>
              </a14:hiddenFill>
            </a:ext>
          </a:extLst>
        </p:spPr>
      </p:pic>
      <p:sp>
        <p:nvSpPr>
          <p:cNvPr id="7" name="Rectangle 6">
            <a:extLst>
              <a:ext uri="{FF2B5EF4-FFF2-40B4-BE49-F238E27FC236}">
                <a16:creationId xmlns:a16="http://schemas.microsoft.com/office/drawing/2014/main" id="{00581061-96C1-8410-9D29-EB45FBCEAB2F}"/>
              </a:ext>
            </a:extLst>
          </p:cNvPr>
          <p:cNvSpPr/>
          <p:nvPr/>
        </p:nvSpPr>
        <p:spPr>
          <a:xfrm>
            <a:off x="2743200" y="3908908"/>
            <a:ext cx="1759744" cy="351235"/>
          </a:xfrm>
          <a:prstGeom prst="rect">
            <a:avLst/>
          </a:prstGeom>
          <a:solidFill>
            <a:srgbClr val="000000">
              <a:alpha val="50000"/>
            </a:srgbClr>
          </a:solidFill>
          <a:ln>
            <a:noFill/>
          </a:ln>
        </p:spPr>
        <p:txBody>
          <a:bodyPr wrap="square" anchor="ctr">
            <a:noAutofit/>
          </a:bodyPr>
          <a:lstStyle/>
          <a:p>
            <a:pPr algn="ctr">
              <a:spcAft>
                <a:spcPts val="450"/>
              </a:spcAft>
            </a:pPr>
            <a:r>
              <a:rPr lang="en-US" sz="1200" dirty="0">
                <a:solidFill>
                  <a:srgbClr val="FFFFFF"/>
                </a:solidFill>
              </a:rPr>
              <a:t>8-queens problem</a:t>
            </a:r>
          </a:p>
        </p:txBody>
      </p:sp>
      <p:pic>
        <p:nvPicPr>
          <p:cNvPr id="1026" name="Picture 2">
            <a:extLst>
              <a:ext uri="{FF2B5EF4-FFF2-40B4-BE49-F238E27FC236}">
                <a16:creationId xmlns:a16="http://schemas.microsoft.com/office/drawing/2014/main" id="{CB0CAEA0-4BD4-D1B6-4861-331017057E04}"/>
              </a:ext>
            </a:extLst>
          </p:cNvPr>
          <p:cNvPicPr>
            <a:picLocks noChangeAspect="1" noChangeArrowheads="1"/>
          </p:cNvPicPr>
          <p:nvPr/>
        </p:nvPicPr>
        <p:blipFill rotWithShape="1">
          <a:blip r:embed="rId4">
            <a:extLst>
              <a:ext uri="{28A0092B-C50C-407E-A947-70E740481C1C}">
                <a14:useLocalDpi xmlns:a14="http://schemas.microsoft.com/office/drawing/2010/main" val="0"/>
              </a:ext>
            </a:extLst>
          </a:blip>
          <a:srcRect r="54439"/>
          <a:stretch/>
        </p:blipFill>
        <p:spPr bwMode="auto">
          <a:xfrm>
            <a:off x="4554139" y="2133600"/>
            <a:ext cx="1872854" cy="1758554"/>
          </a:xfrm>
          <a:prstGeom prst="rect">
            <a:avLst/>
          </a:prstGeom>
          <a:extLst>
            <a:ext uri="{909E8E84-426E-40DD-AFC4-6F175D3DCCD1}">
              <a14:hiddenFill xmlns:a14="http://schemas.microsoft.com/office/drawing/2010/main">
                <a:solidFill>
                  <a:srgbClr val="FFFFFF"/>
                </a:solidFill>
              </a14:hiddenFill>
            </a:ext>
          </a:extLst>
        </p:spPr>
      </p:pic>
      <p:sp>
        <p:nvSpPr>
          <p:cNvPr id="5" name="Rectangle 4">
            <a:extLst>
              <a:ext uri="{FF2B5EF4-FFF2-40B4-BE49-F238E27FC236}">
                <a16:creationId xmlns:a16="http://schemas.microsoft.com/office/drawing/2014/main" id="{725794C8-869A-4446-ED77-AA84F07764F7}"/>
              </a:ext>
            </a:extLst>
          </p:cNvPr>
          <p:cNvSpPr/>
          <p:nvPr/>
        </p:nvSpPr>
        <p:spPr>
          <a:xfrm>
            <a:off x="4554139" y="3908908"/>
            <a:ext cx="1872854" cy="351235"/>
          </a:xfrm>
          <a:prstGeom prst="rect">
            <a:avLst/>
          </a:prstGeom>
          <a:solidFill>
            <a:srgbClr val="000000">
              <a:alpha val="50000"/>
            </a:srgbClr>
          </a:solidFill>
          <a:ln>
            <a:noFill/>
          </a:ln>
        </p:spPr>
        <p:txBody>
          <a:bodyPr wrap="square" anchor="ctr">
            <a:noAutofit/>
          </a:bodyPr>
          <a:lstStyle/>
          <a:p>
            <a:pPr algn="ctr">
              <a:spcAft>
                <a:spcPts val="450"/>
              </a:spcAft>
            </a:pPr>
            <a:r>
              <a:rPr lang="en-US" sz="1200" dirty="0">
                <a:solidFill>
                  <a:srgbClr val="FFFFFF"/>
                </a:solidFill>
              </a:rPr>
              <a:t>8-puzzle problem</a:t>
            </a:r>
          </a:p>
        </p:txBody>
      </p:sp>
      <p:pic>
        <p:nvPicPr>
          <p:cNvPr id="1030" name="Picture 6" descr="Tic-tac-toe - Wikipedia">
            <a:extLst>
              <a:ext uri="{FF2B5EF4-FFF2-40B4-BE49-F238E27FC236}">
                <a16:creationId xmlns:a16="http://schemas.microsoft.com/office/drawing/2014/main" id="{414EA962-7633-FF8E-D45A-CD621CE39C0C}"/>
              </a:ext>
            </a:extLst>
          </p:cNvPr>
          <p:cNvPicPr>
            <a:picLocks noChangeAspect="1" noChangeArrowheads="1"/>
          </p:cNvPicPr>
          <p:nvPr/>
        </p:nvPicPr>
        <p:blipFill>
          <a:blip r:embed="rId5" cstate="print">
            <a:biLevel thresh="25000"/>
            <a:extLst>
              <a:ext uri="{BEBA8EAE-BF5A-486C-A8C5-ECC9F3942E4B}">
                <a14:imgProps xmlns:a14="http://schemas.microsoft.com/office/drawing/2010/main">
                  <a14:imgLayer r:embed="rId6">
                    <a14:imgEffect>
                      <a14:saturation sat="33000"/>
                    </a14:imgEffect>
                  </a14:imgLayer>
                </a14:imgProps>
              </a:ext>
              <a:ext uri="{28A0092B-C50C-407E-A947-70E740481C1C}">
                <a14:useLocalDpi xmlns:a14="http://schemas.microsoft.com/office/drawing/2010/main" val="0"/>
              </a:ext>
            </a:extLst>
          </a:blip>
          <a:stretch>
            <a:fillRect/>
          </a:stretch>
        </p:blipFill>
        <p:spPr bwMode="auto">
          <a:xfrm>
            <a:off x="6479381" y="2133600"/>
            <a:ext cx="1983581" cy="1758554"/>
          </a:xfrm>
          <a:prstGeom prst="rect">
            <a:avLst/>
          </a:prstGeom>
          <a:extLst>
            <a:ext uri="{909E8E84-426E-40DD-AFC4-6F175D3DCCD1}">
              <a14:hiddenFill xmlns:a14="http://schemas.microsoft.com/office/drawing/2010/main">
                <a:solidFill>
                  <a:srgbClr val="FFFFFF"/>
                </a:solidFill>
              </a14:hiddenFill>
            </a:ext>
          </a:extLst>
        </p:spPr>
      </p:pic>
      <p:sp>
        <p:nvSpPr>
          <p:cNvPr id="6" name="Rectangle 5">
            <a:extLst>
              <a:ext uri="{FF2B5EF4-FFF2-40B4-BE49-F238E27FC236}">
                <a16:creationId xmlns:a16="http://schemas.microsoft.com/office/drawing/2014/main" id="{93731585-6367-DB65-4FDC-B99E58BC7526}"/>
              </a:ext>
            </a:extLst>
          </p:cNvPr>
          <p:cNvSpPr/>
          <p:nvPr/>
        </p:nvSpPr>
        <p:spPr>
          <a:xfrm>
            <a:off x="6479381" y="3908908"/>
            <a:ext cx="1983581" cy="351235"/>
          </a:xfrm>
          <a:prstGeom prst="rect">
            <a:avLst/>
          </a:prstGeom>
          <a:solidFill>
            <a:srgbClr val="000000">
              <a:alpha val="50000"/>
            </a:srgbClr>
          </a:solidFill>
          <a:ln>
            <a:noFill/>
          </a:ln>
        </p:spPr>
        <p:txBody>
          <a:bodyPr wrap="square" anchor="ctr">
            <a:noAutofit/>
          </a:bodyPr>
          <a:lstStyle/>
          <a:p>
            <a:pPr algn="ctr">
              <a:spcAft>
                <a:spcPts val="450"/>
              </a:spcAft>
            </a:pPr>
            <a:r>
              <a:rPr lang="en-US" sz="1200" dirty="0">
                <a:solidFill>
                  <a:srgbClr val="FFFFFF"/>
                </a:solidFill>
              </a:rPr>
              <a:t>Tic-tac-toe</a:t>
            </a:r>
          </a:p>
        </p:txBody>
      </p:sp>
      <p:sp>
        <p:nvSpPr>
          <p:cNvPr id="2" name="Title 1">
            <a:extLst>
              <a:ext uri="{FF2B5EF4-FFF2-40B4-BE49-F238E27FC236}">
                <a16:creationId xmlns:a16="http://schemas.microsoft.com/office/drawing/2014/main" id="{C32EB4C7-5944-5D61-664F-D8ECDA4D36EC}"/>
              </a:ext>
            </a:extLst>
          </p:cNvPr>
          <p:cNvSpPr>
            <a:spLocks noGrp="1"/>
          </p:cNvSpPr>
          <p:nvPr>
            <p:ph type="title"/>
          </p:nvPr>
        </p:nvSpPr>
        <p:spPr/>
        <p:txBody>
          <a:bodyPr vert="horz" lIns="68580" tIns="34290" rIns="68580" bIns="34290" rtlCol="0" anchor="ctr">
            <a:normAutofit/>
          </a:bodyPr>
          <a:lstStyle/>
          <a:p>
            <a:r>
              <a:rPr lang="en-US" sz="3000" dirty="0"/>
              <a:t>Examples: What is the </a:t>
            </a:r>
            <a:br>
              <a:rPr lang="en-US" sz="3000" dirty="0"/>
            </a:br>
            <a:r>
              <a:rPr lang="en-US" sz="3000" dirty="0"/>
              <a:t>Search Complexity?</a:t>
            </a:r>
          </a:p>
        </p:txBody>
      </p:sp>
      <p:sp>
        <p:nvSpPr>
          <p:cNvPr id="4" name="TextBox 3">
            <a:extLst>
              <a:ext uri="{FF2B5EF4-FFF2-40B4-BE49-F238E27FC236}">
                <a16:creationId xmlns:a16="http://schemas.microsoft.com/office/drawing/2014/main" id="{95CDD5FF-CBDC-A4B1-03FE-A5241EEC062C}"/>
              </a:ext>
            </a:extLst>
          </p:cNvPr>
          <p:cNvSpPr txBox="1"/>
          <p:nvPr/>
        </p:nvSpPr>
        <p:spPr>
          <a:xfrm>
            <a:off x="628650" y="1506023"/>
            <a:ext cx="8058150" cy="369332"/>
          </a:xfrm>
          <a:prstGeom prst="rect">
            <a:avLst/>
          </a:prstGeom>
          <a:noFill/>
        </p:spPr>
        <p:txBody>
          <a:bodyPr wrap="square" rtlCol="0">
            <a:spAutoFit/>
          </a:bodyPr>
          <a:lstStyle/>
          <a:p>
            <a:r>
              <a:rPr lang="en-US" dirty="0"/>
              <a:t>Often a rough upper limit is sufficient to determine how hard the search problem is.</a:t>
            </a:r>
          </a:p>
        </p:txBody>
      </p:sp>
      <p:cxnSp>
        <p:nvCxnSpPr>
          <p:cNvPr id="15" name="Straight Connector 14">
            <a:extLst>
              <a:ext uri="{FF2B5EF4-FFF2-40B4-BE49-F238E27FC236}">
                <a16:creationId xmlns:a16="http://schemas.microsoft.com/office/drawing/2014/main" id="{3D01DA36-F4F3-A135-DF09-7FB207F88BFC}"/>
              </a:ext>
            </a:extLst>
          </p:cNvPr>
          <p:cNvCxnSpPr/>
          <p:nvPr/>
        </p:nvCxnSpPr>
        <p:spPr>
          <a:xfrm>
            <a:off x="2693194" y="4343400"/>
            <a:ext cx="0" cy="1981200"/>
          </a:xfrm>
          <a:prstGeom prst="line">
            <a:avLst/>
          </a:prstGeom>
          <a:ln w="12700" cap="flat" cmpd="sng" algn="ctr">
            <a:solidFill>
              <a:schemeClr val="accent3"/>
            </a:solidFill>
            <a:prstDash val="dash"/>
            <a:round/>
            <a:headEnd type="none" w="med" len="med"/>
            <a:tailEnd type="none" w="med" len="med"/>
          </a:ln>
        </p:spPr>
        <p:style>
          <a:lnRef idx="0">
            <a:scrgbClr r="0" g="0" b="0"/>
          </a:lnRef>
          <a:fillRef idx="0">
            <a:scrgbClr r="0" g="0" b="0"/>
          </a:fillRef>
          <a:effectRef idx="0">
            <a:scrgbClr r="0" g="0" b="0"/>
          </a:effectRef>
          <a:fontRef idx="minor">
            <a:schemeClr val="tx1"/>
          </a:fontRef>
        </p:style>
      </p:cxnSp>
      <p:cxnSp>
        <p:nvCxnSpPr>
          <p:cNvPr id="16" name="Straight Connector 15">
            <a:extLst>
              <a:ext uri="{FF2B5EF4-FFF2-40B4-BE49-F238E27FC236}">
                <a16:creationId xmlns:a16="http://schemas.microsoft.com/office/drawing/2014/main" id="{8CF66C1F-4B47-8B1B-8497-94886E691E2B}"/>
              </a:ext>
            </a:extLst>
          </p:cNvPr>
          <p:cNvCxnSpPr/>
          <p:nvPr/>
        </p:nvCxnSpPr>
        <p:spPr>
          <a:xfrm>
            <a:off x="4554139" y="4343400"/>
            <a:ext cx="0" cy="1981200"/>
          </a:xfrm>
          <a:prstGeom prst="line">
            <a:avLst/>
          </a:prstGeom>
          <a:ln w="12700" cap="flat" cmpd="sng" algn="ctr">
            <a:solidFill>
              <a:schemeClr val="accent3"/>
            </a:solidFill>
            <a:prstDash val="dash"/>
            <a:round/>
            <a:headEnd type="none" w="med" len="med"/>
            <a:tailEnd type="none" w="med" len="med"/>
          </a:ln>
        </p:spPr>
        <p:style>
          <a:lnRef idx="0">
            <a:scrgbClr r="0" g="0" b="0"/>
          </a:lnRef>
          <a:fillRef idx="0">
            <a:scrgbClr r="0" g="0" b="0"/>
          </a:fillRef>
          <a:effectRef idx="0">
            <a:scrgbClr r="0" g="0" b="0"/>
          </a:effectRef>
          <a:fontRef idx="minor">
            <a:schemeClr val="tx1"/>
          </a:fontRef>
        </p:style>
      </p:cxnSp>
      <p:cxnSp>
        <p:nvCxnSpPr>
          <p:cNvPr id="17" name="Straight Connector 16">
            <a:extLst>
              <a:ext uri="{FF2B5EF4-FFF2-40B4-BE49-F238E27FC236}">
                <a16:creationId xmlns:a16="http://schemas.microsoft.com/office/drawing/2014/main" id="{82AC0B37-DD12-F003-69A2-759148500B35}"/>
              </a:ext>
            </a:extLst>
          </p:cNvPr>
          <p:cNvCxnSpPr/>
          <p:nvPr/>
        </p:nvCxnSpPr>
        <p:spPr>
          <a:xfrm>
            <a:off x="6479381" y="4343400"/>
            <a:ext cx="0" cy="1981200"/>
          </a:xfrm>
          <a:prstGeom prst="line">
            <a:avLst/>
          </a:prstGeom>
          <a:ln w="12700" cap="flat" cmpd="sng" algn="ctr">
            <a:solidFill>
              <a:schemeClr val="accent3"/>
            </a:solidFill>
            <a:prstDash val="dash"/>
            <a:round/>
            <a:headEnd type="none" w="med" len="med"/>
            <a:tailEnd type="none" w="med" len="med"/>
          </a:ln>
        </p:spPr>
        <p:style>
          <a:lnRef idx="0">
            <a:scrgbClr r="0" g="0" b="0"/>
          </a:lnRef>
          <a:fillRef idx="0">
            <a:scrgbClr r="0" g="0" b="0"/>
          </a:fillRef>
          <a:effectRef idx="0">
            <a:scrgbClr r="0" g="0" b="0"/>
          </a:effectRef>
          <a:fontRef idx="minor">
            <a:schemeClr val="tx1"/>
          </a:fontRef>
        </p:style>
      </p:cxnSp>
      <mc:AlternateContent xmlns:mc="http://schemas.openxmlformats.org/markup-compatibility/2006" xmlns:a14="http://schemas.microsoft.com/office/drawing/2010/main">
        <mc:Choice Requires="a14">
          <p:sp>
            <p:nvSpPr>
              <p:cNvPr id="14" name="TextBox 13">
                <a:extLst>
                  <a:ext uri="{FF2B5EF4-FFF2-40B4-BE49-F238E27FC236}">
                    <a16:creationId xmlns:a16="http://schemas.microsoft.com/office/drawing/2014/main" id="{684B0078-B220-5B9D-D9C6-448A9B7D1D41}"/>
                  </a:ext>
                </a:extLst>
              </p:cNvPr>
              <p:cNvSpPr txBox="1"/>
              <p:nvPr/>
            </p:nvSpPr>
            <p:spPr>
              <a:xfrm>
                <a:off x="879387" y="4329545"/>
                <a:ext cx="1702373" cy="2062103"/>
              </a:xfrm>
              <a:prstGeom prst="rect">
                <a:avLst/>
              </a:prstGeom>
              <a:noFill/>
            </p:spPr>
            <p:txBody>
              <a:bodyPr wrap="square" rtlCol="0">
                <a:spAutoFit/>
              </a:bodyPr>
              <a:lstStyle/>
              <a:p>
                <a:pPr indent="-457200">
                  <a:spcBef>
                    <a:spcPts val="600"/>
                  </a:spcBef>
                </a:pPr>
                <a14:m>
                  <m:oMath xmlns:m="http://schemas.openxmlformats.org/officeDocument/2006/math">
                    <m:r>
                      <a:rPr lang="en-US" sz="1200" b="0" i="1" smtClean="0">
                        <a:latin typeface="Cambria Math" panose="02040503050406030204" pitchFamily="18" charset="0"/>
                      </a:rPr>
                      <m:t>𝑏</m:t>
                    </m:r>
                    <m:r>
                      <a:rPr lang="en-US" sz="1200" b="0" i="1" smtClean="0">
                        <a:latin typeface="Cambria Math" panose="02040503050406030204" pitchFamily="18" charset="0"/>
                      </a:rPr>
                      <m:t> =4</m:t>
                    </m:r>
                  </m:oMath>
                </a14:m>
                <a:r>
                  <a:rPr lang="en-US" sz="1200" b="0" dirty="0"/>
                  <a:t> actions</a:t>
                </a:r>
                <a:endParaRPr lang="en-US" sz="1200" b="0" i="1" dirty="0">
                  <a:latin typeface="Cambria Math" panose="02040503050406030204" pitchFamily="18" charset="0"/>
                </a:endParaRPr>
              </a:p>
              <a:p>
                <a:pPr indent="-457200">
                  <a:spcBef>
                    <a:spcPts val="600"/>
                  </a:spcBef>
                </a:pPr>
                <a:endParaRPr lang="en-US" sz="1200" b="0" i="1" dirty="0">
                  <a:latin typeface="Cambria Math" panose="02040503050406030204" pitchFamily="18" charset="0"/>
                </a:endParaRPr>
              </a:p>
              <a:p>
                <a:pPr indent="-457200">
                  <a:spcBef>
                    <a:spcPts val="600"/>
                  </a:spcBef>
                </a:pPr>
                <a14:m>
                  <m:oMath xmlns:m="http://schemas.openxmlformats.org/officeDocument/2006/math">
                    <m:r>
                      <a:rPr lang="en-US" sz="1200" b="0" i="1" smtClean="0">
                        <a:latin typeface="Cambria Math" panose="02040503050406030204" pitchFamily="18" charset="0"/>
                      </a:rPr>
                      <m:t>𝑚</m:t>
                    </m:r>
                    <m:r>
                      <a:rPr lang="en-US" sz="1200" b="0" i="1" smtClean="0">
                        <a:latin typeface="Cambria Math" panose="02040503050406030204" pitchFamily="18" charset="0"/>
                      </a:rPr>
                      <m:t>≤</m:t>
                    </m:r>
                    <m:d>
                      <m:dPr>
                        <m:begChr m:val="|"/>
                        <m:endChr m:val="|"/>
                        <m:ctrlPr>
                          <a:rPr lang="en-US" sz="1200" b="0" i="1" smtClean="0">
                            <a:latin typeface="Cambria Math" panose="02040503050406030204" pitchFamily="18" charset="0"/>
                          </a:rPr>
                        </m:ctrlPr>
                      </m:dPr>
                      <m:e>
                        <m:r>
                          <a:rPr lang="en-US" sz="1200" b="0" i="1" smtClean="0">
                            <a:latin typeface="Cambria Math" panose="02040503050406030204" pitchFamily="18" charset="0"/>
                          </a:rPr>
                          <m:t>𝑥</m:t>
                        </m:r>
                      </m:e>
                    </m:d>
                    <m:r>
                      <a:rPr lang="en-US" sz="1200" b="0" i="1" smtClean="0">
                        <a:latin typeface="Cambria Math" panose="02040503050406030204" pitchFamily="18" charset="0"/>
                      </a:rPr>
                      <m:t>×|</m:t>
                    </m:r>
                    <m:r>
                      <a:rPr lang="en-US" sz="1200" b="0" i="1" smtClean="0">
                        <a:latin typeface="Cambria Math" panose="02040503050406030204" pitchFamily="18" charset="0"/>
                      </a:rPr>
                      <m:t>𝑦</m:t>
                    </m:r>
                    <m:r>
                      <a:rPr lang="en-US" sz="1200" b="0" i="1" smtClean="0">
                        <a:latin typeface="Cambria Math" panose="02040503050406030204" pitchFamily="18" charset="0"/>
                      </a:rPr>
                      <m:t>|</m:t>
                    </m:r>
                  </m:oMath>
                </a14:m>
                <a:r>
                  <a:rPr lang="en-US" sz="1200" b="0" dirty="0"/>
                  <a:t> </a:t>
                </a:r>
              </a:p>
              <a:p>
                <a:pPr indent="-457200">
                  <a:spcBef>
                    <a:spcPts val="600"/>
                  </a:spcBef>
                </a:pPr>
                <a:r>
                  <a:rPr lang="en-US" sz="1200" b="0" dirty="0"/>
                  <a:t>(the longest path to the goal or a dead end is bounded by the state space size.)</a:t>
                </a:r>
              </a:p>
              <a:p>
                <a:pPr indent="-457200">
                  <a:spcBef>
                    <a:spcPts val="600"/>
                  </a:spcBef>
                </a:pPr>
                <a:endParaRPr lang="en-US" sz="1200" b="0" i="1" dirty="0">
                  <a:latin typeface="Cambria Math" panose="02040503050406030204" pitchFamily="18" charset="0"/>
                </a:endParaRPr>
              </a:p>
              <a:p>
                <a:pPr indent="-457200">
                  <a:spcBef>
                    <a:spcPts val="600"/>
                  </a:spcBef>
                </a:pPr>
                <a14:m>
                  <m:oMathPara xmlns:m="http://schemas.openxmlformats.org/officeDocument/2006/math">
                    <m:oMathParaPr>
                      <m:jc m:val="left"/>
                    </m:oMathParaPr>
                    <m:oMath xmlns:m="http://schemas.openxmlformats.org/officeDocument/2006/math">
                      <m:r>
                        <a:rPr lang="en-US" sz="1200" b="0" i="1" smtClean="0">
                          <a:latin typeface="Cambria Math" panose="02040503050406030204" pitchFamily="18" charset="0"/>
                        </a:rPr>
                        <m:t>𝑑</m:t>
                      </m:r>
                      <m:r>
                        <a:rPr lang="en-US" sz="1200" b="0" i="1" smtClean="0">
                          <a:latin typeface="Cambria Math" panose="02040503050406030204" pitchFamily="18" charset="0"/>
                        </a:rPr>
                        <m:t>≤</m:t>
                      </m:r>
                      <m:r>
                        <a:rPr lang="en-US" sz="1200" b="0" i="1" smtClean="0">
                          <a:latin typeface="Cambria Math" panose="02040503050406030204" pitchFamily="18" charset="0"/>
                        </a:rPr>
                        <m:t>𝑚</m:t>
                      </m:r>
                    </m:oMath>
                  </m:oMathPara>
                </a14:m>
                <a:endParaRPr lang="en-US" sz="1200" dirty="0"/>
              </a:p>
            </p:txBody>
          </p:sp>
        </mc:Choice>
        <mc:Fallback xmlns="">
          <p:sp>
            <p:nvSpPr>
              <p:cNvPr id="14" name="TextBox 13">
                <a:extLst>
                  <a:ext uri="{FF2B5EF4-FFF2-40B4-BE49-F238E27FC236}">
                    <a16:creationId xmlns:a16="http://schemas.microsoft.com/office/drawing/2014/main" id="{684B0078-B220-5B9D-D9C6-448A9B7D1D41}"/>
                  </a:ext>
                </a:extLst>
              </p:cNvPr>
              <p:cNvSpPr txBox="1">
                <a:spLocks noRot="1" noChangeAspect="1" noMove="1" noResize="1" noEditPoints="1" noAdjustHandles="1" noChangeArrowheads="1" noChangeShapeType="1" noTextEdit="1"/>
              </p:cNvSpPr>
              <p:nvPr/>
            </p:nvSpPr>
            <p:spPr>
              <a:xfrm>
                <a:off x="879387" y="4329545"/>
                <a:ext cx="1702373" cy="2062103"/>
              </a:xfrm>
              <a:prstGeom prst="rect">
                <a:avLst/>
              </a:prstGeom>
              <a:blipFill>
                <a:blip r:embed="rId7"/>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8" name="Rectangle 17">
                <a:extLst>
                  <a:ext uri="{FF2B5EF4-FFF2-40B4-BE49-F238E27FC236}">
                    <a16:creationId xmlns:a16="http://schemas.microsoft.com/office/drawing/2014/main" id="{9AC0A6CC-6376-B0F7-C367-66E0CD02877C}"/>
                  </a:ext>
                </a:extLst>
              </p:cNvPr>
              <p:cNvSpPr/>
              <p:nvPr/>
            </p:nvSpPr>
            <p:spPr>
              <a:xfrm>
                <a:off x="5867400" y="607328"/>
                <a:ext cx="2514600" cy="674031"/>
              </a:xfrm>
              <a:prstGeom prst="rect">
                <a:avLst/>
              </a:prstGeom>
            </p:spPr>
            <p:style>
              <a:lnRef idx="2">
                <a:schemeClr val="accent6">
                  <a:shade val="15000"/>
                </a:schemeClr>
              </a:lnRef>
              <a:fillRef idx="1">
                <a:schemeClr val="accent6"/>
              </a:fillRef>
              <a:effectRef idx="0">
                <a:schemeClr val="accent6"/>
              </a:effectRef>
              <a:fontRef idx="minor">
                <a:schemeClr val="lt1"/>
              </a:fontRef>
            </p:style>
            <p:txBody>
              <a:bodyPr wrap="square">
                <a:spAutoFit/>
              </a:bodyPr>
              <a:lstStyle/>
              <a:p>
                <a:pPr>
                  <a:lnSpc>
                    <a:spcPct val="90000"/>
                  </a:lnSpc>
                </a:pPr>
                <a14:m>
                  <m:oMath xmlns:m="http://schemas.openxmlformats.org/officeDocument/2006/math">
                    <m:r>
                      <a:rPr lang="en-US" sz="1400" i="1" dirty="0" smtClean="0">
                        <a:latin typeface="Cambria Math" panose="02040503050406030204" pitchFamily="18" charset="0"/>
                      </a:rPr>
                      <m:t>𝑏</m:t>
                    </m:r>
                  </m:oMath>
                </a14:m>
                <a:r>
                  <a:rPr lang="en-US" sz="1400" i="1" dirty="0"/>
                  <a:t>:</a:t>
                </a:r>
                <a:r>
                  <a:rPr lang="en-US" sz="1400" dirty="0"/>
                  <a:t> maximum branching factor</a:t>
                </a:r>
                <a:endParaRPr lang="en-US" sz="1400" i="1" dirty="0"/>
              </a:p>
              <a:p>
                <a:pPr>
                  <a:lnSpc>
                    <a:spcPct val="90000"/>
                  </a:lnSpc>
                </a:pPr>
                <a14:m>
                  <m:oMath xmlns:m="http://schemas.openxmlformats.org/officeDocument/2006/math">
                    <m:r>
                      <a:rPr lang="en-US" sz="1400" i="1" dirty="0" smtClean="0">
                        <a:latin typeface="Cambria Math" panose="02040503050406030204" pitchFamily="18" charset="0"/>
                      </a:rPr>
                      <m:t>𝑚</m:t>
                    </m:r>
                  </m:oMath>
                </a14:m>
                <a:r>
                  <a:rPr lang="en-US" sz="1400" i="1" dirty="0"/>
                  <a:t>: </a:t>
                </a:r>
                <a:r>
                  <a:rPr lang="en-US" sz="1400" dirty="0"/>
                  <a:t>max. depth of tree</a:t>
                </a:r>
              </a:p>
              <a:p>
                <a:pPr>
                  <a:lnSpc>
                    <a:spcPct val="90000"/>
                  </a:lnSpc>
                </a:pPr>
                <a14:m>
                  <m:oMath xmlns:m="http://schemas.openxmlformats.org/officeDocument/2006/math">
                    <m:r>
                      <a:rPr lang="en-US" sz="1400" i="1" dirty="0" smtClean="0">
                        <a:latin typeface="Cambria Math" panose="02040503050406030204" pitchFamily="18" charset="0"/>
                      </a:rPr>
                      <m:t>𝑑</m:t>
                    </m:r>
                  </m:oMath>
                </a14:m>
                <a:r>
                  <a:rPr lang="en-US" sz="1400" i="1" dirty="0"/>
                  <a:t>: </a:t>
                </a:r>
                <a:r>
                  <a:rPr lang="en-US" sz="1400" dirty="0"/>
                  <a:t>depth of the optimal solution</a:t>
                </a:r>
              </a:p>
            </p:txBody>
          </p:sp>
        </mc:Choice>
        <mc:Fallback xmlns="">
          <p:sp>
            <p:nvSpPr>
              <p:cNvPr id="18" name="Rectangle 17">
                <a:extLst>
                  <a:ext uri="{FF2B5EF4-FFF2-40B4-BE49-F238E27FC236}">
                    <a16:creationId xmlns:a16="http://schemas.microsoft.com/office/drawing/2014/main" id="{9AC0A6CC-6376-B0F7-C367-66E0CD02877C}"/>
                  </a:ext>
                </a:extLst>
              </p:cNvPr>
              <p:cNvSpPr>
                <a:spLocks noRot="1" noChangeAspect="1" noMove="1" noResize="1" noEditPoints="1" noAdjustHandles="1" noChangeArrowheads="1" noChangeShapeType="1" noTextEdit="1"/>
              </p:cNvSpPr>
              <p:nvPr/>
            </p:nvSpPr>
            <p:spPr>
              <a:xfrm>
                <a:off x="5867400" y="607328"/>
                <a:ext cx="2514600" cy="674031"/>
              </a:xfrm>
              <a:prstGeom prst="rect">
                <a:avLst/>
              </a:prstGeom>
              <a:blipFill>
                <a:blip r:embed="rId8"/>
                <a:stretch>
                  <a:fillRect t="-3571" b="-803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9" name="TextBox 18">
                <a:extLst>
                  <a:ext uri="{FF2B5EF4-FFF2-40B4-BE49-F238E27FC236}">
                    <a16:creationId xmlns:a16="http://schemas.microsoft.com/office/drawing/2014/main" id="{8631E8F9-1073-FF1A-EDB4-BCE6243CB0B3}"/>
                  </a:ext>
                </a:extLst>
              </p:cNvPr>
              <p:cNvSpPr txBox="1"/>
              <p:nvPr/>
            </p:nvSpPr>
            <p:spPr>
              <a:xfrm>
                <a:off x="2779407" y="4329544"/>
                <a:ext cx="1702373" cy="1900777"/>
              </a:xfrm>
              <a:prstGeom prst="rect">
                <a:avLst/>
              </a:prstGeom>
              <a:noFill/>
            </p:spPr>
            <p:txBody>
              <a:bodyPr wrap="square" rtlCol="0">
                <a:spAutoFit/>
              </a:bodyPr>
              <a:lstStyle/>
              <a:p>
                <a:pPr indent="-457200">
                  <a:spcBef>
                    <a:spcPts val="600"/>
                  </a:spcBef>
                </a:pPr>
                <a:r>
                  <a:rPr lang="en-US" sz="1200" dirty="0"/>
                  <a:t>Action: Move one queen at a time:</a:t>
                </a:r>
              </a:p>
              <a:p>
                <a:pPr indent="-457200">
                  <a:spcBef>
                    <a:spcPts val="600"/>
                  </a:spcBef>
                </a:pPr>
                <a14:m>
                  <m:oMath xmlns:m="http://schemas.openxmlformats.org/officeDocument/2006/math">
                    <m:r>
                      <a:rPr lang="en-US" sz="1200" b="0" i="1" smtClean="0">
                        <a:latin typeface="Cambria Math" panose="02040503050406030204" pitchFamily="18" charset="0"/>
                      </a:rPr>
                      <m:t>𝑏</m:t>
                    </m:r>
                    <m:r>
                      <a:rPr lang="en-US" sz="1200" b="0" i="1" smtClean="0">
                        <a:latin typeface="Cambria Math" panose="02040503050406030204" pitchFamily="18" charset="0"/>
                      </a:rPr>
                      <m:t> =</m:t>
                    </m:r>
                  </m:oMath>
                </a14:m>
                <a:r>
                  <a:rPr lang="en-US" sz="1200" dirty="0"/>
                  <a:t> </a:t>
                </a:r>
                <a14:m>
                  <m:oMath xmlns:m="http://schemas.openxmlformats.org/officeDocument/2006/math">
                    <m:r>
                      <a:rPr lang="en-US" sz="1100" b="0" i="0" dirty="0" smtClean="0">
                        <a:latin typeface="Cambria Math" panose="02040503050406030204" pitchFamily="18" charset="0"/>
                      </a:rPr>
                      <m:t>8</m:t>
                    </m:r>
                    <m:r>
                      <a:rPr lang="en-US" sz="1100" b="0" i="1" dirty="0" smtClean="0">
                        <a:latin typeface="Cambria Math" panose="02040503050406030204" pitchFamily="18" charset="0"/>
                      </a:rPr>
                      <m:t>×(</m:t>
                    </m:r>
                    <m:r>
                      <a:rPr lang="en-US" sz="1100" i="1" dirty="0" smtClean="0">
                        <a:latin typeface="Cambria Math" panose="02040503050406030204" pitchFamily="18" charset="0"/>
                      </a:rPr>
                      <m:t>64−</m:t>
                    </m:r>
                    <m:r>
                      <a:rPr lang="en-US" sz="1100" b="0" i="1" dirty="0" smtClean="0">
                        <a:latin typeface="Cambria Math" panose="02040503050406030204" pitchFamily="18" charset="0"/>
                      </a:rPr>
                      <m:t>8)</m:t>
                    </m:r>
                    <m:r>
                      <a:rPr lang="en-US" sz="1100" i="1" dirty="0" smtClean="0">
                        <a:latin typeface="Cambria Math" panose="02040503050406030204" pitchFamily="18" charset="0"/>
                      </a:rPr>
                      <m:t>=</m:t>
                    </m:r>
                    <m:r>
                      <a:rPr lang="en-US" sz="1100" b="0" i="1" dirty="0" smtClean="0">
                        <a:latin typeface="Cambria Math" panose="02040503050406030204" pitchFamily="18" charset="0"/>
                      </a:rPr>
                      <m:t>448</m:t>
                    </m:r>
                  </m:oMath>
                </a14:m>
                <a:endParaRPr lang="en-US" sz="1200" b="0" i="1" dirty="0">
                  <a:latin typeface="Cambria Math" panose="02040503050406030204" pitchFamily="18" charset="0"/>
                </a:endParaRPr>
              </a:p>
              <a:p>
                <a:pPr indent="-457200">
                  <a:spcBef>
                    <a:spcPts val="600"/>
                  </a:spcBef>
                </a:pPr>
                <a14:m>
                  <m:oMath xmlns:m="http://schemas.openxmlformats.org/officeDocument/2006/math">
                    <m:r>
                      <a:rPr lang="en-US" sz="1200" b="0" i="1" smtClean="0">
                        <a:latin typeface="Cambria Math" panose="02040503050406030204" pitchFamily="18" charset="0"/>
                      </a:rPr>
                      <m:t>𝑚</m:t>
                    </m:r>
                    <m:r>
                      <a:rPr lang="en-US" sz="1200" b="0" i="1" smtClean="0">
                        <a:latin typeface="Cambria Math" panose="02040503050406030204" pitchFamily="18" charset="0"/>
                      </a:rPr>
                      <m:t>=</m:t>
                    </m:r>
                    <m:d>
                      <m:dPr>
                        <m:ctrlPr>
                          <a:rPr lang="en-US" sz="1200" i="1">
                            <a:latin typeface="Cambria Math" panose="02040503050406030204" pitchFamily="18" charset="0"/>
                          </a:rPr>
                        </m:ctrlPr>
                      </m:dPr>
                      <m:e>
                        <m:f>
                          <m:fPr>
                            <m:type m:val="noBar"/>
                            <m:ctrlPr>
                              <a:rPr lang="en-US" sz="1200" i="1">
                                <a:latin typeface="Cambria Math" panose="02040503050406030204" pitchFamily="18" charset="0"/>
                              </a:rPr>
                            </m:ctrlPr>
                          </m:fPr>
                          <m:num>
                            <m:r>
                              <a:rPr lang="en-US" sz="1200" i="1">
                                <a:latin typeface="Cambria Math" panose="02040503050406030204" pitchFamily="18" charset="0"/>
                              </a:rPr>
                              <m:t>64</m:t>
                            </m:r>
                          </m:num>
                          <m:den>
                            <m:r>
                              <a:rPr lang="en-US" sz="1200" i="1">
                                <a:latin typeface="Cambria Math" panose="02040503050406030204" pitchFamily="18" charset="0"/>
                              </a:rPr>
                              <m:t>8</m:t>
                            </m:r>
                          </m:den>
                        </m:f>
                      </m:e>
                    </m:d>
                    <m:r>
                      <a:rPr lang="en-US" sz="1200" i="1">
                        <a:latin typeface="Cambria Math" panose="02040503050406030204" pitchFamily="18" charset="0"/>
                      </a:rPr>
                      <m:t>≈4.4×</m:t>
                    </m:r>
                    <m:sSup>
                      <m:sSupPr>
                        <m:ctrlPr>
                          <a:rPr lang="en-US" sz="1200" i="1">
                            <a:latin typeface="Cambria Math" panose="02040503050406030204" pitchFamily="18" charset="0"/>
                          </a:rPr>
                        </m:ctrlPr>
                      </m:sSupPr>
                      <m:e>
                        <m:r>
                          <a:rPr lang="en-US" sz="1200" i="1">
                            <a:latin typeface="Cambria Math" panose="02040503050406030204" pitchFamily="18" charset="0"/>
                          </a:rPr>
                          <m:t>10</m:t>
                        </m:r>
                      </m:e>
                      <m:sup>
                        <m:r>
                          <a:rPr lang="en-US" sz="1200" i="1">
                            <a:latin typeface="Cambria Math" panose="02040503050406030204" pitchFamily="18" charset="0"/>
                          </a:rPr>
                          <m:t>9</m:t>
                        </m:r>
                      </m:sup>
                    </m:sSup>
                  </m:oMath>
                </a14:m>
                <a:r>
                  <a:rPr lang="en-US" sz="1200" b="0" i="1" dirty="0">
                    <a:latin typeface="Cambria Math" panose="02040503050406030204" pitchFamily="18" charset="0"/>
                  </a:rPr>
                  <a:t> </a:t>
                </a:r>
                <a:r>
                  <a:rPr lang="en-US" sz="1200" dirty="0"/>
                  <a:t>(we may have to try all states)</a:t>
                </a:r>
              </a:p>
              <a:p>
                <a:pPr indent="-457200">
                  <a:spcBef>
                    <a:spcPts val="600"/>
                  </a:spcBef>
                </a:pPr>
                <a14:m>
                  <m:oMath xmlns:m="http://schemas.openxmlformats.org/officeDocument/2006/math">
                    <m:r>
                      <a:rPr lang="en-US" sz="1200" b="0" i="1" smtClean="0">
                        <a:latin typeface="Cambria Math" panose="02040503050406030204" pitchFamily="18" charset="0"/>
                      </a:rPr>
                      <m:t>𝑑</m:t>
                    </m:r>
                    <m:r>
                      <a:rPr lang="en-US" sz="1200" b="0" i="1" smtClean="0">
                        <a:latin typeface="Cambria Math" panose="02040503050406030204" pitchFamily="18" charset="0"/>
                      </a:rPr>
                      <m:t> =8</m:t>
                    </m:r>
                  </m:oMath>
                </a14:m>
                <a:r>
                  <a:rPr lang="en-US" sz="1200" dirty="0"/>
                  <a:t> (move each queen to the right spot) </a:t>
                </a:r>
              </a:p>
            </p:txBody>
          </p:sp>
        </mc:Choice>
        <mc:Fallback xmlns="">
          <p:sp>
            <p:nvSpPr>
              <p:cNvPr id="19" name="TextBox 18">
                <a:extLst>
                  <a:ext uri="{FF2B5EF4-FFF2-40B4-BE49-F238E27FC236}">
                    <a16:creationId xmlns:a16="http://schemas.microsoft.com/office/drawing/2014/main" id="{8631E8F9-1073-FF1A-EDB4-BCE6243CB0B3}"/>
                  </a:ext>
                </a:extLst>
              </p:cNvPr>
              <p:cNvSpPr txBox="1">
                <a:spLocks noRot="1" noChangeAspect="1" noMove="1" noResize="1" noEditPoints="1" noAdjustHandles="1" noChangeArrowheads="1" noChangeShapeType="1" noTextEdit="1"/>
              </p:cNvSpPr>
              <p:nvPr/>
            </p:nvSpPr>
            <p:spPr>
              <a:xfrm>
                <a:off x="2779407" y="4329544"/>
                <a:ext cx="1702373" cy="1900777"/>
              </a:xfrm>
              <a:prstGeom prst="rect">
                <a:avLst/>
              </a:prstGeom>
              <a:blipFill>
                <a:blip r:embed="rId9"/>
                <a:stretch>
                  <a:fillRect l="-358"/>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0" name="TextBox 19">
                <a:extLst>
                  <a:ext uri="{FF2B5EF4-FFF2-40B4-BE49-F238E27FC236}">
                    <a16:creationId xmlns:a16="http://schemas.microsoft.com/office/drawing/2014/main" id="{96E0F7A5-7640-A82C-C1F5-61327201BE17}"/>
                  </a:ext>
                </a:extLst>
              </p:cNvPr>
              <p:cNvSpPr txBox="1"/>
              <p:nvPr/>
            </p:nvSpPr>
            <p:spPr>
              <a:xfrm>
                <a:off x="4589862" y="4304606"/>
                <a:ext cx="1702373" cy="1249894"/>
              </a:xfrm>
              <a:prstGeom prst="rect">
                <a:avLst/>
              </a:prstGeom>
              <a:noFill/>
            </p:spPr>
            <p:txBody>
              <a:bodyPr wrap="square" rtlCol="0">
                <a:spAutoFit/>
              </a:bodyPr>
              <a:lstStyle/>
              <a:p>
                <a:pPr indent="-457200">
                  <a:spcBef>
                    <a:spcPts val="600"/>
                  </a:spcBef>
                </a:pPr>
                <a14:m>
                  <m:oMath xmlns:m="http://schemas.openxmlformats.org/officeDocument/2006/math">
                    <m:r>
                      <a:rPr lang="en-US" sz="1200" b="0" i="1" smtClean="0">
                        <a:latin typeface="Cambria Math" panose="02040503050406030204" pitchFamily="18" charset="0"/>
                      </a:rPr>
                      <m:t>𝑏</m:t>
                    </m:r>
                    <m:r>
                      <a:rPr lang="en-US" sz="1200" b="0" i="1" smtClean="0">
                        <a:latin typeface="Cambria Math" panose="02040503050406030204" pitchFamily="18" charset="0"/>
                      </a:rPr>
                      <m:t> =4</m:t>
                    </m:r>
                  </m:oMath>
                </a14:m>
                <a:r>
                  <a:rPr lang="en-US" sz="1200" b="0" dirty="0"/>
                  <a:t> actions to move the empty tile.</a:t>
                </a:r>
                <a:endParaRPr lang="en-US" sz="1200" b="0" i="1" dirty="0">
                  <a:latin typeface="Cambria Math" panose="02040503050406030204" pitchFamily="18" charset="0"/>
                </a:endParaRPr>
              </a:p>
              <a:p>
                <a:pPr indent="-457200">
                  <a:spcBef>
                    <a:spcPts val="600"/>
                  </a:spcBef>
                </a:pPr>
                <a14:m>
                  <m:oMath xmlns:m="http://schemas.openxmlformats.org/officeDocument/2006/math">
                    <m:r>
                      <a:rPr lang="en-US" sz="1200" b="0" i="1" smtClean="0">
                        <a:latin typeface="Cambria Math" panose="02040503050406030204" pitchFamily="18" charset="0"/>
                      </a:rPr>
                      <m:t>𝑚</m:t>
                    </m:r>
                    <m:r>
                      <a:rPr lang="en-US" sz="1200" i="1">
                        <a:latin typeface="Cambria Math" panose="02040503050406030204" pitchFamily="18" charset="0"/>
                      </a:rPr>
                      <m:t>≤</m:t>
                    </m:r>
                    <m:f>
                      <m:fPr>
                        <m:ctrlPr>
                          <a:rPr lang="en-US" sz="1200" b="0" i="1" smtClean="0">
                            <a:latin typeface="Cambria Math" panose="02040503050406030204" pitchFamily="18" charset="0"/>
                          </a:rPr>
                        </m:ctrlPr>
                      </m:fPr>
                      <m:num>
                        <m:r>
                          <a:rPr lang="en-US" sz="1200" b="0" i="1" smtClean="0">
                            <a:latin typeface="Cambria Math" panose="02040503050406030204" pitchFamily="18" charset="0"/>
                          </a:rPr>
                          <m:t>9!</m:t>
                        </m:r>
                      </m:num>
                      <m:den>
                        <m:r>
                          <a:rPr lang="en-US" sz="1200" b="0" i="1" smtClean="0">
                            <a:latin typeface="Cambria Math" panose="02040503050406030204" pitchFamily="18" charset="0"/>
                          </a:rPr>
                          <m:t>2</m:t>
                        </m:r>
                      </m:den>
                    </m:f>
                  </m:oMath>
                </a14:m>
                <a:r>
                  <a:rPr lang="en-US" sz="1200" b="0" dirty="0"/>
                  <a:t> (state space)</a:t>
                </a:r>
              </a:p>
              <a:p>
                <a:pPr indent="-457200">
                  <a:spcBef>
                    <a:spcPts val="600"/>
                  </a:spcBef>
                </a:pPr>
                <a:endParaRPr lang="en-US" sz="1200" b="0" dirty="0"/>
              </a:p>
              <a:p>
                <a:pPr indent="-457200">
                  <a:spcBef>
                    <a:spcPts val="600"/>
                  </a:spcBef>
                </a:pPr>
                <a14:m>
                  <m:oMathPara xmlns:m="http://schemas.openxmlformats.org/officeDocument/2006/math">
                    <m:oMathParaPr>
                      <m:jc m:val="left"/>
                    </m:oMathParaPr>
                    <m:oMath xmlns:m="http://schemas.openxmlformats.org/officeDocument/2006/math">
                      <m:r>
                        <a:rPr lang="en-US" sz="1200" b="0" i="1" smtClean="0">
                          <a:latin typeface="Cambria Math" panose="02040503050406030204" pitchFamily="18" charset="0"/>
                        </a:rPr>
                        <m:t>𝑑</m:t>
                      </m:r>
                      <m:r>
                        <a:rPr lang="en-US" sz="1200" i="1">
                          <a:latin typeface="Cambria Math" panose="02040503050406030204" pitchFamily="18" charset="0"/>
                        </a:rPr>
                        <m:t>≤</m:t>
                      </m:r>
                      <m:r>
                        <a:rPr lang="en-US" sz="1200" i="1">
                          <a:latin typeface="Cambria Math" panose="02040503050406030204" pitchFamily="18" charset="0"/>
                        </a:rPr>
                        <m:t>𝑚</m:t>
                      </m:r>
                    </m:oMath>
                  </m:oMathPara>
                </a14:m>
                <a:endParaRPr lang="en-US" sz="1200" dirty="0"/>
              </a:p>
            </p:txBody>
          </p:sp>
        </mc:Choice>
        <mc:Fallback xmlns="">
          <p:sp>
            <p:nvSpPr>
              <p:cNvPr id="20" name="TextBox 19">
                <a:extLst>
                  <a:ext uri="{FF2B5EF4-FFF2-40B4-BE49-F238E27FC236}">
                    <a16:creationId xmlns:a16="http://schemas.microsoft.com/office/drawing/2014/main" id="{96E0F7A5-7640-A82C-C1F5-61327201BE17}"/>
                  </a:ext>
                </a:extLst>
              </p:cNvPr>
              <p:cNvSpPr txBox="1">
                <a:spLocks noRot="1" noChangeAspect="1" noMove="1" noResize="1" noEditPoints="1" noAdjustHandles="1" noChangeArrowheads="1" noChangeShapeType="1" noTextEdit="1"/>
              </p:cNvSpPr>
              <p:nvPr/>
            </p:nvSpPr>
            <p:spPr>
              <a:xfrm>
                <a:off x="4589862" y="4304606"/>
                <a:ext cx="1702373" cy="1249894"/>
              </a:xfrm>
              <a:prstGeom prst="rect">
                <a:avLst/>
              </a:prstGeom>
              <a:blipFill>
                <a:blip r:embed="rId10"/>
                <a:stretch>
                  <a:fillRect l="-358"/>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1" name="TextBox 20">
                <a:extLst>
                  <a:ext uri="{FF2B5EF4-FFF2-40B4-BE49-F238E27FC236}">
                    <a16:creationId xmlns:a16="http://schemas.microsoft.com/office/drawing/2014/main" id="{F376000C-EFEB-4AAB-EC0B-1DEC37DB63B2}"/>
                  </a:ext>
                </a:extLst>
              </p:cNvPr>
              <p:cNvSpPr txBox="1"/>
              <p:nvPr/>
            </p:nvSpPr>
            <p:spPr>
              <a:xfrm>
                <a:off x="6514017" y="4311533"/>
                <a:ext cx="1702373" cy="1615827"/>
              </a:xfrm>
              <a:prstGeom prst="rect">
                <a:avLst/>
              </a:prstGeom>
              <a:noFill/>
            </p:spPr>
            <p:txBody>
              <a:bodyPr wrap="square" rtlCol="0">
                <a:spAutoFit/>
              </a:bodyPr>
              <a:lstStyle/>
              <a:p>
                <a:pPr indent="-457200">
                  <a:spcBef>
                    <a:spcPts val="600"/>
                  </a:spcBef>
                </a:pPr>
                <a14:m>
                  <m:oMath xmlns:m="http://schemas.openxmlformats.org/officeDocument/2006/math">
                    <m:r>
                      <a:rPr lang="en-US" sz="1200" b="0" i="1" smtClean="0">
                        <a:latin typeface="Cambria Math" panose="02040503050406030204" pitchFamily="18" charset="0"/>
                      </a:rPr>
                      <m:t>𝑏</m:t>
                    </m:r>
                    <m:r>
                      <a:rPr lang="en-US" sz="1200" b="0" i="1" smtClean="0">
                        <a:latin typeface="Cambria Math" panose="02040503050406030204" pitchFamily="18" charset="0"/>
                      </a:rPr>
                      <m:t> =9</m:t>
                    </m:r>
                  </m:oMath>
                </a14:m>
                <a:r>
                  <a:rPr lang="en-US" sz="1200" b="0" dirty="0"/>
                  <a:t> actions for the first move.</a:t>
                </a:r>
                <a:endParaRPr lang="en-US" sz="1200" b="0" i="1" dirty="0">
                  <a:latin typeface="Cambria Math" panose="02040503050406030204" pitchFamily="18" charset="0"/>
                </a:endParaRPr>
              </a:p>
              <a:p>
                <a:pPr indent="-457200">
                  <a:spcBef>
                    <a:spcPts val="600"/>
                  </a:spcBef>
                </a:pPr>
                <a:endParaRPr lang="en-US" sz="1200" b="0" i="1" dirty="0">
                  <a:latin typeface="Cambria Math" panose="02040503050406030204" pitchFamily="18" charset="0"/>
                </a:endParaRPr>
              </a:p>
              <a:p>
                <a:pPr indent="-457200">
                  <a:spcBef>
                    <a:spcPts val="600"/>
                  </a:spcBef>
                </a:pPr>
                <a14:m>
                  <m:oMathPara xmlns:m="http://schemas.openxmlformats.org/officeDocument/2006/math">
                    <m:oMathParaPr>
                      <m:jc m:val="left"/>
                    </m:oMathParaPr>
                    <m:oMath xmlns:m="http://schemas.openxmlformats.org/officeDocument/2006/math">
                      <m:r>
                        <a:rPr lang="en-US" sz="1200" b="0" i="1" smtClean="0">
                          <a:latin typeface="Cambria Math" panose="02040503050406030204" pitchFamily="18" charset="0"/>
                        </a:rPr>
                        <m:t>𝑚</m:t>
                      </m:r>
                      <m:r>
                        <a:rPr lang="en-US" sz="1200" b="0" i="1" smtClean="0">
                          <a:latin typeface="Cambria Math" panose="02040503050406030204" pitchFamily="18" charset="0"/>
                        </a:rPr>
                        <m:t>=9</m:t>
                      </m:r>
                    </m:oMath>
                  </m:oMathPara>
                </a14:m>
                <a:endParaRPr lang="en-US" sz="1200" b="0" dirty="0"/>
              </a:p>
              <a:p>
                <a:pPr indent="-457200">
                  <a:spcBef>
                    <a:spcPts val="600"/>
                  </a:spcBef>
                </a:pPr>
                <a:endParaRPr lang="en-US" sz="1200" b="0" i="1" dirty="0">
                  <a:latin typeface="Cambria Math" panose="02040503050406030204" pitchFamily="18" charset="0"/>
                </a:endParaRPr>
              </a:p>
              <a:p>
                <a:pPr indent="-457200">
                  <a:spcBef>
                    <a:spcPts val="600"/>
                  </a:spcBef>
                </a:pPr>
                <a14:m>
                  <m:oMath xmlns:m="http://schemas.openxmlformats.org/officeDocument/2006/math">
                    <m:r>
                      <a:rPr lang="en-US" sz="1200" b="0" i="1" smtClean="0">
                        <a:latin typeface="Cambria Math" panose="02040503050406030204" pitchFamily="18" charset="0"/>
                      </a:rPr>
                      <m:t>𝑑</m:t>
                    </m:r>
                    <m:r>
                      <a:rPr lang="en-US" sz="1200" b="0" i="1" smtClean="0">
                        <a:latin typeface="Cambria Math" panose="02040503050406030204" pitchFamily="18" charset="0"/>
                      </a:rPr>
                      <m:t> =9</m:t>
                    </m:r>
                  </m:oMath>
                </a14:m>
                <a:r>
                  <a:rPr lang="en-US" sz="1200" dirty="0"/>
                  <a:t> (both play optimal)</a:t>
                </a:r>
              </a:p>
            </p:txBody>
          </p:sp>
        </mc:Choice>
        <mc:Fallback xmlns="">
          <p:sp>
            <p:nvSpPr>
              <p:cNvPr id="21" name="TextBox 20">
                <a:extLst>
                  <a:ext uri="{FF2B5EF4-FFF2-40B4-BE49-F238E27FC236}">
                    <a16:creationId xmlns:a16="http://schemas.microsoft.com/office/drawing/2014/main" id="{F376000C-EFEB-4AAB-EC0B-1DEC37DB63B2}"/>
                  </a:ext>
                </a:extLst>
              </p:cNvPr>
              <p:cNvSpPr txBox="1">
                <a:spLocks noRot="1" noChangeAspect="1" noMove="1" noResize="1" noEditPoints="1" noAdjustHandles="1" noChangeArrowheads="1" noChangeShapeType="1" noTextEdit="1"/>
              </p:cNvSpPr>
              <p:nvPr/>
            </p:nvSpPr>
            <p:spPr>
              <a:xfrm>
                <a:off x="6514017" y="4311533"/>
                <a:ext cx="1702373" cy="1615827"/>
              </a:xfrm>
              <a:prstGeom prst="rect">
                <a:avLst/>
              </a:prstGeom>
              <a:blipFill>
                <a:blip r:embed="rId11"/>
                <a:stretch>
                  <a:fillRect l="-358" b="-2264"/>
                </a:stretch>
              </a:blipFill>
            </p:spPr>
            <p:txBody>
              <a:bodyPr/>
              <a:lstStyle/>
              <a:p>
                <a:r>
                  <a:rPr lang="en-US">
                    <a:noFill/>
                  </a:rPr>
                  <a:t> </a:t>
                </a:r>
              </a:p>
            </p:txBody>
          </p:sp>
        </mc:Fallback>
      </mc:AlternateContent>
    </p:spTree>
    <p:extLst>
      <p:ext uri="{BB962C8B-B14F-4D97-AF65-F5344CB8AC3E}">
        <p14:creationId xmlns:p14="http://schemas.microsoft.com/office/powerpoint/2010/main" val="2334573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4"/>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9"/>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20"/>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2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4" grpId="0"/>
      <p:bldP spid="19" grpId="0"/>
      <p:bldP spid="20" grpId="0"/>
      <p:bldP spid="21" grpId="0"/>
    </p:bldLst>
  </p:timing>
</p:sld>
</file>

<file path=ppt/slides/slide3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3" name="Rectangle 12">
            <a:extLst>
              <a:ext uri="{FF2B5EF4-FFF2-40B4-BE49-F238E27FC236}">
                <a16:creationId xmlns:a16="http://schemas.microsoft.com/office/drawing/2014/main" id="{79BB35BC-D5C2-4C8B-A22A-A71E6191913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9141714"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Title 5">
            <a:extLst>
              <a:ext uri="{FF2B5EF4-FFF2-40B4-BE49-F238E27FC236}">
                <a16:creationId xmlns:a16="http://schemas.microsoft.com/office/drawing/2014/main" id="{2559E92F-00CE-3555-1E51-55F9E7C1A63B}"/>
              </a:ext>
            </a:extLst>
          </p:cNvPr>
          <p:cNvSpPr>
            <a:spLocks noGrp="1"/>
          </p:cNvSpPr>
          <p:nvPr>
            <p:ph type="title"/>
          </p:nvPr>
        </p:nvSpPr>
        <p:spPr>
          <a:xfrm>
            <a:off x="4885341" y="365125"/>
            <a:ext cx="3630007" cy="1807305"/>
          </a:xfrm>
        </p:spPr>
        <p:txBody>
          <a:bodyPr>
            <a:normAutofit/>
          </a:bodyPr>
          <a:lstStyle/>
          <a:p>
            <a:r>
              <a:rPr lang="en-US" dirty="0"/>
              <a:t>Things to Remember</a:t>
            </a:r>
          </a:p>
        </p:txBody>
      </p:sp>
      <p:pic>
        <p:nvPicPr>
          <p:cNvPr id="8" name="Picture 2" descr="space galaxy NASA star">
            <a:extLst>
              <a:ext uri="{FF2B5EF4-FFF2-40B4-BE49-F238E27FC236}">
                <a16:creationId xmlns:a16="http://schemas.microsoft.com/office/drawing/2014/main" id="{5400AA81-A07B-0642-79FB-C31FC8FA12A3}"/>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l="18687" r="43687"/>
          <a:stretch>
            <a:fillRect/>
          </a:stretch>
        </p:blipFill>
        <p:spPr bwMode="auto">
          <a:xfrm>
            <a:off x="20" y="10"/>
            <a:ext cx="4587406" cy="6857990"/>
          </a:xfrm>
          <a:custGeom>
            <a:avLst/>
            <a:gdLst/>
            <a:ahLst/>
            <a:cxnLst/>
            <a:rect l="l" t="t" r="r" b="b"/>
            <a:pathLst>
              <a:path w="6116569" h="6879321">
                <a:moveTo>
                  <a:pt x="0" y="0"/>
                </a:moveTo>
                <a:lnTo>
                  <a:pt x="2935851" y="0"/>
                </a:lnTo>
                <a:cubicBezTo>
                  <a:pt x="3035710" y="10660"/>
                  <a:pt x="3138421" y="17767"/>
                  <a:pt x="3238280" y="31980"/>
                </a:cubicBezTo>
                <a:cubicBezTo>
                  <a:pt x="3817462" y="106602"/>
                  <a:pt x="3127009" y="277163"/>
                  <a:pt x="3660541" y="550772"/>
                </a:cubicBezTo>
                <a:cubicBezTo>
                  <a:pt x="3706191" y="575645"/>
                  <a:pt x="3757546" y="579199"/>
                  <a:pt x="3808902" y="589860"/>
                </a:cubicBezTo>
                <a:cubicBezTo>
                  <a:pt x="4008620" y="625393"/>
                  <a:pt x="4211192" y="618286"/>
                  <a:pt x="4413762" y="625393"/>
                </a:cubicBezTo>
                <a:cubicBezTo>
                  <a:pt x="4465118" y="628946"/>
                  <a:pt x="4525033" y="625393"/>
                  <a:pt x="4567830" y="721333"/>
                </a:cubicBezTo>
                <a:cubicBezTo>
                  <a:pt x="4425175" y="724888"/>
                  <a:pt x="4305344" y="731994"/>
                  <a:pt x="4171247" y="792401"/>
                </a:cubicBezTo>
                <a:cubicBezTo>
                  <a:pt x="4239722" y="859916"/>
                  <a:pt x="4322462" y="795955"/>
                  <a:pt x="4376671" y="842148"/>
                </a:cubicBezTo>
                <a:cubicBezTo>
                  <a:pt x="4428027" y="888342"/>
                  <a:pt x="4470824" y="891896"/>
                  <a:pt x="4527887" y="813722"/>
                </a:cubicBezTo>
                <a:cubicBezTo>
                  <a:pt x="4556417" y="774634"/>
                  <a:pt x="4604920" y="778187"/>
                  <a:pt x="4633452" y="799508"/>
                </a:cubicBezTo>
                <a:cubicBezTo>
                  <a:pt x="4781813" y="913216"/>
                  <a:pt x="4778960" y="909662"/>
                  <a:pt x="4947293" y="870576"/>
                </a:cubicBezTo>
                <a:cubicBezTo>
                  <a:pt x="5055712" y="845701"/>
                  <a:pt x="5166983" y="806615"/>
                  <a:pt x="5263988" y="820828"/>
                </a:cubicBezTo>
                <a:cubicBezTo>
                  <a:pt x="5275401" y="867022"/>
                  <a:pt x="5263988" y="888342"/>
                  <a:pt x="5249723" y="895449"/>
                </a:cubicBezTo>
                <a:cubicBezTo>
                  <a:pt x="5021475" y="1005604"/>
                  <a:pt x="4975825" y="1122864"/>
                  <a:pt x="4744723" y="1197485"/>
                </a:cubicBezTo>
                <a:cubicBezTo>
                  <a:pt x="4724751" y="1268552"/>
                  <a:pt x="4807491" y="1275660"/>
                  <a:pt x="4767548" y="1346727"/>
                </a:cubicBezTo>
                <a:cubicBezTo>
                  <a:pt x="4693367" y="1407134"/>
                  <a:pt x="4610627" y="1346727"/>
                  <a:pt x="4539299" y="1421348"/>
                </a:cubicBezTo>
                <a:cubicBezTo>
                  <a:pt x="4550712" y="1471094"/>
                  <a:pt x="4610627" y="1432008"/>
                  <a:pt x="4607773" y="1485309"/>
                </a:cubicBezTo>
                <a:cubicBezTo>
                  <a:pt x="4604920" y="1517288"/>
                  <a:pt x="4593508" y="1527948"/>
                  <a:pt x="4579242" y="1535055"/>
                </a:cubicBezTo>
                <a:cubicBezTo>
                  <a:pt x="4776107" y="1538608"/>
                  <a:pt x="5383820" y="1574142"/>
                  <a:pt x="5278255" y="1609676"/>
                </a:cubicBezTo>
                <a:cubicBezTo>
                  <a:pt x="5418057" y="1698511"/>
                  <a:pt x="5623481" y="1609676"/>
                  <a:pt x="5771843" y="1630997"/>
                </a:cubicBezTo>
                <a:cubicBezTo>
                  <a:pt x="5925911" y="1652316"/>
                  <a:pt x="6171278" y="1719830"/>
                  <a:pt x="6105656" y="1748257"/>
                </a:cubicBezTo>
                <a:cubicBezTo>
                  <a:pt x="6031475" y="1780238"/>
                  <a:pt x="5766136" y="2146235"/>
                  <a:pt x="5691955" y="2167555"/>
                </a:cubicBezTo>
                <a:cubicBezTo>
                  <a:pt x="5606362" y="2188875"/>
                  <a:pt x="5589243" y="2217302"/>
                  <a:pt x="5475118" y="2348776"/>
                </a:cubicBezTo>
                <a:cubicBezTo>
                  <a:pt x="5398085" y="2437610"/>
                  <a:pt x="5709074" y="2238623"/>
                  <a:pt x="5826051" y="2291922"/>
                </a:cubicBezTo>
                <a:cubicBezTo>
                  <a:pt x="5868848" y="2309690"/>
                  <a:pt x="5552153" y="2554872"/>
                  <a:pt x="5552153" y="2597513"/>
                </a:cubicBezTo>
                <a:cubicBezTo>
                  <a:pt x="5549300" y="2640153"/>
                  <a:pt x="5577831" y="2647260"/>
                  <a:pt x="5603508" y="2647260"/>
                </a:cubicBezTo>
                <a:cubicBezTo>
                  <a:pt x="5660571" y="2647260"/>
                  <a:pt x="5640599" y="2686346"/>
                  <a:pt x="5700515" y="2679240"/>
                </a:cubicBezTo>
                <a:cubicBezTo>
                  <a:pt x="5523622" y="2800055"/>
                  <a:pt x="5418057" y="2778734"/>
                  <a:pt x="5246870" y="2888889"/>
                </a:cubicBezTo>
                <a:cubicBezTo>
                  <a:pt x="5164130" y="2942189"/>
                  <a:pt x="4921615" y="3119857"/>
                  <a:pt x="4836022" y="3169605"/>
                </a:cubicBezTo>
                <a:cubicBezTo>
                  <a:pt x="4801785" y="3187371"/>
                  <a:pt x="4758988" y="3173158"/>
                  <a:pt x="4736163" y="3233565"/>
                </a:cubicBezTo>
                <a:cubicBezTo>
                  <a:pt x="4770400" y="3279759"/>
                  <a:pt x="4816050" y="3254885"/>
                  <a:pt x="4853141" y="3233565"/>
                </a:cubicBezTo>
                <a:cubicBezTo>
                  <a:pt x="4944440" y="3176711"/>
                  <a:pt x="4935881" y="3190925"/>
                  <a:pt x="4944440" y="3226459"/>
                </a:cubicBezTo>
                <a:cubicBezTo>
                  <a:pt x="4972972" y="3350827"/>
                  <a:pt x="5044300" y="3308186"/>
                  <a:pt x="5109921" y="3283313"/>
                </a:cubicBezTo>
                <a:cubicBezTo>
                  <a:pt x="5303932" y="3208692"/>
                  <a:pt x="5500797" y="3215799"/>
                  <a:pt x="5694809" y="3141178"/>
                </a:cubicBezTo>
                <a:cubicBezTo>
                  <a:pt x="5714781" y="3134070"/>
                  <a:pt x="5612068" y="3283313"/>
                  <a:pt x="5566419" y="3301079"/>
                </a:cubicBezTo>
                <a:cubicBezTo>
                  <a:pt x="5515063" y="3322399"/>
                  <a:pt x="5452294" y="3311739"/>
                  <a:pt x="5415203" y="3397020"/>
                </a:cubicBezTo>
                <a:cubicBezTo>
                  <a:pt x="5477972" y="3414787"/>
                  <a:pt x="5552153" y="3372147"/>
                  <a:pt x="5612068" y="3432554"/>
                </a:cubicBezTo>
                <a:cubicBezTo>
                  <a:pt x="5469413" y="3528494"/>
                  <a:pt x="5329610" y="3535601"/>
                  <a:pt x="5206927" y="3599562"/>
                </a:cubicBezTo>
                <a:cubicBezTo>
                  <a:pt x="5192661" y="3706163"/>
                  <a:pt x="5272548" y="3663523"/>
                  <a:pt x="5301079" y="3723930"/>
                </a:cubicBezTo>
                <a:cubicBezTo>
                  <a:pt x="5072830" y="3844745"/>
                  <a:pt x="4564977" y="4232062"/>
                  <a:pt x="4507915" y="4306683"/>
                </a:cubicBezTo>
                <a:cubicBezTo>
                  <a:pt x="4390937" y="4463031"/>
                  <a:pt x="3900202" y="4562525"/>
                  <a:pt x="3982942" y="4587399"/>
                </a:cubicBezTo>
                <a:cubicBezTo>
                  <a:pt x="4051417" y="4608719"/>
                  <a:pt x="4119891" y="4587399"/>
                  <a:pt x="4185513" y="4541205"/>
                </a:cubicBezTo>
                <a:cubicBezTo>
                  <a:pt x="4291078" y="4466584"/>
                  <a:pt x="5010062" y="4523438"/>
                  <a:pt x="5212633" y="4455924"/>
                </a:cubicBezTo>
                <a:cubicBezTo>
                  <a:pt x="5241164" y="4445264"/>
                  <a:pt x="5283960" y="4409730"/>
                  <a:pt x="5312492" y="4473691"/>
                </a:cubicBezTo>
                <a:cubicBezTo>
                  <a:pt x="5098508" y="4704659"/>
                  <a:pt x="4833169" y="4654913"/>
                  <a:pt x="4596361" y="4818368"/>
                </a:cubicBezTo>
                <a:cubicBezTo>
                  <a:pt x="4684807" y="4917861"/>
                  <a:pt x="4776107" y="4907202"/>
                  <a:pt x="4873113" y="4885882"/>
                </a:cubicBezTo>
                <a:cubicBezTo>
                  <a:pt x="4895938" y="4878775"/>
                  <a:pt x="4930175" y="4871668"/>
                  <a:pt x="4935881" y="4914309"/>
                </a:cubicBezTo>
                <a:cubicBezTo>
                  <a:pt x="4941587" y="4967609"/>
                  <a:pt x="4898790" y="4978270"/>
                  <a:pt x="4873113" y="5003143"/>
                </a:cubicBezTo>
                <a:cubicBezTo>
                  <a:pt x="4833169" y="5038676"/>
                  <a:pt x="4773254" y="4999590"/>
                  <a:pt x="4721898" y="5095530"/>
                </a:cubicBezTo>
                <a:cubicBezTo>
                  <a:pt x="4873113" y="5067104"/>
                  <a:pt x="4998650" y="5020910"/>
                  <a:pt x="5132745" y="4949842"/>
                </a:cubicBezTo>
                <a:cubicBezTo>
                  <a:pt x="5121333" y="5006696"/>
                  <a:pt x="5081390" y="5035123"/>
                  <a:pt x="5101362" y="5081317"/>
                </a:cubicBezTo>
                <a:cubicBezTo>
                  <a:pt x="5118480" y="5116850"/>
                  <a:pt x="5164130" y="5131063"/>
                  <a:pt x="5138452" y="5198578"/>
                </a:cubicBezTo>
                <a:cubicBezTo>
                  <a:pt x="5067125" y="5273199"/>
                  <a:pt x="4967265" y="5258986"/>
                  <a:pt x="4904497" y="5362033"/>
                </a:cubicBezTo>
                <a:cubicBezTo>
                  <a:pt x="4818903" y="5507721"/>
                  <a:pt x="4684807" y="5564575"/>
                  <a:pt x="4579242" y="5674729"/>
                </a:cubicBezTo>
                <a:cubicBezTo>
                  <a:pt x="4545005" y="5713816"/>
                  <a:pt x="4313903" y="5841738"/>
                  <a:pt x="4253988" y="5884379"/>
                </a:cubicBezTo>
                <a:cubicBezTo>
                  <a:pt x="4168395" y="5944786"/>
                  <a:pt x="4071389" y="5966106"/>
                  <a:pt x="3985795" y="6069153"/>
                </a:cubicBezTo>
                <a:cubicBezTo>
                  <a:pt x="4065682" y="6086921"/>
                  <a:pt x="4134157" y="5990979"/>
                  <a:pt x="4231163" y="6030066"/>
                </a:cubicBezTo>
                <a:cubicBezTo>
                  <a:pt x="4074242" y="6133114"/>
                  <a:pt x="3931586" y="6182861"/>
                  <a:pt x="3814609" y="6317889"/>
                </a:cubicBezTo>
                <a:cubicBezTo>
                  <a:pt x="3800343" y="6335656"/>
                  <a:pt x="3771812" y="6332102"/>
                  <a:pt x="3751840" y="6339209"/>
                </a:cubicBezTo>
                <a:cubicBezTo>
                  <a:pt x="3529298" y="6406723"/>
                  <a:pt x="3309608" y="6467130"/>
                  <a:pt x="3089919" y="6563071"/>
                </a:cubicBezTo>
                <a:cubicBezTo>
                  <a:pt x="3041416" y="6584392"/>
                  <a:pt x="2955823" y="6595052"/>
                  <a:pt x="2961529" y="6662566"/>
                </a:cubicBezTo>
                <a:cubicBezTo>
                  <a:pt x="2972941" y="6765613"/>
                  <a:pt x="3055681" y="6687439"/>
                  <a:pt x="3107038" y="6673226"/>
                </a:cubicBezTo>
                <a:cubicBezTo>
                  <a:pt x="3269664" y="6634138"/>
                  <a:pt x="3432292" y="6570178"/>
                  <a:pt x="3594919" y="6591499"/>
                </a:cubicBezTo>
                <a:cubicBezTo>
                  <a:pt x="3483648" y="6637693"/>
                  <a:pt x="3372376" y="6680332"/>
                  <a:pt x="3261106" y="6726527"/>
                </a:cubicBezTo>
                <a:cubicBezTo>
                  <a:pt x="3386642" y="6705206"/>
                  <a:pt x="3495061" y="6786934"/>
                  <a:pt x="3620597" y="6740740"/>
                </a:cubicBezTo>
                <a:cubicBezTo>
                  <a:pt x="3660541" y="6726527"/>
                  <a:pt x="3700484" y="6765613"/>
                  <a:pt x="3703337" y="6826020"/>
                </a:cubicBezTo>
                <a:cubicBezTo>
                  <a:pt x="3706191" y="6847340"/>
                  <a:pt x="3700484" y="6865108"/>
                  <a:pt x="3689072" y="6879321"/>
                </a:cubicBezTo>
                <a:lnTo>
                  <a:pt x="0" y="6879321"/>
                </a:lnTo>
                <a:close/>
              </a:path>
            </a:pathLst>
          </a:custGeom>
          <a:noFill/>
          <a:extLst>
            <a:ext uri="{909E8E84-426E-40DD-AFC4-6F175D3DCCD1}">
              <a14:hiddenFill xmlns:a14="http://schemas.microsoft.com/office/drawing/2010/main">
                <a:solidFill>
                  <a:srgbClr val="FFFFFF"/>
                </a:solidFill>
              </a14:hiddenFill>
            </a:ext>
          </a:extLst>
        </p:spPr>
      </p:pic>
      <p:sp>
        <p:nvSpPr>
          <p:cNvPr id="7" name="Content Placeholder 6">
            <a:extLst>
              <a:ext uri="{FF2B5EF4-FFF2-40B4-BE49-F238E27FC236}">
                <a16:creationId xmlns:a16="http://schemas.microsoft.com/office/drawing/2014/main" id="{91A380DF-4C30-6D47-3375-49F023A278C4}"/>
              </a:ext>
            </a:extLst>
          </p:cNvPr>
          <p:cNvSpPr>
            <a:spLocks noGrp="1"/>
          </p:cNvSpPr>
          <p:nvPr>
            <p:ph idx="1"/>
          </p:nvPr>
        </p:nvSpPr>
        <p:spPr>
          <a:xfrm>
            <a:off x="4885341" y="1828800"/>
            <a:ext cx="3630007" cy="4348163"/>
          </a:xfrm>
        </p:spPr>
        <p:txBody>
          <a:bodyPr>
            <a:normAutofit/>
          </a:bodyPr>
          <a:lstStyle/>
          <a:p>
            <a:r>
              <a:rPr lang="en-US" sz="1300" dirty="0"/>
              <a:t>Time and space complexity of search algorithms determine if we can implement a tree search solution and which algorithm can do it!</a:t>
            </a:r>
          </a:p>
          <a:p>
            <a:endParaRPr lang="en-US" sz="1300" dirty="0"/>
          </a:p>
          <a:p>
            <a:r>
              <a:rPr lang="en-US" sz="1300" dirty="0"/>
              <a:t>We can estimate the complexity by the following methods:</a:t>
            </a:r>
          </a:p>
          <a:p>
            <a:pPr marL="800100" lvl="1" indent="-457200">
              <a:buFont typeface="+mj-lt"/>
              <a:buAutoNum type="arabicPeriod"/>
            </a:pPr>
            <a:r>
              <a:rPr lang="en-US" sz="1300" dirty="0"/>
              <a:t>Estimate the </a:t>
            </a:r>
            <a:r>
              <a:rPr lang="en-US" sz="1300" b="1" dirty="0"/>
              <a:t>state space size </a:t>
            </a:r>
            <a:r>
              <a:rPr lang="en-US" sz="1300" dirty="0"/>
              <a:t>using a factored state representation</a:t>
            </a:r>
          </a:p>
          <a:p>
            <a:pPr marL="800100" lvl="1" indent="-457200">
              <a:buFont typeface="+mj-lt"/>
              <a:buAutoNum type="arabicPeriod"/>
            </a:pPr>
            <a:r>
              <a:rPr lang="en-US" sz="1300" dirty="0"/>
              <a:t>Estimate the </a:t>
            </a:r>
            <a:r>
              <a:rPr lang="en-US" sz="1300" b="1" dirty="0"/>
              <a:t>search tree size </a:t>
            </a:r>
            <a:r>
              <a:rPr lang="en-US" sz="1300" dirty="0"/>
              <a:t>using the branching factor and the tree depth.</a:t>
            </a:r>
          </a:p>
          <a:p>
            <a:pPr marL="800100" lvl="1" indent="-457200">
              <a:buFont typeface="+mj-lt"/>
              <a:buAutoNum type="arabicPeriod"/>
            </a:pPr>
            <a:endParaRPr lang="en-US" sz="1300" dirty="0"/>
          </a:p>
          <a:p>
            <a:r>
              <a:rPr lang="en-US" sz="1300" dirty="0"/>
              <a:t>If each note represents exactly one state, then both estimates will be equivalent. We will learn soon when this is or is not the case.</a:t>
            </a:r>
          </a:p>
          <a:p>
            <a:endParaRPr lang="en-US" sz="1300" dirty="0"/>
          </a:p>
          <a:p>
            <a:r>
              <a:rPr lang="en-US" sz="1300" dirty="0"/>
              <a:t>We typically calculate an estimate of </a:t>
            </a:r>
          </a:p>
          <a:p>
            <a:pPr lvl="1"/>
            <a:r>
              <a:rPr lang="en-US" sz="1000" dirty="0"/>
              <a:t>the actual size for a given problem size, or</a:t>
            </a:r>
          </a:p>
          <a:p>
            <a:pPr lvl="1"/>
            <a:r>
              <a:rPr lang="en-US" sz="1000" dirty="0"/>
              <a:t>use the Big-O notation if we are interested in how the problem scales with size.</a:t>
            </a:r>
          </a:p>
        </p:txBody>
      </p:sp>
      <p:sp>
        <p:nvSpPr>
          <p:cNvPr id="5" name="Slide Number Placeholder 4">
            <a:extLst>
              <a:ext uri="{FF2B5EF4-FFF2-40B4-BE49-F238E27FC236}">
                <a16:creationId xmlns:a16="http://schemas.microsoft.com/office/drawing/2014/main" id="{3BAF56FA-64A2-1255-8489-65F881EAC7BA}"/>
              </a:ext>
            </a:extLst>
          </p:cNvPr>
          <p:cNvSpPr>
            <a:spLocks noGrp="1"/>
          </p:cNvSpPr>
          <p:nvPr>
            <p:ph type="sldNum" sz="quarter" idx="4294967295"/>
          </p:nvPr>
        </p:nvSpPr>
        <p:spPr>
          <a:xfrm>
            <a:off x="6457950" y="6356350"/>
            <a:ext cx="2057400" cy="365125"/>
          </a:xfrm>
        </p:spPr>
        <p:txBody>
          <a:bodyPr>
            <a:normAutofit/>
          </a:bodyPr>
          <a:lstStyle/>
          <a:p>
            <a:pPr>
              <a:spcAft>
                <a:spcPts val="600"/>
              </a:spcAft>
            </a:pPr>
            <a:fld id="{768102A7-0C28-44F0-898D-773E064A07DF}" type="slidenum">
              <a:rPr lang="en-US" smtClean="0"/>
              <a:pPr>
                <a:spcAft>
                  <a:spcPts val="600"/>
                </a:spcAft>
              </a:pPr>
              <a:t>35</a:t>
            </a:fld>
            <a:endParaRPr lang="en-US"/>
          </a:p>
        </p:txBody>
      </p:sp>
    </p:spTree>
    <p:extLst>
      <p:ext uri="{BB962C8B-B14F-4D97-AF65-F5344CB8AC3E}">
        <p14:creationId xmlns:p14="http://schemas.microsoft.com/office/powerpoint/2010/main" val="2589897550"/>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bg>
      <p:bgPr>
        <a:solidFill>
          <a:srgbClr val="000000"/>
        </a:solidFill>
        <a:effectLst/>
      </p:bgPr>
    </p:bg>
    <p:spTree>
      <p:nvGrpSpPr>
        <p:cNvPr id="1" name=""/>
        <p:cNvGrpSpPr/>
        <p:nvPr/>
      </p:nvGrpSpPr>
      <p:grpSpPr>
        <a:xfrm>
          <a:off x="0" y="0"/>
          <a:ext cx="0" cy="0"/>
          <a:chOff x="0" y="0"/>
          <a:chExt cx="0" cy="0"/>
        </a:xfrm>
      </p:grpSpPr>
      <p:sp>
        <p:nvSpPr>
          <p:cNvPr id="1028" name="Rectangle 70">
            <a:extLst>
              <a:ext uri="{FF2B5EF4-FFF2-40B4-BE49-F238E27FC236}">
                <a16:creationId xmlns:a16="http://schemas.microsoft.com/office/drawing/2014/main" id="{71B2258F-86CA-4D4D-8270-BC05FCDEBFB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9144000" cy="6857999"/>
          </a:xfrm>
          <a:prstGeom prst="rect">
            <a:avLst/>
          </a:prstGeom>
          <a:solidFill>
            <a:srgbClr val="00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026" name="Picture 2" descr="Choose A Path Stock Photos And Images - 123RF">
            <a:extLst>
              <a:ext uri="{FF2B5EF4-FFF2-40B4-BE49-F238E27FC236}">
                <a16:creationId xmlns:a16="http://schemas.microsoft.com/office/drawing/2014/main" id="{5C15033E-E7BC-49C3-9A52-69C05C52AA22}"/>
              </a:ext>
            </a:extLst>
          </p:cNvPr>
          <p:cNvPicPr>
            <a:picLocks noChangeAspect="1" noChangeArrowheads="1"/>
          </p:cNvPicPr>
          <p:nvPr/>
        </p:nvPicPr>
        <p:blipFill rotWithShape="1">
          <a:blip r:embed="rId2">
            <a:alphaModFix/>
            <a:extLst>
              <a:ext uri="{28A0092B-C50C-407E-A947-70E740481C1C}">
                <a14:useLocalDpi xmlns:a14="http://schemas.microsoft.com/office/drawing/2010/main" val="0"/>
              </a:ext>
            </a:extLst>
          </a:blip>
          <a:srcRect/>
          <a:stretch/>
        </p:blipFill>
        <p:spPr bwMode="auto">
          <a:xfrm>
            <a:off x="20" y="1"/>
            <a:ext cx="9143980" cy="6857999"/>
          </a:xfrm>
          <a:prstGeom prst="rect">
            <a:avLst/>
          </a:prstGeom>
          <a:noFill/>
          <a:extLst>
            <a:ext uri="{909E8E84-426E-40DD-AFC4-6F175D3DCCD1}">
              <a14:hiddenFill xmlns:a14="http://schemas.microsoft.com/office/drawing/2010/main">
                <a:solidFill>
                  <a:srgbClr val="FFFFFF"/>
                </a:solidFill>
              </a14:hiddenFill>
            </a:ext>
          </a:extLst>
        </p:spPr>
      </p:pic>
      <p:sp>
        <p:nvSpPr>
          <p:cNvPr id="7" name="Title 6">
            <a:extLst>
              <a:ext uri="{FF2B5EF4-FFF2-40B4-BE49-F238E27FC236}">
                <a16:creationId xmlns:a16="http://schemas.microsoft.com/office/drawing/2014/main" id="{7F94346C-F8A3-4492-9257-74C89F764643}"/>
              </a:ext>
            </a:extLst>
          </p:cNvPr>
          <p:cNvSpPr>
            <a:spLocks noGrp="1"/>
          </p:cNvSpPr>
          <p:nvPr>
            <p:ph type="title"/>
          </p:nvPr>
        </p:nvSpPr>
        <p:spPr>
          <a:xfrm>
            <a:off x="914400" y="76200"/>
            <a:ext cx="6858000" cy="1011238"/>
          </a:xfrm>
        </p:spPr>
        <p:txBody>
          <a:bodyPr vert="horz" lIns="91440" tIns="45720" rIns="91440" bIns="45720" rtlCol="0" anchor="b">
            <a:normAutofit/>
          </a:bodyPr>
          <a:lstStyle/>
          <a:p>
            <a:pPr algn="ctr" defTabSz="914400"/>
            <a:r>
              <a:rPr lang="en-US" sz="6000" b="1" dirty="0">
                <a:solidFill>
                  <a:srgbClr val="FFFFFF"/>
                </a:solidFill>
              </a:rPr>
              <a:t>Uninformed Search</a:t>
            </a:r>
          </a:p>
        </p:txBody>
      </p:sp>
      <p:sp>
        <p:nvSpPr>
          <p:cNvPr id="3" name="TextBox 2">
            <a:extLst>
              <a:ext uri="{FF2B5EF4-FFF2-40B4-BE49-F238E27FC236}">
                <a16:creationId xmlns:a16="http://schemas.microsoft.com/office/drawing/2014/main" id="{088059E6-D753-634D-91CF-99F459E33810}"/>
              </a:ext>
            </a:extLst>
          </p:cNvPr>
          <p:cNvSpPr txBox="1"/>
          <p:nvPr/>
        </p:nvSpPr>
        <p:spPr>
          <a:xfrm>
            <a:off x="3276600" y="6165502"/>
            <a:ext cx="2971800" cy="461665"/>
          </a:xfrm>
          <a:prstGeom prst="rect">
            <a:avLst/>
          </a:prstGeom>
          <a:noFill/>
        </p:spPr>
        <p:txBody>
          <a:bodyPr wrap="square">
            <a:spAutoFit/>
          </a:bodyPr>
          <a:lstStyle/>
          <a:p>
            <a:pPr algn="ctr"/>
            <a:r>
              <a:rPr lang="en-US" sz="2400" dirty="0">
                <a:solidFill>
                  <a:srgbClr val="FFFFFF"/>
                </a:solidFill>
              </a:rPr>
              <a:t>Breadth-First Search</a:t>
            </a:r>
            <a:endParaRPr lang="en-US" sz="2400" dirty="0"/>
          </a:p>
        </p:txBody>
      </p:sp>
    </p:spTree>
    <p:extLst>
      <p:ext uri="{BB962C8B-B14F-4D97-AF65-F5344CB8AC3E}">
        <p14:creationId xmlns:p14="http://schemas.microsoft.com/office/powerpoint/2010/main" val="379058558"/>
      </p:ext>
    </p:extLst>
  </p:cSld>
  <p:clrMapOvr>
    <a:overrideClrMapping bg1="dk1" tx1="lt1" bg2="dk2" tx2="lt2" accent1="accent1" accent2="accent2" accent3="accent3" accent4="accent4" accent5="accent5" accent6="accent6" hlink="hlink" folHlink="folHlink"/>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602" name="Rectangle 2"/>
          <p:cNvSpPr>
            <a:spLocks noGrp="1" noChangeArrowheads="1"/>
          </p:cNvSpPr>
          <p:nvPr>
            <p:ph type="title"/>
          </p:nvPr>
        </p:nvSpPr>
        <p:spPr/>
        <p:txBody>
          <a:bodyPr/>
          <a:lstStyle/>
          <a:p>
            <a:r>
              <a:rPr lang="en-US" dirty="0"/>
              <a:t>Uninformed Search Strategies</a:t>
            </a:r>
          </a:p>
        </p:txBody>
      </p:sp>
      <p:sp>
        <p:nvSpPr>
          <p:cNvPr id="25603" name="Rectangle 3"/>
          <p:cNvSpPr>
            <a:spLocks noGrp="1" noChangeArrowheads="1"/>
          </p:cNvSpPr>
          <p:nvPr>
            <p:ph idx="1"/>
          </p:nvPr>
        </p:nvSpPr>
        <p:spPr/>
        <p:txBody>
          <a:bodyPr>
            <a:normAutofit lnSpcReduction="10000"/>
          </a:bodyPr>
          <a:lstStyle/>
          <a:p>
            <a:pPr marL="0" indent="0">
              <a:buNone/>
            </a:pPr>
            <a:r>
              <a:rPr lang="en-US" dirty="0"/>
              <a:t>The search algorithm/planning agent is </a:t>
            </a:r>
            <a:r>
              <a:rPr lang="en-US" b="1" dirty="0">
                <a:solidFill>
                  <a:srgbClr val="FF0000"/>
                </a:solidFill>
              </a:rPr>
              <a:t>not provided with information about how close a state is to the goal state</a:t>
            </a:r>
            <a:r>
              <a:rPr lang="en-US" dirty="0"/>
              <a:t>. </a:t>
            </a:r>
          </a:p>
          <a:p>
            <a:pPr marL="0" indent="0">
              <a:buNone/>
            </a:pPr>
            <a:endParaRPr lang="en-US" dirty="0"/>
          </a:p>
          <a:p>
            <a:pPr marL="0" indent="0">
              <a:buNone/>
            </a:pPr>
            <a:r>
              <a:rPr lang="en-US" dirty="0"/>
              <a:t>It can only use </a:t>
            </a:r>
          </a:p>
          <a:p>
            <a:pPr lvl="1"/>
            <a:r>
              <a:rPr lang="en-US" dirty="0"/>
              <a:t>the labels of the </a:t>
            </a:r>
            <a:r>
              <a:rPr lang="en-US" b="1" dirty="0"/>
              <a:t>atomic states </a:t>
            </a:r>
            <a:r>
              <a:rPr lang="en-US" dirty="0"/>
              <a:t>and </a:t>
            </a:r>
          </a:p>
          <a:p>
            <a:pPr lvl="1"/>
            <a:r>
              <a:rPr lang="en-US" dirty="0"/>
              <a:t>the transition function.</a:t>
            </a:r>
          </a:p>
          <a:p>
            <a:pPr marL="0" indent="0">
              <a:buNone/>
            </a:pPr>
            <a:endParaRPr lang="en-US" dirty="0"/>
          </a:p>
          <a:p>
            <a:pPr marL="0" indent="0">
              <a:buNone/>
            </a:pPr>
            <a:r>
              <a:rPr lang="en-US" b="1" dirty="0"/>
              <a:t>Idea</a:t>
            </a:r>
            <a:r>
              <a:rPr lang="en-US" dirty="0"/>
              <a:t>: blindly search, following a simple strategy, until the goal state is reached.</a:t>
            </a:r>
          </a:p>
          <a:p>
            <a:endParaRPr lang="en-US" dirty="0"/>
          </a:p>
          <a:p>
            <a:pPr marL="0" indent="0">
              <a:buNone/>
            </a:pPr>
            <a:r>
              <a:rPr lang="en-US" b="1" dirty="0"/>
              <a:t>Search strategies:</a:t>
            </a:r>
          </a:p>
          <a:p>
            <a:pPr lvl="1"/>
            <a:r>
              <a:rPr lang="en-US" b="1" dirty="0">
                <a:solidFill>
                  <a:srgbClr val="FF0000"/>
                </a:solidFill>
              </a:rPr>
              <a:t>Breadth-first search strategy</a:t>
            </a:r>
            <a:r>
              <a:rPr lang="en-US" dirty="0"/>
              <a:t>: BFS and uniform-cost search</a:t>
            </a:r>
          </a:p>
          <a:p>
            <a:pPr lvl="1"/>
            <a:r>
              <a:rPr lang="en-US" b="1" dirty="0">
                <a:solidFill>
                  <a:srgbClr val="FF0000"/>
                </a:solidFill>
              </a:rPr>
              <a:t>Depth-first search strategy</a:t>
            </a:r>
            <a:r>
              <a:rPr lang="en-US" dirty="0"/>
              <a:t>: DFS and Iterative deepening search</a:t>
            </a:r>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602" name="Rectangle 2"/>
          <p:cNvSpPr>
            <a:spLocks noGrp="1" noChangeArrowheads="1"/>
          </p:cNvSpPr>
          <p:nvPr>
            <p:ph type="title"/>
          </p:nvPr>
        </p:nvSpPr>
        <p:spPr/>
        <p:txBody>
          <a:bodyPr/>
          <a:lstStyle/>
          <a:p>
            <a:r>
              <a:rPr lang="en-US" dirty="0"/>
              <a:t>Breadth-First Search (BFS)</a:t>
            </a:r>
          </a:p>
        </p:txBody>
      </p:sp>
      <p:sp>
        <p:nvSpPr>
          <p:cNvPr id="25603" name="Rectangle 3"/>
          <p:cNvSpPr>
            <a:spLocks noGrp="1" noChangeArrowheads="1"/>
          </p:cNvSpPr>
          <p:nvPr>
            <p:ph idx="1"/>
          </p:nvPr>
        </p:nvSpPr>
        <p:spPr>
          <a:xfrm>
            <a:off x="628650" y="1825625"/>
            <a:ext cx="7886700" cy="820303"/>
          </a:xfrm>
        </p:spPr>
        <p:txBody>
          <a:bodyPr>
            <a:normAutofit/>
          </a:bodyPr>
          <a:lstStyle/>
          <a:p>
            <a:pPr marL="0" indent="0">
              <a:buNone/>
            </a:pPr>
            <a:r>
              <a:rPr lang="en-US" b="1" dirty="0"/>
              <a:t>Expansion rule: </a:t>
            </a:r>
            <a:r>
              <a:rPr lang="en-US" dirty="0"/>
              <a:t>Expand shallowest unexpanded node in the frontier (=</a:t>
            </a:r>
            <a:r>
              <a:rPr lang="en-US" b="1" dirty="0"/>
              <a:t>FIFO</a:t>
            </a:r>
            <a:r>
              <a:rPr lang="en-US" dirty="0"/>
              <a:t>). </a:t>
            </a:r>
          </a:p>
        </p:txBody>
      </p:sp>
      <p:pic>
        <p:nvPicPr>
          <p:cNvPr id="2" name="Picture 1">
            <a:extLst>
              <a:ext uri="{FF2B5EF4-FFF2-40B4-BE49-F238E27FC236}">
                <a16:creationId xmlns:a16="http://schemas.microsoft.com/office/drawing/2014/main" id="{50478804-D19B-42CB-9174-573046574EBF}"/>
              </a:ext>
            </a:extLst>
          </p:cNvPr>
          <p:cNvPicPr>
            <a:picLocks noChangeAspect="1"/>
          </p:cNvPicPr>
          <p:nvPr/>
        </p:nvPicPr>
        <p:blipFill>
          <a:blip r:embed="rId3"/>
          <a:stretch>
            <a:fillRect/>
          </a:stretch>
        </p:blipFill>
        <p:spPr>
          <a:xfrm>
            <a:off x="254062" y="2514600"/>
            <a:ext cx="8635876" cy="2047906"/>
          </a:xfrm>
          <a:prstGeom prst="rect">
            <a:avLst/>
          </a:prstGeom>
        </p:spPr>
      </p:pic>
      <p:sp>
        <p:nvSpPr>
          <p:cNvPr id="3" name="Rectangle 2">
            <a:extLst>
              <a:ext uri="{FF2B5EF4-FFF2-40B4-BE49-F238E27FC236}">
                <a16:creationId xmlns:a16="http://schemas.microsoft.com/office/drawing/2014/main" id="{6586C735-C78E-442B-A9DB-C9383AB15207}"/>
              </a:ext>
            </a:extLst>
          </p:cNvPr>
          <p:cNvSpPr/>
          <p:nvPr/>
        </p:nvSpPr>
        <p:spPr>
          <a:xfrm>
            <a:off x="381000" y="4731922"/>
            <a:ext cx="8382000" cy="1754326"/>
          </a:xfrm>
          <a:prstGeom prst="rect">
            <a:avLst/>
          </a:prstGeom>
        </p:spPr>
        <p:style>
          <a:lnRef idx="2">
            <a:schemeClr val="accent3">
              <a:shade val="15000"/>
            </a:schemeClr>
          </a:lnRef>
          <a:fillRef idx="1">
            <a:schemeClr val="accent3"/>
          </a:fillRef>
          <a:effectRef idx="0">
            <a:schemeClr val="accent3"/>
          </a:effectRef>
          <a:fontRef idx="minor">
            <a:schemeClr val="lt1"/>
          </a:fontRef>
        </p:style>
        <p:txBody>
          <a:bodyPr wrap="square">
            <a:spAutoFit/>
          </a:bodyPr>
          <a:lstStyle/>
          <a:p>
            <a:r>
              <a:rPr lang="en-US" b="1" dirty="0"/>
              <a:t>Data Structures</a:t>
            </a:r>
          </a:p>
          <a:p>
            <a:pPr marL="285750" indent="-285750">
              <a:buFont typeface="Arial" panose="020B0604020202020204" pitchFamily="34" charset="0"/>
              <a:buChar char="•"/>
            </a:pPr>
            <a:r>
              <a:rPr lang="en-US" b="1" dirty="0"/>
              <a:t>Frontier </a:t>
            </a:r>
            <a:r>
              <a:rPr lang="en-US" dirty="0"/>
              <a:t>data structure: holds references to the green nodes (green) and is implemented as a FIFO </a:t>
            </a:r>
            <a:r>
              <a:rPr lang="en-US" b="1" dirty="0"/>
              <a:t>queue</a:t>
            </a:r>
            <a:r>
              <a:rPr lang="en-US" dirty="0"/>
              <a:t>.</a:t>
            </a:r>
          </a:p>
          <a:p>
            <a:pPr marL="285750" indent="-285750">
              <a:buFont typeface="Arial" panose="020B0604020202020204" pitchFamily="34" charset="0"/>
              <a:buChar char="•"/>
            </a:pPr>
            <a:r>
              <a:rPr lang="en-US" b="1" dirty="0"/>
              <a:t>Reached</a:t>
            </a:r>
            <a:r>
              <a:rPr lang="en-US" dirty="0"/>
              <a:t> data structure: holds references to all visited nodes (gray and green) and is used to prevent visiting nodes more than once (cycle and redundant path checking).</a:t>
            </a:r>
          </a:p>
          <a:p>
            <a:pPr marL="285750" indent="-285750">
              <a:buFont typeface="Arial" panose="020B0604020202020204" pitchFamily="34" charset="0"/>
              <a:buChar char="•"/>
            </a:pPr>
            <a:r>
              <a:rPr lang="en-US" dirty="0"/>
              <a:t>Builds a</a:t>
            </a:r>
            <a:r>
              <a:rPr lang="en-US" b="1" dirty="0"/>
              <a:t> complete tree </a:t>
            </a:r>
            <a:r>
              <a:rPr lang="en-US" dirty="0"/>
              <a:t>with links between parent and child.</a:t>
            </a:r>
            <a:endParaRPr lang="en-US" b="1" dirty="0"/>
          </a:p>
        </p:txBody>
      </p:sp>
    </p:spTree>
    <p:extLst>
      <p:ext uri="{BB962C8B-B14F-4D97-AF65-F5344CB8AC3E}">
        <p14:creationId xmlns:p14="http://schemas.microsoft.com/office/powerpoint/2010/main" val="3460953817"/>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D1C778E-116C-4A58-BEA9-76E3144E1FE8}"/>
              </a:ext>
            </a:extLst>
          </p:cNvPr>
          <p:cNvSpPr>
            <a:spLocks noGrp="1"/>
          </p:cNvSpPr>
          <p:nvPr>
            <p:ph type="title"/>
          </p:nvPr>
        </p:nvSpPr>
        <p:spPr/>
        <p:txBody>
          <a:bodyPr/>
          <a:lstStyle/>
          <a:p>
            <a:r>
              <a:rPr lang="en-US" dirty="0"/>
              <a:t>Implementation: Breadth-First Search </a:t>
            </a:r>
          </a:p>
        </p:txBody>
      </p:sp>
      <p:sp>
        <p:nvSpPr>
          <p:cNvPr id="6" name="Slide Number Placeholder 5">
            <a:extLst>
              <a:ext uri="{FF2B5EF4-FFF2-40B4-BE49-F238E27FC236}">
                <a16:creationId xmlns:a16="http://schemas.microsoft.com/office/drawing/2014/main" id="{44E064F9-98BA-4E2A-A11B-578018FD1F64}"/>
              </a:ext>
            </a:extLst>
          </p:cNvPr>
          <p:cNvSpPr>
            <a:spLocks noGrp="1"/>
          </p:cNvSpPr>
          <p:nvPr>
            <p:ph type="sldNum" sz="quarter" idx="12"/>
          </p:nvPr>
        </p:nvSpPr>
        <p:spPr/>
        <p:txBody>
          <a:bodyPr/>
          <a:lstStyle/>
          <a:p>
            <a:fld id="{E97C47EE-1537-423B-A9B2-96D7BC867AC1}" type="slidenum">
              <a:rPr lang="en-US" smtClean="0"/>
              <a:t>39</a:t>
            </a:fld>
            <a:endParaRPr lang="en-US"/>
          </a:p>
        </p:txBody>
      </p:sp>
      <p:pic>
        <p:nvPicPr>
          <p:cNvPr id="8" name="Picture 7">
            <a:extLst>
              <a:ext uri="{FF2B5EF4-FFF2-40B4-BE49-F238E27FC236}">
                <a16:creationId xmlns:a16="http://schemas.microsoft.com/office/drawing/2014/main" id="{0445D743-DD23-48C7-BA32-92F6DD07F4DC}"/>
              </a:ext>
            </a:extLst>
          </p:cNvPr>
          <p:cNvPicPr>
            <a:picLocks noChangeAspect="1"/>
          </p:cNvPicPr>
          <p:nvPr/>
        </p:nvPicPr>
        <p:blipFill>
          <a:blip r:embed="rId2"/>
          <a:stretch>
            <a:fillRect/>
          </a:stretch>
        </p:blipFill>
        <p:spPr>
          <a:xfrm>
            <a:off x="381000" y="2133601"/>
            <a:ext cx="7682555" cy="3657599"/>
          </a:xfrm>
          <a:prstGeom prst="rect">
            <a:avLst/>
          </a:prstGeom>
        </p:spPr>
        <p:style>
          <a:lnRef idx="2">
            <a:schemeClr val="accent2"/>
          </a:lnRef>
          <a:fillRef idx="1">
            <a:schemeClr val="lt1"/>
          </a:fillRef>
          <a:effectRef idx="0">
            <a:schemeClr val="accent2"/>
          </a:effectRef>
          <a:fontRef idx="minor">
            <a:schemeClr val="dk1"/>
          </a:fontRef>
        </p:style>
      </p:pic>
      <p:sp>
        <p:nvSpPr>
          <p:cNvPr id="10" name="Speech Bubble: Rectangle with Corners Rounded 9">
            <a:extLst>
              <a:ext uri="{FF2B5EF4-FFF2-40B4-BE49-F238E27FC236}">
                <a16:creationId xmlns:a16="http://schemas.microsoft.com/office/drawing/2014/main" id="{1CCC5912-F481-427C-8D65-4F8A17B66501}"/>
              </a:ext>
            </a:extLst>
          </p:cNvPr>
          <p:cNvSpPr/>
          <p:nvPr/>
        </p:nvSpPr>
        <p:spPr>
          <a:xfrm>
            <a:off x="5571134" y="4911032"/>
            <a:ext cx="3214168" cy="1162743"/>
          </a:xfrm>
          <a:prstGeom prst="wedgeRoundRectCallout">
            <a:avLst>
              <a:gd name="adj1" fmla="val -110522"/>
              <a:gd name="adj2" fmla="val -60753"/>
              <a:gd name="adj3" fmla="val 16667"/>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b="1" dirty="0"/>
              <a:t>reached</a:t>
            </a:r>
            <a:r>
              <a:rPr lang="en-US" dirty="0"/>
              <a:t> makes sure we do not visit nodes twice (e.g., in a cycle or other redundant path). Fast lookup is important.</a:t>
            </a:r>
          </a:p>
        </p:txBody>
      </p:sp>
      <p:sp>
        <p:nvSpPr>
          <p:cNvPr id="9" name="Speech Bubble: Rectangle with Corners Rounded 8">
            <a:extLst>
              <a:ext uri="{FF2B5EF4-FFF2-40B4-BE49-F238E27FC236}">
                <a16:creationId xmlns:a16="http://schemas.microsoft.com/office/drawing/2014/main" id="{EE9CAB1B-2075-4624-BD89-9EDD8A7CABB3}"/>
              </a:ext>
            </a:extLst>
          </p:cNvPr>
          <p:cNvSpPr/>
          <p:nvPr/>
        </p:nvSpPr>
        <p:spPr>
          <a:xfrm>
            <a:off x="5593436" y="3271923"/>
            <a:ext cx="3191866" cy="766677"/>
          </a:xfrm>
          <a:prstGeom prst="wedgeRoundRectCallout">
            <a:avLst>
              <a:gd name="adj1" fmla="val -115763"/>
              <a:gd name="adj2" fmla="val 40152"/>
              <a:gd name="adj3" fmla="val 16667"/>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b="1" dirty="0"/>
              <a:t>Expand </a:t>
            </a:r>
            <a:r>
              <a:rPr lang="en-US" dirty="0"/>
              <a:t>adds the next level below node to the frontier.</a:t>
            </a:r>
          </a:p>
        </p:txBody>
      </p:sp>
      <p:sp>
        <p:nvSpPr>
          <p:cNvPr id="3" name="Rectangle 2">
            <a:extLst>
              <a:ext uri="{FF2B5EF4-FFF2-40B4-BE49-F238E27FC236}">
                <a16:creationId xmlns:a16="http://schemas.microsoft.com/office/drawing/2014/main" id="{0DDCC928-4A9A-518D-B6BC-328D34F5733A}"/>
              </a:ext>
            </a:extLst>
          </p:cNvPr>
          <p:cNvSpPr/>
          <p:nvPr/>
        </p:nvSpPr>
        <p:spPr>
          <a:xfrm>
            <a:off x="1981200" y="2971800"/>
            <a:ext cx="1143000" cy="228600"/>
          </a:xfrm>
          <a:prstGeom prst="rect">
            <a:avLst/>
          </a:prstGeom>
          <a:solidFill>
            <a:schemeClr val="accent2">
              <a:alpha val="50000"/>
            </a:schemeClr>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lang="en-US"/>
          </a:p>
        </p:txBody>
      </p:sp>
      <p:sp>
        <p:nvSpPr>
          <p:cNvPr id="4" name="Rectangle 3">
            <a:extLst>
              <a:ext uri="{FF2B5EF4-FFF2-40B4-BE49-F238E27FC236}">
                <a16:creationId xmlns:a16="http://schemas.microsoft.com/office/drawing/2014/main" id="{5AB171C3-3A9B-9667-057E-94FE0D6C84FD}"/>
              </a:ext>
            </a:extLst>
          </p:cNvPr>
          <p:cNvSpPr/>
          <p:nvPr/>
        </p:nvSpPr>
        <p:spPr>
          <a:xfrm>
            <a:off x="2438400" y="4670579"/>
            <a:ext cx="762000" cy="228600"/>
          </a:xfrm>
          <a:prstGeom prst="rect">
            <a:avLst/>
          </a:prstGeom>
          <a:solidFill>
            <a:schemeClr val="accent2">
              <a:alpha val="50000"/>
            </a:schemeClr>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362106796"/>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D1C778E-116C-4A58-BEA9-76E3144E1FE8}"/>
              </a:ext>
            </a:extLst>
          </p:cNvPr>
          <p:cNvSpPr>
            <a:spLocks noGrp="1"/>
          </p:cNvSpPr>
          <p:nvPr>
            <p:ph type="title"/>
          </p:nvPr>
        </p:nvSpPr>
        <p:spPr/>
        <p:txBody>
          <a:bodyPr/>
          <a:lstStyle/>
          <a:p>
            <a:r>
              <a:rPr lang="en-US" dirty="0"/>
              <a:t>Implementation: Expanding the Search Tree</a:t>
            </a:r>
          </a:p>
        </p:txBody>
      </p:sp>
      <p:sp>
        <p:nvSpPr>
          <p:cNvPr id="7" name="Content Placeholder 6">
            <a:extLst>
              <a:ext uri="{FF2B5EF4-FFF2-40B4-BE49-F238E27FC236}">
                <a16:creationId xmlns:a16="http://schemas.microsoft.com/office/drawing/2014/main" id="{0A021354-63AE-4594-BEF3-6E20F5FE68F1}"/>
              </a:ext>
            </a:extLst>
          </p:cNvPr>
          <p:cNvSpPr>
            <a:spLocks noGrp="1"/>
          </p:cNvSpPr>
          <p:nvPr>
            <p:ph idx="1"/>
          </p:nvPr>
        </p:nvSpPr>
        <p:spPr>
          <a:xfrm>
            <a:off x="628650" y="1825625"/>
            <a:ext cx="7886700" cy="1492305"/>
          </a:xfrm>
        </p:spPr>
        <p:txBody>
          <a:bodyPr>
            <a:normAutofit/>
          </a:bodyPr>
          <a:lstStyle/>
          <a:p>
            <a:r>
              <a:rPr lang="en-US" dirty="0"/>
              <a:t>AI tree search creates the search tree while searching.</a:t>
            </a:r>
          </a:p>
          <a:p>
            <a:r>
              <a:rPr lang="en-US" dirty="0"/>
              <a:t>The EXPAND function tries all available actions in the current node using the </a:t>
            </a:r>
            <a:r>
              <a:rPr lang="en-US" b="1" dirty="0"/>
              <a:t>transition function </a:t>
            </a:r>
            <a:r>
              <a:rPr lang="en-US" dirty="0"/>
              <a:t>(RESULTS). </a:t>
            </a:r>
          </a:p>
          <a:p>
            <a:r>
              <a:rPr lang="en-US" dirty="0"/>
              <a:t>It returns a </a:t>
            </a:r>
            <a:r>
              <a:rPr lang="en-US" b="1" dirty="0"/>
              <a:t>list of child nodes </a:t>
            </a:r>
            <a:r>
              <a:rPr lang="en-US" dirty="0"/>
              <a:t>for the frontier.</a:t>
            </a:r>
          </a:p>
        </p:txBody>
      </p:sp>
      <p:pic>
        <p:nvPicPr>
          <p:cNvPr id="4" name="Picture 3">
            <a:extLst>
              <a:ext uri="{FF2B5EF4-FFF2-40B4-BE49-F238E27FC236}">
                <a16:creationId xmlns:a16="http://schemas.microsoft.com/office/drawing/2014/main" id="{3A7DE6D3-9BDA-490E-B2A7-C931837A3BE7}"/>
              </a:ext>
            </a:extLst>
          </p:cNvPr>
          <p:cNvPicPr>
            <a:picLocks noChangeAspect="1"/>
          </p:cNvPicPr>
          <p:nvPr/>
        </p:nvPicPr>
        <p:blipFill>
          <a:blip r:embed="rId2"/>
          <a:stretch>
            <a:fillRect/>
          </a:stretch>
        </p:blipFill>
        <p:spPr>
          <a:xfrm>
            <a:off x="413695" y="3866457"/>
            <a:ext cx="7682556" cy="1782288"/>
          </a:xfrm>
          <a:prstGeom prst="rect">
            <a:avLst/>
          </a:prstGeom>
        </p:spPr>
        <p:style>
          <a:lnRef idx="2">
            <a:schemeClr val="accent2"/>
          </a:lnRef>
          <a:fillRef idx="1">
            <a:schemeClr val="lt1"/>
          </a:fillRef>
          <a:effectRef idx="0">
            <a:schemeClr val="accent2"/>
          </a:effectRef>
          <a:fontRef idx="minor">
            <a:schemeClr val="dk1"/>
          </a:fontRef>
        </p:style>
      </p:pic>
      <p:sp>
        <p:nvSpPr>
          <p:cNvPr id="9" name="Speech Bubble: Rectangle with Corners Rounded 8">
            <a:extLst>
              <a:ext uri="{FF2B5EF4-FFF2-40B4-BE49-F238E27FC236}">
                <a16:creationId xmlns:a16="http://schemas.microsoft.com/office/drawing/2014/main" id="{2243B95F-BA60-4A10-B6FF-70AE91F5757E}"/>
              </a:ext>
            </a:extLst>
          </p:cNvPr>
          <p:cNvSpPr/>
          <p:nvPr/>
        </p:nvSpPr>
        <p:spPr>
          <a:xfrm>
            <a:off x="2057400" y="5883274"/>
            <a:ext cx="4228628" cy="609600"/>
          </a:xfrm>
          <a:prstGeom prst="wedgeRoundRectCallout">
            <a:avLst>
              <a:gd name="adj1" fmla="val -65871"/>
              <a:gd name="adj2" fmla="val -127025"/>
              <a:gd name="adj3" fmla="val 16667"/>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Yield (generator function) can also be implemented by returning a list of nodes.</a:t>
            </a:r>
          </a:p>
        </p:txBody>
      </p:sp>
      <p:sp>
        <p:nvSpPr>
          <p:cNvPr id="11" name="Speech Bubble: Rectangle with Corners Rounded 10">
            <a:extLst>
              <a:ext uri="{FF2B5EF4-FFF2-40B4-BE49-F238E27FC236}">
                <a16:creationId xmlns:a16="http://schemas.microsoft.com/office/drawing/2014/main" id="{39AE98EB-D134-4211-9F36-07A3F674F944}"/>
              </a:ext>
            </a:extLst>
          </p:cNvPr>
          <p:cNvSpPr/>
          <p:nvPr/>
        </p:nvSpPr>
        <p:spPr>
          <a:xfrm>
            <a:off x="4876800" y="4267200"/>
            <a:ext cx="1207507" cy="637206"/>
          </a:xfrm>
          <a:prstGeom prst="wedgeRoundRectCallout">
            <a:avLst>
              <a:gd name="adj1" fmla="val -132532"/>
              <a:gd name="adj2" fmla="val 36842"/>
              <a:gd name="adj3" fmla="val 16667"/>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Transition function</a:t>
            </a:r>
          </a:p>
        </p:txBody>
      </p:sp>
    </p:spTree>
    <p:extLst>
      <p:ext uri="{BB962C8B-B14F-4D97-AF65-F5344CB8AC3E}">
        <p14:creationId xmlns:p14="http://schemas.microsoft.com/office/powerpoint/2010/main" val="1788206488"/>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6626" name="Rectangle 2"/>
          <p:cNvSpPr>
            <a:spLocks noGrp="1" noChangeArrowheads="1"/>
          </p:cNvSpPr>
          <p:nvPr>
            <p:ph type="title"/>
          </p:nvPr>
        </p:nvSpPr>
        <p:spPr/>
        <p:txBody>
          <a:bodyPr/>
          <a:lstStyle/>
          <a:p>
            <a:r>
              <a:rPr lang="en-US" dirty="0"/>
              <a:t>Time and Space Complexity </a:t>
            </a:r>
            <a:br>
              <a:rPr lang="en-US" dirty="0"/>
            </a:br>
            <a:r>
              <a:rPr lang="en-US" dirty="0"/>
              <a:t>Breadth-First Search</a:t>
            </a:r>
          </a:p>
        </p:txBody>
      </p:sp>
      <mc:AlternateContent xmlns:mc="http://schemas.openxmlformats.org/markup-compatibility/2006" xmlns:a14="http://schemas.microsoft.com/office/drawing/2010/main">
        <mc:Choice Requires="a14">
          <p:sp>
            <p:nvSpPr>
              <p:cNvPr id="26627" name="Rectangle 3"/>
              <p:cNvSpPr>
                <a:spLocks noGrp="1" noChangeArrowheads="1"/>
              </p:cNvSpPr>
              <p:nvPr>
                <p:ph idx="1"/>
              </p:nvPr>
            </p:nvSpPr>
            <p:spPr>
              <a:xfrm>
                <a:off x="638905" y="5649371"/>
                <a:ext cx="7886700" cy="1003063"/>
              </a:xfrm>
            </p:spPr>
            <p:txBody>
              <a:bodyPr>
                <a:normAutofit/>
              </a:bodyPr>
              <a:lstStyle/>
              <a:p>
                <a:pPr marL="0" indent="0">
                  <a:buNone/>
                </a:pPr>
                <a:r>
                  <a:rPr lang="en-US" sz="2000" dirty="0"/>
                  <a:t>All paths to the depth of the goal are expanded. The search tree size is</a:t>
                </a:r>
              </a:p>
              <a:p>
                <a:pPr marL="0" indent="0">
                  <a:buNone/>
                </a:pPr>
                <a14:m>
                  <m:oMathPara xmlns:m="http://schemas.openxmlformats.org/officeDocument/2006/math">
                    <m:oMathParaPr>
                      <m:jc m:val="centerGroup"/>
                    </m:oMathParaPr>
                    <m:oMath xmlns:m="http://schemas.openxmlformats.org/officeDocument/2006/math">
                      <m:r>
                        <a:rPr lang="en-US" i="1" dirty="0" smtClean="0">
                          <a:latin typeface="Cambria Math" panose="02040503050406030204" pitchFamily="18" charset="0"/>
                        </a:rPr>
                        <m:t>1 +</m:t>
                      </m:r>
                      <m:r>
                        <a:rPr lang="en-US" b="0" i="1" dirty="0" smtClean="0">
                          <a:latin typeface="Cambria Math" panose="02040503050406030204" pitchFamily="18" charset="0"/>
                        </a:rPr>
                        <m:t>𝑏</m:t>
                      </m:r>
                      <m:r>
                        <a:rPr lang="en-US" b="0" i="1" dirty="0" smtClean="0">
                          <a:latin typeface="Cambria Math" panose="02040503050406030204" pitchFamily="18" charset="0"/>
                        </a:rPr>
                        <m:t>+</m:t>
                      </m:r>
                      <m:sSup>
                        <m:sSupPr>
                          <m:ctrlPr>
                            <a:rPr lang="en-US" b="0" i="1" dirty="0" smtClean="0">
                              <a:latin typeface="Cambria Math" panose="02040503050406030204" pitchFamily="18" charset="0"/>
                            </a:rPr>
                          </m:ctrlPr>
                        </m:sSupPr>
                        <m:e>
                          <m:r>
                            <a:rPr lang="en-US" b="0" i="1" dirty="0" smtClean="0">
                              <a:latin typeface="Cambria Math" panose="02040503050406030204" pitchFamily="18" charset="0"/>
                            </a:rPr>
                            <m:t>𝑏</m:t>
                          </m:r>
                        </m:e>
                        <m:sup>
                          <m:r>
                            <a:rPr lang="en-US" b="0" i="1" dirty="0" smtClean="0">
                              <a:latin typeface="Cambria Math" panose="02040503050406030204" pitchFamily="18" charset="0"/>
                            </a:rPr>
                            <m:t>2</m:t>
                          </m:r>
                        </m:sup>
                      </m:sSup>
                      <m:r>
                        <a:rPr lang="en-US" b="0" i="1" dirty="0" smtClean="0">
                          <a:latin typeface="Cambria Math" panose="02040503050406030204" pitchFamily="18" charset="0"/>
                        </a:rPr>
                        <m:t>+ …+</m:t>
                      </m:r>
                      <m:sSup>
                        <m:sSupPr>
                          <m:ctrlPr>
                            <a:rPr lang="en-US" b="0" i="1" dirty="0" smtClean="0">
                              <a:latin typeface="Cambria Math" panose="02040503050406030204" pitchFamily="18" charset="0"/>
                            </a:rPr>
                          </m:ctrlPr>
                        </m:sSupPr>
                        <m:e>
                          <m:r>
                            <a:rPr lang="en-US" b="0" i="1" dirty="0" smtClean="0">
                              <a:latin typeface="Cambria Math" panose="02040503050406030204" pitchFamily="18" charset="0"/>
                            </a:rPr>
                            <m:t>𝑏</m:t>
                          </m:r>
                        </m:e>
                        <m:sup>
                          <m:r>
                            <a:rPr lang="en-US" b="0" i="1" dirty="0" smtClean="0">
                              <a:latin typeface="Cambria Math" panose="02040503050406030204" pitchFamily="18" charset="0"/>
                            </a:rPr>
                            <m:t>𝑑</m:t>
                          </m:r>
                        </m:sup>
                      </m:sSup>
                      <m:r>
                        <a:rPr lang="en-US" b="0" i="1" dirty="0" smtClean="0">
                          <a:latin typeface="Cambria Math" panose="02040503050406030204" pitchFamily="18" charset="0"/>
                        </a:rPr>
                        <m:t>⇒</m:t>
                      </m:r>
                      <m:r>
                        <a:rPr lang="en-US" sz="2000" i="1" dirty="0" smtClean="0">
                          <a:latin typeface="Cambria Math" panose="02040503050406030204" pitchFamily="18" charset="0"/>
                        </a:rPr>
                        <m:t>𝑂</m:t>
                      </m:r>
                      <m:d>
                        <m:dPr>
                          <m:ctrlPr>
                            <a:rPr lang="en-US" sz="2000" i="1" dirty="0" smtClean="0">
                              <a:latin typeface="Cambria Math" panose="02040503050406030204" pitchFamily="18" charset="0"/>
                            </a:rPr>
                          </m:ctrlPr>
                        </m:dPr>
                        <m:e>
                          <m:sSup>
                            <m:sSupPr>
                              <m:ctrlPr>
                                <a:rPr lang="en-US" sz="2000" b="0" i="1" dirty="0" smtClean="0">
                                  <a:latin typeface="Cambria Math" panose="02040503050406030204" pitchFamily="18" charset="0"/>
                                </a:rPr>
                              </m:ctrlPr>
                            </m:sSupPr>
                            <m:e>
                              <m:r>
                                <a:rPr lang="en-US" sz="2000" i="1" dirty="0" smtClean="0">
                                  <a:latin typeface="Cambria Math" panose="02040503050406030204" pitchFamily="18" charset="0"/>
                                </a:rPr>
                                <m:t>𝑏</m:t>
                              </m:r>
                            </m:e>
                            <m:sup>
                              <m:r>
                                <a:rPr lang="en-US" sz="2000" b="0" i="1" dirty="0" smtClean="0">
                                  <a:latin typeface="Cambria Math" panose="02040503050406030204" pitchFamily="18" charset="0"/>
                                </a:rPr>
                                <m:t>𝑑</m:t>
                              </m:r>
                            </m:sup>
                          </m:sSup>
                        </m:e>
                      </m:d>
                    </m:oMath>
                  </m:oMathPara>
                </a14:m>
                <a:endParaRPr lang="en-US" sz="2000" dirty="0"/>
              </a:p>
              <a:p>
                <a:endParaRPr lang="en-US" dirty="0"/>
              </a:p>
            </p:txBody>
          </p:sp>
        </mc:Choice>
        <mc:Fallback xmlns="">
          <p:sp>
            <p:nvSpPr>
              <p:cNvPr id="26627" name="Rectangle 3"/>
              <p:cNvSpPr>
                <a:spLocks noGrp="1" noRot="1" noChangeAspect="1" noMove="1" noResize="1" noEditPoints="1" noAdjustHandles="1" noChangeArrowheads="1" noChangeShapeType="1" noTextEdit="1"/>
              </p:cNvSpPr>
              <p:nvPr>
                <p:ph idx="1"/>
              </p:nvPr>
            </p:nvSpPr>
            <p:spPr>
              <a:xfrm>
                <a:off x="638905" y="5649371"/>
                <a:ext cx="7886700" cy="1003063"/>
              </a:xfrm>
              <a:blipFill>
                <a:blip r:embed="rId3"/>
                <a:stretch>
                  <a:fillRect l="-850" t="-6707"/>
                </a:stretch>
              </a:blipFill>
            </p:spPr>
            <p:txBody>
              <a:bodyPr/>
              <a:lstStyle/>
              <a:p>
                <a:r>
                  <a:rPr lang="en-US">
                    <a:noFill/>
                  </a:rPr>
                  <a:t> </a:t>
                </a:r>
              </a:p>
            </p:txBody>
          </p:sp>
        </mc:Fallback>
      </mc:AlternateContent>
      <p:sp>
        <p:nvSpPr>
          <p:cNvPr id="21" name="TextBox 20">
            <a:extLst>
              <a:ext uri="{FF2B5EF4-FFF2-40B4-BE49-F238E27FC236}">
                <a16:creationId xmlns:a16="http://schemas.microsoft.com/office/drawing/2014/main" id="{95C79020-E1E0-41C3-9911-53098B1F86C0}"/>
              </a:ext>
            </a:extLst>
          </p:cNvPr>
          <p:cNvSpPr txBox="1"/>
          <p:nvPr/>
        </p:nvSpPr>
        <p:spPr>
          <a:xfrm>
            <a:off x="6389733" y="2976431"/>
            <a:ext cx="762000" cy="369332"/>
          </a:xfrm>
          <a:prstGeom prst="rect">
            <a:avLst/>
          </a:prstGeom>
          <a:noFill/>
        </p:spPr>
        <p:txBody>
          <a:bodyPr wrap="square" rtlCol="0">
            <a:spAutoFit/>
          </a:bodyPr>
          <a:lstStyle/>
          <a:p>
            <a:r>
              <a:rPr lang="en-US" dirty="0"/>
              <a:t>Goal</a:t>
            </a:r>
          </a:p>
        </p:txBody>
      </p:sp>
      <p:sp>
        <p:nvSpPr>
          <p:cNvPr id="44" name="TextBox 43">
            <a:extLst>
              <a:ext uri="{FF2B5EF4-FFF2-40B4-BE49-F238E27FC236}">
                <a16:creationId xmlns:a16="http://schemas.microsoft.com/office/drawing/2014/main" id="{F5809868-3B77-46E5-BAC8-FDD95DD8D4DF}"/>
              </a:ext>
            </a:extLst>
          </p:cNvPr>
          <p:cNvSpPr txBox="1"/>
          <p:nvPr/>
        </p:nvSpPr>
        <p:spPr>
          <a:xfrm>
            <a:off x="320525" y="2851666"/>
            <a:ext cx="707245" cy="369332"/>
          </a:xfrm>
          <a:prstGeom prst="rect">
            <a:avLst/>
          </a:prstGeom>
          <a:noFill/>
        </p:spPr>
        <p:txBody>
          <a:bodyPr wrap="none" rtlCol="0">
            <a:spAutoFit/>
          </a:bodyPr>
          <a:lstStyle/>
          <a:p>
            <a:r>
              <a:rPr lang="en-US" dirty="0"/>
              <a:t>m = 3</a:t>
            </a:r>
          </a:p>
        </p:txBody>
      </p:sp>
      <p:sp>
        <p:nvSpPr>
          <p:cNvPr id="45" name="Left Brace 44">
            <a:extLst>
              <a:ext uri="{FF2B5EF4-FFF2-40B4-BE49-F238E27FC236}">
                <a16:creationId xmlns:a16="http://schemas.microsoft.com/office/drawing/2014/main" id="{509624AF-B0F2-4295-8504-10BE28DB98B8}"/>
              </a:ext>
            </a:extLst>
          </p:cNvPr>
          <p:cNvSpPr/>
          <p:nvPr/>
        </p:nvSpPr>
        <p:spPr>
          <a:xfrm>
            <a:off x="1087810" y="1752600"/>
            <a:ext cx="230612" cy="3581400"/>
          </a:xfrm>
          <a:prstGeom prst="leftBrace">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
        <p:nvSpPr>
          <p:cNvPr id="46" name="Right Brace 45">
            <a:extLst>
              <a:ext uri="{FF2B5EF4-FFF2-40B4-BE49-F238E27FC236}">
                <a16:creationId xmlns:a16="http://schemas.microsoft.com/office/drawing/2014/main" id="{B5D101A9-6CFA-4612-8556-4EE42E991A44}"/>
              </a:ext>
            </a:extLst>
          </p:cNvPr>
          <p:cNvSpPr/>
          <p:nvPr/>
        </p:nvSpPr>
        <p:spPr>
          <a:xfrm>
            <a:off x="6939798" y="1676400"/>
            <a:ext cx="223002" cy="1667231"/>
          </a:xfrm>
          <a:prstGeom prst="rightBrace">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dirty="0"/>
          </a:p>
        </p:txBody>
      </p:sp>
      <p:sp>
        <p:nvSpPr>
          <p:cNvPr id="47" name="TextBox 46">
            <a:extLst>
              <a:ext uri="{FF2B5EF4-FFF2-40B4-BE49-F238E27FC236}">
                <a16:creationId xmlns:a16="http://schemas.microsoft.com/office/drawing/2014/main" id="{97D08BDA-CF0D-4B88-B466-CCF30F44C134}"/>
              </a:ext>
            </a:extLst>
          </p:cNvPr>
          <p:cNvSpPr txBox="1"/>
          <p:nvPr/>
        </p:nvSpPr>
        <p:spPr>
          <a:xfrm>
            <a:off x="7197251" y="2286000"/>
            <a:ext cx="1260949" cy="369332"/>
          </a:xfrm>
          <a:prstGeom prst="rect">
            <a:avLst/>
          </a:prstGeom>
          <a:noFill/>
        </p:spPr>
        <p:txBody>
          <a:bodyPr wrap="square" rtlCol="0">
            <a:spAutoFit/>
          </a:bodyPr>
          <a:lstStyle/>
          <a:p>
            <a:r>
              <a:rPr lang="en-US" dirty="0"/>
              <a:t>d = 1</a:t>
            </a:r>
          </a:p>
        </p:txBody>
      </p:sp>
      <p:sp>
        <p:nvSpPr>
          <p:cNvPr id="49" name="TextBox 48">
            <a:extLst>
              <a:ext uri="{FF2B5EF4-FFF2-40B4-BE49-F238E27FC236}">
                <a16:creationId xmlns:a16="http://schemas.microsoft.com/office/drawing/2014/main" id="{6A3E353C-FC3D-4C88-8C18-454C871BF145}"/>
              </a:ext>
            </a:extLst>
          </p:cNvPr>
          <p:cNvSpPr txBox="1"/>
          <p:nvPr/>
        </p:nvSpPr>
        <p:spPr>
          <a:xfrm>
            <a:off x="4271426" y="2413757"/>
            <a:ext cx="644728" cy="369332"/>
          </a:xfrm>
          <a:prstGeom prst="rect">
            <a:avLst/>
          </a:prstGeom>
          <a:noFill/>
        </p:spPr>
        <p:txBody>
          <a:bodyPr wrap="none" rtlCol="0">
            <a:spAutoFit/>
          </a:bodyPr>
          <a:lstStyle/>
          <a:p>
            <a:r>
              <a:rPr lang="en-US" dirty="0"/>
              <a:t>b = 2</a:t>
            </a:r>
          </a:p>
        </p:txBody>
      </p:sp>
      <p:grpSp>
        <p:nvGrpSpPr>
          <p:cNvPr id="25" name="Group 24">
            <a:extLst>
              <a:ext uri="{FF2B5EF4-FFF2-40B4-BE49-F238E27FC236}">
                <a16:creationId xmlns:a16="http://schemas.microsoft.com/office/drawing/2014/main" id="{1CCB5FF2-F4CE-4E55-989B-BC8FCD315E7F}"/>
              </a:ext>
            </a:extLst>
          </p:cNvPr>
          <p:cNvGrpSpPr/>
          <p:nvPr/>
        </p:nvGrpSpPr>
        <p:grpSpPr>
          <a:xfrm>
            <a:off x="1411245" y="1828800"/>
            <a:ext cx="6132555" cy="2406837"/>
            <a:chOff x="2590800" y="3460563"/>
            <a:chExt cx="4191000" cy="1644837"/>
          </a:xfrm>
        </p:grpSpPr>
        <p:cxnSp>
          <p:nvCxnSpPr>
            <p:cNvPr id="26" name="Straight Arrow Connector 25">
              <a:extLst>
                <a:ext uri="{FF2B5EF4-FFF2-40B4-BE49-F238E27FC236}">
                  <a16:creationId xmlns:a16="http://schemas.microsoft.com/office/drawing/2014/main" id="{6C225569-D49E-44F0-B49D-36713E63665A}"/>
                </a:ext>
              </a:extLst>
            </p:cNvPr>
            <p:cNvCxnSpPr>
              <a:cxnSpLocks/>
              <a:stCxn id="33" idx="3"/>
              <a:endCxn id="41" idx="7"/>
            </p:cNvCxnSpPr>
            <p:nvPr/>
          </p:nvCxnSpPr>
          <p:spPr>
            <a:xfrm flipH="1">
              <a:off x="3689163" y="3720726"/>
              <a:ext cx="927474" cy="591111"/>
            </a:xfrm>
            <a:prstGeom prst="straightConnector1">
              <a:avLst/>
            </a:prstGeom>
            <a:ln>
              <a:tailEnd type="arrow"/>
            </a:ln>
          </p:spPr>
          <p:style>
            <a:lnRef idx="3">
              <a:schemeClr val="accent1"/>
            </a:lnRef>
            <a:fillRef idx="0">
              <a:schemeClr val="accent1"/>
            </a:fillRef>
            <a:effectRef idx="2">
              <a:schemeClr val="accent1"/>
            </a:effectRef>
            <a:fontRef idx="minor">
              <a:schemeClr val="tx1"/>
            </a:fontRef>
          </p:style>
        </p:cxnSp>
        <p:sp>
          <p:nvSpPr>
            <p:cNvPr id="33" name="Oval 32">
              <a:extLst>
                <a:ext uri="{FF2B5EF4-FFF2-40B4-BE49-F238E27FC236}">
                  <a16:creationId xmlns:a16="http://schemas.microsoft.com/office/drawing/2014/main" id="{DDA8AC78-BDC3-4FB5-BC0C-EE28131540A6}"/>
                </a:ext>
              </a:extLst>
            </p:cNvPr>
            <p:cNvSpPr/>
            <p:nvPr/>
          </p:nvSpPr>
          <p:spPr>
            <a:xfrm>
              <a:off x="4572000" y="3460563"/>
              <a:ext cx="304800" cy="304800"/>
            </a:xfrm>
            <a:prstGeom prst="ellipse">
              <a:avLst/>
            </a:prstGeom>
            <a:ln/>
          </p:spPr>
          <p:style>
            <a:lnRef idx="1">
              <a:schemeClr val="accent5"/>
            </a:lnRef>
            <a:fillRef idx="2">
              <a:schemeClr val="accent5"/>
            </a:fillRef>
            <a:effectRef idx="1">
              <a:schemeClr val="accent5"/>
            </a:effectRef>
            <a:fontRef idx="minor">
              <a:schemeClr val="dk1"/>
            </a:fontRef>
          </p:style>
          <p:txBody>
            <a:bodyPr rtlCol="0" anchor="ctr"/>
            <a:lstStyle/>
            <a:p>
              <a:pPr algn="ctr"/>
              <a:r>
                <a:rPr lang="en-US" sz="2400" dirty="0">
                  <a:solidFill>
                    <a:schemeClr val="tx1"/>
                  </a:solidFill>
                </a:rPr>
                <a:t>A</a:t>
              </a:r>
            </a:p>
          </p:txBody>
        </p:sp>
        <p:sp>
          <p:nvSpPr>
            <p:cNvPr id="35" name="Oval 34">
              <a:extLst>
                <a:ext uri="{FF2B5EF4-FFF2-40B4-BE49-F238E27FC236}">
                  <a16:creationId xmlns:a16="http://schemas.microsoft.com/office/drawing/2014/main" id="{F54D0E8C-8D16-4A7A-9E51-5661081697C1}"/>
                </a:ext>
              </a:extLst>
            </p:cNvPr>
            <p:cNvSpPr/>
            <p:nvPr/>
          </p:nvSpPr>
          <p:spPr>
            <a:xfrm>
              <a:off x="2590800" y="4800600"/>
              <a:ext cx="304800" cy="304800"/>
            </a:xfrm>
            <a:prstGeom prst="ellipse">
              <a:avLst/>
            </a:prstGeom>
            <a:solidFill>
              <a:schemeClr val="bg1"/>
            </a:solidFill>
            <a:ln>
              <a:prstDash val="sys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400" dirty="0">
                  <a:solidFill>
                    <a:schemeClr val="tx1"/>
                  </a:solidFill>
                </a:rPr>
                <a:t>D</a:t>
              </a:r>
            </a:p>
          </p:txBody>
        </p:sp>
        <p:cxnSp>
          <p:nvCxnSpPr>
            <p:cNvPr id="36" name="Straight Arrow Connector 35">
              <a:extLst>
                <a:ext uri="{FF2B5EF4-FFF2-40B4-BE49-F238E27FC236}">
                  <a16:creationId xmlns:a16="http://schemas.microsoft.com/office/drawing/2014/main" id="{078ACE95-27EB-4CA1-B33B-A75781CEFC79}"/>
                </a:ext>
              </a:extLst>
            </p:cNvPr>
            <p:cNvCxnSpPr>
              <a:cxnSpLocks/>
              <a:stCxn id="33" idx="5"/>
              <a:endCxn id="43" idx="1"/>
            </p:cNvCxnSpPr>
            <p:nvPr/>
          </p:nvCxnSpPr>
          <p:spPr>
            <a:xfrm>
              <a:off x="4832163" y="3720726"/>
              <a:ext cx="927474" cy="591111"/>
            </a:xfrm>
            <a:prstGeom prst="straightConnector1">
              <a:avLst/>
            </a:prstGeom>
            <a:ln>
              <a:tailEnd type="arrow"/>
            </a:ln>
          </p:spPr>
          <p:style>
            <a:lnRef idx="3">
              <a:schemeClr val="accent1"/>
            </a:lnRef>
            <a:fillRef idx="0">
              <a:schemeClr val="accent1"/>
            </a:fillRef>
            <a:effectRef idx="2">
              <a:schemeClr val="accent1"/>
            </a:effectRef>
            <a:fontRef idx="minor">
              <a:schemeClr val="tx1"/>
            </a:fontRef>
          </p:style>
        </p:cxnSp>
        <p:cxnSp>
          <p:nvCxnSpPr>
            <p:cNvPr id="37" name="Straight Arrow Connector 36">
              <a:extLst>
                <a:ext uri="{FF2B5EF4-FFF2-40B4-BE49-F238E27FC236}">
                  <a16:creationId xmlns:a16="http://schemas.microsoft.com/office/drawing/2014/main" id="{C6032BB1-E185-4595-90C9-83AB9DD75291}"/>
                </a:ext>
              </a:extLst>
            </p:cNvPr>
            <p:cNvCxnSpPr>
              <a:cxnSpLocks/>
              <a:stCxn id="41" idx="3"/>
              <a:endCxn id="35" idx="7"/>
            </p:cNvCxnSpPr>
            <p:nvPr/>
          </p:nvCxnSpPr>
          <p:spPr>
            <a:xfrm flipH="1">
              <a:off x="2850963" y="4527363"/>
              <a:ext cx="622674" cy="317874"/>
            </a:xfrm>
            <a:prstGeom prst="straightConnector1">
              <a:avLst/>
            </a:prstGeom>
            <a:ln w="25400">
              <a:prstDash val="sysDash"/>
              <a:tailEnd type="arrow"/>
            </a:ln>
          </p:spPr>
          <p:style>
            <a:lnRef idx="1">
              <a:schemeClr val="accent1"/>
            </a:lnRef>
            <a:fillRef idx="0">
              <a:schemeClr val="accent1"/>
            </a:fillRef>
            <a:effectRef idx="0">
              <a:schemeClr val="accent1"/>
            </a:effectRef>
            <a:fontRef idx="minor">
              <a:schemeClr val="tx1"/>
            </a:fontRef>
          </p:style>
        </p:cxnSp>
        <p:sp>
          <p:nvSpPr>
            <p:cNvPr id="38" name="Oval 37">
              <a:extLst>
                <a:ext uri="{FF2B5EF4-FFF2-40B4-BE49-F238E27FC236}">
                  <a16:creationId xmlns:a16="http://schemas.microsoft.com/office/drawing/2014/main" id="{792B902C-93F0-43DE-B98B-9D2676429B52}"/>
                </a:ext>
              </a:extLst>
            </p:cNvPr>
            <p:cNvSpPr/>
            <p:nvPr/>
          </p:nvSpPr>
          <p:spPr>
            <a:xfrm>
              <a:off x="4953000" y="4800600"/>
              <a:ext cx="304800" cy="304800"/>
            </a:xfrm>
            <a:prstGeom prst="ellipse">
              <a:avLst/>
            </a:prstGeom>
            <a:solidFill>
              <a:schemeClr val="bg1"/>
            </a:solidFill>
            <a:ln>
              <a:prstDash val="sys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400" dirty="0">
                  <a:solidFill>
                    <a:schemeClr val="tx1"/>
                  </a:solidFill>
                </a:rPr>
                <a:t>F</a:t>
              </a:r>
            </a:p>
          </p:txBody>
        </p:sp>
        <p:cxnSp>
          <p:nvCxnSpPr>
            <p:cNvPr id="39" name="Straight Arrow Connector 38">
              <a:extLst>
                <a:ext uri="{FF2B5EF4-FFF2-40B4-BE49-F238E27FC236}">
                  <a16:creationId xmlns:a16="http://schemas.microsoft.com/office/drawing/2014/main" id="{87D38D5E-E0D8-4FC0-A7D1-760227C26C68}"/>
                </a:ext>
              </a:extLst>
            </p:cNvPr>
            <p:cNvCxnSpPr>
              <a:cxnSpLocks/>
              <a:stCxn id="43" idx="3"/>
              <a:endCxn id="38" idx="7"/>
            </p:cNvCxnSpPr>
            <p:nvPr/>
          </p:nvCxnSpPr>
          <p:spPr>
            <a:xfrm flipH="1">
              <a:off x="5213163" y="4527363"/>
              <a:ext cx="546474" cy="317874"/>
            </a:xfrm>
            <a:prstGeom prst="straightConnector1">
              <a:avLst/>
            </a:prstGeom>
            <a:ln w="25400">
              <a:prstDash val="sysDash"/>
              <a:tailEnd type="arrow"/>
            </a:ln>
          </p:spPr>
          <p:style>
            <a:lnRef idx="1">
              <a:schemeClr val="accent1"/>
            </a:lnRef>
            <a:fillRef idx="0">
              <a:schemeClr val="accent1"/>
            </a:fillRef>
            <a:effectRef idx="0">
              <a:schemeClr val="accent1"/>
            </a:effectRef>
            <a:fontRef idx="minor">
              <a:schemeClr val="tx1"/>
            </a:fontRef>
          </p:style>
        </p:cxnSp>
        <p:cxnSp>
          <p:nvCxnSpPr>
            <p:cNvPr id="40" name="Straight Arrow Connector 39">
              <a:extLst>
                <a:ext uri="{FF2B5EF4-FFF2-40B4-BE49-F238E27FC236}">
                  <a16:creationId xmlns:a16="http://schemas.microsoft.com/office/drawing/2014/main" id="{698382BC-1C18-4687-B0F2-DEE5AB230CF6}"/>
                </a:ext>
              </a:extLst>
            </p:cNvPr>
            <p:cNvCxnSpPr>
              <a:cxnSpLocks/>
              <a:stCxn id="41" idx="5"/>
              <a:endCxn id="48" idx="1"/>
            </p:cNvCxnSpPr>
            <p:nvPr/>
          </p:nvCxnSpPr>
          <p:spPr>
            <a:xfrm>
              <a:off x="3689163" y="4527363"/>
              <a:ext cx="622674" cy="317874"/>
            </a:xfrm>
            <a:prstGeom prst="straightConnector1">
              <a:avLst/>
            </a:prstGeom>
            <a:ln w="25400">
              <a:prstDash val="sysDash"/>
              <a:tailEnd type="arrow"/>
            </a:ln>
          </p:spPr>
          <p:style>
            <a:lnRef idx="1">
              <a:schemeClr val="accent1"/>
            </a:lnRef>
            <a:fillRef idx="0">
              <a:schemeClr val="accent1"/>
            </a:fillRef>
            <a:effectRef idx="0">
              <a:schemeClr val="accent1"/>
            </a:effectRef>
            <a:fontRef idx="minor">
              <a:schemeClr val="tx1"/>
            </a:fontRef>
          </p:style>
        </p:cxnSp>
        <p:sp>
          <p:nvSpPr>
            <p:cNvPr id="41" name="Oval 40">
              <a:extLst>
                <a:ext uri="{FF2B5EF4-FFF2-40B4-BE49-F238E27FC236}">
                  <a16:creationId xmlns:a16="http://schemas.microsoft.com/office/drawing/2014/main" id="{8F08FCB1-26A9-4172-AD2D-4DFBCC125A64}"/>
                </a:ext>
              </a:extLst>
            </p:cNvPr>
            <p:cNvSpPr/>
            <p:nvPr/>
          </p:nvSpPr>
          <p:spPr>
            <a:xfrm>
              <a:off x="3429000" y="4267200"/>
              <a:ext cx="304800" cy="304800"/>
            </a:xfrm>
            <a:prstGeom prst="ellipse">
              <a:avLst/>
            </a:prstGeom>
            <a:ln/>
          </p:spPr>
          <p:style>
            <a:lnRef idx="2">
              <a:schemeClr val="accent2">
                <a:shade val="50000"/>
              </a:schemeClr>
            </a:lnRef>
            <a:fillRef idx="1">
              <a:schemeClr val="accent2"/>
            </a:fillRef>
            <a:effectRef idx="0">
              <a:schemeClr val="accent2"/>
            </a:effectRef>
            <a:fontRef idx="minor">
              <a:schemeClr val="lt1"/>
            </a:fontRef>
          </p:style>
          <p:txBody>
            <a:bodyPr rtlCol="0" anchor="ctr"/>
            <a:lstStyle/>
            <a:p>
              <a:pPr algn="ctr"/>
              <a:r>
                <a:rPr lang="en-US" sz="2400" dirty="0">
                  <a:solidFill>
                    <a:schemeClr val="tx1"/>
                  </a:solidFill>
                </a:rPr>
                <a:t>B</a:t>
              </a:r>
              <a:endParaRPr lang="en-US" sz="2400" dirty="0"/>
            </a:p>
          </p:txBody>
        </p:sp>
        <p:cxnSp>
          <p:nvCxnSpPr>
            <p:cNvPr id="42" name="Straight Arrow Connector 41">
              <a:extLst>
                <a:ext uri="{FF2B5EF4-FFF2-40B4-BE49-F238E27FC236}">
                  <a16:creationId xmlns:a16="http://schemas.microsoft.com/office/drawing/2014/main" id="{3D57EF5F-B3D0-450A-B4B6-80E94D2F3578}"/>
                </a:ext>
              </a:extLst>
            </p:cNvPr>
            <p:cNvCxnSpPr>
              <a:cxnSpLocks/>
              <a:stCxn id="43" idx="5"/>
              <a:endCxn id="50" idx="1"/>
            </p:cNvCxnSpPr>
            <p:nvPr/>
          </p:nvCxnSpPr>
          <p:spPr>
            <a:xfrm>
              <a:off x="5975163" y="4527363"/>
              <a:ext cx="546474" cy="317874"/>
            </a:xfrm>
            <a:prstGeom prst="straightConnector1">
              <a:avLst/>
            </a:prstGeom>
            <a:ln w="25400">
              <a:prstDash val="sysDash"/>
              <a:tailEnd type="arrow"/>
            </a:ln>
          </p:spPr>
          <p:style>
            <a:lnRef idx="1">
              <a:schemeClr val="accent1"/>
            </a:lnRef>
            <a:fillRef idx="0">
              <a:schemeClr val="accent1"/>
            </a:fillRef>
            <a:effectRef idx="0">
              <a:schemeClr val="accent1"/>
            </a:effectRef>
            <a:fontRef idx="minor">
              <a:schemeClr val="tx1"/>
            </a:fontRef>
          </p:style>
        </p:cxnSp>
        <p:sp>
          <p:nvSpPr>
            <p:cNvPr id="43" name="Oval 42">
              <a:extLst>
                <a:ext uri="{FF2B5EF4-FFF2-40B4-BE49-F238E27FC236}">
                  <a16:creationId xmlns:a16="http://schemas.microsoft.com/office/drawing/2014/main" id="{C65C2780-86C0-4E9F-B0E4-D4E7F986A4D0}"/>
                </a:ext>
              </a:extLst>
            </p:cNvPr>
            <p:cNvSpPr/>
            <p:nvPr/>
          </p:nvSpPr>
          <p:spPr>
            <a:xfrm>
              <a:off x="5715000" y="4267200"/>
              <a:ext cx="304800" cy="304800"/>
            </a:xfrm>
            <a:prstGeom prst="ellipse">
              <a:avLst/>
            </a:prstGeom>
            <a:ln/>
          </p:spPr>
          <p:style>
            <a:lnRef idx="2">
              <a:schemeClr val="accent2">
                <a:shade val="50000"/>
              </a:schemeClr>
            </a:lnRef>
            <a:fillRef idx="1">
              <a:schemeClr val="accent2"/>
            </a:fillRef>
            <a:effectRef idx="0">
              <a:schemeClr val="accent2"/>
            </a:effectRef>
            <a:fontRef idx="minor">
              <a:schemeClr val="lt1"/>
            </a:fontRef>
          </p:style>
          <p:txBody>
            <a:bodyPr rtlCol="0" anchor="ctr"/>
            <a:lstStyle/>
            <a:p>
              <a:pPr algn="ctr"/>
              <a:r>
                <a:rPr lang="en-US" sz="2400" dirty="0">
                  <a:solidFill>
                    <a:schemeClr val="tx1"/>
                  </a:solidFill>
                </a:rPr>
                <a:t>C</a:t>
              </a:r>
              <a:endParaRPr lang="en-US" sz="2400" dirty="0"/>
            </a:p>
          </p:txBody>
        </p:sp>
        <p:sp>
          <p:nvSpPr>
            <p:cNvPr id="48" name="Oval 47">
              <a:extLst>
                <a:ext uri="{FF2B5EF4-FFF2-40B4-BE49-F238E27FC236}">
                  <a16:creationId xmlns:a16="http://schemas.microsoft.com/office/drawing/2014/main" id="{3E9452AE-9EC0-45BE-B9A7-068457B12A7B}"/>
                </a:ext>
              </a:extLst>
            </p:cNvPr>
            <p:cNvSpPr/>
            <p:nvPr/>
          </p:nvSpPr>
          <p:spPr>
            <a:xfrm>
              <a:off x="4267200" y="4800600"/>
              <a:ext cx="304800" cy="304800"/>
            </a:xfrm>
            <a:prstGeom prst="ellipse">
              <a:avLst/>
            </a:prstGeom>
            <a:solidFill>
              <a:schemeClr val="bg1"/>
            </a:solidFill>
            <a:ln>
              <a:prstDash val="sys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400" dirty="0">
                  <a:solidFill>
                    <a:schemeClr val="tx1"/>
                  </a:solidFill>
                </a:rPr>
                <a:t>E</a:t>
              </a:r>
            </a:p>
          </p:txBody>
        </p:sp>
        <p:sp>
          <p:nvSpPr>
            <p:cNvPr id="50" name="Oval 49">
              <a:extLst>
                <a:ext uri="{FF2B5EF4-FFF2-40B4-BE49-F238E27FC236}">
                  <a16:creationId xmlns:a16="http://schemas.microsoft.com/office/drawing/2014/main" id="{3373DE06-E2ED-4518-8D9F-C00FCA449491}"/>
                </a:ext>
              </a:extLst>
            </p:cNvPr>
            <p:cNvSpPr/>
            <p:nvPr/>
          </p:nvSpPr>
          <p:spPr>
            <a:xfrm>
              <a:off x="6477000" y="4800600"/>
              <a:ext cx="304800" cy="304800"/>
            </a:xfrm>
            <a:prstGeom prst="ellipse">
              <a:avLst/>
            </a:prstGeom>
            <a:solidFill>
              <a:schemeClr val="bg1"/>
            </a:solidFill>
            <a:ln>
              <a:prstDash val="sys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400" dirty="0">
                  <a:solidFill>
                    <a:schemeClr val="tx1"/>
                  </a:solidFill>
                </a:rPr>
                <a:t>G</a:t>
              </a:r>
            </a:p>
          </p:txBody>
        </p:sp>
      </p:grpSp>
      <p:sp>
        <p:nvSpPr>
          <p:cNvPr id="52" name="Oval 51">
            <a:extLst>
              <a:ext uri="{FF2B5EF4-FFF2-40B4-BE49-F238E27FC236}">
                <a16:creationId xmlns:a16="http://schemas.microsoft.com/office/drawing/2014/main" id="{DA83B758-873F-4C06-8169-D3C3CB6E45F8}"/>
              </a:ext>
            </a:extLst>
          </p:cNvPr>
          <p:cNvSpPr/>
          <p:nvPr/>
        </p:nvSpPr>
        <p:spPr>
          <a:xfrm>
            <a:off x="3028009" y="4645863"/>
            <a:ext cx="446004" cy="446004"/>
          </a:xfrm>
          <a:prstGeom prst="ellipse">
            <a:avLst/>
          </a:prstGeom>
          <a:solidFill>
            <a:schemeClr val="bg1"/>
          </a:solidFill>
          <a:ln>
            <a:prstDash val="sys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400" dirty="0">
                <a:solidFill>
                  <a:schemeClr val="tx1"/>
                </a:solidFill>
              </a:rPr>
              <a:t>C</a:t>
            </a:r>
            <a:endParaRPr lang="en-US" sz="2400" dirty="0"/>
          </a:p>
        </p:txBody>
      </p:sp>
      <p:cxnSp>
        <p:nvCxnSpPr>
          <p:cNvPr id="53" name="Straight Arrow Connector 52">
            <a:extLst>
              <a:ext uri="{FF2B5EF4-FFF2-40B4-BE49-F238E27FC236}">
                <a16:creationId xmlns:a16="http://schemas.microsoft.com/office/drawing/2014/main" id="{62C9D5C5-2700-450E-AB3E-9105AD1DC687}"/>
              </a:ext>
            </a:extLst>
          </p:cNvPr>
          <p:cNvCxnSpPr>
            <a:cxnSpLocks/>
            <a:stCxn id="48" idx="3"/>
            <a:endCxn id="52" idx="7"/>
          </p:cNvCxnSpPr>
          <p:nvPr/>
        </p:nvCxnSpPr>
        <p:spPr>
          <a:xfrm flipH="1">
            <a:off x="3408697" y="4170321"/>
            <a:ext cx="520886" cy="540858"/>
          </a:xfrm>
          <a:prstGeom prst="straightConnector1">
            <a:avLst/>
          </a:prstGeom>
          <a:ln w="25400">
            <a:prstDash val="sysDash"/>
            <a:tailEnd type="arrow"/>
          </a:ln>
        </p:spPr>
        <p:style>
          <a:lnRef idx="1">
            <a:schemeClr val="accent1"/>
          </a:lnRef>
          <a:fillRef idx="0">
            <a:schemeClr val="accent1"/>
          </a:fillRef>
          <a:effectRef idx="0">
            <a:schemeClr val="accent1"/>
          </a:effectRef>
          <a:fontRef idx="minor">
            <a:schemeClr val="tx1"/>
          </a:fontRef>
        </p:style>
      </p:cxnSp>
      <p:sp>
        <p:nvSpPr>
          <p:cNvPr id="54" name="TextBox 53">
            <a:extLst>
              <a:ext uri="{FF2B5EF4-FFF2-40B4-BE49-F238E27FC236}">
                <a16:creationId xmlns:a16="http://schemas.microsoft.com/office/drawing/2014/main" id="{06C35962-613E-4FFB-9648-BA93C52F7E4D}"/>
              </a:ext>
            </a:extLst>
          </p:cNvPr>
          <p:cNvSpPr txBox="1"/>
          <p:nvPr/>
        </p:nvSpPr>
        <p:spPr>
          <a:xfrm>
            <a:off x="3467877" y="4607808"/>
            <a:ext cx="762000" cy="369332"/>
          </a:xfrm>
          <a:prstGeom prst="rect">
            <a:avLst/>
          </a:prstGeom>
          <a:noFill/>
        </p:spPr>
        <p:txBody>
          <a:bodyPr wrap="square" rtlCol="0">
            <a:spAutoFit/>
          </a:bodyPr>
          <a:lstStyle/>
          <a:p>
            <a:r>
              <a:rPr lang="en-US" dirty="0"/>
              <a:t>Goal</a:t>
            </a:r>
          </a:p>
        </p:txBody>
      </p:sp>
      <p:cxnSp>
        <p:nvCxnSpPr>
          <p:cNvPr id="3" name="Straight Connector 2">
            <a:extLst>
              <a:ext uri="{FF2B5EF4-FFF2-40B4-BE49-F238E27FC236}">
                <a16:creationId xmlns:a16="http://schemas.microsoft.com/office/drawing/2014/main" id="{119342EE-8677-4E16-A498-D17255C990B9}"/>
              </a:ext>
            </a:extLst>
          </p:cNvPr>
          <p:cNvCxnSpPr/>
          <p:nvPr/>
        </p:nvCxnSpPr>
        <p:spPr>
          <a:xfrm flipH="1">
            <a:off x="1371600" y="3581400"/>
            <a:ext cx="7104105" cy="0"/>
          </a:xfrm>
          <a:prstGeom prst="line">
            <a:avLst/>
          </a:prstGeom>
        </p:spPr>
        <p:style>
          <a:lnRef idx="3">
            <a:schemeClr val="accent2"/>
          </a:lnRef>
          <a:fillRef idx="0">
            <a:schemeClr val="accent2"/>
          </a:fillRef>
          <a:effectRef idx="2">
            <a:schemeClr val="accent2"/>
          </a:effectRef>
          <a:fontRef idx="minor">
            <a:schemeClr val="tx1"/>
          </a:fontRef>
        </p:style>
      </p:cxnSp>
      <p:sp>
        <p:nvSpPr>
          <p:cNvPr id="4" name="TextBox 3">
            <a:extLst>
              <a:ext uri="{FF2B5EF4-FFF2-40B4-BE49-F238E27FC236}">
                <a16:creationId xmlns:a16="http://schemas.microsoft.com/office/drawing/2014/main" id="{76EB2344-6641-48B3-8DD8-93ACA6CD02BF}"/>
              </a:ext>
            </a:extLst>
          </p:cNvPr>
          <p:cNvSpPr txBox="1"/>
          <p:nvPr/>
        </p:nvSpPr>
        <p:spPr>
          <a:xfrm rot="16200000">
            <a:off x="7799094" y="2282157"/>
            <a:ext cx="1109343" cy="369332"/>
          </a:xfrm>
          <a:prstGeom prst="rect">
            <a:avLst/>
          </a:prstGeom>
          <a:noFill/>
        </p:spPr>
        <p:txBody>
          <a:bodyPr wrap="none" rtlCol="0">
            <a:spAutoFit/>
          </a:bodyPr>
          <a:lstStyle/>
          <a:p>
            <a:r>
              <a:rPr lang="en-US" dirty="0">
                <a:solidFill>
                  <a:schemeClr val="accent2"/>
                </a:solidFill>
              </a:rPr>
              <a:t>expanded</a:t>
            </a:r>
          </a:p>
        </p:txBody>
      </p:sp>
      <p:sp>
        <p:nvSpPr>
          <p:cNvPr id="29" name="Rectangle 28">
            <a:extLst>
              <a:ext uri="{FF2B5EF4-FFF2-40B4-BE49-F238E27FC236}">
                <a16:creationId xmlns:a16="http://schemas.microsoft.com/office/drawing/2014/main" id="{5F5F3C93-F032-454D-A066-07125CABEF69}"/>
              </a:ext>
            </a:extLst>
          </p:cNvPr>
          <p:cNvSpPr/>
          <p:nvPr/>
        </p:nvSpPr>
        <p:spPr>
          <a:xfrm>
            <a:off x="6063498" y="524781"/>
            <a:ext cx="2514600" cy="695575"/>
          </a:xfrm>
          <a:prstGeom prst="rect">
            <a:avLst/>
          </a:prstGeom>
        </p:spPr>
        <p:style>
          <a:lnRef idx="2">
            <a:schemeClr val="accent3">
              <a:shade val="50000"/>
            </a:schemeClr>
          </a:lnRef>
          <a:fillRef idx="1">
            <a:schemeClr val="accent3"/>
          </a:fillRef>
          <a:effectRef idx="0">
            <a:schemeClr val="accent3"/>
          </a:effectRef>
          <a:fontRef idx="minor">
            <a:schemeClr val="lt1"/>
          </a:fontRef>
        </p:style>
        <p:txBody>
          <a:bodyPr wrap="square">
            <a:spAutoFit/>
          </a:bodyPr>
          <a:lstStyle/>
          <a:p>
            <a:pPr>
              <a:lnSpc>
                <a:spcPct val="90000"/>
              </a:lnSpc>
            </a:pPr>
            <a:r>
              <a:rPr lang="en-US" sz="1400" i="1" dirty="0"/>
              <a:t>d: </a:t>
            </a:r>
            <a:r>
              <a:rPr lang="en-US" sz="1400" dirty="0"/>
              <a:t>depth of the optimal solution</a:t>
            </a:r>
          </a:p>
          <a:p>
            <a:pPr>
              <a:lnSpc>
                <a:spcPct val="90000"/>
              </a:lnSpc>
            </a:pPr>
            <a:r>
              <a:rPr lang="en-US" sz="1400" i="1" dirty="0"/>
              <a:t>m: </a:t>
            </a:r>
            <a:r>
              <a:rPr lang="en-US" sz="1400" dirty="0"/>
              <a:t>max. depth of tree</a:t>
            </a:r>
          </a:p>
          <a:p>
            <a:r>
              <a:rPr lang="en-US" sz="1400" i="1" dirty="0"/>
              <a:t>b:</a:t>
            </a:r>
            <a:r>
              <a:rPr lang="en-US" sz="1400" dirty="0"/>
              <a:t> maximum branching factor</a:t>
            </a:r>
          </a:p>
        </p:txBody>
      </p:sp>
      <p:sp>
        <p:nvSpPr>
          <p:cNvPr id="6" name="Oval 5">
            <a:extLst>
              <a:ext uri="{FF2B5EF4-FFF2-40B4-BE49-F238E27FC236}">
                <a16:creationId xmlns:a16="http://schemas.microsoft.com/office/drawing/2014/main" id="{11DAB106-B85C-6191-C320-5217BBE7733D}"/>
              </a:ext>
            </a:extLst>
          </p:cNvPr>
          <p:cNvSpPr/>
          <p:nvPr/>
        </p:nvSpPr>
        <p:spPr>
          <a:xfrm>
            <a:off x="2117475" y="4608923"/>
            <a:ext cx="446004" cy="446004"/>
          </a:xfrm>
          <a:prstGeom prst="ellipse">
            <a:avLst/>
          </a:prstGeom>
          <a:solidFill>
            <a:schemeClr val="bg1"/>
          </a:solidFill>
          <a:ln>
            <a:prstDash val="sys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400" dirty="0">
                <a:solidFill>
                  <a:schemeClr val="tx1"/>
                </a:solidFill>
              </a:rPr>
              <a:t>E</a:t>
            </a:r>
          </a:p>
        </p:txBody>
      </p:sp>
      <p:cxnSp>
        <p:nvCxnSpPr>
          <p:cNvPr id="7" name="Straight Arrow Connector 6">
            <a:extLst>
              <a:ext uri="{FF2B5EF4-FFF2-40B4-BE49-F238E27FC236}">
                <a16:creationId xmlns:a16="http://schemas.microsoft.com/office/drawing/2014/main" id="{87B0FA23-3764-78B8-F5E5-6044439665F4}"/>
              </a:ext>
            </a:extLst>
          </p:cNvPr>
          <p:cNvCxnSpPr>
            <a:cxnSpLocks/>
            <a:stCxn id="35" idx="5"/>
            <a:endCxn id="6" idx="1"/>
          </p:cNvCxnSpPr>
          <p:nvPr/>
        </p:nvCxnSpPr>
        <p:spPr>
          <a:xfrm>
            <a:off x="1791933" y="4170321"/>
            <a:ext cx="390858" cy="503918"/>
          </a:xfrm>
          <a:prstGeom prst="straightConnector1">
            <a:avLst/>
          </a:prstGeom>
          <a:ln w="25400">
            <a:prstDash val="sysDash"/>
            <a:tailEnd type="arrow"/>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965793360"/>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0722" name="Rectangle 2"/>
          <p:cNvSpPr>
            <a:spLocks noGrp="1" noChangeArrowheads="1"/>
          </p:cNvSpPr>
          <p:nvPr>
            <p:ph type="title"/>
          </p:nvPr>
        </p:nvSpPr>
        <p:spPr/>
        <p:txBody>
          <a:bodyPr/>
          <a:lstStyle/>
          <a:p>
            <a:r>
              <a:rPr lang="en-US" sz="4000" dirty="0"/>
              <a:t>Properties of Breadth-First Search</a:t>
            </a:r>
          </a:p>
        </p:txBody>
      </p:sp>
      <mc:AlternateContent xmlns:mc="http://schemas.openxmlformats.org/markup-compatibility/2006" xmlns:a14="http://schemas.microsoft.com/office/drawing/2010/main">
        <mc:Choice Requires="a14">
          <p:sp>
            <p:nvSpPr>
              <p:cNvPr id="30723" name="Rectangle 3"/>
              <p:cNvSpPr>
                <a:spLocks noGrp="1" noChangeArrowheads="1"/>
              </p:cNvSpPr>
              <p:nvPr>
                <p:ph idx="1"/>
              </p:nvPr>
            </p:nvSpPr>
            <p:spPr/>
            <p:txBody>
              <a:bodyPr>
                <a:normAutofit fontScale="70000" lnSpcReduction="20000"/>
              </a:bodyPr>
              <a:lstStyle/>
              <a:p>
                <a:pPr>
                  <a:lnSpc>
                    <a:spcPct val="90000"/>
                  </a:lnSpc>
                </a:pPr>
                <a:r>
                  <a:rPr lang="en-US" sz="2800" b="1" dirty="0">
                    <a:solidFill>
                      <a:srgbClr val="FF0000"/>
                    </a:solidFill>
                  </a:rPr>
                  <a:t>Complete? </a:t>
                </a:r>
              </a:p>
              <a:p>
                <a:pPr lvl="1">
                  <a:lnSpc>
                    <a:spcPct val="90000"/>
                  </a:lnSpc>
                  <a:buNone/>
                </a:pPr>
                <a:r>
                  <a:rPr lang="en-US" sz="2400" dirty="0"/>
                  <a:t>Yes</a:t>
                </a:r>
              </a:p>
              <a:p>
                <a:pPr>
                  <a:lnSpc>
                    <a:spcPct val="90000"/>
                  </a:lnSpc>
                </a:pPr>
                <a:endParaRPr lang="en-US" sz="2800" b="1" dirty="0">
                  <a:solidFill>
                    <a:srgbClr val="FF0000"/>
                  </a:solidFill>
                </a:endParaRPr>
              </a:p>
              <a:p>
                <a:pPr>
                  <a:lnSpc>
                    <a:spcPct val="90000"/>
                  </a:lnSpc>
                </a:pPr>
                <a:r>
                  <a:rPr lang="en-US" sz="2800" b="1" dirty="0">
                    <a:solidFill>
                      <a:srgbClr val="FF0000"/>
                    </a:solidFill>
                  </a:rPr>
                  <a:t>Optimal? </a:t>
                </a:r>
              </a:p>
              <a:p>
                <a:pPr lvl="1">
                  <a:lnSpc>
                    <a:spcPct val="90000"/>
                  </a:lnSpc>
                  <a:buNone/>
                </a:pPr>
                <a:r>
                  <a:rPr lang="en-US" sz="2400" dirty="0"/>
                  <a:t>Yes – if cost is the same per step (action). Otherwise: Use uniform-cost search. </a:t>
                </a:r>
              </a:p>
              <a:p>
                <a:pPr>
                  <a:lnSpc>
                    <a:spcPct val="90000"/>
                  </a:lnSpc>
                </a:pPr>
                <a:endParaRPr lang="en-US" sz="2800" b="1" dirty="0">
                  <a:solidFill>
                    <a:srgbClr val="FF0000"/>
                  </a:solidFill>
                </a:endParaRPr>
              </a:p>
              <a:p>
                <a:pPr>
                  <a:lnSpc>
                    <a:spcPct val="90000"/>
                  </a:lnSpc>
                </a:pPr>
                <a:r>
                  <a:rPr lang="en-US" sz="2800" b="1" dirty="0">
                    <a:solidFill>
                      <a:srgbClr val="FF0000"/>
                    </a:solidFill>
                  </a:rPr>
                  <a:t>Time? </a:t>
                </a:r>
              </a:p>
              <a:p>
                <a:pPr lvl="1">
                  <a:buNone/>
                </a:pPr>
                <a:r>
                  <a:rPr lang="en-US" sz="2400" dirty="0"/>
                  <a:t>Number of nodes created: </a:t>
                </a:r>
                <a14:m>
                  <m:oMath xmlns:m="http://schemas.openxmlformats.org/officeDocument/2006/math">
                    <m:r>
                      <a:rPr lang="en-US" sz="2400" i="1" dirty="0" smtClean="0">
                        <a:latin typeface="Cambria Math" panose="02040503050406030204" pitchFamily="18" charset="0"/>
                      </a:rPr>
                      <m:t>𝑂</m:t>
                    </m:r>
                    <m:r>
                      <a:rPr lang="en-US" sz="2400" i="1" dirty="0">
                        <a:latin typeface="Cambria Math" panose="02040503050406030204" pitchFamily="18" charset="0"/>
                      </a:rPr>
                      <m:t>(</m:t>
                    </m:r>
                    <m:sSup>
                      <m:sSupPr>
                        <m:ctrlPr>
                          <a:rPr lang="en-US" sz="2400" b="0" i="1" dirty="0" smtClean="0">
                            <a:latin typeface="Cambria Math" panose="02040503050406030204" pitchFamily="18" charset="0"/>
                          </a:rPr>
                        </m:ctrlPr>
                      </m:sSupPr>
                      <m:e>
                        <m:r>
                          <a:rPr lang="en-US" sz="2400" i="1" dirty="0">
                            <a:latin typeface="Cambria Math" panose="02040503050406030204" pitchFamily="18" charset="0"/>
                          </a:rPr>
                          <m:t>𝑏</m:t>
                        </m:r>
                      </m:e>
                      <m:sup>
                        <m:r>
                          <a:rPr lang="en-US" sz="2400" b="0" i="1" dirty="0" smtClean="0">
                            <a:latin typeface="Cambria Math" panose="02040503050406030204" pitchFamily="18" charset="0"/>
                          </a:rPr>
                          <m:t>𝑑</m:t>
                        </m:r>
                      </m:sup>
                    </m:sSup>
                    <m:r>
                      <a:rPr lang="en-US" sz="2400" i="1" dirty="0">
                        <a:latin typeface="Cambria Math" panose="02040503050406030204" pitchFamily="18" charset="0"/>
                      </a:rPr>
                      <m:t>)</m:t>
                    </m:r>
                  </m:oMath>
                </a14:m>
                <a:endParaRPr lang="en-US" sz="2800" b="1" dirty="0">
                  <a:solidFill>
                    <a:srgbClr val="FF0000"/>
                  </a:solidFill>
                </a:endParaRPr>
              </a:p>
              <a:p>
                <a:endParaRPr lang="en-US" sz="3100" b="1" dirty="0">
                  <a:solidFill>
                    <a:srgbClr val="FF0000"/>
                  </a:solidFill>
                </a:endParaRPr>
              </a:p>
              <a:p>
                <a:r>
                  <a:rPr lang="en-US" sz="2900" b="1" dirty="0">
                    <a:solidFill>
                      <a:srgbClr val="FF0000"/>
                    </a:solidFill>
                  </a:rPr>
                  <a:t>Space? </a:t>
                </a:r>
              </a:p>
              <a:p>
                <a:pPr lvl="1">
                  <a:lnSpc>
                    <a:spcPct val="90000"/>
                  </a:lnSpc>
                  <a:buNone/>
                </a:pPr>
                <a:r>
                  <a:rPr lang="en-US" sz="2400" dirty="0"/>
                  <a:t>Stored nodes: </a:t>
                </a:r>
                <a14:m>
                  <m:oMath xmlns:m="http://schemas.openxmlformats.org/officeDocument/2006/math">
                    <m:r>
                      <a:rPr lang="en-US" sz="2400" i="1" dirty="0" smtClean="0">
                        <a:latin typeface="Cambria Math" panose="02040503050406030204" pitchFamily="18" charset="0"/>
                      </a:rPr>
                      <m:t>𝑂</m:t>
                    </m:r>
                    <m:r>
                      <a:rPr lang="en-US" sz="2400" i="1" dirty="0" smtClean="0">
                        <a:latin typeface="Cambria Math" panose="02040503050406030204" pitchFamily="18" charset="0"/>
                      </a:rPr>
                      <m:t>(</m:t>
                    </m:r>
                    <m:sSup>
                      <m:sSupPr>
                        <m:ctrlPr>
                          <a:rPr lang="en-US" sz="2400" b="0" i="1" dirty="0" smtClean="0">
                            <a:latin typeface="Cambria Math" panose="02040503050406030204" pitchFamily="18" charset="0"/>
                          </a:rPr>
                        </m:ctrlPr>
                      </m:sSupPr>
                      <m:e>
                        <m:r>
                          <a:rPr lang="en-US" sz="2400" i="1" dirty="0" smtClean="0">
                            <a:latin typeface="Cambria Math" panose="02040503050406030204" pitchFamily="18" charset="0"/>
                          </a:rPr>
                          <m:t>𝑏</m:t>
                        </m:r>
                      </m:e>
                      <m:sup>
                        <m:r>
                          <a:rPr lang="en-US" sz="2400" i="1" dirty="0" smtClean="0">
                            <a:latin typeface="Cambria Math" panose="02040503050406030204" pitchFamily="18" charset="0"/>
                          </a:rPr>
                          <m:t>𝑑</m:t>
                        </m:r>
                      </m:sup>
                    </m:sSup>
                    <m:r>
                      <a:rPr lang="en-US" sz="2400" i="1" dirty="0">
                        <a:latin typeface="Cambria Math" panose="02040503050406030204" pitchFamily="18" charset="0"/>
                      </a:rPr>
                      <m:t>)</m:t>
                    </m:r>
                  </m:oMath>
                </a14:m>
                <a:endParaRPr lang="en-US" sz="2400" dirty="0"/>
              </a:p>
              <a:p>
                <a:pPr>
                  <a:lnSpc>
                    <a:spcPct val="90000"/>
                  </a:lnSpc>
                </a:pPr>
                <a:endParaRPr lang="en-US" sz="2800" dirty="0">
                  <a:solidFill>
                    <a:srgbClr val="FF0000"/>
                  </a:solidFill>
                </a:endParaRPr>
              </a:p>
              <a:p>
                <a:pPr marL="0" indent="0">
                  <a:lnSpc>
                    <a:spcPct val="90000"/>
                  </a:lnSpc>
                  <a:buNone/>
                </a:pPr>
                <a:r>
                  <a:rPr lang="en-US" sz="2800" b="1" dirty="0"/>
                  <a:t>Note:</a:t>
                </a:r>
              </a:p>
              <a:p>
                <a:pPr lvl="1"/>
                <a:r>
                  <a:rPr lang="en-US" sz="2500" dirty="0"/>
                  <a:t>In AI, the large space complexity is usually a bigger problem than time!</a:t>
                </a:r>
              </a:p>
            </p:txBody>
          </p:sp>
        </mc:Choice>
        <mc:Fallback xmlns="">
          <p:sp>
            <p:nvSpPr>
              <p:cNvPr id="30723" name="Rectangle 3"/>
              <p:cNvSpPr>
                <a:spLocks noGrp="1" noRot="1" noChangeAspect="1" noMove="1" noResize="1" noEditPoints="1" noAdjustHandles="1" noChangeArrowheads="1" noChangeShapeType="1" noTextEdit="1"/>
              </p:cNvSpPr>
              <p:nvPr>
                <p:ph idx="1"/>
              </p:nvPr>
            </p:nvSpPr>
            <p:spPr>
              <a:blipFill>
                <a:blip r:embed="rId3"/>
                <a:stretch>
                  <a:fillRect l="-773" t="-2521"/>
                </a:stretch>
              </a:blipFill>
            </p:spPr>
            <p:txBody>
              <a:bodyPr/>
              <a:lstStyle/>
              <a:p>
                <a:r>
                  <a:rPr lang="en-US">
                    <a:noFill/>
                  </a:rPr>
                  <a:t> </a:t>
                </a:r>
              </a:p>
            </p:txBody>
          </p:sp>
        </mc:Fallback>
      </mc:AlternateContent>
      <p:sp>
        <p:nvSpPr>
          <p:cNvPr id="2" name="Rectangle 1">
            <a:extLst>
              <a:ext uri="{FF2B5EF4-FFF2-40B4-BE49-F238E27FC236}">
                <a16:creationId xmlns:a16="http://schemas.microsoft.com/office/drawing/2014/main" id="{84041CD2-67CA-4E6C-92E4-1C9A65D63822}"/>
              </a:ext>
            </a:extLst>
          </p:cNvPr>
          <p:cNvSpPr/>
          <p:nvPr/>
        </p:nvSpPr>
        <p:spPr>
          <a:xfrm>
            <a:off x="6248400" y="1675821"/>
            <a:ext cx="2514600" cy="695575"/>
          </a:xfrm>
          <a:prstGeom prst="rect">
            <a:avLst/>
          </a:prstGeom>
        </p:spPr>
        <p:style>
          <a:lnRef idx="2">
            <a:schemeClr val="accent3">
              <a:shade val="50000"/>
            </a:schemeClr>
          </a:lnRef>
          <a:fillRef idx="1">
            <a:schemeClr val="accent3"/>
          </a:fillRef>
          <a:effectRef idx="0">
            <a:schemeClr val="accent3"/>
          </a:effectRef>
          <a:fontRef idx="minor">
            <a:schemeClr val="lt1"/>
          </a:fontRef>
        </p:style>
        <p:txBody>
          <a:bodyPr wrap="square">
            <a:spAutoFit/>
          </a:bodyPr>
          <a:lstStyle/>
          <a:p>
            <a:pPr>
              <a:lnSpc>
                <a:spcPct val="90000"/>
              </a:lnSpc>
            </a:pPr>
            <a:r>
              <a:rPr lang="en-US" sz="1400" i="1" dirty="0"/>
              <a:t>d: </a:t>
            </a:r>
            <a:r>
              <a:rPr lang="en-US" sz="1400" dirty="0"/>
              <a:t>depth of the optimal solution</a:t>
            </a:r>
          </a:p>
          <a:p>
            <a:pPr>
              <a:lnSpc>
                <a:spcPct val="90000"/>
              </a:lnSpc>
            </a:pPr>
            <a:r>
              <a:rPr lang="en-US" sz="1400" i="1" dirty="0"/>
              <a:t>m: </a:t>
            </a:r>
            <a:r>
              <a:rPr lang="en-US" sz="1400" dirty="0"/>
              <a:t>max. depth of tree</a:t>
            </a:r>
          </a:p>
          <a:p>
            <a:r>
              <a:rPr lang="en-US" sz="1400" i="1" dirty="0"/>
              <a:t>b:</a:t>
            </a:r>
            <a:r>
              <a:rPr lang="en-US" sz="1400" dirty="0"/>
              <a:t> maximum branching factor</a:t>
            </a:r>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1746" name="Rectangle 2"/>
          <p:cNvSpPr>
            <a:spLocks noGrp="1" noChangeArrowheads="1"/>
          </p:cNvSpPr>
          <p:nvPr>
            <p:ph type="title"/>
          </p:nvPr>
        </p:nvSpPr>
        <p:spPr/>
        <p:txBody>
          <a:bodyPr/>
          <a:lstStyle/>
          <a:p>
            <a:r>
              <a:rPr lang="en-US" dirty="0"/>
              <a:t>Uniform-cost Search </a:t>
            </a:r>
            <a:br>
              <a:rPr lang="en-US" dirty="0"/>
            </a:br>
            <a:r>
              <a:rPr lang="en-US" dirty="0"/>
              <a:t>(= Dijkstra’s Shortest Path Algorithm)</a:t>
            </a:r>
          </a:p>
        </p:txBody>
      </p:sp>
      <mc:AlternateContent xmlns:mc="http://schemas.openxmlformats.org/markup-compatibility/2006" xmlns:a14="http://schemas.microsoft.com/office/drawing/2010/main">
        <mc:Choice Requires="a14">
          <p:sp>
            <p:nvSpPr>
              <p:cNvPr id="31747" name="Rectangle 3"/>
              <p:cNvSpPr>
                <a:spLocks noGrp="1" noChangeArrowheads="1"/>
              </p:cNvSpPr>
              <p:nvPr>
                <p:ph idx="1"/>
              </p:nvPr>
            </p:nvSpPr>
            <p:spPr>
              <a:xfrm>
                <a:off x="628650" y="1600200"/>
                <a:ext cx="7886700" cy="5105400"/>
              </a:xfrm>
            </p:spPr>
            <p:txBody>
              <a:bodyPr>
                <a:normAutofit fontScale="92500" lnSpcReduction="20000"/>
              </a:bodyPr>
              <a:lstStyle/>
              <a:p>
                <a:pPr>
                  <a:lnSpc>
                    <a:spcPct val="90000"/>
                  </a:lnSpc>
                </a:pPr>
                <a:r>
                  <a:rPr lang="en-US" sz="1600" b="1" dirty="0"/>
                  <a:t>Expansion rule</a:t>
                </a:r>
                <a:r>
                  <a:rPr lang="en-US" sz="1600" dirty="0"/>
                  <a:t>: Expand node in the frontier with </a:t>
                </a:r>
                <a:r>
                  <a:rPr lang="en-US" sz="1600" b="1" dirty="0"/>
                  <a:t>the least path cost</a:t>
                </a:r>
                <a:r>
                  <a:rPr lang="en-US" sz="1600" dirty="0"/>
                  <a:t> from the initial state. </a:t>
                </a:r>
              </a:p>
              <a:p>
                <a:r>
                  <a:rPr lang="en-US" sz="1600" dirty="0"/>
                  <a:t>Implementation: </a:t>
                </a:r>
                <a:r>
                  <a:rPr lang="en-US" sz="1600" b="1" dirty="0"/>
                  <a:t>best-first search</a:t>
                </a:r>
                <a:r>
                  <a:rPr lang="en-US" sz="1600" dirty="0"/>
                  <a:t> where the frontier is a </a:t>
                </a:r>
                <a:r>
                  <a:rPr lang="en-US" sz="1600" b="1" dirty="0"/>
                  <a:t>priority queue </a:t>
                </a:r>
                <a:r>
                  <a:rPr lang="en-US" sz="1600" dirty="0"/>
                  <a:t>ordered by lower </a:t>
                </a:r>
                <a14:m>
                  <m:oMath xmlns:m="http://schemas.openxmlformats.org/officeDocument/2006/math">
                    <m:r>
                      <a:rPr lang="en-US" sz="1600" i="1" dirty="0" smtClean="0">
                        <a:latin typeface="Cambria Math" panose="02040503050406030204" pitchFamily="18" charset="0"/>
                      </a:rPr>
                      <m:t>𝑓</m:t>
                    </m:r>
                    <m:r>
                      <a:rPr lang="en-US" sz="1600" i="1" dirty="0" smtClean="0">
                        <a:latin typeface="Cambria Math" panose="02040503050406030204" pitchFamily="18" charset="0"/>
                      </a:rPr>
                      <m:t>(</m:t>
                    </m:r>
                    <m:r>
                      <a:rPr lang="en-US" sz="1600" i="1" dirty="0" smtClean="0">
                        <a:latin typeface="Cambria Math" panose="02040503050406030204" pitchFamily="18" charset="0"/>
                      </a:rPr>
                      <m:t>𝑛</m:t>
                    </m:r>
                    <m:r>
                      <a:rPr lang="en-US" sz="1600" i="1" dirty="0" smtClean="0">
                        <a:latin typeface="Cambria Math" panose="02040503050406030204" pitchFamily="18" charset="0"/>
                      </a:rPr>
                      <m:t>)</m:t>
                    </m:r>
                  </m:oMath>
                </a14:m>
                <a:r>
                  <a:rPr lang="en-US" sz="1600" dirty="0"/>
                  <a:t> = </a:t>
                </a:r>
                <a:r>
                  <a:rPr lang="en-US" sz="1600" b="1" dirty="0"/>
                  <a:t>path cost </a:t>
                </a:r>
                <a:r>
                  <a:rPr lang="en-US" sz="1600" dirty="0"/>
                  <a:t>(cost of all actions starting from the initial state).</a:t>
                </a:r>
                <a:endParaRPr lang="en-US" sz="1600" b="1" dirty="0"/>
              </a:p>
              <a:p>
                <a:pPr>
                  <a:lnSpc>
                    <a:spcPct val="90000"/>
                  </a:lnSpc>
                </a:pPr>
                <a:r>
                  <a:rPr lang="en-US" sz="1600" dirty="0"/>
                  <a:t>Breadth-first search is a special case when all step costs being equal, i.e., each action costs the same!</a:t>
                </a:r>
              </a:p>
              <a:p>
                <a:pPr>
                  <a:lnSpc>
                    <a:spcPct val="90000"/>
                  </a:lnSpc>
                </a:pPr>
                <a:endParaRPr lang="en-US" sz="1600" u="sng" dirty="0">
                  <a:solidFill>
                    <a:srgbClr val="CC0099"/>
                  </a:solidFill>
                </a:endParaRPr>
              </a:p>
              <a:p>
                <a:pPr>
                  <a:lnSpc>
                    <a:spcPct val="90000"/>
                  </a:lnSpc>
                </a:pPr>
                <a:r>
                  <a:rPr lang="en-US" sz="1600" b="1" dirty="0">
                    <a:solidFill>
                      <a:srgbClr val="FF0000"/>
                    </a:solidFill>
                  </a:rPr>
                  <a:t>Complete? </a:t>
                </a:r>
              </a:p>
              <a:p>
                <a:pPr lvl="1">
                  <a:lnSpc>
                    <a:spcPct val="90000"/>
                  </a:lnSpc>
                  <a:buNone/>
                </a:pPr>
                <a:r>
                  <a:rPr lang="en-US" sz="1400" dirty="0"/>
                  <a:t>Yes, if all step cost </a:t>
                </a:r>
                <a:r>
                  <a:rPr lang="en-US" sz="1400" dirty="0">
                    <a:cs typeface="Calibri" panose="020F0502020204030204" pitchFamily="34" charset="0"/>
                  </a:rPr>
                  <a:t>is greater than some small positive constant </a:t>
                </a:r>
                <a:r>
                  <a:rPr lang="el-GR" sz="1400" i="1" dirty="0">
                    <a:cs typeface="Calibri" panose="020F0502020204030204" pitchFamily="34" charset="0"/>
                  </a:rPr>
                  <a:t>ε</a:t>
                </a:r>
                <a:r>
                  <a:rPr lang="en-US" sz="1400" i="1" dirty="0">
                    <a:cs typeface="Calibri" panose="020F0502020204030204" pitchFamily="34" charset="0"/>
                  </a:rPr>
                  <a:t> &gt; 0</a:t>
                </a:r>
                <a:endParaRPr lang="en-US" sz="1400" dirty="0"/>
              </a:p>
              <a:p>
                <a:pPr>
                  <a:lnSpc>
                    <a:spcPct val="90000"/>
                  </a:lnSpc>
                </a:pPr>
                <a:endParaRPr lang="en-US" sz="1600" b="1" dirty="0">
                  <a:solidFill>
                    <a:srgbClr val="FF0000"/>
                  </a:solidFill>
                </a:endParaRPr>
              </a:p>
              <a:p>
                <a:pPr>
                  <a:lnSpc>
                    <a:spcPct val="90000"/>
                  </a:lnSpc>
                </a:pPr>
                <a:r>
                  <a:rPr lang="en-US" sz="1600" b="1" dirty="0">
                    <a:solidFill>
                      <a:srgbClr val="FF0000"/>
                    </a:solidFill>
                  </a:rPr>
                  <a:t>Optimal?</a:t>
                </a:r>
              </a:p>
              <a:p>
                <a:pPr lvl="1">
                  <a:lnSpc>
                    <a:spcPct val="90000"/>
                  </a:lnSpc>
                  <a:buNone/>
                </a:pPr>
                <a:r>
                  <a:rPr lang="en-US" sz="1400" dirty="0"/>
                  <a:t>Yes – nodes expanded in increasing order of path cost</a:t>
                </a:r>
              </a:p>
              <a:p>
                <a:pPr>
                  <a:lnSpc>
                    <a:spcPct val="90000"/>
                  </a:lnSpc>
                </a:pPr>
                <a:endParaRPr lang="en-US" sz="1600" b="1" dirty="0">
                  <a:solidFill>
                    <a:srgbClr val="FF0000"/>
                  </a:solidFill>
                </a:endParaRPr>
              </a:p>
              <a:p>
                <a:pPr>
                  <a:lnSpc>
                    <a:spcPct val="90000"/>
                  </a:lnSpc>
                </a:pPr>
                <a:r>
                  <a:rPr lang="en-US" sz="1600" b="1" dirty="0">
                    <a:solidFill>
                      <a:srgbClr val="FF0000"/>
                    </a:solidFill>
                  </a:rPr>
                  <a:t>Time? </a:t>
                </a:r>
                <a:endParaRPr lang="en-US" sz="1400" dirty="0">
                  <a:solidFill>
                    <a:srgbClr val="FF0000"/>
                  </a:solidFill>
                </a:endParaRPr>
              </a:p>
              <a:p>
                <a:pPr lvl="1">
                  <a:lnSpc>
                    <a:spcPct val="90000"/>
                  </a:lnSpc>
                  <a:buNone/>
                </a:pPr>
                <a:r>
                  <a:rPr lang="en-US" sz="1400" dirty="0"/>
                  <a:t>Expands all nodes with path cost</a:t>
                </a:r>
                <a:r>
                  <a:rPr lang="en-US" sz="1400" i="1" dirty="0"/>
                  <a:t> </a:t>
                </a:r>
                <a14:m>
                  <m:oMath xmlns:m="http://schemas.openxmlformats.org/officeDocument/2006/math">
                    <m:r>
                      <a:rPr lang="en-US" sz="1400" b="0" i="1" smtClean="0">
                        <a:latin typeface="Cambria Math" panose="02040503050406030204" pitchFamily="18" charset="0"/>
                      </a:rPr>
                      <m:t>𝑐</m:t>
                    </m:r>
                    <m:r>
                      <a:rPr lang="en-US" sz="1400" b="0" i="1" smtClean="0">
                        <a:latin typeface="Cambria Math" panose="02040503050406030204" pitchFamily="18" charset="0"/>
                      </a:rPr>
                      <m:t>≤</m:t>
                    </m:r>
                    <m:sSup>
                      <m:sSupPr>
                        <m:ctrlPr>
                          <a:rPr lang="en-US" sz="1400" b="0" i="1" smtClean="0">
                            <a:latin typeface="Cambria Math" panose="02040503050406030204" pitchFamily="18" charset="0"/>
                          </a:rPr>
                        </m:ctrlPr>
                      </m:sSupPr>
                      <m:e>
                        <m:r>
                          <a:rPr lang="en-US" sz="1400" b="0" i="1" smtClean="0">
                            <a:latin typeface="Cambria Math" panose="02040503050406030204" pitchFamily="18" charset="0"/>
                          </a:rPr>
                          <m:t>𝐶</m:t>
                        </m:r>
                      </m:e>
                      <m:sup>
                        <m:r>
                          <a:rPr lang="en-US" sz="1400" b="0" i="1" smtClean="0">
                            <a:latin typeface="Cambria Math" panose="02040503050406030204" pitchFamily="18" charset="0"/>
                          </a:rPr>
                          <m:t>∗</m:t>
                        </m:r>
                      </m:sup>
                    </m:sSup>
                  </m:oMath>
                </a14:m>
                <a:r>
                  <a:rPr lang="en-US" sz="1400" dirty="0"/>
                  <a:t> (cost of optimal solution) leading to </a:t>
                </a:r>
                <a:r>
                  <a:rPr lang="en-US" sz="1400" i="1" dirty="0"/>
                  <a:t>O</a:t>
                </a:r>
                <a:r>
                  <a:rPr lang="en-US" sz="1400" dirty="0"/>
                  <a:t>(</a:t>
                </a:r>
                <a:r>
                  <a:rPr lang="en-US" sz="1400" i="1" dirty="0"/>
                  <a:t>b</a:t>
                </a:r>
                <a:r>
                  <a:rPr lang="en-US" sz="1400" i="1" baseline="30000" dirty="0"/>
                  <a:t>1+C*/ </a:t>
                </a:r>
                <a:r>
                  <a:rPr lang="el-GR" sz="1400" i="1" baseline="30000" dirty="0">
                    <a:cs typeface="Calibri" panose="020F0502020204030204" pitchFamily="34" charset="0"/>
                  </a:rPr>
                  <a:t>ε</a:t>
                </a:r>
                <a:r>
                  <a:rPr lang="en-US" sz="1400" dirty="0"/>
                  <a:t>) for the number of nodes.</a:t>
                </a:r>
              </a:p>
              <a:p>
                <a:pPr lvl="1">
                  <a:lnSpc>
                    <a:spcPct val="90000"/>
                  </a:lnSpc>
                  <a:buNone/>
                </a:pPr>
                <a:r>
                  <a:rPr lang="en-US" sz="1400" dirty="0"/>
                  <a:t>Note: This can be greater than BFS’s </a:t>
                </a:r>
                <a:r>
                  <a:rPr lang="en-US" sz="1400" i="1" dirty="0"/>
                  <a:t>O</a:t>
                </a:r>
                <a:r>
                  <a:rPr lang="en-US" sz="1400" dirty="0"/>
                  <a:t>(</a:t>
                </a:r>
                <a:r>
                  <a:rPr lang="en-US" sz="1400" i="1" dirty="0"/>
                  <a:t>b</a:t>
                </a:r>
                <a:r>
                  <a:rPr lang="en-US" sz="1400" i="1" baseline="30000" dirty="0"/>
                  <a:t>d</a:t>
                </a:r>
                <a:r>
                  <a:rPr lang="en-US" sz="1400" dirty="0"/>
                  <a:t>): the search can explore long paths consisting of small steps before exploring shorter paths consisting of larger steps.</a:t>
                </a:r>
              </a:p>
              <a:p>
                <a:pPr>
                  <a:lnSpc>
                    <a:spcPct val="90000"/>
                  </a:lnSpc>
                </a:pPr>
                <a:endParaRPr lang="en-US" sz="1600" b="1" dirty="0">
                  <a:solidFill>
                    <a:srgbClr val="FF0000"/>
                  </a:solidFill>
                </a:endParaRPr>
              </a:p>
              <a:p>
                <a:pPr>
                  <a:lnSpc>
                    <a:spcPct val="90000"/>
                  </a:lnSpc>
                </a:pPr>
                <a:r>
                  <a:rPr lang="en-US" sz="1600" b="1" dirty="0">
                    <a:solidFill>
                      <a:srgbClr val="FF0000"/>
                    </a:solidFill>
                  </a:rPr>
                  <a:t>Space? </a:t>
                </a:r>
              </a:p>
              <a:p>
                <a:pPr lvl="1">
                  <a:lnSpc>
                    <a:spcPct val="90000"/>
                  </a:lnSpc>
                  <a:buNone/>
                </a:pPr>
                <a:r>
                  <a:rPr lang="en-US" sz="1400" i="1" dirty="0"/>
                  <a:t>O</a:t>
                </a:r>
                <a:r>
                  <a:rPr lang="en-US" sz="1400" dirty="0"/>
                  <a:t>(</a:t>
                </a:r>
                <a:r>
                  <a:rPr lang="en-US" sz="1400" i="1" dirty="0"/>
                  <a:t>b</a:t>
                </a:r>
                <a:r>
                  <a:rPr lang="en-US" sz="1400" i="1" baseline="30000" dirty="0"/>
                  <a:t>1+C*/ </a:t>
                </a:r>
                <a:r>
                  <a:rPr lang="el-GR" sz="1400" i="1" baseline="30000" dirty="0">
                    <a:cs typeface="Calibri" panose="020F0502020204030204" pitchFamily="34" charset="0"/>
                  </a:rPr>
                  <a:t>ε</a:t>
                </a:r>
                <a:r>
                  <a:rPr lang="en-US" sz="1400" dirty="0"/>
                  <a:t>)</a:t>
                </a:r>
              </a:p>
              <a:p>
                <a:pPr lvl="1">
                  <a:lnSpc>
                    <a:spcPct val="90000"/>
                  </a:lnSpc>
                  <a:buNone/>
                </a:pPr>
                <a:endParaRPr lang="en-US" sz="1400" dirty="0"/>
              </a:p>
              <a:p>
                <a:pPr>
                  <a:buNone/>
                </a:pPr>
                <a:r>
                  <a:rPr lang="en-US" sz="1600" dirty="0"/>
                  <a:t>See </a:t>
                </a:r>
                <a:r>
                  <a:rPr lang="en-US" sz="1600" dirty="0">
                    <a:hlinkClick r:id="rId3"/>
                  </a:rPr>
                  <a:t>Dijkstra's algorithm on Wikipedia</a:t>
                </a:r>
                <a:r>
                  <a:rPr lang="en-US" sz="1600" dirty="0"/>
                  <a:t> </a:t>
                </a:r>
              </a:p>
            </p:txBody>
          </p:sp>
        </mc:Choice>
        <mc:Fallback xmlns="">
          <p:sp>
            <p:nvSpPr>
              <p:cNvPr id="31747" name="Rectangle 3"/>
              <p:cNvSpPr>
                <a:spLocks noGrp="1" noRot="1" noChangeAspect="1" noMove="1" noResize="1" noEditPoints="1" noAdjustHandles="1" noChangeArrowheads="1" noChangeShapeType="1" noTextEdit="1"/>
              </p:cNvSpPr>
              <p:nvPr>
                <p:ph idx="1"/>
              </p:nvPr>
            </p:nvSpPr>
            <p:spPr>
              <a:xfrm>
                <a:off x="628650" y="1600200"/>
                <a:ext cx="7886700" cy="5105400"/>
              </a:xfrm>
              <a:blipFill>
                <a:blip r:embed="rId4"/>
                <a:stretch>
                  <a:fillRect l="-309" t="-1434" r="-77"/>
                </a:stretch>
              </a:blipFill>
            </p:spPr>
            <p:txBody>
              <a:bodyPr/>
              <a:lstStyle/>
              <a:p>
                <a:r>
                  <a:rPr lang="en-US">
                    <a:noFill/>
                  </a:rPr>
                  <a:t> </a:t>
                </a:r>
              </a:p>
            </p:txBody>
          </p:sp>
        </mc:Fallback>
      </mc:AlternateContent>
      <p:sp>
        <p:nvSpPr>
          <p:cNvPr id="4" name="Rectangle 3">
            <a:extLst>
              <a:ext uri="{FF2B5EF4-FFF2-40B4-BE49-F238E27FC236}">
                <a16:creationId xmlns:a16="http://schemas.microsoft.com/office/drawing/2014/main" id="{DB2C96D9-6F99-4670-9C8D-1F23FF85BED6}"/>
              </a:ext>
            </a:extLst>
          </p:cNvPr>
          <p:cNvSpPr/>
          <p:nvPr/>
        </p:nvSpPr>
        <p:spPr>
          <a:xfrm>
            <a:off x="6000750" y="2929480"/>
            <a:ext cx="2514600" cy="695575"/>
          </a:xfrm>
          <a:prstGeom prst="rect">
            <a:avLst/>
          </a:prstGeom>
        </p:spPr>
        <p:style>
          <a:lnRef idx="2">
            <a:schemeClr val="accent3">
              <a:shade val="50000"/>
            </a:schemeClr>
          </a:lnRef>
          <a:fillRef idx="1">
            <a:schemeClr val="accent3"/>
          </a:fillRef>
          <a:effectRef idx="0">
            <a:schemeClr val="accent3"/>
          </a:effectRef>
          <a:fontRef idx="minor">
            <a:schemeClr val="lt1"/>
          </a:fontRef>
        </p:style>
        <p:txBody>
          <a:bodyPr wrap="square">
            <a:spAutoFit/>
          </a:bodyPr>
          <a:lstStyle/>
          <a:p>
            <a:pPr>
              <a:lnSpc>
                <a:spcPct val="90000"/>
              </a:lnSpc>
            </a:pPr>
            <a:r>
              <a:rPr lang="en-US" sz="1400" i="1" dirty="0"/>
              <a:t>d: </a:t>
            </a:r>
            <a:r>
              <a:rPr lang="en-US" sz="1400" dirty="0"/>
              <a:t>depth of the optimal solution</a:t>
            </a:r>
          </a:p>
          <a:p>
            <a:pPr>
              <a:lnSpc>
                <a:spcPct val="90000"/>
              </a:lnSpc>
            </a:pPr>
            <a:r>
              <a:rPr lang="en-US" sz="1400" i="1" dirty="0"/>
              <a:t>m: </a:t>
            </a:r>
            <a:r>
              <a:rPr lang="en-US" sz="1400" dirty="0"/>
              <a:t>max. depth of tree</a:t>
            </a:r>
          </a:p>
          <a:p>
            <a:r>
              <a:rPr lang="en-US" sz="1400" i="1" dirty="0"/>
              <a:t>b:</a:t>
            </a:r>
            <a:r>
              <a:rPr lang="en-US" sz="1400" dirty="0"/>
              <a:t> maximum branching factor</a:t>
            </a:r>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D1C778E-116C-4A58-BEA9-76E3144E1FE8}"/>
              </a:ext>
            </a:extLst>
          </p:cNvPr>
          <p:cNvSpPr>
            <a:spLocks noGrp="1"/>
          </p:cNvSpPr>
          <p:nvPr>
            <p:ph type="title"/>
          </p:nvPr>
        </p:nvSpPr>
        <p:spPr/>
        <p:txBody>
          <a:bodyPr/>
          <a:lstStyle/>
          <a:p>
            <a:r>
              <a:rPr lang="en-US" dirty="0"/>
              <a:t>Implementation: Best-First Search Strategy</a:t>
            </a:r>
          </a:p>
        </p:txBody>
      </p:sp>
      <p:sp>
        <p:nvSpPr>
          <p:cNvPr id="6" name="Slide Number Placeholder 5">
            <a:extLst>
              <a:ext uri="{FF2B5EF4-FFF2-40B4-BE49-F238E27FC236}">
                <a16:creationId xmlns:a16="http://schemas.microsoft.com/office/drawing/2014/main" id="{44E064F9-98BA-4E2A-A11B-578018FD1F64}"/>
              </a:ext>
            </a:extLst>
          </p:cNvPr>
          <p:cNvSpPr>
            <a:spLocks noGrp="1"/>
          </p:cNvSpPr>
          <p:nvPr>
            <p:ph type="sldNum" sz="quarter" idx="12"/>
          </p:nvPr>
        </p:nvSpPr>
        <p:spPr>
          <a:xfrm>
            <a:off x="6457950" y="6340475"/>
            <a:ext cx="2057400" cy="365125"/>
          </a:xfrm>
        </p:spPr>
        <p:txBody>
          <a:bodyPr/>
          <a:lstStyle/>
          <a:p>
            <a:fld id="{E97C47EE-1537-423B-A9B2-96D7BC867AC1}" type="slidenum">
              <a:rPr lang="en-US" smtClean="0"/>
              <a:t>44</a:t>
            </a:fld>
            <a:endParaRPr lang="en-US"/>
          </a:p>
        </p:txBody>
      </p:sp>
      <p:pic>
        <p:nvPicPr>
          <p:cNvPr id="7" name="Picture 6">
            <a:extLst>
              <a:ext uri="{FF2B5EF4-FFF2-40B4-BE49-F238E27FC236}">
                <a16:creationId xmlns:a16="http://schemas.microsoft.com/office/drawing/2014/main" id="{6F7C17AE-CAAB-437C-963E-1F1ED4EF3F4F}"/>
              </a:ext>
            </a:extLst>
          </p:cNvPr>
          <p:cNvPicPr>
            <a:picLocks noChangeAspect="1"/>
          </p:cNvPicPr>
          <p:nvPr/>
        </p:nvPicPr>
        <p:blipFill rotWithShape="1">
          <a:blip r:embed="rId2"/>
          <a:srcRect b="32419"/>
          <a:stretch/>
        </p:blipFill>
        <p:spPr>
          <a:xfrm>
            <a:off x="800101" y="2727203"/>
            <a:ext cx="6896100" cy="3197346"/>
          </a:xfrm>
          <a:prstGeom prst="rect">
            <a:avLst/>
          </a:prstGeom>
        </p:spPr>
        <p:style>
          <a:lnRef idx="2">
            <a:schemeClr val="accent2"/>
          </a:lnRef>
          <a:fillRef idx="1">
            <a:schemeClr val="lt1"/>
          </a:fillRef>
          <a:effectRef idx="0">
            <a:schemeClr val="accent2"/>
          </a:effectRef>
          <a:fontRef idx="minor">
            <a:schemeClr val="dk1"/>
          </a:fontRef>
        </p:style>
      </p:pic>
      <p:pic>
        <p:nvPicPr>
          <p:cNvPr id="9" name="Picture 8">
            <a:extLst>
              <a:ext uri="{FF2B5EF4-FFF2-40B4-BE49-F238E27FC236}">
                <a16:creationId xmlns:a16="http://schemas.microsoft.com/office/drawing/2014/main" id="{438F9036-57F1-4C99-AE93-8BB0D0007B5B}"/>
              </a:ext>
            </a:extLst>
          </p:cNvPr>
          <p:cNvPicPr>
            <a:picLocks noChangeAspect="1"/>
          </p:cNvPicPr>
          <p:nvPr/>
        </p:nvPicPr>
        <p:blipFill>
          <a:blip r:embed="rId3"/>
          <a:stretch>
            <a:fillRect/>
          </a:stretch>
        </p:blipFill>
        <p:spPr>
          <a:xfrm>
            <a:off x="800102" y="1788941"/>
            <a:ext cx="6896099" cy="708873"/>
          </a:xfrm>
          <a:prstGeom prst="rect">
            <a:avLst/>
          </a:prstGeom>
        </p:spPr>
        <p:style>
          <a:lnRef idx="2">
            <a:schemeClr val="accent2"/>
          </a:lnRef>
          <a:fillRef idx="1">
            <a:schemeClr val="lt1"/>
          </a:fillRef>
          <a:effectRef idx="0">
            <a:schemeClr val="accent2"/>
          </a:effectRef>
          <a:fontRef idx="minor">
            <a:schemeClr val="dk1"/>
          </a:fontRef>
        </p:style>
      </p:pic>
      <p:sp>
        <p:nvSpPr>
          <p:cNvPr id="10" name="Speech Bubble: Rectangle with Corners Rounded 9">
            <a:extLst>
              <a:ext uri="{FF2B5EF4-FFF2-40B4-BE49-F238E27FC236}">
                <a16:creationId xmlns:a16="http://schemas.microsoft.com/office/drawing/2014/main" id="{1CCC5912-F481-427C-8D65-4F8A17B66501}"/>
              </a:ext>
            </a:extLst>
          </p:cNvPr>
          <p:cNvSpPr/>
          <p:nvPr/>
        </p:nvSpPr>
        <p:spPr>
          <a:xfrm>
            <a:off x="6286500" y="5391149"/>
            <a:ext cx="2705100" cy="1222375"/>
          </a:xfrm>
          <a:prstGeom prst="wedgeRoundRectCallout">
            <a:avLst>
              <a:gd name="adj1" fmla="val -69529"/>
              <a:gd name="adj2" fmla="val -71307"/>
              <a:gd name="adj3" fmla="val 16667"/>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600" dirty="0"/>
              <a:t>This check is added to BFS! It visits a node again if it can be reached by a better (cheaper) path.</a:t>
            </a:r>
          </a:p>
        </p:txBody>
      </p:sp>
      <p:sp>
        <p:nvSpPr>
          <p:cNvPr id="4" name="Rectangle 3">
            <a:extLst>
              <a:ext uri="{FF2B5EF4-FFF2-40B4-BE49-F238E27FC236}">
                <a16:creationId xmlns:a16="http://schemas.microsoft.com/office/drawing/2014/main" id="{0E198654-E598-446C-949F-CE7BB79A8003}"/>
              </a:ext>
            </a:extLst>
          </p:cNvPr>
          <p:cNvSpPr/>
          <p:nvPr/>
        </p:nvSpPr>
        <p:spPr>
          <a:xfrm>
            <a:off x="2133600" y="3257549"/>
            <a:ext cx="1143000" cy="228600"/>
          </a:xfrm>
          <a:prstGeom prst="rect">
            <a:avLst/>
          </a:prstGeom>
          <a:solidFill>
            <a:schemeClr val="accent2">
              <a:alpha val="50000"/>
            </a:schemeClr>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lang="en-US"/>
          </a:p>
        </p:txBody>
      </p:sp>
      <p:sp>
        <p:nvSpPr>
          <p:cNvPr id="11" name="Rectangle 10">
            <a:extLst>
              <a:ext uri="{FF2B5EF4-FFF2-40B4-BE49-F238E27FC236}">
                <a16:creationId xmlns:a16="http://schemas.microsoft.com/office/drawing/2014/main" id="{62863B32-1384-4BAF-80CC-FCB326C1908A}"/>
              </a:ext>
            </a:extLst>
          </p:cNvPr>
          <p:cNvSpPr/>
          <p:nvPr/>
        </p:nvSpPr>
        <p:spPr>
          <a:xfrm>
            <a:off x="3352800" y="4857749"/>
            <a:ext cx="3429000" cy="228600"/>
          </a:xfrm>
          <a:prstGeom prst="rect">
            <a:avLst/>
          </a:prstGeom>
          <a:solidFill>
            <a:schemeClr val="accent2">
              <a:alpha val="50000"/>
            </a:schemeClr>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lang="en-US"/>
          </a:p>
        </p:txBody>
      </p:sp>
      <p:sp>
        <p:nvSpPr>
          <p:cNvPr id="12" name="Rectangle 11">
            <a:extLst>
              <a:ext uri="{FF2B5EF4-FFF2-40B4-BE49-F238E27FC236}">
                <a16:creationId xmlns:a16="http://schemas.microsoft.com/office/drawing/2014/main" id="{AC7F7389-B3C3-48CD-B248-7F7007C75B76}"/>
              </a:ext>
            </a:extLst>
          </p:cNvPr>
          <p:cNvSpPr/>
          <p:nvPr/>
        </p:nvSpPr>
        <p:spPr>
          <a:xfrm>
            <a:off x="4114800" y="2800349"/>
            <a:ext cx="228600" cy="228600"/>
          </a:xfrm>
          <a:prstGeom prst="rect">
            <a:avLst/>
          </a:prstGeom>
          <a:solidFill>
            <a:schemeClr val="accent2">
              <a:alpha val="50000"/>
            </a:schemeClr>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lang="en-US"/>
          </a:p>
        </p:txBody>
      </p:sp>
      <p:sp>
        <p:nvSpPr>
          <p:cNvPr id="13" name="Rectangle 12">
            <a:extLst>
              <a:ext uri="{FF2B5EF4-FFF2-40B4-BE49-F238E27FC236}">
                <a16:creationId xmlns:a16="http://schemas.microsoft.com/office/drawing/2014/main" id="{0B8D264A-08AF-4F7D-BAF2-F6130A073787}"/>
              </a:ext>
            </a:extLst>
          </p:cNvPr>
          <p:cNvSpPr/>
          <p:nvPr/>
        </p:nvSpPr>
        <p:spPr>
          <a:xfrm>
            <a:off x="4276959" y="2104762"/>
            <a:ext cx="1009652" cy="239713"/>
          </a:xfrm>
          <a:prstGeom prst="rect">
            <a:avLst/>
          </a:prstGeom>
          <a:solidFill>
            <a:schemeClr val="accent2">
              <a:alpha val="50000"/>
            </a:schemeClr>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lang="en-US"/>
          </a:p>
        </p:txBody>
      </p:sp>
      <p:sp>
        <p:nvSpPr>
          <p:cNvPr id="14" name="Speech Bubble: Rectangle with Corners Rounded 13">
            <a:extLst>
              <a:ext uri="{FF2B5EF4-FFF2-40B4-BE49-F238E27FC236}">
                <a16:creationId xmlns:a16="http://schemas.microsoft.com/office/drawing/2014/main" id="{CA625B60-3F86-43F3-886B-B90F8A7C31AA}"/>
              </a:ext>
            </a:extLst>
          </p:cNvPr>
          <p:cNvSpPr/>
          <p:nvPr/>
        </p:nvSpPr>
        <p:spPr>
          <a:xfrm>
            <a:off x="6275349" y="3765921"/>
            <a:ext cx="2705100" cy="1018682"/>
          </a:xfrm>
          <a:prstGeom prst="wedgeRoundRectCallout">
            <a:avLst>
              <a:gd name="adj1" fmla="val -128283"/>
              <a:gd name="adj2" fmla="val -84566"/>
              <a:gd name="adj3" fmla="val 16667"/>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600" dirty="0"/>
              <a:t>The order for expanding the frontier is  determined by </a:t>
            </a:r>
            <a:r>
              <a:rPr lang="en-US" sz="1600" i="1" dirty="0"/>
              <a:t>f(n) </a:t>
            </a:r>
            <a:r>
              <a:rPr lang="en-US" sz="1600" dirty="0"/>
              <a:t>= path cost from the initial state to node </a:t>
            </a:r>
            <a:r>
              <a:rPr lang="en-US" sz="1600" i="1" dirty="0"/>
              <a:t>n</a:t>
            </a:r>
            <a:r>
              <a:rPr lang="en-US" sz="1600" dirty="0"/>
              <a:t>.</a:t>
            </a:r>
          </a:p>
        </p:txBody>
      </p:sp>
      <p:sp>
        <p:nvSpPr>
          <p:cNvPr id="8" name="TextBox 7">
            <a:extLst>
              <a:ext uri="{FF2B5EF4-FFF2-40B4-BE49-F238E27FC236}">
                <a16:creationId xmlns:a16="http://schemas.microsoft.com/office/drawing/2014/main" id="{BD5EA7BA-7A0E-4980-87F2-90835921ACC0}"/>
              </a:ext>
            </a:extLst>
          </p:cNvPr>
          <p:cNvSpPr txBox="1"/>
          <p:nvPr/>
        </p:nvSpPr>
        <p:spPr>
          <a:xfrm>
            <a:off x="726632" y="5927603"/>
            <a:ext cx="2626168" cy="338554"/>
          </a:xfrm>
          <a:prstGeom prst="rect">
            <a:avLst/>
          </a:prstGeom>
          <a:noFill/>
        </p:spPr>
        <p:txBody>
          <a:bodyPr wrap="none" rtlCol="0">
            <a:spAutoFit/>
          </a:bodyPr>
          <a:lstStyle/>
          <a:p>
            <a:r>
              <a:rPr lang="en-US" sz="1600" dirty="0"/>
              <a:t>See BFS for function EXPAND.</a:t>
            </a:r>
          </a:p>
        </p:txBody>
      </p:sp>
      <p:cxnSp>
        <p:nvCxnSpPr>
          <p:cNvPr id="5" name="Straight Arrow Connector 4">
            <a:extLst>
              <a:ext uri="{FF2B5EF4-FFF2-40B4-BE49-F238E27FC236}">
                <a16:creationId xmlns:a16="http://schemas.microsoft.com/office/drawing/2014/main" id="{F5E84C67-3438-4AA3-8F22-60E274BA8027}"/>
              </a:ext>
            </a:extLst>
          </p:cNvPr>
          <p:cNvCxnSpPr>
            <a:endCxn id="7" idx="0"/>
          </p:cNvCxnSpPr>
          <p:nvPr/>
        </p:nvCxnSpPr>
        <p:spPr>
          <a:xfrm flipH="1">
            <a:off x="4248151" y="2344475"/>
            <a:ext cx="400049" cy="382728"/>
          </a:xfrm>
          <a:prstGeom prst="straightConnector1">
            <a:avLst/>
          </a:prstGeom>
          <a:ln>
            <a:tailEnd type="triangle"/>
          </a:ln>
        </p:spPr>
        <p:style>
          <a:lnRef idx="3">
            <a:schemeClr val="accent1"/>
          </a:lnRef>
          <a:fillRef idx="0">
            <a:schemeClr val="accent1"/>
          </a:fillRef>
          <a:effectRef idx="2">
            <a:schemeClr val="accent1"/>
          </a:effectRef>
          <a:fontRef idx="minor">
            <a:schemeClr val="tx1"/>
          </a:fontRef>
        </p:style>
      </p:cxnSp>
      <p:sp>
        <p:nvSpPr>
          <p:cNvPr id="3" name="TextBox 2">
            <a:extLst>
              <a:ext uri="{FF2B5EF4-FFF2-40B4-BE49-F238E27FC236}">
                <a16:creationId xmlns:a16="http://schemas.microsoft.com/office/drawing/2014/main" id="{86329B51-8389-A502-C31D-180916FD9D15}"/>
              </a:ext>
            </a:extLst>
          </p:cNvPr>
          <p:cNvSpPr txBox="1"/>
          <p:nvPr/>
        </p:nvSpPr>
        <p:spPr>
          <a:xfrm>
            <a:off x="628650" y="1304972"/>
            <a:ext cx="4531168" cy="338554"/>
          </a:xfrm>
          <a:prstGeom prst="rect">
            <a:avLst/>
          </a:prstGeom>
          <a:noFill/>
        </p:spPr>
        <p:txBody>
          <a:bodyPr wrap="square" rtlCol="0">
            <a:spAutoFit/>
          </a:bodyPr>
          <a:lstStyle/>
          <a:p>
            <a:r>
              <a:rPr lang="en-US" sz="1600" b="1" dirty="0"/>
              <a:t>Note</a:t>
            </a:r>
            <a:r>
              <a:rPr lang="en-US" sz="1600" dirty="0"/>
              <a:t>: This generalizes Breadth-First-Search</a:t>
            </a:r>
          </a:p>
        </p:txBody>
      </p:sp>
      <p:sp>
        <p:nvSpPr>
          <p:cNvPr id="15" name="Speech Bubble: Rectangle with Corners Rounded 14">
            <a:extLst>
              <a:ext uri="{FF2B5EF4-FFF2-40B4-BE49-F238E27FC236}">
                <a16:creationId xmlns:a16="http://schemas.microsoft.com/office/drawing/2014/main" id="{BFBCB656-9BB7-3227-B650-4B1F5AD8A2D5}"/>
              </a:ext>
            </a:extLst>
          </p:cNvPr>
          <p:cNvSpPr/>
          <p:nvPr/>
        </p:nvSpPr>
        <p:spPr>
          <a:xfrm>
            <a:off x="7223981" y="2134429"/>
            <a:ext cx="1767619" cy="1091897"/>
          </a:xfrm>
          <a:prstGeom prst="wedgeRoundRectCallout">
            <a:avLst>
              <a:gd name="adj1" fmla="val -159390"/>
              <a:gd name="adj2" fmla="val -34913"/>
              <a:gd name="adj3" fmla="val 16667"/>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400" dirty="0"/>
              <a:t>Path cost with a cost of 1 per action makes the priority queue behave like a FIFO queue!</a:t>
            </a:r>
          </a:p>
        </p:txBody>
      </p:sp>
    </p:spTree>
    <p:extLst>
      <p:ext uri="{BB962C8B-B14F-4D97-AF65-F5344CB8AC3E}">
        <p14:creationId xmlns:p14="http://schemas.microsoft.com/office/powerpoint/2010/main" val="726737959"/>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6D6C4D7-A72B-B7BA-23D0-AADFFB809C13}"/>
            </a:ext>
          </a:extLst>
        </p:cNvPr>
        <p:cNvGrpSpPr/>
        <p:nvPr/>
      </p:nvGrpSpPr>
      <p:grpSpPr>
        <a:xfrm>
          <a:off x="0" y="0"/>
          <a:ext cx="0" cy="0"/>
          <a:chOff x="0" y="0"/>
          <a:chExt cx="0" cy="0"/>
        </a:xfrm>
      </p:grpSpPr>
      <p:pic>
        <p:nvPicPr>
          <p:cNvPr id="1026" name="Picture 2" descr="Choose A Path Stock Photos And Images - 123RF">
            <a:extLst>
              <a:ext uri="{FF2B5EF4-FFF2-40B4-BE49-F238E27FC236}">
                <a16:creationId xmlns:a16="http://schemas.microsoft.com/office/drawing/2014/main" id="{37F1C367-FAD8-DE34-D253-74FF1141165C}"/>
              </a:ext>
            </a:extLst>
          </p:cNvPr>
          <p:cNvPicPr>
            <a:picLocks noChangeAspect="1" noChangeArrowheads="1"/>
          </p:cNvPicPr>
          <p:nvPr/>
        </p:nvPicPr>
        <p:blipFill rotWithShape="1">
          <a:blip r:embed="rId2">
            <a:alphaModFix/>
            <a:extLst>
              <a:ext uri="{28A0092B-C50C-407E-A947-70E740481C1C}">
                <a14:useLocalDpi xmlns:a14="http://schemas.microsoft.com/office/drawing/2010/main" val="0"/>
              </a:ext>
            </a:extLst>
          </a:blip>
          <a:srcRect/>
          <a:stretch/>
        </p:blipFill>
        <p:spPr bwMode="auto">
          <a:xfrm>
            <a:off x="20" y="1"/>
            <a:ext cx="9143980" cy="6857999"/>
          </a:xfrm>
          <a:prstGeom prst="rect">
            <a:avLst/>
          </a:prstGeom>
          <a:noFill/>
          <a:extLst>
            <a:ext uri="{909E8E84-426E-40DD-AFC4-6F175D3DCCD1}">
              <a14:hiddenFill xmlns:a14="http://schemas.microsoft.com/office/drawing/2010/main">
                <a:solidFill>
                  <a:srgbClr val="FFFFFF"/>
                </a:solidFill>
              </a14:hiddenFill>
            </a:ext>
          </a:extLst>
        </p:spPr>
      </p:pic>
      <p:sp>
        <p:nvSpPr>
          <p:cNvPr id="7" name="Title 6">
            <a:extLst>
              <a:ext uri="{FF2B5EF4-FFF2-40B4-BE49-F238E27FC236}">
                <a16:creationId xmlns:a16="http://schemas.microsoft.com/office/drawing/2014/main" id="{9C1047C0-7FF7-58C0-B54C-728F730191FB}"/>
              </a:ext>
            </a:extLst>
          </p:cNvPr>
          <p:cNvSpPr>
            <a:spLocks noGrp="1"/>
          </p:cNvSpPr>
          <p:nvPr>
            <p:ph type="title"/>
          </p:nvPr>
        </p:nvSpPr>
        <p:spPr>
          <a:xfrm>
            <a:off x="914400" y="76200"/>
            <a:ext cx="6858000" cy="1011238"/>
          </a:xfrm>
        </p:spPr>
        <p:txBody>
          <a:bodyPr vert="horz" lIns="91440" tIns="45720" rIns="91440" bIns="45720" rtlCol="0" anchor="b">
            <a:normAutofit/>
          </a:bodyPr>
          <a:lstStyle/>
          <a:p>
            <a:pPr algn="ctr" defTabSz="914400"/>
            <a:r>
              <a:rPr lang="en-US" sz="6000" b="1" dirty="0">
                <a:solidFill>
                  <a:srgbClr val="FFFFFF"/>
                </a:solidFill>
              </a:rPr>
              <a:t>Uninformed Search</a:t>
            </a:r>
          </a:p>
        </p:txBody>
      </p:sp>
      <p:sp>
        <p:nvSpPr>
          <p:cNvPr id="3" name="TextBox 2">
            <a:extLst>
              <a:ext uri="{FF2B5EF4-FFF2-40B4-BE49-F238E27FC236}">
                <a16:creationId xmlns:a16="http://schemas.microsoft.com/office/drawing/2014/main" id="{D7AECE87-AAFF-E224-C9B0-81EC6D79F9E2}"/>
              </a:ext>
            </a:extLst>
          </p:cNvPr>
          <p:cNvSpPr txBox="1"/>
          <p:nvPr/>
        </p:nvSpPr>
        <p:spPr>
          <a:xfrm>
            <a:off x="3276600" y="6165502"/>
            <a:ext cx="2971800" cy="461665"/>
          </a:xfrm>
          <a:prstGeom prst="rect">
            <a:avLst/>
          </a:prstGeom>
          <a:noFill/>
        </p:spPr>
        <p:txBody>
          <a:bodyPr wrap="square">
            <a:spAutoFit/>
          </a:bodyPr>
          <a:lstStyle/>
          <a:p>
            <a:pPr algn="ctr"/>
            <a:r>
              <a:rPr lang="en-US" sz="2400" dirty="0">
                <a:solidFill>
                  <a:srgbClr val="FFFFFF"/>
                </a:solidFill>
              </a:rPr>
              <a:t>Depth-First Search</a:t>
            </a:r>
            <a:endParaRPr lang="en-US" sz="2400" dirty="0"/>
          </a:p>
        </p:txBody>
      </p:sp>
    </p:spTree>
    <p:extLst>
      <p:ext uri="{BB962C8B-B14F-4D97-AF65-F5344CB8AC3E}">
        <p14:creationId xmlns:p14="http://schemas.microsoft.com/office/powerpoint/2010/main" val="3301869632"/>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D3EDE0D-C919-424A-9D58-734DBE89FA8C}"/>
              </a:ext>
            </a:extLst>
          </p:cNvPr>
          <p:cNvSpPr>
            <a:spLocks noGrp="1"/>
          </p:cNvSpPr>
          <p:nvPr>
            <p:ph type="title"/>
          </p:nvPr>
        </p:nvSpPr>
        <p:spPr>
          <a:xfrm>
            <a:off x="628650" y="365126"/>
            <a:ext cx="2343150" cy="1325563"/>
          </a:xfrm>
        </p:spPr>
        <p:txBody>
          <a:bodyPr/>
          <a:lstStyle/>
          <a:p>
            <a:r>
              <a:rPr lang="en-US" dirty="0"/>
              <a:t>Depth-First Search (DFS)</a:t>
            </a:r>
          </a:p>
        </p:txBody>
      </p:sp>
      <p:sp>
        <p:nvSpPr>
          <p:cNvPr id="3" name="Content Placeholder 2">
            <a:extLst>
              <a:ext uri="{FF2B5EF4-FFF2-40B4-BE49-F238E27FC236}">
                <a16:creationId xmlns:a16="http://schemas.microsoft.com/office/drawing/2014/main" id="{3A70A56C-8F9C-4D35-94FD-EAECDC56E6A8}"/>
              </a:ext>
            </a:extLst>
          </p:cNvPr>
          <p:cNvSpPr>
            <a:spLocks noGrp="1"/>
          </p:cNvSpPr>
          <p:nvPr>
            <p:ph idx="1"/>
          </p:nvPr>
        </p:nvSpPr>
        <p:spPr>
          <a:xfrm>
            <a:off x="628650" y="1825625"/>
            <a:ext cx="2114550" cy="4351338"/>
          </a:xfrm>
        </p:spPr>
        <p:txBody>
          <a:bodyPr>
            <a:normAutofit fontScale="77500" lnSpcReduction="20000"/>
          </a:bodyPr>
          <a:lstStyle/>
          <a:p>
            <a:r>
              <a:rPr lang="en-US" sz="2000" b="1" dirty="0"/>
              <a:t>Expansion rule</a:t>
            </a:r>
            <a:r>
              <a:rPr lang="en-US" sz="2000" dirty="0"/>
              <a:t>: Expand deepest unexpanded node in the frontier (last added).</a:t>
            </a:r>
          </a:p>
          <a:p>
            <a:r>
              <a:rPr lang="en-US" sz="2000" b="1" dirty="0"/>
              <a:t>Frontier</a:t>
            </a:r>
            <a:r>
              <a:rPr lang="en-US" sz="2000" dirty="0"/>
              <a:t>: </a:t>
            </a:r>
            <a:r>
              <a:rPr lang="en-US" sz="2000" b="1" dirty="0"/>
              <a:t>stack</a:t>
            </a:r>
            <a:r>
              <a:rPr lang="en-US" sz="2000" dirty="0"/>
              <a:t> (LIFO)</a:t>
            </a:r>
          </a:p>
          <a:p>
            <a:r>
              <a:rPr lang="en-US" sz="2000" b="1" dirty="0">
                <a:solidFill>
                  <a:srgbClr val="FF0000"/>
                </a:solidFill>
              </a:rPr>
              <a:t>No reached data structure: </a:t>
            </a:r>
            <a:r>
              <a:rPr lang="en-US" sz="2000" dirty="0"/>
              <a:t>forgets completely explored subtrees.</a:t>
            </a:r>
            <a:endParaRPr lang="en-US" sz="2000" dirty="0">
              <a:solidFill>
                <a:srgbClr val="FF0000"/>
              </a:solidFill>
            </a:endParaRPr>
          </a:p>
          <a:p>
            <a:r>
              <a:rPr lang="en-US" sz="2000" b="1" dirty="0">
                <a:solidFill>
                  <a:srgbClr val="FF0000"/>
                </a:solidFill>
              </a:rPr>
              <a:t>Needs Cycle checking: </a:t>
            </a:r>
            <a:r>
              <a:rPr lang="en-US" sz="2000" dirty="0"/>
              <a:t>don’t expand nodes that are already in the current path to the root node.</a:t>
            </a:r>
          </a:p>
          <a:p>
            <a:r>
              <a:rPr lang="en-US" sz="2000" b="1" dirty="0">
                <a:solidFill>
                  <a:srgbClr val="FF0000"/>
                </a:solidFill>
              </a:rPr>
              <a:t>Cannot avoid redundant paths: </a:t>
            </a:r>
            <a:r>
              <a:rPr lang="en-US" sz="2000" dirty="0"/>
              <a:t>Leads to multiple nodes representing the same state and replicated work. </a:t>
            </a:r>
            <a:endParaRPr lang="en-US" sz="2400" dirty="0"/>
          </a:p>
          <a:p>
            <a:endParaRPr lang="en-US" dirty="0"/>
          </a:p>
        </p:txBody>
      </p:sp>
      <p:pic>
        <p:nvPicPr>
          <p:cNvPr id="4" name="Picture 3">
            <a:extLst>
              <a:ext uri="{FF2B5EF4-FFF2-40B4-BE49-F238E27FC236}">
                <a16:creationId xmlns:a16="http://schemas.microsoft.com/office/drawing/2014/main" id="{4F3E8888-6463-47FB-AB16-25AF11291810}"/>
              </a:ext>
            </a:extLst>
          </p:cNvPr>
          <p:cNvPicPr>
            <a:picLocks noChangeAspect="1"/>
          </p:cNvPicPr>
          <p:nvPr/>
        </p:nvPicPr>
        <p:blipFill>
          <a:blip r:embed="rId2"/>
          <a:stretch>
            <a:fillRect/>
          </a:stretch>
        </p:blipFill>
        <p:spPr>
          <a:xfrm>
            <a:off x="2819400" y="457200"/>
            <a:ext cx="6165376" cy="5943600"/>
          </a:xfrm>
          <a:prstGeom prst="rect">
            <a:avLst/>
          </a:prstGeom>
        </p:spPr>
      </p:pic>
    </p:spTree>
    <p:extLst>
      <p:ext uri="{BB962C8B-B14F-4D97-AF65-F5344CB8AC3E}">
        <p14:creationId xmlns:p14="http://schemas.microsoft.com/office/powerpoint/2010/main" val="6519448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nodeType="with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nodeType="clickEffect">
                                  <p:stCondLst>
                                    <p:cond delay="0"/>
                                  </p:stCondLst>
                                  <p:childTnLst>
                                    <p:set>
                                      <p:cBhvr>
                                        <p:cTn id="20"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6A6AD6C-AEE9-4E04-B1F4-A923B66B8685}"/>
              </a:ext>
            </a:extLst>
          </p:cNvPr>
          <p:cNvSpPr>
            <a:spLocks noGrp="1"/>
          </p:cNvSpPr>
          <p:nvPr>
            <p:ph type="title"/>
          </p:nvPr>
        </p:nvSpPr>
        <p:spPr/>
        <p:txBody>
          <a:bodyPr/>
          <a:lstStyle/>
          <a:p>
            <a:r>
              <a:rPr lang="en-US" dirty="0"/>
              <a:t>Implementation: DFS</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3301765E-906E-4BF3-A57E-5E064501538F}"/>
                  </a:ext>
                </a:extLst>
              </p:cNvPr>
              <p:cNvSpPr>
                <a:spLocks noGrp="1"/>
              </p:cNvSpPr>
              <p:nvPr>
                <p:ph idx="1"/>
              </p:nvPr>
            </p:nvSpPr>
            <p:spPr>
              <a:xfrm>
                <a:off x="628650" y="1453732"/>
                <a:ext cx="7886700" cy="1822501"/>
              </a:xfrm>
            </p:spPr>
            <p:txBody>
              <a:bodyPr>
                <a:normAutofit fontScale="77500" lnSpcReduction="20000"/>
              </a:bodyPr>
              <a:lstStyle/>
              <a:p>
                <a:r>
                  <a:rPr lang="en-US" dirty="0"/>
                  <a:t>DFS could be implemented like BFS/Best-first search, just taking the last element from the frontier (LIFO). However, to reduce the space complexity to </a:t>
                </a:r>
                <a14:m>
                  <m:oMath xmlns:m="http://schemas.openxmlformats.org/officeDocument/2006/math">
                    <m:r>
                      <a:rPr lang="en-US" i="1" dirty="0" smtClean="0">
                        <a:latin typeface="Cambria Math" panose="02040503050406030204" pitchFamily="18" charset="0"/>
                      </a:rPr>
                      <m:t>𝑂</m:t>
                    </m:r>
                    <m:r>
                      <a:rPr lang="en-US" i="1" dirty="0" smtClean="0">
                        <a:latin typeface="Cambria Math" panose="02040503050406030204" pitchFamily="18" charset="0"/>
                      </a:rPr>
                      <m:t>(</m:t>
                    </m:r>
                    <m:r>
                      <a:rPr lang="en-US" i="1" dirty="0" smtClean="0">
                        <a:latin typeface="Cambria Math" panose="02040503050406030204" pitchFamily="18" charset="0"/>
                      </a:rPr>
                      <m:t>𝑏𝑚</m:t>
                    </m:r>
                    <m:r>
                      <a:rPr lang="en-US" i="1" dirty="0" smtClean="0">
                        <a:latin typeface="Cambria Math" panose="02040503050406030204" pitchFamily="18" charset="0"/>
                      </a:rPr>
                      <m:t>)</m:t>
                    </m:r>
                  </m:oMath>
                </a14:m>
                <a:r>
                  <a:rPr lang="en-US" i="1" dirty="0"/>
                  <a:t>, </a:t>
                </a:r>
                <a:r>
                  <a:rPr lang="en-US" b="1" dirty="0">
                    <a:solidFill>
                      <a:srgbClr val="FF0000"/>
                    </a:solidFill>
                  </a:rPr>
                  <a:t>no reached data structure can be used!</a:t>
                </a:r>
                <a:r>
                  <a:rPr lang="en-US" dirty="0"/>
                  <a:t> </a:t>
                </a:r>
              </a:p>
              <a:p>
                <a:r>
                  <a:rPr lang="en-US" dirty="0"/>
                  <a:t>Options: </a:t>
                </a:r>
              </a:p>
              <a:p>
                <a:pPr lvl="1"/>
                <a:r>
                  <a:rPr lang="en-US" b="1" dirty="0"/>
                  <a:t>Iterative implementation</a:t>
                </a:r>
                <a:r>
                  <a:rPr lang="en-US" dirty="0"/>
                  <a:t>: Build the tree, and abandoned branches are removed from memory. Cycle checking is only done against the current path. This is similar to Backtracking search.</a:t>
                </a:r>
              </a:p>
              <a:p>
                <a:pPr lvl="1"/>
                <a:r>
                  <a:rPr lang="en-US" dirty="0"/>
                  <a:t>Recursive implementation: Cycle checking is an issue because the current path is stored in the function call stack, which is not accessible to the function. An additional data structure that contains the nodes in the current path can be used.</a:t>
                </a:r>
              </a:p>
              <a:p>
                <a:endParaRPr lang="en-US" dirty="0"/>
              </a:p>
              <a:p>
                <a:endParaRPr lang="en-US" dirty="0"/>
              </a:p>
              <a:p>
                <a:endParaRPr lang="en-US" dirty="0"/>
              </a:p>
              <a:p>
                <a:endParaRPr lang="en-US" dirty="0"/>
              </a:p>
              <a:p>
                <a:endParaRPr lang="en-US" dirty="0"/>
              </a:p>
              <a:p>
                <a:endParaRPr lang="en-US" dirty="0"/>
              </a:p>
              <a:p>
                <a:endParaRPr lang="en-US" dirty="0"/>
              </a:p>
              <a:p>
                <a:endParaRPr lang="en-US" dirty="0"/>
              </a:p>
            </p:txBody>
          </p:sp>
        </mc:Choice>
        <mc:Fallback xmlns="">
          <p:sp>
            <p:nvSpPr>
              <p:cNvPr id="3" name="Content Placeholder 2">
                <a:extLst>
                  <a:ext uri="{FF2B5EF4-FFF2-40B4-BE49-F238E27FC236}">
                    <a16:creationId xmlns:a16="http://schemas.microsoft.com/office/drawing/2014/main" id="{3301765E-906E-4BF3-A57E-5E064501538F}"/>
                  </a:ext>
                </a:extLst>
              </p:cNvPr>
              <p:cNvSpPr>
                <a:spLocks noGrp="1" noRot="1" noChangeAspect="1" noMove="1" noResize="1" noEditPoints="1" noAdjustHandles="1" noChangeArrowheads="1" noChangeShapeType="1" noTextEdit="1"/>
              </p:cNvSpPr>
              <p:nvPr>
                <p:ph idx="1"/>
              </p:nvPr>
            </p:nvSpPr>
            <p:spPr>
              <a:xfrm>
                <a:off x="628650" y="1453732"/>
                <a:ext cx="7886700" cy="1822501"/>
              </a:xfrm>
              <a:blipFill>
                <a:blip r:embed="rId2"/>
                <a:stretch>
                  <a:fillRect l="-309" t="-4348"/>
                </a:stretch>
              </a:blipFill>
            </p:spPr>
            <p:txBody>
              <a:bodyPr/>
              <a:lstStyle/>
              <a:p>
                <a:r>
                  <a:rPr lang="en-US">
                    <a:noFill/>
                  </a:rPr>
                  <a:t> </a:t>
                </a:r>
              </a:p>
            </p:txBody>
          </p:sp>
        </mc:Fallback>
      </mc:AlternateContent>
      <p:pic>
        <p:nvPicPr>
          <p:cNvPr id="7" name="Picture 6">
            <a:extLst>
              <a:ext uri="{FF2B5EF4-FFF2-40B4-BE49-F238E27FC236}">
                <a16:creationId xmlns:a16="http://schemas.microsoft.com/office/drawing/2014/main" id="{E61C5808-93A6-4647-A076-DB3072D09DEF}"/>
              </a:ext>
            </a:extLst>
          </p:cNvPr>
          <p:cNvPicPr>
            <a:picLocks noChangeAspect="1"/>
          </p:cNvPicPr>
          <p:nvPr/>
        </p:nvPicPr>
        <p:blipFill>
          <a:blip r:embed="rId3"/>
          <a:stretch>
            <a:fillRect/>
          </a:stretch>
        </p:blipFill>
        <p:spPr>
          <a:xfrm>
            <a:off x="678831" y="3352800"/>
            <a:ext cx="7524750" cy="3090812"/>
          </a:xfrm>
          <a:prstGeom prst="rect">
            <a:avLst/>
          </a:prstGeom>
        </p:spPr>
        <p:style>
          <a:lnRef idx="2">
            <a:schemeClr val="accent2"/>
          </a:lnRef>
          <a:fillRef idx="1">
            <a:schemeClr val="lt1"/>
          </a:fillRef>
          <a:effectRef idx="0">
            <a:schemeClr val="accent2"/>
          </a:effectRef>
          <a:fontRef idx="minor">
            <a:schemeClr val="dk1"/>
          </a:fontRef>
        </p:style>
      </p:pic>
      <p:sp>
        <p:nvSpPr>
          <p:cNvPr id="9" name="Speech Bubble: Rectangle with Corners Rounded 8">
            <a:extLst>
              <a:ext uri="{FF2B5EF4-FFF2-40B4-BE49-F238E27FC236}">
                <a16:creationId xmlns:a16="http://schemas.microsoft.com/office/drawing/2014/main" id="{0509AEDD-D45E-4C06-BAE9-2996AF55A9CA}"/>
              </a:ext>
            </a:extLst>
          </p:cNvPr>
          <p:cNvSpPr/>
          <p:nvPr/>
        </p:nvSpPr>
        <p:spPr>
          <a:xfrm>
            <a:off x="5867400" y="4673133"/>
            <a:ext cx="3200400" cy="1693913"/>
          </a:xfrm>
          <a:prstGeom prst="wedgeRoundRectCallout">
            <a:avLst>
              <a:gd name="adj1" fmla="val -128276"/>
              <a:gd name="adj2" fmla="val -8334"/>
              <a:gd name="adj3" fmla="val 16667"/>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sz="1400" b="1" dirty="0"/>
              <a:t>Cycles</a:t>
            </a:r>
            <a:r>
              <a:rPr lang="en-US" sz="1400" dirty="0"/>
              <a:t>: Prevent cycles by checking against the current path. We also need to ensure that the frontier does not contain the same state more than once.</a:t>
            </a:r>
          </a:p>
          <a:p>
            <a:endParaRPr lang="en-US" sz="1400" dirty="0"/>
          </a:p>
          <a:p>
            <a:r>
              <a:rPr lang="en-US" sz="1400" b="1" dirty="0"/>
              <a:t>Redundant paths</a:t>
            </a:r>
            <a:r>
              <a:rPr lang="en-US" sz="1400" dirty="0"/>
              <a:t>: We cannot prevent other redundant paths.</a:t>
            </a:r>
          </a:p>
        </p:txBody>
      </p:sp>
      <p:sp>
        <p:nvSpPr>
          <p:cNvPr id="20" name="TextBox 19">
            <a:extLst>
              <a:ext uri="{FF2B5EF4-FFF2-40B4-BE49-F238E27FC236}">
                <a16:creationId xmlns:a16="http://schemas.microsoft.com/office/drawing/2014/main" id="{3FC2994C-6D52-4ABE-B3F7-03E4BECDA0BD}"/>
              </a:ext>
            </a:extLst>
          </p:cNvPr>
          <p:cNvSpPr txBox="1"/>
          <p:nvPr/>
        </p:nvSpPr>
        <p:spPr>
          <a:xfrm>
            <a:off x="628650" y="6367046"/>
            <a:ext cx="4572000" cy="338554"/>
          </a:xfrm>
          <a:prstGeom prst="rect">
            <a:avLst/>
          </a:prstGeom>
          <a:noFill/>
        </p:spPr>
        <p:txBody>
          <a:bodyPr wrap="square">
            <a:spAutoFit/>
          </a:bodyPr>
          <a:lstStyle/>
          <a:p>
            <a:r>
              <a:rPr lang="en-US" sz="1600" dirty="0"/>
              <a:t>See BFS for function EXPAND.</a:t>
            </a:r>
          </a:p>
        </p:txBody>
      </p:sp>
      <mc:AlternateContent xmlns:mc="http://schemas.openxmlformats.org/markup-compatibility/2006" xmlns:a14="http://schemas.microsoft.com/office/drawing/2010/main">
        <mc:Choice Requires="a14">
          <p:sp>
            <p:nvSpPr>
              <p:cNvPr id="21" name="Speech Bubble: Rectangle with Corners Rounded 20">
                <a:extLst>
                  <a:ext uri="{FF2B5EF4-FFF2-40B4-BE49-F238E27FC236}">
                    <a16:creationId xmlns:a16="http://schemas.microsoft.com/office/drawing/2014/main" id="{B6482B3F-9441-443F-8FD6-D9E33B5552AA}"/>
                  </a:ext>
                </a:extLst>
              </p:cNvPr>
              <p:cNvSpPr/>
              <p:nvPr/>
            </p:nvSpPr>
            <p:spPr>
              <a:xfrm>
                <a:off x="5638800" y="3081388"/>
                <a:ext cx="1742842" cy="271412"/>
              </a:xfrm>
              <a:prstGeom prst="wedgeRoundRectCallout">
                <a:avLst>
                  <a:gd name="adj1" fmla="val -95083"/>
                  <a:gd name="adj2" fmla="val 83958"/>
                  <a:gd name="adj3" fmla="val 16667"/>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600" dirty="0"/>
                  <a:t>DFS uses </a:t>
                </a:r>
                <a:r>
                  <a:rPr lang="en-US" sz="1600" dirty="0">
                    <a:latin typeface="Cambria Math" panose="02040503050406030204" pitchFamily="18" charset="0"/>
                    <a:ea typeface="Cambria Math" panose="02040503050406030204" pitchFamily="18" charset="0"/>
                  </a:rPr>
                  <a:t>ℓ </a:t>
                </a:r>
                <a14:m>
                  <m:oMath xmlns:m="http://schemas.openxmlformats.org/officeDocument/2006/math">
                    <m:r>
                      <a:rPr lang="en-US" sz="1600" b="0" i="1" smtClean="0">
                        <a:latin typeface="Cambria Math" panose="02040503050406030204" pitchFamily="18" charset="0"/>
                      </a:rPr>
                      <m:t>=∞</m:t>
                    </m:r>
                  </m:oMath>
                </a14:m>
                <a:endParaRPr lang="en-US" sz="1600" dirty="0"/>
              </a:p>
            </p:txBody>
          </p:sp>
        </mc:Choice>
        <mc:Fallback xmlns="">
          <p:sp>
            <p:nvSpPr>
              <p:cNvPr id="21" name="Speech Bubble: Rectangle with Corners Rounded 20">
                <a:extLst>
                  <a:ext uri="{FF2B5EF4-FFF2-40B4-BE49-F238E27FC236}">
                    <a16:creationId xmlns:a16="http://schemas.microsoft.com/office/drawing/2014/main" id="{B6482B3F-9441-443F-8FD6-D9E33B5552AA}"/>
                  </a:ext>
                </a:extLst>
              </p:cNvPr>
              <p:cNvSpPr>
                <a:spLocks noRot="1" noChangeAspect="1" noMove="1" noResize="1" noEditPoints="1" noAdjustHandles="1" noChangeArrowheads="1" noChangeShapeType="1" noTextEdit="1"/>
              </p:cNvSpPr>
              <p:nvPr/>
            </p:nvSpPr>
            <p:spPr>
              <a:xfrm>
                <a:off x="5638800" y="3081388"/>
                <a:ext cx="1742842" cy="271412"/>
              </a:xfrm>
              <a:prstGeom prst="wedgeRoundRectCallout">
                <a:avLst>
                  <a:gd name="adj1" fmla="val -95083"/>
                  <a:gd name="adj2" fmla="val 83958"/>
                  <a:gd name="adj3" fmla="val 16667"/>
                </a:avLst>
              </a:prstGeom>
              <a:blipFill>
                <a:blip r:embed="rId4"/>
                <a:stretch>
                  <a:fillRect t="-14063"/>
                </a:stretch>
              </a:blipFill>
            </p:spPr>
            <p:txBody>
              <a:bodyPr/>
              <a:lstStyle/>
              <a:p>
                <a:r>
                  <a:rPr lang="en-US">
                    <a:noFill/>
                  </a:rPr>
                  <a:t> </a:t>
                </a:r>
              </a:p>
            </p:txBody>
          </p:sp>
        </mc:Fallback>
      </mc:AlternateContent>
      <p:sp>
        <p:nvSpPr>
          <p:cNvPr id="4" name="Rectangle 3">
            <a:extLst>
              <a:ext uri="{FF2B5EF4-FFF2-40B4-BE49-F238E27FC236}">
                <a16:creationId xmlns:a16="http://schemas.microsoft.com/office/drawing/2014/main" id="{F8F1B3D2-0835-BF3E-7767-B737E560C40E}"/>
              </a:ext>
            </a:extLst>
          </p:cNvPr>
          <p:cNvSpPr/>
          <p:nvPr/>
        </p:nvSpPr>
        <p:spPr>
          <a:xfrm>
            <a:off x="2152650" y="5334000"/>
            <a:ext cx="895350" cy="304800"/>
          </a:xfrm>
          <a:prstGeom prst="rect">
            <a:avLst/>
          </a:prstGeom>
          <a:solidFill>
            <a:schemeClr val="accent2">
              <a:alpha val="50000"/>
            </a:schemeClr>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lang="en-US"/>
          </a:p>
        </p:txBody>
      </p:sp>
      <p:sp>
        <p:nvSpPr>
          <p:cNvPr id="5" name="Rectangle 4">
            <a:extLst>
              <a:ext uri="{FF2B5EF4-FFF2-40B4-BE49-F238E27FC236}">
                <a16:creationId xmlns:a16="http://schemas.microsoft.com/office/drawing/2014/main" id="{48C33DF3-50DC-30B2-5B44-8E50DDA828C3}"/>
              </a:ext>
            </a:extLst>
          </p:cNvPr>
          <p:cNvSpPr/>
          <p:nvPr/>
        </p:nvSpPr>
        <p:spPr>
          <a:xfrm>
            <a:off x="2152650" y="3671889"/>
            <a:ext cx="1657350" cy="257124"/>
          </a:xfrm>
          <a:prstGeom prst="rect">
            <a:avLst/>
          </a:prstGeom>
          <a:solidFill>
            <a:schemeClr val="accent2">
              <a:alpha val="50000"/>
            </a:schemeClr>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lang="en-US"/>
          </a:p>
        </p:txBody>
      </p:sp>
      <p:sp>
        <p:nvSpPr>
          <p:cNvPr id="6" name="Speech Bubble: Rectangle with Corners Rounded 5">
            <a:extLst>
              <a:ext uri="{FF2B5EF4-FFF2-40B4-BE49-F238E27FC236}">
                <a16:creationId xmlns:a16="http://schemas.microsoft.com/office/drawing/2014/main" id="{EC9D3023-FE19-6A56-0EEC-558872B9A97C}"/>
              </a:ext>
            </a:extLst>
          </p:cNvPr>
          <p:cNvSpPr/>
          <p:nvPr/>
        </p:nvSpPr>
        <p:spPr>
          <a:xfrm>
            <a:off x="5851070" y="3959878"/>
            <a:ext cx="3200399" cy="584667"/>
          </a:xfrm>
          <a:prstGeom prst="wedgeRoundRectCallout">
            <a:avLst>
              <a:gd name="adj1" fmla="val -141829"/>
              <a:gd name="adj2" fmla="val 30765"/>
              <a:gd name="adj3" fmla="val 16667"/>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400" dirty="0"/>
              <a:t>Memory management: remove nodes for abandoned branches here!</a:t>
            </a:r>
          </a:p>
        </p:txBody>
      </p:sp>
    </p:spTree>
    <p:extLst>
      <p:ext uri="{BB962C8B-B14F-4D97-AF65-F5344CB8AC3E}">
        <p14:creationId xmlns:p14="http://schemas.microsoft.com/office/powerpoint/2010/main" val="1519402730"/>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2770" name="Rectangle 2"/>
          <p:cNvSpPr>
            <a:spLocks noGrp="1" noChangeArrowheads="1"/>
          </p:cNvSpPr>
          <p:nvPr>
            <p:ph type="title"/>
          </p:nvPr>
        </p:nvSpPr>
        <p:spPr/>
        <p:txBody>
          <a:bodyPr/>
          <a:lstStyle/>
          <a:p>
            <a:r>
              <a:rPr lang="en-US" dirty="0"/>
              <a:t>Time and Space Complexity</a:t>
            </a:r>
            <a:br>
              <a:rPr lang="en-US" dirty="0"/>
            </a:br>
            <a:r>
              <a:rPr lang="en-US" dirty="0"/>
              <a:t>Depth-First Search</a:t>
            </a:r>
          </a:p>
        </p:txBody>
      </p:sp>
      <mc:AlternateContent xmlns:mc="http://schemas.openxmlformats.org/markup-compatibility/2006" xmlns:a14="http://schemas.microsoft.com/office/drawing/2010/main">
        <mc:Choice Requires="a14">
          <p:sp>
            <p:nvSpPr>
              <p:cNvPr id="32771" name="Rectangle 3"/>
              <p:cNvSpPr>
                <a:spLocks noGrp="1" noChangeArrowheads="1"/>
              </p:cNvSpPr>
              <p:nvPr>
                <p:ph idx="1"/>
              </p:nvPr>
            </p:nvSpPr>
            <p:spPr>
              <a:xfrm>
                <a:off x="687319" y="5754915"/>
                <a:ext cx="7886700" cy="720324"/>
              </a:xfrm>
            </p:spPr>
            <p:txBody>
              <a:bodyPr>
                <a:normAutofit fontScale="92500" lnSpcReduction="10000"/>
              </a:bodyPr>
              <a:lstStyle/>
              <a:p>
                <a:r>
                  <a:rPr lang="en-US" sz="2200" dirty="0"/>
                  <a:t>Time:</a:t>
                </a:r>
                <a14:m>
                  <m:oMath xmlns:m="http://schemas.openxmlformats.org/officeDocument/2006/math">
                    <m:r>
                      <a:rPr lang="en-US" sz="2200" b="0" i="0" dirty="0" smtClean="0">
                        <a:latin typeface="Cambria Math" panose="02040503050406030204" pitchFamily="18" charset="0"/>
                      </a:rPr>
                      <m:t>   </m:t>
                    </m:r>
                    <m:r>
                      <a:rPr lang="en-US" sz="2200" i="1" dirty="0">
                        <a:latin typeface="Cambria Math" panose="02040503050406030204" pitchFamily="18" charset="0"/>
                      </a:rPr>
                      <m:t>𝑂</m:t>
                    </m:r>
                    <m:d>
                      <m:dPr>
                        <m:ctrlPr>
                          <a:rPr lang="en-US" sz="2200" i="1" dirty="0">
                            <a:latin typeface="Cambria Math" panose="02040503050406030204" pitchFamily="18" charset="0"/>
                          </a:rPr>
                        </m:ctrlPr>
                      </m:dPr>
                      <m:e>
                        <m:r>
                          <a:rPr lang="en-US" sz="2200" i="1" dirty="0" err="1">
                            <a:latin typeface="Cambria Math" panose="02040503050406030204" pitchFamily="18" charset="0"/>
                          </a:rPr>
                          <m:t>𝑏</m:t>
                        </m:r>
                        <m:r>
                          <a:rPr lang="en-US" sz="2200" i="1" baseline="30000" dirty="0" err="1">
                            <a:latin typeface="Cambria Math" panose="02040503050406030204" pitchFamily="18" charset="0"/>
                          </a:rPr>
                          <m:t>𝑚</m:t>
                        </m:r>
                      </m:e>
                    </m:d>
                  </m:oMath>
                </a14:m>
                <a:r>
                  <a:rPr lang="en-US" sz="2200" dirty="0"/>
                  <a:t> – worst case is expanding all paths.</a:t>
                </a:r>
              </a:p>
              <a:p>
                <a:r>
                  <a:rPr lang="en-US" sz="2200" dirty="0"/>
                  <a:t>Space: </a:t>
                </a:r>
                <a14:m>
                  <m:oMath xmlns:m="http://schemas.openxmlformats.org/officeDocument/2006/math">
                    <m:r>
                      <a:rPr lang="en-US" sz="2200" i="1" dirty="0">
                        <a:latin typeface="Cambria Math" panose="02040503050406030204" pitchFamily="18" charset="0"/>
                      </a:rPr>
                      <m:t>𝑂</m:t>
                    </m:r>
                    <m:r>
                      <a:rPr lang="en-US" sz="2200" i="1" dirty="0">
                        <a:latin typeface="Cambria Math" panose="02040503050406030204" pitchFamily="18" charset="0"/>
                      </a:rPr>
                      <m:t>(</m:t>
                    </m:r>
                    <m:r>
                      <a:rPr lang="en-US" sz="2200" i="1" dirty="0">
                        <a:latin typeface="Cambria Math" panose="02040503050406030204" pitchFamily="18" charset="0"/>
                      </a:rPr>
                      <m:t>𝑏𝑚</m:t>
                    </m:r>
                    <m:r>
                      <a:rPr lang="en-US" sz="2200" i="1" dirty="0">
                        <a:latin typeface="Cambria Math" panose="02040503050406030204" pitchFamily="18" charset="0"/>
                      </a:rPr>
                      <m:t>)</m:t>
                    </m:r>
                  </m:oMath>
                </a14:m>
                <a:r>
                  <a:rPr lang="en-US" sz="2200" dirty="0"/>
                  <a:t> - if it only stores the frontier nodes and the current path.</a:t>
                </a:r>
              </a:p>
              <a:p>
                <a:endParaRPr lang="en-US" sz="2400" dirty="0"/>
              </a:p>
            </p:txBody>
          </p:sp>
        </mc:Choice>
        <mc:Fallback xmlns="">
          <p:sp>
            <p:nvSpPr>
              <p:cNvPr id="32771" name="Rectangle 3"/>
              <p:cNvSpPr>
                <a:spLocks noGrp="1" noRot="1" noChangeAspect="1" noMove="1" noResize="1" noEditPoints="1" noAdjustHandles="1" noChangeArrowheads="1" noChangeShapeType="1" noTextEdit="1"/>
              </p:cNvSpPr>
              <p:nvPr>
                <p:ph idx="1"/>
              </p:nvPr>
            </p:nvSpPr>
            <p:spPr>
              <a:xfrm>
                <a:off x="687319" y="5754915"/>
                <a:ext cx="7886700" cy="720324"/>
              </a:xfrm>
              <a:blipFill>
                <a:blip r:embed="rId3"/>
                <a:stretch>
                  <a:fillRect l="-696" t="-11864" b="-11017"/>
                </a:stretch>
              </a:blipFill>
            </p:spPr>
            <p:txBody>
              <a:bodyPr/>
              <a:lstStyle/>
              <a:p>
                <a:r>
                  <a:rPr lang="en-US">
                    <a:noFill/>
                  </a:rPr>
                  <a:t> </a:t>
                </a:r>
              </a:p>
            </p:txBody>
          </p:sp>
        </mc:Fallback>
      </mc:AlternateContent>
      <p:grpSp>
        <p:nvGrpSpPr>
          <p:cNvPr id="2" name="Group 32"/>
          <p:cNvGrpSpPr/>
          <p:nvPr/>
        </p:nvGrpSpPr>
        <p:grpSpPr>
          <a:xfrm flipH="1">
            <a:off x="1988549" y="1908175"/>
            <a:ext cx="4906044" cy="2406837"/>
            <a:chOff x="3429000" y="3460563"/>
            <a:chExt cx="3352800" cy="1644837"/>
          </a:xfrm>
        </p:grpSpPr>
        <p:cxnSp>
          <p:nvCxnSpPr>
            <p:cNvPr id="24" name="Straight Arrow Connector 23"/>
            <p:cNvCxnSpPr>
              <a:cxnSpLocks/>
              <a:stCxn id="25" idx="3"/>
              <a:endCxn id="32" idx="7"/>
            </p:cNvCxnSpPr>
            <p:nvPr/>
          </p:nvCxnSpPr>
          <p:spPr>
            <a:xfrm flipH="1">
              <a:off x="3689163" y="3720726"/>
              <a:ext cx="927474" cy="591111"/>
            </a:xfrm>
            <a:prstGeom prst="straightConnector1">
              <a:avLst/>
            </a:prstGeom>
            <a:ln w="25400">
              <a:prstDash val="lgDash"/>
              <a:tailEnd type="arrow"/>
            </a:ln>
          </p:spPr>
          <p:style>
            <a:lnRef idx="1">
              <a:schemeClr val="accent1"/>
            </a:lnRef>
            <a:fillRef idx="0">
              <a:schemeClr val="accent1"/>
            </a:fillRef>
            <a:effectRef idx="0">
              <a:schemeClr val="accent1"/>
            </a:effectRef>
            <a:fontRef idx="minor">
              <a:schemeClr val="tx1"/>
            </a:fontRef>
          </p:style>
        </p:cxnSp>
        <p:sp>
          <p:nvSpPr>
            <p:cNvPr id="25" name="Oval 24"/>
            <p:cNvSpPr/>
            <p:nvPr/>
          </p:nvSpPr>
          <p:spPr>
            <a:xfrm>
              <a:off x="4572000" y="3460563"/>
              <a:ext cx="304800" cy="304800"/>
            </a:xfrm>
            <a:prstGeom prst="ellipse">
              <a:avLst/>
            </a:prstGeom>
          </p:spPr>
          <p:style>
            <a:lnRef idx="1">
              <a:schemeClr val="accent5"/>
            </a:lnRef>
            <a:fillRef idx="2">
              <a:schemeClr val="accent5"/>
            </a:fillRef>
            <a:effectRef idx="1">
              <a:schemeClr val="accent5"/>
            </a:effectRef>
            <a:fontRef idx="minor">
              <a:schemeClr val="dk1"/>
            </a:fontRef>
          </p:style>
          <p:txBody>
            <a:bodyPr rtlCol="0" anchor="ctr"/>
            <a:lstStyle/>
            <a:p>
              <a:pPr algn="ctr"/>
              <a:r>
                <a:rPr lang="en-US" sz="2400" dirty="0">
                  <a:solidFill>
                    <a:schemeClr val="tx1"/>
                  </a:solidFill>
                </a:rPr>
                <a:t>A</a:t>
              </a:r>
            </a:p>
          </p:txBody>
        </p:sp>
        <p:cxnSp>
          <p:nvCxnSpPr>
            <p:cNvPr id="27" name="Straight Arrow Connector 26"/>
            <p:cNvCxnSpPr>
              <a:cxnSpLocks/>
              <a:stCxn id="25" idx="5"/>
              <a:endCxn id="34" idx="1"/>
            </p:cNvCxnSpPr>
            <p:nvPr/>
          </p:nvCxnSpPr>
          <p:spPr>
            <a:xfrm>
              <a:off x="4832163" y="3720726"/>
              <a:ext cx="927474" cy="591111"/>
            </a:xfrm>
            <a:prstGeom prst="straightConnector1">
              <a:avLst/>
            </a:prstGeom>
            <a:ln w="25400">
              <a:tailEnd type="arrow"/>
            </a:ln>
          </p:spPr>
          <p:style>
            <a:lnRef idx="1">
              <a:schemeClr val="accent1"/>
            </a:lnRef>
            <a:fillRef idx="0">
              <a:schemeClr val="accent1"/>
            </a:fillRef>
            <a:effectRef idx="0">
              <a:schemeClr val="accent1"/>
            </a:effectRef>
            <a:fontRef idx="minor">
              <a:schemeClr val="tx1"/>
            </a:fontRef>
          </p:style>
        </p:cxnSp>
        <p:sp>
          <p:nvSpPr>
            <p:cNvPr id="29" name="Oval 28"/>
            <p:cNvSpPr/>
            <p:nvPr/>
          </p:nvSpPr>
          <p:spPr>
            <a:xfrm>
              <a:off x="4953000" y="4800600"/>
              <a:ext cx="304800" cy="304800"/>
            </a:xfrm>
            <a:prstGeom prst="ellipse">
              <a:avLst/>
            </a:prstGeom>
            <a:solidFill>
              <a:schemeClr val="accent1">
                <a:lumMod val="20000"/>
                <a:lumOff val="80000"/>
              </a:schemeClr>
            </a:solidFill>
            <a:ln>
              <a:prstDash val="lgDash"/>
            </a:ln>
          </p:spPr>
          <p:style>
            <a:lnRef idx="1">
              <a:schemeClr val="accent5"/>
            </a:lnRef>
            <a:fillRef idx="2">
              <a:schemeClr val="accent5"/>
            </a:fillRef>
            <a:effectRef idx="1">
              <a:schemeClr val="accent5"/>
            </a:effectRef>
            <a:fontRef idx="minor">
              <a:schemeClr val="dk1"/>
            </a:fontRef>
          </p:style>
          <p:txBody>
            <a:bodyPr rtlCol="0" anchor="ctr"/>
            <a:lstStyle/>
            <a:p>
              <a:pPr algn="ctr"/>
              <a:r>
                <a:rPr lang="en-US" sz="2400" dirty="0">
                  <a:solidFill>
                    <a:schemeClr val="tx1"/>
                  </a:solidFill>
                </a:rPr>
                <a:t>E</a:t>
              </a:r>
            </a:p>
          </p:txBody>
        </p:sp>
        <p:cxnSp>
          <p:nvCxnSpPr>
            <p:cNvPr id="30" name="Straight Arrow Connector 29"/>
            <p:cNvCxnSpPr>
              <a:cxnSpLocks/>
              <a:stCxn id="34" idx="3"/>
              <a:endCxn id="29" idx="7"/>
            </p:cNvCxnSpPr>
            <p:nvPr/>
          </p:nvCxnSpPr>
          <p:spPr>
            <a:xfrm flipH="1">
              <a:off x="5213163" y="4527363"/>
              <a:ext cx="546474" cy="317874"/>
            </a:xfrm>
            <a:prstGeom prst="straightConnector1">
              <a:avLst/>
            </a:prstGeom>
            <a:ln w="25400">
              <a:prstDash val="lgDash"/>
              <a:tailEnd type="arrow"/>
            </a:ln>
          </p:spPr>
          <p:style>
            <a:lnRef idx="1">
              <a:schemeClr val="accent1"/>
            </a:lnRef>
            <a:fillRef idx="0">
              <a:schemeClr val="accent1"/>
            </a:fillRef>
            <a:effectRef idx="0">
              <a:schemeClr val="accent1"/>
            </a:effectRef>
            <a:fontRef idx="minor">
              <a:schemeClr val="tx1"/>
            </a:fontRef>
          </p:style>
        </p:cxnSp>
        <p:sp>
          <p:nvSpPr>
            <p:cNvPr id="32" name="Oval 31"/>
            <p:cNvSpPr/>
            <p:nvPr/>
          </p:nvSpPr>
          <p:spPr>
            <a:xfrm>
              <a:off x="3429000" y="4267200"/>
              <a:ext cx="304800" cy="304800"/>
            </a:xfrm>
            <a:prstGeom prst="ellipse">
              <a:avLst/>
            </a:prstGeom>
            <a:solidFill>
              <a:schemeClr val="accent2">
                <a:lumMod val="40000"/>
                <a:lumOff val="60000"/>
              </a:schemeClr>
            </a:solidFill>
            <a:ln>
              <a:prstDash val="lgDash"/>
            </a:ln>
          </p:spPr>
          <p:style>
            <a:lnRef idx="2">
              <a:schemeClr val="accent2">
                <a:shade val="50000"/>
              </a:schemeClr>
            </a:lnRef>
            <a:fillRef idx="1">
              <a:schemeClr val="accent2"/>
            </a:fillRef>
            <a:effectRef idx="0">
              <a:schemeClr val="accent2"/>
            </a:effectRef>
            <a:fontRef idx="minor">
              <a:schemeClr val="lt1"/>
            </a:fontRef>
          </p:style>
          <p:txBody>
            <a:bodyPr rtlCol="0" anchor="ctr"/>
            <a:lstStyle/>
            <a:p>
              <a:pPr algn="ctr"/>
              <a:r>
                <a:rPr lang="en-US" sz="2400" dirty="0">
                  <a:solidFill>
                    <a:schemeClr val="tx1"/>
                  </a:solidFill>
                </a:rPr>
                <a:t>C</a:t>
              </a:r>
              <a:endParaRPr lang="en-US" sz="2400" dirty="0"/>
            </a:p>
          </p:txBody>
        </p:sp>
        <p:cxnSp>
          <p:nvCxnSpPr>
            <p:cNvPr id="33" name="Straight Arrow Connector 32"/>
            <p:cNvCxnSpPr>
              <a:cxnSpLocks/>
              <a:stCxn id="34" idx="5"/>
              <a:endCxn id="36" idx="1"/>
            </p:cNvCxnSpPr>
            <p:nvPr/>
          </p:nvCxnSpPr>
          <p:spPr>
            <a:xfrm>
              <a:off x="5975163" y="4527363"/>
              <a:ext cx="546474" cy="317874"/>
            </a:xfrm>
            <a:prstGeom prst="straightConnector1">
              <a:avLst/>
            </a:prstGeom>
            <a:ln w="25400">
              <a:prstDash val="solid"/>
              <a:tailEnd type="arrow"/>
            </a:ln>
          </p:spPr>
          <p:style>
            <a:lnRef idx="1">
              <a:schemeClr val="accent1"/>
            </a:lnRef>
            <a:fillRef idx="0">
              <a:schemeClr val="accent1"/>
            </a:fillRef>
            <a:effectRef idx="0">
              <a:schemeClr val="accent1"/>
            </a:effectRef>
            <a:fontRef idx="minor">
              <a:schemeClr val="tx1"/>
            </a:fontRef>
          </p:style>
        </p:cxnSp>
        <p:sp>
          <p:nvSpPr>
            <p:cNvPr id="34" name="Oval 33"/>
            <p:cNvSpPr/>
            <p:nvPr/>
          </p:nvSpPr>
          <p:spPr>
            <a:xfrm>
              <a:off x="5715000" y="4267200"/>
              <a:ext cx="304800" cy="304800"/>
            </a:xfrm>
            <a:prstGeom prst="ellipse">
              <a:avLst/>
            </a:prstGeom>
            <a:ln/>
          </p:spPr>
          <p:style>
            <a:lnRef idx="1">
              <a:schemeClr val="accent5"/>
            </a:lnRef>
            <a:fillRef idx="2">
              <a:schemeClr val="accent5"/>
            </a:fillRef>
            <a:effectRef idx="1">
              <a:schemeClr val="accent5"/>
            </a:effectRef>
            <a:fontRef idx="minor">
              <a:schemeClr val="dk1"/>
            </a:fontRef>
          </p:style>
          <p:txBody>
            <a:bodyPr rtlCol="0" anchor="ctr"/>
            <a:lstStyle/>
            <a:p>
              <a:pPr algn="ctr"/>
              <a:r>
                <a:rPr lang="en-US" sz="2400" dirty="0">
                  <a:solidFill>
                    <a:schemeClr val="tx1"/>
                  </a:solidFill>
                </a:rPr>
                <a:t>B</a:t>
              </a:r>
              <a:endParaRPr lang="en-US" sz="2400" dirty="0"/>
            </a:p>
          </p:txBody>
        </p:sp>
        <p:sp>
          <p:nvSpPr>
            <p:cNvPr id="36" name="Oval 35"/>
            <p:cNvSpPr/>
            <p:nvPr/>
          </p:nvSpPr>
          <p:spPr>
            <a:xfrm>
              <a:off x="6477000" y="4800600"/>
              <a:ext cx="304800" cy="304800"/>
            </a:xfrm>
            <a:prstGeom prst="ellipse">
              <a:avLst/>
            </a:prstGeom>
            <a:ln/>
          </p:spPr>
          <p:style>
            <a:lnRef idx="1">
              <a:schemeClr val="accent5"/>
            </a:lnRef>
            <a:fillRef idx="2">
              <a:schemeClr val="accent5"/>
            </a:fillRef>
            <a:effectRef idx="1">
              <a:schemeClr val="accent5"/>
            </a:effectRef>
            <a:fontRef idx="minor">
              <a:schemeClr val="dk1"/>
            </a:fontRef>
          </p:style>
          <p:txBody>
            <a:bodyPr rtlCol="0" anchor="ctr"/>
            <a:lstStyle/>
            <a:p>
              <a:pPr algn="ctr"/>
              <a:r>
                <a:rPr lang="en-US" sz="2400" dirty="0">
                  <a:solidFill>
                    <a:schemeClr val="tx1"/>
                  </a:solidFill>
                </a:rPr>
                <a:t>D</a:t>
              </a:r>
            </a:p>
          </p:txBody>
        </p:sp>
      </p:grpSp>
      <p:sp>
        <p:nvSpPr>
          <p:cNvPr id="37" name="Right Arrow 36"/>
          <p:cNvSpPr/>
          <p:nvPr/>
        </p:nvSpPr>
        <p:spPr>
          <a:xfrm flipH="1">
            <a:off x="3505044" y="4773981"/>
            <a:ext cx="446004" cy="457200"/>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TextBox 2">
            <a:extLst>
              <a:ext uri="{FF2B5EF4-FFF2-40B4-BE49-F238E27FC236}">
                <a16:creationId xmlns:a16="http://schemas.microsoft.com/office/drawing/2014/main" id="{875B1B93-1CE0-4F98-A645-A4A4C493D957}"/>
              </a:ext>
            </a:extLst>
          </p:cNvPr>
          <p:cNvSpPr txBox="1"/>
          <p:nvPr/>
        </p:nvSpPr>
        <p:spPr>
          <a:xfrm>
            <a:off x="244060" y="3323709"/>
            <a:ext cx="707245" cy="369332"/>
          </a:xfrm>
          <a:prstGeom prst="rect">
            <a:avLst/>
          </a:prstGeom>
          <a:noFill/>
        </p:spPr>
        <p:txBody>
          <a:bodyPr wrap="none" rtlCol="0">
            <a:spAutoFit/>
          </a:bodyPr>
          <a:lstStyle/>
          <a:p>
            <a:r>
              <a:rPr lang="en-US" dirty="0"/>
              <a:t>m = 3</a:t>
            </a:r>
          </a:p>
        </p:txBody>
      </p:sp>
      <p:sp>
        <p:nvSpPr>
          <p:cNvPr id="4" name="Left Brace 3">
            <a:extLst>
              <a:ext uri="{FF2B5EF4-FFF2-40B4-BE49-F238E27FC236}">
                <a16:creationId xmlns:a16="http://schemas.microsoft.com/office/drawing/2014/main" id="{B7BE99B8-0DE5-4D99-93B6-BE8A89B54C2B}"/>
              </a:ext>
            </a:extLst>
          </p:cNvPr>
          <p:cNvSpPr/>
          <p:nvPr/>
        </p:nvSpPr>
        <p:spPr>
          <a:xfrm>
            <a:off x="990600" y="1752600"/>
            <a:ext cx="169763" cy="3416299"/>
          </a:xfrm>
          <a:prstGeom prst="leftBrace">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
        <p:nvSpPr>
          <p:cNvPr id="5" name="Right Brace 4">
            <a:extLst>
              <a:ext uri="{FF2B5EF4-FFF2-40B4-BE49-F238E27FC236}">
                <a16:creationId xmlns:a16="http://schemas.microsoft.com/office/drawing/2014/main" id="{693F8618-D36B-4815-A84B-40D2ED15308B}"/>
              </a:ext>
            </a:extLst>
          </p:cNvPr>
          <p:cNvSpPr/>
          <p:nvPr/>
        </p:nvSpPr>
        <p:spPr>
          <a:xfrm>
            <a:off x="7786600" y="1865336"/>
            <a:ext cx="269187" cy="1667231"/>
          </a:xfrm>
          <a:prstGeom prst="rightBrace">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dirty="0"/>
          </a:p>
        </p:txBody>
      </p:sp>
      <p:sp>
        <p:nvSpPr>
          <p:cNvPr id="6" name="TextBox 5">
            <a:extLst>
              <a:ext uri="{FF2B5EF4-FFF2-40B4-BE49-F238E27FC236}">
                <a16:creationId xmlns:a16="http://schemas.microsoft.com/office/drawing/2014/main" id="{05E434AD-A887-4ADF-9E65-2B97B4E00869}"/>
              </a:ext>
            </a:extLst>
          </p:cNvPr>
          <p:cNvSpPr txBox="1"/>
          <p:nvPr/>
        </p:nvSpPr>
        <p:spPr>
          <a:xfrm flipH="1">
            <a:off x="8200246" y="2536674"/>
            <a:ext cx="747547" cy="369332"/>
          </a:xfrm>
          <a:prstGeom prst="rect">
            <a:avLst/>
          </a:prstGeom>
          <a:noFill/>
        </p:spPr>
        <p:txBody>
          <a:bodyPr wrap="square" rtlCol="0">
            <a:spAutoFit/>
          </a:bodyPr>
          <a:lstStyle/>
          <a:p>
            <a:r>
              <a:rPr lang="en-US" dirty="0"/>
              <a:t>d = 1</a:t>
            </a:r>
          </a:p>
        </p:txBody>
      </p:sp>
      <p:sp>
        <p:nvSpPr>
          <p:cNvPr id="23" name="TextBox 22">
            <a:extLst>
              <a:ext uri="{FF2B5EF4-FFF2-40B4-BE49-F238E27FC236}">
                <a16:creationId xmlns:a16="http://schemas.microsoft.com/office/drawing/2014/main" id="{2BA14E98-12E5-4207-93AF-FDC840F89787}"/>
              </a:ext>
            </a:extLst>
          </p:cNvPr>
          <p:cNvSpPr txBox="1"/>
          <p:nvPr/>
        </p:nvSpPr>
        <p:spPr>
          <a:xfrm flipH="1">
            <a:off x="2831730" y="4795723"/>
            <a:ext cx="762000" cy="369332"/>
          </a:xfrm>
          <a:prstGeom prst="rect">
            <a:avLst/>
          </a:prstGeom>
          <a:noFill/>
        </p:spPr>
        <p:txBody>
          <a:bodyPr wrap="square" rtlCol="0">
            <a:spAutoFit/>
          </a:bodyPr>
          <a:lstStyle/>
          <a:p>
            <a:r>
              <a:rPr lang="en-US" dirty="0"/>
              <a:t>Goal</a:t>
            </a:r>
          </a:p>
        </p:txBody>
      </p:sp>
      <p:sp>
        <p:nvSpPr>
          <p:cNvPr id="7" name="TextBox 6">
            <a:extLst>
              <a:ext uri="{FF2B5EF4-FFF2-40B4-BE49-F238E27FC236}">
                <a16:creationId xmlns:a16="http://schemas.microsoft.com/office/drawing/2014/main" id="{B09826F2-A058-429F-8387-718D5A59273A}"/>
              </a:ext>
            </a:extLst>
          </p:cNvPr>
          <p:cNvSpPr txBox="1"/>
          <p:nvPr/>
        </p:nvSpPr>
        <p:spPr>
          <a:xfrm flipH="1">
            <a:off x="4692563" y="2508821"/>
            <a:ext cx="644728" cy="369332"/>
          </a:xfrm>
          <a:prstGeom prst="rect">
            <a:avLst/>
          </a:prstGeom>
          <a:noFill/>
        </p:spPr>
        <p:txBody>
          <a:bodyPr wrap="none" rtlCol="0">
            <a:spAutoFit/>
          </a:bodyPr>
          <a:lstStyle/>
          <a:p>
            <a:r>
              <a:rPr lang="en-US" dirty="0"/>
              <a:t>b = 2</a:t>
            </a:r>
          </a:p>
        </p:txBody>
      </p:sp>
      <p:sp>
        <p:nvSpPr>
          <p:cNvPr id="43" name="Oval 42">
            <a:extLst>
              <a:ext uri="{FF2B5EF4-FFF2-40B4-BE49-F238E27FC236}">
                <a16:creationId xmlns:a16="http://schemas.microsoft.com/office/drawing/2014/main" id="{E758BBCA-CCFD-46A6-BB6B-108A2649B9ED}"/>
              </a:ext>
            </a:extLst>
          </p:cNvPr>
          <p:cNvSpPr/>
          <p:nvPr/>
        </p:nvSpPr>
        <p:spPr>
          <a:xfrm flipH="1">
            <a:off x="1533554" y="4714831"/>
            <a:ext cx="446004" cy="446004"/>
          </a:xfrm>
          <a:prstGeom prst="ellipse">
            <a:avLst/>
          </a:prstGeom>
          <a:ln/>
        </p:spPr>
        <p:style>
          <a:lnRef idx="2">
            <a:schemeClr val="accent5"/>
          </a:lnRef>
          <a:fillRef idx="1">
            <a:schemeClr val="lt1"/>
          </a:fillRef>
          <a:effectRef idx="0">
            <a:schemeClr val="accent5"/>
          </a:effectRef>
          <a:fontRef idx="minor">
            <a:schemeClr val="dk1"/>
          </a:fontRef>
        </p:style>
        <p:txBody>
          <a:bodyPr rtlCol="0" anchor="ctr"/>
          <a:lstStyle/>
          <a:p>
            <a:pPr algn="ctr"/>
            <a:r>
              <a:rPr lang="en-US" sz="2400" dirty="0">
                <a:solidFill>
                  <a:schemeClr val="tx1"/>
                </a:solidFill>
              </a:rPr>
              <a:t>H</a:t>
            </a:r>
            <a:endParaRPr lang="en-US" sz="2400" dirty="0"/>
          </a:p>
        </p:txBody>
      </p:sp>
      <p:cxnSp>
        <p:nvCxnSpPr>
          <p:cNvPr id="44" name="Straight Arrow Connector 43">
            <a:extLst>
              <a:ext uri="{FF2B5EF4-FFF2-40B4-BE49-F238E27FC236}">
                <a16:creationId xmlns:a16="http://schemas.microsoft.com/office/drawing/2014/main" id="{5FD7A41C-EEFE-4F55-B0B1-E10394A4253B}"/>
              </a:ext>
            </a:extLst>
          </p:cNvPr>
          <p:cNvCxnSpPr>
            <a:cxnSpLocks/>
            <a:stCxn id="36" idx="5"/>
            <a:endCxn id="43" idx="0"/>
          </p:cNvCxnSpPr>
          <p:nvPr/>
        </p:nvCxnSpPr>
        <p:spPr>
          <a:xfrm flipH="1">
            <a:off x="1756556" y="4249696"/>
            <a:ext cx="297309" cy="465135"/>
          </a:xfrm>
          <a:prstGeom prst="straightConnector1">
            <a:avLst/>
          </a:prstGeom>
          <a:ln w="25400">
            <a:prstDash val="solid"/>
            <a:tailEnd type="arrow"/>
          </a:ln>
        </p:spPr>
        <p:style>
          <a:lnRef idx="1">
            <a:schemeClr val="accent1"/>
          </a:lnRef>
          <a:fillRef idx="0">
            <a:schemeClr val="accent1"/>
          </a:fillRef>
          <a:effectRef idx="0">
            <a:schemeClr val="accent1"/>
          </a:effectRef>
          <a:fontRef idx="minor">
            <a:schemeClr val="tx1"/>
          </a:fontRef>
        </p:style>
      </p:cxnSp>
      <p:sp>
        <p:nvSpPr>
          <p:cNvPr id="11" name="TextBox 10">
            <a:extLst>
              <a:ext uri="{FF2B5EF4-FFF2-40B4-BE49-F238E27FC236}">
                <a16:creationId xmlns:a16="http://schemas.microsoft.com/office/drawing/2014/main" id="{3A2529FC-A025-4D3A-A226-231A033626DF}"/>
              </a:ext>
            </a:extLst>
          </p:cNvPr>
          <p:cNvSpPr txBox="1"/>
          <p:nvPr/>
        </p:nvSpPr>
        <p:spPr>
          <a:xfrm>
            <a:off x="4000855" y="4851752"/>
            <a:ext cx="3849515" cy="369332"/>
          </a:xfrm>
          <a:prstGeom prst="rect">
            <a:avLst/>
          </a:prstGeom>
          <a:noFill/>
        </p:spPr>
        <p:txBody>
          <a:bodyPr wrap="none" rtlCol="0">
            <a:spAutoFit/>
          </a:bodyPr>
          <a:lstStyle/>
          <a:p>
            <a:r>
              <a:rPr lang="en-US" dirty="0"/>
              <a:t>DFS finds this goal first </a:t>
            </a:r>
            <a:r>
              <a:rPr lang="en-US" dirty="0">
                <a:sym typeface="Wingdings" panose="05000000000000000000" pitchFamily="2" charset="2"/>
              </a:rPr>
              <a:t> Not optimal!</a:t>
            </a:r>
          </a:p>
        </p:txBody>
      </p:sp>
      <p:sp>
        <p:nvSpPr>
          <p:cNvPr id="38" name="TextBox 37">
            <a:extLst>
              <a:ext uri="{FF2B5EF4-FFF2-40B4-BE49-F238E27FC236}">
                <a16:creationId xmlns:a16="http://schemas.microsoft.com/office/drawing/2014/main" id="{7BEEE4E0-2498-46A6-A726-879ABF8EC5F3}"/>
              </a:ext>
            </a:extLst>
          </p:cNvPr>
          <p:cNvSpPr txBox="1"/>
          <p:nvPr/>
        </p:nvSpPr>
        <p:spPr>
          <a:xfrm flipH="1">
            <a:off x="6978104" y="3074545"/>
            <a:ext cx="762000" cy="369332"/>
          </a:xfrm>
          <a:prstGeom prst="rect">
            <a:avLst/>
          </a:prstGeom>
          <a:noFill/>
        </p:spPr>
        <p:txBody>
          <a:bodyPr wrap="square" rtlCol="0">
            <a:spAutoFit/>
          </a:bodyPr>
          <a:lstStyle/>
          <a:p>
            <a:r>
              <a:rPr lang="en-US" dirty="0"/>
              <a:t>Goal</a:t>
            </a:r>
          </a:p>
        </p:txBody>
      </p:sp>
      <p:sp>
        <p:nvSpPr>
          <p:cNvPr id="40" name="Rectangle 39">
            <a:extLst>
              <a:ext uri="{FF2B5EF4-FFF2-40B4-BE49-F238E27FC236}">
                <a16:creationId xmlns:a16="http://schemas.microsoft.com/office/drawing/2014/main" id="{CF8A1F6E-9A8A-4F79-8CD2-39B245EC122F}"/>
              </a:ext>
            </a:extLst>
          </p:cNvPr>
          <p:cNvSpPr/>
          <p:nvPr/>
        </p:nvSpPr>
        <p:spPr>
          <a:xfrm>
            <a:off x="6205775" y="514954"/>
            <a:ext cx="2514600" cy="695575"/>
          </a:xfrm>
          <a:prstGeom prst="rect">
            <a:avLst/>
          </a:prstGeom>
        </p:spPr>
        <p:style>
          <a:lnRef idx="2">
            <a:schemeClr val="accent3">
              <a:shade val="50000"/>
            </a:schemeClr>
          </a:lnRef>
          <a:fillRef idx="1">
            <a:schemeClr val="accent3"/>
          </a:fillRef>
          <a:effectRef idx="0">
            <a:schemeClr val="accent3"/>
          </a:effectRef>
          <a:fontRef idx="minor">
            <a:schemeClr val="lt1"/>
          </a:fontRef>
        </p:style>
        <p:txBody>
          <a:bodyPr wrap="square">
            <a:spAutoFit/>
          </a:bodyPr>
          <a:lstStyle/>
          <a:p>
            <a:pPr>
              <a:lnSpc>
                <a:spcPct val="90000"/>
              </a:lnSpc>
            </a:pPr>
            <a:r>
              <a:rPr lang="en-US" sz="1400" i="1" dirty="0"/>
              <a:t>d: </a:t>
            </a:r>
            <a:r>
              <a:rPr lang="en-US" sz="1400" dirty="0"/>
              <a:t>depth of the optimal solution</a:t>
            </a:r>
          </a:p>
          <a:p>
            <a:pPr>
              <a:lnSpc>
                <a:spcPct val="90000"/>
              </a:lnSpc>
            </a:pPr>
            <a:r>
              <a:rPr lang="en-US" sz="1400" i="1" dirty="0"/>
              <a:t>m: </a:t>
            </a:r>
            <a:r>
              <a:rPr lang="en-US" sz="1400" dirty="0"/>
              <a:t>max. depth of tree</a:t>
            </a:r>
          </a:p>
          <a:p>
            <a:r>
              <a:rPr lang="en-US" sz="1400" i="1" dirty="0"/>
              <a:t>b:</a:t>
            </a:r>
            <a:r>
              <a:rPr lang="en-US" sz="1400" dirty="0"/>
              <a:t> maximum branching factor</a:t>
            </a:r>
          </a:p>
        </p:txBody>
      </p:sp>
      <p:sp>
        <p:nvSpPr>
          <p:cNvPr id="8" name="Oval 7">
            <a:extLst>
              <a:ext uri="{FF2B5EF4-FFF2-40B4-BE49-F238E27FC236}">
                <a16:creationId xmlns:a16="http://schemas.microsoft.com/office/drawing/2014/main" id="{B31A5B61-DA71-BA83-56A8-B097640C2DB7}"/>
              </a:ext>
            </a:extLst>
          </p:cNvPr>
          <p:cNvSpPr/>
          <p:nvPr/>
        </p:nvSpPr>
        <p:spPr>
          <a:xfrm flipH="1">
            <a:off x="2446359" y="4722895"/>
            <a:ext cx="446004" cy="446004"/>
          </a:xfrm>
          <a:prstGeom prst="ellipse">
            <a:avLst/>
          </a:prstGeom>
          <a:ln/>
        </p:spPr>
        <p:style>
          <a:lnRef idx="2">
            <a:schemeClr val="accent2">
              <a:shade val="50000"/>
            </a:schemeClr>
          </a:lnRef>
          <a:fillRef idx="1">
            <a:schemeClr val="accent2"/>
          </a:fillRef>
          <a:effectRef idx="0">
            <a:schemeClr val="accent2"/>
          </a:effectRef>
          <a:fontRef idx="minor">
            <a:schemeClr val="lt1"/>
          </a:fontRef>
        </p:style>
        <p:txBody>
          <a:bodyPr rtlCol="0" anchor="ctr"/>
          <a:lstStyle/>
          <a:p>
            <a:pPr algn="ctr"/>
            <a:r>
              <a:rPr lang="en-US" sz="2400" dirty="0">
                <a:solidFill>
                  <a:schemeClr val="tx1"/>
                </a:solidFill>
              </a:rPr>
              <a:t>I</a:t>
            </a:r>
            <a:endParaRPr lang="en-US" sz="2400" dirty="0"/>
          </a:p>
        </p:txBody>
      </p:sp>
      <p:cxnSp>
        <p:nvCxnSpPr>
          <p:cNvPr id="9" name="Straight Arrow Connector 8">
            <a:extLst>
              <a:ext uri="{FF2B5EF4-FFF2-40B4-BE49-F238E27FC236}">
                <a16:creationId xmlns:a16="http://schemas.microsoft.com/office/drawing/2014/main" id="{73344289-98A8-0EBB-02C6-0E87A4FF9F00}"/>
              </a:ext>
            </a:extLst>
          </p:cNvPr>
          <p:cNvCxnSpPr>
            <a:cxnSpLocks/>
            <a:stCxn id="36" idx="3"/>
            <a:endCxn id="8" idx="0"/>
          </p:cNvCxnSpPr>
          <p:nvPr/>
        </p:nvCxnSpPr>
        <p:spPr>
          <a:xfrm>
            <a:off x="2369237" y="4249696"/>
            <a:ext cx="300124" cy="473199"/>
          </a:xfrm>
          <a:prstGeom prst="straightConnector1">
            <a:avLst/>
          </a:prstGeom>
          <a:ln w="25400">
            <a:prstDash val="solid"/>
            <a:tailEnd type="arrow"/>
          </a:ln>
        </p:spPr>
        <p:style>
          <a:lnRef idx="1">
            <a:schemeClr val="accent1"/>
          </a:lnRef>
          <a:fillRef idx="0">
            <a:schemeClr val="accent1"/>
          </a:fillRef>
          <a:effectRef idx="0">
            <a:schemeClr val="accent1"/>
          </a:effectRef>
          <a:fontRef idx="minor">
            <a:schemeClr val="tx1"/>
          </a:fontRef>
        </p:style>
      </p:cxnSp>
      <p:grpSp>
        <p:nvGrpSpPr>
          <p:cNvPr id="10" name="Group 32">
            <a:extLst>
              <a:ext uri="{FF2B5EF4-FFF2-40B4-BE49-F238E27FC236}">
                <a16:creationId xmlns:a16="http://schemas.microsoft.com/office/drawing/2014/main" id="{0096BAD4-953C-7D14-F4D1-3E2708D1C393}"/>
              </a:ext>
            </a:extLst>
          </p:cNvPr>
          <p:cNvGrpSpPr/>
          <p:nvPr/>
        </p:nvGrpSpPr>
        <p:grpSpPr>
          <a:xfrm flipH="1">
            <a:off x="1998132" y="1908726"/>
            <a:ext cx="4906044" cy="2406837"/>
            <a:chOff x="3429000" y="3460563"/>
            <a:chExt cx="3352800" cy="1644837"/>
          </a:xfrm>
        </p:grpSpPr>
        <p:cxnSp>
          <p:nvCxnSpPr>
            <p:cNvPr id="12" name="Straight Arrow Connector 11">
              <a:extLst>
                <a:ext uri="{FF2B5EF4-FFF2-40B4-BE49-F238E27FC236}">
                  <a16:creationId xmlns:a16="http://schemas.microsoft.com/office/drawing/2014/main" id="{3075D5A6-85AC-6108-9317-FA6A8A2C7863}"/>
                </a:ext>
              </a:extLst>
            </p:cNvPr>
            <p:cNvCxnSpPr>
              <a:cxnSpLocks/>
              <a:stCxn id="13" idx="3"/>
              <a:endCxn id="17" idx="7"/>
            </p:cNvCxnSpPr>
            <p:nvPr/>
          </p:nvCxnSpPr>
          <p:spPr>
            <a:xfrm flipH="1">
              <a:off x="3689163" y="3720726"/>
              <a:ext cx="927474" cy="591111"/>
            </a:xfrm>
            <a:prstGeom prst="straightConnector1">
              <a:avLst/>
            </a:prstGeom>
            <a:ln w="25400">
              <a:prstDash val="lgDash"/>
              <a:tailEnd type="arrow"/>
            </a:ln>
          </p:spPr>
          <p:style>
            <a:lnRef idx="1">
              <a:schemeClr val="accent1"/>
            </a:lnRef>
            <a:fillRef idx="0">
              <a:schemeClr val="accent1"/>
            </a:fillRef>
            <a:effectRef idx="0">
              <a:schemeClr val="accent1"/>
            </a:effectRef>
            <a:fontRef idx="minor">
              <a:schemeClr val="tx1"/>
            </a:fontRef>
          </p:style>
        </p:cxnSp>
        <p:sp>
          <p:nvSpPr>
            <p:cNvPr id="13" name="Oval 12">
              <a:extLst>
                <a:ext uri="{FF2B5EF4-FFF2-40B4-BE49-F238E27FC236}">
                  <a16:creationId xmlns:a16="http://schemas.microsoft.com/office/drawing/2014/main" id="{36480177-C2D1-AD63-7CCF-8357ACB23DA2}"/>
                </a:ext>
              </a:extLst>
            </p:cNvPr>
            <p:cNvSpPr/>
            <p:nvPr/>
          </p:nvSpPr>
          <p:spPr>
            <a:xfrm>
              <a:off x="4572000" y="3460563"/>
              <a:ext cx="304800" cy="304800"/>
            </a:xfrm>
            <a:prstGeom prst="ellipse">
              <a:avLst/>
            </a:prstGeom>
          </p:spPr>
          <p:style>
            <a:lnRef idx="1">
              <a:schemeClr val="accent5"/>
            </a:lnRef>
            <a:fillRef idx="2">
              <a:schemeClr val="accent5"/>
            </a:fillRef>
            <a:effectRef idx="1">
              <a:schemeClr val="accent5"/>
            </a:effectRef>
            <a:fontRef idx="minor">
              <a:schemeClr val="dk1"/>
            </a:fontRef>
          </p:style>
          <p:txBody>
            <a:bodyPr rtlCol="0" anchor="ctr"/>
            <a:lstStyle/>
            <a:p>
              <a:pPr algn="ctr"/>
              <a:r>
                <a:rPr lang="en-US" sz="2400" dirty="0">
                  <a:solidFill>
                    <a:schemeClr val="tx1"/>
                  </a:solidFill>
                </a:rPr>
                <a:t>A</a:t>
              </a:r>
            </a:p>
          </p:txBody>
        </p:sp>
        <p:cxnSp>
          <p:nvCxnSpPr>
            <p:cNvPr id="14" name="Straight Arrow Connector 13">
              <a:extLst>
                <a:ext uri="{FF2B5EF4-FFF2-40B4-BE49-F238E27FC236}">
                  <a16:creationId xmlns:a16="http://schemas.microsoft.com/office/drawing/2014/main" id="{D5F2245D-84C0-FD02-54CF-939C80524CC7}"/>
                </a:ext>
              </a:extLst>
            </p:cNvPr>
            <p:cNvCxnSpPr>
              <a:cxnSpLocks/>
              <a:stCxn id="13" idx="5"/>
              <a:endCxn id="19" idx="1"/>
            </p:cNvCxnSpPr>
            <p:nvPr/>
          </p:nvCxnSpPr>
          <p:spPr>
            <a:xfrm>
              <a:off x="4832163" y="3720726"/>
              <a:ext cx="927474" cy="591111"/>
            </a:xfrm>
            <a:prstGeom prst="straightConnector1">
              <a:avLst/>
            </a:prstGeom>
            <a:ln w="25400">
              <a:tailEnd type="arrow"/>
            </a:ln>
          </p:spPr>
          <p:style>
            <a:lnRef idx="1">
              <a:schemeClr val="accent1"/>
            </a:lnRef>
            <a:fillRef idx="0">
              <a:schemeClr val="accent1"/>
            </a:fillRef>
            <a:effectRef idx="0">
              <a:schemeClr val="accent1"/>
            </a:effectRef>
            <a:fontRef idx="minor">
              <a:schemeClr val="tx1"/>
            </a:fontRef>
          </p:style>
        </p:cxnSp>
        <p:sp>
          <p:nvSpPr>
            <p:cNvPr id="15" name="Oval 14">
              <a:extLst>
                <a:ext uri="{FF2B5EF4-FFF2-40B4-BE49-F238E27FC236}">
                  <a16:creationId xmlns:a16="http://schemas.microsoft.com/office/drawing/2014/main" id="{923558EF-2A6C-207F-84A3-AC27B8D0B79A}"/>
                </a:ext>
              </a:extLst>
            </p:cNvPr>
            <p:cNvSpPr/>
            <p:nvPr/>
          </p:nvSpPr>
          <p:spPr>
            <a:xfrm>
              <a:off x="4953000" y="4800600"/>
              <a:ext cx="304800" cy="304800"/>
            </a:xfrm>
            <a:prstGeom prst="ellipse">
              <a:avLst/>
            </a:prstGeom>
            <a:solidFill>
              <a:schemeClr val="accent1">
                <a:lumMod val="20000"/>
                <a:lumOff val="80000"/>
              </a:schemeClr>
            </a:solidFill>
            <a:ln>
              <a:prstDash val="lgDash"/>
            </a:ln>
          </p:spPr>
          <p:style>
            <a:lnRef idx="1">
              <a:schemeClr val="accent5"/>
            </a:lnRef>
            <a:fillRef idx="2">
              <a:schemeClr val="accent5"/>
            </a:fillRef>
            <a:effectRef idx="1">
              <a:schemeClr val="accent5"/>
            </a:effectRef>
            <a:fontRef idx="minor">
              <a:schemeClr val="dk1"/>
            </a:fontRef>
          </p:style>
          <p:txBody>
            <a:bodyPr rtlCol="0" anchor="ctr"/>
            <a:lstStyle/>
            <a:p>
              <a:pPr algn="ctr"/>
              <a:r>
                <a:rPr lang="en-US" sz="2400" dirty="0">
                  <a:solidFill>
                    <a:schemeClr val="tx1"/>
                  </a:solidFill>
                </a:rPr>
                <a:t>E</a:t>
              </a:r>
            </a:p>
          </p:txBody>
        </p:sp>
        <p:cxnSp>
          <p:nvCxnSpPr>
            <p:cNvPr id="16" name="Straight Arrow Connector 15">
              <a:extLst>
                <a:ext uri="{FF2B5EF4-FFF2-40B4-BE49-F238E27FC236}">
                  <a16:creationId xmlns:a16="http://schemas.microsoft.com/office/drawing/2014/main" id="{79142D5E-3285-06AC-4141-D14D0D4DEB40}"/>
                </a:ext>
              </a:extLst>
            </p:cNvPr>
            <p:cNvCxnSpPr>
              <a:cxnSpLocks/>
              <a:stCxn id="19" idx="3"/>
              <a:endCxn id="15" idx="7"/>
            </p:cNvCxnSpPr>
            <p:nvPr/>
          </p:nvCxnSpPr>
          <p:spPr>
            <a:xfrm flipH="1">
              <a:off x="5213163" y="4527363"/>
              <a:ext cx="546474" cy="317874"/>
            </a:xfrm>
            <a:prstGeom prst="straightConnector1">
              <a:avLst/>
            </a:prstGeom>
            <a:ln w="25400">
              <a:prstDash val="lgDash"/>
              <a:tailEnd type="arrow"/>
            </a:ln>
          </p:spPr>
          <p:style>
            <a:lnRef idx="1">
              <a:schemeClr val="accent1"/>
            </a:lnRef>
            <a:fillRef idx="0">
              <a:schemeClr val="accent1"/>
            </a:fillRef>
            <a:effectRef idx="0">
              <a:schemeClr val="accent1"/>
            </a:effectRef>
            <a:fontRef idx="minor">
              <a:schemeClr val="tx1"/>
            </a:fontRef>
          </p:style>
        </p:cxnSp>
        <p:sp>
          <p:nvSpPr>
            <p:cNvPr id="17" name="Oval 16">
              <a:extLst>
                <a:ext uri="{FF2B5EF4-FFF2-40B4-BE49-F238E27FC236}">
                  <a16:creationId xmlns:a16="http://schemas.microsoft.com/office/drawing/2014/main" id="{417C15D6-4494-7CB3-25D8-3F5A7F41FCEA}"/>
                </a:ext>
              </a:extLst>
            </p:cNvPr>
            <p:cNvSpPr/>
            <p:nvPr/>
          </p:nvSpPr>
          <p:spPr>
            <a:xfrm>
              <a:off x="3429000" y="4267200"/>
              <a:ext cx="304800" cy="304800"/>
            </a:xfrm>
            <a:prstGeom prst="ellipse">
              <a:avLst/>
            </a:prstGeom>
            <a:solidFill>
              <a:schemeClr val="accent2">
                <a:lumMod val="40000"/>
                <a:lumOff val="60000"/>
              </a:schemeClr>
            </a:solidFill>
            <a:ln>
              <a:prstDash val="lgDash"/>
            </a:ln>
          </p:spPr>
          <p:style>
            <a:lnRef idx="2">
              <a:schemeClr val="accent2">
                <a:shade val="50000"/>
              </a:schemeClr>
            </a:lnRef>
            <a:fillRef idx="1">
              <a:schemeClr val="accent2"/>
            </a:fillRef>
            <a:effectRef idx="0">
              <a:schemeClr val="accent2"/>
            </a:effectRef>
            <a:fontRef idx="minor">
              <a:schemeClr val="lt1"/>
            </a:fontRef>
          </p:style>
          <p:txBody>
            <a:bodyPr rtlCol="0" anchor="ctr"/>
            <a:lstStyle/>
            <a:p>
              <a:pPr algn="ctr"/>
              <a:r>
                <a:rPr lang="en-US" sz="2400" dirty="0">
                  <a:solidFill>
                    <a:schemeClr val="tx1"/>
                  </a:solidFill>
                </a:rPr>
                <a:t>C</a:t>
              </a:r>
              <a:endParaRPr lang="en-US" sz="2400" dirty="0"/>
            </a:p>
          </p:txBody>
        </p:sp>
        <p:cxnSp>
          <p:nvCxnSpPr>
            <p:cNvPr id="18" name="Straight Arrow Connector 17">
              <a:extLst>
                <a:ext uri="{FF2B5EF4-FFF2-40B4-BE49-F238E27FC236}">
                  <a16:creationId xmlns:a16="http://schemas.microsoft.com/office/drawing/2014/main" id="{7B6FD549-EB2F-CE1D-4DE4-BDD452B53AED}"/>
                </a:ext>
              </a:extLst>
            </p:cNvPr>
            <p:cNvCxnSpPr>
              <a:cxnSpLocks/>
              <a:stCxn id="19" idx="5"/>
              <a:endCxn id="20" idx="1"/>
            </p:cNvCxnSpPr>
            <p:nvPr/>
          </p:nvCxnSpPr>
          <p:spPr>
            <a:xfrm>
              <a:off x="5975163" y="4527363"/>
              <a:ext cx="546474" cy="317874"/>
            </a:xfrm>
            <a:prstGeom prst="straightConnector1">
              <a:avLst/>
            </a:prstGeom>
            <a:ln w="25400">
              <a:prstDash val="solid"/>
              <a:tailEnd type="arrow"/>
            </a:ln>
          </p:spPr>
          <p:style>
            <a:lnRef idx="1">
              <a:schemeClr val="accent1"/>
            </a:lnRef>
            <a:fillRef idx="0">
              <a:schemeClr val="accent1"/>
            </a:fillRef>
            <a:effectRef idx="0">
              <a:schemeClr val="accent1"/>
            </a:effectRef>
            <a:fontRef idx="minor">
              <a:schemeClr val="tx1"/>
            </a:fontRef>
          </p:style>
        </p:cxnSp>
        <p:sp>
          <p:nvSpPr>
            <p:cNvPr id="19" name="Oval 18">
              <a:extLst>
                <a:ext uri="{FF2B5EF4-FFF2-40B4-BE49-F238E27FC236}">
                  <a16:creationId xmlns:a16="http://schemas.microsoft.com/office/drawing/2014/main" id="{6B8ABD5E-5ED0-FE4E-B40E-8E7BC075422F}"/>
                </a:ext>
              </a:extLst>
            </p:cNvPr>
            <p:cNvSpPr/>
            <p:nvPr/>
          </p:nvSpPr>
          <p:spPr>
            <a:xfrm>
              <a:off x="5715000" y="4267200"/>
              <a:ext cx="304800" cy="304800"/>
            </a:xfrm>
            <a:prstGeom prst="ellipse">
              <a:avLst/>
            </a:prstGeom>
            <a:ln/>
          </p:spPr>
          <p:style>
            <a:lnRef idx="1">
              <a:schemeClr val="accent5"/>
            </a:lnRef>
            <a:fillRef idx="2">
              <a:schemeClr val="accent5"/>
            </a:fillRef>
            <a:effectRef idx="1">
              <a:schemeClr val="accent5"/>
            </a:effectRef>
            <a:fontRef idx="minor">
              <a:schemeClr val="dk1"/>
            </a:fontRef>
          </p:style>
          <p:txBody>
            <a:bodyPr rtlCol="0" anchor="ctr"/>
            <a:lstStyle/>
            <a:p>
              <a:pPr algn="ctr"/>
              <a:r>
                <a:rPr lang="en-US" sz="2400" dirty="0">
                  <a:solidFill>
                    <a:schemeClr val="tx1"/>
                  </a:solidFill>
                </a:rPr>
                <a:t>B</a:t>
              </a:r>
              <a:endParaRPr lang="en-US" sz="2400" dirty="0"/>
            </a:p>
          </p:txBody>
        </p:sp>
        <p:sp>
          <p:nvSpPr>
            <p:cNvPr id="20" name="Oval 19">
              <a:extLst>
                <a:ext uri="{FF2B5EF4-FFF2-40B4-BE49-F238E27FC236}">
                  <a16:creationId xmlns:a16="http://schemas.microsoft.com/office/drawing/2014/main" id="{A053BD07-8D2A-4D42-BE81-5AF7D413F8C3}"/>
                </a:ext>
              </a:extLst>
            </p:cNvPr>
            <p:cNvSpPr/>
            <p:nvPr/>
          </p:nvSpPr>
          <p:spPr>
            <a:xfrm>
              <a:off x="6477000" y="4800600"/>
              <a:ext cx="304800" cy="304800"/>
            </a:xfrm>
            <a:prstGeom prst="ellipse">
              <a:avLst/>
            </a:prstGeom>
            <a:ln/>
          </p:spPr>
          <p:style>
            <a:lnRef idx="1">
              <a:schemeClr val="accent5"/>
            </a:lnRef>
            <a:fillRef idx="2">
              <a:schemeClr val="accent5"/>
            </a:fillRef>
            <a:effectRef idx="1">
              <a:schemeClr val="accent5"/>
            </a:effectRef>
            <a:fontRef idx="minor">
              <a:schemeClr val="dk1"/>
            </a:fontRef>
          </p:style>
          <p:txBody>
            <a:bodyPr rtlCol="0" anchor="ctr"/>
            <a:lstStyle/>
            <a:p>
              <a:pPr algn="ctr"/>
              <a:r>
                <a:rPr lang="en-US" sz="2400" dirty="0">
                  <a:solidFill>
                    <a:schemeClr val="tx1"/>
                  </a:solidFill>
                </a:rPr>
                <a:t>D</a:t>
              </a:r>
            </a:p>
          </p:txBody>
        </p:sp>
      </p:grpSp>
      <p:sp>
        <p:nvSpPr>
          <p:cNvPr id="21" name="Oval 20">
            <a:extLst>
              <a:ext uri="{FF2B5EF4-FFF2-40B4-BE49-F238E27FC236}">
                <a16:creationId xmlns:a16="http://schemas.microsoft.com/office/drawing/2014/main" id="{695EB84F-B701-F1EA-5EFC-751F6C825FD8}"/>
              </a:ext>
            </a:extLst>
          </p:cNvPr>
          <p:cNvSpPr/>
          <p:nvPr/>
        </p:nvSpPr>
        <p:spPr>
          <a:xfrm flipH="1">
            <a:off x="1543137" y="4715382"/>
            <a:ext cx="446004" cy="446004"/>
          </a:xfrm>
          <a:prstGeom prst="ellipse">
            <a:avLst/>
          </a:prstGeom>
          <a:ln/>
        </p:spPr>
        <p:style>
          <a:lnRef idx="2">
            <a:schemeClr val="accent5"/>
          </a:lnRef>
          <a:fillRef idx="1">
            <a:schemeClr val="lt1"/>
          </a:fillRef>
          <a:effectRef idx="0">
            <a:schemeClr val="accent5"/>
          </a:effectRef>
          <a:fontRef idx="minor">
            <a:schemeClr val="dk1"/>
          </a:fontRef>
        </p:style>
        <p:txBody>
          <a:bodyPr rtlCol="0" anchor="ctr"/>
          <a:lstStyle/>
          <a:p>
            <a:pPr algn="ctr"/>
            <a:r>
              <a:rPr lang="en-US" sz="2400" dirty="0">
                <a:solidFill>
                  <a:schemeClr val="tx1"/>
                </a:solidFill>
              </a:rPr>
              <a:t>H</a:t>
            </a:r>
            <a:endParaRPr lang="en-US" sz="2400" dirty="0"/>
          </a:p>
        </p:txBody>
      </p:sp>
      <p:cxnSp>
        <p:nvCxnSpPr>
          <p:cNvPr id="22" name="Straight Arrow Connector 21">
            <a:extLst>
              <a:ext uri="{FF2B5EF4-FFF2-40B4-BE49-F238E27FC236}">
                <a16:creationId xmlns:a16="http://schemas.microsoft.com/office/drawing/2014/main" id="{57B8E4B7-C9A7-E649-C205-DC061B11D6A0}"/>
              </a:ext>
            </a:extLst>
          </p:cNvPr>
          <p:cNvCxnSpPr>
            <a:cxnSpLocks/>
            <a:stCxn id="20" idx="5"/>
            <a:endCxn id="21" idx="0"/>
          </p:cNvCxnSpPr>
          <p:nvPr/>
        </p:nvCxnSpPr>
        <p:spPr>
          <a:xfrm flipH="1">
            <a:off x="1766139" y="4250247"/>
            <a:ext cx="297309" cy="465135"/>
          </a:xfrm>
          <a:prstGeom prst="straightConnector1">
            <a:avLst/>
          </a:prstGeom>
          <a:ln w="25400">
            <a:prstDash val="solid"/>
            <a:tailEnd type="arrow"/>
          </a:ln>
        </p:spPr>
        <p:style>
          <a:lnRef idx="1">
            <a:schemeClr val="accent1"/>
          </a:lnRef>
          <a:fillRef idx="0">
            <a:schemeClr val="accent1"/>
          </a:fillRef>
          <a:effectRef idx="0">
            <a:schemeClr val="accent1"/>
          </a:effectRef>
          <a:fontRef idx="minor">
            <a:schemeClr val="tx1"/>
          </a:fontRef>
        </p:style>
      </p:cxnSp>
      <p:sp>
        <p:nvSpPr>
          <p:cNvPr id="26" name="Oval 25">
            <a:extLst>
              <a:ext uri="{FF2B5EF4-FFF2-40B4-BE49-F238E27FC236}">
                <a16:creationId xmlns:a16="http://schemas.microsoft.com/office/drawing/2014/main" id="{57E8BCB9-E87A-CF6D-36B4-28D3A1C4890C}"/>
              </a:ext>
            </a:extLst>
          </p:cNvPr>
          <p:cNvSpPr/>
          <p:nvPr/>
        </p:nvSpPr>
        <p:spPr>
          <a:xfrm flipH="1">
            <a:off x="2455942" y="4723446"/>
            <a:ext cx="446004" cy="446004"/>
          </a:xfrm>
          <a:prstGeom prst="ellipse">
            <a:avLst/>
          </a:prstGeom>
          <a:ln/>
        </p:spPr>
        <p:style>
          <a:lnRef idx="2">
            <a:schemeClr val="accent2">
              <a:shade val="50000"/>
            </a:schemeClr>
          </a:lnRef>
          <a:fillRef idx="1">
            <a:schemeClr val="accent2"/>
          </a:fillRef>
          <a:effectRef idx="0">
            <a:schemeClr val="accent2"/>
          </a:effectRef>
          <a:fontRef idx="minor">
            <a:schemeClr val="lt1"/>
          </a:fontRef>
        </p:style>
        <p:txBody>
          <a:bodyPr rtlCol="0" anchor="ctr"/>
          <a:lstStyle/>
          <a:p>
            <a:pPr algn="ctr"/>
            <a:r>
              <a:rPr lang="en-US" sz="2400" dirty="0">
                <a:solidFill>
                  <a:schemeClr val="tx1"/>
                </a:solidFill>
              </a:rPr>
              <a:t>I</a:t>
            </a:r>
            <a:endParaRPr lang="en-US" sz="2400" dirty="0"/>
          </a:p>
        </p:txBody>
      </p:sp>
      <p:cxnSp>
        <p:nvCxnSpPr>
          <p:cNvPr id="28" name="Straight Arrow Connector 27">
            <a:extLst>
              <a:ext uri="{FF2B5EF4-FFF2-40B4-BE49-F238E27FC236}">
                <a16:creationId xmlns:a16="http://schemas.microsoft.com/office/drawing/2014/main" id="{E64990B0-5F27-B900-36B7-FD4601E06092}"/>
              </a:ext>
            </a:extLst>
          </p:cNvPr>
          <p:cNvCxnSpPr>
            <a:cxnSpLocks/>
            <a:stCxn id="20" idx="3"/>
            <a:endCxn id="26" idx="0"/>
          </p:cNvCxnSpPr>
          <p:nvPr/>
        </p:nvCxnSpPr>
        <p:spPr>
          <a:xfrm>
            <a:off x="2378820" y="4250247"/>
            <a:ext cx="300124" cy="473199"/>
          </a:xfrm>
          <a:prstGeom prst="straightConnector1">
            <a:avLst/>
          </a:prstGeom>
          <a:ln w="25400">
            <a:prstDash val="solid"/>
            <a:tailEnd type="arrow"/>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872728670"/>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5058" name="Rectangle 2"/>
          <p:cNvSpPr>
            <a:spLocks noGrp="1" noChangeArrowheads="1"/>
          </p:cNvSpPr>
          <p:nvPr>
            <p:ph type="title"/>
          </p:nvPr>
        </p:nvSpPr>
        <p:spPr/>
        <p:txBody>
          <a:bodyPr/>
          <a:lstStyle/>
          <a:p>
            <a:r>
              <a:rPr lang="en-US" sz="4000" dirty="0"/>
              <a:t>Properties of Depth-First Search</a:t>
            </a:r>
          </a:p>
        </p:txBody>
      </p:sp>
      <mc:AlternateContent xmlns:mc="http://schemas.openxmlformats.org/markup-compatibility/2006" xmlns:a14="http://schemas.microsoft.com/office/drawing/2010/main">
        <mc:Choice Requires="a14">
          <p:sp>
            <p:nvSpPr>
              <p:cNvPr id="45059" name="Rectangle 3"/>
              <p:cNvSpPr>
                <a:spLocks noGrp="1" noChangeArrowheads="1"/>
              </p:cNvSpPr>
              <p:nvPr>
                <p:ph idx="1"/>
              </p:nvPr>
            </p:nvSpPr>
            <p:spPr>
              <a:xfrm>
                <a:off x="628650" y="1825625"/>
                <a:ext cx="8210550" cy="4351338"/>
              </a:xfrm>
            </p:spPr>
            <p:txBody>
              <a:bodyPr>
                <a:normAutofit fontScale="77500" lnSpcReduction="20000"/>
              </a:bodyPr>
              <a:lstStyle/>
              <a:p>
                <a:r>
                  <a:rPr lang="en-US" sz="2800" b="1" dirty="0">
                    <a:solidFill>
                      <a:srgbClr val="FF0000"/>
                    </a:solidFill>
                  </a:rPr>
                  <a:t>Complete?</a:t>
                </a:r>
                <a:endParaRPr lang="en-US" sz="2800" dirty="0">
                  <a:solidFill>
                    <a:srgbClr val="FF0000"/>
                  </a:solidFill>
                </a:endParaRPr>
              </a:p>
              <a:p>
                <a:pPr lvl="1"/>
                <a:r>
                  <a:rPr lang="en-US" sz="2400" dirty="0"/>
                  <a:t>In finite search spaces, cycles are avoided by checking for repeated states along the path.</a:t>
                </a:r>
              </a:p>
              <a:p>
                <a:pPr lvl="1"/>
                <a:r>
                  <a:rPr lang="en-US" sz="2400" dirty="0"/>
                  <a:t>Incomplete in infinite search spaces.</a:t>
                </a:r>
                <a:endParaRPr lang="en-US" sz="2800" b="1" dirty="0">
                  <a:solidFill>
                    <a:srgbClr val="FF0000"/>
                  </a:solidFill>
                </a:endParaRPr>
              </a:p>
              <a:p>
                <a:r>
                  <a:rPr lang="en-US" sz="2800" b="1" dirty="0">
                    <a:solidFill>
                      <a:srgbClr val="FF0000"/>
                    </a:solidFill>
                  </a:rPr>
                  <a:t>Optimal?</a:t>
                </a:r>
              </a:p>
              <a:p>
                <a:pPr lvl="1">
                  <a:buNone/>
                </a:pPr>
                <a:r>
                  <a:rPr lang="en-US" sz="2400" dirty="0"/>
                  <a:t>No – returns the first solution it finds.</a:t>
                </a:r>
              </a:p>
              <a:p>
                <a:endParaRPr lang="en-US" sz="2800" b="1" dirty="0">
                  <a:solidFill>
                    <a:srgbClr val="FF0000"/>
                  </a:solidFill>
                </a:endParaRPr>
              </a:p>
              <a:p>
                <a:r>
                  <a:rPr lang="en-US" sz="2800" b="1" dirty="0">
                    <a:solidFill>
                      <a:srgbClr val="FF0000"/>
                    </a:solidFill>
                  </a:rPr>
                  <a:t>Time?</a:t>
                </a:r>
                <a:r>
                  <a:rPr lang="en-US" sz="2800" dirty="0">
                    <a:solidFill>
                      <a:srgbClr val="FF0000"/>
                    </a:solidFill>
                  </a:rPr>
                  <a:t> </a:t>
                </a:r>
              </a:p>
              <a:p>
                <a:pPr lvl="1">
                  <a:buNone/>
                </a:pPr>
                <a:r>
                  <a:rPr lang="en-US" sz="2400" dirty="0"/>
                  <a:t>The worst case is to reach a solution at maximum depth </a:t>
                </a:r>
                <a:r>
                  <a:rPr lang="en-US" sz="2400" i="1" dirty="0"/>
                  <a:t>m </a:t>
                </a:r>
                <a:r>
                  <a:rPr lang="en-US" sz="2400" dirty="0"/>
                  <a:t>in the last path:</a:t>
                </a:r>
                <a:r>
                  <a:rPr lang="en-US" sz="2400" i="1" dirty="0"/>
                  <a:t> </a:t>
                </a:r>
                <a14:m>
                  <m:oMath xmlns:m="http://schemas.openxmlformats.org/officeDocument/2006/math">
                    <m:r>
                      <a:rPr lang="en-US" sz="2400" i="1" dirty="0" smtClean="0">
                        <a:latin typeface="Cambria Math" panose="02040503050406030204" pitchFamily="18" charset="0"/>
                      </a:rPr>
                      <m:t>𝑂</m:t>
                    </m:r>
                    <m:d>
                      <m:dPr>
                        <m:ctrlPr>
                          <a:rPr lang="en-US" sz="2400" i="1" dirty="0" smtClean="0">
                            <a:latin typeface="Cambria Math" panose="02040503050406030204" pitchFamily="18" charset="0"/>
                          </a:rPr>
                        </m:ctrlPr>
                      </m:dPr>
                      <m:e>
                        <m:r>
                          <a:rPr lang="en-US" sz="2400" i="1" dirty="0" err="1">
                            <a:latin typeface="Cambria Math" panose="02040503050406030204" pitchFamily="18" charset="0"/>
                          </a:rPr>
                          <m:t>𝑏</m:t>
                        </m:r>
                        <m:r>
                          <a:rPr lang="en-US" sz="2400" i="1" baseline="30000" dirty="0" err="1">
                            <a:latin typeface="Cambria Math" panose="02040503050406030204" pitchFamily="18" charset="0"/>
                          </a:rPr>
                          <m:t>𝑚</m:t>
                        </m:r>
                      </m:e>
                    </m:d>
                  </m:oMath>
                </a14:m>
                <a:br>
                  <a:rPr lang="en-US" sz="2400" i="1" dirty="0"/>
                </a:br>
                <a:r>
                  <a:rPr lang="en-US" sz="2400" dirty="0"/>
                  <a:t>Terrible compared to BFS if </a:t>
                </a:r>
                <a14:m>
                  <m:oMath xmlns:m="http://schemas.openxmlformats.org/officeDocument/2006/math">
                    <m:r>
                      <a:rPr lang="en-US" sz="2400" b="0" i="1" smtClean="0">
                        <a:latin typeface="Cambria Math" panose="02040503050406030204" pitchFamily="18" charset="0"/>
                      </a:rPr>
                      <m:t>𝑚</m:t>
                    </m:r>
                    <m:r>
                      <a:rPr lang="en-US" sz="2400" b="0" i="1" smtClean="0">
                        <a:latin typeface="Cambria Math" panose="02040503050406030204" pitchFamily="18" charset="0"/>
                      </a:rPr>
                      <m:t>≫</m:t>
                    </m:r>
                    <m:r>
                      <a:rPr lang="en-US" sz="2400" b="0" i="1" smtClean="0">
                        <a:latin typeface="Cambria Math" panose="02040503050406030204" pitchFamily="18" charset="0"/>
                      </a:rPr>
                      <m:t>𝑑</m:t>
                    </m:r>
                    <m:r>
                      <a:rPr lang="en-US" sz="2400" b="0" i="1" smtClean="0">
                        <a:latin typeface="Cambria Math" panose="02040503050406030204" pitchFamily="18" charset="0"/>
                      </a:rPr>
                      <m:t>.</m:t>
                    </m:r>
                  </m:oMath>
                </a14:m>
                <a:endParaRPr lang="en-US" sz="2400" dirty="0"/>
              </a:p>
              <a:p>
                <a:pPr lvl="1">
                  <a:buNone/>
                </a:pPr>
                <a:endParaRPr lang="en-US" sz="2800" b="1" dirty="0">
                  <a:solidFill>
                    <a:srgbClr val="FF0000"/>
                  </a:solidFill>
                </a:endParaRPr>
              </a:p>
              <a:p>
                <a:r>
                  <a:rPr lang="en-US" sz="2800" b="1" dirty="0">
                    <a:solidFill>
                      <a:srgbClr val="FF0000"/>
                    </a:solidFill>
                  </a:rPr>
                  <a:t>Space?</a:t>
                </a:r>
                <a:r>
                  <a:rPr lang="en-US" sz="2800" dirty="0">
                    <a:solidFill>
                      <a:srgbClr val="FF0000"/>
                    </a:solidFill>
                  </a:rPr>
                  <a:t> </a:t>
                </a:r>
              </a:p>
              <a:p>
                <a:pPr lvl="1">
                  <a:buNone/>
                </a:pPr>
                <a14:m>
                  <m:oMath xmlns:m="http://schemas.openxmlformats.org/officeDocument/2006/math">
                    <m:r>
                      <a:rPr lang="en-US" sz="2400" i="1" dirty="0" smtClean="0">
                        <a:latin typeface="Cambria Math" panose="02040503050406030204" pitchFamily="18" charset="0"/>
                      </a:rPr>
                      <m:t>𝑂</m:t>
                    </m:r>
                    <m:d>
                      <m:dPr>
                        <m:ctrlPr>
                          <a:rPr lang="en-US" sz="2400" i="1" dirty="0" smtClean="0">
                            <a:latin typeface="Cambria Math" panose="02040503050406030204" pitchFamily="18" charset="0"/>
                          </a:rPr>
                        </m:ctrlPr>
                      </m:dPr>
                      <m:e>
                        <m:r>
                          <a:rPr lang="en-US" sz="2400" i="1" dirty="0" err="1">
                            <a:latin typeface="Cambria Math" panose="02040503050406030204" pitchFamily="18" charset="0"/>
                          </a:rPr>
                          <m:t>𝑏𝑚</m:t>
                        </m:r>
                      </m:e>
                    </m:d>
                  </m:oMath>
                </a14:m>
                <a:r>
                  <a:rPr lang="en-US" sz="2400" dirty="0"/>
                  <a:t> </a:t>
                </a:r>
                <a:r>
                  <a:rPr lang="en-US" sz="2400" dirty="0">
                    <a:sym typeface="Wingdings" panose="05000000000000000000" pitchFamily="2" charset="2"/>
                  </a:rPr>
                  <a:t>is</a:t>
                </a:r>
                <a:r>
                  <a:rPr lang="en-US" sz="2400" dirty="0"/>
                  <a:t> </a:t>
                </a:r>
                <a:r>
                  <a:rPr lang="en-US" sz="2400" b="1" dirty="0">
                    <a:solidFill>
                      <a:srgbClr val="FF0000"/>
                    </a:solidFill>
                  </a:rPr>
                  <a:t>linear in max. tree depth </a:t>
                </a:r>
                <a14:m>
                  <m:oMath xmlns:m="http://schemas.openxmlformats.org/officeDocument/2006/math">
                    <m:r>
                      <a:rPr lang="en-US" sz="2400" b="1" i="1" dirty="0" smtClean="0">
                        <a:solidFill>
                          <a:srgbClr val="FF0000"/>
                        </a:solidFill>
                        <a:latin typeface="Cambria Math" panose="02040503050406030204" pitchFamily="18" charset="0"/>
                      </a:rPr>
                      <m:t>𝒎</m:t>
                    </m:r>
                  </m:oMath>
                </a14:m>
                <a:r>
                  <a:rPr lang="en-US" sz="2400" b="1" dirty="0">
                    <a:solidFill>
                      <a:srgbClr val="FF0000"/>
                    </a:solidFill>
                  </a:rPr>
                  <a:t> </a:t>
                </a:r>
                <a:r>
                  <a:rPr lang="en-US" sz="2400" dirty="0"/>
                  <a:t>which is very good but only achieved if </a:t>
                </a:r>
                <a:r>
                  <a:rPr lang="en-US" sz="2400" b="1" dirty="0">
                    <a:solidFill>
                      <a:srgbClr val="FF0000"/>
                    </a:solidFill>
                  </a:rPr>
                  <a:t>no reached data structure and memory management</a:t>
                </a:r>
                <a:r>
                  <a:rPr lang="en-US" sz="2400" dirty="0">
                    <a:solidFill>
                      <a:srgbClr val="FF0000"/>
                    </a:solidFill>
                  </a:rPr>
                  <a:t> </a:t>
                </a:r>
                <a:r>
                  <a:rPr lang="en-US" sz="2400" dirty="0"/>
                  <a:t>is used! </a:t>
                </a:r>
              </a:p>
              <a:p>
                <a:pPr lvl="1">
                  <a:buNone/>
                </a:pPr>
                <a:r>
                  <a:rPr lang="en-US" sz="2400" dirty="0"/>
                  <a:t>Cycles can be broken but redundant paths cannot be checked.</a:t>
                </a:r>
              </a:p>
            </p:txBody>
          </p:sp>
        </mc:Choice>
        <mc:Fallback xmlns="">
          <p:sp>
            <p:nvSpPr>
              <p:cNvPr id="45059" name="Rectangle 3"/>
              <p:cNvSpPr>
                <a:spLocks noGrp="1" noRot="1" noChangeAspect="1" noMove="1" noResize="1" noEditPoints="1" noAdjustHandles="1" noChangeArrowheads="1" noChangeShapeType="1" noTextEdit="1"/>
              </p:cNvSpPr>
              <p:nvPr>
                <p:ph idx="1"/>
              </p:nvPr>
            </p:nvSpPr>
            <p:spPr>
              <a:xfrm>
                <a:off x="628650" y="1825625"/>
                <a:ext cx="8210550" cy="4351338"/>
              </a:xfrm>
              <a:blipFill>
                <a:blip r:embed="rId3"/>
                <a:stretch>
                  <a:fillRect l="-817" t="-2801" b="-1261"/>
                </a:stretch>
              </a:blipFill>
            </p:spPr>
            <p:txBody>
              <a:bodyPr/>
              <a:lstStyle/>
              <a:p>
                <a:r>
                  <a:rPr lang="en-US">
                    <a:noFill/>
                  </a:rPr>
                  <a:t> </a:t>
                </a:r>
              </a:p>
            </p:txBody>
          </p:sp>
        </mc:Fallback>
      </mc:AlternateContent>
      <p:sp>
        <p:nvSpPr>
          <p:cNvPr id="4" name="Rectangle 3">
            <a:extLst>
              <a:ext uri="{FF2B5EF4-FFF2-40B4-BE49-F238E27FC236}">
                <a16:creationId xmlns:a16="http://schemas.microsoft.com/office/drawing/2014/main" id="{5DA9A586-3F8B-4C31-86AD-ABA463DF2FCF}"/>
              </a:ext>
            </a:extLst>
          </p:cNvPr>
          <p:cNvSpPr/>
          <p:nvPr/>
        </p:nvSpPr>
        <p:spPr>
          <a:xfrm>
            <a:off x="6026770" y="3081212"/>
            <a:ext cx="2514600" cy="695575"/>
          </a:xfrm>
          <a:prstGeom prst="rect">
            <a:avLst/>
          </a:prstGeom>
        </p:spPr>
        <p:style>
          <a:lnRef idx="2">
            <a:schemeClr val="accent3">
              <a:shade val="50000"/>
            </a:schemeClr>
          </a:lnRef>
          <a:fillRef idx="1">
            <a:schemeClr val="accent3"/>
          </a:fillRef>
          <a:effectRef idx="0">
            <a:schemeClr val="accent3"/>
          </a:effectRef>
          <a:fontRef idx="minor">
            <a:schemeClr val="lt1"/>
          </a:fontRef>
        </p:style>
        <p:txBody>
          <a:bodyPr wrap="square">
            <a:spAutoFit/>
          </a:bodyPr>
          <a:lstStyle/>
          <a:p>
            <a:pPr>
              <a:lnSpc>
                <a:spcPct val="90000"/>
              </a:lnSpc>
            </a:pPr>
            <a:r>
              <a:rPr lang="en-US" sz="1400" i="1" dirty="0"/>
              <a:t>d: </a:t>
            </a:r>
            <a:r>
              <a:rPr lang="en-US" sz="1400" dirty="0"/>
              <a:t>depth of the optimal solution</a:t>
            </a:r>
          </a:p>
          <a:p>
            <a:pPr>
              <a:lnSpc>
                <a:spcPct val="90000"/>
              </a:lnSpc>
            </a:pPr>
            <a:r>
              <a:rPr lang="en-US" sz="1400" i="1" dirty="0"/>
              <a:t>m: </a:t>
            </a:r>
            <a:r>
              <a:rPr lang="en-US" sz="1400" dirty="0"/>
              <a:t>max. depth of tree</a:t>
            </a:r>
          </a:p>
          <a:p>
            <a:r>
              <a:rPr lang="en-US" sz="1400" i="1" dirty="0"/>
              <a:t>b:</a:t>
            </a:r>
            <a:r>
              <a:rPr lang="en-US" sz="1400" dirty="0"/>
              <a:t> maximum branching factor</a:t>
            </a:r>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7106" name="Rectangle 2"/>
          <p:cNvSpPr>
            <a:spLocks noGrp="1" noChangeArrowheads="1"/>
          </p:cNvSpPr>
          <p:nvPr>
            <p:ph type="title"/>
          </p:nvPr>
        </p:nvSpPr>
        <p:spPr/>
        <p:txBody>
          <a:bodyPr/>
          <a:lstStyle/>
          <a:p>
            <a:r>
              <a:rPr lang="en-US" dirty="0"/>
              <a:t>Iterative Deepening Search (IDS)</a:t>
            </a:r>
          </a:p>
        </p:txBody>
      </p:sp>
      <p:sp>
        <p:nvSpPr>
          <p:cNvPr id="7" name="Content Placeholder 6"/>
          <p:cNvSpPr>
            <a:spLocks noGrp="1"/>
          </p:cNvSpPr>
          <p:nvPr>
            <p:ph idx="1"/>
          </p:nvPr>
        </p:nvSpPr>
        <p:spPr>
          <a:xfrm>
            <a:off x="628650" y="1825625"/>
            <a:ext cx="7886700" cy="2060575"/>
          </a:xfrm>
        </p:spPr>
        <p:txBody>
          <a:bodyPr>
            <a:normAutofit/>
          </a:bodyPr>
          <a:lstStyle/>
          <a:p>
            <a:pPr marL="0" indent="0">
              <a:buNone/>
            </a:pPr>
            <a:r>
              <a:rPr lang="en-US" dirty="0"/>
              <a:t>Can we</a:t>
            </a:r>
          </a:p>
          <a:p>
            <a:pPr lvl="1"/>
            <a:r>
              <a:rPr lang="en-US" b="1" dirty="0"/>
              <a:t>get DFS’s good memory footprint, </a:t>
            </a:r>
          </a:p>
          <a:p>
            <a:pPr lvl="1"/>
            <a:r>
              <a:rPr lang="en-US" b="1" dirty="0"/>
              <a:t>avoid infinite cycles, and</a:t>
            </a:r>
          </a:p>
          <a:p>
            <a:pPr lvl="1"/>
            <a:r>
              <a:rPr lang="en-US" b="1" dirty="0"/>
              <a:t>preserve BFS’s optimality guaranty?</a:t>
            </a:r>
          </a:p>
          <a:p>
            <a:pPr marL="0" indent="0">
              <a:buNone/>
            </a:pPr>
            <a:endParaRPr lang="en-US" dirty="0"/>
          </a:p>
          <a:p>
            <a:pPr marL="0" indent="0">
              <a:buNone/>
            </a:pPr>
            <a:r>
              <a:rPr lang="en-US" dirty="0"/>
              <a:t>Use depth-restricted DFS and gradually increase the depth.</a:t>
            </a:r>
          </a:p>
          <a:p>
            <a:pPr marL="971550" lvl="1" indent="-514350">
              <a:buFont typeface="+mj-lt"/>
              <a:buAutoNum type="arabicPeriod"/>
            </a:pPr>
            <a:endParaRPr lang="en-US" dirty="0"/>
          </a:p>
        </p:txBody>
      </p:sp>
      <p:sp>
        <p:nvSpPr>
          <p:cNvPr id="4" name="TextBox 3">
            <a:extLst>
              <a:ext uri="{FF2B5EF4-FFF2-40B4-BE49-F238E27FC236}">
                <a16:creationId xmlns:a16="http://schemas.microsoft.com/office/drawing/2014/main" id="{5153B71C-A962-1144-F70E-DC5EA6342430}"/>
              </a:ext>
            </a:extLst>
          </p:cNvPr>
          <p:cNvSpPr txBox="1"/>
          <p:nvPr/>
        </p:nvSpPr>
        <p:spPr>
          <a:xfrm>
            <a:off x="1219200" y="4419600"/>
            <a:ext cx="6248400" cy="1477328"/>
          </a:xfrm>
          <a:prstGeom prst="rect">
            <a:avLst/>
          </a:prstGeom>
        </p:spPr>
        <p:style>
          <a:lnRef idx="2">
            <a:schemeClr val="accent2"/>
          </a:lnRef>
          <a:fillRef idx="1">
            <a:schemeClr val="lt1"/>
          </a:fillRef>
          <a:effectRef idx="0">
            <a:schemeClr val="accent2"/>
          </a:effectRef>
          <a:fontRef idx="minor">
            <a:schemeClr val="dk1"/>
          </a:fontRef>
        </p:style>
        <p:txBody>
          <a:bodyPr wrap="square">
            <a:spAutoFit/>
          </a:bodyPr>
          <a:lstStyle/>
          <a:p>
            <a:pPr marL="514350" indent="-514350">
              <a:buFont typeface="+mj-lt"/>
              <a:buAutoNum type="arabicPeriod"/>
            </a:pPr>
            <a:r>
              <a:rPr lang="en-US" dirty="0"/>
              <a:t>Check if the root node is the goal. </a:t>
            </a:r>
          </a:p>
          <a:p>
            <a:pPr marL="514350" indent="-514350">
              <a:buFont typeface="+mj-lt"/>
              <a:buAutoNum type="arabicPeriod"/>
            </a:pPr>
            <a:r>
              <a:rPr lang="en-US" dirty="0"/>
              <a:t>Do a DFS searching for a path of length 1</a:t>
            </a:r>
          </a:p>
          <a:p>
            <a:pPr marL="514350" indent="-514350">
              <a:buFont typeface="+mj-lt"/>
              <a:buAutoNum type="arabicPeriod"/>
            </a:pPr>
            <a:r>
              <a:rPr lang="en-US" dirty="0"/>
              <a:t>If goal not found, do a DFS searching for a path of length 2</a:t>
            </a:r>
          </a:p>
          <a:p>
            <a:pPr marL="514350" indent="-514350">
              <a:buFont typeface="+mj-lt"/>
              <a:buAutoNum type="arabicPeriod"/>
            </a:pPr>
            <a:r>
              <a:rPr lang="en-US" dirty="0"/>
              <a:t>If goal not found, do a DFS searching for a path of length 3</a:t>
            </a:r>
          </a:p>
          <a:p>
            <a:pPr marL="514350" indent="-514350">
              <a:buFont typeface="+mj-lt"/>
              <a:buAutoNum type="arabicPeriod"/>
            </a:pPr>
            <a:r>
              <a:rPr lang="en-US" dirty="0"/>
              <a:t>…</a:t>
            </a:r>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8130" name="Rectangle 2"/>
          <p:cNvSpPr>
            <a:spLocks noGrp="1" noChangeArrowheads="1"/>
          </p:cNvSpPr>
          <p:nvPr>
            <p:ph type="title"/>
          </p:nvPr>
        </p:nvSpPr>
        <p:spPr>
          <a:xfrm>
            <a:off x="628650" y="304800"/>
            <a:ext cx="1809750" cy="2225674"/>
          </a:xfrm>
        </p:spPr>
        <p:txBody>
          <a:bodyPr>
            <a:noAutofit/>
          </a:bodyPr>
          <a:lstStyle/>
          <a:p>
            <a:r>
              <a:rPr lang="en-US" sz="2800" dirty="0"/>
              <a:t>Iterative Deepening Search (IDS)</a:t>
            </a:r>
          </a:p>
        </p:txBody>
      </p:sp>
      <p:pic>
        <p:nvPicPr>
          <p:cNvPr id="2" name="Picture 1">
            <a:extLst>
              <a:ext uri="{FF2B5EF4-FFF2-40B4-BE49-F238E27FC236}">
                <a16:creationId xmlns:a16="http://schemas.microsoft.com/office/drawing/2014/main" id="{9A793F5F-7E17-4BCF-BDFC-AD093FF0BEC5}"/>
              </a:ext>
            </a:extLst>
          </p:cNvPr>
          <p:cNvPicPr>
            <a:picLocks noChangeAspect="1"/>
          </p:cNvPicPr>
          <p:nvPr/>
        </p:nvPicPr>
        <p:blipFill>
          <a:blip r:embed="rId3"/>
          <a:stretch>
            <a:fillRect/>
          </a:stretch>
        </p:blipFill>
        <p:spPr>
          <a:xfrm>
            <a:off x="2329211" y="411512"/>
            <a:ext cx="6838950" cy="6294088"/>
          </a:xfrm>
          <a:prstGeom prst="rect">
            <a:avLst/>
          </a:prstGeom>
        </p:spPr>
      </p:pic>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AB0CA42-2D1B-4312-B658-3378B77A7F73}"/>
              </a:ext>
            </a:extLst>
          </p:cNvPr>
          <p:cNvSpPr>
            <a:spLocks noGrp="1"/>
          </p:cNvSpPr>
          <p:nvPr>
            <p:ph type="title"/>
          </p:nvPr>
        </p:nvSpPr>
        <p:spPr/>
        <p:txBody>
          <a:bodyPr/>
          <a:lstStyle/>
          <a:p>
            <a:r>
              <a:rPr lang="en-US" dirty="0"/>
              <a:t>Implementation: IDS</a:t>
            </a:r>
          </a:p>
        </p:txBody>
      </p:sp>
      <p:pic>
        <p:nvPicPr>
          <p:cNvPr id="7" name="Picture 6">
            <a:extLst>
              <a:ext uri="{FF2B5EF4-FFF2-40B4-BE49-F238E27FC236}">
                <a16:creationId xmlns:a16="http://schemas.microsoft.com/office/drawing/2014/main" id="{A54AE572-FD20-4FAF-994D-B9C655BBAB90}"/>
              </a:ext>
            </a:extLst>
          </p:cNvPr>
          <p:cNvPicPr>
            <a:picLocks noChangeAspect="1"/>
          </p:cNvPicPr>
          <p:nvPr/>
        </p:nvPicPr>
        <p:blipFill>
          <a:blip r:embed="rId2"/>
          <a:stretch>
            <a:fillRect/>
          </a:stretch>
        </p:blipFill>
        <p:spPr>
          <a:xfrm>
            <a:off x="704850" y="1676400"/>
            <a:ext cx="7524750" cy="1239829"/>
          </a:xfrm>
          <a:prstGeom prst="rect">
            <a:avLst/>
          </a:prstGeom>
        </p:spPr>
        <p:style>
          <a:lnRef idx="2">
            <a:schemeClr val="accent2"/>
          </a:lnRef>
          <a:fillRef idx="1">
            <a:schemeClr val="lt1"/>
          </a:fillRef>
          <a:effectRef idx="0">
            <a:schemeClr val="accent2"/>
          </a:effectRef>
          <a:fontRef idx="minor">
            <a:schemeClr val="dk1"/>
          </a:fontRef>
        </p:style>
      </p:pic>
      <p:pic>
        <p:nvPicPr>
          <p:cNvPr id="4" name="Picture 3">
            <a:extLst>
              <a:ext uri="{FF2B5EF4-FFF2-40B4-BE49-F238E27FC236}">
                <a16:creationId xmlns:a16="http://schemas.microsoft.com/office/drawing/2014/main" id="{27AFAF2B-AB58-4D99-AE6F-5F9B6AE76714}"/>
              </a:ext>
            </a:extLst>
          </p:cNvPr>
          <p:cNvPicPr>
            <a:picLocks noChangeAspect="1"/>
          </p:cNvPicPr>
          <p:nvPr/>
        </p:nvPicPr>
        <p:blipFill>
          <a:blip r:embed="rId3"/>
          <a:stretch>
            <a:fillRect/>
          </a:stretch>
        </p:blipFill>
        <p:spPr>
          <a:xfrm>
            <a:off x="678831" y="3124200"/>
            <a:ext cx="7524750" cy="3090812"/>
          </a:xfrm>
          <a:prstGeom prst="rect">
            <a:avLst/>
          </a:prstGeom>
        </p:spPr>
        <p:style>
          <a:lnRef idx="2">
            <a:schemeClr val="accent2"/>
          </a:lnRef>
          <a:fillRef idx="1">
            <a:schemeClr val="lt1"/>
          </a:fillRef>
          <a:effectRef idx="0">
            <a:schemeClr val="accent2"/>
          </a:effectRef>
          <a:fontRef idx="minor">
            <a:schemeClr val="dk1"/>
          </a:fontRef>
        </p:style>
      </p:pic>
      <p:sp>
        <p:nvSpPr>
          <p:cNvPr id="5" name="TextBox 4">
            <a:extLst>
              <a:ext uri="{FF2B5EF4-FFF2-40B4-BE49-F238E27FC236}">
                <a16:creationId xmlns:a16="http://schemas.microsoft.com/office/drawing/2014/main" id="{9E9F1C81-A1AA-40E7-9D77-FA811D7A87F8}"/>
              </a:ext>
            </a:extLst>
          </p:cNvPr>
          <p:cNvSpPr txBox="1"/>
          <p:nvPr/>
        </p:nvSpPr>
        <p:spPr>
          <a:xfrm>
            <a:off x="628650" y="6165471"/>
            <a:ext cx="4572000" cy="338554"/>
          </a:xfrm>
          <a:prstGeom prst="rect">
            <a:avLst/>
          </a:prstGeom>
          <a:noFill/>
        </p:spPr>
        <p:txBody>
          <a:bodyPr wrap="square">
            <a:spAutoFit/>
          </a:bodyPr>
          <a:lstStyle/>
          <a:p>
            <a:r>
              <a:rPr lang="en-US" sz="1600" dirty="0"/>
              <a:t>See BFS for function EXPAND.</a:t>
            </a:r>
          </a:p>
        </p:txBody>
      </p:sp>
    </p:spTree>
    <p:extLst>
      <p:ext uri="{BB962C8B-B14F-4D97-AF65-F5344CB8AC3E}">
        <p14:creationId xmlns:p14="http://schemas.microsoft.com/office/powerpoint/2010/main" val="2318871399"/>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3250" name="Rectangle 2"/>
          <p:cNvSpPr>
            <a:spLocks noGrp="1" noChangeArrowheads="1"/>
          </p:cNvSpPr>
          <p:nvPr>
            <p:ph type="title"/>
          </p:nvPr>
        </p:nvSpPr>
        <p:spPr/>
        <p:txBody>
          <a:bodyPr>
            <a:normAutofit/>
          </a:bodyPr>
          <a:lstStyle/>
          <a:p>
            <a:r>
              <a:rPr lang="en-US" dirty="0"/>
              <a:t>Properties of Iterative Deepening Search</a:t>
            </a:r>
          </a:p>
        </p:txBody>
      </p:sp>
      <mc:AlternateContent xmlns:mc="http://schemas.openxmlformats.org/markup-compatibility/2006" xmlns:a14="http://schemas.microsoft.com/office/drawing/2010/main">
        <mc:Choice Requires="a14">
          <p:sp>
            <p:nvSpPr>
              <p:cNvPr id="53251" name="Rectangle 3"/>
              <p:cNvSpPr>
                <a:spLocks noGrp="1" noChangeArrowheads="1"/>
              </p:cNvSpPr>
              <p:nvPr>
                <p:ph idx="1"/>
              </p:nvPr>
            </p:nvSpPr>
            <p:spPr>
              <a:xfrm>
                <a:off x="628650" y="1825625"/>
                <a:ext cx="7886700" cy="4498975"/>
              </a:xfrm>
            </p:spPr>
            <p:txBody>
              <a:bodyPr>
                <a:normAutofit fontScale="62500" lnSpcReduction="20000"/>
              </a:bodyPr>
              <a:lstStyle/>
              <a:p>
                <a:r>
                  <a:rPr lang="en-US" sz="3200" b="1" dirty="0">
                    <a:solidFill>
                      <a:srgbClr val="FF0000"/>
                    </a:solidFill>
                  </a:rPr>
                  <a:t>Complete?</a:t>
                </a:r>
              </a:p>
              <a:p>
                <a:pPr lvl="1">
                  <a:buNone/>
                </a:pPr>
                <a:r>
                  <a:rPr lang="en-US" sz="2400" dirty="0"/>
                  <a:t>Yes</a:t>
                </a:r>
              </a:p>
              <a:p>
                <a:endParaRPr lang="en-US" sz="3200" b="1" dirty="0">
                  <a:solidFill>
                    <a:srgbClr val="FF0000"/>
                  </a:solidFill>
                </a:endParaRPr>
              </a:p>
              <a:p>
                <a:r>
                  <a:rPr lang="en-US" sz="3200" b="1" dirty="0">
                    <a:solidFill>
                      <a:srgbClr val="FF0000"/>
                    </a:solidFill>
                  </a:rPr>
                  <a:t>Optimal?</a:t>
                </a:r>
                <a:endParaRPr lang="en-US" sz="3200" dirty="0">
                  <a:solidFill>
                    <a:srgbClr val="FF0000"/>
                  </a:solidFill>
                </a:endParaRPr>
              </a:p>
              <a:p>
                <a:pPr lvl="1">
                  <a:buNone/>
                </a:pPr>
                <a:r>
                  <a:rPr lang="en-US" sz="2400" b="1" dirty="0"/>
                  <a:t>Yes</a:t>
                </a:r>
                <a:r>
                  <a:rPr lang="en-US" sz="2400" dirty="0"/>
                  <a:t>, if step cost = 1 (like BFS)</a:t>
                </a:r>
              </a:p>
              <a:p>
                <a:endParaRPr lang="en-US" sz="3200" b="1" dirty="0">
                  <a:solidFill>
                    <a:srgbClr val="FF0000"/>
                  </a:solidFill>
                </a:endParaRPr>
              </a:p>
              <a:p>
                <a:r>
                  <a:rPr lang="en-US" sz="3200" b="1" dirty="0">
                    <a:solidFill>
                      <a:srgbClr val="FF0000"/>
                    </a:solidFill>
                  </a:rPr>
                  <a:t>Time? </a:t>
                </a:r>
              </a:p>
              <a:p>
                <a:pPr marL="342900" lvl="1" indent="0">
                  <a:buNone/>
                </a:pPr>
                <a:r>
                  <a:rPr lang="en-US" sz="2300" dirty="0"/>
                  <a:t>Consists of rebuilding trees up to </a:t>
                </a:r>
                <a14:m>
                  <m:oMath xmlns:m="http://schemas.openxmlformats.org/officeDocument/2006/math">
                    <m:r>
                      <a:rPr lang="en-US" sz="2300" i="1" dirty="0" smtClean="0">
                        <a:latin typeface="Cambria Math" panose="02040503050406030204" pitchFamily="18" charset="0"/>
                      </a:rPr>
                      <m:t>𝑑</m:t>
                    </m:r>
                  </m:oMath>
                </a14:m>
                <a:r>
                  <a:rPr lang="en-US" sz="2300" dirty="0"/>
                  <a:t> times</a:t>
                </a:r>
                <a:endParaRPr lang="en-US" sz="2300" b="1" dirty="0">
                  <a:solidFill>
                    <a:srgbClr val="CC0099"/>
                  </a:solidFill>
                </a:endParaRPr>
              </a:p>
              <a:p>
                <a:pPr lvl="1">
                  <a:buNone/>
                </a:pPr>
                <a14:m>
                  <m:oMath xmlns:m="http://schemas.openxmlformats.org/officeDocument/2006/math">
                    <m:r>
                      <a:rPr lang="en-US" sz="2300" i="1" dirty="0" smtClean="0">
                        <a:latin typeface="Cambria Math" panose="02040503050406030204" pitchFamily="18" charset="0"/>
                      </a:rPr>
                      <m:t>𝑑</m:t>
                    </m:r>
                    <m:r>
                      <a:rPr lang="en-US" sz="2300" i="1" dirty="0">
                        <a:latin typeface="Cambria Math" panose="02040503050406030204" pitchFamily="18" charset="0"/>
                      </a:rPr>
                      <m:t>𝑏</m:t>
                    </m:r>
                    <m:r>
                      <a:rPr lang="en-US" sz="2300" i="1" dirty="0">
                        <a:latin typeface="Cambria Math" panose="02040503050406030204" pitchFamily="18" charset="0"/>
                      </a:rPr>
                      <m:t> + (</m:t>
                    </m:r>
                    <m:r>
                      <a:rPr lang="en-US" sz="2300" i="1" dirty="0">
                        <a:latin typeface="Cambria Math" panose="02040503050406030204" pitchFamily="18" charset="0"/>
                      </a:rPr>
                      <m:t>𝑑</m:t>
                    </m:r>
                    <m:r>
                      <a:rPr lang="en-US" sz="2300" i="1" dirty="0">
                        <a:latin typeface="Cambria Math" panose="02040503050406030204" pitchFamily="18" charset="0"/>
                      </a:rPr>
                      <m:t>−1)</m:t>
                    </m:r>
                    <m:r>
                      <a:rPr lang="en-US" sz="2300" i="1" dirty="0">
                        <a:latin typeface="Cambria Math" panose="02040503050406030204" pitchFamily="18" charset="0"/>
                      </a:rPr>
                      <m:t>𝑏</m:t>
                    </m:r>
                    <m:r>
                      <a:rPr lang="en-US" sz="2300" i="1" baseline="30000" dirty="0">
                        <a:latin typeface="Cambria Math" panose="02040503050406030204" pitchFamily="18" charset="0"/>
                      </a:rPr>
                      <m:t>2</m:t>
                    </m:r>
                    <m:r>
                      <a:rPr lang="en-US" sz="2300" i="1" dirty="0">
                        <a:latin typeface="Cambria Math" panose="02040503050406030204" pitchFamily="18" charset="0"/>
                      </a:rPr>
                      <m:t> + … + </m:t>
                    </m:r>
                    <m:sSup>
                      <m:sSupPr>
                        <m:ctrlPr>
                          <a:rPr lang="en-US" sz="2300" b="0" i="1" dirty="0" smtClean="0">
                            <a:latin typeface="Cambria Math" panose="02040503050406030204" pitchFamily="18" charset="0"/>
                          </a:rPr>
                        </m:ctrlPr>
                      </m:sSupPr>
                      <m:e>
                        <m:r>
                          <a:rPr lang="en-US" sz="2300" b="0" i="1" dirty="0" smtClean="0">
                            <a:latin typeface="Cambria Math" panose="02040503050406030204" pitchFamily="18" charset="0"/>
                          </a:rPr>
                          <m:t>1</m:t>
                        </m:r>
                        <m:r>
                          <a:rPr lang="en-US" sz="2300" i="1" dirty="0">
                            <a:latin typeface="Cambria Math" panose="02040503050406030204" pitchFamily="18" charset="0"/>
                          </a:rPr>
                          <m:t>𝑏</m:t>
                        </m:r>
                      </m:e>
                      <m:sup>
                        <m:r>
                          <a:rPr lang="en-US" sz="2300" b="0" i="1" dirty="0" smtClean="0">
                            <a:latin typeface="Cambria Math" panose="02040503050406030204" pitchFamily="18" charset="0"/>
                          </a:rPr>
                          <m:t>𝑑</m:t>
                        </m:r>
                      </m:sup>
                    </m:sSup>
                    <m:r>
                      <a:rPr lang="en-US" sz="2300" i="1" dirty="0">
                        <a:latin typeface="Cambria Math" panose="02040503050406030204" pitchFamily="18" charset="0"/>
                      </a:rPr>
                      <m:t> = </m:t>
                    </m:r>
                    <m:r>
                      <a:rPr lang="en-US" sz="2300" i="1" dirty="0">
                        <a:latin typeface="Cambria Math" panose="02040503050406030204" pitchFamily="18" charset="0"/>
                      </a:rPr>
                      <m:t>𝑂</m:t>
                    </m:r>
                    <m:r>
                      <a:rPr lang="en-US" sz="2300" i="1" dirty="0">
                        <a:latin typeface="Cambria Math" panose="02040503050406030204" pitchFamily="18" charset="0"/>
                      </a:rPr>
                      <m:t>(</m:t>
                    </m:r>
                    <m:sSup>
                      <m:sSupPr>
                        <m:ctrlPr>
                          <a:rPr lang="en-US" sz="2300" b="0" i="1" dirty="0" smtClean="0">
                            <a:latin typeface="Cambria Math" panose="02040503050406030204" pitchFamily="18" charset="0"/>
                          </a:rPr>
                        </m:ctrlPr>
                      </m:sSupPr>
                      <m:e>
                        <m:r>
                          <a:rPr lang="en-US" sz="2300" i="1" dirty="0">
                            <a:latin typeface="Cambria Math" panose="02040503050406030204" pitchFamily="18" charset="0"/>
                          </a:rPr>
                          <m:t>𝑏</m:t>
                        </m:r>
                      </m:e>
                      <m:sup>
                        <m:r>
                          <a:rPr lang="en-US" sz="2300" b="0" i="1" dirty="0" smtClean="0">
                            <a:latin typeface="Cambria Math" panose="02040503050406030204" pitchFamily="18" charset="0"/>
                          </a:rPr>
                          <m:t>𝑑</m:t>
                        </m:r>
                      </m:sup>
                    </m:sSup>
                    <m:r>
                      <a:rPr lang="en-US" sz="2300" i="1" dirty="0">
                        <a:latin typeface="Cambria Math" panose="02040503050406030204" pitchFamily="18" charset="0"/>
                      </a:rPr>
                      <m:t>)   </m:t>
                    </m:r>
                  </m:oMath>
                </a14:m>
                <a:r>
                  <a:rPr lang="en-US" sz="2300" dirty="0">
                    <a:sym typeface="Wingdings" panose="05000000000000000000" pitchFamily="2" charset="2"/>
                  </a:rPr>
                  <a:t></a:t>
                </a:r>
                <a:r>
                  <a:rPr lang="en-US" sz="2300" dirty="0"/>
                  <a:t>  Slower than BFS, but the same complexity class!</a:t>
                </a:r>
              </a:p>
              <a:p>
                <a:endParaRPr lang="en-US" sz="3200" b="1" dirty="0">
                  <a:solidFill>
                    <a:srgbClr val="CC0099"/>
                  </a:solidFill>
                </a:endParaRPr>
              </a:p>
              <a:p>
                <a:r>
                  <a:rPr lang="en-US" sz="3200" b="1" dirty="0">
                    <a:solidFill>
                      <a:srgbClr val="FF0000"/>
                    </a:solidFill>
                  </a:rPr>
                  <a:t>Space?</a:t>
                </a:r>
                <a:endParaRPr lang="en-US" sz="3200" dirty="0">
                  <a:solidFill>
                    <a:srgbClr val="FF0000"/>
                  </a:solidFill>
                </a:endParaRPr>
              </a:p>
              <a:p>
                <a:pPr lvl="1">
                  <a:buNone/>
                </a:pPr>
                <a:r>
                  <a:rPr lang="en-US" sz="2400" b="1" i="1" dirty="0"/>
                  <a:t>O</a:t>
                </a:r>
                <a:r>
                  <a:rPr lang="en-US" sz="2400" b="1" dirty="0"/>
                  <a:t>(</a:t>
                </a:r>
                <a:r>
                  <a:rPr lang="en-US" sz="2400" b="1" i="1" dirty="0"/>
                  <a:t>bd</a:t>
                </a:r>
                <a:r>
                  <a:rPr lang="en-US" sz="2400" b="1" dirty="0"/>
                  <a:t>) </a:t>
                </a:r>
                <a:r>
                  <a:rPr lang="en-US" sz="2400" b="1" dirty="0">
                    <a:sym typeface="Wingdings" panose="05000000000000000000" pitchFamily="2" charset="2"/>
                  </a:rPr>
                  <a:t> linear space. Even less than DFS since </a:t>
                </a:r>
                <a14:m>
                  <m:oMath xmlns:m="http://schemas.openxmlformats.org/officeDocument/2006/math">
                    <m:r>
                      <a:rPr lang="en-US" sz="2400" b="1" i="1" dirty="0" smtClean="0">
                        <a:latin typeface="Cambria Math" panose="02040503050406030204" pitchFamily="18" charset="0"/>
                        <a:sym typeface="Wingdings" panose="05000000000000000000" pitchFamily="2" charset="2"/>
                      </a:rPr>
                      <m:t>𝒎</m:t>
                    </m:r>
                    <m:r>
                      <a:rPr lang="en-US" sz="2400" b="1" i="1" dirty="0" smtClean="0">
                        <a:latin typeface="Cambria Math" panose="02040503050406030204" pitchFamily="18" charset="0"/>
                        <a:sym typeface="Wingdings" panose="05000000000000000000" pitchFamily="2" charset="2"/>
                      </a:rPr>
                      <m:t>≤</m:t>
                    </m:r>
                    <m:r>
                      <a:rPr lang="en-US" sz="2400" b="1" i="1" dirty="0" smtClean="0">
                        <a:latin typeface="Cambria Math" panose="02040503050406030204" pitchFamily="18" charset="0"/>
                        <a:sym typeface="Wingdings" panose="05000000000000000000" pitchFamily="2" charset="2"/>
                      </a:rPr>
                      <m:t>𝒅</m:t>
                    </m:r>
                  </m:oMath>
                </a14:m>
                <a:r>
                  <a:rPr lang="en-US" sz="2400" b="1" dirty="0">
                    <a:sym typeface="Wingdings" panose="05000000000000000000" pitchFamily="2" charset="2"/>
                  </a:rPr>
                  <a:t>. </a:t>
                </a:r>
                <a:r>
                  <a:rPr lang="en-US" sz="2400" dirty="0">
                    <a:sym typeface="Wingdings" panose="05000000000000000000" pitchFamily="2" charset="2"/>
                  </a:rPr>
                  <a:t>Cycles need to be handled by the depth-limited DFS implementation.</a:t>
                </a:r>
              </a:p>
              <a:p>
                <a:pPr>
                  <a:buNone/>
                </a:pPr>
                <a:endParaRPr lang="en-US" sz="2800" b="1" dirty="0"/>
              </a:p>
              <a:p>
                <a:pPr>
                  <a:buNone/>
                </a:pPr>
                <a:r>
                  <a:rPr lang="en-US" sz="2800" b="1" dirty="0"/>
                  <a:t>Note: </a:t>
                </a:r>
                <a:r>
                  <a:rPr lang="en-US" sz="2800" dirty="0"/>
                  <a:t>IDS produces the same result as BFS but trades </a:t>
                </a:r>
                <a:r>
                  <a:rPr lang="en-US" sz="2800" b="1" dirty="0">
                    <a:solidFill>
                      <a:srgbClr val="FF0000"/>
                    </a:solidFill>
                  </a:rPr>
                  <a:t>much better space complexity</a:t>
                </a:r>
                <a:r>
                  <a:rPr lang="en-US" sz="2800" b="1" dirty="0"/>
                  <a:t> </a:t>
                </a:r>
                <a:r>
                  <a:rPr lang="en-US" sz="2800" dirty="0"/>
                  <a:t>for worse run time.</a:t>
                </a:r>
              </a:p>
              <a:p>
                <a:pPr>
                  <a:buNone/>
                </a:pPr>
                <a:endParaRPr lang="en-US" sz="2700" dirty="0"/>
              </a:p>
            </p:txBody>
          </p:sp>
        </mc:Choice>
        <mc:Fallback xmlns="">
          <p:sp>
            <p:nvSpPr>
              <p:cNvPr id="53251" name="Rectangle 3"/>
              <p:cNvSpPr>
                <a:spLocks noGrp="1" noRot="1" noChangeAspect="1" noMove="1" noResize="1" noEditPoints="1" noAdjustHandles="1" noChangeArrowheads="1" noChangeShapeType="1" noTextEdit="1"/>
              </p:cNvSpPr>
              <p:nvPr>
                <p:ph idx="1"/>
              </p:nvPr>
            </p:nvSpPr>
            <p:spPr>
              <a:xfrm>
                <a:off x="628650" y="1825625"/>
                <a:ext cx="7886700" cy="4498975"/>
              </a:xfrm>
              <a:blipFill>
                <a:blip r:embed="rId3"/>
                <a:stretch>
                  <a:fillRect l="-696" t="-2436"/>
                </a:stretch>
              </a:blipFill>
            </p:spPr>
            <p:txBody>
              <a:bodyPr/>
              <a:lstStyle/>
              <a:p>
                <a:r>
                  <a:rPr lang="en-US">
                    <a:noFill/>
                  </a:rPr>
                  <a:t> </a:t>
                </a:r>
              </a:p>
            </p:txBody>
          </p:sp>
        </mc:Fallback>
      </mc:AlternateContent>
      <p:sp>
        <p:nvSpPr>
          <p:cNvPr id="4" name="Rectangle 3">
            <a:extLst>
              <a:ext uri="{FF2B5EF4-FFF2-40B4-BE49-F238E27FC236}">
                <a16:creationId xmlns:a16="http://schemas.microsoft.com/office/drawing/2014/main" id="{DD82E7D8-D9C8-4FA9-8F10-9C6E76D87354}"/>
              </a:ext>
            </a:extLst>
          </p:cNvPr>
          <p:cNvSpPr/>
          <p:nvPr/>
        </p:nvSpPr>
        <p:spPr>
          <a:xfrm>
            <a:off x="6000750" y="1877085"/>
            <a:ext cx="2514600" cy="695575"/>
          </a:xfrm>
          <a:prstGeom prst="rect">
            <a:avLst/>
          </a:prstGeom>
        </p:spPr>
        <p:style>
          <a:lnRef idx="2">
            <a:schemeClr val="accent3">
              <a:shade val="50000"/>
            </a:schemeClr>
          </a:lnRef>
          <a:fillRef idx="1">
            <a:schemeClr val="accent3"/>
          </a:fillRef>
          <a:effectRef idx="0">
            <a:schemeClr val="accent3"/>
          </a:effectRef>
          <a:fontRef idx="minor">
            <a:schemeClr val="lt1"/>
          </a:fontRef>
        </p:style>
        <p:txBody>
          <a:bodyPr wrap="square">
            <a:spAutoFit/>
          </a:bodyPr>
          <a:lstStyle/>
          <a:p>
            <a:pPr>
              <a:lnSpc>
                <a:spcPct val="90000"/>
              </a:lnSpc>
            </a:pPr>
            <a:r>
              <a:rPr lang="en-US" sz="1400" i="1" dirty="0"/>
              <a:t>d: </a:t>
            </a:r>
            <a:r>
              <a:rPr lang="en-US" sz="1400" dirty="0"/>
              <a:t>depth of the optimal solution</a:t>
            </a:r>
          </a:p>
          <a:p>
            <a:pPr>
              <a:lnSpc>
                <a:spcPct val="90000"/>
              </a:lnSpc>
            </a:pPr>
            <a:r>
              <a:rPr lang="en-US" sz="1400" i="1" dirty="0"/>
              <a:t>m: </a:t>
            </a:r>
            <a:r>
              <a:rPr lang="en-US" sz="1400" dirty="0"/>
              <a:t>max. depth of tree</a:t>
            </a:r>
          </a:p>
          <a:p>
            <a:r>
              <a:rPr lang="en-US" sz="1400" i="1" dirty="0"/>
              <a:t>b:</a:t>
            </a:r>
            <a:r>
              <a:rPr lang="en-US" sz="1400" dirty="0"/>
              <a:t> maximum branching factor</a:t>
            </a:r>
          </a:p>
        </p:txBody>
      </p:sp>
      <p:sp>
        <p:nvSpPr>
          <p:cNvPr id="5" name="Speech Bubble: Rectangle 4">
            <a:extLst>
              <a:ext uri="{FF2B5EF4-FFF2-40B4-BE49-F238E27FC236}">
                <a16:creationId xmlns:a16="http://schemas.microsoft.com/office/drawing/2014/main" id="{86D56D25-4B95-4AF3-B66F-F2FDD2B625A4}"/>
              </a:ext>
            </a:extLst>
          </p:cNvPr>
          <p:cNvSpPr/>
          <p:nvPr/>
        </p:nvSpPr>
        <p:spPr>
          <a:xfrm>
            <a:off x="3048000" y="6060281"/>
            <a:ext cx="2819400" cy="528637"/>
          </a:xfrm>
          <a:prstGeom prst="wedgeRectCallout">
            <a:avLst>
              <a:gd name="adj1" fmla="val 87654"/>
              <a:gd name="adj2" fmla="val -108363"/>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This makes IDS/DFS the workhorse of AI.</a:t>
            </a:r>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bg>
      <p:bgPr>
        <a:solidFill>
          <a:srgbClr val="000000"/>
        </a:solidFill>
        <a:effectLst/>
      </p:bgPr>
    </p:bg>
    <p:spTree>
      <p:nvGrpSpPr>
        <p:cNvPr id="1" name=""/>
        <p:cNvGrpSpPr/>
        <p:nvPr/>
      </p:nvGrpSpPr>
      <p:grpSpPr>
        <a:xfrm>
          <a:off x="0" y="0"/>
          <a:ext cx="0" cy="0"/>
          <a:chOff x="0" y="0"/>
          <a:chExt cx="0" cy="0"/>
        </a:xfrm>
      </p:grpSpPr>
      <p:sp>
        <p:nvSpPr>
          <p:cNvPr id="30" name="Rectangle 29">
            <a:extLst>
              <a:ext uri="{FF2B5EF4-FFF2-40B4-BE49-F238E27FC236}">
                <a16:creationId xmlns:a16="http://schemas.microsoft.com/office/drawing/2014/main" id="{71B2258F-86CA-4D4D-8270-BC05FCDEBFB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9144000" cy="6857999"/>
          </a:xfrm>
          <a:prstGeom prst="rect">
            <a:avLst/>
          </a:prstGeom>
          <a:solidFill>
            <a:srgbClr val="00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3" name="Picture 2" descr="Person holding a compass">
            <a:extLst>
              <a:ext uri="{FF2B5EF4-FFF2-40B4-BE49-F238E27FC236}">
                <a16:creationId xmlns:a16="http://schemas.microsoft.com/office/drawing/2014/main" id="{74C0B8C8-2D8F-4BA4-8D17-CB8357D3676D}"/>
              </a:ext>
            </a:extLst>
          </p:cNvPr>
          <p:cNvPicPr>
            <a:picLocks noChangeAspect="1"/>
          </p:cNvPicPr>
          <p:nvPr/>
        </p:nvPicPr>
        <p:blipFill rotWithShape="1">
          <a:blip r:embed="rId2" cstate="print">
            <a:alphaModFix/>
            <a:extLst>
              <a:ext uri="{28A0092B-C50C-407E-A947-70E740481C1C}">
                <a14:useLocalDpi xmlns:a14="http://schemas.microsoft.com/office/drawing/2010/main" val="0"/>
              </a:ext>
            </a:extLst>
          </a:blip>
          <a:srcRect l="280" r="10719" b="-2"/>
          <a:stretch/>
        </p:blipFill>
        <p:spPr>
          <a:xfrm>
            <a:off x="20" y="1"/>
            <a:ext cx="9143980" cy="6857999"/>
          </a:xfrm>
          <a:prstGeom prst="rect">
            <a:avLst/>
          </a:prstGeom>
        </p:spPr>
      </p:pic>
      <p:sp>
        <p:nvSpPr>
          <p:cNvPr id="7" name="Title 6">
            <a:extLst>
              <a:ext uri="{FF2B5EF4-FFF2-40B4-BE49-F238E27FC236}">
                <a16:creationId xmlns:a16="http://schemas.microsoft.com/office/drawing/2014/main" id="{7F94346C-F8A3-4492-9257-74C89F764643}"/>
              </a:ext>
            </a:extLst>
          </p:cNvPr>
          <p:cNvSpPr>
            <a:spLocks noGrp="1"/>
          </p:cNvSpPr>
          <p:nvPr>
            <p:ph type="title"/>
          </p:nvPr>
        </p:nvSpPr>
        <p:spPr>
          <a:xfrm>
            <a:off x="1066800" y="5638800"/>
            <a:ext cx="6858000" cy="858838"/>
          </a:xfrm>
        </p:spPr>
        <p:txBody>
          <a:bodyPr vert="horz" lIns="91440" tIns="45720" rIns="91440" bIns="45720" rtlCol="0" anchor="b">
            <a:normAutofit fontScale="90000"/>
          </a:bodyPr>
          <a:lstStyle/>
          <a:p>
            <a:pPr algn="ctr" defTabSz="914400"/>
            <a:r>
              <a:rPr lang="en-US" sz="6000" b="1" dirty="0">
                <a:solidFill>
                  <a:srgbClr val="FFFFFF"/>
                </a:solidFill>
              </a:rPr>
              <a:t>Informed Search</a:t>
            </a:r>
            <a:br>
              <a:rPr lang="en-US" sz="6000" b="1" dirty="0">
                <a:solidFill>
                  <a:srgbClr val="FFFFFF"/>
                </a:solidFill>
              </a:rPr>
            </a:br>
            <a:r>
              <a:rPr lang="en-US" sz="4400" dirty="0">
                <a:solidFill>
                  <a:srgbClr val="FFFFFF"/>
                </a:solidFill>
              </a:rPr>
              <a:t>Introduction</a:t>
            </a:r>
            <a:endParaRPr lang="en-US" sz="6000" dirty="0">
              <a:solidFill>
                <a:srgbClr val="FFFFFF"/>
              </a:solidFill>
            </a:endParaRPr>
          </a:p>
        </p:txBody>
      </p:sp>
    </p:spTree>
    <p:extLst>
      <p:ext uri="{BB962C8B-B14F-4D97-AF65-F5344CB8AC3E}">
        <p14:creationId xmlns:p14="http://schemas.microsoft.com/office/powerpoint/2010/main" val="1565501865"/>
      </p:ext>
    </p:extLst>
  </p:cSld>
  <p:clrMapOvr>
    <a:overrideClrMapping bg1="dk1" tx1="lt1" bg2="dk2" tx2="lt2" accent1="accent1" accent2="accent2" accent3="accent3" accent4="accent4" accent5="accent5" accent6="accent6" hlink="hlink" folHlink="folHlink"/>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Informed Search</a:t>
            </a: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628650" y="1825624"/>
                <a:ext cx="7886700" cy="4498975"/>
              </a:xfrm>
            </p:spPr>
            <p:txBody>
              <a:bodyPr>
                <a:normAutofit fontScale="92500" lnSpcReduction="10000"/>
              </a:bodyPr>
              <a:lstStyle/>
              <a:p>
                <a:pPr marL="0" indent="0">
                  <a:buNone/>
                </a:pPr>
                <a:r>
                  <a:rPr lang="en-US" dirty="0"/>
                  <a:t>AI search problems typically have a very large search space. We would like to improve efficiency by </a:t>
                </a:r>
                <a:r>
                  <a:rPr lang="en-US" b="1" dirty="0">
                    <a:solidFill>
                      <a:srgbClr val="FF0000"/>
                    </a:solidFill>
                  </a:rPr>
                  <a:t>expanding as few nodes as possible.</a:t>
                </a:r>
                <a:endParaRPr lang="en-US" dirty="0">
                  <a:solidFill>
                    <a:srgbClr val="FF0000"/>
                  </a:solidFill>
                </a:endParaRPr>
              </a:p>
              <a:p>
                <a:endParaRPr lang="en-US" dirty="0"/>
              </a:p>
              <a:p>
                <a:pPr marL="0" indent="0">
                  <a:buNone/>
                </a:pPr>
                <a:r>
                  <a:rPr lang="en-US" b="1" dirty="0"/>
                  <a:t>Idea</a:t>
                </a:r>
                <a:r>
                  <a:rPr lang="en-US" dirty="0"/>
                  <a:t>: The agent can use </a:t>
                </a:r>
                <a:r>
                  <a:rPr lang="en-US" b="1" dirty="0">
                    <a:solidFill>
                      <a:srgbClr val="FF0000"/>
                    </a:solidFill>
                  </a:rPr>
                  <a:t>additional information </a:t>
                </a:r>
                <a:r>
                  <a:rPr lang="en-US" dirty="0"/>
                  <a:t>in the form of “hints” about what promising states are to explore first. These hints are derived from </a:t>
                </a:r>
              </a:p>
              <a:p>
                <a:pPr lvl="1"/>
                <a:r>
                  <a:rPr lang="en-US" b="1" dirty="0"/>
                  <a:t>information</a:t>
                </a:r>
                <a:r>
                  <a:rPr lang="en-US" dirty="0"/>
                  <a:t> the agent has (e.g., a map with the goal location marked) or</a:t>
                </a:r>
              </a:p>
              <a:p>
                <a:pPr lvl="1"/>
                <a:r>
                  <a:rPr lang="en-US" b="1" dirty="0"/>
                  <a:t>percepts</a:t>
                </a:r>
                <a:r>
                  <a:rPr lang="en-US" dirty="0"/>
                  <a:t> coming from a sensor (e.g., a GPS sensor and coordinates of the goal).</a:t>
                </a:r>
              </a:p>
              <a:p>
                <a:endParaRPr lang="en-US" dirty="0"/>
              </a:p>
              <a:p>
                <a:pPr marL="0" indent="0">
                  <a:buNone/>
                </a:pPr>
                <a:r>
                  <a:rPr lang="en-US" b="1" dirty="0"/>
                  <a:t>Method</a:t>
                </a:r>
                <a:r>
                  <a:rPr lang="en-US" dirty="0"/>
                  <a:t>: The agent uses a </a:t>
                </a:r>
                <a:r>
                  <a:rPr lang="en-US" b="1" dirty="0">
                    <a:solidFill>
                      <a:srgbClr val="FF0000"/>
                    </a:solidFill>
                  </a:rPr>
                  <a:t>heuristic function </a:t>
                </a:r>
                <a14:m>
                  <m:oMath xmlns:m="http://schemas.openxmlformats.org/officeDocument/2006/math">
                    <m:r>
                      <a:rPr lang="en-US" b="1" i="1" dirty="0" smtClean="0">
                        <a:solidFill>
                          <a:srgbClr val="FF0000"/>
                        </a:solidFill>
                        <a:latin typeface="Cambria Math" panose="02040503050406030204" pitchFamily="18" charset="0"/>
                      </a:rPr>
                      <m:t>𝒉</m:t>
                    </m:r>
                    <m:r>
                      <a:rPr lang="en-US" b="1" i="1" dirty="0" smtClean="0">
                        <a:solidFill>
                          <a:srgbClr val="FF0000"/>
                        </a:solidFill>
                        <a:latin typeface="Cambria Math" panose="02040503050406030204" pitchFamily="18" charset="0"/>
                      </a:rPr>
                      <m:t>(</m:t>
                    </m:r>
                    <m:r>
                      <a:rPr lang="en-US" b="1" i="1" dirty="0" smtClean="0">
                        <a:solidFill>
                          <a:srgbClr val="FF0000"/>
                        </a:solidFill>
                        <a:latin typeface="Cambria Math" panose="02040503050406030204" pitchFamily="18" charset="0"/>
                      </a:rPr>
                      <m:t>𝒏</m:t>
                    </m:r>
                    <m:r>
                      <a:rPr lang="en-US" b="1" i="1" dirty="0" smtClean="0">
                        <a:solidFill>
                          <a:srgbClr val="FF0000"/>
                        </a:solidFill>
                        <a:latin typeface="Cambria Math" panose="02040503050406030204" pitchFamily="18" charset="0"/>
                      </a:rPr>
                      <m:t>)</m:t>
                    </m:r>
                  </m:oMath>
                </a14:m>
                <a:r>
                  <a:rPr lang="en-US" b="1" dirty="0">
                    <a:solidFill>
                      <a:srgbClr val="FF0000"/>
                    </a:solidFill>
                  </a:rPr>
                  <a:t> </a:t>
                </a:r>
              </a:p>
              <a:p>
                <a:pPr lvl="1"/>
                <a:r>
                  <a:rPr lang="en-US" dirty="0"/>
                  <a:t>to rank nodes in the frontier based on the additional information, and </a:t>
                </a:r>
              </a:p>
              <a:p>
                <a:pPr lvl="1"/>
                <a:r>
                  <a:rPr lang="en-US" dirty="0"/>
                  <a:t>to select the most promising node in the frontier for expansion using the </a:t>
                </a:r>
                <a:r>
                  <a:rPr lang="en-US" b="1" dirty="0">
                    <a:solidFill>
                      <a:srgbClr val="FF0000"/>
                    </a:solidFill>
                  </a:rPr>
                  <a:t>best-first search </a:t>
                </a:r>
                <a:r>
                  <a:rPr lang="en-US" dirty="0"/>
                  <a:t>strategy.</a:t>
                </a:r>
              </a:p>
              <a:p>
                <a:pPr lvl="1"/>
                <a:endParaRPr lang="en-US" dirty="0"/>
              </a:p>
              <a:p>
                <a:pPr marL="0" indent="0">
                  <a:buNone/>
                </a:pPr>
                <a:r>
                  <a:rPr lang="en-US" b="1" dirty="0"/>
                  <a:t>Discussed algorithms</a:t>
                </a:r>
                <a:r>
                  <a:rPr lang="en-US" dirty="0"/>
                  <a:t>:</a:t>
                </a:r>
              </a:p>
              <a:p>
                <a:pPr lvl="1"/>
                <a:r>
                  <a:rPr lang="en-US" dirty="0"/>
                  <a:t>Greedy best-first search</a:t>
                </a:r>
              </a:p>
              <a:p>
                <a:pPr lvl="1"/>
                <a:r>
                  <a:rPr lang="en-US" dirty="0"/>
                  <a:t>A* search</a:t>
                </a:r>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628650" y="1825624"/>
                <a:ext cx="7886700" cy="4498975"/>
              </a:xfrm>
              <a:blipFill>
                <a:blip r:embed="rId3"/>
                <a:stretch>
                  <a:fillRect l="-696" t="-1762" b="-1220"/>
                </a:stretch>
              </a:blipFill>
            </p:spPr>
            <p:txBody>
              <a:bodyPr/>
              <a:lstStyle/>
              <a:p>
                <a:r>
                  <a:rPr lang="en-US">
                    <a:noFill/>
                  </a:rPr>
                  <a:t> </a:t>
                </a:r>
              </a:p>
            </p:txBody>
          </p:sp>
        </mc:Fallback>
      </mc:AlternateContent>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grpId="0" nodeType="with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3">
                                            <p:txEl>
                                              <p:pRg st="3" end="3"/>
                                            </p:txEl>
                                          </p:spTgt>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6" end="6"/>
                                            </p:txEl>
                                          </p:spTgt>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3">
                                            <p:txEl>
                                              <p:pRg st="7" end="7"/>
                                            </p:txEl>
                                          </p:spTgt>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3">
                                            <p:txEl>
                                              <p:pRg st="8" end="8"/>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10" end="10"/>
                                            </p:txEl>
                                          </p:spTgt>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3">
                                            <p:txEl>
                                              <p:pRg st="11" end="11"/>
                                            </p:txEl>
                                          </p:spTgt>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3">
                                            <p:txEl>
                                              <p:pRg st="12" end="1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76200"/>
            <a:ext cx="8229600" cy="1143000"/>
          </a:xfrm>
        </p:spPr>
        <p:txBody>
          <a:bodyPr/>
          <a:lstStyle/>
          <a:p>
            <a:r>
              <a:rPr lang="en-US" dirty="0"/>
              <a:t>Heuristic Function</a:t>
            </a: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457200" y="1219201"/>
                <a:ext cx="8229600" cy="850780"/>
              </a:xfrm>
            </p:spPr>
            <p:txBody>
              <a:bodyPr>
                <a:normAutofit fontScale="92500" lnSpcReduction="20000"/>
              </a:bodyPr>
              <a:lstStyle/>
              <a:p>
                <a:r>
                  <a:rPr lang="en-US" sz="2000" b="1" dirty="0">
                    <a:solidFill>
                      <a:srgbClr val="FF0000"/>
                    </a:solidFill>
                  </a:rPr>
                  <a:t>Heuristic function </a:t>
                </a:r>
                <a14:m>
                  <m:oMath xmlns:m="http://schemas.openxmlformats.org/officeDocument/2006/math">
                    <m:r>
                      <a:rPr lang="en-US" sz="2000" i="1" dirty="0" smtClean="0">
                        <a:latin typeface="Cambria Math" panose="02040503050406030204" pitchFamily="18" charset="0"/>
                      </a:rPr>
                      <m:t>h</m:t>
                    </m:r>
                    <m:r>
                      <a:rPr lang="en-US" sz="2000" i="1" dirty="0" smtClean="0">
                        <a:latin typeface="Cambria Math" panose="02040503050406030204" pitchFamily="18" charset="0"/>
                      </a:rPr>
                      <m:t>(</m:t>
                    </m:r>
                    <m:r>
                      <a:rPr lang="en-US" sz="2000" i="1" dirty="0" smtClean="0">
                        <a:latin typeface="Cambria Math" panose="02040503050406030204" pitchFamily="18" charset="0"/>
                      </a:rPr>
                      <m:t>𝑛</m:t>
                    </m:r>
                    <m:r>
                      <a:rPr lang="en-US" sz="2000" i="1" dirty="0" smtClean="0">
                        <a:latin typeface="Cambria Math" panose="02040503050406030204" pitchFamily="18" charset="0"/>
                      </a:rPr>
                      <m:t>) </m:t>
                    </m:r>
                  </m:oMath>
                </a14:m>
                <a:r>
                  <a:rPr lang="en-US" sz="2000" dirty="0"/>
                  <a:t>estimates the cost of reaching a node representing the goal state from the currently considered node </a:t>
                </a:r>
                <a14:m>
                  <m:oMath xmlns:m="http://schemas.openxmlformats.org/officeDocument/2006/math">
                    <m:r>
                      <a:rPr lang="en-US" sz="2000" i="1" dirty="0" smtClean="0">
                        <a:latin typeface="Cambria Math" panose="02040503050406030204" pitchFamily="18" charset="0"/>
                      </a:rPr>
                      <m:t>𝑛</m:t>
                    </m:r>
                  </m:oMath>
                </a14:m>
                <a:r>
                  <a:rPr lang="en-US" sz="2000" i="1" dirty="0"/>
                  <a:t>.</a:t>
                </a:r>
                <a:endParaRPr lang="en-US" sz="2000" dirty="0"/>
              </a:p>
              <a:p>
                <a:r>
                  <a:rPr lang="en-US" sz="2000" dirty="0"/>
                  <a:t>Examples:</a:t>
                </a:r>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457200" y="1219201"/>
                <a:ext cx="8229600" cy="850780"/>
              </a:xfrm>
              <a:blipFill>
                <a:blip r:embed="rId3"/>
                <a:stretch>
                  <a:fillRect l="-519" t="-12143" b="-7857"/>
                </a:stretch>
              </a:blipFill>
            </p:spPr>
            <p:txBody>
              <a:bodyPr/>
              <a:lstStyle/>
              <a:p>
                <a:r>
                  <a:rPr lang="en-US">
                    <a:noFill/>
                  </a:rPr>
                  <a:t> </a:t>
                </a:r>
              </a:p>
            </p:txBody>
          </p:sp>
        </mc:Fallback>
      </mc:AlternateContent>
      <p:grpSp>
        <p:nvGrpSpPr>
          <p:cNvPr id="24" name="Group 23">
            <a:extLst>
              <a:ext uri="{FF2B5EF4-FFF2-40B4-BE49-F238E27FC236}">
                <a16:creationId xmlns:a16="http://schemas.microsoft.com/office/drawing/2014/main" id="{DB709E28-48D2-1447-D799-16CAD6004E6A}"/>
              </a:ext>
            </a:extLst>
          </p:cNvPr>
          <p:cNvGrpSpPr/>
          <p:nvPr/>
        </p:nvGrpSpPr>
        <p:grpSpPr>
          <a:xfrm>
            <a:off x="4648198" y="1992868"/>
            <a:ext cx="4171121" cy="4414461"/>
            <a:chOff x="4648198" y="1992868"/>
            <a:chExt cx="4171121" cy="4414461"/>
          </a:xfrm>
        </p:grpSpPr>
        <p:pic>
          <p:nvPicPr>
            <p:cNvPr id="12" name="Picture 2">
              <a:extLst>
                <a:ext uri="{FF2B5EF4-FFF2-40B4-BE49-F238E27FC236}">
                  <a16:creationId xmlns:a16="http://schemas.microsoft.com/office/drawing/2014/main" id="{DF9E533F-BB9B-4439-8E8F-5DED1104394F}"/>
                </a:ext>
              </a:extLst>
            </p:cNvPr>
            <p:cNvPicPr>
              <a:picLocks noChangeAspect="1" noChangeArrowheads="1"/>
            </p:cNvPicPr>
            <p:nvPr/>
          </p:nvPicPr>
          <p:blipFill>
            <a:blip r:embed="rId4" cstate="print">
              <a:extLst>
                <a:ext uri="{BEBA8EAE-BF5A-486C-A8C5-ECC9F3942E4B}">
                  <a14:imgProps xmlns:a14="http://schemas.microsoft.com/office/drawing/2010/main">
                    <a14:imgLayer r:embed="rId5">
                      <a14:imgEffect>
                        <a14:artisticPencilSketch/>
                      </a14:imgEffect>
                    </a14:imgLayer>
                  </a14:imgProps>
                </a:ext>
              </a:extLst>
            </a:blip>
            <a:srcRect/>
            <a:stretch>
              <a:fillRect/>
            </a:stretch>
          </p:blipFill>
          <p:spPr bwMode="auto">
            <a:xfrm>
              <a:off x="4858682" y="2831359"/>
              <a:ext cx="3272163" cy="3272163"/>
            </a:xfrm>
            <a:prstGeom prst="rect">
              <a:avLst/>
            </a:prstGeom>
            <a:noFill/>
            <a:ln w="9525">
              <a:noFill/>
              <a:miter lim="800000"/>
              <a:headEnd/>
              <a:tailEnd/>
            </a:ln>
          </p:spPr>
        </p:pic>
        <p:sp>
          <p:nvSpPr>
            <p:cNvPr id="13" name="Down Arrow 5">
              <a:extLst>
                <a:ext uri="{FF2B5EF4-FFF2-40B4-BE49-F238E27FC236}">
                  <a16:creationId xmlns:a16="http://schemas.microsoft.com/office/drawing/2014/main" id="{B3F9EDDE-1211-49CC-AE28-0DEA8B67AF1F}"/>
                </a:ext>
              </a:extLst>
            </p:cNvPr>
            <p:cNvSpPr/>
            <p:nvPr/>
          </p:nvSpPr>
          <p:spPr>
            <a:xfrm>
              <a:off x="5048844" y="2639941"/>
              <a:ext cx="181787" cy="242382"/>
            </a:xfrm>
            <a:prstGeom prst="down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TextBox 13">
              <a:extLst>
                <a:ext uri="{FF2B5EF4-FFF2-40B4-BE49-F238E27FC236}">
                  <a16:creationId xmlns:a16="http://schemas.microsoft.com/office/drawing/2014/main" id="{44A4A6DB-BDAD-44F5-B13C-B4880EE656EE}"/>
                </a:ext>
              </a:extLst>
            </p:cNvPr>
            <p:cNvSpPr txBox="1"/>
            <p:nvPr/>
          </p:nvSpPr>
          <p:spPr>
            <a:xfrm>
              <a:off x="4648198" y="2328125"/>
              <a:ext cx="983077" cy="293699"/>
            </a:xfrm>
            <a:prstGeom prst="rect">
              <a:avLst/>
            </a:prstGeom>
            <a:noFill/>
          </p:spPr>
          <p:txBody>
            <a:bodyPr wrap="none" rtlCol="0">
              <a:spAutoFit/>
            </a:bodyPr>
            <a:lstStyle/>
            <a:p>
              <a:r>
                <a:rPr lang="en-US" dirty="0"/>
                <a:t>Start state</a:t>
              </a:r>
            </a:p>
          </p:txBody>
        </p:sp>
        <p:sp>
          <p:nvSpPr>
            <p:cNvPr id="15" name="Down Arrow 7">
              <a:extLst>
                <a:ext uri="{FF2B5EF4-FFF2-40B4-BE49-F238E27FC236}">
                  <a16:creationId xmlns:a16="http://schemas.microsoft.com/office/drawing/2014/main" id="{6552566B-6F41-412F-BD9D-8B255E817642}"/>
                </a:ext>
              </a:extLst>
            </p:cNvPr>
            <p:cNvSpPr/>
            <p:nvPr/>
          </p:nvSpPr>
          <p:spPr>
            <a:xfrm rot="5400000">
              <a:off x="8075546" y="5733412"/>
              <a:ext cx="181787" cy="242382"/>
            </a:xfrm>
            <a:prstGeom prst="down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TextBox 15">
              <a:extLst>
                <a:ext uri="{FF2B5EF4-FFF2-40B4-BE49-F238E27FC236}">
                  <a16:creationId xmlns:a16="http://schemas.microsoft.com/office/drawing/2014/main" id="{57F9CFA2-F858-4809-8B7D-A3225899B45B}"/>
                </a:ext>
              </a:extLst>
            </p:cNvPr>
            <p:cNvSpPr txBox="1"/>
            <p:nvPr/>
          </p:nvSpPr>
          <p:spPr>
            <a:xfrm>
              <a:off x="7836242" y="6113630"/>
              <a:ext cx="983077" cy="293699"/>
            </a:xfrm>
            <a:prstGeom prst="rect">
              <a:avLst/>
            </a:prstGeom>
            <a:noFill/>
          </p:spPr>
          <p:txBody>
            <a:bodyPr wrap="none" rtlCol="0">
              <a:spAutoFit/>
            </a:bodyPr>
            <a:lstStyle/>
            <a:p>
              <a:r>
                <a:rPr lang="en-US" dirty="0"/>
                <a:t>Goal state</a:t>
              </a:r>
            </a:p>
          </p:txBody>
        </p:sp>
        <p:sp>
          <p:nvSpPr>
            <p:cNvPr id="17" name="5-Point Star 9">
              <a:extLst>
                <a:ext uri="{FF2B5EF4-FFF2-40B4-BE49-F238E27FC236}">
                  <a16:creationId xmlns:a16="http://schemas.microsoft.com/office/drawing/2014/main" id="{C5FBD971-D576-46B5-B778-F31D90E6A82B}"/>
                </a:ext>
              </a:extLst>
            </p:cNvPr>
            <p:cNvSpPr/>
            <p:nvPr/>
          </p:nvSpPr>
          <p:spPr>
            <a:xfrm>
              <a:off x="6055446" y="5044823"/>
              <a:ext cx="181787" cy="181787"/>
            </a:xfrm>
            <a:prstGeom prst="star5">
              <a:avLst/>
            </a:prstGeom>
            <a:solidFill>
              <a:srgbClr val="FF0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8" name="Straight Connector 17">
              <a:extLst>
                <a:ext uri="{FF2B5EF4-FFF2-40B4-BE49-F238E27FC236}">
                  <a16:creationId xmlns:a16="http://schemas.microsoft.com/office/drawing/2014/main" id="{FFB86754-9901-4B12-8CBE-445BFFF5B1E5}"/>
                </a:ext>
              </a:extLst>
            </p:cNvPr>
            <p:cNvCxnSpPr/>
            <p:nvPr/>
          </p:nvCxnSpPr>
          <p:spPr>
            <a:xfrm>
              <a:off x="6176637" y="5166014"/>
              <a:ext cx="1878464" cy="666552"/>
            </a:xfrm>
            <a:prstGeom prst="bentConnector3">
              <a:avLst>
                <a:gd name="adj1" fmla="val 308"/>
              </a:avLst>
            </a:prstGeom>
            <a:ln w="38100" cap="flat" cmpd="sng" algn="ctr">
              <a:solidFill>
                <a:schemeClr val="accent2"/>
              </a:solidFill>
              <a:prstDash val="solid"/>
              <a:round/>
              <a:headEnd type="arrow" w="med" len="med"/>
              <a:tailEnd type="arrow" w="med" len="med"/>
            </a:ln>
          </p:spPr>
          <p:style>
            <a:lnRef idx="0">
              <a:scrgbClr r="0" g="0" b="0"/>
            </a:lnRef>
            <a:fillRef idx="0">
              <a:scrgbClr r="0" g="0" b="0"/>
            </a:fillRef>
            <a:effectRef idx="0">
              <a:scrgbClr r="0" g="0" b="0"/>
            </a:effectRef>
            <a:fontRef idx="minor">
              <a:schemeClr val="tx1"/>
            </a:fontRef>
          </p:style>
        </p:cxnSp>
        <p:sp>
          <p:nvSpPr>
            <p:cNvPr id="19" name="Rectangle 18">
              <a:extLst>
                <a:ext uri="{FF2B5EF4-FFF2-40B4-BE49-F238E27FC236}">
                  <a16:creationId xmlns:a16="http://schemas.microsoft.com/office/drawing/2014/main" id="{6B0D99D0-DFBD-4069-8820-82E7E0CAE9B6}"/>
                </a:ext>
              </a:extLst>
            </p:cNvPr>
            <p:cNvSpPr/>
            <p:nvPr/>
          </p:nvSpPr>
          <p:spPr>
            <a:xfrm>
              <a:off x="5514821" y="1992868"/>
              <a:ext cx="2099614" cy="369332"/>
            </a:xfrm>
            <a:prstGeom prst="rect">
              <a:avLst/>
            </a:prstGeom>
          </p:spPr>
          <p:txBody>
            <a:bodyPr wrap="none">
              <a:spAutoFit/>
            </a:bodyPr>
            <a:lstStyle/>
            <a:p>
              <a:r>
                <a:rPr lang="en-US" b="1" dirty="0"/>
                <a:t>Manhattan distance</a:t>
              </a:r>
            </a:p>
          </p:txBody>
        </p:sp>
      </p:grpSp>
      <p:grpSp>
        <p:nvGrpSpPr>
          <p:cNvPr id="23" name="Group 22">
            <a:extLst>
              <a:ext uri="{FF2B5EF4-FFF2-40B4-BE49-F238E27FC236}">
                <a16:creationId xmlns:a16="http://schemas.microsoft.com/office/drawing/2014/main" id="{BB2F152E-D586-D6FB-B8DA-6F61E718BC4D}"/>
              </a:ext>
            </a:extLst>
          </p:cNvPr>
          <p:cNvGrpSpPr/>
          <p:nvPr/>
        </p:nvGrpSpPr>
        <p:grpSpPr>
          <a:xfrm>
            <a:off x="375347" y="1981200"/>
            <a:ext cx="3980292" cy="4603056"/>
            <a:chOff x="375347" y="1981200"/>
            <a:chExt cx="3980292" cy="4603056"/>
          </a:xfrm>
        </p:grpSpPr>
        <p:pic>
          <p:nvPicPr>
            <p:cNvPr id="5" name="Picture 2"/>
            <p:cNvPicPr>
              <a:picLocks noChangeAspect="1" noChangeArrowheads="1"/>
            </p:cNvPicPr>
            <p:nvPr/>
          </p:nvPicPr>
          <p:blipFill>
            <a:blip r:embed="rId4" cstate="print">
              <a:extLst>
                <a:ext uri="{BEBA8EAE-BF5A-486C-A8C5-ECC9F3942E4B}">
                  <a14:imgProps xmlns:a14="http://schemas.microsoft.com/office/drawing/2010/main">
                    <a14:imgLayer r:embed="rId5">
                      <a14:imgEffect>
                        <a14:artisticPencilSketch/>
                      </a14:imgEffect>
                    </a14:imgLayer>
                  </a14:imgProps>
                </a:ext>
              </a:extLst>
            </a:blip>
            <a:srcRect/>
            <a:stretch>
              <a:fillRect/>
            </a:stretch>
          </p:blipFill>
          <p:spPr bwMode="auto">
            <a:xfrm>
              <a:off x="652534" y="2831360"/>
              <a:ext cx="3272163" cy="3272163"/>
            </a:xfrm>
            <a:prstGeom prst="rect">
              <a:avLst/>
            </a:prstGeom>
            <a:noFill/>
            <a:ln w="9525">
              <a:noFill/>
              <a:miter lim="800000"/>
              <a:headEnd/>
              <a:tailEnd/>
            </a:ln>
          </p:spPr>
        </p:pic>
        <p:sp>
          <p:nvSpPr>
            <p:cNvPr id="6" name="Down Arrow 5"/>
            <p:cNvSpPr/>
            <p:nvPr/>
          </p:nvSpPr>
          <p:spPr>
            <a:xfrm>
              <a:off x="828228" y="2639941"/>
              <a:ext cx="181787" cy="242382"/>
            </a:xfrm>
            <a:prstGeom prst="down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extBox 6"/>
            <p:cNvSpPr txBox="1"/>
            <p:nvPr/>
          </p:nvSpPr>
          <p:spPr>
            <a:xfrm>
              <a:off x="375347" y="2322619"/>
              <a:ext cx="983077" cy="293699"/>
            </a:xfrm>
            <a:prstGeom prst="rect">
              <a:avLst/>
            </a:prstGeom>
            <a:noFill/>
          </p:spPr>
          <p:txBody>
            <a:bodyPr wrap="none" rtlCol="0">
              <a:spAutoFit/>
            </a:bodyPr>
            <a:lstStyle/>
            <a:p>
              <a:r>
                <a:rPr lang="en-US" dirty="0"/>
                <a:t>Start state</a:t>
              </a:r>
            </a:p>
          </p:txBody>
        </p:sp>
        <p:sp>
          <p:nvSpPr>
            <p:cNvPr id="8" name="Down Arrow 7"/>
            <p:cNvSpPr/>
            <p:nvPr/>
          </p:nvSpPr>
          <p:spPr>
            <a:xfrm rot="5400000">
              <a:off x="3909548" y="5739950"/>
              <a:ext cx="181787" cy="242382"/>
            </a:xfrm>
            <a:prstGeom prst="down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TextBox 8"/>
            <p:cNvSpPr txBox="1"/>
            <p:nvPr/>
          </p:nvSpPr>
          <p:spPr>
            <a:xfrm>
              <a:off x="3372562" y="6127146"/>
              <a:ext cx="983077" cy="293699"/>
            </a:xfrm>
            <a:prstGeom prst="rect">
              <a:avLst/>
            </a:prstGeom>
            <a:noFill/>
          </p:spPr>
          <p:txBody>
            <a:bodyPr wrap="none" rtlCol="0">
              <a:spAutoFit/>
            </a:bodyPr>
            <a:lstStyle/>
            <a:p>
              <a:r>
                <a:rPr lang="en-US" dirty="0"/>
                <a:t>Goal state</a:t>
              </a:r>
            </a:p>
          </p:txBody>
        </p:sp>
        <p:sp>
          <p:nvSpPr>
            <p:cNvPr id="10" name="5-Point Star 9"/>
            <p:cNvSpPr/>
            <p:nvPr/>
          </p:nvSpPr>
          <p:spPr>
            <a:xfrm>
              <a:off x="1864446" y="5073398"/>
              <a:ext cx="181787" cy="181787"/>
            </a:xfrm>
            <a:prstGeom prst="star5">
              <a:avLst/>
            </a:prstGeom>
            <a:solidFill>
              <a:srgbClr val="FF0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1" name="Straight Connector 10"/>
            <p:cNvCxnSpPr/>
            <p:nvPr/>
          </p:nvCxnSpPr>
          <p:spPr>
            <a:xfrm>
              <a:off x="1996214" y="5191922"/>
              <a:ext cx="1878464" cy="666552"/>
            </a:xfrm>
            <a:prstGeom prst="line">
              <a:avLst/>
            </a:prstGeom>
            <a:ln w="38100" cap="flat" cmpd="sng" algn="ctr">
              <a:solidFill>
                <a:schemeClr val="accent2"/>
              </a:solidFill>
              <a:prstDash val="solid"/>
              <a:round/>
              <a:headEnd type="arrow" w="med" len="med"/>
              <a:tailEnd type="arrow" w="med" len="med"/>
            </a:ln>
          </p:spPr>
          <p:style>
            <a:lnRef idx="0">
              <a:scrgbClr r="0" g="0" b="0"/>
            </a:lnRef>
            <a:fillRef idx="0">
              <a:scrgbClr r="0" g="0" b="0"/>
            </a:fillRef>
            <a:effectRef idx="0">
              <a:scrgbClr r="0" g="0" b="0"/>
            </a:effectRef>
            <a:fontRef idx="minor">
              <a:schemeClr val="tx1"/>
            </a:fontRef>
          </p:style>
        </p:cxnSp>
        <p:sp>
          <p:nvSpPr>
            <p:cNvPr id="4" name="Rectangle 3">
              <a:extLst>
                <a:ext uri="{FF2B5EF4-FFF2-40B4-BE49-F238E27FC236}">
                  <a16:creationId xmlns:a16="http://schemas.microsoft.com/office/drawing/2014/main" id="{19042422-30D2-4FB5-9682-F3AE7571F65B}"/>
                </a:ext>
              </a:extLst>
            </p:cNvPr>
            <p:cNvSpPr/>
            <p:nvPr/>
          </p:nvSpPr>
          <p:spPr>
            <a:xfrm>
              <a:off x="1325338" y="1981200"/>
              <a:ext cx="1952779" cy="369332"/>
            </a:xfrm>
            <a:prstGeom prst="rect">
              <a:avLst/>
            </a:prstGeom>
          </p:spPr>
          <p:txBody>
            <a:bodyPr wrap="none">
              <a:spAutoFit/>
            </a:bodyPr>
            <a:lstStyle/>
            <a:p>
              <a:r>
                <a:rPr lang="en-US" b="1" dirty="0"/>
                <a:t>Euclidean distance</a:t>
              </a:r>
            </a:p>
          </p:txBody>
        </p:sp>
        <p:sp>
          <p:nvSpPr>
            <p:cNvPr id="21" name="5-Point Star 9">
              <a:extLst>
                <a:ext uri="{FF2B5EF4-FFF2-40B4-BE49-F238E27FC236}">
                  <a16:creationId xmlns:a16="http://schemas.microsoft.com/office/drawing/2014/main" id="{FBF0E8EE-440B-24A2-A8E8-D9D76BB00AF8}"/>
                </a:ext>
              </a:extLst>
            </p:cNvPr>
            <p:cNvSpPr/>
            <p:nvPr/>
          </p:nvSpPr>
          <p:spPr>
            <a:xfrm>
              <a:off x="685098" y="6196586"/>
              <a:ext cx="181787" cy="181787"/>
            </a:xfrm>
            <a:prstGeom prst="star5">
              <a:avLst/>
            </a:prstGeom>
            <a:solidFill>
              <a:srgbClr val="FF0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 name="TextBox 21">
              <a:extLst>
                <a:ext uri="{FF2B5EF4-FFF2-40B4-BE49-F238E27FC236}">
                  <a16:creationId xmlns:a16="http://schemas.microsoft.com/office/drawing/2014/main" id="{A640C122-BDFA-2F54-7023-BFD6A634A8A0}"/>
                </a:ext>
              </a:extLst>
            </p:cNvPr>
            <p:cNvSpPr txBox="1"/>
            <p:nvPr/>
          </p:nvSpPr>
          <p:spPr>
            <a:xfrm>
              <a:off x="828228" y="6122591"/>
              <a:ext cx="1348061" cy="461665"/>
            </a:xfrm>
            <a:prstGeom prst="rect">
              <a:avLst/>
            </a:prstGeom>
            <a:noFill/>
          </p:spPr>
          <p:txBody>
            <a:bodyPr wrap="none" rtlCol="0">
              <a:spAutoFit/>
            </a:bodyPr>
            <a:lstStyle/>
            <a:p>
              <a:r>
                <a:rPr lang="en-US" sz="1200" dirty="0"/>
                <a:t>State for currently </a:t>
              </a:r>
              <a:br>
                <a:rPr lang="en-US" sz="1200" dirty="0"/>
              </a:br>
              <a:r>
                <a:rPr lang="en-US" sz="1200" dirty="0"/>
                <a:t>considered node</a:t>
              </a:r>
            </a:p>
          </p:txBody>
        </p:sp>
      </p:gr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8" name="Picture 4">
            <a:extLst>
              <a:ext uri="{FF2B5EF4-FFF2-40B4-BE49-F238E27FC236}">
                <a16:creationId xmlns:a16="http://schemas.microsoft.com/office/drawing/2014/main" id="{89838747-26B9-0093-833F-4CB2090A1012}"/>
              </a:ext>
            </a:extLst>
          </p:cNvPr>
          <p:cNvPicPr>
            <a:picLocks noChangeAspect="1" noChangeArrowheads="1"/>
          </p:cNvPicPr>
          <p:nvPr/>
        </p:nvPicPr>
        <p:blipFill>
          <a:blip r:embed="rId3" cstate="print">
            <a:alphaModFix/>
          </a:blip>
          <a:srcRect l="9462" t="26530" r="13408" b="17211"/>
          <a:stretch>
            <a:fillRect/>
          </a:stretch>
        </p:blipFill>
        <p:spPr bwMode="auto">
          <a:xfrm>
            <a:off x="589785" y="2188604"/>
            <a:ext cx="6167530" cy="3824289"/>
          </a:xfrm>
          <a:prstGeom prst="rect">
            <a:avLst/>
          </a:prstGeom>
          <a:noFill/>
          <a:ln w="9525">
            <a:noFill/>
            <a:miter lim="800000"/>
            <a:headEnd/>
            <a:tailEnd/>
          </a:ln>
        </p:spPr>
      </p:pic>
      <p:sp>
        <p:nvSpPr>
          <p:cNvPr id="8194" name="Rectangle 2"/>
          <p:cNvSpPr>
            <a:spLocks noGrp="1" noChangeArrowheads="1"/>
          </p:cNvSpPr>
          <p:nvPr>
            <p:ph type="title"/>
          </p:nvPr>
        </p:nvSpPr>
        <p:spPr/>
        <p:txBody>
          <a:bodyPr/>
          <a:lstStyle/>
          <a:p>
            <a:r>
              <a:rPr lang="en-US" dirty="0"/>
              <a:t>Heuristic for the Romania Problem</a:t>
            </a:r>
          </a:p>
        </p:txBody>
      </p:sp>
      <p:pic>
        <p:nvPicPr>
          <p:cNvPr id="8196" name="Picture 4" descr="romania2"/>
          <p:cNvPicPr>
            <a:picLocks noChangeAspect="1" noChangeArrowheads="1"/>
          </p:cNvPicPr>
          <p:nvPr/>
        </p:nvPicPr>
        <p:blipFill>
          <a:blip r:embed="rId4" cstate="print">
            <a:alphaModFix amt="70000"/>
          </a:blip>
          <a:srcRect/>
          <a:stretch>
            <a:fillRect/>
          </a:stretch>
        </p:blipFill>
        <p:spPr bwMode="auto">
          <a:xfrm>
            <a:off x="381000" y="2138362"/>
            <a:ext cx="8229600" cy="4033838"/>
          </a:xfrm>
          <a:prstGeom prst="rect">
            <a:avLst/>
          </a:prstGeom>
          <a:noFill/>
        </p:spPr>
      </p:pic>
      <p:sp>
        <p:nvSpPr>
          <p:cNvPr id="7" name="Rectangle 6">
            <a:extLst>
              <a:ext uri="{FF2B5EF4-FFF2-40B4-BE49-F238E27FC236}">
                <a16:creationId xmlns:a16="http://schemas.microsoft.com/office/drawing/2014/main" id="{F78DBA2A-F6A5-49BF-96B9-767627D3AC80}"/>
              </a:ext>
            </a:extLst>
          </p:cNvPr>
          <p:cNvSpPr/>
          <p:nvPr/>
        </p:nvSpPr>
        <p:spPr>
          <a:xfrm>
            <a:off x="8224929" y="2214562"/>
            <a:ext cx="614271" cy="400110"/>
          </a:xfrm>
          <a:prstGeom prst="rect">
            <a:avLst/>
          </a:prstGeom>
        </p:spPr>
        <p:txBody>
          <a:bodyPr wrap="none">
            <a:spAutoFit/>
          </a:bodyPr>
          <a:lstStyle/>
          <a:p>
            <a:r>
              <a:rPr lang="en-US" sz="2000" b="1" i="1" dirty="0"/>
              <a:t>h</a:t>
            </a:r>
            <a:r>
              <a:rPr lang="en-US" sz="2000" b="1" dirty="0"/>
              <a:t>(</a:t>
            </a:r>
            <a:r>
              <a:rPr lang="en-US" sz="2000" b="1" i="1" dirty="0"/>
              <a:t>n</a:t>
            </a:r>
            <a:r>
              <a:rPr lang="en-US" sz="2000" b="1" dirty="0"/>
              <a:t>)</a:t>
            </a:r>
          </a:p>
        </p:txBody>
      </p:sp>
      <p:sp>
        <p:nvSpPr>
          <p:cNvPr id="2" name="TextBox 1">
            <a:extLst>
              <a:ext uri="{FF2B5EF4-FFF2-40B4-BE49-F238E27FC236}">
                <a16:creationId xmlns:a16="http://schemas.microsoft.com/office/drawing/2014/main" id="{DFB2DA8B-530E-3480-9EF1-91951EBF384E}"/>
              </a:ext>
            </a:extLst>
          </p:cNvPr>
          <p:cNvSpPr txBox="1"/>
          <p:nvPr/>
        </p:nvSpPr>
        <p:spPr>
          <a:xfrm>
            <a:off x="620980" y="1526885"/>
            <a:ext cx="7886700" cy="584775"/>
          </a:xfrm>
          <a:prstGeom prst="rect">
            <a:avLst/>
          </a:prstGeom>
          <a:noFill/>
        </p:spPr>
        <p:txBody>
          <a:bodyPr wrap="square" rtlCol="0">
            <a:spAutoFit/>
          </a:bodyPr>
          <a:lstStyle/>
          <a:p>
            <a:r>
              <a:rPr lang="en-US" sz="1600" dirty="0"/>
              <a:t>Use the map for hints: Estimate the driving distance from Arad to Bucharest using a straight-line distance on the map.</a:t>
            </a:r>
          </a:p>
        </p:txBody>
      </p:sp>
      <p:sp>
        <p:nvSpPr>
          <p:cNvPr id="4" name="Oval 3">
            <a:extLst>
              <a:ext uri="{FF2B5EF4-FFF2-40B4-BE49-F238E27FC236}">
                <a16:creationId xmlns:a16="http://schemas.microsoft.com/office/drawing/2014/main" id="{7E81295B-94F7-16E4-C004-0A9784F7815D}"/>
              </a:ext>
            </a:extLst>
          </p:cNvPr>
          <p:cNvSpPr/>
          <p:nvPr/>
        </p:nvSpPr>
        <p:spPr>
          <a:xfrm>
            <a:off x="381000" y="3063894"/>
            <a:ext cx="609600" cy="446067"/>
          </a:xfrm>
          <a:prstGeom prst="ellipse">
            <a:avLst/>
          </a:prstGeom>
          <a:noFill/>
          <a:ln w="9525" cap="flat" cmpd="sng" algn="ctr">
            <a:solidFill>
              <a:schemeClr val="accent2"/>
            </a:solidFill>
            <a:prstDash val="solid"/>
            <a:round/>
            <a:headEnd type="none" w="med" len="med"/>
            <a:tailEnd type="none" w="med" len="med"/>
          </a:ln>
        </p:spPr>
        <p:style>
          <a:lnRef idx="0">
            <a:scrgbClr r="0" g="0" b="0"/>
          </a:lnRef>
          <a:fillRef idx="0">
            <a:scrgbClr r="0" g="0" b="0"/>
          </a:fillRef>
          <a:effectRef idx="0">
            <a:scrgbClr r="0" g="0" b="0"/>
          </a:effectRef>
          <a:fontRef idx="minor">
            <a:schemeClr val="accent2"/>
          </a:fontRef>
        </p:style>
        <p:txBody>
          <a:bodyPr rtlCol="0" anchor="ctr"/>
          <a:lstStyle/>
          <a:p>
            <a:pPr algn="ctr"/>
            <a:endParaRPr lang="en-US"/>
          </a:p>
        </p:txBody>
      </p:sp>
      <p:sp>
        <p:nvSpPr>
          <p:cNvPr id="5" name="Oval 4">
            <a:extLst>
              <a:ext uri="{FF2B5EF4-FFF2-40B4-BE49-F238E27FC236}">
                <a16:creationId xmlns:a16="http://schemas.microsoft.com/office/drawing/2014/main" id="{3F527A35-B54A-2D95-8C44-1F2B0C36B132}"/>
              </a:ext>
            </a:extLst>
          </p:cNvPr>
          <p:cNvSpPr/>
          <p:nvPr/>
        </p:nvSpPr>
        <p:spPr>
          <a:xfrm>
            <a:off x="4267200" y="5110162"/>
            <a:ext cx="1066800" cy="533400"/>
          </a:xfrm>
          <a:prstGeom prst="ellipse">
            <a:avLst/>
          </a:prstGeom>
          <a:noFill/>
          <a:ln w="9525" cap="flat" cmpd="sng" algn="ctr">
            <a:solidFill>
              <a:schemeClr val="accent2"/>
            </a:solidFill>
            <a:prstDash val="solid"/>
            <a:round/>
            <a:headEnd type="none" w="med" len="med"/>
            <a:tailEnd type="none" w="med" len="med"/>
          </a:ln>
        </p:spPr>
        <p:style>
          <a:lnRef idx="0">
            <a:scrgbClr r="0" g="0" b="0"/>
          </a:lnRef>
          <a:fillRef idx="0">
            <a:scrgbClr r="0" g="0" b="0"/>
          </a:fillRef>
          <a:effectRef idx="0">
            <a:scrgbClr r="0" g="0" b="0"/>
          </a:effectRef>
          <a:fontRef idx="minor">
            <a:schemeClr val="accent2"/>
          </a:fontRef>
        </p:style>
        <p:txBody>
          <a:bodyPr rtlCol="0" anchor="ctr"/>
          <a:lstStyle/>
          <a:p>
            <a:pPr algn="ctr"/>
            <a:endParaRPr lang="en-US"/>
          </a:p>
        </p:txBody>
      </p:sp>
      <p:cxnSp>
        <p:nvCxnSpPr>
          <p:cNvPr id="6" name="Straight Arrow Connector 5">
            <a:extLst>
              <a:ext uri="{FF2B5EF4-FFF2-40B4-BE49-F238E27FC236}">
                <a16:creationId xmlns:a16="http://schemas.microsoft.com/office/drawing/2014/main" id="{B22628DF-9595-EB93-31F4-B9C6D3306957}"/>
              </a:ext>
            </a:extLst>
          </p:cNvPr>
          <p:cNvCxnSpPr>
            <a:cxnSpLocks/>
          </p:cNvCxnSpPr>
          <p:nvPr/>
        </p:nvCxnSpPr>
        <p:spPr>
          <a:xfrm>
            <a:off x="838200" y="3319464"/>
            <a:ext cx="3657600" cy="1943098"/>
          </a:xfrm>
          <a:prstGeom prst="straightConnector1">
            <a:avLst/>
          </a:prstGeom>
          <a:ln w="57150">
            <a:tailEnd type="triangle"/>
          </a:ln>
        </p:spPr>
        <p:style>
          <a:lnRef idx="3">
            <a:schemeClr val="accent2"/>
          </a:lnRef>
          <a:fillRef idx="0">
            <a:schemeClr val="accent2"/>
          </a:fillRef>
          <a:effectRef idx="2">
            <a:schemeClr val="accent2"/>
          </a:effectRef>
          <a:fontRef idx="minor">
            <a:schemeClr val="tx1"/>
          </a:fontRef>
        </p:style>
      </p:cxnSp>
      <p:sp>
        <p:nvSpPr>
          <p:cNvPr id="9" name="Oval 8">
            <a:extLst>
              <a:ext uri="{FF2B5EF4-FFF2-40B4-BE49-F238E27FC236}">
                <a16:creationId xmlns:a16="http://schemas.microsoft.com/office/drawing/2014/main" id="{6C6C391E-8BF1-7C12-BFFE-0645E1200BE3}"/>
              </a:ext>
            </a:extLst>
          </p:cNvPr>
          <p:cNvSpPr/>
          <p:nvPr/>
        </p:nvSpPr>
        <p:spPr>
          <a:xfrm>
            <a:off x="6853328" y="2442766"/>
            <a:ext cx="1909671" cy="259773"/>
          </a:xfrm>
          <a:prstGeom prst="ellipse">
            <a:avLst/>
          </a:prstGeom>
          <a:noFill/>
          <a:ln>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TextBox 2">
            <a:extLst>
              <a:ext uri="{FF2B5EF4-FFF2-40B4-BE49-F238E27FC236}">
                <a16:creationId xmlns:a16="http://schemas.microsoft.com/office/drawing/2014/main" id="{A8D9CEAD-8352-4F84-4D86-31BAF43A91E9}"/>
              </a:ext>
            </a:extLst>
          </p:cNvPr>
          <p:cNvSpPr txBox="1"/>
          <p:nvPr/>
        </p:nvSpPr>
        <p:spPr>
          <a:xfrm rot="1576214">
            <a:off x="1902984" y="4106346"/>
            <a:ext cx="685800" cy="369332"/>
          </a:xfrm>
          <a:prstGeom prst="rect">
            <a:avLst/>
          </a:prstGeom>
          <a:noFill/>
        </p:spPr>
        <p:txBody>
          <a:bodyPr wrap="square" rtlCol="0">
            <a:spAutoFit/>
          </a:bodyPr>
          <a:lstStyle/>
          <a:p>
            <a:r>
              <a:rPr lang="en-US" b="1" dirty="0">
                <a:solidFill>
                  <a:schemeClr val="accent2"/>
                </a:solidFill>
              </a:rPr>
              <a:t>366</a:t>
            </a:r>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242" name="Rectangle 2"/>
          <p:cNvSpPr>
            <a:spLocks noGrp="1" noChangeArrowheads="1"/>
          </p:cNvSpPr>
          <p:nvPr>
            <p:ph type="title"/>
          </p:nvPr>
        </p:nvSpPr>
        <p:spPr/>
        <p:txBody>
          <a:bodyPr/>
          <a:lstStyle/>
          <a:p>
            <a:r>
              <a:rPr lang="en-US" dirty="0"/>
              <a:t>Greedy Best-First Search Example</a:t>
            </a:r>
          </a:p>
        </p:txBody>
      </p:sp>
      <p:pic>
        <p:nvPicPr>
          <p:cNvPr id="10244" name="Picture 4" descr="greedy-progress01c"/>
          <p:cNvPicPr>
            <a:picLocks noChangeAspect="1" noChangeArrowheads="1"/>
          </p:cNvPicPr>
          <p:nvPr/>
        </p:nvPicPr>
        <p:blipFill>
          <a:blip r:embed="rId3" cstate="print"/>
          <a:srcRect/>
          <a:stretch>
            <a:fillRect/>
          </a:stretch>
        </p:blipFill>
        <p:spPr bwMode="auto">
          <a:xfrm>
            <a:off x="1752600" y="1828800"/>
            <a:ext cx="5467350" cy="1990725"/>
          </a:xfrm>
          <a:prstGeom prst="rect">
            <a:avLst/>
          </a:prstGeom>
          <a:noFill/>
        </p:spPr>
      </p:pic>
      <p:pic>
        <p:nvPicPr>
          <p:cNvPr id="4" name="Picture 4" descr="romania2"/>
          <p:cNvPicPr>
            <a:picLocks noChangeAspect="1" noChangeArrowheads="1"/>
          </p:cNvPicPr>
          <p:nvPr/>
        </p:nvPicPr>
        <p:blipFill>
          <a:blip r:embed="rId4" cstate="print"/>
          <a:srcRect/>
          <a:stretch>
            <a:fillRect/>
          </a:stretch>
        </p:blipFill>
        <p:spPr bwMode="auto">
          <a:xfrm>
            <a:off x="3581400" y="3962400"/>
            <a:ext cx="5334000" cy="2614525"/>
          </a:xfrm>
          <a:prstGeom prst="rect">
            <a:avLst/>
          </a:prstGeom>
          <a:noFill/>
        </p:spPr>
      </p:pic>
      <p:sp>
        <p:nvSpPr>
          <p:cNvPr id="5" name="Oval 4"/>
          <p:cNvSpPr/>
          <p:nvPr/>
        </p:nvSpPr>
        <p:spPr>
          <a:xfrm>
            <a:off x="3505200" y="4572000"/>
            <a:ext cx="457200" cy="304800"/>
          </a:xfrm>
          <a:prstGeom prst="ellipse">
            <a:avLst/>
          </a:prstGeom>
          <a:noFill/>
          <a:ln w="9525" cap="flat" cmpd="sng" algn="ctr">
            <a:solidFill>
              <a:schemeClr val="accent3"/>
            </a:solidFill>
            <a:prstDash val="solid"/>
            <a:round/>
            <a:headEnd type="none" w="med" len="med"/>
            <a:tailEnd type="none" w="med" len="med"/>
          </a:ln>
        </p:spPr>
        <p:style>
          <a:lnRef idx="0">
            <a:scrgbClr r="0" g="0" b="0"/>
          </a:lnRef>
          <a:fillRef idx="0">
            <a:scrgbClr r="0" g="0" b="0"/>
          </a:fillRef>
          <a:effectRef idx="0">
            <a:scrgbClr r="0" g="0" b="0"/>
          </a:effectRef>
          <a:fontRef idx="minor">
            <a:schemeClr val="accent3"/>
          </a:fontRef>
        </p:style>
        <p:txBody>
          <a:bodyPr rtlCol="0" anchor="ctr"/>
          <a:lstStyle/>
          <a:p>
            <a:pPr algn="ctr"/>
            <a:endParaRPr lang="en-US"/>
          </a:p>
        </p:txBody>
      </p:sp>
      <p:sp>
        <p:nvSpPr>
          <p:cNvPr id="6" name="Oval 5"/>
          <p:cNvSpPr/>
          <p:nvPr/>
        </p:nvSpPr>
        <p:spPr>
          <a:xfrm>
            <a:off x="6096000" y="5867400"/>
            <a:ext cx="685800" cy="381000"/>
          </a:xfrm>
          <a:prstGeom prst="ellipse">
            <a:avLst/>
          </a:prstGeom>
          <a:noFill/>
          <a:ln w="9525" cap="flat" cmpd="sng" algn="ctr">
            <a:solidFill>
              <a:schemeClr val="accent2"/>
            </a:solidFill>
            <a:prstDash val="solid"/>
            <a:round/>
            <a:headEnd type="none" w="med" len="med"/>
            <a:tailEnd type="none" w="med" len="med"/>
          </a:ln>
        </p:spPr>
        <p:style>
          <a:lnRef idx="0">
            <a:scrgbClr r="0" g="0" b="0"/>
          </a:lnRef>
          <a:fillRef idx="0">
            <a:scrgbClr r="0" g="0" b="0"/>
          </a:fillRef>
          <a:effectRef idx="0">
            <a:scrgbClr r="0" g="0" b="0"/>
          </a:effectRef>
          <a:fontRef idx="minor">
            <a:schemeClr val="accent2"/>
          </a:fontRef>
        </p:style>
        <p:txBody>
          <a:bodyPr rtlCol="0" anchor="ctr"/>
          <a:lstStyle/>
          <a:p>
            <a:pPr algn="ctr"/>
            <a:endParaRPr lang="en-US"/>
          </a:p>
        </p:txBody>
      </p:sp>
      <p:sp>
        <p:nvSpPr>
          <p:cNvPr id="2" name="Rectangle 1">
            <a:extLst>
              <a:ext uri="{FF2B5EF4-FFF2-40B4-BE49-F238E27FC236}">
                <a16:creationId xmlns:a16="http://schemas.microsoft.com/office/drawing/2014/main" id="{6813A329-F65E-4329-9D0F-2A7F26023156}"/>
              </a:ext>
            </a:extLst>
          </p:cNvPr>
          <p:cNvSpPr/>
          <p:nvPr/>
        </p:nvSpPr>
        <p:spPr>
          <a:xfrm>
            <a:off x="685800" y="1420595"/>
            <a:ext cx="3124200" cy="923330"/>
          </a:xfrm>
          <a:prstGeom prst="rect">
            <a:avLst/>
          </a:prstGeom>
        </p:spPr>
        <p:txBody>
          <a:bodyPr wrap="square">
            <a:spAutoFit/>
          </a:bodyPr>
          <a:lstStyle/>
          <a:p>
            <a:r>
              <a:rPr lang="en-US" b="1" dirty="0"/>
              <a:t>Expansion rule: Expand the node that has the lowest value of the heuristic function </a:t>
            </a:r>
            <a:r>
              <a:rPr lang="en-US" b="1" i="1" dirty="0"/>
              <a:t>h</a:t>
            </a:r>
            <a:r>
              <a:rPr lang="en-US" b="1" dirty="0"/>
              <a:t>(</a:t>
            </a:r>
            <a:r>
              <a:rPr lang="en-US" b="1" i="1" dirty="0"/>
              <a:t>n</a:t>
            </a:r>
            <a:r>
              <a:rPr lang="en-US" b="1" dirty="0"/>
              <a:t>)</a:t>
            </a:r>
          </a:p>
        </p:txBody>
      </p:sp>
      <p:sp>
        <p:nvSpPr>
          <p:cNvPr id="8" name="Oval 7">
            <a:extLst>
              <a:ext uri="{FF2B5EF4-FFF2-40B4-BE49-F238E27FC236}">
                <a16:creationId xmlns:a16="http://schemas.microsoft.com/office/drawing/2014/main" id="{BE048C35-3A6E-4B42-803D-03F8170F3848}"/>
              </a:ext>
            </a:extLst>
          </p:cNvPr>
          <p:cNvSpPr/>
          <p:nvPr/>
        </p:nvSpPr>
        <p:spPr>
          <a:xfrm>
            <a:off x="7744968" y="4114800"/>
            <a:ext cx="1371600" cy="228600"/>
          </a:xfrm>
          <a:prstGeom prst="ellipse">
            <a:avLst/>
          </a:prstGeom>
          <a:noFill/>
          <a:ln>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9" name="Straight Arrow Connector 8">
            <a:extLst>
              <a:ext uri="{FF2B5EF4-FFF2-40B4-BE49-F238E27FC236}">
                <a16:creationId xmlns:a16="http://schemas.microsoft.com/office/drawing/2014/main" id="{DBCCA6DC-EE15-42ED-A9EB-EAE135849C46}"/>
              </a:ext>
            </a:extLst>
          </p:cNvPr>
          <p:cNvCxnSpPr>
            <a:cxnSpLocks/>
          </p:cNvCxnSpPr>
          <p:nvPr/>
        </p:nvCxnSpPr>
        <p:spPr>
          <a:xfrm>
            <a:off x="3886200" y="4724400"/>
            <a:ext cx="2362200" cy="1295400"/>
          </a:xfrm>
          <a:prstGeom prst="straightConnector1">
            <a:avLst/>
          </a:prstGeom>
          <a:ln w="57150">
            <a:tailEnd type="triangle"/>
          </a:ln>
        </p:spPr>
        <p:style>
          <a:lnRef idx="3">
            <a:schemeClr val="accent2"/>
          </a:lnRef>
          <a:fillRef idx="0">
            <a:schemeClr val="accent2"/>
          </a:fillRef>
          <a:effectRef idx="2">
            <a:schemeClr val="accent2"/>
          </a:effectRef>
          <a:fontRef idx="minor">
            <a:schemeClr val="tx1"/>
          </a:fontRef>
        </p:style>
      </p:cxnSp>
      <p:sp>
        <p:nvSpPr>
          <p:cNvPr id="3" name="Rectangle 2">
            <a:extLst>
              <a:ext uri="{FF2B5EF4-FFF2-40B4-BE49-F238E27FC236}">
                <a16:creationId xmlns:a16="http://schemas.microsoft.com/office/drawing/2014/main" id="{72EE3BD0-89FD-4BAB-9EE2-A555148474C0}"/>
              </a:ext>
            </a:extLst>
          </p:cNvPr>
          <p:cNvSpPr/>
          <p:nvPr/>
        </p:nvSpPr>
        <p:spPr>
          <a:xfrm>
            <a:off x="4122209" y="1905000"/>
            <a:ext cx="678391" cy="369332"/>
          </a:xfrm>
          <a:prstGeom prst="rect">
            <a:avLst/>
          </a:prstGeom>
        </p:spPr>
        <p:txBody>
          <a:bodyPr wrap="none">
            <a:spAutoFit/>
          </a:bodyPr>
          <a:lstStyle/>
          <a:p>
            <a:r>
              <a:rPr lang="en-US" i="1" dirty="0"/>
              <a:t>h</a:t>
            </a:r>
            <a:r>
              <a:rPr lang="en-US" dirty="0"/>
              <a:t>(</a:t>
            </a:r>
            <a:r>
              <a:rPr lang="en-US" i="1" dirty="0"/>
              <a:t>n</a:t>
            </a:r>
            <a:r>
              <a:rPr lang="en-US" dirty="0"/>
              <a:t>)=</a:t>
            </a:r>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7108" name="Picture 4" descr="greedy-progress02c"/>
          <p:cNvPicPr>
            <a:picLocks noChangeAspect="1" noChangeArrowheads="1"/>
          </p:cNvPicPr>
          <p:nvPr/>
        </p:nvPicPr>
        <p:blipFill>
          <a:blip r:embed="rId3" cstate="print"/>
          <a:srcRect/>
          <a:stretch>
            <a:fillRect/>
          </a:stretch>
        </p:blipFill>
        <p:spPr bwMode="auto">
          <a:xfrm>
            <a:off x="1752600" y="1828800"/>
            <a:ext cx="5467350" cy="1990725"/>
          </a:xfrm>
          <a:prstGeom prst="rect">
            <a:avLst/>
          </a:prstGeom>
          <a:noFill/>
        </p:spPr>
      </p:pic>
      <p:sp>
        <p:nvSpPr>
          <p:cNvPr id="47106" name="Rectangle 2"/>
          <p:cNvSpPr>
            <a:spLocks noGrp="1" noChangeArrowheads="1"/>
          </p:cNvSpPr>
          <p:nvPr>
            <p:ph type="title"/>
          </p:nvPr>
        </p:nvSpPr>
        <p:spPr/>
        <p:txBody>
          <a:bodyPr/>
          <a:lstStyle/>
          <a:p>
            <a:r>
              <a:rPr lang="en-US" dirty="0"/>
              <a:t>Greedy Best-First Search Example</a:t>
            </a:r>
          </a:p>
        </p:txBody>
      </p:sp>
      <p:pic>
        <p:nvPicPr>
          <p:cNvPr id="4" name="Picture 4" descr="romania2"/>
          <p:cNvPicPr>
            <a:picLocks noChangeAspect="1" noChangeArrowheads="1"/>
          </p:cNvPicPr>
          <p:nvPr/>
        </p:nvPicPr>
        <p:blipFill>
          <a:blip r:embed="rId4" cstate="print"/>
          <a:srcRect/>
          <a:stretch>
            <a:fillRect/>
          </a:stretch>
        </p:blipFill>
        <p:spPr bwMode="auto">
          <a:xfrm>
            <a:off x="3581400" y="3962400"/>
            <a:ext cx="5334000" cy="2614525"/>
          </a:xfrm>
          <a:prstGeom prst="rect">
            <a:avLst/>
          </a:prstGeom>
          <a:noFill/>
        </p:spPr>
      </p:pic>
      <p:sp>
        <p:nvSpPr>
          <p:cNvPr id="5" name="Oval 4"/>
          <p:cNvSpPr/>
          <p:nvPr/>
        </p:nvSpPr>
        <p:spPr>
          <a:xfrm>
            <a:off x="4572000" y="4850562"/>
            <a:ext cx="457200" cy="304800"/>
          </a:xfrm>
          <a:prstGeom prst="ellipse">
            <a:avLst/>
          </a:prstGeom>
          <a:noFill/>
          <a:ln w="9525" cap="flat" cmpd="sng" algn="ctr">
            <a:solidFill>
              <a:schemeClr val="accent3"/>
            </a:solidFill>
            <a:prstDash val="solid"/>
            <a:round/>
            <a:headEnd type="none" w="med" len="med"/>
            <a:tailEnd type="none" w="med" len="med"/>
          </a:ln>
        </p:spPr>
        <p:style>
          <a:lnRef idx="0">
            <a:scrgbClr r="0" g="0" b="0"/>
          </a:lnRef>
          <a:fillRef idx="0">
            <a:scrgbClr r="0" g="0" b="0"/>
          </a:fillRef>
          <a:effectRef idx="0">
            <a:scrgbClr r="0" g="0" b="0"/>
          </a:effectRef>
          <a:fontRef idx="minor">
            <a:schemeClr val="accent3"/>
          </a:fontRef>
        </p:style>
        <p:txBody>
          <a:bodyPr rtlCol="0" anchor="ctr"/>
          <a:lstStyle/>
          <a:p>
            <a:pPr algn="ctr"/>
            <a:endParaRPr lang="en-US"/>
          </a:p>
        </p:txBody>
      </p:sp>
      <p:sp>
        <p:nvSpPr>
          <p:cNvPr id="6" name="Oval 5"/>
          <p:cNvSpPr/>
          <p:nvPr/>
        </p:nvSpPr>
        <p:spPr>
          <a:xfrm>
            <a:off x="6096000" y="5867400"/>
            <a:ext cx="685800" cy="381000"/>
          </a:xfrm>
          <a:prstGeom prst="ellipse">
            <a:avLst/>
          </a:prstGeom>
          <a:noFill/>
          <a:ln w="9525" cap="flat" cmpd="sng" algn="ctr">
            <a:solidFill>
              <a:schemeClr val="accent2"/>
            </a:solidFill>
            <a:prstDash val="solid"/>
            <a:round/>
            <a:headEnd type="none" w="med" len="med"/>
            <a:tailEnd type="none" w="med" len="med"/>
          </a:ln>
        </p:spPr>
        <p:style>
          <a:lnRef idx="0">
            <a:scrgbClr r="0" g="0" b="0"/>
          </a:lnRef>
          <a:fillRef idx="0">
            <a:scrgbClr r="0" g="0" b="0"/>
          </a:fillRef>
          <a:effectRef idx="0">
            <a:scrgbClr r="0" g="0" b="0"/>
          </a:effectRef>
          <a:fontRef idx="minor">
            <a:schemeClr val="accent2"/>
          </a:fontRef>
        </p:style>
        <p:txBody>
          <a:bodyPr rtlCol="0" anchor="ctr"/>
          <a:lstStyle/>
          <a:p>
            <a:pPr algn="ctr"/>
            <a:endParaRPr lang="en-US"/>
          </a:p>
        </p:txBody>
      </p:sp>
      <p:sp>
        <p:nvSpPr>
          <p:cNvPr id="7" name="Oval 6">
            <a:extLst>
              <a:ext uri="{FF2B5EF4-FFF2-40B4-BE49-F238E27FC236}">
                <a16:creationId xmlns:a16="http://schemas.microsoft.com/office/drawing/2014/main" id="{80B746B4-B1B9-44D5-BA81-8439BB79491A}"/>
              </a:ext>
            </a:extLst>
          </p:cNvPr>
          <p:cNvSpPr/>
          <p:nvPr/>
        </p:nvSpPr>
        <p:spPr>
          <a:xfrm>
            <a:off x="7696200" y="5867400"/>
            <a:ext cx="1371600" cy="228600"/>
          </a:xfrm>
          <a:prstGeom prst="ellipse">
            <a:avLst/>
          </a:prstGeom>
          <a:noFill/>
          <a:ln>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0" name="Straight Arrow Connector 9">
            <a:extLst>
              <a:ext uri="{FF2B5EF4-FFF2-40B4-BE49-F238E27FC236}">
                <a16:creationId xmlns:a16="http://schemas.microsoft.com/office/drawing/2014/main" id="{6A8D76BF-BDD2-4FC5-9A22-719605291D78}"/>
              </a:ext>
            </a:extLst>
          </p:cNvPr>
          <p:cNvCxnSpPr>
            <a:cxnSpLocks/>
          </p:cNvCxnSpPr>
          <p:nvPr/>
        </p:nvCxnSpPr>
        <p:spPr>
          <a:xfrm>
            <a:off x="3886200" y="4724400"/>
            <a:ext cx="914400" cy="304800"/>
          </a:xfrm>
          <a:prstGeom prst="straightConnector1">
            <a:avLst/>
          </a:prstGeom>
          <a:ln w="38100">
            <a:solidFill>
              <a:schemeClr val="accent3"/>
            </a:solidFill>
            <a:tailEnd type="triangle"/>
          </a:ln>
        </p:spPr>
        <p:style>
          <a:lnRef idx="1">
            <a:schemeClr val="accent1"/>
          </a:lnRef>
          <a:fillRef idx="0">
            <a:schemeClr val="accent1"/>
          </a:fillRef>
          <a:effectRef idx="0">
            <a:schemeClr val="accent1"/>
          </a:effectRef>
          <a:fontRef idx="minor">
            <a:schemeClr val="tx1"/>
          </a:fontRef>
        </p:style>
      </p:cxnSp>
      <p:cxnSp>
        <p:nvCxnSpPr>
          <p:cNvPr id="2" name="Straight Arrow Connector 1">
            <a:extLst>
              <a:ext uri="{FF2B5EF4-FFF2-40B4-BE49-F238E27FC236}">
                <a16:creationId xmlns:a16="http://schemas.microsoft.com/office/drawing/2014/main" id="{F5C6AF60-49DE-C944-9261-51D40A266408}"/>
              </a:ext>
            </a:extLst>
          </p:cNvPr>
          <p:cNvCxnSpPr>
            <a:cxnSpLocks/>
          </p:cNvCxnSpPr>
          <p:nvPr/>
        </p:nvCxnSpPr>
        <p:spPr>
          <a:xfrm>
            <a:off x="4800600" y="5029200"/>
            <a:ext cx="1447800" cy="990600"/>
          </a:xfrm>
          <a:prstGeom prst="straightConnector1">
            <a:avLst/>
          </a:prstGeom>
          <a:ln w="57150">
            <a:tailEnd type="triangle"/>
          </a:ln>
        </p:spPr>
        <p:style>
          <a:lnRef idx="3">
            <a:schemeClr val="accent2"/>
          </a:lnRef>
          <a:fillRef idx="0">
            <a:schemeClr val="accent2"/>
          </a:fillRef>
          <a:effectRef idx="2">
            <a:schemeClr val="accent2"/>
          </a:effectRef>
          <a:fontRef idx="minor">
            <a:schemeClr val="tx1"/>
          </a:fontRef>
        </p:style>
      </p:cxn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8132" name="Picture 4" descr="greedy-progress03c"/>
          <p:cNvPicPr>
            <a:picLocks noChangeAspect="1" noChangeArrowheads="1"/>
          </p:cNvPicPr>
          <p:nvPr/>
        </p:nvPicPr>
        <p:blipFill>
          <a:blip r:embed="rId3" cstate="print"/>
          <a:srcRect/>
          <a:stretch>
            <a:fillRect/>
          </a:stretch>
        </p:blipFill>
        <p:spPr bwMode="auto">
          <a:xfrm>
            <a:off x="1752600" y="1828800"/>
            <a:ext cx="5467350" cy="1990725"/>
          </a:xfrm>
          <a:prstGeom prst="rect">
            <a:avLst/>
          </a:prstGeom>
          <a:noFill/>
        </p:spPr>
      </p:pic>
      <p:sp>
        <p:nvSpPr>
          <p:cNvPr id="48130" name="Rectangle 2"/>
          <p:cNvSpPr>
            <a:spLocks noGrp="1" noChangeArrowheads="1"/>
          </p:cNvSpPr>
          <p:nvPr>
            <p:ph type="title"/>
          </p:nvPr>
        </p:nvSpPr>
        <p:spPr/>
        <p:txBody>
          <a:bodyPr/>
          <a:lstStyle/>
          <a:p>
            <a:r>
              <a:rPr lang="en-US" dirty="0"/>
              <a:t>Greedy Best-First Search Example</a:t>
            </a:r>
          </a:p>
        </p:txBody>
      </p:sp>
      <p:pic>
        <p:nvPicPr>
          <p:cNvPr id="4" name="Picture 4" descr="romania2"/>
          <p:cNvPicPr>
            <a:picLocks noChangeAspect="1" noChangeArrowheads="1"/>
          </p:cNvPicPr>
          <p:nvPr/>
        </p:nvPicPr>
        <p:blipFill>
          <a:blip r:embed="rId4" cstate="print"/>
          <a:srcRect/>
          <a:stretch>
            <a:fillRect/>
          </a:stretch>
        </p:blipFill>
        <p:spPr bwMode="auto">
          <a:xfrm>
            <a:off x="3581400" y="3962400"/>
            <a:ext cx="5334000" cy="2614525"/>
          </a:xfrm>
          <a:prstGeom prst="rect">
            <a:avLst/>
          </a:prstGeom>
          <a:noFill/>
        </p:spPr>
      </p:pic>
      <p:sp>
        <p:nvSpPr>
          <p:cNvPr id="5" name="Oval 4"/>
          <p:cNvSpPr/>
          <p:nvPr/>
        </p:nvSpPr>
        <p:spPr>
          <a:xfrm>
            <a:off x="5287701" y="4837841"/>
            <a:ext cx="457200" cy="304800"/>
          </a:xfrm>
          <a:prstGeom prst="ellipse">
            <a:avLst/>
          </a:prstGeom>
          <a:noFill/>
          <a:ln w="9525" cap="flat" cmpd="sng" algn="ctr">
            <a:solidFill>
              <a:schemeClr val="accent3"/>
            </a:solidFill>
            <a:prstDash val="solid"/>
            <a:round/>
            <a:headEnd type="none" w="med" len="med"/>
            <a:tailEnd type="none" w="med" len="med"/>
          </a:ln>
        </p:spPr>
        <p:style>
          <a:lnRef idx="0">
            <a:scrgbClr r="0" g="0" b="0"/>
          </a:lnRef>
          <a:fillRef idx="0">
            <a:scrgbClr r="0" g="0" b="0"/>
          </a:fillRef>
          <a:effectRef idx="0">
            <a:scrgbClr r="0" g="0" b="0"/>
          </a:effectRef>
          <a:fontRef idx="minor">
            <a:schemeClr val="accent3"/>
          </a:fontRef>
        </p:style>
        <p:txBody>
          <a:bodyPr rtlCol="0" anchor="ctr"/>
          <a:lstStyle/>
          <a:p>
            <a:pPr algn="ctr"/>
            <a:endParaRPr lang="en-US"/>
          </a:p>
        </p:txBody>
      </p:sp>
      <p:sp>
        <p:nvSpPr>
          <p:cNvPr id="6" name="Oval 5"/>
          <p:cNvSpPr/>
          <p:nvPr/>
        </p:nvSpPr>
        <p:spPr>
          <a:xfrm>
            <a:off x="6096000" y="5867400"/>
            <a:ext cx="685800" cy="381000"/>
          </a:xfrm>
          <a:prstGeom prst="ellipse">
            <a:avLst/>
          </a:prstGeom>
          <a:noFill/>
          <a:ln w="9525" cap="flat" cmpd="sng" algn="ctr">
            <a:solidFill>
              <a:schemeClr val="accent2"/>
            </a:solidFill>
            <a:prstDash val="solid"/>
            <a:round/>
            <a:headEnd type="none" w="med" len="med"/>
            <a:tailEnd type="none" w="med" len="med"/>
          </a:ln>
        </p:spPr>
        <p:style>
          <a:lnRef idx="0">
            <a:scrgbClr r="0" g="0" b="0"/>
          </a:lnRef>
          <a:fillRef idx="0">
            <a:scrgbClr r="0" g="0" b="0"/>
          </a:fillRef>
          <a:effectRef idx="0">
            <a:scrgbClr r="0" g="0" b="0"/>
          </a:effectRef>
          <a:fontRef idx="minor">
            <a:schemeClr val="accent2"/>
          </a:fontRef>
        </p:style>
        <p:txBody>
          <a:bodyPr rtlCol="0" anchor="ctr"/>
          <a:lstStyle/>
          <a:p>
            <a:pPr algn="ctr"/>
            <a:endParaRPr lang="en-US"/>
          </a:p>
        </p:txBody>
      </p:sp>
      <p:sp>
        <p:nvSpPr>
          <p:cNvPr id="7" name="Oval 6">
            <a:extLst>
              <a:ext uri="{FF2B5EF4-FFF2-40B4-BE49-F238E27FC236}">
                <a16:creationId xmlns:a16="http://schemas.microsoft.com/office/drawing/2014/main" id="{10F009FA-EFF8-44D1-B93C-B44494A504D8}"/>
              </a:ext>
            </a:extLst>
          </p:cNvPr>
          <p:cNvSpPr/>
          <p:nvPr/>
        </p:nvSpPr>
        <p:spPr>
          <a:xfrm>
            <a:off x="7696200" y="4724400"/>
            <a:ext cx="1371600" cy="228600"/>
          </a:xfrm>
          <a:prstGeom prst="ellipse">
            <a:avLst/>
          </a:prstGeom>
          <a:noFill/>
          <a:ln>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8" name="Straight Arrow Connector 7">
            <a:extLst>
              <a:ext uri="{FF2B5EF4-FFF2-40B4-BE49-F238E27FC236}">
                <a16:creationId xmlns:a16="http://schemas.microsoft.com/office/drawing/2014/main" id="{0F465874-9D6D-4222-AF59-64148EFA6B50}"/>
              </a:ext>
            </a:extLst>
          </p:cNvPr>
          <p:cNvCxnSpPr>
            <a:cxnSpLocks/>
          </p:cNvCxnSpPr>
          <p:nvPr/>
        </p:nvCxnSpPr>
        <p:spPr>
          <a:xfrm>
            <a:off x="3886200" y="4724400"/>
            <a:ext cx="914400" cy="277038"/>
          </a:xfrm>
          <a:prstGeom prst="straightConnector1">
            <a:avLst/>
          </a:prstGeom>
          <a:ln w="38100">
            <a:solidFill>
              <a:schemeClr val="accent3"/>
            </a:solidFill>
            <a:tailEnd type="triangle"/>
          </a:ln>
        </p:spPr>
        <p:style>
          <a:lnRef idx="1">
            <a:schemeClr val="accent1"/>
          </a:lnRef>
          <a:fillRef idx="0">
            <a:schemeClr val="accent1"/>
          </a:fillRef>
          <a:effectRef idx="0">
            <a:schemeClr val="accent1"/>
          </a:effectRef>
          <a:fontRef idx="minor">
            <a:schemeClr val="tx1"/>
          </a:fontRef>
        </p:style>
      </p:cxnSp>
      <p:cxnSp>
        <p:nvCxnSpPr>
          <p:cNvPr id="9" name="Straight Arrow Connector 8">
            <a:extLst>
              <a:ext uri="{FF2B5EF4-FFF2-40B4-BE49-F238E27FC236}">
                <a16:creationId xmlns:a16="http://schemas.microsoft.com/office/drawing/2014/main" id="{E97706A2-1E18-4BBE-B631-20117199C7C7}"/>
              </a:ext>
            </a:extLst>
          </p:cNvPr>
          <p:cNvCxnSpPr>
            <a:cxnSpLocks/>
          </p:cNvCxnSpPr>
          <p:nvPr/>
        </p:nvCxnSpPr>
        <p:spPr>
          <a:xfrm>
            <a:off x="4800600" y="5001438"/>
            <a:ext cx="762000" cy="0"/>
          </a:xfrm>
          <a:prstGeom prst="straightConnector1">
            <a:avLst/>
          </a:prstGeom>
          <a:ln w="38100">
            <a:solidFill>
              <a:schemeClr val="accent3"/>
            </a:solidFill>
            <a:tailEnd type="triangle"/>
          </a:ln>
        </p:spPr>
        <p:style>
          <a:lnRef idx="1">
            <a:schemeClr val="accent1"/>
          </a:lnRef>
          <a:fillRef idx="0">
            <a:schemeClr val="accent1"/>
          </a:fillRef>
          <a:effectRef idx="0">
            <a:schemeClr val="accent1"/>
          </a:effectRef>
          <a:fontRef idx="minor">
            <a:schemeClr val="tx1"/>
          </a:fontRef>
        </p:style>
      </p:cxnSp>
      <p:cxnSp>
        <p:nvCxnSpPr>
          <p:cNvPr id="2" name="Straight Arrow Connector 1">
            <a:extLst>
              <a:ext uri="{FF2B5EF4-FFF2-40B4-BE49-F238E27FC236}">
                <a16:creationId xmlns:a16="http://schemas.microsoft.com/office/drawing/2014/main" id="{434775BF-DE75-1BE1-4E78-7F02BD59FCB1}"/>
              </a:ext>
            </a:extLst>
          </p:cNvPr>
          <p:cNvCxnSpPr>
            <a:cxnSpLocks/>
          </p:cNvCxnSpPr>
          <p:nvPr/>
        </p:nvCxnSpPr>
        <p:spPr>
          <a:xfrm>
            <a:off x="5562600" y="5105400"/>
            <a:ext cx="685800" cy="914400"/>
          </a:xfrm>
          <a:prstGeom prst="straightConnector1">
            <a:avLst/>
          </a:prstGeom>
          <a:ln w="57150">
            <a:tailEnd type="triangle"/>
          </a:ln>
        </p:spPr>
        <p:style>
          <a:lnRef idx="3">
            <a:schemeClr val="accent2"/>
          </a:lnRef>
          <a:fillRef idx="0">
            <a:schemeClr val="accent2"/>
          </a:fillRef>
          <a:effectRef idx="2">
            <a:schemeClr val="accent2"/>
          </a:effectRef>
          <a:fontRef idx="minor">
            <a:schemeClr val="tx1"/>
          </a:fontRef>
        </p:style>
      </p:cxn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9156" name="Picture 4" descr="greedy-progress04c"/>
          <p:cNvPicPr>
            <a:picLocks noChangeAspect="1" noChangeArrowheads="1"/>
          </p:cNvPicPr>
          <p:nvPr/>
        </p:nvPicPr>
        <p:blipFill>
          <a:blip r:embed="rId3" cstate="print"/>
          <a:srcRect/>
          <a:stretch>
            <a:fillRect/>
          </a:stretch>
        </p:blipFill>
        <p:spPr bwMode="auto">
          <a:xfrm>
            <a:off x="1752600" y="1828800"/>
            <a:ext cx="5467350" cy="1990725"/>
          </a:xfrm>
          <a:prstGeom prst="rect">
            <a:avLst/>
          </a:prstGeom>
          <a:noFill/>
        </p:spPr>
      </p:pic>
      <p:sp>
        <p:nvSpPr>
          <p:cNvPr id="49154" name="Rectangle 2"/>
          <p:cNvSpPr>
            <a:spLocks noGrp="1" noChangeArrowheads="1"/>
          </p:cNvSpPr>
          <p:nvPr>
            <p:ph type="title"/>
          </p:nvPr>
        </p:nvSpPr>
        <p:spPr/>
        <p:txBody>
          <a:bodyPr/>
          <a:lstStyle/>
          <a:p>
            <a:r>
              <a:rPr lang="en-US" dirty="0"/>
              <a:t>Greedy Best-First Search Example</a:t>
            </a:r>
          </a:p>
        </p:txBody>
      </p:sp>
      <p:pic>
        <p:nvPicPr>
          <p:cNvPr id="4" name="Picture 4" descr="romania2"/>
          <p:cNvPicPr>
            <a:picLocks noChangeAspect="1" noChangeArrowheads="1"/>
          </p:cNvPicPr>
          <p:nvPr/>
        </p:nvPicPr>
        <p:blipFill>
          <a:blip r:embed="rId4" cstate="print"/>
          <a:srcRect/>
          <a:stretch>
            <a:fillRect/>
          </a:stretch>
        </p:blipFill>
        <p:spPr bwMode="auto">
          <a:xfrm>
            <a:off x="3581400" y="3962400"/>
            <a:ext cx="5334000" cy="2614525"/>
          </a:xfrm>
          <a:prstGeom prst="rect">
            <a:avLst/>
          </a:prstGeom>
          <a:noFill/>
        </p:spPr>
      </p:pic>
      <p:sp>
        <p:nvSpPr>
          <p:cNvPr id="6" name="Oval 5"/>
          <p:cNvSpPr/>
          <p:nvPr/>
        </p:nvSpPr>
        <p:spPr>
          <a:xfrm>
            <a:off x="6096000" y="5867400"/>
            <a:ext cx="685800" cy="381000"/>
          </a:xfrm>
          <a:prstGeom prst="ellipse">
            <a:avLst/>
          </a:prstGeom>
          <a:noFill/>
          <a:ln w="9525" cap="flat" cmpd="sng" algn="ctr">
            <a:solidFill>
              <a:schemeClr val="accent3"/>
            </a:solidFill>
            <a:prstDash val="solid"/>
            <a:round/>
            <a:headEnd type="none" w="med" len="med"/>
            <a:tailEnd type="none" w="med" len="med"/>
          </a:ln>
        </p:spPr>
        <p:style>
          <a:lnRef idx="0">
            <a:scrgbClr r="0" g="0" b="0"/>
          </a:lnRef>
          <a:fillRef idx="0">
            <a:scrgbClr r="0" g="0" b="0"/>
          </a:fillRef>
          <a:effectRef idx="0">
            <a:scrgbClr r="0" g="0" b="0"/>
          </a:effectRef>
          <a:fontRef idx="minor">
            <a:schemeClr val="accent3"/>
          </a:fontRef>
        </p:style>
        <p:txBody>
          <a:bodyPr rtlCol="0" anchor="ctr"/>
          <a:lstStyle/>
          <a:p>
            <a:pPr algn="ctr"/>
            <a:endParaRPr lang="en-US"/>
          </a:p>
        </p:txBody>
      </p:sp>
      <p:cxnSp>
        <p:nvCxnSpPr>
          <p:cNvPr id="8" name="Straight Arrow Connector 7">
            <a:extLst>
              <a:ext uri="{FF2B5EF4-FFF2-40B4-BE49-F238E27FC236}">
                <a16:creationId xmlns:a16="http://schemas.microsoft.com/office/drawing/2014/main" id="{ACE05D85-C802-48A6-843A-9110DD87E92E}"/>
              </a:ext>
            </a:extLst>
          </p:cNvPr>
          <p:cNvCxnSpPr/>
          <p:nvPr/>
        </p:nvCxnSpPr>
        <p:spPr>
          <a:xfrm>
            <a:off x="3886200" y="4724400"/>
            <a:ext cx="914400" cy="228600"/>
          </a:xfrm>
          <a:prstGeom prst="straightConnector1">
            <a:avLst/>
          </a:prstGeom>
          <a:ln w="38100">
            <a:solidFill>
              <a:schemeClr val="accent3"/>
            </a:solidFill>
            <a:tailEnd type="triangle"/>
          </a:ln>
        </p:spPr>
        <p:style>
          <a:lnRef idx="1">
            <a:schemeClr val="accent1"/>
          </a:lnRef>
          <a:fillRef idx="0">
            <a:schemeClr val="accent1"/>
          </a:fillRef>
          <a:effectRef idx="0">
            <a:schemeClr val="accent1"/>
          </a:effectRef>
          <a:fontRef idx="minor">
            <a:schemeClr val="tx1"/>
          </a:fontRef>
        </p:style>
      </p:cxnSp>
      <p:cxnSp>
        <p:nvCxnSpPr>
          <p:cNvPr id="9" name="Straight Arrow Connector 8">
            <a:extLst>
              <a:ext uri="{FF2B5EF4-FFF2-40B4-BE49-F238E27FC236}">
                <a16:creationId xmlns:a16="http://schemas.microsoft.com/office/drawing/2014/main" id="{D0E125D5-DC1E-4678-B2BA-41982719EC83}"/>
              </a:ext>
            </a:extLst>
          </p:cNvPr>
          <p:cNvCxnSpPr>
            <a:cxnSpLocks/>
          </p:cNvCxnSpPr>
          <p:nvPr/>
        </p:nvCxnSpPr>
        <p:spPr>
          <a:xfrm>
            <a:off x="4800600" y="5001438"/>
            <a:ext cx="762000" cy="0"/>
          </a:xfrm>
          <a:prstGeom prst="straightConnector1">
            <a:avLst/>
          </a:prstGeom>
          <a:ln w="38100">
            <a:solidFill>
              <a:schemeClr val="accent3"/>
            </a:solidFill>
            <a:tailEnd type="triangle"/>
          </a:ln>
        </p:spPr>
        <p:style>
          <a:lnRef idx="1">
            <a:schemeClr val="accent1"/>
          </a:lnRef>
          <a:fillRef idx="0">
            <a:schemeClr val="accent1"/>
          </a:fillRef>
          <a:effectRef idx="0">
            <a:schemeClr val="accent1"/>
          </a:effectRef>
          <a:fontRef idx="minor">
            <a:schemeClr val="tx1"/>
          </a:fontRef>
        </p:style>
      </p:cxnSp>
      <p:cxnSp>
        <p:nvCxnSpPr>
          <p:cNvPr id="10" name="Straight Arrow Connector 9">
            <a:extLst>
              <a:ext uri="{FF2B5EF4-FFF2-40B4-BE49-F238E27FC236}">
                <a16:creationId xmlns:a16="http://schemas.microsoft.com/office/drawing/2014/main" id="{BD49CB5D-1B80-4844-9594-49B26C57E141}"/>
              </a:ext>
            </a:extLst>
          </p:cNvPr>
          <p:cNvCxnSpPr>
            <a:cxnSpLocks/>
          </p:cNvCxnSpPr>
          <p:nvPr/>
        </p:nvCxnSpPr>
        <p:spPr>
          <a:xfrm>
            <a:off x="5562600" y="5001438"/>
            <a:ext cx="762000" cy="1018362"/>
          </a:xfrm>
          <a:prstGeom prst="straightConnector1">
            <a:avLst/>
          </a:prstGeom>
          <a:ln w="38100">
            <a:solidFill>
              <a:schemeClr val="accent3"/>
            </a:solidFill>
            <a:tailEnd type="triangle"/>
          </a:ln>
        </p:spPr>
        <p:style>
          <a:lnRef idx="1">
            <a:schemeClr val="accent1"/>
          </a:lnRef>
          <a:fillRef idx="0">
            <a:schemeClr val="accent1"/>
          </a:fillRef>
          <a:effectRef idx="0">
            <a:schemeClr val="accent1"/>
          </a:effectRef>
          <a:fontRef idx="minor">
            <a:schemeClr val="tx1"/>
          </a:fontRef>
        </p:style>
      </p:cxnSp>
      <p:sp>
        <p:nvSpPr>
          <p:cNvPr id="11" name="TextBox 10">
            <a:extLst>
              <a:ext uri="{FF2B5EF4-FFF2-40B4-BE49-F238E27FC236}">
                <a16:creationId xmlns:a16="http://schemas.microsoft.com/office/drawing/2014/main" id="{56F557EE-C26D-455B-869B-F2F1E551F9BA}"/>
              </a:ext>
            </a:extLst>
          </p:cNvPr>
          <p:cNvSpPr txBox="1"/>
          <p:nvPr/>
        </p:nvSpPr>
        <p:spPr>
          <a:xfrm>
            <a:off x="598170" y="4956048"/>
            <a:ext cx="2789546" cy="646331"/>
          </a:xfrm>
          <a:prstGeom prst="rect">
            <a:avLst/>
          </a:prstGeom>
          <a:noFill/>
        </p:spPr>
        <p:txBody>
          <a:bodyPr wrap="none" rtlCol="0">
            <a:spAutoFit/>
          </a:bodyPr>
          <a:lstStyle/>
          <a:p>
            <a:r>
              <a:rPr lang="en-US" dirty="0"/>
              <a:t>Total: </a:t>
            </a:r>
          </a:p>
          <a:p>
            <a:r>
              <a:rPr lang="en-US" dirty="0"/>
              <a:t>  140 + 99 + 211 = 450 miles</a:t>
            </a:r>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338" name="Rectangle 2"/>
          <p:cNvSpPr>
            <a:spLocks noGrp="1" noChangeArrowheads="1"/>
          </p:cNvSpPr>
          <p:nvPr>
            <p:ph type="title"/>
          </p:nvPr>
        </p:nvSpPr>
        <p:spPr/>
        <p:txBody>
          <a:bodyPr>
            <a:normAutofit/>
          </a:bodyPr>
          <a:lstStyle/>
          <a:p>
            <a:r>
              <a:rPr lang="en-US" dirty="0"/>
              <a:t>Properties of Greedy Best-First Search</a:t>
            </a:r>
          </a:p>
        </p:txBody>
      </p:sp>
      <p:sp>
        <p:nvSpPr>
          <p:cNvPr id="14339" name="Rectangle 3"/>
          <p:cNvSpPr>
            <a:spLocks noGrp="1" noChangeArrowheads="1"/>
          </p:cNvSpPr>
          <p:nvPr>
            <p:ph idx="1"/>
          </p:nvPr>
        </p:nvSpPr>
        <p:spPr>
          <a:xfrm>
            <a:off x="628650" y="1825625"/>
            <a:ext cx="7886700" cy="1808250"/>
          </a:xfrm>
        </p:spPr>
        <p:txBody>
          <a:bodyPr>
            <a:normAutofit fontScale="92500" lnSpcReduction="10000"/>
          </a:bodyPr>
          <a:lstStyle/>
          <a:p>
            <a:r>
              <a:rPr lang="en-US" sz="2400" b="1" dirty="0">
                <a:solidFill>
                  <a:srgbClr val="FF0000"/>
                </a:solidFill>
              </a:rPr>
              <a:t>Complete?</a:t>
            </a:r>
          </a:p>
          <a:p>
            <a:pPr lvl="1">
              <a:buNone/>
            </a:pPr>
            <a:r>
              <a:rPr lang="en-US" sz="2400" dirty="0"/>
              <a:t>Yes – Best-first search if complete in finite spaces.</a:t>
            </a:r>
          </a:p>
          <a:p>
            <a:endParaRPr lang="en-US" sz="2400" b="1" dirty="0">
              <a:solidFill>
                <a:srgbClr val="FF0000"/>
              </a:solidFill>
            </a:endParaRPr>
          </a:p>
          <a:p>
            <a:r>
              <a:rPr lang="en-US" sz="2400" b="1" dirty="0">
                <a:solidFill>
                  <a:srgbClr val="FF0000"/>
                </a:solidFill>
              </a:rPr>
              <a:t>Optimal? </a:t>
            </a:r>
          </a:p>
          <a:p>
            <a:pPr lvl="1">
              <a:buNone/>
            </a:pPr>
            <a:r>
              <a:rPr lang="en-US" sz="2400" dirty="0"/>
              <a:t>No</a:t>
            </a:r>
          </a:p>
        </p:txBody>
      </p:sp>
      <p:sp>
        <p:nvSpPr>
          <p:cNvPr id="8" name="TextBox 7">
            <a:extLst>
              <a:ext uri="{FF2B5EF4-FFF2-40B4-BE49-F238E27FC236}">
                <a16:creationId xmlns:a16="http://schemas.microsoft.com/office/drawing/2014/main" id="{DE10AFEF-19D3-4F0D-BE75-9A8A971332EC}"/>
              </a:ext>
            </a:extLst>
          </p:cNvPr>
          <p:cNvSpPr txBox="1"/>
          <p:nvPr/>
        </p:nvSpPr>
        <p:spPr>
          <a:xfrm>
            <a:off x="152400" y="4056817"/>
            <a:ext cx="3559629" cy="1477328"/>
          </a:xfrm>
          <a:prstGeom prst="rect">
            <a:avLst/>
          </a:prstGeom>
          <a:noFill/>
        </p:spPr>
        <p:txBody>
          <a:bodyPr wrap="none" rtlCol="0">
            <a:spAutoFit/>
          </a:bodyPr>
          <a:lstStyle/>
          <a:p>
            <a:r>
              <a:rPr lang="en-US" dirty="0"/>
              <a:t>Total: </a:t>
            </a:r>
          </a:p>
          <a:p>
            <a:r>
              <a:rPr lang="en-US" dirty="0"/>
              <a:t>  140 + 99 + 211 = 450 miles</a:t>
            </a:r>
          </a:p>
          <a:p>
            <a:endParaRPr lang="en-US" dirty="0"/>
          </a:p>
          <a:p>
            <a:r>
              <a:rPr lang="en-US" dirty="0"/>
              <a:t>Alternative through </a:t>
            </a:r>
            <a:r>
              <a:rPr lang="en-US" dirty="0" err="1"/>
              <a:t>Rimnicu</a:t>
            </a:r>
            <a:r>
              <a:rPr lang="en-US" dirty="0"/>
              <a:t> </a:t>
            </a:r>
            <a:r>
              <a:rPr lang="en-US" dirty="0" err="1"/>
              <a:t>Vilcea</a:t>
            </a:r>
            <a:r>
              <a:rPr lang="en-US" dirty="0"/>
              <a:t>: </a:t>
            </a:r>
          </a:p>
          <a:p>
            <a:r>
              <a:rPr lang="en-US" dirty="0"/>
              <a:t>  140 + 80 + 97 + 101 = 418 miles</a:t>
            </a:r>
          </a:p>
        </p:txBody>
      </p:sp>
      <p:pic>
        <p:nvPicPr>
          <p:cNvPr id="16" name="Picture 4" descr="romania2">
            <a:extLst>
              <a:ext uri="{FF2B5EF4-FFF2-40B4-BE49-F238E27FC236}">
                <a16:creationId xmlns:a16="http://schemas.microsoft.com/office/drawing/2014/main" id="{08046EC5-9DF9-400A-BA8A-EB04EA005608}"/>
              </a:ext>
            </a:extLst>
          </p:cNvPr>
          <p:cNvPicPr>
            <a:picLocks noChangeAspect="1" noChangeArrowheads="1"/>
          </p:cNvPicPr>
          <p:nvPr/>
        </p:nvPicPr>
        <p:blipFill>
          <a:blip r:embed="rId3" cstate="print"/>
          <a:srcRect/>
          <a:stretch>
            <a:fillRect/>
          </a:stretch>
        </p:blipFill>
        <p:spPr bwMode="auto">
          <a:xfrm>
            <a:off x="3581400" y="3962400"/>
            <a:ext cx="5334000" cy="2614525"/>
          </a:xfrm>
          <a:prstGeom prst="rect">
            <a:avLst/>
          </a:prstGeom>
          <a:noFill/>
        </p:spPr>
      </p:pic>
      <p:sp>
        <p:nvSpPr>
          <p:cNvPr id="17" name="Oval 16">
            <a:extLst>
              <a:ext uri="{FF2B5EF4-FFF2-40B4-BE49-F238E27FC236}">
                <a16:creationId xmlns:a16="http://schemas.microsoft.com/office/drawing/2014/main" id="{9C749FE7-887C-4ED3-ACE2-88E2B8191F36}"/>
              </a:ext>
            </a:extLst>
          </p:cNvPr>
          <p:cNvSpPr/>
          <p:nvPr/>
        </p:nvSpPr>
        <p:spPr>
          <a:xfrm>
            <a:off x="3505200" y="4572000"/>
            <a:ext cx="457200" cy="304800"/>
          </a:xfrm>
          <a:prstGeom prst="ellipse">
            <a:avLst/>
          </a:prstGeom>
          <a:noFill/>
          <a:ln w="9525" cap="flat" cmpd="sng" algn="ctr">
            <a:solidFill>
              <a:schemeClr val="accent3"/>
            </a:solidFill>
            <a:prstDash val="solid"/>
            <a:round/>
            <a:headEnd type="none" w="med" len="med"/>
            <a:tailEnd type="none" w="med" len="med"/>
          </a:ln>
        </p:spPr>
        <p:style>
          <a:lnRef idx="0">
            <a:scrgbClr r="0" g="0" b="0"/>
          </a:lnRef>
          <a:fillRef idx="0">
            <a:scrgbClr r="0" g="0" b="0"/>
          </a:fillRef>
          <a:effectRef idx="0">
            <a:scrgbClr r="0" g="0" b="0"/>
          </a:effectRef>
          <a:fontRef idx="minor">
            <a:schemeClr val="accent3"/>
          </a:fontRef>
        </p:style>
        <p:txBody>
          <a:bodyPr rtlCol="0" anchor="ctr"/>
          <a:lstStyle/>
          <a:p>
            <a:pPr algn="ctr"/>
            <a:endParaRPr lang="en-US"/>
          </a:p>
        </p:txBody>
      </p:sp>
      <p:sp>
        <p:nvSpPr>
          <p:cNvPr id="18" name="Oval 17">
            <a:extLst>
              <a:ext uri="{FF2B5EF4-FFF2-40B4-BE49-F238E27FC236}">
                <a16:creationId xmlns:a16="http://schemas.microsoft.com/office/drawing/2014/main" id="{908FB660-9D5A-4F4F-AA49-84D448BC5EFE}"/>
              </a:ext>
            </a:extLst>
          </p:cNvPr>
          <p:cNvSpPr/>
          <p:nvPr/>
        </p:nvSpPr>
        <p:spPr>
          <a:xfrm>
            <a:off x="6096000" y="5867400"/>
            <a:ext cx="685800" cy="381000"/>
          </a:xfrm>
          <a:prstGeom prst="ellipse">
            <a:avLst/>
          </a:prstGeom>
          <a:noFill/>
          <a:ln>
            <a:solidFill>
              <a:schemeClr val="accent3"/>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0" name="Straight Arrow Connector 19">
            <a:extLst>
              <a:ext uri="{FF2B5EF4-FFF2-40B4-BE49-F238E27FC236}">
                <a16:creationId xmlns:a16="http://schemas.microsoft.com/office/drawing/2014/main" id="{452B9D09-2E96-435E-84CE-3FFC4A1D3F0B}"/>
              </a:ext>
            </a:extLst>
          </p:cNvPr>
          <p:cNvCxnSpPr>
            <a:cxnSpLocks/>
          </p:cNvCxnSpPr>
          <p:nvPr/>
        </p:nvCxnSpPr>
        <p:spPr>
          <a:xfrm>
            <a:off x="3886200" y="4724400"/>
            <a:ext cx="914400" cy="277038"/>
          </a:xfrm>
          <a:prstGeom prst="straightConnector1">
            <a:avLst/>
          </a:prstGeom>
          <a:ln w="38100">
            <a:solidFill>
              <a:schemeClr val="accent3"/>
            </a:solidFill>
            <a:tailEnd type="triangle"/>
          </a:ln>
        </p:spPr>
        <p:style>
          <a:lnRef idx="1">
            <a:schemeClr val="accent1"/>
          </a:lnRef>
          <a:fillRef idx="0">
            <a:schemeClr val="accent1"/>
          </a:fillRef>
          <a:effectRef idx="0">
            <a:schemeClr val="accent1"/>
          </a:effectRef>
          <a:fontRef idx="minor">
            <a:schemeClr val="tx1"/>
          </a:fontRef>
        </p:style>
      </p:cxnSp>
      <p:cxnSp>
        <p:nvCxnSpPr>
          <p:cNvPr id="21" name="Straight Arrow Connector 20">
            <a:extLst>
              <a:ext uri="{FF2B5EF4-FFF2-40B4-BE49-F238E27FC236}">
                <a16:creationId xmlns:a16="http://schemas.microsoft.com/office/drawing/2014/main" id="{0D18C2D8-D518-4A57-A146-4E80834B15D2}"/>
              </a:ext>
            </a:extLst>
          </p:cNvPr>
          <p:cNvCxnSpPr>
            <a:cxnSpLocks/>
          </p:cNvCxnSpPr>
          <p:nvPr/>
        </p:nvCxnSpPr>
        <p:spPr>
          <a:xfrm>
            <a:off x="4800600" y="5001438"/>
            <a:ext cx="762000" cy="0"/>
          </a:xfrm>
          <a:prstGeom prst="straightConnector1">
            <a:avLst/>
          </a:prstGeom>
          <a:ln w="38100">
            <a:solidFill>
              <a:schemeClr val="accent3"/>
            </a:solidFill>
            <a:tailEnd type="triangle"/>
          </a:ln>
        </p:spPr>
        <p:style>
          <a:lnRef idx="1">
            <a:schemeClr val="accent1"/>
          </a:lnRef>
          <a:fillRef idx="0">
            <a:schemeClr val="accent1"/>
          </a:fillRef>
          <a:effectRef idx="0">
            <a:schemeClr val="accent1"/>
          </a:effectRef>
          <a:fontRef idx="minor">
            <a:schemeClr val="tx1"/>
          </a:fontRef>
        </p:style>
      </p:cxnSp>
      <p:cxnSp>
        <p:nvCxnSpPr>
          <p:cNvPr id="22" name="Straight Arrow Connector 21">
            <a:extLst>
              <a:ext uri="{FF2B5EF4-FFF2-40B4-BE49-F238E27FC236}">
                <a16:creationId xmlns:a16="http://schemas.microsoft.com/office/drawing/2014/main" id="{39113BCE-1C85-4271-ADAB-4FFC7A482914}"/>
              </a:ext>
            </a:extLst>
          </p:cNvPr>
          <p:cNvCxnSpPr>
            <a:cxnSpLocks/>
          </p:cNvCxnSpPr>
          <p:nvPr/>
        </p:nvCxnSpPr>
        <p:spPr>
          <a:xfrm>
            <a:off x="5562600" y="5001438"/>
            <a:ext cx="762000" cy="1018362"/>
          </a:xfrm>
          <a:prstGeom prst="straightConnector1">
            <a:avLst/>
          </a:prstGeom>
          <a:ln w="38100">
            <a:solidFill>
              <a:schemeClr val="accent3"/>
            </a:solidFill>
            <a:tailEnd type="triangle"/>
          </a:ln>
        </p:spPr>
        <p:style>
          <a:lnRef idx="1">
            <a:schemeClr val="accent1"/>
          </a:lnRef>
          <a:fillRef idx="0">
            <a:schemeClr val="accent1"/>
          </a:fillRef>
          <a:effectRef idx="0">
            <a:schemeClr val="accent1"/>
          </a:effectRef>
          <a:fontRef idx="minor">
            <a:schemeClr val="tx1"/>
          </a:fontRef>
        </p:style>
      </p:cxn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D1C778E-116C-4A58-BEA9-76E3144E1FE8}"/>
              </a:ext>
            </a:extLst>
          </p:cNvPr>
          <p:cNvSpPr>
            <a:spLocks noGrp="1"/>
          </p:cNvSpPr>
          <p:nvPr>
            <p:ph type="title"/>
          </p:nvPr>
        </p:nvSpPr>
        <p:spPr/>
        <p:txBody>
          <a:bodyPr/>
          <a:lstStyle/>
          <a:p>
            <a:r>
              <a:rPr lang="en-US" dirty="0"/>
              <a:t>Implementation of Greedy Best-First Search</a:t>
            </a:r>
          </a:p>
        </p:txBody>
      </p:sp>
      <p:sp>
        <p:nvSpPr>
          <p:cNvPr id="6" name="Slide Number Placeholder 5">
            <a:extLst>
              <a:ext uri="{FF2B5EF4-FFF2-40B4-BE49-F238E27FC236}">
                <a16:creationId xmlns:a16="http://schemas.microsoft.com/office/drawing/2014/main" id="{44E064F9-98BA-4E2A-A11B-578018FD1F64}"/>
              </a:ext>
            </a:extLst>
          </p:cNvPr>
          <p:cNvSpPr>
            <a:spLocks noGrp="1"/>
          </p:cNvSpPr>
          <p:nvPr>
            <p:ph type="sldNum" sz="quarter" idx="12"/>
          </p:nvPr>
        </p:nvSpPr>
        <p:spPr>
          <a:xfrm>
            <a:off x="6457950" y="5978526"/>
            <a:ext cx="2057400" cy="365125"/>
          </a:xfrm>
        </p:spPr>
        <p:txBody>
          <a:bodyPr/>
          <a:lstStyle/>
          <a:p>
            <a:fld id="{E97C47EE-1537-423B-A9B2-96D7BC867AC1}" type="slidenum">
              <a:rPr lang="en-US" smtClean="0"/>
              <a:t>63</a:t>
            </a:fld>
            <a:endParaRPr lang="en-US"/>
          </a:p>
        </p:txBody>
      </p:sp>
      <p:pic>
        <p:nvPicPr>
          <p:cNvPr id="7" name="Picture 6">
            <a:extLst>
              <a:ext uri="{FF2B5EF4-FFF2-40B4-BE49-F238E27FC236}">
                <a16:creationId xmlns:a16="http://schemas.microsoft.com/office/drawing/2014/main" id="{6F7C17AE-CAAB-437C-963E-1F1ED4EF3F4F}"/>
              </a:ext>
            </a:extLst>
          </p:cNvPr>
          <p:cNvPicPr>
            <a:picLocks noChangeAspect="1"/>
          </p:cNvPicPr>
          <p:nvPr/>
        </p:nvPicPr>
        <p:blipFill rotWithShape="1">
          <a:blip r:embed="rId2"/>
          <a:srcRect b="32419"/>
          <a:stretch/>
        </p:blipFill>
        <p:spPr>
          <a:xfrm>
            <a:off x="800101" y="2365254"/>
            <a:ext cx="6896100" cy="3197346"/>
          </a:xfrm>
          <a:prstGeom prst="rect">
            <a:avLst/>
          </a:prstGeom>
        </p:spPr>
        <p:style>
          <a:lnRef idx="2">
            <a:schemeClr val="accent2"/>
          </a:lnRef>
          <a:fillRef idx="1">
            <a:schemeClr val="lt1"/>
          </a:fillRef>
          <a:effectRef idx="0">
            <a:schemeClr val="accent2"/>
          </a:effectRef>
          <a:fontRef idx="minor">
            <a:schemeClr val="dk1"/>
          </a:fontRef>
        </p:style>
      </p:pic>
      <p:sp>
        <p:nvSpPr>
          <p:cNvPr id="4" name="Rectangle 3">
            <a:extLst>
              <a:ext uri="{FF2B5EF4-FFF2-40B4-BE49-F238E27FC236}">
                <a16:creationId xmlns:a16="http://schemas.microsoft.com/office/drawing/2014/main" id="{0E198654-E598-446C-949F-CE7BB79A8003}"/>
              </a:ext>
            </a:extLst>
          </p:cNvPr>
          <p:cNvSpPr/>
          <p:nvPr/>
        </p:nvSpPr>
        <p:spPr>
          <a:xfrm>
            <a:off x="2133600" y="2895600"/>
            <a:ext cx="1143000" cy="228600"/>
          </a:xfrm>
          <a:prstGeom prst="rect">
            <a:avLst/>
          </a:prstGeom>
          <a:solidFill>
            <a:schemeClr val="accent2">
              <a:alpha val="50000"/>
            </a:schemeClr>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lang="en-US"/>
          </a:p>
        </p:txBody>
      </p:sp>
      <p:sp>
        <p:nvSpPr>
          <p:cNvPr id="12" name="Rectangle 11">
            <a:extLst>
              <a:ext uri="{FF2B5EF4-FFF2-40B4-BE49-F238E27FC236}">
                <a16:creationId xmlns:a16="http://schemas.microsoft.com/office/drawing/2014/main" id="{AC7F7389-B3C3-48CD-B248-7F7007C75B76}"/>
              </a:ext>
            </a:extLst>
          </p:cNvPr>
          <p:cNvSpPr/>
          <p:nvPr/>
        </p:nvSpPr>
        <p:spPr>
          <a:xfrm>
            <a:off x="4114800" y="2438400"/>
            <a:ext cx="228600" cy="228600"/>
          </a:xfrm>
          <a:prstGeom prst="rect">
            <a:avLst/>
          </a:prstGeom>
          <a:solidFill>
            <a:schemeClr val="accent2">
              <a:alpha val="50000"/>
            </a:schemeClr>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lang="en-US"/>
          </a:p>
        </p:txBody>
      </p:sp>
      <p:sp>
        <p:nvSpPr>
          <p:cNvPr id="14" name="Speech Bubble: Rectangle with Corners Rounded 13">
            <a:extLst>
              <a:ext uri="{FF2B5EF4-FFF2-40B4-BE49-F238E27FC236}">
                <a16:creationId xmlns:a16="http://schemas.microsoft.com/office/drawing/2014/main" id="{CA625B60-3F86-43F3-886B-B90F8A7C31AA}"/>
              </a:ext>
            </a:extLst>
          </p:cNvPr>
          <p:cNvSpPr/>
          <p:nvPr/>
        </p:nvSpPr>
        <p:spPr>
          <a:xfrm>
            <a:off x="6275349" y="3424902"/>
            <a:ext cx="2705100" cy="940857"/>
          </a:xfrm>
          <a:prstGeom prst="wedgeRoundRectCallout">
            <a:avLst>
              <a:gd name="adj1" fmla="val -125594"/>
              <a:gd name="adj2" fmla="val -86606"/>
              <a:gd name="adj3" fmla="val 16667"/>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600" dirty="0"/>
              <a:t>The order for expanding the frontier is  determined by </a:t>
            </a:r>
            <a:r>
              <a:rPr lang="en-US" sz="1600" i="1" dirty="0"/>
              <a:t>f(n)</a:t>
            </a:r>
            <a:endParaRPr lang="en-US" sz="1600" dirty="0"/>
          </a:p>
        </p:txBody>
      </p:sp>
      <p:sp>
        <p:nvSpPr>
          <p:cNvPr id="8" name="TextBox 7">
            <a:extLst>
              <a:ext uri="{FF2B5EF4-FFF2-40B4-BE49-F238E27FC236}">
                <a16:creationId xmlns:a16="http://schemas.microsoft.com/office/drawing/2014/main" id="{BD5EA7BA-7A0E-4980-87F2-90835921ACC0}"/>
              </a:ext>
            </a:extLst>
          </p:cNvPr>
          <p:cNvSpPr txBox="1"/>
          <p:nvPr/>
        </p:nvSpPr>
        <p:spPr>
          <a:xfrm>
            <a:off x="726632" y="5565654"/>
            <a:ext cx="2626168" cy="338554"/>
          </a:xfrm>
          <a:prstGeom prst="rect">
            <a:avLst/>
          </a:prstGeom>
          <a:noFill/>
        </p:spPr>
        <p:txBody>
          <a:bodyPr wrap="none" rtlCol="0">
            <a:spAutoFit/>
          </a:bodyPr>
          <a:lstStyle/>
          <a:p>
            <a:r>
              <a:rPr lang="en-US" sz="1600" dirty="0"/>
              <a:t>See BFS for function EXPAND.</a:t>
            </a:r>
          </a:p>
        </p:txBody>
      </p:sp>
      <p:cxnSp>
        <p:nvCxnSpPr>
          <p:cNvPr id="5" name="Straight Arrow Connector 4">
            <a:extLst>
              <a:ext uri="{FF2B5EF4-FFF2-40B4-BE49-F238E27FC236}">
                <a16:creationId xmlns:a16="http://schemas.microsoft.com/office/drawing/2014/main" id="{F5E84C67-3438-4AA3-8F22-60E274BA8027}"/>
              </a:ext>
            </a:extLst>
          </p:cNvPr>
          <p:cNvCxnSpPr>
            <a:cxnSpLocks/>
            <a:endCxn id="7" idx="0"/>
          </p:cNvCxnSpPr>
          <p:nvPr/>
        </p:nvCxnSpPr>
        <p:spPr>
          <a:xfrm>
            <a:off x="3657600" y="1905000"/>
            <a:ext cx="590551" cy="460254"/>
          </a:xfrm>
          <a:prstGeom prst="straightConnector1">
            <a:avLst/>
          </a:prstGeom>
          <a:ln>
            <a:tailEnd type="triangle"/>
          </a:ln>
        </p:spPr>
        <p:style>
          <a:lnRef idx="3">
            <a:schemeClr val="accent1"/>
          </a:lnRef>
          <a:fillRef idx="0">
            <a:schemeClr val="accent1"/>
          </a:fillRef>
          <a:effectRef idx="2">
            <a:schemeClr val="accent1"/>
          </a:effectRef>
          <a:fontRef idx="minor">
            <a:schemeClr val="tx1"/>
          </a:fontRef>
        </p:style>
      </p:cxnSp>
      <mc:AlternateContent xmlns:mc="http://schemas.openxmlformats.org/markup-compatibility/2006" xmlns:a14="http://schemas.microsoft.com/office/drawing/2010/main">
        <mc:Choice Requires="a14">
          <p:sp>
            <p:nvSpPr>
              <p:cNvPr id="3" name="TextBox 2">
                <a:extLst>
                  <a:ext uri="{FF2B5EF4-FFF2-40B4-BE49-F238E27FC236}">
                    <a16:creationId xmlns:a16="http://schemas.microsoft.com/office/drawing/2014/main" id="{A67F2E6F-47FE-4D7B-8F61-CDAFC7E6EE84}"/>
                  </a:ext>
                </a:extLst>
              </p:cNvPr>
              <p:cNvSpPr txBox="1"/>
              <p:nvPr/>
            </p:nvSpPr>
            <p:spPr>
              <a:xfrm>
                <a:off x="2286000" y="1570915"/>
                <a:ext cx="4941849" cy="646331"/>
              </a:xfrm>
              <a:prstGeom prst="rect">
                <a:avLst/>
              </a:prstGeom>
              <a:noFill/>
            </p:spPr>
            <p:txBody>
              <a:bodyPr wrap="square" rtlCol="0">
                <a:spAutoFit/>
              </a:bodyPr>
              <a:lstStyle/>
              <a:p>
                <a:pPr algn="ctr"/>
                <a:r>
                  <a:rPr lang="en-US" dirty="0"/>
                  <a:t>Heuristic </a:t>
                </a:r>
                <a14:m>
                  <m:oMath xmlns:m="http://schemas.openxmlformats.org/officeDocument/2006/math">
                    <m:r>
                      <a:rPr lang="en-US" b="1" i="1" dirty="0" smtClean="0">
                        <a:solidFill>
                          <a:srgbClr val="FF0000"/>
                        </a:solidFill>
                        <a:latin typeface="Cambria Math" panose="02040503050406030204" pitchFamily="18" charset="0"/>
                      </a:rPr>
                      <m:t>𝒉</m:t>
                    </m:r>
                    <m:r>
                      <a:rPr lang="en-US" b="1" i="1" dirty="0" smtClean="0">
                        <a:solidFill>
                          <a:srgbClr val="FF0000"/>
                        </a:solidFill>
                        <a:latin typeface="Cambria Math" panose="02040503050406030204" pitchFamily="18" charset="0"/>
                      </a:rPr>
                      <m:t>(</m:t>
                    </m:r>
                    <m:r>
                      <a:rPr lang="en-US" b="1" i="1" dirty="0" smtClean="0">
                        <a:solidFill>
                          <a:srgbClr val="FF0000"/>
                        </a:solidFill>
                        <a:latin typeface="Cambria Math" panose="02040503050406030204" pitchFamily="18" charset="0"/>
                      </a:rPr>
                      <m:t>𝒏</m:t>
                    </m:r>
                    <m:r>
                      <a:rPr lang="en-US" b="1" i="1" dirty="0" smtClean="0">
                        <a:solidFill>
                          <a:srgbClr val="FF0000"/>
                        </a:solidFill>
                        <a:latin typeface="Cambria Math" panose="02040503050406030204" pitchFamily="18" charset="0"/>
                      </a:rPr>
                      <m:t>)</m:t>
                    </m:r>
                  </m:oMath>
                </a14:m>
                <a:r>
                  <a:rPr lang="en-US" b="1" dirty="0"/>
                  <a:t> </a:t>
                </a:r>
                <a:r>
                  <a:rPr lang="en-US" dirty="0"/>
                  <a:t>so we always expand the node with the lowest estimated cost to the goal.</a:t>
                </a:r>
                <a:endParaRPr lang="en-US" b="1" dirty="0"/>
              </a:p>
            </p:txBody>
          </p:sp>
        </mc:Choice>
        <mc:Fallback xmlns="">
          <p:sp>
            <p:nvSpPr>
              <p:cNvPr id="3" name="TextBox 2">
                <a:extLst>
                  <a:ext uri="{FF2B5EF4-FFF2-40B4-BE49-F238E27FC236}">
                    <a16:creationId xmlns:a16="http://schemas.microsoft.com/office/drawing/2014/main" id="{A67F2E6F-47FE-4D7B-8F61-CDAFC7E6EE84}"/>
                  </a:ext>
                </a:extLst>
              </p:cNvPr>
              <p:cNvSpPr txBox="1">
                <a:spLocks noRot="1" noChangeAspect="1" noMove="1" noResize="1" noEditPoints="1" noAdjustHandles="1" noChangeArrowheads="1" noChangeShapeType="1" noTextEdit="1"/>
              </p:cNvSpPr>
              <p:nvPr/>
            </p:nvSpPr>
            <p:spPr>
              <a:xfrm>
                <a:off x="2286000" y="1570915"/>
                <a:ext cx="4941849" cy="646331"/>
              </a:xfrm>
              <a:prstGeom prst="rect">
                <a:avLst/>
              </a:prstGeom>
              <a:blipFill>
                <a:blip r:embed="rId3"/>
                <a:stretch>
                  <a:fillRect l="-617" t="-5660" r="-1480" b="-14151"/>
                </a:stretch>
              </a:blipFill>
            </p:spPr>
            <p:txBody>
              <a:bodyPr/>
              <a:lstStyle/>
              <a:p>
                <a:r>
                  <a:rPr lang="en-US">
                    <a:noFill/>
                  </a:rPr>
                  <a:t> </a:t>
                </a:r>
              </a:p>
            </p:txBody>
          </p:sp>
        </mc:Fallback>
      </mc:AlternateContent>
    </p:spTree>
    <p:extLst>
      <p:ext uri="{BB962C8B-B14F-4D97-AF65-F5344CB8AC3E}">
        <p14:creationId xmlns:p14="http://schemas.microsoft.com/office/powerpoint/2010/main" val="1345996843"/>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338" name="Rectangle 2"/>
          <p:cNvSpPr>
            <a:spLocks noGrp="1" noChangeArrowheads="1"/>
          </p:cNvSpPr>
          <p:nvPr>
            <p:ph type="title"/>
          </p:nvPr>
        </p:nvSpPr>
        <p:spPr/>
        <p:txBody>
          <a:bodyPr>
            <a:normAutofit/>
          </a:bodyPr>
          <a:lstStyle/>
          <a:p>
            <a:r>
              <a:rPr lang="en-US" dirty="0"/>
              <a:t>Properties of Greedy Best-First Search</a:t>
            </a:r>
          </a:p>
        </p:txBody>
      </p:sp>
      <mc:AlternateContent xmlns:mc="http://schemas.openxmlformats.org/markup-compatibility/2006">
        <mc:Choice xmlns:a14="http://schemas.microsoft.com/office/drawing/2010/main" Requires="a14">
          <p:sp>
            <p:nvSpPr>
              <p:cNvPr id="14339" name="Rectangle 3"/>
              <p:cNvSpPr>
                <a:spLocks noGrp="1" noChangeArrowheads="1"/>
              </p:cNvSpPr>
              <p:nvPr>
                <p:ph idx="1"/>
              </p:nvPr>
            </p:nvSpPr>
            <p:spPr/>
            <p:txBody>
              <a:bodyPr>
                <a:normAutofit fontScale="92500" lnSpcReduction="20000"/>
              </a:bodyPr>
              <a:lstStyle/>
              <a:p>
                <a:r>
                  <a:rPr lang="en-US" sz="2400" b="1" dirty="0">
                    <a:solidFill>
                      <a:srgbClr val="FF0000"/>
                    </a:solidFill>
                  </a:rPr>
                  <a:t>Complete?</a:t>
                </a:r>
              </a:p>
              <a:p>
                <a:pPr lvl="1">
                  <a:buNone/>
                </a:pPr>
                <a:r>
                  <a:rPr lang="en-US" sz="2400" dirty="0"/>
                  <a:t>Yes – Best-first search is complete in finite spaces.</a:t>
                </a:r>
              </a:p>
              <a:p>
                <a:endParaRPr lang="en-US" sz="2400" b="1" dirty="0">
                  <a:solidFill>
                    <a:srgbClr val="CC0099"/>
                  </a:solidFill>
                </a:endParaRPr>
              </a:p>
              <a:p>
                <a:r>
                  <a:rPr lang="en-US" sz="2400" b="1" dirty="0">
                    <a:solidFill>
                      <a:srgbClr val="FF0000"/>
                    </a:solidFill>
                  </a:rPr>
                  <a:t>Optimal? </a:t>
                </a:r>
              </a:p>
              <a:p>
                <a:pPr lvl="1">
                  <a:buNone/>
                </a:pPr>
                <a:r>
                  <a:rPr lang="en-US" sz="2400" dirty="0"/>
                  <a:t>No</a:t>
                </a:r>
              </a:p>
              <a:p>
                <a:endParaRPr lang="en-US" sz="2400" b="1" dirty="0">
                  <a:solidFill>
                    <a:srgbClr val="CC0099"/>
                  </a:solidFill>
                </a:endParaRPr>
              </a:p>
              <a:p>
                <a:r>
                  <a:rPr lang="en-US" sz="2400" b="1" dirty="0">
                    <a:solidFill>
                      <a:srgbClr val="FF0000"/>
                    </a:solidFill>
                  </a:rPr>
                  <a:t>Time? </a:t>
                </a:r>
              </a:p>
              <a:p>
                <a:pPr lvl="1">
                  <a:buNone/>
                </a:pPr>
                <a:r>
                  <a:rPr lang="en-US" sz="2400" dirty="0"/>
                  <a:t>Worst case: </a:t>
                </a:r>
                <a:r>
                  <a:rPr lang="en-US" sz="2400" i="1" dirty="0"/>
                  <a:t>O</a:t>
                </a:r>
                <a:r>
                  <a:rPr lang="en-US" sz="2400" dirty="0"/>
                  <a:t>(</a:t>
                </a:r>
                <a:r>
                  <a:rPr lang="en-US" sz="2400" i="1" dirty="0" err="1"/>
                  <a:t>b</a:t>
                </a:r>
                <a:r>
                  <a:rPr lang="en-US" sz="2400" i="1" baseline="30000" dirty="0" err="1"/>
                  <a:t>m</a:t>
                </a:r>
                <a:r>
                  <a:rPr lang="en-US" sz="2400" dirty="0"/>
                  <a:t>) </a:t>
                </a:r>
                <a:r>
                  <a:rPr lang="en-US" sz="2400" dirty="0">
                    <a:sym typeface="Wingdings" panose="05000000000000000000" pitchFamily="2" charset="2"/>
                  </a:rPr>
                  <a:t> like DFS</a:t>
                </a:r>
                <a:endParaRPr lang="en-US" sz="2400" dirty="0"/>
              </a:p>
              <a:p>
                <a:pPr lvl="1">
                  <a:buNone/>
                </a:pPr>
                <a:r>
                  <a:rPr lang="en-US" sz="2400" dirty="0"/>
                  <a:t>Best case:    </a:t>
                </a:r>
                <a:r>
                  <a:rPr lang="en-US" sz="2400" i="1" dirty="0"/>
                  <a:t>O</a:t>
                </a:r>
                <a:r>
                  <a:rPr lang="en-US" sz="2400" dirty="0"/>
                  <a:t>(</a:t>
                </a:r>
                <a:r>
                  <a:rPr lang="en-US" sz="2400" i="1" dirty="0"/>
                  <a:t>bm</a:t>
                </a:r>
                <a:r>
                  <a:rPr lang="en-US" sz="2400" dirty="0"/>
                  <a:t>) – If </a:t>
                </a:r>
                <a14:m>
                  <m:oMath xmlns:m="http://schemas.openxmlformats.org/officeDocument/2006/math">
                    <m:r>
                      <a:rPr lang="en-US" sz="2400" i="1" dirty="0" smtClean="0">
                        <a:latin typeface="Cambria Math" panose="02040503050406030204" pitchFamily="18" charset="0"/>
                      </a:rPr>
                      <m:t>h</m:t>
                    </m:r>
                    <m:r>
                      <a:rPr lang="en-US" sz="2400" i="1" dirty="0" smtClean="0">
                        <a:latin typeface="Cambria Math" panose="02040503050406030204" pitchFamily="18" charset="0"/>
                      </a:rPr>
                      <m:t>(</m:t>
                    </m:r>
                    <m:r>
                      <a:rPr lang="en-US" sz="2400" i="1" dirty="0" smtClean="0">
                        <a:latin typeface="Cambria Math" panose="02040503050406030204" pitchFamily="18" charset="0"/>
                      </a:rPr>
                      <m:t>𝑛</m:t>
                    </m:r>
                    <m:r>
                      <a:rPr lang="en-US" sz="2400" i="1" dirty="0" smtClean="0">
                        <a:latin typeface="Cambria Math" panose="02040503050406030204" pitchFamily="18" charset="0"/>
                      </a:rPr>
                      <m:t>)</m:t>
                    </m:r>
                  </m:oMath>
                </a14:m>
                <a:r>
                  <a:rPr lang="en-US" sz="2400" dirty="0"/>
                  <a:t> is 100% accurate we only expand a single path.</a:t>
                </a:r>
              </a:p>
              <a:p>
                <a:endParaRPr lang="en-US" sz="2400" b="1" dirty="0">
                  <a:solidFill>
                    <a:srgbClr val="CC0099"/>
                  </a:solidFill>
                </a:endParaRPr>
              </a:p>
              <a:p>
                <a:r>
                  <a:rPr lang="en-US" sz="2400" b="1" dirty="0">
                    <a:solidFill>
                      <a:srgbClr val="FF0000"/>
                    </a:solidFill>
                  </a:rPr>
                  <a:t>Space?</a:t>
                </a:r>
              </a:p>
              <a:p>
                <a:pPr lvl="1">
                  <a:buNone/>
                </a:pPr>
                <a:r>
                  <a:rPr lang="en-US" sz="2400" dirty="0"/>
                  <a:t>Same as time complexity. The worst case is very bad!</a:t>
                </a:r>
              </a:p>
            </p:txBody>
          </p:sp>
        </mc:Choice>
        <mc:Fallback>
          <p:sp>
            <p:nvSpPr>
              <p:cNvPr id="14339" name="Rectangle 3"/>
              <p:cNvSpPr>
                <a:spLocks noGrp="1" noRot="1" noChangeAspect="1" noMove="1" noResize="1" noEditPoints="1" noAdjustHandles="1" noChangeArrowheads="1" noChangeShapeType="1" noTextEdit="1"/>
              </p:cNvSpPr>
              <p:nvPr>
                <p:ph idx="1"/>
              </p:nvPr>
            </p:nvSpPr>
            <p:spPr>
              <a:blipFill>
                <a:blip r:embed="rId3"/>
                <a:stretch>
                  <a:fillRect l="-850" t="-2801"/>
                </a:stretch>
              </a:blipFill>
            </p:spPr>
            <p:txBody>
              <a:bodyPr/>
              <a:lstStyle/>
              <a:p>
                <a:r>
                  <a:rPr lang="en-US">
                    <a:noFill/>
                  </a:rPr>
                  <a:t> </a:t>
                </a:r>
              </a:p>
            </p:txBody>
          </p:sp>
        </mc:Fallback>
      </mc:AlternateContent>
      <p:sp>
        <p:nvSpPr>
          <p:cNvPr id="4" name="Rectangle 3">
            <a:extLst>
              <a:ext uri="{FF2B5EF4-FFF2-40B4-BE49-F238E27FC236}">
                <a16:creationId xmlns:a16="http://schemas.microsoft.com/office/drawing/2014/main" id="{08A93E16-2B41-4503-8382-D85B56C6A5BC}"/>
              </a:ext>
            </a:extLst>
          </p:cNvPr>
          <p:cNvSpPr/>
          <p:nvPr/>
        </p:nvSpPr>
        <p:spPr>
          <a:xfrm>
            <a:off x="6000750" y="2895600"/>
            <a:ext cx="2514600" cy="695575"/>
          </a:xfrm>
          <a:prstGeom prst="rect">
            <a:avLst/>
          </a:prstGeom>
        </p:spPr>
        <p:style>
          <a:lnRef idx="2">
            <a:schemeClr val="accent3">
              <a:shade val="50000"/>
            </a:schemeClr>
          </a:lnRef>
          <a:fillRef idx="1">
            <a:schemeClr val="accent3"/>
          </a:fillRef>
          <a:effectRef idx="0">
            <a:schemeClr val="accent3"/>
          </a:effectRef>
          <a:fontRef idx="minor">
            <a:schemeClr val="lt1"/>
          </a:fontRef>
        </p:style>
        <p:txBody>
          <a:bodyPr wrap="square">
            <a:spAutoFit/>
          </a:bodyPr>
          <a:lstStyle/>
          <a:p>
            <a:pPr>
              <a:lnSpc>
                <a:spcPct val="90000"/>
              </a:lnSpc>
            </a:pPr>
            <a:r>
              <a:rPr lang="en-US" sz="1400" i="1" dirty="0"/>
              <a:t>d: </a:t>
            </a:r>
            <a:r>
              <a:rPr lang="en-US" sz="1400" dirty="0"/>
              <a:t>depth of the optimal solution</a:t>
            </a:r>
          </a:p>
          <a:p>
            <a:pPr>
              <a:lnSpc>
                <a:spcPct val="90000"/>
              </a:lnSpc>
            </a:pPr>
            <a:r>
              <a:rPr lang="en-US" sz="1400" i="1" dirty="0"/>
              <a:t>m: </a:t>
            </a:r>
            <a:r>
              <a:rPr lang="en-US" sz="1400" dirty="0"/>
              <a:t>max. depth of tree</a:t>
            </a:r>
          </a:p>
          <a:p>
            <a:r>
              <a:rPr lang="en-US" sz="1400" i="1" dirty="0"/>
              <a:t>b:</a:t>
            </a:r>
            <a:r>
              <a:rPr lang="en-US" sz="1400" dirty="0"/>
              <a:t> maximum branching factor</a:t>
            </a:r>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C5656F2-D2C9-02A8-DE85-3DC1B2C999B6}"/>
            </a:ext>
          </a:extLst>
        </p:cNvPr>
        <p:cNvGrpSpPr/>
        <p:nvPr/>
      </p:nvGrpSpPr>
      <p:grpSpPr>
        <a:xfrm>
          <a:off x="0" y="0"/>
          <a:ext cx="0" cy="0"/>
          <a:chOff x="0" y="0"/>
          <a:chExt cx="0" cy="0"/>
        </a:xfrm>
      </p:grpSpPr>
      <p:pic>
        <p:nvPicPr>
          <p:cNvPr id="3" name="Picture 2" descr="Person holding a compass">
            <a:extLst>
              <a:ext uri="{FF2B5EF4-FFF2-40B4-BE49-F238E27FC236}">
                <a16:creationId xmlns:a16="http://schemas.microsoft.com/office/drawing/2014/main" id="{EDCE3405-8AB5-0D1A-0B74-548B088EF96B}"/>
              </a:ext>
            </a:extLst>
          </p:cNvPr>
          <p:cNvPicPr>
            <a:picLocks noChangeAspect="1"/>
          </p:cNvPicPr>
          <p:nvPr/>
        </p:nvPicPr>
        <p:blipFill rotWithShape="1">
          <a:blip r:embed="rId2" cstate="print">
            <a:alphaModFix/>
            <a:extLst>
              <a:ext uri="{28A0092B-C50C-407E-A947-70E740481C1C}">
                <a14:useLocalDpi xmlns:a14="http://schemas.microsoft.com/office/drawing/2010/main" val="0"/>
              </a:ext>
            </a:extLst>
          </a:blip>
          <a:srcRect l="280" r="10719" b="-2"/>
          <a:stretch/>
        </p:blipFill>
        <p:spPr>
          <a:xfrm>
            <a:off x="20" y="1"/>
            <a:ext cx="9143980" cy="6857999"/>
          </a:xfrm>
          <a:prstGeom prst="rect">
            <a:avLst/>
          </a:prstGeom>
        </p:spPr>
      </p:pic>
      <p:sp>
        <p:nvSpPr>
          <p:cNvPr id="7" name="Title 6">
            <a:extLst>
              <a:ext uri="{FF2B5EF4-FFF2-40B4-BE49-F238E27FC236}">
                <a16:creationId xmlns:a16="http://schemas.microsoft.com/office/drawing/2014/main" id="{8643F467-F528-4108-C110-27ADCBEE0CC8}"/>
              </a:ext>
            </a:extLst>
          </p:cNvPr>
          <p:cNvSpPr>
            <a:spLocks noGrp="1"/>
          </p:cNvSpPr>
          <p:nvPr>
            <p:ph type="title"/>
          </p:nvPr>
        </p:nvSpPr>
        <p:spPr>
          <a:xfrm>
            <a:off x="1066800" y="5638800"/>
            <a:ext cx="6858000" cy="858838"/>
          </a:xfrm>
        </p:spPr>
        <p:txBody>
          <a:bodyPr vert="horz" lIns="91440" tIns="45720" rIns="91440" bIns="45720" rtlCol="0" anchor="b">
            <a:noAutofit/>
          </a:bodyPr>
          <a:lstStyle/>
          <a:p>
            <a:pPr algn="ctr" defTabSz="914400"/>
            <a:r>
              <a:rPr lang="en-US" sz="4800" b="1" dirty="0">
                <a:solidFill>
                  <a:srgbClr val="FFFFFF"/>
                </a:solidFill>
              </a:rPr>
              <a:t>Informed Search</a:t>
            </a:r>
            <a:br>
              <a:rPr lang="en-US" sz="4800" b="1" dirty="0">
                <a:solidFill>
                  <a:srgbClr val="FFFFFF"/>
                </a:solidFill>
              </a:rPr>
            </a:br>
            <a:r>
              <a:rPr lang="en-US" sz="3600" b="1" dirty="0">
                <a:solidFill>
                  <a:srgbClr val="FFFFFF"/>
                </a:solidFill>
              </a:rPr>
              <a:t>A* Search</a:t>
            </a:r>
            <a:endParaRPr lang="en-US" sz="4800" b="1" dirty="0">
              <a:solidFill>
                <a:srgbClr val="FFFFFF"/>
              </a:solidFill>
            </a:endParaRPr>
          </a:p>
        </p:txBody>
      </p:sp>
    </p:spTree>
    <p:extLst>
      <p:ext uri="{BB962C8B-B14F-4D97-AF65-F5344CB8AC3E}">
        <p14:creationId xmlns:p14="http://schemas.microsoft.com/office/powerpoint/2010/main" val="3202707377"/>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dirty="0"/>
              <a:t>The Optimality Problem of </a:t>
            </a:r>
            <a:br>
              <a:rPr lang="en-US" dirty="0"/>
            </a:br>
            <a:r>
              <a:rPr lang="en-US" dirty="0"/>
              <a:t>Greedy Best-First search</a:t>
            </a:r>
          </a:p>
        </p:txBody>
      </p:sp>
      <p:pic>
        <p:nvPicPr>
          <p:cNvPr id="53250" name="Picture 2"/>
          <p:cNvPicPr>
            <a:picLocks noChangeAspect="1" noChangeArrowheads="1"/>
          </p:cNvPicPr>
          <p:nvPr/>
        </p:nvPicPr>
        <p:blipFill>
          <a:blip r:embed="rId3" cstate="print"/>
          <a:srcRect/>
          <a:stretch>
            <a:fillRect/>
          </a:stretch>
        </p:blipFill>
        <p:spPr bwMode="auto">
          <a:xfrm>
            <a:off x="838200" y="2286000"/>
            <a:ext cx="7448835" cy="3124200"/>
          </a:xfrm>
          <a:prstGeom prst="rect">
            <a:avLst/>
          </a:prstGeom>
          <a:noFill/>
          <a:ln w="9525">
            <a:noFill/>
            <a:miter lim="800000"/>
            <a:headEnd/>
            <a:tailEnd/>
          </a:ln>
        </p:spPr>
      </p:pic>
      <p:cxnSp>
        <p:nvCxnSpPr>
          <p:cNvPr id="4" name="Straight Arrow Connector 3">
            <a:extLst>
              <a:ext uri="{FF2B5EF4-FFF2-40B4-BE49-F238E27FC236}">
                <a16:creationId xmlns:a16="http://schemas.microsoft.com/office/drawing/2014/main" id="{2CE8323A-63A6-4343-BE86-66AF738ED2FC}"/>
              </a:ext>
            </a:extLst>
          </p:cNvPr>
          <p:cNvCxnSpPr>
            <a:cxnSpLocks/>
          </p:cNvCxnSpPr>
          <p:nvPr/>
        </p:nvCxnSpPr>
        <p:spPr>
          <a:xfrm>
            <a:off x="1828800" y="4343400"/>
            <a:ext cx="838200" cy="0"/>
          </a:xfrm>
          <a:prstGeom prst="straightConnector1">
            <a:avLst/>
          </a:prstGeom>
          <a:ln w="38100" cap="flat" cmpd="sng" algn="ctr">
            <a:solidFill>
              <a:srgbClr val="FF0000"/>
            </a:solidFill>
            <a:prstDash val="solid"/>
            <a:round/>
            <a:headEnd type="none" w="med" len="med"/>
            <a:tailEnd type="arrow" w="med" len="med"/>
          </a:ln>
        </p:spPr>
        <p:style>
          <a:lnRef idx="0">
            <a:scrgbClr r="0" g="0" b="0"/>
          </a:lnRef>
          <a:fillRef idx="0">
            <a:scrgbClr r="0" g="0" b="0"/>
          </a:fillRef>
          <a:effectRef idx="0">
            <a:scrgbClr r="0" g="0" b="0"/>
          </a:effectRef>
          <a:fontRef idx="minor">
            <a:schemeClr val="tx1"/>
          </a:fontRef>
        </p:style>
      </p:cxnSp>
      <mc:AlternateContent xmlns:mc="http://schemas.openxmlformats.org/markup-compatibility/2006">
        <mc:Choice xmlns:a14="http://schemas.microsoft.com/office/drawing/2010/main" Requires="a14">
          <p:sp>
            <p:nvSpPr>
              <p:cNvPr id="5" name="TextBox 4">
                <a:extLst>
                  <a:ext uri="{FF2B5EF4-FFF2-40B4-BE49-F238E27FC236}">
                    <a16:creationId xmlns:a16="http://schemas.microsoft.com/office/drawing/2014/main" id="{325AF2FD-A6D4-40B4-97FB-A170B078FE9B}"/>
                  </a:ext>
                </a:extLst>
              </p:cNvPr>
              <p:cNvSpPr txBox="1"/>
              <p:nvPr/>
            </p:nvSpPr>
            <p:spPr>
              <a:xfrm>
                <a:off x="2748093" y="5257800"/>
                <a:ext cx="3495414" cy="923330"/>
              </a:xfrm>
              <a:prstGeom prst="rect">
                <a:avLst/>
              </a:prstGeom>
            </p:spPr>
            <p:style>
              <a:lnRef idx="2">
                <a:schemeClr val="accent6">
                  <a:shade val="15000"/>
                </a:schemeClr>
              </a:lnRef>
              <a:fillRef idx="1">
                <a:schemeClr val="accent6"/>
              </a:fillRef>
              <a:effectRef idx="0">
                <a:schemeClr val="accent6"/>
              </a:effectRef>
              <a:fontRef idx="minor">
                <a:schemeClr val="lt1"/>
              </a:fontRef>
            </p:style>
            <p:txBody>
              <a:bodyPr wrap="square" rtlCol="0">
                <a:spAutoFit/>
              </a:bodyPr>
              <a:lstStyle/>
              <a:p>
                <a:pPr algn="ctr"/>
                <a14:m>
                  <m:oMath xmlns:m="http://schemas.openxmlformats.org/officeDocument/2006/math">
                    <m:r>
                      <a:rPr lang="en-US" i="1" dirty="0">
                        <a:latin typeface="Cambria Math" panose="02040503050406030204" pitchFamily="18" charset="0"/>
                      </a:rPr>
                      <m:t>h</m:t>
                    </m:r>
                    <m:r>
                      <a:rPr lang="en-US" i="1" dirty="0">
                        <a:latin typeface="Cambria Math" panose="02040503050406030204" pitchFamily="18" charset="0"/>
                      </a:rPr>
                      <m:t>=1</m:t>
                    </m:r>
                  </m:oMath>
                </a14:m>
                <a:r>
                  <a:rPr lang="en-US" dirty="0"/>
                  <a:t> is better than </a:t>
                </a:r>
                <a14:m>
                  <m:oMath xmlns:m="http://schemas.openxmlformats.org/officeDocument/2006/math">
                    <m:r>
                      <a:rPr lang="en-US" i="1" dirty="0">
                        <a:latin typeface="Cambria Math" panose="02040503050406030204" pitchFamily="18" charset="0"/>
                      </a:rPr>
                      <m:t>h</m:t>
                    </m:r>
                    <m:r>
                      <a:rPr lang="en-US" i="1" dirty="0">
                        <a:latin typeface="Cambria Math" panose="02040503050406030204" pitchFamily="18" charset="0"/>
                      </a:rPr>
                      <m:t>=2</m:t>
                    </m:r>
                  </m:oMath>
                </a14:m>
                <a:r>
                  <a:rPr lang="en-US" dirty="0"/>
                  <a:t>. </a:t>
                </a:r>
                <a:br>
                  <a:rPr lang="en-US" dirty="0"/>
                </a:br>
                <a:r>
                  <a:rPr lang="en-US" dirty="0"/>
                  <a:t>Greedy means it will never reconsider a decision!</a:t>
                </a:r>
              </a:p>
            </p:txBody>
          </p:sp>
        </mc:Choice>
        <mc:Fallback>
          <p:sp>
            <p:nvSpPr>
              <p:cNvPr id="5" name="TextBox 4">
                <a:extLst>
                  <a:ext uri="{FF2B5EF4-FFF2-40B4-BE49-F238E27FC236}">
                    <a16:creationId xmlns:a16="http://schemas.microsoft.com/office/drawing/2014/main" id="{325AF2FD-A6D4-40B4-97FB-A170B078FE9B}"/>
                  </a:ext>
                </a:extLst>
              </p:cNvPr>
              <p:cNvSpPr txBox="1">
                <a:spLocks noRot="1" noChangeAspect="1" noMove="1" noResize="1" noEditPoints="1" noAdjustHandles="1" noChangeArrowheads="1" noChangeShapeType="1" noTextEdit="1"/>
              </p:cNvSpPr>
              <p:nvPr/>
            </p:nvSpPr>
            <p:spPr>
              <a:xfrm>
                <a:off x="2748093" y="5257800"/>
                <a:ext cx="3495414" cy="923330"/>
              </a:xfrm>
              <a:prstGeom prst="rect">
                <a:avLst/>
              </a:prstGeom>
              <a:blipFill>
                <a:blip r:embed="rId4"/>
                <a:stretch>
                  <a:fillRect t="-3268" b="-8497"/>
                </a:stretch>
              </a:blipFill>
            </p:spPr>
            <p:txBody>
              <a:bodyPr/>
              <a:lstStyle/>
              <a:p>
                <a:r>
                  <a:rPr lang="en-US">
                    <a:noFill/>
                  </a:rPr>
                  <a:t> </a:t>
                </a:r>
              </a:p>
            </p:txBody>
          </p:sp>
        </mc:Fallback>
      </mc:AlternateContent>
      <p:cxnSp>
        <p:nvCxnSpPr>
          <p:cNvPr id="10" name="Straight Arrow Connector 9">
            <a:extLst>
              <a:ext uri="{FF2B5EF4-FFF2-40B4-BE49-F238E27FC236}">
                <a16:creationId xmlns:a16="http://schemas.microsoft.com/office/drawing/2014/main" id="{18EB2F36-4F4A-28CE-1B8D-B6AACF4B2D7E}"/>
              </a:ext>
            </a:extLst>
          </p:cNvPr>
          <p:cNvCxnSpPr>
            <a:cxnSpLocks/>
          </p:cNvCxnSpPr>
          <p:nvPr/>
        </p:nvCxnSpPr>
        <p:spPr>
          <a:xfrm>
            <a:off x="2819400" y="4343400"/>
            <a:ext cx="4876800" cy="0"/>
          </a:xfrm>
          <a:prstGeom prst="straightConnector1">
            <a:avLst/>
          </a:prstGeom>
          <a:ln w="38100" cap="flat" cmpd="sng" algn="ctr">
            <a:solidFill>
              <a:srgbClr val="FF0000"/>
            </a:solidFill>
            <a:prstDash val="solid"/>
            <a:round/>
            <a:headEnd type="none" w="med" len="med"/>
            <a:tailEnd type="arrow" w="med" len="med"/>
          </a:ln>
        </p:spPr>
        <p:style>
          <a:lnRef idx="0">
            <a:scrgbClr r="0" g="0" b="0"/>
          </a:lnRef>
          <a:fillRef idx="0">
            <a:scrgbClr r="0" g="0" b="0"/>
          </a:fillRef>
          <a:effectRef idx="0">
            <a:scrgbClr r="0" g="0" b="0"/>
          </a:effectRef>
          <a:fontRef idx="minor">
            <a:schemeClr val="tx1"/>
          </a:fontRef>
        </p:style>
      </p:cxnSp>
      <mc:AlternateContent xmlns:mc="http://schemas.openxmlformats.org/markup-compatibility/2006">
        <mc:Choice xmlns:a14="http://schemas.microsoft.com/office/drawing/2010/main" Requires="a14">
          <p:sp>
            <p:nvSpPr>
              <p:cNvPr id="3" name="TextBox 2">
                <a:extLst>
                  <a:ext uri="{FF2B5EF4-FFF2-40B4-BE49-F238E27FC236}">
                    <a16:creationId xmlns:a16="http://schemas.microsoft.com/office/drawing/2014/main" id="{413E9EE6-5B4E-BACD-81F1-3686999B98D9}"/>
                  </a:ext>
                </a:extLst>
              </p:cNvPr>
              <p:cNvSpPr txBox="1"/>
              <p:nvPr/>
            </p:nvSpPr>
            <p:spPr>
              <a:xfrm>
                <a:off x="685800" y="1828800"/>
                <a:ext cx="7620000" cy="369332"/>
              </a:xfrm>
              <a:prstGeom prst="rect">
                <a:avLst/>
              </a:prstGeom>
              <a:noFill/>
            </p:spPr>
            <p:txBody>
              <a:bodyPr wrap="square" rtlCol="0">
                <a:spAutoFit/>
              </a:bodyPr>
              <a:lstStyle/>
              <a:p>
                <a:r>
                  <a:rPr lang="en-US" dirty="0"/>
                  <a:t>Greedy best-first search only considers the estimated cost to the goal: </a:t>
                </a:r>
                <a14:m>
                  <m:oMath xmlns:m="http://schemas.openxmlformats.org/officeDocument/2006/math">
                    <m:r>
                      <a:rPr lang="en-US" b="0" i="1" smtClean="0">
                        <a:latin typeface="Cambria Math" panose="02040503050406030204" pitchFamily="18" charset="0"/>
                      </a:rPr>
                      <m:t>h</m:t>
                    </m:r>
                    <m:r>
                      <a:rPr lang="en-US" b="0" i="1" smtClean="0">
                        <a:latin typeface="Cambria Math" panose="02040503050406030204" pitchFamily="18" charset="0"/>
                      </a:rPr>
                      <m:t>(</m:t>
                    </m:r>
                    <m:r>
                      <a:rPr lang="en-US" b="0" i="1" smtClean="0">
                        <a:latin typeface="Cambria Math" panose="02040503050406030204" pitchFamily="18" charset="0"/>
                      </a:rPr>
                      <m:t>𝑛</m:t>
                    </m:r>
                    <m:r>
                      <a:rPr lang="en-US" b="0" i="1" smtClean="0">
                        <a:latin typeface="Cambria Math" panose="02040503050406030204" pitchFamily="18" charset="0"/>
                      </a:rPr>
                      <m:t>)</m:t>
                    </m:r>
                  </m:oMath>
                </a14:m>
                <a:endParaRPr lang="en-US" dirty="0"/>
              </a:p>
            </p:txBody>
          </p:sp>
        </mc:Choice>
        <mc:Fallback>
          <p:sp>
            <p:nvSpPr>
              <p:cNvPr id="3" name="TextBox 2">
                <a:extLst>
                  <a:ext uri="{FF2B5EF4-FFF2-40B4-BE49-F238E27FC236}">
                    <a16:creationId xmlns:a16="http://schemas.microsoft.com/office/drawing/2014/main" id="{413E9EE6-5B4E-BACD-81F1-3686999B98D9}"/>
                  </a:ext>
                </a:extLst>
              </p:cNvPr>
              <p:cNvSpPr txBox="1">
                <a:spLocks noRot="1" noChangeAspect="1" noMove="1" noResize="1" noEditPoints="1" noAdjustHandles="1" noChangeArrowheads="1" noChangeShapeType="1" noTextEdit="1"/>
              </p:cNvSpPr>
              <p:nvPr/>
            </p:nvSpPr>
            <p:spPr>
              <a:xfrm>
                <a:off x="685800" y="1828800"/>
                <a:ext cx="7620000" cy="369332"/>
              </a:xfrm>
              <a:prstGeom prst="rect">
                <a:avLst/>
              </a:prstGeom>
              <a:blipFill>
                <a:blip r:embed="rId5"/>
                <a:stretch>
                  <a:fillRect l="-720" t="-8197" b="-24590"/>
                </a:stretch>
              </a:blipFill>
            </p:spPr>
            <p:txBody>
              <a:bodyPr/>
              <a:lstStyle/>
              <a:p>
                <a:r>
                  <a:rPr lang="en-US">
                    <a:noFill/>
                  </a:rPr>
                  <a:t> </a:t>
                </a:r>
              </a:p>
            </p:txBody>
          </p:sp>
        </mc:Fallback>
      </mc:AlternateContent>
      <p:sp>
        <p:nvSpPr>
          <p:cNvPr id="6" name="TextBox 5">
            <a:extLst>
              <a:ext uri="{FF2B5EF4-FFF2-40B4-BE49-F238E27FC236}">
                <a16:creationId xmlns:a16="http://schemas.microsoft.com/office/drawing/2014/main" id="{98ABB58F-53A8-6392-AB52-BF19A9746B1B}"/>
              </a:ext>
            </a:extLst>
          </p:cNvPr>
          <p:cNvSpPr txBox="1"/>
          <p:nvPr/>
        </p:nvSpPr>
        <p:spPr>
          <a:xfrm>
            <a:off x="3048000" y="4275559"/>
            <a:ext cx="3962400" cy="369332"/>
          </a:xfrm>
          <a:prstGeom prst="rect">
            <a:avLst/>
          </a:prstGeom>
          <a:noFill/>
        </p:spPr>
        <p:txBody>
          <a:bodyPr wrap="square" rtlCol="0">
            <a:spAutoFit/>
          </a:bodyPr>
          <a:lstStyle/>
          <a:p>
            <a:pPr algn="ctr"/>
            <a:r>
              <a:rPr lang="en-US" b="1" dirty="0">
                <a:solidFill>
                  <a:srgbClr val="FF0000"/>
                </a:solidFill>
              </a:rPr>
              <a:t>Total cost of 6 vs. optimal path has 3</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5"/>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10"/>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p:bldLst>
  </p:timing>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2" name="Picture 2">
            <a:extLst>
              <a:ext uri="{FF2B5EF4-FFF2-40B4-BE49-F238E27FC236}">
                <a16:creationId xmlns:a16="http://schemas.microsoft.com/office/drawing/2014/main" id="{BAC0DDE9-14B0-0605-F8A9-993AB18ABBDA}"/>
              </a:ext>
            </a:extLst>
          </p:cNvPr>
          <p:cNvPicPr>
            <a:picLocks noChangeAspect="1" noChangeArrowheads="1"/>
          </p:cNvPicPr>
          <p:nvPr/>
        </p:nvPicPr>
        <p:blipFill>
          <a:blip r:embed="rId3" cstate="print"/>
          <a:srcRect/>
          <a:stretch>
            <a:fillRect/>
          </a:stretch>
        </p:blipFill>
        <p:spPr bwMode="auto">
          <a:xfrm>
            <a:off x="2209800" y="774699"/>
            <a:ext cx="6019800" cy="2501901"/>
          </a:xfrm>
          <a:prstGeom prst="rect">
            <a:avLst/>
          </a:prstGeom>
          <a:noFill/>
          <a:ln w="9525">
            <a:noFill/>
            <a:miter lim="800000"/>
            <a:headEnd/>
            <a:tailEnd/>
          </a:ln>
        </p:spPr>
      </p:pic>
      <p:sp>
        <p:nvSpPr>
          <p:cNvPr id="15362" name="Rectangle 2"/>
          <p:cNvSpPr>
            <a:spLocks noGrp="1" noChangeArrowheads="1"/>
          </p:cNvSpPr>
          <p:nvPr>
            <p:ph type="title"/>
          </p:nvPr>
        </p:nvSpPr>
        <p:spPr/>
        <p:txBody>
          <a:bodyPr/>
          <a:lstStyle/>
          <a:p>
            <a:r>
              <a:rPr lang="en-US" dirty="0"/>
              <a:t>A</a:t>
            </a:r>
            <a:r>
              <a:rPr lang="en-US" baseline="30000" dirty="0"/>
              <a:t>*</a:t>
            </a:r>
            <a:r>
              <a:rPr lang="en-US" dirty="0"/>
              <a:t> Search</a:t>
            </a:r>
          </a:p>
        </p:txBody>
      </p:sp>
      <mc:AlternateContent xmlns:mc="http://schemas.openxmlformats.org/markup-compatibility/2006">
        <mc:Choice xmlns:a14="http://schemas.microsoft.com/office/drawing/2010/main" Requires="a14">
          <p:sp>
            <p:nvSpPr>
              <p:cNvPr id="15363" name="Rectangle 3"/>
              <p:cNvSpPr>
                <a:spLocks noGrp="1" noChangeArrowheads="1"/>
              </p:cNvSpPr>
              <p:nvPr>
                <p:ph idx="1"/>
              </p:nvPr>
            </p:nvSpPr>
            <p:spPr>
              <a:xfrm>
                <a:off x="600075" y="3503774"/>
                <a:ext cx="7886700" cy="2516025"/>
              </a:xfrm>
            </p:spPr>
            <p:txBody>
              <a:bodyPr>
                <a:normAutofit fontScale="55000" lnSpcReduction="20000"/>
              </a:bodyPr>
              <a:lstStyle/>
              <a:p>
                <a:pPr>
                  <a:lnSpc>
                    <a:spcPct val="120000"/>
                  </a:lnSpc>
                </a:pPr>
                <a:r>
                  <a:rPr lang="en-US" sz="2800" b="1" dirty="0"/>
                  <a:t>Idea</a:t>
                </a:r>
                <a:r>
                  <a:rPr lang="en-US" sz="2800" dirty="0"/>
                  <a:t>: Consider the complete path for planning.</a:t>
                </a:r>
              </a:p>
              <a:p>
                <a:pPr>
                  <a:lnSpc>
                    <a:spcPct val="120000"/>
                  </a:lnSpc>
                </a:pPr>
                <a:r>
                  <a:rPr lang="en-US" sz="2800" dirty="0"/>
                  <a:t>The evaluation function </a:t>
                </a:r>
                <a14:m>
                  <m:oMath xmlns:m="http://schemas.openxmlformats.org/officeDocument/2006/math">
                    <m:r>
                      <a:rPr lang="en-US" sz="2800" i="1" dirty="0" smtClean="0">
                        <a:solidFill>
                          <a:srgbClr val="FF0000"/>
                        </a:solidFill>
                        <a:latin typeface="Cambria Math" panose="02040503050406030204" pitchFamily="18" charset="0"/>
                      </a:rPr>
                      <m:t>𝑓</m:t>
                    </m:r>
                    <m:r>
                      <a:rPr lang="en-US" sz="2800" i="1" dirty="0" smtClean="0">
                        <a:solidFill>
                          <a:srgbClr val="FF0000"/>
                        </a:solidFill>
                        <a:latin typeface="Cambria Math" panose="02040503050406030204" pitchFamily="18" charset="0"/>
                      </a:rPr>
                      <m:t>(</m:t>
                    </m:r>
                    <m:r>
                      <a:rPr lang="en-US" sz="2800" i="1" dirty="0" smtClean="0">
                        <a:solidFill>
                          <a:srgbClr val="FF0000"/>
                        </a:solidFill>
                        <a:latin typeface="Cambria Math" panose="02040503050406030204" pitchFamily="18" charset="0"/>
                      </a:rPr>
                      <m:t>𝑛</m:t>
                    </m:r>
                    <m:r>
                      <a:rPr lang="en-US" sz="2800" i="1" dirty="0" smtClean="0">
                        <a:solidFill>
                          <a:srgbClr val="FF0000"/>
                        </a:solidFill>
                        <a:latin typeface="Cambria Math" panose="02040503050406030204" pitchFamily="18" charset="0"/>
                      </a:rPr>
                      <m:t>)</m:t>
                    </m:r>
                  </m:oMath>
                </a14:m>
                <a:r>
                  <a:rPr lang="en-US" sz="2800" dirty="0">
                    <a:solidFill>
                      <a:srgbClr val="FF0000"/>
                    </a:solidFill>
                  </a:rPr>
                  <a:t> </a:t>
                </a:r>
                <a:r>
                  <a:rPr lang="en-US" sz="2800" dirty="0"/>
                  <a:t>is the estimated total cost of the path through node </a:t>
                </a:r>
                <a14:m>
                  <m:oMath xmlns:m="http://schemas.openxmlformats.org/officeDocument/2006/math">
                    <m:r>
                      <a:rPr lang="en-US" sz="2800" i="1" dirty="0" smtClean="0">
                        <a:latin typeface="Cambria Math" panose="02040503050406030204" pitchFamily="18" charset="0"/>
                      </a:rPr>
                      <m:t>𝑛</m:t>
                    </m:r>
                  </m:oMath>
                </a14:m>
                <a:r>
                  <a:rPr lang="en-US" sz="2800" dirty="0"/>
                  <a:t> to the goal:</a:t>
                </a:r>
              </a:p>
              <a:p>
                <a:pPr>
                  <a:lnSpc>
                    <a:spcPct val="120000"/>
                  </a:lnSpc>
                </a:pPr>
                <a:endParaRPr lang="en-US" sz="2800" dirty="0"/>
              </a:p>
              <a:p>
                <a:pPr algn="ctr">
                  <a:lnSpc>
                    <a:spcPct val="120000"/>
                  </a:lnSpc>
                  <a:buNone/>
                </a:pPr>
                <a14:m>
                  <m:oMathPara xmlns:m="http://schemas.openxmlformats.org/officeDocument/2006/math">
                    <m:oMathParaPr>
                      <m:jc m:val="centerGroup"/>
                    </m:oMathParaPr>
                    <m:oMath xmlns:m="http://schemas.openxmlformats.org/officeDocument/2006/math">
                      <m:r>
                        <a:rPr lang="en-US" sz="2800" i="1" dirty="0" smtClean="0">
                          <a:solidFill>
                            <a:srgbClr val="FF0000"/>
                          </a:solidFill>
                          <a:latin typeface="Cambria Math" panose="02040503050406030204" pitchFamily="18" charset="0"/>
                        </a:rPr>
                        <m:t>𝑓</m:t>
                      </m:r>
                      <m:r>
                        <a:rPr lang="en-US" sz="2800" i="1" dirty="0" smtClean="0">
                          <a:solidFill>
                            <a:srgbClr val="FF0000"/>
                          </a:solidFill>
                          <a:latin typeface="Cambria Math" panose="02040503050406030204" pitchFamily="18" charset="0"/>
                        </a:rPr>
                        <m:t>(</m:t>
                      </m:r>
                      <m:r>
                        <a:rPr lang="en-US" sz="2800" i="1" dirty="0" smtClean="0">
                          <a:solidFill>
                            <a:srgbClr val="FF0000"/>
                          </a:solidFill>
                          <a:latin typeface="Cambria Math" panose="02040503050406030204" pitchFamily="18" charset="0"/>
                        </a:rPr>
                        <m:t>𝑛</m:t>
                      </m:r>
                      <m:r>
                        <a:rPr lang="en-US" sz="2800" i="1" dirty="0" smtClean="0">
                          <a:solidFill>
                            <a:srgbClr val="FF0000"/>
                          </a:solidFill>
                          <a:latin typeface="Cambria Math" panose="02040503050406030204" pitchFamily="18" charset="0"/>
                        </a:rPr>
                        <m:t>) = </m:t>
                      </m:r>
                      <m:r>
                        <a:rPr lang="en-US" sz="2800" i="1" dirty="0" smtClean="0">
                          <a:solidFill>
                            <a:srgbClr val="FF0000"/>
                          </a:solidFill>
                          <a:latin typeface="Cambria Math" panose="02040503050406030204" pitchFamily="18" charset="0"/>
                        </a:rPr>
                        <m:t>𝑔</m:t>
                      </m:r>
                      <m:r>
                        <a:rPr lang="en-US" sz="2800" i="1" dirty="0" smtClean="0">
                          <a:solidFill>
                            <a:srgbClr val="FF0000"/>
                          </a:solidFill>
                          <a:latin typeface="Cambria Math" panose="02040503050406030204" pitchFamily="18" charset="0"/>
                        </a:rPr>
                        <m:t>(</m:t>
                      </m:r>
                      <m:r>
                        <a:rPr lang="en-US" sz="2800" i="1" dirty="0" smtClean="0">
                          <a:solidFill>
                            <a:srgbClr val="FF0000"/>
                          </a:solidFill>
                          <a:latin typeface="Cambria Math" panose="02040503050406030204" pitchFamily="18" charset="0"/>
                        </a:rPr>
                        <m:t>𝑛</m:t>
                      </m:r>
                      <m:r>
                        <a:rPr lang="en-US" sz="2800" i="1" dirty="0" smtClean="0">
                          <a:solidFill>
                            <a:srgbClr val="FF0000"/>
                          </a:solidFill>
                          <a:latin typeface="Cambria Math" panose="02040503050406030204" pitchFamily="18" charset="0"/>
                        </a:rPr>
                        <m:t>) + </m:t>
                      </m:r>
                      <m:r>
                        <a:rPr lang="en-US" sz="2800" i="1" dirty="0" smtClean="0">
                          <a:solidFill>
                            <a:srgbClr val="FF0000"/>
                          </a:solidFill>
                          <a:latin typeface="Cambria Math" panose="02040503050406030204" pitchFamily="18" charset="0"/>
                        </a:rPr>
                        <m:t>h</m:t>
                      </m:r>
                      <m:r>
                        <a:rPr lang="en-US" sz="2800" i="1" dirty="0" smtClean="0">
                          <a:solidFill>
                            <a:srgbClr val="FF0000"/>
                          </a:solidFill>
                          <a:latin typeface="Cambria Math" panose="02040503050406030204" pitchFamily="18" charset="0"/>
                        </a:rPr>
                        <m:t>(</m:t>
                      </m:r>
                      <m:r>
                        <a:rPr lang="en-US" sz="2800" i="1" dirty="0" smtClean="0">
                          <a:solidFill>
                            <a:srgbClr val="FF0000"/>
                          </a:solidFill>
                          <a:latin typeface="Cambria Math" panose="02040503050406030204" pitchFamily="18" charset="0"/>
                        </a:rPr>
                        <m:t>𝑛</m:t>
                      </m:r>
                      <m:r>
                        <a:rPr lang="en-US" sz="2800" i="1" dirty="0" smtClean="0">
                          <a:solidFill>
                            <a:srgbClr val="FF0000"/>
                          </a:solidFill>
                          <a:latin typeface="Cambria Math" panose="02040503050406030204" pitchFamily="18" charset="0"/>
                        </a:rPr>
                        <m:t>)</m:t>
                      </m:r>
                    </m:oMath>
                  </m:oMathPara>
                </a14:m>
                <a:br>
                  <a:rPr lang="en-US" sz="2800" dirty="0">
                    <a:solidFill>
                      <a:srgbClr val="FF0000"/>
                    </a:solidFill>
                  </a:rPr>
                </a:br>
                <a:endParaRPr lang="en-US" sz="2800" dirty="0">
                  <a:solidFill>
                    <a:srgbClr val="FF0000"/>
                  </a:solidFill>
                </a:endParaRPr>
              </a:p>
              <a:p>
                <a:pPr lvl="1">
                  <a:lnSpc>
                    <a:spcPct val="120000"/>
                  </a:lnSpc>
                  <a:buNone/>
                </a:pPr>
                <a:r>
                  <a:rPr lang="en-US" sz="2200" dirty="0"/>
                  <a:t>							</a:t>
                </a:r>
                <a:endParaRPr lang="en-US" sz="2600" dirty="0"/>
              </a:p>
              <a:p>
                <a:pPr>
                  <a:lnSpc>
                    <a:spcPct val="120000"/>
                  </a:lnSpc>
                </a:pPr>
                <a:r>
                  <a:rPr lang="en-US" sz="2600" dirty="0"/>
                  <a:t>Best-first search computes </a:t>
                </a:r>
                <a14:m>
                  <m:oMath xmlns:m="http://schemas.openxmlformats.org/officeDocument/2006/math">
                    <m:r>
                      <a:rPr lang="en-US" sz="2600" b="0" i="1" smtClean="0">
                        <a:latin typeface="Cambria Math" panose="02040503050406030204" pitchFamily="18" charset="0"/>
                      </a:rPr>
                      <m:t>𝑓</m:t>
                    </m:r>
                    <m:r>
                      <a:rPr lang="en-US" sz="2600" b="0" i="1" smtClean="0">
                        <a:latin typeface="Cambria Math" panose="02040503050406030204" pitchFamily="18" charset="0"/>
                      </a:rPr>
                      <m:t>()</m:t>
                    </m:r>
                  </m:oMath>
                </a14:m>
                <a:r>
                  <a:rPr lang="en-US" sz="2600" dirty="0"/>
                  <a:t> for all nodes in the frontier. In the example above, </a:t>
                </a:r>
                <a14:m>
                  <m:oMath xmlns:m="http://schemas.openxmlformats.org/officeDocument/2006/math">
                    <m:r>
                      <a:rPr lang="en-US" sz="2600" i="1" dirty="0" smtClean="0">
                        <a:latin typeface="Cambria Math" panose="02040503050406030204" pitchFamily="18" charset="0"/>
                      </a:rPr>
                      <m:t>𝑛</m:t>
                    </m:r>
                  </m:oMath>
                </a14:m>
                <a:r>
                  <a:rPr lang="en-US" sz="2600" dirty="0"/>
                  <a:t> and </a:t>
                </a:r>
                <a14:m>
                  <m:oMath xmlns:m="http://schemas.openxmlformats.org/officeDocument/2006/math">
                    <m:r>
                      <a:rPr lang="en-US" sz="2600" i="1" dirty="0" smtClean="0">
                        <a:latin typeface="Cambria Math" panose="02040503050406030204" pitchFamily="18" charset="0"/>
                      </a:rPr>
                      <m:t>𝑛</m:t>
                    </m:r>
                    <m:r>
                      <a:rPr lang="en-US" sz="2600" i="1" dirty="0" smtClean="0">
                        <a:latin typeface="Cambria Math" panose="02040503050406030204" pitchFamily="18" charset="0"/>
                      </a:rPr>
                      <m:t>’</m:t>
                    </m:r>
                  </m:oMath>
                </a14:m>
                <a:r>
                  <a:rPr lang="en-US" sz="2600" dirty="0"/>
                  <a:t> are in the frontier. The search will expand </a:t>
                </a:r>
                <a14:m>
                  <m:oMath xmlns:m="http://schemas.openxmlformats.org/officeDocument/2006/math">
                    <m:r>
                      <a:rPr lang="en-US" sz="2600" b="0" i="1" smtClean="0">
                        <a:latin typeface="Cambria Math" panose="02040503050406030204" pitchFamily="18" charset="0"/>
                      </a:rPr>
                      <m:t>𝑛</m:t>
                    </m:r>
                    <m:r>
                      <a:rPr lang="en-US" sz="2600" b="0" i="1" smtClean="0">
                        <a:latin typeface="Cambria Math" panose="02040503050406030204" pitchFamily="18" charset="0"/>
                      </a:rPr>
                      <m:t>′</m:t>
                    </m:r>
                  </m:oMath>
                </a14:m>
                <a:r>
                  <a:rPr lang="en-US" sz="2600" dirty="0"/>
                  <a:t> with </a:t>
                </a:r>
                <a14:m>
                  <m:oMath xmlns:m="http://schemas.openxmlformats.org/officeDocument/2006/math">
                    <m:r>
                      <a:rPr lang="en-US" sz="2600" i="1" dirty="0">
                        <a:latin typeface="Cambria Math" panose="02040503050406030204" pitchFamily="18" charset="0"/>
                      </a:rPr>
                      <m:t>𝑓</m:t>
                    </m:r>
                    <m:d>
                      <m:dPr>
                        <m:ctrlPr>
                          <a:rPr lang="en-US" sz="2600" i="1" dirty="0">
                            <a:latin typeface="Cambria Math" panose="02040503050406030204" pitchFamily="18" charset="0"/>
                          </a:rPr>
                        </m:ctrlPr>
                      </m:dPr>
                      <m:e>
                        <m:r>
                          <a:rPr lang="en-US" sz="2600" i="1" dirty="0">
                            <a:latin typeface="Cambria Math" panose="02040503050406030204" pitchFamily="18" charset="0"/>
                          </a:rPr>
                          <m:t>𝑛</m:t>
                        </m:r>
                        <m:r>
                          <a:rPr lang="en-US" sz="2600" i="1" dirty="0">
                            <a:latin typeface="Cambria Math" panose="02040503050406030204" pitchFamily="18" charset="0"/>
                          </a:rPr>
                          <m:t>’</m:t>
                        </m:r>
                      </m:e>
                    </m:d>
                    <m:r>
                      <a:rPr lang="en-US" sz="2600" i="1" dirty="0">
                        <a:latin typeface="Cambria Math" panose="02040503050406030204" pitchFamily="18" charset="0"/>
                      </a:rPr>
                      <m:t>=3 </m:t>
                    </m:r>
                  </m:oMath>
                </a14:m>
                <a:r>
                  <a:rPr lang="en-US" sz="2600" dirty="0"/>
                  <a:t>before </a:t>
                </a:r>
                <a14:m>
                  <m:oMath xmlns:m="http://schemas.openxmlformats.org/officeDocument/2006/math">
                    <m:r>
                      <a:rPr lang="en-US" sz="2600" i="1" dirty="0" smtClean="0">
                        <a:latin typeface="Cambria Math" panose="02040503050406030204" pitchFamily="18" charset="0"/>
                      </a:rPr>
                      <m:t>𝑛</m:t>
                    </m:r>
                  </m:oMath>
                </a14:m>
                <a:r>
                  <a:rPr lang="en-US" sz="2600" dirty="0"/>
                  <a:t> with </a:t>
                </a:r>
                <a14:m>
                  <m:oMath xmlns:m="http://schemas.openxmlformats.org/officeDocument/2006/math">
                    <m:r>
                      <a:rPr lang="en-US" sz="2600" i="1" dirty="0" smtClean="0">
                        <a:latin typeface="Cambria Math" panose="02040503050406030204" pitchFamily="18" charset="0"/>
                      </a:rPr>
                      <m:t>𝑓</m:t>
                    </m:r>
                    <m:d>
                      <m:dPr>
                        <m:ctrlPr>
                          <a:rPr lang="en-US" sz="2600" i="1" dirty="0" smtClean="0">
                            <a:latin typeface="Cambria Math" panose="02040503050406030204" pitchFamily="18" charset="0"/>
                          </a:rPr>
                        </m:ctrlPr>
                      </m:dPr>
                      <m:e>
                        <m:r>
                          <a:rPr lang="en-US" sz="2600" i="1" dirty="0" smtClean="0">
                            <a:latin typeface="Cambria Math" panose="02040503050406030204" pitchFamily="18" charset="0"/>
                          </a:rPr>
                          <m:t>𝑛</m:t>
                        </m:r>
                      </m:e>
                    </m:d>
                    <m:r>
                      <a:rPr lang="en-US" sz="2600" b="0" i="1" dirty="0" smtClean="0">
                        <a:latin typeface="Cambria Math" panose="02040503050406030204" pitchFamily="18" charset="0"/>
                      </a:rPr>
                      <m:t>=4</m:t>
                    </m:r>
                    <m:r>
                      <a:rPr lang="en-US" sz="2600" i="1" dirty="0" smtClean="0">
                        <a:latin typeface="Cambria Math" panose="02040503050406030204" pitchFamily="18" charset="0"/>
                      </a:rPr>
                      <m:t> </m:t>
                    </m:r>
                  </m:oMath>
                </a14:m>
                <a:r>
                  <a:rPr lang="en-US" sz="2600" dirty="0"/>
                  <a:t>and find the optimal path.</a:t>
                </a:r>
              </a:p>
            </p:txBody>
          </p:sp>
        </mc:Choice>
        <mc:Fallback>
          <p:sp>
            <p:nvSpPr>
              <p:cNvPr id="15363" name="Rectangle 3"/>
              <p:cNvSpPr>
                <a:spLocks noGrp="1" noRot="1" noChangeAspect="1" noMove="1" noResize="1" noEditPoints="1" noAdjustHandles="1" noChangeArrowheads="1" noChangeShapeType="1" noTextEdit="1"/>
              </p:cNvSpPr>
              <p:nvPr>
                <p:ph idx="1"/>
              </p:nvPr>
            </p:nvSpPr>
            <p:spPr>
              <a:xfrm>
                <a:off x="600075" y="3503774"/>
                <a:ext cx="7886700" cy="2516025"/>
              </a:xfrm>
              <a:blipFill>
                <a:blip r:embed="rId4"/>
                <a:stretch>
                  <a:fillRect l="-232" t="-485"/>
                </a:stretch>
              </a:blipFill>
            </p:spPr>
            <p:txBody>
              <a:bodyPr/>
              <a:lstStyle/>
              <a:p>
                <a:r>
                  <a:rPr lang="en-US">
                    <a:noFill/>
                  </a:rPr>
                  <a:t> </a:t>
                </a:r>
              </a:p>
            </p:txBody>
          </p:sp>
        </mc:Fallback>
      </mc:AlternateContent>
      <p:grpSp>
        <p:nvGrpSpPr>
          <p:cNvPr id="2" name="Group 1">
            <a:extLst>
              <a:ext uri="{FF2B5EF4-FFF2-40B4-BE49-F238E27FC236}">
                <a16:creationId xmlns:a16="http://schemas.microsoft.com/office/drawing/2014/main" id="{FBD468E3-7788-296C-52DB-D4E95FC5D3D1}"/>
              </a:ext>
            </a:extLst>
          </p:cNvPr>
          <p:cNvGrpSpPr/>
          <p:nvPr/>
        </p:nvGrpSpPr>
        <p:grpSpPr>
          <a:xfrm>
            <a:off x="2986670" y="1820268"/>
            <a:ext cx="4202280" cy="601759"/>
            <a:chOff x="3520070" y="1451967"/>
            <a:chExt cx="4202280" cy="601759"/>
          </a:xfrm>
        </p:grpSpPr>
        <p:cxnSp>
          <p:nvCxnSpPr>
            <p:cNvPr id="5" name="Straight Arrow Connector 4">
              <a:extLst>
                <a:ext uri="{FF2B5EF4-FFF2-40B4-BE49-F238E27FC236}">
                  <a16:creationId xmlns:a16="http://schemas.microsoft.com/office/drawing/2014/main" id="{FD6A9D31-1CEF-4245-B246-4C686BD15221}"/>
                </a:ext>
              </a:extLst>
            </p:cNvPr>
            <p:cNvCxnSpPr>
              <a:cxnSpLocks/>
            </p:cNvCxnSpPr>
            <p:nvPr/>
          </p:nvCxnSpPr>
          <p:spPr>
            <a:xfrm flipV="1">
              <a:off x="3520070" y="1828800"/>
              <a:ext cx="2192338" cy="40260"/>
            </a:xfrm>
            <a:prstGeom prst="straightConnector1">
              <a:avLst/>
            </a:prstGeom>
            <a:ln w="38100" cap="flat" cmpd="sng" algn="ctr">
              <a:solidFill>
                <a:srgbClr val="FF0000"/>
              </a:solidFill>
              <a:prstDash val="solid"/>
              <a:round/>
              <a:headEnd type="none" w="med" len="med"/>
              <a:tailEnd type="arrow" w="med" len="med"/>
            </a:ln>
          </p:spPr>
          <p:style>
            <a:lnRef idx="0">
              <a:scrgbClr r="0" g="0" b="0"/>
            </a:lnRef>
            <a:fillRef idx="0">
              <a:scrgbClr r="0" g="0" b="0"/>
            </a:fillRef>
            <a:effectRef idx="0">
              <a:scrgbClr r="0" g="0" b="0"/>
            </a:effectRef>
            <a:fontRef idx="minor">
              <a:schemeClr val="tx1"/>
            </a:fontRef>
          </p:style>
        </p:cxnSp>
        <mc:AlternateContent xmlns:mc="http://schemas.openxmlformats.org/markup-compatibility/2006">
          <mc:Choice xmlns:a14="http://schemas.microsoft.com/office/drawing/2010/main" Requires="a14">
            <p:sp>
              <p:nvSpPr>
                <p:cNvPr id="3" name="TextBox 2">
                  <a:extLst>
                    <a:ext uri="{FF2B5EF4-FFF2-40B4-BE49-F238E27FC236}">
                      <a16:creationId xmlns:a16="http://schemas.microsoft.com/office/drawing/2014/main" id="{DF2FD92A-E0CA-43CE-A2C6-91E5C7AD891F}"/>
                    </a:ext>
                  </a:extLst>
                </p:cNvPr>
                <p:cNvSpPr txBox="1"/>
                <p:nvPr/>
              </p:nvSpPr>
              <p:spPr>
                <a:xfrm>
                  <a:off x="4242943" y="1496459"/>
                  <a:ext cx="812787" cy="307777"/>
                </a:xfrm>
                <a:prstGeom prst="rect">
                  <a:avLst/>
                </a:prstGeom>
                <a:noFill/>
              </p:spPr>
              <p:txBody>
                <a:bodyPr wrap="none" rtlCol="0">
                  <a:spAutoFit/>
                </a:bodyPr>
                <a:lstStyle/>
                <a:p>
                  <a14:m>
                    <m:oMath xmlns:m="http://schemas.openxmlformats.org/officeDocument/2006/math">
                      <m:r>
                        <a:rPr lang="en-US" sz="1400" i="1" dirty="0">
                          <a:solidFill>
                            <a:srgbClr val="FF0000"/>
                          </a:solidFill>
                          <a:latin typeface="Cambria Math" panose="02040503050406030204" pitchFamily="18" charset="0"/>
                        </a:rPr>
                        <m:t>𝑔</m:t>
                      </m:r>
                      <m:r>
                        <a:rPr lang="en-US" sz="1400" i="1" dirty="0">
                          <a:solidFill>
                            <a:srgbClr val="FF0000"/>
                          </a:solidFill>
                          <a:latin typeface="Cambria Math" panose="02040503050406030204" pitchFamily="18" charset="0"/>
                        </a:rPr>
                        <m:t>(</m:t>
                      </m:r>
                      <m:r>
                        <a:rPr lang="en-US" sz="1400" i="1" dirty="0">
                          <a:solidFill>
                            <a:srgbClr val="FF0000"/>
                          </a:solidFill>
                          <a:latin typeface="Cambria Math" panose="02040503050406030204" pitchFamily="18" charset="0"/>
                        </a:rPr>
                        <m:t>𝑛</m:t>
                      </m:r>
                      <m:r>
                        <a:rPr lang="en-US" sz="1400" i="1" dirty="0">
                          <a:solidFill>
                            <a:srgbClr val="FF0000"/>
                          </a:solidFill>
                          <a:latin typeface="Cambria Math" panose="02040503050406030204" pitchFamily="18" charset="0"/>
                        </a:rPr>
                        <m:t>)</m:t>
                      </m:r>
                    </m:oMath>
                  </a14:m>
                  <a:r>
                    <a:rPr lang="en-US" sz="1400" dirty="0">
                      <a:solidFill>
                        <a:srgbClr val="FF0000"/>
                      </a:solidFill>
                    </a:rPr>
                    <a:t> = 3</a:t>
                  </a:r>
                </a:p>
              </p:txBody>
            </p:sp>
          </mc:Choice>
          <mc:Fallback>
            <p:sp>
              <p:nvSpPr>
                <p:cNvPr id="3" name="TextBox 2">
                  <a:extLst>
                    <a:ext uri="{FF2B5EF4-FFF2-40B4-BE49-F238E27FC236}">
                      <a16:creationId xmlns:a16="http://schemas.microsoft.com/office/drawing/2014/main" id="{DF2FD92A-E0CA-43CE-A2C6-91E5C7AD891F}"/>
                    </a:ext>
                  </a:extLst>
                </p:cNvPr>
                <p:cNvSpPr txBox="1">
                  <a:spLocks noRot="1" noChangeAspect="1" noMove="1" noResize="1" noEditPoints="1" noAdjustHandles="1" noChangeArrowheads="1" noChangeShapeType="1" noTextEdit="1"/>
                </p:cNvSpPr>
                <p:nvPr/>
              </p:nvSpPr>
              <p:spPr>
                <a:xfrm>
                  <a:off x="4242943" y="1496459"/>
                  <a:ext cx="812787" cy="307777"/>
                </a:xfrm>
                <a:prstGeom prst="rect">
                  <a:avLst/>
                </a:prstGeom>
                <a:blipFill>
                  <a:blip r:embed="rId5"/>
                  <a:stretch>
                    <a:fillRect t="-4000" r="-2256" b="-20000"/>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9" name="TextBox 8">
                  <a:extLst>
                    <a:ext uri="{FF2B5EF4-FFF2-40B4-BE49-F238E27FC236}">
                      <a16:creationId xmlns:a16="http://schemas.microsoft.com/office/drawing/2014/main" id="{1EC98FBB-7443-4725-B9EB-9E3DCB1CCDA3}"/>
                    </a:ext>
                  </a:extLst>
                </p:cNvPr>
                <p:cNvSpPr txBox="1"/>
                <p:nvPr/>
              </p:nvSpPr>
              <p:spPr>
                <a:xfrm>
                  <a:off x="5638800" y="1684394"/>
                  <a:ext cx="374590" cy="369332"/>
                </a:xfrm>
                <a:prstGeom prst="rect">
                  <a:avLst/>
                </a:prstGeom>
                <a:noFill/>
              </p:spPr>
              <p:txBody>
                <a:bodyPr wrap="none" rtlCol="0">
                  <a:spAutoFit/>
                </a:bodyPr>
                <a:lstStyle/>
                <a:p>
                  <a14:m>
                    <m:oMathPara xmlns:m="http://schemas.openxmlformats.org/officeDocument/2006/math">
                      <m:oMathParaPr>
                        <m:jc m:val="centerGroup"/>
                      </m:oMathParaPr>
                      <m:oMath xmlns:m="http://schemas.openxmlformats.org/officeDocument/2006/math">
                        <m:r>
                          <a:rPr lang="en-US" i="1" dirty="0" smtClean="0">
                            <a:solidFill>
                              <a:srgbClr val="FF0000"/>
                            </a:solidFill>
                            <a:latin typeface="Cambria Math" panose="02040503050406030204" pitchFamily="18" charset="0"/>
                          </a:rPr>
                          <m:t>𝑛</m:t>
                        </m:r>
                      </m:oMath>
                    </m:oMathPara>
                  </a14:m>
                  <a:endParaRPr lang="en-US" dirty="0">
                    <a:solidFill>
                      <a:srgbClr val="FF0000"/>
                    </a:solidFill>
                  </a:endParaRPr>
                </a:p>
              </p:txBody>
            </p:sp>
          </mc:Choice>
          <mc:Fallback>
            <p:sp>
              <p:nvSpPr>
                <p:cNvPr id="9" name="TextBox 8">
                  <a:extLst>
                    <a:ext uri="{FF2B5EF4-FFF2-40B4-BE49-F238E27FC236}">
                      <a16:creationId xmlns:a16="http://schemas.microsoft.com/office/drawing/2014/main" id="{1EC98FBB-7443-4725-B9EB-9E3DCB1CCDA3}"/>
                    </a:ext>
                  </a:extLst>
                </p:cNvPr>
                <p:cNvSpPr txBox="1">
                  <a:spLocks noRot="1" noChangeAspect="1" noMove="1" noResize="1" noEditPoints="1" noAdjustHandles="1" noChangeArrowheads="1" noChangeShapeType="1" noTextEdit="1"/>
                </p:cNvSpPr>
                <p:nvPr/>
              </p:nvSpPr>
              <p:spPr>
                <a:xfrm>
                  <a:off x="5638800" y="1684394"/>
                  <a:ext cx="374590" cy="369332"/>
                </a:xfrm>
                <a:prstGeom prst="rect">
                  <a:avLst/>
                </a:prstGeom>
                <a:blipFill>
                  <a:blip r:embed="rId6"/>
                  <a:stretch>
                    <a:fillRect/>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10" name="TextBox 9">
                  <a:extLst>
                    <a:ext uri="{FF2B5EF4-FFF2-40B4-BE49-F238E27FC236}">
                      <a16:creationId xmlns:a16="http://schemas.microsoft.com/office/drawing/2014/main" id="{3EBBC9DD-B294-BFB5-30EC-9F47663B4409}"/>
                    </a:ext>
                  </a:extLst>
                </p:cNvPr>
                <p:cNvSpPr txBox="1"/>
                <p:nvPr/>
              </p:nvSpPr>
              <p:spPr>
                <a:xfrm>
                  <a:off x="5712408" y="1451967"/>
                  <a:ext cx="2009942" cy="307777"/>
                </a:xfrm>
                <a:prstGeom prst="rect">
                  <a:avLst/>
                </a:prstGeom>
                <a:noFill/>
              </p:spPr>
              <p:txBody>
                <a:bodyPr wrap="square">
                  <a:spAutoFit/>
                </a:bodyPr>
                <a:lstStyle/>
                <a:p>
                  <a14:m>
                    <m:oMath xmlns:m="http://schemas.openxmlformats.org/officeDocument/2006/math">
                      <m:r>
                        <m:rPr>
                          <m:sty m:val="p"/>
                        </m:rPr>
                        <a:rPr lang="en-US" sz="1400" b="0" i="0" dirty="0" smtClean="0">
                          <a:solidFill>
                            <a:srgbClr val="FF0000"/>
                          </a:solidFill>
                          <a:latin typeface="Cambria Math" panose="02040503050406030204" pitchFamily="18" charset="0"/>
                        </a:rPr>
                        <m:t>f</m:t>
                      </m:r>
                      <m:d>
                        <m:dPr>
                          <m:ctrlPr>
                            <a:rPr lang="en-US" sz="1400" b="0" i="1" dirty="0" smtClean="0">
                              <a:solidFill>
                                <a:srgbClr val="FF0000"/>
                              </a:solidFill>
                              <a:latin typeface="Cambria Math" panose="02040503050406030204" pitchFamily="18" charset="0"/>
                            </a:rPr>
                          </m:ctrlPr>
                        </m:dPr>
                        <m:e>
                          <m:r>
                            <a:rPr lang="en-US" sz="1400" i="1" dirty="0" smtClean="0">
                              <a:solidFill>
                                <a:srgbClr val="FF0000"/>
                              </a:solidFill>
                              <a:latin typeface="Cambria Math" panose="02040503050406030204" pitchFamily="18" charset="0"/>
                            </a:rPr>
                            <m:t>𝑛</m:t>
                          </m:r>
                        </m:e>
                      </m:d>
                      <m:r>
                        <a:rPr lang="en-US" sz="1400" b="0" i="1" dirty="0" smtClean="0">
                          <a:solidFill>
                            <a:srgbClr val="FF0000"/>
                          </a:solidFill>
                          <a:latin typeface="Cambria Math" panose="02040503050406030204" pitchFamily="18" charset="0"/>
                        </a:rPr>
                        <m:t>=</m:t>
                      </m:r>
                      <m:r>
                        <a:rPr lang="en-US" sz="1400" b="0" i="1" dirty="0" smtClean="0">
                          <a:solidFill>
                            <a:srgbClr val="FF0000"/>
                          </a:solidFill>
                          <a:latin typeface="Cambria Math" panose="02040503050406030204" pitchFamily="18" charset="0"/>
                        </a:rPr>
                        <m:t>3+1=4</m:t>
                      </m:r>
                    </m:oMath>
                  </a14:m>
                  <a:r>
                    <a:rPr lang="en-US" sz="1400" dirty="0">
                      <a:solidFill>
                        <a:srgbClr val="FF0000"/>
                      </a:solidFill>
                    </a:rPr>
                    <a:t> </a:t>
                  </a:r>
                  <a:endParaRPr lang="en-US" sz="1400" dirty="0"/>
                </a:p>
              </p:txBody>
            </p:sp>
          </mc:Choice>
          <mc:Fallback>
            <p:sp>
              <p:nvSpPr>
                <p:cNvPr id="10" name="TextBox 9">
                  <a:extLst>
                    <a:ext uri="{FF2B5EF4-FFF2-40B4-BE49-F238E27FC236}">
                      <a16:creationId xmlns:a16="http://schemas.microsoft.com/office/drawing/2014/main" id="{3EBBC9DD-B294-BFB5-30EC-9F47663B4409}"/>
                    </a:ext>
                  </a:extLst>
                </p:cNvPr>
                <p:cNvSpPr txBox="1">
                  <a:spLocks noRot="1" noChangeAspect="1" noMove="1" noResize="1" noEditPoints="1" noAdjustHandles="1" noChangeArrowheads="1" noChangeShapeType="1" noTextEdit="1"/>
                </p:cNvSpPr>
                <p:nvPr/>
              </p:nvSpPr>
              <p:spPr>
                <a:xfrm>
                  <a:off x="5712408" y="1451967"/>
                  <a:ext cx="2009942" cy="307777"/>
                </a:xfrm>
                <a:prstGeom prst="rect">
                  <a:avLst/>
                </a:prstGeom>
                <a:blipFill>
                  <a:blip r:embed="rId7"/>
                  <a:stretch>
                    <a:fillRect/>
                  </a:stretch>
                </a:blipFill>
              </p:spPr>
              <p:txBody>
                <a:bodyPr/>
                <a:lstStyle/>
                <a:p>
                  <a:r>
                    <a:rPr lang="en-US">
                      <a:noFill/>
                    </a:rPr>
                    <a:t> </a:t>
                  </a:r>
                </a:p>
              </p:txBody>
            </p:sp>
          </mc:Fallback>
        </mc:AlternateContent>
      </p:grpSp>
      <p:grpSp>
        <p:nvGrpSpPr>
          <p:cNvPr id="6" name="Group 5">
            <a:extLst>
              <a:ext uri="{FF2B5EF4-FFF2-40B4-BE49-F238E27FC236}">
                <a16:creationId xmlns:a16="http://schemas.microsoft.com/office/drawing/2014/main" id="{56444927-56B6-4DB1-294B-496AEAF9EA64}"/>
              </a:ext>
            </a:extLst>
          </p:cNvPr>
          <p:cNvGrpSpPr/>
          <p:nvPr/>
        </p:nvGrpSpPr>
        <p:grpSpPr>
          <a:xfrm>
            <a:off x="3464290" y="1055526"/>
            <a:ext cx="1755410" cy="596507"/>
            <a:chOff x="3997690" y="687225"/>
            <a:chExt cx="1755410" cy="596507"/>
          </a:xfrm>
        </p:grpSpPr>
        <mc:AlternateContent xmlns:mc="http://schemas.openxmlformats.org/markup-compatibility/2006">
          <mc:Choice xmlns:a14="http://schemas.microsoft.com/office/drawing/2010/main" Requires="a14">
            <p:sp>
              <p:nvSpPr>
                <p:cNvPr id="7" name="TextBox 6">
                  <a:extLst>
                    <a:ext uri="{FF2B5EF4-FFF2-40B4-BE49-F238E27FC236}">
                      <a16:creationId xmlns:a16="http://schemas.microsoft.com/office/drawing/2014/main" id="{8E844EA0-B60E-AE6E-A73C-470FBFEB2088}"/>
                    </a:ext>
                  </a:extLst>
                </p:cNvPr>
                <p:cNvSpPr txBox="1"/>
                <p:nvPr/>
              </p:nvSpPr>
              <p:spPr>
                <a:xfrm>
                  <a:off x="3997690" y="914400"/>
                  <a:ext cx="421910" cy="369332"/>
                </a:xfrm>
                <a:prstGeom prst="rect">
                  <a:avLst/>
                </a:prstGeom>
                <a:noFill/>
              </p:spPr>
              <p:txBody>
                <a:bodyPr wrap="none" rtlCol="0">
                  <a:spAutoFit/>
                </a:bodyPr>
                <a:lstStyle/>
                <a:p>
                  <a14:m>
                    <m:oMathPara xmlns:m="http://schemas.openxmlformats.org/officeDocument/2006/math">
                      <m:oMathParaPr>
                        <m:jc m:val="centerGroup"/>
                      </m:oMathParaPr>
                      <m:oMath xmlns:m="http://schemas.openxmlformats.org/officeDocument/2006/math">
                        <m:r>
                          <a:rPr lang="en-US" i="1" dirty="0" smtClean="0">
                            <a:solidFill>
                              <a:srgbClr val="FF0000"/>
                            </a:solidFill>
                            <a:latin typeface="Cambria Math" panose="02040503050406030204" pitchFamily="18" charset="0"/>
                          </a:rPr>
                          <m:t>𝑛</m:t>
                        </m:r>
                        <m:r>
                          <a:rPr lang="en-US" i="1" dirty="0" smtClean="0">
                            <a:solidFill>
                              <a:srgbClr val="FF0000"/>
                            </a:solidFill>
                            <a:latin typeface="Cambria Math" panose="02040503050406030204" pitchFamily="18" charset="0"/>
                          </a:rPr>
                          <m:t>’</m:t>
                        </m:r>
                      </m:oMath>
                    </m:oMathPara>
                  </a14:m>
                  <a:endParaRPr lang="en-US" dirty="0">
                    <a:solidFill>
                      <a:srgbClr val="FF0000"/>
                    </a:solidFill>
                  </a:endParaRPr>
                </a:p>
              </p:txBody>
            </p:sp>
          </mc:Choice>
          <mc:Fallback>
            <p:sp>
              <p:nvSpPr>
                <p:cNvPr id="7" name="TextBox 6">
                  <a:extLst>
                    <a:ext uri="{FF2B5EF4-FFF2-40B4-BE49-F238E27FC236}">
                      <a16:creationId xmlns:a16="http://schemas.microsoft.com/office/drawing/2014/main" id="{8E844EA0-B60E-AE6E-A73C-470FBFEB2088}"/>
                    </a:ext>
                  </a:extLst>
                </p:cNvPr>
                <p:cNvSpPr txBox="1">
                  <a:spLocks noRot="1" noChangeAspect="1" noMove="1" noResize="1" noEditPoints="1" noAdjustHandles="1" noChangeArrowheads="1" noChangeShapeType="1" noTextEdit="1"/>
                </p:cNvSpPr>
                <p:nvPr/>
              </p:nvSpPr>
              <p:spPr>
                <a:xfrm>
                  <a:off x="3997690" y="914400"/>
                  <a:ext cx="421910" cy="369332"/>
                </a:xfrm>
                <a:prstGeom prst="rect">
                  <a:avLst/>
                </a:prstGeom>
                <a:blipFill>
                  <a:blip r:embed="rId8"/>
                  <a:stretch>
                    <a:fillRect/>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14" name="TextBox 13">
                  <a:extLst>
                    <a:ext uri="{FF2B5EF4-FFF2-40B4-BE49-F238E27FC236}">
                      <a16:creationId xmlns:a16="http://schemas.microsoft.com/office/drawing/2014/main" id="{43E8DA57-F78D-B0C5-D723-22F2D5B98D49}"/>
                    </a:ext>
                  </a:extLst>
                </p:cNvPr>
                <p:cNvSpPr txBox="1"/>
                <p:nvPr/>
              </p:nvSpPr>
              <p:spPr>
                <a:xfrm>
                  <a:off x="4146931" y="687225"/>
                  <a:ext cx="1606169" cy="307777"/>
                </a:xfrm>
                <a:prstGeom prst="rect">
                  <a:avLst/>
                </a:prstGeom>
                <a:noFill/>
              </p:spPr>
              <p:txBody>
                <a:bodyPr wrap="square">
                  <a:spAutoFit/>
                </a:bodyPr>
                <a:lstStyle/>
                <a:p>
                  <a14:m>
                    <m:oMath xmlns:m="http://schemas.openxmlformats.org/officeDocument/2006/math">
                      <m:r>
                        <m:rPr>
                          <m:sty m:val="p"/>
                        </m:rPr>
                        <a:rPr lang="en-US" sz="1400" b="0" i="0" dirty="0" smtClean="0">
                          <a:solidFill>
                            <a:srgbClr val="FF0000"/>
                          </a:solidFill>
                          <a:latin typeface="Cambria Math" panose="02040503050406030204" pitchFamily="18" charset="0"/>
                        </a:rPr>
                        <m:t>f</m:t>
                      </m:r>
                      <m:d>
                        <m:dPr>
                          <m:ctrlPr>
                            <a:rPr lang="en-US" sz="1400" b="0" i="1" dirty="0" smtClean="0">
                              <a:solidFill>
                                <a:srgbClr val="FF0000"/>
                              </a:solidFill>
                              <a:latin typeface="Cambria Math" panose="02040503050406030204" pitchFamily="18" charset="0"/>
                            </a:rPr>
                          </m:ctrlPr>
                        </m:dPr>
                        <m:e>
                          <m:r>
                            <a:rPr lang="en-US" sz="1400" i="1" dirty="0" smtClean="0">
                              <a:solidFill>
                                <a:srgbClr val="FF0000"/>
                              </a:solidFill>
                              <a:latin typeface="Cambria Math" panose="02040503050406030204" pitchFamily="18" charset="0"/>
                            </a:rPr>
                            <m:t>𝑛</m:t>
                          </m:r>
                          <m:r>
                            <a:rPr lang="en-US" sz="1400" b="0" i="1" dirty="0" smtClean="0">
                              <a:solidFill>
                                <a:srgbClr val="FF0000"/>
                              </a:solidFill>
                              <a:latin typeface="Cambria Math" panose="02040503050406030204" pitchFamily="18" charset="0"/>
                            </a:rPr>
                            <m:t>′</m:t>
                          </m:r>
                        </m:e>
                      </m:d>
                      <m:r>
                        <a:rPr lang="en-US" sz="1400" b="0" i="1" dirty="0" smtClean="0">
                          <a:solidFill>
                            <a:srgbClr val="FF0000"/>
                          </a:solidFill>
                          <a:latin typeface="Cambria Math" panose="02040503050406030204" pitchFamily="18" charset="0"/>
                        </a:rPr>
                        <m:t>=</m:t>
                      </m:r>
                      <m:r>
                        <a:rPr lang="en-US" sz="1400" b="0" i="1" dirty="0" smtClean="0">
                          <a:solidFill>
                            <a:srgbClr val="FF0000"/>
                          </a:solidFill>
                          <a:latin typeface="Cambria Math" panose="02040503050406030204" pitchFamily="18" charset="0"/>
                        </a:rPr>
                        <m:t>1+2=3</m:t>
                      </m:r>
                    </m:oMath>
                  </a14:m>
                  <a:r>
                    <a:rPr lang="en-US" sz="1400" dirty="0">
                      <a:solidFill>
                        <a:srgbClr val="FF0000"/>
                      </a:solidFill>
                    </a:rPr>
                    <a:t> </a:t>
                  </a:r>
                  <a:endParaRPr lang="en-US" sz="1400" dirty="0"/>
                </a:p>
              </p:txBody>
            </p:sp>
          </mc:Choice>
          <mc:Fallback>
            <p:sp>
              <p:nvSpPr>
                <p:cNvPr id="14" name="TextBox 13">
                  <a:extLst>
                    <a:ext uri="{FF2B5EF4-FFF2-40B4-BE49-F238E27FC236}">
                      <a16:creationId xmlns:a16="http://schemas.microsoft.com/office/drawing/2014/main" id="{43E8DA57-F78D-B0C5-D723-22F2D5B98D49}"/>
                    </a:ext>
                  </a:extLst>
                </p:cNvPr>
                <p:cNvSpPr txBox="1">
                  <a:spLocks noRot="1" noChangeAspect="1" noMove="1" noResize="1" noEditPoints="1" noAdjustHandles="1" noChangeArrowheads="1" noChangeShapeType="1" noTextEdit="1"/>
                </p:cNvSpPr>
                <p:nvPr/>
              </p:nvSpPr>
              <p:spPr>
                <a:xfrm>
                  <a:off x="4146931" y="687225"/>
                  <a:ext cx="1606169" cy="307777"/>
                </a:xfrm>
                <a:prstGeom prst="rect">
                  <a:avLst/>
                </a:prstGeom>
                <a:blipFill>
                  <a:blip r:embed="rId9"/>
                  <a:stretch>
                    <a:fillRect/>
                  </a:stretch>
                </a:blipFill>
              </p:spPr>
              <p:txBody>
                <a:bodyPr/>
                <a:lstStyle/>
                <a:p>
                  <a:r>
                    <a:rPr lang="en-US">
                      <a:noFill/>
                    </a:rPr>
                    <a:t> </a:t>
                  </a:r>
                </a:p>
              </p:txBody>
            </p:sp>
          </mc:Fallback>
        </mc:AlternateContent>
      </p:grpSp>
      <mc:AlternateContent xmlns:mc="http://schemas.openxmlformats.org/markup-compatibility/2006">
        <mc:Choice xmlns:a14="http://schemas.microsoft.com/office/drawing/2010/main" Requires="a14">
          <p:sp>
            <p:nvSpPr>
              <p:cNvPr id="4" name="TextBox 3">
                <a:extLst>
                  <a:ext uri="{FF2B5EF4-FFF2-40B4-BE49-F238E27FC236}">
                    <a16:creationId xmlns:a16="http://schemas.microsoft.com/office/drawing/2014/main" id="{196A36DE-DAED-4CD6-3664-FE2526C782A7}"/>
                  </a:ext>
                </a:extLst>
              </p:cNvPr>
              <p:cNvSpPr txBox="1"/>
              <p:nvPr/>
            </p:nvSpPr>
            <p:spPr>
              <a:xfrm>
                <a:off x="5743575" y="671713"/>
                <a:ext cx="2771775" cy="591572"/>
              </a:xfrm>
              <a:prstGeom prst="rect">
                <a:avLst/>
              </a:prstGeom>
            </p:spPr>
            <p:style>
              <a:lnRef idx="2">
                <a:schemeClr val="accent3">
                  <a:shade val="15000"/>
                </a:schemeClr>
              </a:lnRef>
              <a:fillRef idx="1">
                <a:schemeClr val="accent3"/>
              </a:fillRef>
              <a:effectRef idx="0">
                <a:schemeClr val="accent3"/>
              </a:effectRef>
              <a:fontRef idx="minor">
                <a:schemeClr val="lt1"/>
              </a:fontRef>
            </p:style>
            <p:txBody>
              <a:bodyPr wrap="square" rtlCol="0">
                <a:spAutoFit/>
              </a:bodyPr>
              <a:lstStyle/>
              <a:p>
                <a:pPr>
                  <a:lnSpc>
                    <a:spcPct val="120000"/>
                  </a:lnSpc>
                </a:pPr>
                <a14:m>
                  <m:oMath xmlns:m="http://schemas.openxmlformats.org/officeDocument/2006/math">
                    <m:r>
                      <a:rPr lang="en-US" sz="1400" i="1" dirty="0">
                        <a:latin typeface="Cambria Math" panose="02040503050406030204" pitchFamily="18" charset="0"/>
                      </a:rPr>
                      <m:t>𝑔</m:t>
                    </m:r>
                    <m:r>
                      <a:rPr lang="en-US" sz="1400" i="1" dirty="0">
                        <a:latin typeface="Cambria Math" panose="02040503050406030204" pitchFamily="18" charset="0"/>
                      </a:rPr>
                      <m:t>(</m:t>
                    </m:r>
                    <m:r>
                      <a:rPr lang="en-US" sz="1400" i="1" dirty="0">
                        <a:latin typeface="Cambria Math" panose="02040503050406030204" pitchFamily="18" charset="0"/>
                      </a:rPr>
                      <m:t>𝑛</m:t>
                    </m:r>
                    <m:r>
                      <a:rPr lang="en-US" sz="1400" i="1" dirty="0">
                        <a:latin typeface="Cambria Math" panose="02040503050406030204" pitchFamily="18" charset="0"/>
                      </a:rPr>
                      <m:t>)</m:t>
                    </m:r>
                  </m:oMath>
                </a14:m>
                <a:r>
                  <a:rPr lang="en-US" sz="1400" dirty="0"/>
                  <a:t>: cost to reach </a:t>
                </a:r>
                <a14:m>
                  <m:oMath xmlns:m="http://schemas.openxmlformats.org/officeDocument/2006/math">
                    <m:r>
                      <a:rPr lang="en-US" sz="1400" i="1" dirty="0" smtClean="0">
                        <a:latin typeface="Cambria Math" panose="02040503050406030204" pitchFamily="18" charset="0"/>
                      </a:rPr>
                      <m:t>𝑛</m:t>
                    </m:r>
                  </m:oMath>
                </a14:m>
                <a:endParaRPr lang="en-US" sz="1400" dirty="0"/>
              </a:p>
              <a:p>
                <a:pPr>
                  <a:lnSpc>
                    <a:spcPct val="120000"/>
                  </a:lnSpc>
                </a:pPr>
                <a14:m>
                  <m:oMath xmlns:m="http://schemas.openxmlformats.org/officeDocument/2006/math">
                    <m:r>
                      <a:rPr lang="en-US" sz="1400" i="1" dirty="0">
                        <a:latin typeface="Cambria Math" panose="02040503050406030204" pitchFamily="18" charset="0"/>
                      </a:rPr>
                      <m:t>h</m:t>
                    </m:r>
                    <m:r>
                      <a:rPr lang="en-US" sz="1400" i="1" dirty="0">
                        <a:latin typeface="Cambria Math" panose="02040503050406030204" pitchFamily="18" charset="0"/>
                      </a:rPr>
                      <m:t>(</m:t>
                    </m:r>
                    <m:r>
                      <a:rPr lang="en-US" sz="1400" i="1" dirty="0">
                        <a:latin typeface="Cambria Math" panose="02040503050406030204" pitchFamily="18" charset="0"/>
                      </a:rPr>
                      <m:t>𝑛</m:t>
                    </m:r>
                    <m:r>
                      <a:rPr lang="en-US" sz="1400" i="1" dirty="0">
                        <a:latin typeface="Cambria Math" panose="02040503050406030204" pitchFamily="18" charset="0"/>
                      </a:rPr>
                      <m:t>)</m:t>
                    </m:r>
                  </m:oMath>
                </a14:m>
                <a:r>
                  <a:rPr lang="en-US" sz="1400" dirty="0"/>
                  <a:t>: estimated cost from </a:t>
                </a:r>
                <a14:m>
                  <m:oMath xmlns:m="http://schemas.openxmlformats.org/officeDocument/2006/math">
                    <m:r>
                      <a:rPr lang="en-US" sz="1400" i="1" dirty="0" smtClean="0">
                        <a:latin typeface="Cambria Math" panose="02040503050406030204" pitchFamily="18" charset="0"/>
                      </a:rPr>
                      <m:t>𝑛</m:t>
                    </m:r>
                  </m:oMath>
                </a14:m>
                <a:r>
                  <a:rPr lang="en-US" sz="1400" dirty="0"/>
                  <a:t> to goal</a:t>
                </a:r>
              </a:p>
            </p:txBody>
          </p:sp>
        </mc:Choice>
        <mc:Fallback>
          <p:sp>
            <p:nvSpPr>
              <p:cNvPr id="4" name="TextBox 3">
                <a:extLst>
                  <a:ext uri="{FF2B5EF4-FFF2-40B4-BE49-F238E27FC236}">
                    <a16:creationId xmlns:a16="http://schemas.microsoft.com/office/drawing/2014/main" id="{196A36DE-DAED-4CD6-3664-FE2526C782A7}"/>
                  </a:ext>
                </a:extLst>
              </p:cNvPr>
              <p:cNvSpPr txBox="1">
                <a:spLocks noRot="1" noChangeAspect="1" noMove="1" noResize="1" noEditPoints="1" noAdjustHandles="1" noChangeArrowheads="1" noChangeShapeType="1" noTextEdit="1"/>
              </p:cNvSpPr>
              <p:nvPr/>
            </p:nvSpPr>
            <p:spPr>
              <a:xfrm>
                <a:off x="5743575" y="671713"/>
                <a:ext cx="2771775" cy="591572"/>
              </a:xfrm>
              <a:prstGeom prst="rect">
                <a:avLst/>
              </a:prstGeom>
              <a:blipFill>
                <a:blip r:embed="rId10"/>
                <a:stretch>
                  <a:fillRect b="-10101"/>
                </a:stretch>
              </a:blipFill>
            </p:spPr>
            <p:txBody>
              <a:bodyPr/>
              <a:lstStyle/>
              <a:p>
                <a:r>
                  <a:rPr lang="en-US">
                    <a:noFill/>
                  </a:rPr>
                  <a:t> </a:t>
                </a:r>
              </a:p>
            </p:txBody>
          </p:sp>
        </mc:Fallback>
      </mc:AlternateContent>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5363">
                                            <p:txEl>
                                              <p:pRg st="1" end="1"/>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5363">
                                            <p:txEl>
                                              <p:pRg st="3" end="3"/>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15363">
                                            <p:txEl>
                                              <p:pRg st="4" end="4"/>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2"/>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4"/>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5363">
                                            <p:txEl>
                                              <p:pRg st="5" end="5"/>
                                            </p:txEl>
                                          </p:spTgt>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Lst>
  </p:timing>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386" name="Rectangle 2"/>
          <p:cNvSpPr>
            <a:spLocks noGrp="1" noChangeArrowheads="1"/>
          </p:cNvSpPr>
          <p:nvPr>
            <p:ph type="title"/>
          </p:nvPr>
        </p:nvSpPr>
        <p:spPr/>
        <p:txBody>
          <a:bodyPr/>
          <a:lstStyle/>
          <a:p>
            <a:r>
              <a:rPr lang="en-US" dirty="0"/>
              <a:t>A</a:t>
            </a:r>
            <a:r>
              <a:rPr lang="en-US" baseline="30000" dirty="0"/>
              <a:t>*</a:t>
            </a:r>
            <a:r>
              <a:rPr lang="en-US" dirty="0"/>
              <a:t> Search Example</a:t>
            </a:r>
          </a:p>
        </p:txBody>
      </p:sp>
      <p:pic>
        <p:nvPicPr>
          <p:cNvPr id="16388" name="Picture 4" descr="astar-progress01c"/>
          <p:cNvPicPr>
            <a:picLocks noChangeAspect="1" noChangeArrowheads="1"/>
          </p:cNvPicPr>
          <p:nvPr/>
        </p:nvPicPr>
        <p:blipFill>
          <a:blip r:embed="rId3" cstate="print"/>
          <a:srcRect/>
          <a:stretch>
            <a:fillRect/>
          </a:stretch>
        </p:blipFill>
        <p:spPr bwMode="auto">
          <a:xfrm>
            <a:off x="1905000" y="1524000"/>
            <a:ext cx="5410200" cy="2219325"/>
          </a:xfrm>
          <a:prstGeom prst="rect">
            <a:avLst/>
          </a:prstGeom>
          <a:noFill/>
        </p:spPr>
      </p:pic>
      <p:pic>
        <p:nvPicPr>
          <p:cNvPr id="4" name="Picture 4" descr="romania2"/>
          <p:cNvPicPr>
            <a:picLocks noChangeAspect="1" noChangeArrowheads="1"/>
          </p:cNvPicPr>
          <p:nvPr/>
        </p:nvPicPr>
        <p:blipFill>
          <a:blip r:embed="rId4" cstate="print"/>
          <a:srcRect/>
          <a:stretch>
            <a:fillRect/>
          </a:stretch>
        </p:blipFill>
        <p:spPr bwMode="auto">
          <a:xfrm>
            <a:off x="3581400" y="3962400"/>
            <a:ext cx="5334000" cy="2614525"/>
          </a:xfrm>
          <a:prstGeom prst="rect">
            <a:avLst/>
          </a:prstGeom>
          <a:noFill/>
        </p:spPr>
      </p:pic>
      <p:sp>
        <p:nvSpPr>
          <p:cNvPr id="5" name="Oval 4"/>
          <p:cNvSpPr/>
          <p:nvPr/>
        </p:nvSpPr>
        <p:spPr>
          <a:xfrm>
            <a:off x="3505200" y="4572000"/>
            <a:ext cx="457200" cy="304800"/>
          </a:xfrm>
          <a:prstGeom prst="ellipse">
            <a:avLst/>
          </a:prstGeom>
          <a:noFill/>
          <a:ln>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Oval 5"/>
          <p:cNvSpPr/>
          <p:nvPr/>
        </p:nvSpPr>
        <p:spPr>
          <a:xfrm>
            <a:off x="6096000" y="5867400"/>
            <a:ext cx="685800" cy="381000"/>
          </a:xfrm>
          <a:prstGeom prst="ellipse">
            <a:avLst/>
          </a:prstGeom>
          <a:noFill/>
          <a:ln>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Oval 7">
            <a:extLst>
              <a:ext uri="{FF2B5EF4-FFF2-40B4-BE49-F238E27FC236}">
                <a16:creationId xmlns:a16="http://schemas.microsoft.com/office/drawing/2014/main" id="{C93473A1-553A-474C-865E-85F656AB4074}"/>
              </a:ext>
            </a:extLst>
          </p:cNvPr>
          <p:cNvSpPr/>
          <p:nvPr/>
        </p:nvSpPr>
        <p:spPr>
          <a:xfrm>
            <a:off x="7696200" y="4114800"/>
            <a:ext cx="1295400" cy="228600"/>
          </a:xfrm>
          <a:prstGeom prst="ellipse">
            <a:avLst/>
          </a:prstGeom>
          <a:noFill/>
          <a:ln>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9" name="Rectangle 8">
                <a:extLst>
                  <a:ext uri="{FF2B5EF4-FFF2-40B4-BE49-F238E27FC236}">
                    <a16:creationId xmlns:a16="http://schemas.microsoft.com/office/drawing/2014/main" id="{9BEBD854-9CBC-4AE4-8DAC-9C1D32048B3E}"/>
                  </a:ext>
                </a:extLst>
              </p:cNvPr>
              <p:cNvSpPr/>
              <p:nvPr/>
            </p:nvSpPr>
            <p:spPr>
              <a:xfrm>
                <a:off x="2514600" y="1661176"/>
                <a:ext cx="2235804" cy="338554"/>
              </a:xfrm>
              <a:prstGeom prst="rect">
                <a:avLst/>
              </a:prstGeom>
            </p:spPr>
            <p:txBody>
              <a:bodyPr wrap="none">
                <a:spAutoFit/>
              </a:bodyPr>
              <a:lstStyle/>
              <a:p>
                <a:pPr/>
                <a14:m>
                  <m:oMathPara xmlns:m="http://schemas.openxmlformats.org/officeDocument/2006/math">
                    <m:oMathParaPr>
                      <m:jc m:val="centerGroup"/>
                    </m:oMathParaPr>
                    <m:oMath xmlns:m="http://schemas.openxmlformats.org/officeDocument/2006/math">
                      <m:r>
                        <a:rPr lang="en-US" sz="1600" i="1" dirty="0" smtClean="0">
                          <a:latin typeface="Cambria Math" panose="02040503050406030204" pitchFamily="18" charset="0"/>
                        </a:rPr>
                        <m:t>𝑓</m:t>
                      </m:r>
                      <m:d>
                        <m:dPr>
                          <m:ctrlPr>
                            <a:rPr lang="en-US" sz="1600" i="1" dirty="0" smtClean="0">
                              <a:latin typeface="Cambria Math" panose="02040503050406030204" pitchFamily="18" charset="0"/>
                            </a:rPr>
                          </m:ctrlPr>
                        </m:dPr>
                        <m:e>
                          <m:r>
                            <a:rPr lang="en-US" sz="1600" i="1" dirty="0" smtClean="0">
                              <a:latin typeface="Cambria Math" panose="02040503050406030204" pitchFamily="18" charset="0"/>
                            </a:rPr>
                            <m:t>𝑛</m:t>
                          </m:r>
                        </m:e>
                      </m:d>
                      <m:r>
                        <a:rPr lang="en-US" sz="1600" b="0" i="1" dirty="0" smtClean="0">
                          <a:latin typeface="Cambria Math" panose="02040503050406030204" pitchFamily="18" charset="0"/>
                        </a:rPr>
                        <m:t>=</m:t>
                      </m:r>
                      <m:r>
                        <a:rPr lang="en-US" sz="1600" i="1" dirty="0" smtClean="0">
                          <a:latin typeface="Cambria Math" panose="02040503050406030204" pitchFamily="18" charset="0"/>
                        </a:rPr>
                        <m:t>𝑔</m:t>
                      </m:r>
                      <m:r>
                        <a:rPr lang="en-US" sz="1600" i="1" dirty="0" smtClean="0">
                          <a:latin typeface="Cambria Math" panose="02040503050406030204" pitchFamily="18" charset="0"/>
                        </a:rPr>
                        <m:t>(</m:t>
                      </m:r>
                      <m:r>
                        <a:rPr lang="en-US" sz="1600" i="1" dirty="0" smtClean="0">
                          <a:latin typeface="Cambria Math" panose="02040503050406030204" pitchFamily="18" charset="0"/>
                        </a:rPr>
                        <m:t>𝑛</m:t>
                      </m:r>
                      <m:r>
                        <a:rPr lang="en-US" sz="1600" i="1" dirty="0" smtClean="0">
                          <a:latin typeface="Cambria Math" panose="02040503050406030204" pitchFamily="18" charset="0"/>
                        </a:rPr>
                        <m:t>)+</m:t>
                      </m:r>
                      <m:r>
                        <a:rPr lang="en-US" sz="1600" i="1" dirty="0" smtClean="0">
                          <a:latin typeface="Cambria Math" panose="02040503050406030204" pitchFamily="18" charset="0"/>
                        </a:rPr>
                        <m:t>h</m:t>
                      </m:r>
                      <m:r>
                        <a:rPr lang="en-US" sz="1600" i="1" dirty="0" smtClean="0">
                          <a:latin typeface="Cambria Math" panose="02040503050406030204" pitchFamily="18" charset="0"/>
                        </a:rPr>
                        <m:t>(</m:t>
                      </m:r>
                      <m:r>
                        <a:rPr lang="en-US" sz="1600" i="1" dirty="0" smtClean="0">
                          <a:latin typeface="Cambria Math" panose="02040503050406030204" pitchFamily="18" charset="0"/>
                        </a:rPr>
                        <m:t>𝑛</m:t>
                      </m:r>
                      <m:r>
                        <a:rPr lang="en-US" sz="1600" i="1" dirty="0" smtClean="0">
                          <a:latin typeface="Cambria Math" panose="02040503050406030204" pitchFamily="18" charset="0"/>
                        </a:rPr>
                        <m:t>)=</m:t>
                      </m:r>
                    </m:oMath>
                  </m:oMathPara>
                </a14:m>
                <a:endParaRPr lang="en-US" sz="1600" dirty="0"/>
              </a:p>
            </p:txBody>
          </p:sp>
        </mc:Choice>
        <mc:Fallback xmlns="">
          <p:sp>
            <p:nvSpPr>
              <p:cNvPr id="9" name="Rectangle 8">
                <a:extLst>
                  <a:ext uri="{FF2B5EF4-FFF2-40B4-BE49-F238E27FC236}">
                    <a16:creationId xmlns:a16="http://schemas.microsoft.com/office/drawing/2014/main" id="{9BEBD854-9CBC-4AE4-8DAC-9C1D32048B3E}"/>
                  </a:ext>
                </a:extLst>
              </p:cNvPr>
              <p:cNvSpPr>
                <a:spLocks noRot="1" noChangeAspect="1" noMove="1" noResize="1" noEditPoints="1" noAdjustHandles="1" noChangeArrowheads="1" noChangeShapeType="1" noTextEdit="1"/>
              </p:cNvSpPr>
              <p:nvPr/>
            </p:nvSpPr>
            <p:spPr>
              <a:xfrm>
                <a:off x="2514600" y="1661176"/>
                <a:ext cx="2235804" cy="338554"/>
              </a:xfrm>
              <a:prstGeom prst="rect">
                <a:avLst/>
              </a:prstGeom>
              <a:blipFill>
                <a:blip r:embed="rId5"/>
                <a:stretch>
                  <a:fillRect b="-10909"/>
                </a:stretch>
              </a:blipFill>
            </p:spPr>
            <p:txBody>
              <a:bodyPr/>
              <a:lstStyle/>
              <a:p>
                <a:r>
                  <a:rPr lang="en-US">
                    <a:noFill/>
                  </a:rPr>
                  <a:t> </a:t>
                </a:r>
              </a:p>
            </p:txBody>
          </p:sp>
        </mc:Fallback>
      </mc:AlternateContent>
      <p:sp>
        <p:nvSpPr>
          <p:cNvPr id="3" name="TextBox 2">
            <a:extLst>
              <a:ext uri="{FF2B5EF4-FFF2-40B4-BE49-F238E27FC236}">
                <a16:creationId xmlns:a16="http://schemas.microsoft.com/office/drawing/2014/main" id="{14D88E30-70AF-43FE-8C03-67CF21969240}"/>
              </a:ext>
            </a:extLst>
          </p:cNvPr>
          <p:cNvSpPr txBox="1"/>
          <p:nvPr/>
        </p:nvSpPr>
        <p:spPr>
          <a:xfrm>
            <a:off x="628650" y="1676400"/>
            <a:ext cx="2266950" cy="923330"/>
          </a:xfrm>
          <a:prstGeom prst="rect">
            <a:avLst/>
          </a:prstGeom>
          <a:noFill/>
        </p:spPr>
        <p:txBody>
          <a:bodyPr wrap="square" rtlCol="0">
            <a:spAutoFit/>
          </a:bodyPr>
          <a:lstStyle/>
          <a:p>
            <a:r>
              <a:rPr lang="en-US" b="1" dirty="0"/>
              <a:t>Expansion rule: Expand the node with the smallest f(n)</a:t>
            </a:r>
          </a:p>
        </p:txBody>
      </p:sp>
      <mc:AlternateContent xmlns:mc="http://schemas.openxmlformats.org/markup-compatibility/2006" xmlns:a14="http://schemas.microsoft.com/office/drawing/2010/main">
        <mc:Choice Requires="a14">
          <p:sp>
            <p:nvSpPr>
              <p:cNvPr id="2" name="TextBox 1">
                <a:extLst>
                  <a:ext uri="{FF2B5EF4-FFF2-40B4-BE49-F238E27FC236}">
                    <a16:creationId xmlns:a16="http://schemas.microsoft.com/office/drawing/2014/main" id="{6E145298-964F-6404-7565-B95D4B60A115}"/>
                  </a:ext>
                </a:extLst>
              </p:cNvPr>
              <p:cNvSpPr txBox="1"/>
              <p:nvPr/>
            </p:nvSpPr>
            <p:spPr>
              <a:xfrm>
                <a:off x="7755082" y="3586141"/>
                <a:ext cx="609600"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i="1" dirty="0" smtClean="0">
                          <a:latin typeface="Cambria Math" panose="02040503050406030204" pitchFamily="18" charset="0"/>
                        </a:rPr>
                        <m:t>h</m:t>
                      </m:r>
                      <m:r>
                        <a:rPr lang="en-US" i="1" dirty="0" smtClean="0">
                          <a:latin typeface="Cambria Math" panose="02040503050406030204" pitchFamily="18" charset="0"/>
                        </a:rPr>
                        <m:t>(</m:t>
                      </m:r>
                      <m:r>
                        <a:rPr lang="en-US" i="1" dirty="0" smtClean="0">
                          <a:latin typeface="Cambria Math" panose="02040503050406030204" pitchFamily="18" charset="0"/>
                        </a:rPr>
                        <m:t>𝑛</m:t>
                      </m:r>
                      <m:r>
                        <a:rPr lang="en-US" i="1" dirty="0" smtClean="0">
                          <a:latin typeface="Cambria Math" panose="02040503050406030204" pitchFamily="18" charset="0"/>
                        </a:rPr>
                        <m:t>)</m:t>
                      </m:r>
                    </m:oMath>
                  </m:oMathPara>
                </a14:m>
                <a:endParaRPr lang="en-US" dirty="0"/>
              </a:p>
            </p:txBody>
          </p:sp>
        </mc:Choice>
        <mc:Fallback xmlns="">
          <p:sp>
            <p:nvSpPr>
              <p:cNvPr id="2" name="TextBox 1">
                <a:extLst>
                  <a:ext uri="{FF2B5EF4-FFF2-40B4-BE49-F238E27FC236}">
                    <a16:creationId xmlns:a16="http://schemas.microsoft.com/office/drawing/2014/main" id="{6E145298-964F-6404-7565-B95D4B60A115}"/>
                  </a:ext>
                </a:extLst>
              </p:cNvPr>
              <p:cNvSpPr txBox="1">
                <a:spLocks noRot="1" noChangeAspect="1" noMove="1" noResize="1" noEditPoints="1" noAdjustHandles="1" noChangeArrowheads="1" noChangeShapeType="1" noTextEdit="1"/>
              </p:cNvSpPr>
              <p:nvPr/>
            </p:nvSpPr>
            <p:spPr>
              <a:xfrm>
                <a:off x="7755082" y="3586141"/>
                <a:ext cx="609600" cy="369332"/>
              </a:xfrm>
              <a:prstGeom prst="rect">
                <a:avLst/>
              </a:prstGeom>
              <a:blipFill>
                <a:blip r:embed="rId6"/>
                <a:stretch>
                  <a:fillRect r="-8000" b="-13115"/>
                </a:stretch>
              </a:blipFill>
            </p:spPr>
            <p:txBody>
              <a:bodyPr/>
              <a:lstStyle/>
              <a:p>
                <a:r>
                  <a:rPr lang="en-US">
                    <a:noFill/>
                  </a:rPr>
                  <a:t> </a:t>
                </a:r>
              </a:p>
            </p:txBody>
          </p:sp>
        </mc:Fallback>
      </mc:AlternateContent>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7412" name="Picture 4" descr="astar-progress02c"/>
          <p:cNvPicPr>
            <a:picLocks noChangeAspect="1" noChangeArrowheads="1"/>
          </p:cNvPicPr>
          <p:nvPr/>
        </p:nvPicPr>
        <p:blipFill>
          <a:blip r:embed="rId3" cstate="print"/>
          <a:srcRect/>
          <a:stretch>
            <a:fillRect/>
          </a:stretch>
        </p:blipFill>
        <p:spPr bwMode="auto">
          <a:xfrm>
            <a:off x="1905000" y="1524000"/>
            <a:ext cx="5410200" cy="2219325"/>
          </a:xfrm>
          <a:prstGeom prst="rect">
            <a:avLst/>
          </a:prstGeom>
          <a:noFill/>
        </p:spPr>
      </p:pic>
      <p:sp>
        <p:nvSpPr>
          <p:cNvPr id="17410" name="Rectangle 2"/>
          <p:cNvSpPr>
            <a:spLocks noGrp="1" noChangeArrowheads="1"/>
          </p:cNvSpPr>
          <p:nvPr>
            <p:ph type="title"/>
          </p:nvPr>
        </p:nvSpPr>
        <p:spPr/>
        <p:txBody>
          <a:bodyPr/>
          <a:lstStyle/>
          <a:p>
            <a:r>
              <a:rPr lang="en-US" dirty="0"/>
              <a:t>A</a:t>
            </a:r>
            <a:r>
              <a:rPr lang="en-US" baseline="30000" dirty="0"/>
              <a:t>*</a:t>
            </a:r>
            <a:r>
              <a:rPr lang="en-US" dirty="0"/>
              <a:t> Search Example</a:t>
            </a:r>
          </a:p>
        </p:txBody>
      </p:sp>
      <p:pic>
        <p:nvPicPr>
          <p:cNvPr id="4" name="Picture 4" descr="romania2"/>
          <p:cNvPicPr>
            <a:picLocks noChangeAspect="1" noChangeArrowheads="1"/>
          </p:cNvPicPr>
          <p:nvPr/>
        </p:nvPicPr>
        <p:blipFill>
          <a:blip r:embed="rId4" cstate="print"/>
          <a:srcRect/>
          <a:stretch>
            <a:fillRect/>
          </a:stretch>
        </p:blipFill>
        <p:spPr bwMode="auto">
          <a:xfrm>
            <a:off x="3581400" y="3962400"/>
            <a:ext cx="5334000" cy="2614525"/>
          </a:xfrm>
          <a:prstGeom prst="rect">
            <a:avLst/>
          </a:prstGeom>
          <a:noFill/>
        </p:spPr>
      </p:pic>
      <p:sp>
        <p:nvSpPr>
          <p:cNvPr id="5" name="Oval 4"/>
          <p:cNvSpPr/>
          <p:nvPr/>
        </p:nvSpPr>
        <p:spPr>
          <a:xfrm>
            <a:off x="4549333" y="4807527"/>
            <a:ext cx="457200" cy="304800"/>
          </a:xfrm>
          <a:prstGeom prst="ellipse">
            <a:avLst/>
          </a:prstGeom>
          <a:noFill/>
          <a:ln>
            <a:solidFill>
              <a:schemeClr val="accent3"/>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Oval 5"/>
          <p:cNvSpPr/>
          <p:nvPr/>
        </p:nvSpPr>
        <p:spPr>
          <a:xfrm>
            <a:off x="6096000" y="5867400"/>
            <a:ext cx="685800" cy="381000"/>
          </a:xfrm>
          <a:prstGeom prst="ellipse">
            <a:avLst/>
          </a:prstGeom>
          <a:noFill/>
          <a:ln>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Oval 6">
            <a:extLst>
              <a:ext uri="{FF2B5EF4-FFF2-40B4-BE49-F238E27FC236}">
                <a16:creationId xmlns:a16="http://schemas.microsoft.com/office/drawing/2014/main" id="{8D9C4EC7-843A-4BF2-8457-F1A5AE872A0A}"/>
              </a:ext>
            </a:extLst>
          </p:cNvPr>
          <p:cNvSpPr/>
          <p:nvPr/>
        </p:nvSpPr>
        <p:spPr>
          <a:xfrm>
            <a:off x="7848600" y="5867400"/>
            <a:ext cx="1295400" cy="228600"/>
          </a:xfrm>
          <a:prstGeom prst="ellipse">
            <a:avLst/>
          </a:prstGeom>
          <a:noFill/>
          <a:ln>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8" name="Straight Arrow Connector 7">
            <a:extLst>
              <a:ext uri="{FF2B5EF4-FFF2-40B4-BE49-F238E27FC236}">
                <a16:creationId xmlns:a16="http://schemas.microsoft.com/office/drawing/2014/main" id="{DA0FB795-D558-45EC-B122-C058A33D6F3D}"/>
              </a:ext>
            </a:extLst>
          </p:cNvPr>
          <p:cNvCxnSpPr/>
          <p:nvPr/>
        </p:nvCxnSpPr>
        <p:spPr>
          <a:xfrm>
            <a:off x="3886200" y="4724400"/>
            <a:ext cx="914400" cy="228600"/>
          </a:xfrm>
          <a:prstGeom prst="straightConnector1">
            <a:avLst/>
          </a:prstGeom>
          <a:ln w="38100">
            <a:solidFill>
              <a:schemeClr val="accent3"/>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9" name="Rectangle 8">
                <a:extLst>
                  <a:ext uri="{FF2B5EF4-FFF2-40B4-BE49-F238E27FC236}">
                    <a16:creationId xmlns:a16="http://schemas.microsoft.com/office/drawing/2014/main" id="{3A77AC84-3A38-4028-8731-19C3412E72D2}"/>
                  </a:ext>
                </a:extLst>
              </p:cNvPr>
              <p:cNvSpPr/>
              <p:nvPr/>
            </p:nvSpPr>
            <p:spPr>
              <a:xfrm>
                <a:off x="6972940" y="1524000"/>
                <a:ext cx="2025298" cy="338554"/>
              </a:xfrm>
              <a:prstGeom prst="rect">
                <a:avLst/>
              </a:prstGeom>
            </p:spPr>
            <p:style>
              <a:lnRef idx="3">
                <a:schemeClr val="lt1"/>
              </a:lnRef>
              <a:fillRef idx="1">
                <a:schemeClr val="accent3"/>
              </a:fillRef>
              <a:effectRef idx="1">
                <a:schemeClr val="accent3"/>
              </a:effectRef>
              <a:fontRef idx="minor">
                <a:schemeClr val="lt1"/>
              </a:fontRef>
            </p:style>
            <p:txBody>
              <a:bodyPr wrap="none">
                <a:spAutoFit/>
              </a:bodyPr>
              <a:lstStyle/>
              <a:p>
                <a:pPr/>
                <a14:m>
                  <m:oMathPara xmlns:m="http://schemas.openxmlformats.org/officeDocument/2006/math">
                    <m:oMathParaPr>
                      <m:jc m:val="centerGroup"/>
                    </m:oMathParaPr>
                    <m:oMath xmlns:m="http://schemas.openxmlformats.org/officeDocument/2006/math">
                      <m:r>
                        <a:rPr lang="en-US" sz="1600" i="1" dirty="0" smtClean="0">
                          <a:latin typeface="Cambria Math" panose="02040503050406030204" pitchFamily="18" charset="0"/>
                        </a:rPr>
                        <m:t>𝑓</m:t>
                      </m:r>
                      <m:d>
                        <m:dPr>
                          <m:ctrlPr>
                            <a:rPr lang="en-US" sz="1600" i="1" dirty="0" smtClean="0">
                              <a:latin typeface="Cambria Math" panose="02040503050406030204" pitchFamily="18" charset="0"/>
                            </a:rPr>
                          </m:ctrlPr>
                        </m:dPr>
                        <m:e>
                          <m:r>
                            <a:rPr lang="en-US" sz="1600" i="1" dirty="0" smtClean="0">
                              <a:latin typeface="Cambria Math" panose="02040503050406030204" pitchFamily="18" charset="0"/>
                            </a:rPr>
                            <m:t>𝑛</m:t>
                          </m:r>
                        </m:e>
                      </m:d>
                      <m:r>
                        <a:rPr lang="en-US" sz="1600" i="1" dirty="0" smtClean="0">
                          <a:latin typeface="Cambria Math" panose="02040503050406030204" pitchFamily="18" charset="0"/>
                        </a:rPr>
                        <m:t>=</m:t>
                      </m:r>
                      <m:r>
                        <a:rPr lang="en-US" sz="1600" i="1" dirty="0" smtClean="0">
                          <a:latin typeface="Cambria Math" panose="02040503050406030204" pitchFamily="18" charset="0"/>
                        </a:rPr>
                        <m:t>𝑔</m:t>
                      </m:r>
                      <m:d>
                        <m:dPr>
                          <m:ctrlPr>
                            <a:rPr lang="en-US" sz="1600" i="1" dirty="0" smtClean="0">
                              <a:latin typeface="Cambria Math" panose="02040503050406030204" pitchFamily="18" charset="0"/>
                            </a:rPr>
                          </m:ctrlPr>
                        </m:dPr>
                        <m:e>
                          <m:r>
                            <a:rPr lang="en-US" sz="1600" i="1" dirty="0" smtClean="0">
                              <a:latin typeface="Cambria Math" panose="02040503050406030204" pitchFamily="18" charset="0"/>
                            </a:rPr>
                            <m:t>𝑛</m:t>
                          </m:r>
                        </m:e>
                      </m:d>
                      <m:r>
                        <a:rPr lang="en-US" sz="1600" b="0" i="1" dirty="0" smtClean="0">
                          <a:latin typeface="Cambria Math" panose="02040503050406030204" pitchFamily="18" charset="0"/>
                        </a:rPr>
                        <m:t>+</m:t>
                      </m:r>
                      <m:r>
                        <a:rPr lang="en-US" sz="1600" i="1" dirty="0" smtClean="0">
                          <a:latin typeface="Cambria Math" panose="02040503050406030204" pitchFamily="18" charset="0"/>
                        </a:rPr>
                        <m:t>h</m:t>
                      </m:r>
                      <m:r>
                        <a:rPr lang="en-US" sz="1600" i="1" dirty="0" smtClean="0">
                          <a:latin typeface="Cambria Math" panose="02040503050406030204" pitchFamily="18" charset="0"/>
                        </a:rPr>
                        <m:t>(</m:t>
                      </m:r>
                      <m:r>
                        <a:rPr lang="en-US" sz="1600" i="1" dirty="0" smtClean="0">
                          <a:latin typeface="Cambria Math" panose="02040503050406030204" pitchFamily="18" charset="0"/>
                        </a:rPr>
                        <m:t>𝑛</m:t>
                      </m:r>
                      <m:r>
                        <a:rPr lang="en-US" sz="1600" i="1" dirty="0" smtClean="0">
                          <a:latin typeface="Cambria Math" panose="02040503050406030204" pitchFamily="18" charset="0"/>
                        </a:rPr>
                        <m:t>)</m:t>
                      </m:r>
                    </m:oMath>
                  </m:oMathPara>
                </a14:m>
                <a:endParaRPr lang="en-US" sz="1600" dirty="0"/>
              </a:p>
            </p:txBody>
          </p:sp>
        </mc:Choice>
        <mc:Fallback xmlns="">
          <p:sp>
            <p:nvSpPr>
              <p:cNvPr id="9" name="Rectangle 8">
                <a:extLst>
                  <a:ext uri="{FF2B5EF4-FFF2-40B4-BE49-F238E27FC236}">
                    <a16:creationId xmlns:a16="http://schemas.microsoft.com/office/drawing/2014/main" id="{3A77AC84-3A38-4028-8731-19C3412E72D2}"/>
                  </a:ext>
                </a:extLst>
              </p:cNvPr>
              <p:cNvSpPr>
                <a:spLocks noRot="1" noChangeAspect="1" noMove="1" noResize="1" noEditPoints="1" noAdjustHandles="1" noChangeArrowheads="1" noChangeShapeType="1" noTextEdit="1"/>
              </p:cNvSpPr>
              <p:nvPr/>
            </p:nvSpPr>
            <p:spPr>
              <a:xfrm>
                <a:off x="6972940" y="1524000"/>
                <a:ext cx="2025298" cy="338554"/>
              </a:xfrm>
              <a:prstGeom prst="rect">
                <a:avLst/>
              </a:prstGeom>
              <a:blipFill>
                <a:blip r:embed="rId5"/>
                <a:stretch>
                  <a:fillRect b="-508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 name="TextBox 1">
                <a:extLst>
                  <a:ext uri="{FF2B5EF4-FFF2-40B4-BE49-F238E27FC236}">
                    <a16:creationId xmlns:a16="http://schemas.microsoft.com/office/drawing/2014/main" id="{7873F2FF-B8EE-EBC4-6525-639D6BF7B0DD}"/>
                  </a:ext>
                </a:extLst>
              </p:cNvPr>
              <p:cNvSpPr txBox="1"/>
              <p:nvPr/>
            </p:nvSpPr>
            <p:spPr>
              <a:xfrm>
                <a:off x="7755082" y="3586141"/>
                <a:ext cx="609600"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i="1" dirty="0" smtClean="0">
                          <a:latin typeface="Cambria Math" panose="02040503050406030204" pitchFamily="18" charset="0"/>
                        </a:rPr>
                        <m:t>h</m:t>
                      </m:r>
                      <m:r>
                        <a:rPr lang="en-US" i="1" dirty="0" smtClean="0">
                          <a:latin typeface="Cambria Math" panose="02040503050406030204" pitchFamily="18" charset="0"/>
                        </a:rPr>
                        <m:t>(</m:t>
                      </m:r>
                      <m:r>
                        <a:rPr lang="en-US" i="1" dirty="0" smtClean="0">
                          <a:latin typeface="Cambria Math" panose="02040503050406030204" pitchFamily="18" charset="0"/>
                        </a:rPr>
                        <m:t>𝑛</m:t>
                      </m:r>
                      <m:r>
                        <a:rPr lang="en-US" i="1" dirty="0" smtClean="0">
                          <a:latin typeface="Cambria Math" panose="02040503050406030204" pitchFamily="18" charset="0"/>
                        </a:rPr>
                        <m:t>)</m:t>
                      </m:r>
                    </m:oMath>
                  </m:oMathPara>
                </a14:m>
                <a:endParaRPr lang="en-US" dirty="0"/>
              </a:p>
            </p:txBody>
          </p:sp>
        </mc:Choice>
        <mc:Fallback xmlns="">
          <p:sp>
            <p:nvSpPr>
              <p:cNvPr id="2" name="TextBox 1">
                <a:extLst>
                  <a:ext uri="{FF2B5EF4-FFF2-40B4-BE49-F238E27FC236}">
                    <a16:creationId xmlns:a16="http://schemas.microsoft.com/office/drawing/2014/main" id="{7873F2FF-B8EE-EBC4-6525-639D6BF7B0DD}"/>
                  </a:ext>
                </a:extLst>
              </p:cNvPr>
              <p:cNvSpPr txBox="1">
                <a:spLocks noRot="1" noChangeAspect="1" noMove="1" noResize="1" noEditPoints="1" noAdjustHandles="1" noChangeArrowheads="1" noChangeShapeType="1" noTextEdit="1"/>
              </p:cNvSpPr>
              <p:nvPr/>
            </p:nvSpPr>
            <p:spPr>
              <a:xfrm>
                <a:off x="7755082" y="3586141"/>
                <a:ext cx="609600" cy="369332"/>
              </a:xfrm>
              <a:prstGeom prst="rect">
                <a:avLst/>
              </a:prstGeom>
              <a:blipFill>
                <a:blip r:embed="rId6"/>
                <a:stretch>
                  <a:fillRect r="-8000" b="-13115"/>
                </a:stretch>
              </a:blipFill>
            </p:spPr>
            <p:txBody>
              <a:bodyPr/>
              <a:lstStyle/>
              <a:p>
                <a:r>
                  <a:rPr lang="en-US">
                    <a:noFill/>
                  </a:rPr>
                  <a:t> </a:t>
                </a:r>
              </a:p>
            </p:txBody>
          </p:sp>
        </mc:Fallback>
      </mc:AlternateContent>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434" name="Rectangle 2"/>
          <p:cNvSpPr>
            <a:spLocks noGrp="1" noChangeArrowheads="1"/>
          </p:cNvSpPr>
          <p:nvPr>
            <p:ph type="title"/>
          </p:nvPr>
        </p:nvSpPr>
        <p:spPr/>
        <p:txBody>
          <a:bodyPr/>
          <a:lstStyle/>
          <a:p>
            <a:r>
              <a:rPr lang="en-US" dirty="0"/>
              <a:t>A</a:t>
            </a:r>
            <a:r>
              <a:rPr lang="en-US" baseline="30000" dirty="0"/>
              <a:t>*</a:t>
            </a:r>
            <a:r>
              <a:rPr lang="en-US" dirty="0"/>
              <a:t> Search Example</a:t>
            </a:r>
          </a:p>
        </p:txBody>
      </p:sp>
      <p:pic>
        <p:nvPicPr>
          <p:cNvPr id="18437" name="Picture 5" descr="astar-progress03c"/>
          <p:cNvPicPr>
            <a:picLocks noChangeAspect="1" noChangeArrowheads="1"/>
          </p:cNvPicPr>
          <p:nvPr/>
        </p:nvPicPr>
        <p:blipFill>
          <a:blip r:embed="rId3" cstate="print"/>
          <a:srcRect/>
          <a:stretch>
            <a:fillRect/>
          </a:stretch>
        </p:blipFill>
        <p:spPr bwMode="auto">
          <a:xfrm>
            <a:off x="1905000" y="1524000"/>
            <a:ext cx="5410200" cy="2219325"/>
          </a:xfrm>
          <a:prstGeom prst="rect">
            <a:avLst/>
          </a:prstGeom>
          <a:noFill/>
        </p:spPr>
      </p:pic>
      <p:pic>
        <p:nvPicPr>
          <p:cNvPr id="4" name="Picture 4" descr="romania2"/>
          <p:cNvPicPr>
            <a:picLocks noChangeAspect="1" noChangeArrowheads="1"/>
          </p:cNvPicPr>
          <p:nvPr/>
        </p:nvPicPr>
        <p:blipFill>
          <a:blip r:embed="rId4" cstate="print"/>
          <a:srcRect/>
          <a:stretch>
            <a:fillRect/>
          </a:stretch>
        </p:blipFill>
        <p:spPr bwMode="auto">
          <a:xfrm>
            <a:off x="3581400" y="3962400"/>
            <a:ext cx="5334000" cy="2614525"/>
          </a:xfrm>
          <a:prstGeom prst="rect">
            <a:avLst/>
          </a:prstGeom>
          <a:noFill/>
        </p:spPr>
      </p:pic>
      <p:sp>
        <p:nvSpPr>
          <p:cNvPr id="5" name="Oval 4"/>
          <p:cNvSpPr/>
          <p:nvPr/>
        </p:nvSpPr>
        <p:spPr>
          <a:xfrm>
            <a:off x="4754301" y="5244296"/>
            <a:ext cx="457200" cy="304800"/>
          </a:xfrm>
          <a:prstGeom prst="ellipse">
            <a:avLst/>
          </a:prstGeom>
          <a:noFill/>
          <a:ln>
            <a:solidFill>
              <a:schemeClr val="accent3"/>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Oval 5"/>
          <p:cNvSpPr/>
          <p:nvPr/>
        </p:nvSpPr>
        <p:spPr>
          <a:xfrm>
            <a:off x="6096000" y="5867400"/>
            <a:ext cx="685800" cy="381000"/>
          </a:xfrm>
          <a:prstGeom prst="ellipse">
            <a:avLst/>
          </a:prstGeom>
          <a:noFill/>
          <a:ln>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7" name="Straight Arrow Connector 6">
            <a:extLst>
              <a:ext uri="{FF2B5EF4-FFF2-40B4-BE49-F238E27FC236}">
                <a16:creationId xmlns:a16="http://schemas.microsoft.com/office/drawing/2014/main" id="{557A8EFF-56CF-4AB5-A043-015E4736E416}"/>
              </a:ext>
            </a:extLst>
          </p:cNvPr>
          <p:cNvCxnSpPr/>
          <p:nvPr/>
        </p:nvCxnSpPr>
        <p:spPr>
          <a:xfrm>
            <a:off x="3886200" y="4724400"/>
            <a:ext cx="914400" cy="228600"/>
          </a:xfrm>
          <a:prstGeom prst="straightConnector1">
            <a:avLst/>
          </a:prstGeom>
          <a:ln w="38100">
            <a:solidFill>
              <a:schemeClr val="accent3"/>
            </a:solidFill>
            <a:tailEnd type="triangle"/>
          </a:ln>
        </p:spPr>
        <p:style>
          <a:lnRef idx="1">
            <a:schemeClr val="accent1"/>
          </a:lnRef>
          <a:fillRef idx="0">
            <a:schemeClr val="accent1"/>
          </a:fillRef>
          <a:effectRef idx="0">
            <a:schemeClr val="accent1"/>
          </a:effectRef>
          <a:fontRef idx="minor">
            <a:schemeClr val="tx1"/>
          </a:fontRef>
        </p:style>
      </p:cxnSp>
      <p:cxnSp>
        <p:nvCxnSpPr>
          <p:cNvPr id="8" name="Straight Arrow Connector 7">
            <a:extLst>
              <a:ext uri="{FF2B5EF4-FFF2-40B4-BE49-F238E27FC236}">
                <a16:creationId xmlns:a16="http://schemas.microsoft.com/office/drawing/2014/main" id="{62AE8D6A-9C02-4835-B88E-9827644C9089}"/>
              </a:ext>
            </a:extLst>
          </p:cNvPr>
          <p:cNvCxnSpPr>
            <a:cxnSpLocks/>
          </p:cNvCxnSpPr>
          <p:nvPr/>
        </p:nvCxnSpPr>
        <p:spPr>
          <a:xfrm>
            <a:off x="4724400" y="4953000"/>
            <a:ext cx="228600" cy="381000"/>
          </a:xfrm>
          <a:prstGeom prst="straightConnector1">
            <a:avLst/>
          </a:prstGeom>
          <a:ln w="38100">
            <a:solidFill>
              <a:schemeClr val="accent3"/>
            </a:solidFill>
            <a:tailEnd type="triangle"/>
          </a:ln>
        </p:spPr>
        <p:style>
          <a:lnRef idx="1">
            <a:schemeClr val="accent1"/>
          </a:lnRef>
          <a:fillRef idx="0">
            <a:schemeClr val="accent1"/>
          </a:fillRef>
          <a:effectRef idx="0">
            <a:schemeClr val="accent1"/>
          </a:effectRef>
          <a:fontRef idx="minor">
            <a:schemeClr val="tx1"/>
          </a:fontRef>
        </p:style>
      </p:cxnSp>
      <p:sp>
        <p:nvSpPr>
          <p:cNvPr id="11" name="Oval 10">
            <a:extLst>
              <a:ext uri="{FF2B5EF4-FFF2-40B4-BE49-F238E27FC236}">
                <a16:creationId xmlns:a16="http://schemas.microsoft.com/office/drawing/2014/main" id="{32BE5B62-974F-4C93-9885-06AAC77B93D7}"/>
              </a:ext>
            </a:extLst>
          </p:cNvPr>
          <p:cNvSpPr/>
          <p:nvPr/>
        </p:nvSpPr>
        <p:spPr>
          <a:xfrm>
            <a:off x="7848600" y="5791200"/>
            <a:ext cx="1295400" cy="228600"/>
          </a:xfrm>
          <a:prstGeom prst="ellipse">
            <a:avLst/>
          </a:prstGeom>
          <a:noFill/>
          <a:ln>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2" name="Rectangle 1">
                <a:extLst>
                  <a:ext uri="{FF2B5EF4-FFF2-40B4-BE49-F238E27FC236}">
                    <a16:creationId xmlns:a16="http://schemas.microsoft.com/office/drawing/2014/main" id="{31862E68-355D-2ACE-63FA-8B1C5BE01053}"/>
                  </a:ext>
                </a:extLst>
              </p:cNvPr>
              <p:cNvSpPr/>
              <p:nvPr/>
            </p:nvSpPr>
            <p:spPr>
              <a:xfrm>
                <a:off x="6972940" y="1524000"/>
                <a:ext cx="2025298" cy="338554"/>
              </a:xfrm>
              <a:prstGeom prst="rect">
                <a:avLst/>
              </a:prstGeom>
            </p:spPr>
            <p:style>
              <a:lnRef idx="3">
                <a:schemeClr val="lt1"/>
              </a:lnRef>
              <a:fillRef idx="1">
                <a:schemeClr val="accent3"/>
              </a:fillRef>
              <a:effectRef idx="1">
                <a:schemeClr val="accent3"/>
              </a:effectRef>
              <a:fontRef idx="minor">
                <a:schemeClr val="lt1"/>
              </a:fontRef>
            </p:style>
            <p:txBody>
              <a:bodyPr wrap="none">
                <a:spAutoFit/>
              </a:bodyPr>
              <a:lstStyle/>
              <a:p>
                <a:pPr/>
                <a14:m>
                  <m:oMathPara xmlns:m="http://schemas.openxmlformats.org/officeDocument/2006/math">
                    <m:oMathParaPr>
                      <m:jc m:val="centerGroup"/>
                    </m:oMathParaPr>
                    <m:oMath xmlns:m="http://schemas.openxmlformats.org/officeDocument/2006/math">
                      <m:r>
                        <a:rPr lang="en-US" sz="1600" i="1" dirty="0" smtClean="0">
                          <a:latin typeface="Cambria Math" panose="02040503050406030204" pitchFamily="18" charset="0"/>
                        </a:rPr>
                        <m:t>𝑓</m:t>
                      </m:r>
                      <m:d>
                        <m:dPr>
                          <m:ctrlPr>
                            <a:rPr lang="en-US" sz="1600" i="1" dirty="0" smtClean="0">
                              <a:latin typeface="Cambria Math" panose="02040503050406030204" pitchFamily="18" charset="0"/>
                            </a:rPr>
                          </m:ctrlPr>
                        </m:dPr>
                        <m:e>
                          <m:r>
                            <a:rPr lang="en-US" sz="1600" i="1" dirty="0" smtClean="0">
                              <a:latin typeface="Cambria Math" panose="02040503050406030204" pitchFamily="18" charset="0"/>
                            </a:rPr>
                            <m:t>𝑛</m:t>
                          </m:r>
                        </m:e>
                      </m:d>
                      <m:r>
                        <a:rPr lang="en-US" sz="1600" i="1" dirty="0" smtClean="0">
                          <a:latin typeface="Cambria Math" panose="02040503050406030204" pitchFamily="18" charset="0"/>
                        </a:rPr>
                        <m:t>=</m:t>
                      </m:r>
                      <m:r>
                        <a:rPr lang="en-US" sz="1600" i="1" dirty="0" smtClean="0">
                          <a:latin typeface="Cambria Math" panose="02040503050406030204" pitchFamily="18" charset="0"/>
                        </a:rPr>
                        <m:t>𝑔</m:t>
                      </m:r>
                      <m:d>
                        <m:dPr>
                          <m:ctrlPr>
                            <a:rPr lang="en-US" sz="1600" i="1" dirty="0" smtClean="0">
                              <a:latin typeface="Cambria Math" panose="02040503050406030204" pitchFamily="18" charset="0"/>
                            </a:rPr>
                          </m:ctrlPr>
                        </m:dPr>
                        <m:e>
                          <m:r>
                            <a:rPr lang="en-US" sz="1600" i="1" dirty="0" smtClean="0">
                              <a:latin typeface="Cambria Math" panose="02040503050406030204" pitchFamily="18" charset="0"/>
                            </a:rPr>
                            <m:t>𝑛</m:t>
                          </m:r>
                        </m:e>
                      </m:d>
                      <m:r>
                        <a:rPr lang="en-US" sz="1600" b="0" i="1" dirty="0" smtClean="0">
                          <a:latin typeface="Cambria Math" panose="02040503050406030204" pitchFamily="18" charset="0"/>
                        </a:rPr>
                        <m:t>+</m:t>
                      </m:r>
                      <m:r>
                        <a:rPr lang="en-US" sz="1600" i="1" dirty="0" smtClean="0">
                          <a:latin typeface="Cambria Math" panose="02040503050406030204" pitchFamily="18" charset="0"/>
                        </a:rPr>
                        <m:t>h</m:t>
                      </m:r>
                      <m:r>
                        <a:rPr lang="en-US" sz="1600" i="1" dirty="0" smtClean="0">
                          <a:latin typeface="Cambria Math" panose="02040503050406030204" pitchFamily="18" charset="0"/>
                        </a:rPr>
                        <m:t>(</m:t>
                      </m:r>
                      <m:r>
                        <a:rPr lang="en-US" sz="1600" i="1" dirty="0" smtClean="0">
                          <a:latin typeface="Cambria Math" panose="02040503050406030204" pitchFamily="18" charset="0"/>
                        </a:rPr>
                        <m:t>𝑛</m:t>
                      </m:r>
                      <m:r>
                        <a:rPr lang="en-US" sz="1600" i="1" dirty="0" smtClean="0">
                          <a:latin typeface="Cambria Math" panose="02040503050406030204" pitchFamily="18" charset="0"/>
                        </a:rPr>
                        <m:t>)</m:t>
                      </m:r>
                    </m:oMath>
                  </m:oMathPara>
                </a14:m>
                <a:endParaRPr lang="en-US" sz="1600" dirty="0"/>
              </a:p>
            </p:txBody>
          </p:sp>
        </mc:Choice>
        <mc:Fallback xmlns="">
          <p:sp>
            <p:nvSpPr>
              <p:cNvPr id="2" name="Rectangle 1">
                <a:extLst>
                  <a:ext uri="{FF2B5EF4-FFF2-40B4-BE49-F238E27FC236}">
                    <a16:creationId xmlns:a16="http://schemas.microsoft.com/office/drawing/2014/main" id="{31862E68-355D-2ACE-63FA-8B1C5BE01053}"/>
                  </a:ext>
                </a:extLst>
              </p:cNvPr>
              <p:cNvSpPr>
                <a:spLocks noRot="1" noChangeAspect="1" noMove="1" noResize="1" noEditPoints="1" noAdjustHandles="1" noChangeArrowheads="1" noChangeShapeType="1" noTextEdit="1"/>
              </p:cNvSpPr>
              <p:nvPr/>
            </p:nvSpPr>
            <p:spPr>
              <a:xfrm>
                <a:off x="6972940" y="1524000"/>
                <a:ext cx="2025298" cy="338554"/>
              </a:xfrm>
              <a:prstGeom prst="rect">
                <a:avLst/>
              </a:prstGeom>
              <a:blipFill>
                <a:blip r:embed="rId5"/>
                <a:stretch>
                  <a:fillRect b="-508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 name="TextBox 2">
                <a:extLst>
                  <a:ext uri="{FF2B5EF4-FFF2-40B4-BE49-F238E27FC236}">
                    <a16:creationId xmlns:a16="http://schemas.microsoft.com/office/drawing/2014/main" id="{A73866C0-A61C-FE9D-CFC9-BAA2290C7701}"/>
                  </a:ext>
                </a:extLst>
              </p:cNvPr>
              <p:cNvSpPr txBox="1"/>
              <p:nvPr/>
            </p:nvSpPr>
            <p:spPr>
              <a:xfrm>
                <a:off x="7755082" y="3586141"/>
                <a:ext cx="609600"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i="1" dirty="0" smtClean="0">
                          <a:latin typeface="Cambria Math" panose="02040503050406030204" pitchFamily="18" charset="0"/>
                        </a:rPr>
                        <m:t>h</m:t>
                      </m:r>
                      <m:r>
                        <a:rPr lang="en-US" i="1" dirty="0" smtClean="0">
                          <a:latin typeface="Cambria Math" panose="02040503050406030204" pitchFamily="18" charset="0"/>
                        </a:rPr>
                        <m:t>(</m:t>
                      </m:r>
                      <m:r>
                        <a:rPr lang="en-US" i="1" dirty="0" smtClean="0">
                          <a:latin typeface="Cambria Math" panose="02040503050406030204" pitchFamily="18" charset="0"/>
                        </a:rPr>
                        <m:t>𝑛</m:t>
                      </m:r>
                      <m:r>
                        <a:rPr lang="en-US" i="1" dirty="0" smtClean="0">
                          <a:latin typeface="Cambria Math" panose="02040503050406030204" pitchFamily="18" charset="0"/>
                        </a:rPr>
                        <m:t>)</m:t>
                      </m:r>
                    </m:oMath>
                  </m:oMathPara>
                </a14:m>
                <a:endParaRPr lang="en-US" dirty="0"/>
              </a:p>
            </p:txBody>
          </p:sp>
        </mc:Choice>
        <mc:Fallback xmlns="">
          <p:sp>
            <p:nvSpPr>
              <p:cNvPr id="3" name="TextBox 2">
                <a:extLst>
                  <a:ext uri="{FF2B5EF4-FFF2-40B4-BE49-F238E27FC236}">
                    <a16:creationId xmlns:a16="http://schemas.microsoft.com/office/drawing/2014/main" id="{A73866C0-A61C-FE9D-CFC9-BAA2290C7701}"/>
                  </a:ext>
                </a:extLst>
              </p:cNvPr>
              <p:cNvSpPr txBox="1">
                <a:spLocks noRot="1" noChangeAspect="1" noMove="1" noResize="1" noEditPoints="1" noAdjustHandles="1" noChangeArrowheads="1" noChangeShapeType="1" noTextEdit="1"/>
              </p:cNvSpPr>
              <p:nvPr/>
            </p:nvSpPr>
            <p:spPr>
              <a:xfrm>
                <a:off x="7755082" y="3586141"/>
                <a:ext cx="609600" cy="369332"/>
              </a:xfrm>
              <a:prstGeom prst="rect">
                <a:avLst/>
              </a:prstGeom>
              <a:blipFill>
                <a:blip r:embed="rId6"/>
                <a:stretch>
                  <a:fillRect r="-8000" b="-13115"/>
                </a:stretch>
              </a:blipFill>
            </p:spPr>
            <p:txBody>
              <a:bodyPr/>
              <a:lstStyle/>
              <a:p>
                <a:r>
                  <a:rPr lang="en-US">
                    <a:noFill/>
                  </a:rPr>
                  <a:t> </a:t>
                </a:r>
              </a:p>
            </p:txBody>
          </p:sp>
        </mc:Fallback>
      </mc:AlternateContent>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458" name="Rectangle 2"/>
          <p:cNvSpPr>
            <a:spLocks noGrp="1" noChangeArrowheads="1"/>
          </p:cNvSpPr>
          <p:nvPr>
            <p:ph type="title"/>
          </p:nvPr>
        </p:nvSpPr>
        <p:spPr/>
        <p:txBody>
          <a:bodyPr/>
          <a:lstStyle/>
          <a:p>
            <a:r>
              <a:rPr lang="en-US" dirty="0"/>
              <a:t>A</a:t>
            </a:r>
            <a:r>
              <a:rPr lang="en-US" baseline="30000" dirty="0"/>
              <a:t>*</a:t>
            </a:r>
            <a:r>
              <a:rPr lang="en-US" dirty="0"/>
              <a:t> Search Example</a:t>
            </a:r>
          </a:p>
        </p:txBody>
      </p:sp>
      <p:pic>
        <p:nvPicPr>
          <p:cNvPr id="19460" name="Picture 4" descr="astar-progress04c"/>
          <p:cNvPicPr>
            <a:picLocks noChangeAspect="1" noChangeArrowheads="1"/>
          </p:cNvPicPr>
          <p:nvPr/>
        </p:nvPicPr>
        <p:blipFill>
          <a:blip r:embed="rId3" cstate="print"/>
          <a:srcRect/>
          <a:stretch>
            <a:fillRect/>
          </a:stretch>
        </p:blipFill>
        <p:spPr bwMode="auto">
          <a:xfrm>
            <a:off x="1905000" y="1524000"/>
            <a:ext cx="5410200" cy="2219325"/>
          </a:xfrm>
          <a:prstGeom prst="rect">
            <a:avLst/>
          </a:prstGeom>
          <a:noFill/>
        </p:spPr>
      </p:pic>
      <p:pic>
        <p:nvPicPr>
          <p:cNvPr id="4" name="Picture 4" descr="romania2"/>
          <p:cNvPicPr>
            <a:picLocks noChangeAspect="1" noChangeArrowheads="1"/>
          </p:cNvPicPr>
          <p:nvPr/>
        </p:nvPicPr>
        <p:blipFill>
          <a:blip r:embed="rId4" cstate="print"/>
          <a:srcRect/>
          <a:stretch>
            <a:fillRect/>
          </a:stretch>
        </p:blipFill>
        <p:spPr bwMode="auto">
          <a:xfrm>
            <a:off x="3581400" y="3962400"/>
            <a:ext cx="5334000" cy="2614525"/>
          </a:xfrm>
          <a:prstGeom prst="rect">
            <a:avLst/>
          </a:prstGeom>
          <a:noFill/>
        </p:spPr>
      </p:pic>
      <p:sp>
        <p:nvSpPr>
          <p:cNvPr id="6" name="Oval 5"/>
          <p:cNvSpPr/>
          <p:nvPr/>
        </p:nvSpPr>
        <p:spPr>
          <a:xfrm>
            <a:off x="6096000" y="5867400"/>
            <a:ext cx="685800" cy="381000"/>
          </a:xfrm>
          <a:prstGeom prst="ellipse">
            <a:avLst/>
          </a:prstGeom>
          <a:noFill/>
          <a:ln>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Oval 6">
            <a:extLst>
              <a:ext uri="{FF2B5EF4-FFF2-40B4-BE49-F238E27FC236}">
                <a16:creationId xmlns:a16="http://schemas.microsoft.com/office/drawing/2014/main" id="{068AED4F-B79A-4881-AF1E-9AFD743E399A}"/>
              </a:ext>
            </a:extLst>
          </p:cNvPr>
          <p:cNvSpPr/>
          <p:nvPr/>
        </p:nvSpPr>
        <p:spPr>
          <a:xfrm>
            <a:off x="5334000" y="4922455"/>
            <a:ext cx="457200" cy="304800"/>
          </a:xfrm>
          <a:prstGeom prst="ellipse">
            <a:avLst/>
          </a:prstGeom>
          <a:noFill/>
          <a:ln>
            <a:solidFill>
              <a:schemeClr val="accent3"/>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8" name="Straight Arrow Connector 7">
            <a:extLst>
              <a:ext uri="{FF2B5EF4-FFF2-40B4-BE49-F238E27FC236}">
                <a16:creationId xmlns:a16="http://schemas.microsoft.com/office/drawing/2014/main" id="{2A487AFC-31E4-477F-B450-0BD35B3F7896}"/>
              </a:ext>
            </a:extLst>
          </p:cNvPr>
          <p:cNvCxnSpPr/>
          <p:nvPr/>
        </p:nvCxnSpPr>
        <p:spPr>
          <a:xfrm>
            <a:off x="3886200" y="4724400"/>
            <a:ext cx="914400" cy="228600"/>
          </a:xfrm>
          <a:prstGeom prst="straightConnector1">
            <a:avLst/>
          </a:prstGeom>
          <a:ln w="38100">
            <a:solidFill>
              <a:schemeClr val="accent3"/>
            </a:solidFill>
            <a:tailEnd type="triangle"/>
          </a:ln>
        </p:spPr>
        <p:style>
          <a:lnRef idx="1">
            <a:schemeClr val="accent1"/>
          </a:lnRef>
          <a:fillRef idx="0">
            <a:schemeClr val="accent1"/>
          </a:fillRef>
          <a:effectRef idx="0">
            <a:schemeClr val="accent1"/>
          </a:effectRef>
          <a:fontRef idx="minor">
            <a:schemeClr val="tx1"/>
          </a:fontRef>
        </p:style>
      </p:cxnSp>
      <p:cxnSp>
        <p:nvCxnSpPr>
          <p:cNvPr id="9" name="Straight Arrow Connector 8">
            <a:extLst>
              <a:ext uri="{FF2B5EF4-FFF2-40B4-BE49-F238E27FC236}">
                <a16:creationId xmlns:a16="http://schemas.microsoft.com/office/drawing/2014/main" id="{0A5DF604-9758-4E62-B803-ED0EB2DE4C48}"/>
              </a:ext>
            </a:extLst>
          </p:cNvPr>
          <p:cNvCxnSpPr>
            <a:cxnSpLocks/>
          </p:cNvCxnSpPr>
          <p:nvPr/>
        </p:nvCxnSpPr>
        <p:spPr>
          <a:xfrm>
            <a:off x="4724400" y="4953000"/>
            <a:ext cx="228600" cy="381000"/>
          </a:xfrm>
          <a:prstGeom prst="straightConnector1">
            <a:avLst/>
          </a:prstGeom>
          <a:ln w="38100">
            <a:solidFill>
              <a:schemeClr val="accent3"/>
            </a:solidFill>
            <a:tailEnd type="triangle"/>
          </a:ln>
        </p:spPr>
        <p:style>
          <a:lnRef idx="1">
            <a:schemeClr val="accent1"/>
          </a:lnRef>
          <a:fillRef idx="0">
            <a:schemeClr val="accent1"/>
          </a:fillRef>
          <a:effectRef idx="0">
            <a:schemeClr val="accent1"/>
          </a:effectRef>
          <a:fontRef idx="minor">
            <a:schemeClr val="tx1"/>
          </a:fontRef>
        </p:style>
      </p:cxnSp>
      <p:cxnSp>
        <p:nvCxnSpPr>
          <p:cNvPr id="10" name="Straight Arrow Connector 9">
            <a:extLst>
              <a:ext uri="{FF2B5EF4-FFF2-40B4-BE49-F238E27FC236}">
                <a16:creationId xmlns:a16="http://schemas.microsoft.com/office/drawing/2014/main" id="{96DE5A5B-6FEA-4875-9910-0797AD5D8755}"/>
              </a:ext>
            </a:extLst>
          </p:cNvPr>
          <p:cNvCxnSpPr>
            <a:cxnSpLocks/>
          </p:cNvCxnSpPr>
          <p:nvPr/>
        </p:nvCxnSpPr>
        <p:spPr>
          <a:xfrm>
            <a:off x="4800600" y="4953000"/>
            <a:ext cx="723900" cy="95250"/>
          </a:xfrm>
          <a:prstGeom prst="straightConnector1">
            <a:avLst/>
          </a:prstGeom>
          <a:ln w="38100">
            <a:solidFill>
              <a:schemeClr val="accent3"/>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2" name="Rectangle 1">
                <a:extLst>
                  <a:ext uri="{FF2B5EF4-FFF2-40B4-BE49-F238E27FC236}">
                    <a16:creationId xmlns:a16="http://schemas.microsoft.com/office/drawing/2014/main" id="{EA919EC2-6AFF-F280-B66A-23EE008A11F9}"/>
                  </a:ext>
                </a:extLst>
              </p:cNvPr>
              <p:cNvSpPr/>
              <p:nvPr/>
            </p:nvSpPr>
            <p:spPr>
              <a:xfrm>
                <a:off x="6972940" y="1524000"/>
                <a:ext cx="2025298" cy="338554"/>
              </a:xfrm>
              <a:prstGeom prst="rect">
                <a:avLst/>
              </a:prstGeom>
            </p:spPr>
            <p:style>
              <a:lnRef idx="3">
                <a:schemeClr val="lt1"/>
              </a:lnRef>
              <a:fillRef idx="1">
                <a:schemeClr val="accent3"/>
              </a:fillRef>
              <a:effectRef idx="1">
                <a:schemeClr val="accent3"/>
              </a:effectRef>
              <a:fontRef idx="minor">
                <a:schemeClr val="lt1"/>
              </a:fontRef>
            </p:style>
            <p:txBody>
              <a:bodyPr wrap="none">
                <a:spAutoFit/>
              </a:bodyPr>
              <a:lstStyle/>
              <a:p>
                <a:pPr/>
                <a14:m>
                  <m:oMathPara xmlns:m="http://schemas.openxmlformats.org/officeDocument/2006/math">
                    <m:oMathParaPr>
                      <m:jc m:val="centerGroup"/>
                    </m:oMathParaPr>
                    <m:oMath xmlns:m="http://schemas.openxmlformats.org/officeDocument/2006/math">
                      <m:r>
                        <a:rPr lang="en-US" sz="1600" i="1" dirty="0" smtClean="0">
                          <a:latin typeface="Cambria Math" panose="02040503050406030204" pitchFamily="18" charset="0"/>
                        </a:rPr>
                        <m:t>𝑓</m:t>
                      </m:r>
                      <m:d>
                        <m:dPr>
                          <m:ctrlPr>
                            <a:rPr lang="en-US" sz="1600" i="1" dirty="0" smtClean="0">
                              <a:latin typeface="Cambria Math" panose="02040503050406030204" pitchFamily="18" charset="0"/>
                            </a:rPr>
                          </m:ctrlPr>
                        </m:dPr>
                        <m:e>
                          <m:r>
                            <a:rPr lang="en-US" sz="1600" i="1" dirty="0" smtClean="0">
                              <a:latin typeface="Cambria Math" panose="02040503050406030204" pitchFamily="18" charset="0"/>
                            </a:rPr>
                            <m:t>𝑛</m:t>
                          </m:r>
                        </m:e>
                      </m:d>
                      <m:r>
                        <a:rPr lang="en-US" sz="1600" i="1" dirty="0" smtClean="0">
                          <a:latin typeface="Cambria Math" panose="02040503050406030204" pitchFamily="18" charset="0"/>
                        </a:rPr>
                        <m:t>=</m:t>
                      </m:r>
                      <m:r>
                        <a:rPr lang="en-US" sz="1600" i="1" dirty="0" smtClean="0">
                          <a:latin typeface="Cambria Math" panose="02040503050406030204" pitchFamily="18" charset="0"/>
                        </a:rPr>
                        <m:t>𝑔</m:t>
                      </m:r>
                      <m:d>
                        <m:dPr>
                          <m:ctrlPr>
                            <a:rPr lang="en-US" sz="1600" i="1" dirty="0" smtClean="0">
                              <a:latin typeface="Cambria Math" panose="02040503050406030204" pitchFamily="18" charset="0"/>
                            </a:rPr>
                          </m:ctrlPr>
                        </m:dPr>
                        <m:e>
                          <m:r>
                            <a:rPr lang="en-US" sz="1600" i="1" dirty="0" smtClean="0">
                              <a:latin typeface="Cambria Math" panose="02040503050406030204" pitchFamily="18" charset="0"/>
                            </a:rPr>
                            <m:t>𝑛</m:t>
                          </m:r>
                        </m:e>
                      </m:d>
                      <m:r>
                        <a:rPr lang="en-US" sz="1600" b="0" i="1" dirty="0" smtClean="0">
                          <a:latin typeface="Cambria Math" panose="02040503050406030204" pitchFamily="18" charset="0"/>
                        </a:rPr>
                        <m:t>+</m:t>
                      </m:r>
                      <m:r>
                        <a:rPr lang="en-US" sz="1600" i="1" dirty="0" smtClean="0">
                          <a:latin typeface="Cambria Math" panose="02040503050406030204" pitchFamily="18" charset="0"/>
                        </a:rPr>
                        <m:t>h</m:t>
                      </m:r>
                      <m:r>
                        <a:rPr lang="en-US" sz="1600" i="1" dirty="0" smtClean="0">
                          <a:latin typeface="Cambria Math" panose="02040503050406030204" pitchFamily="18" charset="0"/>
                        </a:rPr>
                        <m:t>(</m:t>
                      </m:r>
                      <m:r>
                        <a:rPr lang="en-US" sz="1600" i="1" dirty="0" smtClean="0">
                          <a:latin typeface="Cambria Math" panose="02040503050406030204" pitchFamily="18" charset="0"/>
                        </a:rPr>
                        <m:t>𝑛</m:t>
                      </m:r>
                      <m:r>
                        <a:rPr lang="en-US" sz="1600" i="1" dirty="0" smtClean="0">
                          <a:latin typeface="Cambria Math" panose="02040503050406030204" pitchFamily="18" charset="0"/>
                        </a:rPr>
                        <m:t>)</m:t>
                      </m:r>
                    </m:oMath>
                  </m:oMathPara>
                </a14:m>
                <a:endParaRPr lang="en-US" sz="1600" dirty="0"/>
              </a:p>
            </p:txBody>
          </p:sp>
        </mc:Choice>
        <mc:Fallback xmlns="">
          <p:sp>
            <p:nvSpPr>
              <p:cNvPr id="2" name="Rectangle 1">
                <a:extLst>
                  <a:ext uri="{FF2B5EF4-FFF2-40B4-BE49-F238E27FC236}">
                    <a16:creationId xmlns:a16="http://schemas.microsoft.com/office/drawing/2014/main" id="{EA919EC2-6AFF-F280-B66A-23EE008A11F9}"/>
                  </a:ext>
                </a:extLst>
              </p:cNvPr>
              <p:cNvSpPr>
                <a:spLocks noRot="1" noChangeAspect="1" noMove="1" noResize="1" noEditPoints="1" noAdjustHandles="1" noChangeArrowheads="1" noChangeShapeType="1" noTextEdit="1"/>
              </p:cNvSpPr>
              <p:nvPr/>
            </p:nvSpPr>
            <p:spPr>
              <a:xfrm>
                <a:off x="6972940" y="1524000"/>
                <a:ext cx="2025298" cy="338554"/>
              </a:xfrm>
              <a:prstGeom prst="rect">
                <a:avLst/>
              </a:prstGeom>
              <a:blipFill>
                <a:blip r:embed="rId5"/>
                <a:stretch>
                  <a:fillRect b="-508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 name="TextBox 2">
                <a:extLst>
                  <a:ext uri="{FF2B5EF4-FFF2-40B4-BE49-F238E27FC236}">
                    <a16:creationId xmlns:a16="http://schemas.microsoft.com/office/drawing/2014/main" id="{D36FDBD6-AAC1-1587-7BB5-AB6FBF3175BB}"/>
                  </a:ext>
                </a:extLst>
              </p:cNvPr>
              <p:cNvSpPr txBox="1"/>
              <p:nvPr/>
            </p:nvSpPr>
            <p:spPr>
              <a:xfrm>
                <a:off x="7755082" y="3586141"/>
                <a:ext cx="609600"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i="1" dirty="0" smtClean="0">
                          <a:latin typeface="Cambria Math" panose="02040503050406030204" pitchFamily="18" charset="0"/>
                        </a:rPr>
                        <m:t>h</m:t>
                      </m:r>
                      <m:r>
                        <a:rPr lang="en-US" i="1" dirty="0" smtClean="0">
                          <a:latin typeface="Cambria Math" panose="02040503050406030204" pitchFamily="18" charset="0"/>
                        </a:rPr>
                        <m:t>(</m:t>
                      </m:r>
                      <m:r>
                        <a:rPr lang="en-US" i="1" dirty="0" smtClean="0">
                          <a:latin typeface="Cambria Math" panose="02040503050406030204" pitchFamily="18" charset="0"/>
                        </a:rPr>
                        <m:t>𝑛</m:t>
                      </m:r>
                      <m:r>
                        <a:rPr lang="en-US" i="1" dirty="0" smtClean="0">
                          <a:latin typeface="Cambria Math" panose="02040503050406030204" pitchFamily="18" charset="0"/>
                        </a:rPr>
                        <m:t>)</m:t>
                      </m:r>
                    </m:oMath>
                  </m:oMathPara>
                </a14:m>
                <a:endParaRPr lang="en-US" dirty="0"/>
              </a:p>
            </p:txBody>
          </p:sp>
        </mc:Choice>
        <mc:Fallback xmlns="">
          <p:sp>
            <p:nvSpPr>
              <p:cNvPr id="3" name="TextBox 2">
                <a:extLst>
                  <a:ext uri="{FF2B5EF4-FFF2-40B4-BE49-F238E27FC236}">
                    <a16:creationId xmlns:a16="http://schemas.microsoft.com/office/drawing/2014/main" id="{D36FDBD6-AAC1-1587-7BB5-AB6FBF3175BB}"/>
                  </a:ext>
                </a:extLst>
              </p:cNvPr>
              <p:cNvSpPr txBox="1">
                <a:spLocks noRot="1" noChangeAspect="1" noMove="1" noResize="1" noEditPoints="1" noAdjustHandles="1" noChangeArrowheads="1" noChangeShapeType="1" noTextEdit="1"/>
              </p:cNvSpPr>
              <p:nvPr/>
            </p:nvSpPr>
            <p:spPr>
              <a:xfrm>
                <a:off x="7755082" y="3586141"/>
                <a:ext cx="609600" cy="369332"/>
              </a:xfrm>
              <a:prstGeom prst="rect">
                <a:avLst/>
              </a:prstGeom>
              <a:blipFill>
                <a:blip r:embed="rId6"/>
                <a:stretch>
                  <a:fillRect r="-8000" b="-13115"/>
                </a:stretch>
              </a:blipFill>
            </p:spPr>
            <p:txBody>
              <a:bodyPr/>
              <a:lstStyle/>
              <a:p>
                <a:r>
                  <a:rPr lang="en-US">
                    <a:noFill/>
                  </a:rPr>
                  <a:t> </a:t>
                </a:r>
              </a:p>
            </p:txBody>
          </p:sp>
        </mc:Fallback>
      </mc:AlternateContent>
      <p:sp>
        <p:nvSpPr>
          <p:cNvPr id="12" name="Speech Bubble: Rectangle with Corners Rounded 11">
            <a:extLst>
              <a:ext uri="{FF2B5EF4-FFF2-40B4-BE49-F238E27FC236}">
                <a16:creationId xmlns:a16="http://schemas.microsoft.com/office/drawing/2014/main" id="{580B4910-35A0-9335-EDC6-B3AC5C0415C3}"/>
              </a:ext>
            </a:extLst>
          </p:cNvPr>
          <p:cNvSpPr/>
          <p:nvPr/>
        </p:nvSpPr>
        <p:spPr>
          <a:xfrm>
            <a:off x="914400" y="3824468"/>
            <a:ext cx="2133600" cy="914400"/>
          </a:xfrm>
          <a:prstGeom prst="wedgeRoundRectCallout">
            <a:avLst>
              <a:gd name="adj1" fmla="val 108467"/>
              <a:gd name="adj2" fmla="val -175670"/>
              <a:gd name="adj3" fmla="val 16667"/>
            </a:avLst>
          </a:prstGeom>
        </p:spPr>
        <p:style>
          <a:lnRef idx="2">
            <a:schemeClr val="accent3">
              <a:shade val="15000"/>
            </a:schemeClr>
          </a:lnRef>
          <a:fillRef idx="1">
            <a:schemeClr val="accent3"/>
          </a:fillRef>
          <a:effectRef idx="0">
            <a:schemeClr val="accent3"/>
          </a:effectRef>
          <a:fontRef idx="minor">
            <a:schemeClr val="lt1"/>
          </a:fontRef>
        </p:style>
        <p:txBody>
          <a:bodyPr rtlCol="0" anchor="ctr"/>
          <a:lstStyle/>
          <a:p>
            <a:pPr algn="ctr"/>
            <a:r>
              <a:rPr lang="en-US" sz="1400" dirty="0"/>
              <a:t>Reconsiders </a:t>
            </a:r>
            <a:r>
              <a:rPr lang="en-US" sz="1400" dirty="0" err="1"/>
              <a:t>Rimnicu</a:t>
            </a:r>
            <a:r>
              <a:rPr lang="en-US" sz="1400" dirty="0"/>
              <a:t> </a:t>
            </a:r>
            <a:r>
              <a:rPr lang="en-US" sz="1400" dirty="0" err="1"/>
              <a:t>Vilcea</a:t>
            </a:r>
            <a:r>
              <a:rPr lang="en-US" sz="1400" dirty="0"/>
              <a:t> because </a:t>
            </a:r>
            <a:r>
              <a:rPr lang="en-US" sz="1400" dirty="0" err="1"/>
              <a:t>Fagaras</a:t>
            </a:r>
            <a:r>
              <a:rPr lang="en-US" sz="1400" dirty="0"/>
              <a:t> may have a shorter total cost to Bucharest.</a:t>
            </a:r>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482" name="Rectangle 2"/>
          <p:cNvSpPr>
            <a:spLocks noGrp="1" noChangeArrowheads="1"/>
          </p:cNvSpPr>
          <p:nvPr>
            <p:ph type="title"/>
          </p:nvPr>
        </p:nvSpPr>
        <p:spPr/>
        <p:txBody>
          <a:bodyPr/>
          <a:lstStyle/>
          <a:p>
            <a:r>
              <a:rPr lang="en-US" dirty="0"/>
              <a:t>A</a:t>
            </a:r>
            <a:r>
              <a:rPr lang="en-US" baseline="30000" dirty="0"/>
              <a:t>*</a:t>
            </a:r>
            <a:r>
              <a:rPr lang="en-US" dirty="0"/>
              <a:t> Search Example</a:t>
            </a:r>
          </a:p>
        </p:txBody>
      </p:sp>
      <p:pic>
        <p:nvPicPr>
          <p:cNvPr id="20484" name="Picture 4" descr="astar-progress05c"/>
          <p:cNvPicPr>
            <a:picLocks noChangeAspect="1" noChangeArrowheads="1"/>
          </p:cNvPicPr>
          <p:nvPr/>
        </p:nvPicPr>
        <p:blipFill>
          <a:blip r:embed="rId3" cstate="print"/>
          <a:srcRect/>
          <a:stretch>
            <a:fillRect/>
          </a:stretch>
        </p:blipFill>
        <p:spPr bwMode="auto">
          <a:xfrm>
            <a:off x="1905000" y="1524000"/>
            <a:ext cx="5410200" cy="2219325"/>
          </a:xfrm>
          <a:prstGeom prst="rect">
            <a:avLst/>
          </a:prstGeom>
          <a:noFill/>
        </p:spPr>
      </p:pic>
      <p:pic>
        <p:nvPicPr>
          <p:cNvPr id="4" name="Picture 4" descr="romania2"/>
          <p:cNvPicPr>
            <a:picLocks noChangeAspect="1" noChangeArrowheads="1"/>
          </p:cNvPicPr>
          <p:nvPr/>
        </p:nvPicPr>
        <p:blipFill>
          <a:blip r:embed="rId4" cstate="print"/>
          <a:srcRect/>
          <a:stretch>
            <a:fillRect/>
          </a:stretch>
        </p:blipFill>
        <p:spPr bwMode="auto">
          <a:xfrm>
            <a:off x="3581400" y="3962400"/>
            <a:ext cx="5334000" cy="2614525"/>
          </a:xfrm>
          <a:prstGeom prst="rect">
            <a:avLst/>
          </a:prstGeom>
          <a:noFill/>
        </p:spPr>
      </p:pic>
      <p:sp>
        <p:nvSpPr>
          <p:cNvPr id="5" name="Oval 4"/>
          <p:cNvSpPr/>
          <p:nvPr/>
        </p:nvSpPr>
        <p:spPr>
          <a:xfrm>
            <a:off x="3505200" y="4572000"/>
            <a:ext cx="457200" cy="304800"/>
          </a:xfrm>
          <a:prstGeom prst="ellipse">
            <a:avLst/>
          </a:prstGeom>
          <a:noFill/>
          <a:ln>
            <a:solidFill>
              <a:schemeClr val="accent3"/>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Oval 5"/>
          <p:cNvSpPr/>
          <p:nvPr/>
        </p:nvSpPr>
        <p:spPr>
          <a:xfrm>
            <a:off x="6096000" y="5867400"/>
            <a:ext cx="685800" cy="381000"/>
          </a:xfrm>
          <a:prstGeom prst="ellipse">
            <a:avLst/>
          </a:prstGeom>
          <a:noFill/>
          <a:ln>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Oval 7">
            <a:extLst>
              <a:ext uri="{FF2B5EF4-FFF2-40B4-BE49-F238E27FC236}">
                <a16:creationId xmlns:a16="http://schemas.microsoft.com/office/drawing/2014/main" id="{B48B003C-7E15-48BD-8C00-8B636849420D}"/>
              </a:ext>
            </a:extLst>
          </p:cNvPr>
          <p:cNvSpPr/>
          <p:nvPr/>
        </p:nvSpPr>
        <p:spPr>
          <a:xfrm>
            <a:off x="5410200" y="5569527"/>
            <a:ext cx="457200" cy="304800"/>
          </a:xfrm>
          <a:prstGeom prst="ellipse">
            <a:avLst/>
          </a:prstGeom>
          <a:noFill/>
          <a:ln>
            <a:solidFill>
              <a:schemeClr val="accent3"/>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9" name="Straight Arrow Connector 8">
            <a:extLst>
              <a:ext uri="{FF2B5EF4-FFF2-40B4-BE49-F238E27FC236}">
                <a16:creationId xmlns:a16="http://schemas.microsoft.com/office/drawing/2014/main" id="{143A7F89-1514-4397-AC3A-87968EDC7966}"/>
              </a:ext>
            </a:extLst>
          </p:cNvPr>
          <p:cNvCxnSpPr/>
          <p:nvPr/>
        </p:nvCxnSpPr>
        <p:spPr>
          <a:xfrm>
            <a:off x="3886200" y="4724400"/>
            <a:ext cx="914400" cy="228600"/>
          </a:xfrm>
          <a:prstGeom prst="straightConnector1">
            <a:avLst/>
          </a:prstGeom>
          <a:ln w="38100">
            <a:solidFill>
              <a:schemeClr val="accent3"/>
            </a:solidFill>
            <a:tailEnd type="triangle"/>
          </a:ln>
        </p:spPr>
        <p:style>
          <a:lnRef idx="1">
            <a:schemeClr val="accent1"/>
          </a:lnRef>
          <a:fillRef idx="0">
            <a:schemeClr val="accent1"/>
          </a:fillRef>
          <a:effectRef idx="0">
            <a:schemeClr val="accent1"/>
          </a:effectRef>
          <a:fontRef idx="minor">
            <a:schemeClr val="tx1"/>
          </a:fontRef>
        </p:style>
      </p:cxnSp>
      <p:cxnSp>
        <p:nvCxnSpPr>
          <p:cNvPr id="10" name="Straight Arrow Connector 9">
            <a:extLst>
              <a:ext uri="{FF2B5EF4-FFF2-40B4-BE49-F238E27FC236}">
                <a16:creationId xmlns:a16="http://schemas.microsoft.com/office/drawing/2014/main" id="{ABCF0F55-6A35-4BB5-A218-B6492FFF3605}"/>
              </a:ext>
            </a:extLst>
          </p:cNvPr>
          <p:cNvCxnSpPr>
            <a:cxnSpLocks/>
          </p:cNvCxnSpPr>
          <p:nvPr/>
        </p:nvCxnSpPr>
        <p:spPr>
          <a:xfrm>
            <a:off x="4724400" y="4953000"/>
            <a:ext cx="228600" cy="381000"/>
          </a:xfrm>
          <a:prstGeom prst="straightConnector1">
            <a:avLst/>
          </a:prstGeom>
          <a:ln w="38100">
            <a:solidFill>
              <a:schemeClr val="accent3"/>
            </a:solidFill>
            <a:tailEnd type="triangle"/>
          </a:ln>
        </p:spPr>
        <p:style>
          <a:lnRef idx="1">
            <a:schemeClr val="accent1"/>
          </a:lnRef>
          <a:fillRef idx="0">
            <a:schemeClr val="accent1"/>
          </a:fillRef>
          <a:effectRef idx="0">
            <a:schemeClr val="accent1"/>
          </a:effectRef>
          <a:fontRef idx="minor">
            <a:schemeClr val="tx1"/>
          </a:fontRef>
        </p:style>
      </p:cxnSp>
      <p:cxnSp>
        <p:nvCxnSpPr>
          <p:cNvPr id="11" name="Straight Arrow Connector 10">
            <a:extLst>
              <a:ext uri="{FF2B5EF4-FFF2-40B4-BE49-F238E27FC236}">
                <a16:creationId xmlns:a16="http://schemas.microsoft.com/office/drawing/2014/main" id="{E189B718-8F08-41D3-A892-1DAF533E3D67}"/>
              </a:ext>
            </a:extLst>
          </p:cNvPr>
          <p:cNvCxnSpPr>
            <a:cxnSpLocks/>
          </p:cNvCxnSpPr>
          <p:nvPr/>
        </p:nvCxnSpPr>
        <p:spPr>
          <a:xfrm>
            <a:off x="4953000" y="5334000"/>
            <a:ext cx="685800" cy="381000"/>
          </a:xfrm>
          <a:prstGeom prst="straightConnector1">
            <a:avLst/>
          </a:prstGeom>
          <a:ln w="38100">
            <a:solidFill>
              <a:schemeClr val="accent3"/>
            </a:solidFill>
            <a:tailEnd type="triangle"/>
          </a:ln>
        </p:spPr>
        <p:style>
          <a:lnRef idx="1">
            <a:schemeClr val="accent1"/>
          </a:lnRef>
          <a:fillRef idx="0">
            <a:schemeClr val="accent1"/>
          </a:fillRef>
          <a:effectRef idx="0">
            <a:schemeClr val="accent1"/>
          </a:effectRef>
          <a:fontRef idx="minor">
            <a:schemeClr val="tx1"/>
          </a:fontRef>
        </p:style>
      </p:cxnSp>
      <p:cxnSp>
        <p:nvCxnSpPr>
          <p:cNvPr id="12" name="Straight Arrow Connector 11">
            <a:extLst>
              <a:ext uri="{FF2B5EF4-FFF2-40B4-BE49-F238E27FC236}">
                <a16:creationId xmlns:a16="http://schemas.microsoft.com/office/drawing/2014/main" id="{D8BEA38A-4089-4334-8568-86C91A308209}"/>
              </a:ext>
            </a:extLst>
          </p:cNvPr>
          <p:cNvCxnSpPr>
            <a:cxnSpLocks/>
          </p:cNvCxnSpPr>
          <p:nvPr/>
        </p:nvCxnSpPr>
        <p:spPr>
          <a:xfrm>
            <a:off x="4760976" y="4953000"/>
            <a:ext cx="801624" cy="76200"/>
          </a:xfrm>
          <a:prstGeom prst="straightConnector1">
            <a:avLst/>
          </a:prstGeom>
          <a:ln w="38100">
            <a:solidFill>
              <a:schemeClr val="accent3"/>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3" name="Rectangle 2">
                <a:extLst>
                  <a:ext uri="{FF2B5EF4-FFF2-40B4-BE49-F238E27FC236}">
                    <a16:creationId xmlns:a16="http://schemas.microsoft.com/office/drawing/2014/main" id="{A88C9C5B-36AD-2F43-78F3-6AEDC556C40D}"/>
                  </a:ext>
                </a:extLst>
              </p:cNvPr>
              <p:cNvSpPr/>
              <p:nvPr/>
            </p:nvSpPr>
            <p:spPr>
              <a:xfrm>
                <a:off x="6972940" y="1524000"/>
                <a:ext cx="2025298" cy="338554"/>
              </a:xfrm>
              <a:prstGeom prst="rect">
                <a:avLst/>
              </a:prstGeom>
            </p:spPr>
            <p:style>
              <a:lnRef idx="3">
                <a:schemeClr val="lt1"/>
              </a:lnRef>
              <a:fillRef idx="1">
                <a:schemeClr val="accent3"/>
              </a:fillRef>
              <a:effectRef idx="1">
                <a:schemeClr val="accent3"/>
              </a:effectRef>
              <a:fontRef idx="minor">
                <a:schemeClr val="lt1"/>
              </a:fontRef>
            </p:style>
            <p:txBody>
              <a:bodyPr wrap="none">
                <a:spAutoFit/>
              </a:bodyPr>
              <a:lstStyle/>
              <a:p>
                <a:pPr/>
                <a14:m>
                  <m:oMathPara xmlns:m="http://schemas.openxmlformats.org/officeDocument/2006/math">
                    <m:oMathParaPr>
                      <m:jc m:val="centerGroup"/>
                    </m:oMathParaPr>
                    <m:oMath xmlns:m="http://schemas.openxmlformats.org/officeDocument/2006/math">
                      <m:r>
                        <a:rPr lang="en-US" sz="1600" i="1" dirty="0" smtClean="0">
                          <a:latin typeface="Cambria Math" panose="02040503050406030204" pitchFamily="18" charset="0"/>
                        </a:rPr>
                        <m:t>𝑓</m:t>
                      </m:r>
                      <m:d>
                        <m:dPr>
                          <m:ctrlPr>
                            <a:rPr lang="en-US" sz="1600" i="1" dirty="0" smtClean="0">
                              <a:latin typeface="Cambria Math" panose="02040503050406030204" pitchFamily="18" charset="0"/>
                            </a:rPr>
                          </m:ctrlPr>
                        </m:dPr>
                        <m:e>
                          <m:r>
                            <a:rPr lang="en-US" sz="1600" i="1" dirty="0" smtClean="0">
                              <a:latin typeface="Cambria Math" panose="02040503050406030204" pitchFamily="18" charset="0"/>
                            </a:rPr>
                            <m:t>𝑛</m:t>
                          </m:r>
                        </m:e>
                      </m:d>
                      <m:r>
                        <a:rPr lang="en-US" sz="1600" i="1" dirty="0" smtClean="0">
                          <a:latin typeface="Cambria Math" panose="02040503050406030204" pitchFamily="18" charset="0"/>
                        </a:rPr>
                        <m:t>=</m:t>
                      </m:r>
                      <m:r>
                        <a:rPr lang="en-US" sz="1600" i="1" dirty="0" smtClean="0">
                          <a:latin typeface="Cambria Math" panose="02040503050406030204" pitchFamily="18" charset="0"/>
                        </a:rPr>
                        <m:t>𝑔</m:t>
                      </m:r>
                      <m:d>
                        <m:dPr>
                          <m:ctrlPr>
                            <a:rPr lang="en-US" sz="1600" i="1" dirty="0" smtClean="0">
                              <a:latin typeface="Cambria Math" panose="02040503050406030204" pitchFamily="18" charset="0"/>
                            </a:rPr>
                          </m:ctrlPr>
                        </m:dPr>
                        <m:e>
                          <m:r>
                            <a:rPr lang="en-US" sz="1600" i="1" dirty="0" smtClean="0">
                              <a:latin typeface="Cambria Math" panose="02040503050406030204" pitchFamily="18" charset="0"/>
                            </a:rPr>
                            <m:t>𝑛</m:t>
                          </m:r>
                        </m:e>
                      </m:d>
                      <m:r>
                        <a:rPr lang="en-US" sz="1600" b="0" i="1" dirty="0" smtClean="0">
                          <a:latin typeface="Cambria Math" panose="02040503050406030204" pitchFamily="18" charset="0"/>
                        </a:rPr>
                        <m:t>+</m:t>
                      </m:r>
                      <m:r>
                        <a:rPr lang="en-US" sz="1600" i="1" dirty="0" smtClean="0">
                          <a:latin typeface="Cambria Math" panose="02040503050406030204" pitchFamily="18" charset="0"/>
                        </a:rPr>
                        <m:t>h</m:t>
                      </m:r>
                      <m:r>
                        <a:rPr lang="en-US" sz="1600" i="1" dirty="0" smtClean="0">
                          <a:latin typeface="Cambria Math" panose="02040503050406030204" pitchFamily="18" charset="0"/>
                        </a:rPr>
                        <m:t>(</m:t>
                      </m:r>
                      <m:r>
                        <a:rPr lang="en-US" sz="1600" i="1" dirty="0" smtClean="0">
                          <a:latin typeface="Cambria Math" panose="02040503050406030204" pitchFamily="18" charset="0"/>
                        </a:rPr>
                        <m:t>𝑛</m:t>
                      </m:r>
                      <m:r>
                        <a:rPr lang="en-US" sz="1600" i="1" dirty="0" smtClean="0">
                          <a:latin typeface="Cambria Math" panose="02040503050406030204" pitchFamily="18" charset="0"/>
                        </a:rPr>
                        <m:t>)</m:t>
                      </m:r>
                    </m:oMath>
                  </m:oMathPara>
                </a14:m>
                <a:endParaRPr lang="en-US" sz="1600" dirty="0"/>
              </a:p>
            </p:txBody>
          </p:sp>
        </mc:Choice>
        <mc:Fallback xmlns="">
          <p:sp>
            <p:nvSpPr>
              <p:cNvPr id="3" name="Rectangle 2">
                <a:extLst>
                  <a:ext uri="{FF2B5EF4-FFF2-40B4-BE49-F238E27FC236}">
                    <a16:creationId xmlns:a16="http://schemas.microsoft.com/office/drawing/2014/main" id="{A88C9C5B-36AD-2F43-78F3-6AEDC556C40D}"/>
                  </a:ext>
                </a:extLst>
              </p:cNvPr>
              <p:cNvSpPr>
                <a:spLocks noRot="1" noChangeAspect="1" noMove="1" noResize="1" noEditPoints="1" noAdjustHandles="1" noChangeArrowheads="1" noChangeShapeType="1" noTextEdit="1"/>
              </p:cNvSpPr>
              <p:nvPr/>
            </p:nvSpPr>
            <p:spPr>
              <a:xfrm>
                <a:off x="6972940" y="1524000"/>
                <a:ext cx="2025298" cy="338554"/>
              </a:xfrm>
              <a:prstGeom prst="rect">
                <a:avLst/>
              </a:prstGeom>
              <a:blipFill>
                <a:blip r:embed="rId5"/>
                <a:stretch>
                  <a:fillRect b="-508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 name="TextBox 1">
                <a:extLst>
                  <a:ext uri="{FF2B5EF4-FFF2-40B4-BE49-F238E27FC236}">
                    <a16:creationId xmlns:a16="http://schemas.microsoft.com/office/drawing/2014/main" id="{3A082BB0-ED0E-8275-8AD5-8AB403BB5F5B}"/>
                  </a:ext>
                </a:extLst>
              </p:cNvPr>
              <p:cNvSpPr txBox="1"/>
              <p:nvPr/>
            </p:nvSpPr>
            <p:spPr>
              <a:xfrm>
                <a:off x="7755082" y="3586141"/>
                <a:ext cx="609600"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i="1" dirty="0" smtClean="0">
                          <a:latin typeface="Cambria Math" panose="02040503050406030204" pitchFamily="18" charset="0"/>
                        </a:rPr>
                        <m:t>h</m:t>
                      </m:r>
                      <m:r>
                        <a:rPr lang="en-US" i="1" dirty="0" smtClean="0">
                          <a:latin typeface="Cambria Math" panose="02040503050406030204" pitchFamily="18" charset="0"/>
                        </a:rPr>
                        <m:t>(</m:t>
                      </m:r>
                      <m:r>
                        <a:rPr lang="en-US" i="1" dirty="0" smtClean="0">
                          <a:latin typeface="Cambria Math" panose="02040503050406030204" pitchFamily="18" charset="0"/>
                        </a:rPr>
                        <m:t>𝑛</m:t>
                      </m:r>
                      <m:r>
                        <a:rPr lang="en-US" i="1" dirty="0" smtClean="0">
                          <a:latin typeface="Cambria Math" panose="02040503050406030204" pitchFamily="18" charset="0"/>
                        </a:rPr>
                        <m:t>)</m:t>
                      </m:r>
                    </m:oMath>
                  </m:oMathPara>
                </a14:m>
                <a:endParaRPr lang="en-US" dirty="0"/>
              </a:p>
            </p:txBody>
          </p:sp>
        </mc:Choice>
        <mc:Fallback xmlns="">
          <p:sp>
            <p:nvSpPr>
              <p:cNvPr id="2" name="TextBox 1">
                <a:extLst>
                  <a:ext uri="{FF2B5EF4-FFF2-40B4-BE49-F238E27FC236}">
                    <a16:creationId xmlns:a16="http://schemas.microsoft.com/office/drawing/2014/main" id="{3A082BB0-ED0E-8275-8AD5-8AB403BB5F5B}"/>
                  </a:ext>
                </a:extLst>
              </p:cNvPr>
              <p:cNvSpPr txBox="1">
                <a:spLocks noRot="1" noChangeAspect="1" noMove="1" noResize="1" noEditPoints="1" noAdjustHandles="1" noChangeArrowheads="1" noChangeShapeType="1" noTextEdit="1"/>
              </p:cNvSpPr>
              <p:nvPr/>
            </p:nvSpPr>
            <p:spPr>
              <a:xfrm>
                <a:off x="7755082" y="3586141"/>
                <a:ext cx="609600" cy="369332"/>
              </a:xfrm>
              <a:prstGeom prst="rect">
                <a:avLst/>
              </a:prstGeom>
              <a:blipFill>
                <a:blip r:embed="rId6"/>
                <a:stretch>
                  <a:fillRect r="-8000" b="-13115"/>
                </a:stretch>
              </a:blipFill>
            </p:spPr>
            <p:txBody>
              <a:bodyPr/>
              <a:lstStyle/>
              <a:p>
                <a:r>
                  <a:rPr lang="en-US">
                    <a:noFill/>
                  </a:rPr>
                  <a:t> </a:t>
                </a:r>
              </a:p>
            </p:txBody>
          </p:sp>
        </mc:Fallback>
      </mc:AlternateContent>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1506" name="Rectangle 2"/>
          <p:cNvSpPr>
            <a:spLocks noGrp="1" noChangeArrowheads="1"/>
          </p:cNvSpPr>
          <p:nvPr>
            <p:ph type="title"/>
          </p:nvPr>
        </p:nvSpPr>
        <p:spPr/>
        <p:txBody>
          <a:bodyPr/>
          <a:lstStyle/>
          <a:p>
            <a:r>
              <a:rPr lang="en-US" dirty="0"/>
              <a:t>A</a:t>
            </a:r>
            <a:r>
              <a:rPr lang="en-US" baseline="30000" dirty="0"/>
              <a:t>*</a:t>
            </a:r>
            <a:r>
              <a:rPr lang="en-US" dirty="0"/>
              <a:t> Search Example</a:t>
            </a:r>
          </a:p>
        </p:txBody>
      </p:sp>
      <p:pic>
        <p:nvPicPr>
          <p:cNvPr id="21508" name="Picture 4" descr="astar-progress06c"/>
          <p:cNvPicPr>
            <a:picLocks noChangeAspect="1" noChangeArrowheads="1"/>
          </p:cNvPicPr>
          <p:nvPr/>
        </p:nvPicPr>
        <p:blipFill>
          <a:blip r:embed="rId3" cstate="print"/>
          <a:srcRect/>
          <a:stretch>
            <a:fillRect/>
          </a:stretch>
        </p:blipFill>
        <p:spPr bwMode="auto">
          <a:xfrm>
            <a:off x="1905000" y="1524000"/>
            <a:ext cx="5410200" cy="2219325"/>
          </a:xfrm>
          <a:prstGeom prst="rect">
            <a:avLst/>
          </a:prstGeom>
          <a:noFill/>
        </p:spPr>
      </p:pic>
      <p:pic>
        <p:nvPicPr>
          <p:cNvPr id="4" name="Picture 4" descr="romania2"/>
          <p:cNvPicPr>
            <a:picLocks noChangeAspect="1" noChangeArrowheads="1"/>
          </p:cNvPicPr>
          <p:nvPr/>
        </p:nvPicPr>
        <p:blipFill>
          <a:blip r:embed="rId4" cstate="print"/>
          <a:srcRect/>
          <a:stretch>
            <a:fillRect/>
          </a:stretch>
        </p:blipFill>
        <p:spPr bwMode="auto">
          <a:xfrm>
            <a:off x="3581400" y="3962400"/>
            <a:ext cx="5334000" cy="2614525"/>
          </a:xfrm>
          <a:prstGeom prst="rect">
            <a:avLst/>
          </a:prstGeom>
          <a:noFill/>
        </p:spPr>
      </p:pic>
      <p:sp>
        <p:nvSpPr>
          <p:cNvPr id="6" name="Oval 5"/>
          <p:cNvSpPr/>
          <p:nvPr/>
        </p:nvSpPr>
        <p:spPr>
          <a:xfrm>
            <a:off x="6096000" y="5867400"/>
            <a:ext cx="685800" cy="381000"/>
          </a:xfrm>
          <a:prstGeom prst="ellipse">
            <a:avLst/>
          </a:prstGeom>
          <a:noFill/>
          <a:ln>
            <a:solidFill>
              <a:schemeClr val="accent3"/>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0" name="Straight Arrow Connector 9">
            <a:extLst>
              <a:ext uri="{FF2B5EF4-FFF2-40B4-BE49-F238E27FC236}">
                <a16:creationId xmlns:a16="http://schemas.microsoft.com/office/drawing/2014/main" id="{58ED45C1-2E7A-4FE2-BDE4-ADEABE08D166}"/>
              </a:ext>
            </a:extLst>
          </p:cNvPr>
          <p:cNvCxnSpPr/>
          <p:nvPr/>
        </p:nvCxnSpPr>
        <p:spPr>
          <a:xfrm>
            <a:off x="3886200" y="4724400"/>
            <a:ext cx="914400" cy="228600"/>
          </a:xfrm>
          <a:prstGeom prst="straightConnector1">
            <a:avLst/>
          </a:prstGeom>
          <a:ln w="38100">
            <a:solidFill>
              <a:schemeClr val="accent3"/>
            </a:solidFill>
            <a:tailEnd type="triangle"/>
          </a:ln>
        </p:spPr>
        <p:style>
          <a:lnRef idx="1">
            <a:schemeClr val="accent1"/>
          </a:lnRef>
          <a:fillRef idx="0">
            <a:schemeClr val="accent1"/>
          </a:fillRef>
          <a:effectRef idx="0">
            <a:schemeClr val="accent1"/>
          </a:effectRef>
          <a:fontRef idx="minor">
            <a:schemeClr val="tx1"/>
          </a:fontRef>
        </p:style>
      </p:cxnSp>
      <p:cxnSp>
        <p:nvCxnSpPr>
          <p:cNvPr id="11" name="Straight Arrow Connector 10">
            <a:extLst>
              <a:ext uri="{FF2B5EF4-FFF2-40B4-BE49-F238E27FC236}">
                <a16:creationId xmlns:a16="http://schemas.microsoft.com/office/drawing/2014/main" id="{A50EEBA0-C4C2-4957-8142-8CCFFC25C9D2}"/>
              </a:ext>
            </a:extLst>
          </p:cNvPr>
          <p:cNvCxnSpPr>
            <a:cxnSpLocks/>
          </p:cNvCxnSpPr>
          <p:nvPr/>
        </p:nvCxnSpPr>
        <p:spPr>
          <a:xfrm>
            <a:off x="4724400" y="4953000"/>
            <a:ext cx="228600" cy="381000"/>
          </a:xfrm>
          <a:prstGeom prst="straightConnector1">
            <a:avLst/>
          </a:prstGeom>
          <a:ln w="38100">
            <a:solidFill>
              <a:schemeClr val="accent3"/>
            </a:solidFill>
            <a:tailEnd type="triangle"/>
          </a:ln>
        </p:spPr>
        <p:style>
          <a:lnRef idx="1">
            <a:schemeClr val="accent1"/>
          </a:lnRef>
          <a:fillRef idx="0">
            <a:schemeClr val="accent1"/>
          </a:fillRef>
          <a:effectRef idx="0">
            <a:schemeClr val="accent1"/>
          </a:effectRef>
          <a:fontRef idx="minor">
            <a:schemeClr val="tx1"/>
          </a:fontRef>
        </p:style>
      </p:cxnSp>
      <p:cxnSp>
        <p:nvCxnSpPr>
          <p:cNvPr id="12" name="Straight Arrow Connector 11">
            <a:extLst>
              <a:ext uri="{FF2B5EF4-FFF2-40B4-BE49-F238E27FC236}">
                <a16:creationId xmlns:a16="http://schemas.microsoft.com/office/drawing/2014/main" id="{E4C494C0-C02D-403A-8345-5BAADBFAC651}"/>
              </a:ext>
            </a:extLst>
          </p:cNvPr>
          <p:cNvCxnSpPr>
            <a:cxnSpLocks/>
          </p:cNvCxnSpPr>
          <p:nvPr/>
        </p:nvCxnSpPr>
        <p:spPr>
          <a:xfrm>
            <a:off x="4953000" y="5334000"/>
            <a:ext cx="685800" cy="381000"/>
          </a:xfrm>
          <a:prstGeom prst="straightConnector1">
            <a:avLst/>
          </a:prstGeom>
          <a:ln w="38100">
            <a:solidFill>
              <a:schemeClr val="accent3"/>
            </a:solidFill>
            <a:tailEnd type="triangle"/>
          </a:ln>
        </p:spPr>
        <p:style>
          <a:lnRef idx="1">
            <a:schemeClr val="accent1"/>
          </a:lnRef>
          <a:fillRef idx="0">
            <a:schemeClr val="accent1"/>
          </a:fillRef>
          <a:effectRef idx="0">
            <a:schemeClr val="accent1"/>
          </a:effectRef>
          <a:fontRef idx="minor">
            <a:schemeClr val="tx1"/>
          </a:fontRef>
        </p:style>
      </p:cxnSp>
      <p:cxnSp>
        <p:nvCxnSpPr>
          <p:cNvPr id="13" name="Straight Arrow Connector 12">
            <a:extLst>
              <a:ext uri="{FF2B5EF4-FFF2-40B4-BE49-F238E27FC236}">
                <a16:creationId xmlns:a16="http://schemas.microsoft.com/office/drawing/2014/main" id="{88A648A1-8831-4D89-BFC5-88FF9FAA7A77}"/>
              </a:ext>
            </a:extLst>
          </p:cNvPr>
          <p:cNvCxnSpPr>
            <a:cxnSpLocks/>
          </p:cNvCxnSpPr>
          <p:nvPr/>
        </p:nvCxnSpPr>
        <p:spPr>
          <a:xfrm>
            <a:off x="4760976" y="4953000"/>
            <a:ext cx="801624" cy="76200"/>
          </a:xfrm>
          <a:prstGeom prst="straightConnector1">
            <a:avLst/>
          </a:prstGeom>
          <a:ln w="38100">
            <a:solidFill>
              <a:schemeClr val="accent3"/>
            </a:solidFill>
            <a:tailEnd type="triangle"/>
          </a:ln>
        </p:spPr>
        <p:style>
          <a:lnRef idx="1">
            <a:schemeClr val="accent1"/>
          </a:lnRef>
          <a:fillRef idx="0">
            <a:schemeClr val="accent1"/>
          </a:fillRef>
          <a:effectRef idx="0">
            <a:schemeClr val="accent1"/>
          </a:effectRef>
          <a:fontRef idx="minor">
            <a:schemeClr val="tx1"/>
          </a:fontRef>
        </p:style>
      </p:cxnSp>
      <p:cxnSp>
        <p:nvCxnSpPr>
          <p:cNvPr id="14" name="Straight Arrow Connector 13">
            <a:extLst>
              <a:ext uri="{FF2B5EF4-FFF2-40B4-BE49-F238E27FC236}">
                <a16:creationId xmlns:a16="http://schemas.microsoft.com/office/drawing/2014/main" id="{9EEDDD60-3463-428D-A2AB-75B364D533CE}"/>
              </a:ext>
            </a:extLst>
          </p:cNvPr>
          <p:cNvCxnSpPr>
            <a:cxnSpLocks/>
          </p:cNvCxnSpPr>
          <p:nvPr/>
        </p:nvCxnSpPr>
        <p:spPr>
          <a:xfrm>
            <a:off x="5715000" y="5715000"/>
            <a:ext cx="533400" cy="300036"/>
          </a:xfrm>
          <a:prstGeom prst="straightConnector1">
            <a:avLst/>
          </a:prstGeom>
          <a:ln w="38100">
            <a:solidFill>
              <a:schemeClr val="accent3"/>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2" name="Rectangle 1">
                <a:extLst>
                  <a:ext uri="{FF2B5EF4-FFF2-40B4-BE49-F238E27FC236}">
                    <a16:creationId xmlns:a16="http://schemas.microsoft.com/office/drawing/2014/main" id="{2B718CB1-619C-2C6B-08C1-0BAFD7B5B034}"/>
                  </a:ext>
                </a:extLst>
              </p:cNvPr>
              <p:cNvSpPr/>
              <p:nvPr/>
            </p:nvSpPr>
            <p:spPr>
              <a:xfrm>
                <a:off x="6972940" y="1524000"/>
                <a:ext cx="2025298" cy="338554"/>
              </a:xfrm>
              <a:prstGeom prst="rect">
                <a:avLst/>
              </a:prstGeom>
            </p:spPr>
            <p:style>
              <a:lnRef idx="3">
                <a:schemeClr val="lt1"/>
              </a:lnRef>
              <a:fillRef idx="1">
                <a:schemeClr val="accent3"/>
              </a:fillRef>
              <a:effectRef idx="1">
                <a:schemeClr val="accent3"/>
              </a:effectRef>
              <a:fontRef idx="minor">
                <a:schemeClr val="lt1"/>
              </a:fontRef>
            </p:style>
            <p:txBody>
              <a:bodyPr wrap="none">
                <a:spAutoFit/>
              </a:bodyPr>
              <a:lstStyle/>
              <a:p>
                <a:pPr/>
                <a14:m>
                  <m:oMathPara xmlns:m="http://schemas.openxmlformats.org/officeDocument/2006/math">
                    <m:oMathParaPr>
                      <m:jc m:val="centerGroup"/>
                    </m:oMathParaPr>
                    <m:oMath xmlns:m="http://schemas.openxmlformats.org/officeDocument/2006/math">
                      <m:r>
                        <a:rPr lang="en-US" sz="1600" i="1" dirty="0" smtClean="0">
                          <a:latin typeface="Cambria Math" panose="02040503050406030204" pitchFamily="18" charset="0"/>
                        </a:rPr>
                        <m:t>𝑓</m:t>
                      </m:r>
                      <m:d>
                        <m:dPr>
                          <m:ctrlPr>
                            <a:rPr lang="en-US" sz="1600" i="1" dirty="0" smtClean="0">
                              <a:latin typeface="Cambria Math" panose="02040503050406030204" pitchFamily="18" charset="0"/>
                            </a:rPr>
                          </m:ctrlPr>
                        </m:dPr>
                        <m:e>
                          <m:r>
                            <a:rPr lang="en-US" sz="1600" i="1" dirty="0" smtClean="0">
                              <a:latin typeface="Cambria Math" panose="02040503050406030204" pitchFamily="18" charset="0"/>
                            </a:rPr>
                            <m:t>𝑛</m:t>
                          </m:r>
                        </m:e>
                      </m:d>
                      <m:r>
                        <a:rPr lang="en-US" sz="1600" i="1" dirty="0" smtClean="0">
                          <a:latin typeface="Cambria Math" panose="02040503050406030204" pitchFamily="18" charset="0"/>
                        </a:rPr>
                        <m:t>=</m:t>
                      </m:r>
                      <m:r>
                        <a:rPr lang="en-US" sz="1600" i="1" dirty="0" smtClean="0">
                          <a:latin typeface="Cambria Math" panose="02040503050406030204" pitchFamily="18" charset="0"/>
                        </a:rPr>
                        <m:t>𝑔</m:t>
                      </m:r>
                      <m:d>
                        <m:dPr>
                          <m:ctrlPr>
                            <a:rPr lang="en-US" sz="1600" i="1" dirty="0" smtClean="0">
                              <a:latin typeface="Cambria Math" panose="02040503050406030204" pitchFamily="18" charset="0"/>
                            </a:rPr>
                          </m:ctrlPr>
                        </m:dPr>
                        <m:e>
                          <m:r>
                            <a:rPr lang="en-US" sz="1600" i="1" dirty="0" smtClean="0">
                              <a:latin typeface="Cambria Math" panose="02040503050406030204" pitchFamily="18" charset="0"/>
                            </a:rPr>
                            <m:t>𝑛</m:t>
                          </m:r>
                        </m:e>
                      </m:d>
                      <m:r>
                        <a:rPr lang="en-US" sz="1600" b="0" i="1" dirty="0" smtClean="0">
                          <a:latin typeface="Cambria Math" panose="02040503050406030204" pitchFamily="18" charset="0"/>
                        </a:rPr>
                        <m:t>+</m:t>
                      </m:r>
                      <m:r>
                        <a:rPr lang="en-US" sz="1600" i="1" dirty="0" smtClean="0">
                          <a:latin typeface="Cambria Math" panose="02040503050406030204" pitchFamily="18" charset="0"/>
                        </a:rPr>
                        <m:t>h</m:t>
                      </m:r>
                      <m:r>
                        <a:rPr lang="en-US" sz="1600" i="1" dirty="0" smtClean="0">
                          <a:latin typeface="Cambria Math" panose="02040503050406030204" pitchFamily="18" charset="0"/>
                        </a:rPr>
                        <m:t>(</m:t>
                      </m:r>
                      <m:r>
                        <a:rPr lang="en-US" sz="1600" i="1" dirty="0" smtClean="0">
                          <a:latin typeface="Cambria Math" panose="02040503050406030204" pitchFamily="18" charset="0"/>
                        </a:rPr>
                        <m:t>𝑛</m:t>
                      </m:r>
                      <m:r>
                        <a:rPr lang="en-US" sz="1600" i="1" dirty="0" smtClean="0">
                          <a:latin typeface="Cambria Math" panose="02040503050406030204" pitchFamily="18" charset="0"/>
                        </a:rPr>
                        <m:t>)</m:t>
                      </m:r>
                    </m:oMath>
                  </m:oMathPara>
                </a14:m>
                <a:endParaRPr lang="en-US" sz="1600" dirty="0"/>
              </a:p>
            </p:txBody>
          </p:sp>
        </mc:Choice>
        <mc:Fallback xmlns="">
          <p:sp>
            <p:nvSpPr>
              <p:cNvPr id="2" name="Rectangle 1">
                <a:extLst>
                  <a:ext uri="{FF2B5EF4-FFF2-40B4-BE49-F238E27FC236}">
                    <a16:creationId xmlns:a16="http://schemas.microsoft.com/office/drawing/2014/main" id="{2B718CB1-619C-2C6B-08C1-0BAFD7B5B034}"/>
                  </a:ext>
                </a:extLst>
              </p:cNvPr>
              <p:cNvSpPr>
                <a:spLocks noRot="1" noChangeAspect="1" noMove="1" noResize="1" noEditPoints="1" noAdjustHandles="1" noChangeArrowheads="1" noChangeShapeType="1" noTextEdit="1"/>
              </p:cNvSpPr>
              <p:nvPr/>
            </p:nvSpPr>
            <p:spPr>
              <a:xfrm>
                <a:off x="6972940" y="1524000"/>
                <a:ext cx="2025298" cy="338554"/>
              </a:xfrm>
              <a:prstGeom prst="rect">
                <a:avLst/>
              </a:prstGeom>
              <a:blipFill>
                <a:blip r:embed="rId5"/>
                <a:stretch>
                  <a:fillRect b="-508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 name="TextBox 2">
                <a:extLst>
                  <a:ext uri="{FF2B5EF4-FFF2-40B4-BE49-F238E27FC236}">
                    <a16:creationId xmlns:a16="http://schemas.microsoft.com/office/drawing/2014/main" id="{C27C0A9B-C552-B4E2-3471-02813DCBBA1B}"/>
                  </a:ext>
                </a:extLst>
              </p:cNvPr>
              <p:cNvSpPr txBox="1"/>
              <p:nvPr/>
            </p:nvSpPr>
            <p:spPr>
              <a:xfrm>
                <a:off x="7755082" y="3586141"/>
                <a:ext cx="609600"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i="1" dirty="0" smtClean="0">
                          <a:latin typeface="Cambria Math" panose="02040503050406030204" pitchFamily="18" charset="0"/>
                        </a:rPr>
                        <m:t>h</m:t>
                      </m:r>
                      <m:r>
                        <a:rPr lang="en-US" i="1" dirty="0" smtClean="0">
                          <a:latin typeface="Cambria Math" panose="02040503050406030204" pitchFamily="18" charset="0"/>
                        </a:rPr>
                        <m:t>(</m:t>
                      </m:r>
                      <m:r>
                        <a:rPr lang="en-US" i="1" dirty="0" smtClean="0">
                          <a:latin typeface="Cambria Math" panose="02040503050406030204" pitchFamily="18" charset="0"/>
                        </a:rPr>
                        <m:t>𝑛</m:t>
                      </m:r>
                      <m:r>
                        <a:rPr lang="en-US" i="1" dirty="0" smtClean="0">
                          <a:latin typeface="Cambria Math" panose="02040503050406030204" pitchFamily="18" charset="0"/>
                        </a:rPr>
                        <m:t>)</m:t>
                      </m:r>
                    </m:oMath>
                  </m:oMathPara>
                </a14:m>
                <a:endParaRPr lang="en-US" dirty="0"/>
              </a:p>
            </p:txBody>
          </p:sp>
        </mc:Choice>
        <mc:Fallback xmlns="">
          <p:sp>
            <p:nvSpPr>
              <p:cNvPr id="3" name="TextBox 2">
                <a:extLst>
                  <a:ext uri="{FF2B5EF4-FFF2-40B4-BE49-F238E27FC236}">
                    <a16:creationId xmlns:a16="http://schemas.microsoft.com/office/drawing/2014/main" id="{C27C0A9B-C552-B4E2-3471-02813DCBBA1B}"/>
                  </a:ext>
                </a:extLst>
              </p:cNvPr>
              <p:cNvSpPr txBox="1">
                <a:spLocks noRot="1" noChangeAspect="1" noMove="1" noResize="1" noEditPoints="1" noAdjustHandles="1" noChangeArrowheads="1" noChangeShapeType="1" noTextEdit="1"/>
              </p:cNvSpPr>
              <p:nvPr/>
            </p:nvSpPr>
            <p:spPr>
              <a:xfrm>
                <a:off x="7755082" y="3586141"/>
                <a:ext cx="609600" cy="369332"/>
              </a:xfrm>
              <a:prstGeom prst="rect">
                <a:avLst/>
              </a:prstGeom>
              <a:blipFill>
                <a:blip r:embed="rId6"/>
                <a:stretch>
                  <a:fillRect r="-8000" b="-13115"/>
                </a:stretch>
              </a:blipFill>
            </p:spPr>
            <p:txBody>
              <a:bodyPr/>
              <a:lstStyle/>
              <a:p>
                <a:r>
                  <a:rPr lang="en-US">
                    <a:noFill/>
                  </a:rPr>
                  <a:t> </a:t>
                </a:r>
              </a:p>
            </p:txBody>
          </p:sp>
        </mc:Fallback>
      </mc:AlternateContent>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Content Placeholder 3" descr="Astar_progress_animation.gif"/>
          <p:cNvPicPr>
            <a:picLocks noGrp="1" noChangeAspect="1"/>
          </p:cNvPicPr>
          <p:nvPr>
            <p:ph idx="1"/>
          </p:nvPr>
        </p:nvPicPr>
        <p:blipFill>
          <a:blip r:embed="rId3" cstate="print"/>
          <a:stretch>
            <a:fillRect/>
          </a:stretch>
        </p:blipFill>
        <p:spPr>
          <a:xfrm>
            <a:off x="1591495" y="3429000"/>
            <a:ext cx="2400300" cy="2400300"/>
          </a:xfrm>
        </p:spPr>
      </p:pic>
      <p:sp>
        <p:nvSpPr>
          <p:cNvPr id="5" name="TextBox 4"/>
          <p:cNvSpPr txBox="1"/>
          <p:nvPr/>
        </p:nvSpPr>
        <p:spPr>
          <a:xfrm>
            <a:off x="914400" y="6096000"/>
            <a:ext cx="1877245" cy="369332"/>
          </a:xfrm>
          <a:prstGeom prst="rect">
            <a:avLst/>
          </a:prstGeom>
          <a:noFill/>
        </p:spPr>
        <p:txBody>
          <a:bodyPr wrap="none" rtlCol="0">
            <a:spAutoFit/>
          </a:bodyPr>
          <a:lstStyle/>
          <a:p>
            <a:r>
              <a:rPr lang="en-US" dirty="0"/>
              <a:t>Source: </a:t>
            </a:r>
            <a:r>
              <a:rPr lang="en-US" dirty="0">
                <a:hlinkClick r:id="rId4"/>
              </a:rPr>
              <a:t>Wikipedia</a:t>
            </a:r>
            <a:endParaRPr lang="en-US" dirty="0"/>
          </a:p>
        </p:txBody>
      </p:sp>
      <p:sp>
        <p:nvSpPr>
          <p:cNvPr id="3" name="Title 2">
            <a:extLst>
              <a:ext uri="{FF2B5EF4-FFF2-40B4-BE49-F238E27FC236}">
                <a16:creationId xmlns:a16="http://schemas.microsoft.com/office/drawing/2014/main" id="{465545EA-0FCB-4793-B4AF-7C6FD6A3D7AC}"/>
              </a:ext>
            </a:extLst>
          </p:cNvPr>
          <p:cNvSpPr>
            <a:spLocks noGrp="1"/>
          </p:cNvSpPr>
          <p:nvPr>
            <p:ph type="title"/>
          </p:nvPr>
        </p:nvSpPr>
        <p:spPr/>
        <p:txBody>
          <a:bodyPr/>
          <a:lstStyle/>
          <a:p>
            <a:r>
              <a:rPr lang="en-US" dirty="0"/>
              <a:t>BFS vs. A* Search</a:t>
            </a:r>
          </a:p>
        </p:txBody>
      </p:sp>
      <p:pic>
        <p:nvPicPr>
          <p:cNvPr id="6" name="Picture 5">
            <a:extLst>
              <a:ext uri="{FF2B5EF4-FFF2-40B4-BE49-F238E27FC236}">
                <a16:creationId xmlns:a16="http://schemas.microsoft.com/office/drawing/2014/main" id="{FB38F3D5-8DF7-4A97-8108-93F16F068D2F}"/>
              </a:ext>
            </a:extLst>
          </p:cNvPr>
          <p:cNvPicPr>
            <a:picLocks noChangeAspect="1"/>
          </p:cNvPicPr>
          <p:nvPr/>
        </p:nvPicPr>
        <p:blipFill rotWithShape="1">
          <a:blip r:embed="rId5"/>
          <a:srcRect l="41851" t="37215" r="41667" b="32421"/>
          <a:stretch/>
        </p:blipFill>
        <p:spPr>
          <a:xfrm>
            <a:off x="5181600" y="3352800"/>
            <a:ext cx="2697038" cy="2590800"/>
          </a:xfrm>
          <a:prstGeom prst="rect">
            <a:avLst/>
          </a:prstGeom>
        </p:spPr>
      </p:pic>
      <p:pic>
        <p:nvPicPr>
          <p:cNvPr id="8" name="Picture 7">
            <a:extLst>
              <a:ext uri="{FF2B5EF4-FFF2-40B4-BE49-F238E27FC236}">
                <a16:creationId xmlns:a16="http://schemas.microsoft.com/office/drawing/2014/main" id="{8FCF072A-FA3A-46BA-8FCA-5D499D385C70}"/>
              </a:ext>
            </a:extLst>
          </p:cNvPr>
          <p:cNvPicPr>
            <a:picLocks noChangeAspect="1"/>
          </p:cNvPicPr>
          <p:nvPr/>
        </p:nvPicPr>
        <p:blipFill rotWithShape="1">
          <a:blip r:embed="rId6"/>
          <a:srcRect l="41319" t="30823" r="42500" b="38814"/>
          <a:stretch/>
        </p:blipFill>
        <p:spPr>
          <a:xfrm>
            <a:off x="5245814" y="762000"/>
            <a:ext cx="2632823" cy="2576262"/>
          </a:xfrm>
          <a:prstGeom prst="rect">
            <a:avLst/>
          </a:prstGeom>
        </p:spPr>
      </p:pic>
      <p:sp>
        <p:nvSpPr>
          <p:cNvPr id="9" name="TextBox 8">
            <a:extLst>
              <a:ext uri="{FF2B5EF4-FFF2-40B4-BE49-F238E27FC236}">
                <a16:creationId xmlns:a16="http://schemas.microsoft.com/office/drawing/2014/main" id="{1ADE0F94-4D55-457B-BFB3-E33620534152}"/>
              </a:ext>
            </a:extLst>
          </p:cNvPr>
          <p:cNvSpPr txBox="1"/>
          <p:nvPr/>
        </p:nvSpPr>
        <p:spPr>
          <a:xfrm>
            <a:off x="4439045" y="1668656"/>
            <a:ext cx="990600" cy="523220"/>
          </a:xfrm>
          <a:prstGeom prst="rect">
            <a:avLst/>
          </a:prstGeom>
          <a:noFill/>
        </p:spPr>
        <p:txBody>
          <a:bodyPr wrap="square" rtlCol="0">
            <a:spAutoFit/>
          </a:bodyPr>
          <a:lstStyle/>
          <a:p>
            <a:r>
              <a:rPr lang="en-US" sz="2800" dirty="0"/>
              <a:t>BFS</a:t>
            </a:r>
          </a:p>
        </p:txBody>
      </p:sp>
      <p:sp>
        <p:nvSpPr>
          <p:cNvPr id="10" name="TextBox 9">
            <a:extLst>
              <a:ext uri="{FF2B5EF4-FFF2-40B4-BE49-F238E27FC236}">
                <a16:creationId xmlns:a16="http://schemas.microsoft.com/office/drawing/2014/main" id="{C3B05934-0907-4334-A667-1C38DCC42D3E}"/>
              </a:ext>
            </a:extLst>
          </p:cNvPr>
          <p:cNvSpPr txBox="1"/>
          <p:nvPr/>
        </p:nvSpPr>
        <p:spPr>
          <a:xfrm>
            <a:off x="671180" y="3996720"/>
            <a:ext cx="990600" cy="523220"/>
          </a:xfrm>
          <a:prstGeom prst="rect">
            <a:avLst/>
          </a:prstGeom>
          <a:noFill/>
        </p:spPr>
        <p:txBody>
          <a:bodyPr wrap="square" rtlCol="0">
            <a:spAutoFit/>
          </a:bodyPr>
          <a:lstStyle/>
          <a:p>
            <a:r>
              <a:rPr lang="en-US" sz="2800" dirty="0"/>
              <a:t>A*</a:t>
            </a:r>
          </a:p>
        </p:txBody>
      </p:sp>
      <p:cxnSp>
        <p:nvCxnSpPr>
          <p:cNvPr id="13" name="Straight Arrow Connector 12">
            <a:extLst>
              <a:ext uri="{FF2B5EF4-FFF2-40B4-BE49-F238E27FC236}">
                <a16:creationId xmlns:a16="http://schemas.microsoft.com/office/drawing/2014/main" id="{D9F1D701-E9BA-40B7-A70A-17CF2ED2A940}"/>
              </a:ext>
            </a:extLst>
          </p:cNvPr>
          <p:cNvCxnSpPr/>
          <p:nvPr/>
        </p:nvCxnSpPr>
        <p:spPr>
          <a:xfrm flipV="1">
            <a:off x="1953445" y="3810000"/>
            <a:ext cx="1676400" cy="1676400"/>
          </a:xfrm>
          <a:prstGeom prst="straightConnector1">
            <a:avLst/>
          </a:prstGeom>
          <a:ln>
            <a:tailEnd type="triangle"/>
          </a:ln>
        </p:spPr>
        <p:style>
          <a:lnRef idx="3">
            <a:schemeClr val="accent2"/>
          </a:lnRef>
          <a:fillRef idx="0">
            <a:schemeClr val="accent2"/>
          </a:fillRef>
          <a:effectRef idx="2">
            <a:schemeClr val="accent2"/>
          </a:effectRef>
          <a:fontRef idx="minor">
            <a:schemeClr val="tx1"/>
          </a:fontRef>
        </p:style>
      </p:cxnSp>
      <p:sp>
        <p:nvSpPr>
          <p:cNvPr id="2" name="TextBox 1">
            <a:extLst>
              <a:ext uri="{FF2B5EF4-FFF2-40B4-BE49-F238E27FC236}">
                <a16:creationId xmlns:a16="http://schemas.microsoft.com/office/drawing/2014/main" id="{2691EB31-CFD4-07EC-3FC8-8FB7FF290E71}"/>
              </a:ext>
            </a:extLst>
          </p:cNvPr>
          <p:cNvSpPr txBox="1"/>
          <p:nvPr/>
        </p:nvSpPr>
        <p:spPr>
          <a:xfrm>
            <a:off x="4572000" y="3983308"/>
            <a:ext cx="990600" cy="523220"/>
          </a:xfrm>
          <a:prstGeom prst="rect">
            <a:avLst/>
          </a:prstGeom>
          <a:noFill/>
        </p:spPr>
        <p:txBody>
          <a:bodyPr wrap="square" rtlCol="0">
            <a:spAutoFit/>
          </a:bodyPr>
          <a:lstStyle/>
          <a:p>
            <a:r>
              <a:rPr lang="en-US" sz="2800" dirty="0"/>
              <a:t>A*</a:t>
            </a:r>
          </a:p>
        </p:txBody>
      </p:sp>
      <p:sp>
        <p:nvSpPr>
          <p:cNvPr id="7" name="TextBox 6">
            <a:extLst>
              <a:ext uri="{FF2B5EF4-FFF2-40B4-BE49-F238E27FC236}">
                <a16:creationId xmlns:a16="http://schemas.microsoft.com/office/drawing/2014/main" id="{BBE7D8FB-4EE2-D0D9-2BED-867C8263E823}"/>
              </a:ext>
            </a:extLst>
          </p:cNvPr>
          <p:cNvSpPr txBox="1"/>
          <p:nvPr/>
        </p:nvSpPr>
        <p:spPr>
          <a:xfrm>
            <a:off x="5064252" y="6019800"/>
            <a:ext cx="3303933" cy="646331"/>
          </a:xfrm>
          <a:prstGeom prst="rect">
            <a:avLst/>
          </a:prstGeom>
          <a:noFill/>
        </p:spPr>
        <p:txBody>
          <a:bodyPr wrap="square" rtlCol="0">
            <a:spAutoFit/>
          </a:bodyPr>
          <a:lstStyle/>
          <a:p>
            <a:pPr algn="ctr"/>
            <a:r>
              <a:rPr lang="en-US" dirty="0"/>
              <a:t>A* Search uses the heuristic to expand fewer nodes than BFS!</a:t>
            </a:r>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D1C778E-116C-4A58-BEA9-76E3144E1FE8}"/>
              </a:ext>
            </a:extLst>
          </p:cNvPr>
          <p:cNvSpPr>
            <a:spLocks noGrp="1"/>
          </p:cNvSpPr>
          <p:nvPr>
            <p:ph type="title"/>
          </p:nvPr>
        </p:nvSpPr>
        <p:spPr/>
        <p:txBody>
          <a:bodyPr/>
          <a:lstStyle/>
          <a:p>
            <a:r>
              <a:rPr lang="en-US" dirty="0"/>
              <a:t>Implementation of A* Search</a:t>
            </a:r>
          </a:p>
        </p:txBody>
      </p:sp>
      <p:sp>
        <p:nvSpPr>
          <p:cNvPr id="6" name="Slide Number Placeholder 5">
            <a:extLst>
              <a:ext uri="{FF2B5EF4-FFF2-40B4-BE49-F238E27FC236}">
                <a16:creationId xmlns:a16="http://schemas.microsoft.com/office/drawing/2014/main" id="{44E064F9-98BA-4E2A-A11B-578018FD1F64}"/>
              </a:ext>
            </a:extLst>
          </p:cNvPr>
          <p:cNvSpPr>
            <a:spLocks noGrp="1"/>
          </p:cNvSpPr>
          <p:nvPr>
            <p:ph type="sldNum" sz="quarter" idx="12"/>
          </p:nvPr>
        </p:nvSpPr>
        <p:spPr>
          <a:xfrm>
            <a:off x="6457950" y="5978526"/>
            <a:ext cx="2057400" cy="365125"/>
          </a:xfrm>
        </p:spPr>
        <p:txBody>
          <a:bodyPr/>
          <a:lstStyle/>
          <a:p>
            <a:fld id="{E97C47EE-1537-423B-A9B2-96D7BC867AC1}" type="slidenum">
              <a:rPr lang="en-US" smtClean="0"/>
              <a:t>75</a:t>
            </a:fld>
            <a:endParaRPr lang="en-US"/>
          </a:p>
        </p:txBody>
      </p:sp>
      <p:pic>
        <p:nvPicPr>
          <p:cNvPr id="7" name="Picture 6">
            <a:extLst>
              <a:ext uri="{FF2B5EF4-FFF2-40B4-BE49-F238E27FC236}">
                <a16:creationId xmlns:a16="http://schemas.microsoft.com/office/drawing/2014/main" id="{6F7C17AE-CAAB-437C-963E-1F1ED4EF3F4F}"/>
              </a:ext>
            </a:extLst>
          </p:cNvPr>
          <p:cNvPicPr>
            <a:picLocks noChangeAspect="1"/>
          </p:cNvPicPr>
          <p:nvPr/>
        </p:nvPicPr>
        <p:blipFill rotWithShape="1">
          <a:blip r:embed="rId2"/>
          <a:srcRect b="32419"/>
          <a:stretch/>
        </p:blipFill>
        <p:spPr>
          <a:xfrm>
            <a:off x="778088" y="2381604"/>
            <a:ext cx="6896100" cy="3197346"/>
          </a:xfrm>
          <a:prstGeom prst="rect">
            <a:avLst/>
          </a:prstGeom>
        </p:spPr>
        <p:style>
          <a:lnRef idx="2">
            <a:schemeClr val="accent2"/>
          </a:lnRef>
          <a:fillRef idx="1">
            <a:schemeClr val="lt1"/>
          </a:fillRef>
          <a:effectRef idx="0">
            <a:schemeClr val="accent2"/>
          </a:effectRef>
          <a:fontRef idx="minor">
            <a:schemeClr val="dk1"/>
          </a:fontRef>
        </p:style>
      </p:pic>
      <p:sp>
        <p:nvSpPr>
          <p:cNvPr id="4" name="Rectangle 3">
            <a:extLst>
              <a:ext uri="{FF2B5EF4-FFF2-40B4-BE49-F238E27FC236}">
                <a16:creationId xmlns:a16="http://schemas.microsoft.com/office/drawing/2014/main" id="{0E198654-E598-446C-949F-CE7BB79A8003}"/>
              </a:ext>
            </a:extLst>
          </p:cNvPr>
          <p:cNvSpPr/>
          <p:nvPr/>
        </p:nvSpPr>
        <p:spPr>
          <a:xfrm>
            <a:off x="2133600" y="2895600"/>
            <a:ext cx="1143000" cy="228600"/>
          </a:xfrm>
          <a:prstGeom prst="rect">
            <a:avLst/>
          </a:prstGeom>
          <a:solidFill>
            <a:schemeClr val="accent2">
              <a:alpha val="50000"/>
            </a:schemeClr>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lang="en-US"/>
          </a:p>
        </p:txBody>
      </p:sp>
      <p:sp>
        <p:nvSpPr>
          <p:cNvPr id="12" name="Rectangle 11">
            <a:extLst>
              <a:ext uri="{FF2B5EF4-FFF2-40B4-BE49-F238E27FC236}">
                <a16:creationId xmlns:a16="http://schemas.microsoft.com/office/drawing/2014/main" id="{AC7F7389-B3C3-48CD-B248-7F7007C75B76}"/>
              </a:ext>
            </a:extLst>
          </p:cNvPr>
          <p:cNvSpPr/>
          <p:nvPr/>
        </p:nvSpPr>
        <p:spPr>
          <a:xfrm>
            <a:off x="4114800" y="2438400"/>
            <a:ext cx="228600" cy="228600"/>
          </a:xfrm>
          <a:prstGeom prst="rect">
            <a:avLst/>
          </a:prstGeom>
          <a:solidFill>
            <a:schemeClr val="accent2">
              <a:alpha val="50000"/>
            </a:schemeClr>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14" name="Speech Bubble: Rectangle with Corners Rounded 13">
                <a:extLst>
                  <a:ext uri="{FF2B5EF4-FFF2-40B4-BE49-F238E27FC236}">
                    <a16:creationId xmlns:a16="http://schemas.microsoft.com/office/drawing/2014/main" id="{CA625B60-3F86-43F3-886B-B90F8A7C31AA}"/>
                  </a:ext>
                </a:extLst>
              </p:cNvPr>
              <p:cNvSpPr/>
              <p:nvPr/>
            </p:nvSpPr>
            <p:spPr>
              <a:xfrm>
                <a:off x="6275349" y="3424902"/>
                <a:ext cx="2705100" cy="940857"/>
              </a:xfrm>
              <a:prstGeom prst="wedgeRoundRectCallout">
                <a:avLst>
                  <a:gd name="adj1" fmla="val -125594"/>
                  <a:gd name="adj2" fmla="val -86606"/>
                  <a:gd name="adj3" fmla="val 16667"/>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600" dirty="0"/>
                  <a:t>The order for expanding the frontier is  determined by </a:t>
                </a:r>
                <a14:m>
                  <m:oMath xmlns:m="http://schemas.openxmlformats.org/officeDocument/2006/math">
                    <m:r>
                      <a:rPr lang="en-US" sz="1600" i="1" dirty="0" smtClean="0">
                        <a:latin typeface="Cambria Math" panose="02040503050406030204" pitchFamily="18" charset="0"/>
                      </a:rPr>
                      <m:t>𝑓</m:t>
                    </m:r>
                    <m:r>
                      <a:rPr lang="en-US" sz="1600" i="1" dirty="0" smtClean="0">
                        <a:latin typeface="Cambria Math" panose="02040503050406030204" pitchFamily="18" charset="0"/>
                      </a:rPr>
                      <m:t>(</m:t>
                    </m:r>
                    <m:r>
                      <a:rPr lang="en-US" sz="1600" i="1" dirty="0" smtClean="0">
                        <a:latin typeface="Cambria Math" panose="02040503050406030204" pitchFamily="18" charset="0"/>
                      </a:rPr>
                      <m:t>𝑛</m:t>
                    </m:r>
                    <m:r>
                      <a:rPr lang="en-US" sz="1600" i="1" dirty="0" smtClean="0">
                        <a:latin typeface="Cambria Math" panose="02040503050406030204" pitchFamily="18" charset="0"/>
                      </a:rPr>
                      <m:t>)</m:t>
                    </m:r>
                  </m:oMath>
                </a14:m>
                <a:endParaRPr lang="en-US" sz="1600" dirty="0"/>
              </a:p>
            </p:txBody>
          </p:sp>
        </mc:Choice>
        <mc:Fallback xmlns="">
          <p:sp>
            <p:nvSpPr>
              <p:cNvPr id="14" name="Speech Bubble: Rectangle with Corners Rounded 13">
                <a:extLst>
                  <a:ext uri="{FF2B5EF4-FFF2-40B4-BE49-F238E27FC236}">
                    <a16:creationId xmlns:a16="http://schemas.microsoft.com/office/drawing/2014/main" id="{CA625B60-3F86-43F3-886B-B90F8A7C31AA}"/>
                  </a:ext>
                </a:extLst>
              </p:cNvPr>
              <p:cNvSpPr>
                <a:spLocks noRot="1" noChangeAspect="1" noMove="1" noResize="1" noEditPoints="1" noAdjustHandles="1" noChangeArrowheads="1" noChangeShapeType="1" noTextEdit="1"/>
              </p:cNvSpPr>
              <p:nvPr/>
            </p:nvSpPr>
            <p:spPr>
              <a:xfrm>
                <a:off x="6275349" y="3424902"/>
                <a:ext cx="2705100" cy="940857"/>
              </a:xfrm>
              <a:prstGeom prst="wedgeRoundRectCallout">
                <a:avLst>
                  <a:gd name="adj1" fmla="val -125594"/>
                  <a:gd name="adj2" fmla="val -86606"/>
                  <a:gd name="adj3" fmla="val 16667"/>
                </a:avLst>
              </a:prstGeom>
              <a:blipFill>
                <a:blip r:embed="rId3"/>
                <a:stretch>
                  <a:fillRect/>
                </a:stretch>
              </a:blipFill>
            </p:spPr>
            <p:txBody>
              <a:bodyPr/>
              <a:lstStyle/>
              <a:p>
                <a:r>
                  <a:rPr lang="en-US">
                    <a:noFill/>
                  </a:rPr>
                  <a:t> </a:t>
                </a:r>
              </a:p>
            </p:txBody>
          </p:sp>
        </mc:Fallback>
      </mc:AlternateContent>
      <p:sp>
        <p:nvSpPr>
          <p:cNvPr id="8" name="TextBox 7">
            <a:extLst>
              <a:ext uri="{FF2B5EF4-FFF2-40B4-BE49-F238E27FC236}">
                <a16:creationId xmlns:a16="http://schemas.microsoft.com/office/drawing/2014/main" id="{BD5EA7BA-7A0E-4980-87F2-90835921ACC0}"/>
              </a:ext>
            </a:extLst>
          </p:cNvPr>
          <p:cNvSpPr txBox="1"/>
          <p:nvPr/>
        </p:nvSpPr>
        <p:spPr>
          <a:xfrm>
            <a:off x="726632" y="5565654"/>
            <a:ext cx="2626168" cy="338554"/>
          </a:xfrm>
          <a:prstGeom prst="rect">
            <a:avLst/>
          </a:prstGeom>
          <a:noFill/>
        </p:spPr>
        <p:txBody>
          <a:bodyPr wrap="none" rtlCol="0">
            <a:spAutoFit/>
          </a:bodyPr>
          <a:lstStyle/>
          <a:p>
            <a:r>
              <a:rPr lang="en-US" sz="1600" dirty="0"/>
              <a:t>See BFS for function EXPAND.</a:t>
            </a:r>
          </a:p>
        </p:txBody>
      </p:sp>
      <p:cxnSp>
        <p:nvCxnSpPr>
          <p:cNvPr id="5" name="Straight Arrow Connector 4">
            <a:extLst>
              <a:ext uri="{FF2B5EF4-FFF2-40B4-BE49-F238E27FC236}">
                <a16:creationId xmlns:a16="http://schemas.microsoft.com/office/drawing/2014/main" id="{F5E84C67-3438-4AA3-8F22-60E274BA8027}"/>
              </a:ext>
            </a:extLst>
          </p:cNvPr>
          <p:cNvCxnSpPr>
            <a:endCxn id="7" idx="0"/>
          </p:cNvCxnSpPr>
          <p:nvPr/>
        </p:nvCxnSpPr>
        <p:spPr>
          <a:xfrm flipH="1">
            <a:off x="4226138" y="1998876"/>
            <a:ext cx="400049" cy="382728"/>
          </a:xfrm>
          <a:prstGeom prst="straightConnector1">
            <a:avLst/>
          </a:prstGeom>
          <a:ln>
            <a:tailEnd type="triangle"/>
          </a:ln>
        </p:spPr>
        <p:style>
          <a:lnRef idx="3">
            <a:schemeClr val="accent1"/>
          </a:lnRef>
          <a:fillRef idx="0">
            <a:schemeClr val="accent1"/>
          </a:fillRef>
          <a:effectRef idx="2">
            <a:schemeClr val="accent1"/>
          </a:effectRef>
          <a:fontRef idx="minor">
            <a:schemeClr val="tx1"/>
          </a:fontRef>
        </p:style>
      </p:cxnSp>
      <mc:AlternateContent xmlns:mc="http://schemas.openxmlformats.org/markup-compatibility/2006" xmlns:a14="http://schemas.microsoft.com/office/drawing/2010/main">
        <mc:Choice Requires="a14">
          <p:sp>
            <p:nvSpPr>
              <p:cNvPr id="3" name="TextBox 2">
                <a:extLst>
                  <a:ext uri="{FF2B5EF4-FFF2-40B4-BE49-F238E27FC236}">
                    <a16:creationId xmlns:a16="http://schemas.microsoft.com/office/drawing/2014/main" id="{A67F2E6F-47FE-4D7B-8F61-CDAFC7E6EE84}"/>
                  </a:ext>
                </a:extLst>
              </p:cNvPr>
              <p:cNvSpPr txBox="1"/>
              <p:nvPr/>
            </p:nvSpPr>
            <p:spPr>
              <a:xfrm>
                <a:off x="1295400" y="1349158"/>
                <a:ext cx="6896100" cy="646331"/>
              </a:xfrm>
              <a:prstGeom prst="rect">
                <a:avLst/>
              </a:prstGeom>
              <a:noFill/>
            </p:spPr>
            <p:txBody>
              <a:bodyPr wrap="square" rtlCol="0">
                <a:spAutoFit/>
              </a:bodyPr>
              <a:lstStyle/>
              <a:p>
                <a:pPr/>
                <a:r>
                  <a:rPr lang="en-US" b="1" dirty="0">
                    <a:solidFill>
                      <a:srgbClr val="FF0000"/>
                    </a:solidFill>
                  </a:rPr>
                  <a:t>Path cost to </a:t>
                </a:r>
                <a14:m>
                  <m:oMath xmlns:m="http://schemas.openxmlformats.org/officeDocument/2006/math">
                    <m:r>
                      <a:rPr lang="en-US" b="1" i="1" dirty="0" smtClean="0">
                        <a:solidFill>
                          <a:srgbClr val="FF0000"/>
                        </a:solidFill>
                        <a:latin typeface="Cambria Math" panose="02040503050406030204" pitchFamily="18" charset="0"/>
                      </a:rPr>
                      <m:t>𝒏</m:t>
                    </m:r>
                  </m:oMath>
                </a14:m>
                <a:r>
                  <a:rPr lang="en-US" b="1" dirty="0">
                    <a:solidFill>
                      <a:srgbClr val="FF0000"/>
                    </a:solidFill>
                  </a:rPr>
                  <a:t> + heuristic from </a:t>
                </a:r>
                <a14:m>
                  <m:oMath xmlns:m="http://schemas.openxmlformats.org/officeDocument/2006/math">
                    <m:r>
                      <a:rPr lang="en-US" b="1" i="1" dirty="0" smtClean="0">
                        <a:solidFill>
                          <a:srgbClr val="FF0000"/>
                        </a:solidFill>
                        <a:latin typeface="Cambria Math" panose="02040503050406030204" pitchFamily="18" charset="0"/>
                      </a:rPr>
                      <m:t>𝒏</m:t>
                    </m:r>
                  </m:oMath>
                </a14:m>
                <a:r>
                  <a:rPr lang="en-US" b="1" dirty="0">
                    <a:solidFill>
                      <a:srgbClr val="FF0000"/>
                    </a:solidFill>
                  </a:rPr>
                  <a:t> to goal = estimate of the total cost </a:t>
                </a:r>
                <a:br>
                  <a:rPr lang="en-US" b="1" dirty="0">
                    <a:solidFill>
                      <a:srgbClr val="FF0000"/>
                    </a:solidFill>
                  </a:rPr>
                </a:br>
                <a14:m>
                  <m:oMathPara xmlns:m="http://schemas.openxmlformats.org/officeDocument/2006/math">
                    <m:oMathParaPr>
                      <m:jc m:val="centerGroup"/>
                    </m:oMathParaPr>
                    <m:oMath xmlns:m="http://schemas.openxmlformats.org/officeDocument/2006/math">
                      <m:r>
                        <a:rPr lang="en-US" b="1" i="1" smtClean="0">
                          <a:solidFill>
                            <a:srgbClr val="FF0000"/>
                          </a:solidFill>
                          <a:latin typeface="Cambria Math" panose="02040503050406030204" pitchFamily="18" charset="0"/>
                        </a:rPr>
                        <m:t>𝒈</m:t>
                      </m:r>
                      <m:d>
                        <m:dPr>
                          <m:ctrlPr>
                            <a:rPr lang="en-US" b="1" i="1">
                              <a:solidFill>
                                <a:srgbClr val="FF0000"/>
                              </a:solidFill>
                              <a:latin typeface="Cambria Math" panose="02040503050406030204" pitchFamily="18" charset="0"/>
                            </a:rPr>
                          </m:ctrlPr>
                        </m:dPr>
                        <m:e>
                          <m:r>
                            <a:rPr lang="en-US" b="1" i="1">
                              <a:solidFill>
                                <a:srgbClr val="FF0000"/>
                              </a:solidFill>
                              <a:latin typeface="Cambria Math" panose="02040503050406030204" pitchFamily="18" charset="0"/>
                            </a:rPr>
                            <m:t>𝒏</m:t>
                          </m:r>
                        </m:e>
                      </m:d>
                      <m:r>
                        <a:rPr lang="en-US" b="1" i="1">
                          <a:solidFill>
                            <a:srgbClr val="FF0000"/>
                          </a:solidFill>
                          <a:latin typeface="Cambria Math" panose="02040503050406030204" pitchFamily="18" charset="0"/>
                        </a:rPr>
                        <m:t>+</m:t>
                      </m:r>
                      <m:r>
                        <a:rPr lang="en-US" b="1" i="1" dirty="0" smtClean="0">
                          <a:solidFill>
                            <a:srgbClr val="FF0000"/>
                          </a:solidFill>
                          <a:latin typeface="Cambria Math" panose="02040503050406030204" pitchFamily="18" charset="0"/>
                        </a:rPr>
                        <m:t>𝒉</m:t>
                      </m:r>
                      <m:r>
                        <a:rPr lang="en-US" b="1" i="1" dirty="0" smtClean="0">
                          <a:solidFill>
                            <a:srgbClr val="FF0000"/>
                          </a:solidFill>
                          <a:latin typeface="Cambria Math" panose="02040503050406030204" pitchFamily="18" charset="0"/>
                        </a:rPr>
                        <m:t>(</m:t>
                      </m:r>
                      <m:r>
                        <a:rPr lang="en-US" b="1" i="1" dirty="0" smtClean="0">
                          <a:solidFill>
                            <a:srgbClr val="FF0000"/>
                          </a:solidFill>
                          <a:latin typeface="Cambria Math" panose="02040503050406030204" pitchFamily="18" charset="0"/>
                        </a:rPr>
                        <m:t>𝒏</m:t>
                      </m:r>
                      <m:r>
                        <a:rPr lang="en-US" b="1" i="1" dirty="0" smtClean="0">
                          <a:solidFill>
                            <a:srgbClr val="FF0000"/>
                          </a:solidFill>
                          <a:latin typeface="Cambria Math" panose="02040503050406030204" pitchFamily="18" charset="0"/>
                        </a:rPr>
                        <m:t>)</m:t>
                      </m:r>
                    </m:oMath>
                  </m:oMathPara>
                </a14:m>
                <a:endParaRPr lang="en-US" b="1" dirty="0">
                  <a:solidFill>
                    <a:srgbClr val="FF0000"/>
                  </a:solidFill>
                </a:endParaRPr>
              </a:p>
            </p:txBody>
          </p:sp>
        </mc:Choice>
        <mc:Fallback xmlns="">
          <p:sp>
            <p:nvSpPr>
              <p:cNvPr id="3" name="TextBox 2">
                <a:extLst>
                  <a:ext uri="{FF2B5EF4-FFF2-40B4-BE49-F238E27FC236}">
                    <a16:creationId xmlns:a16="http://schemas.microsoft.com/office/drawing/2014/main" id="{A67F2E6F-47FE-4D7B-8F61-CDAFC7E6EE84}"/>
                  </a:ext>
                </a:extLst>
              </p:cNvPr>
              <p:cNvSpPr txBox="1">
                <a:spLocks noRot="1" noChangeAspect="1" noMove="1" noResize="1" noEditPoints="1" noAdjustHandles="1" noChangeArrowheads="1" noChangeShapeType="1" noTextEdit="1"/>
              </p:cNvSpPr>
              <p:nvPr/>
            </p:nvSpPr>
            <p:spPr>
              <a:xfrm>
                <a:off x="1295400" y="1349158"/>
                <a:ext cx="6896100" cy="646331"/>
              </a:xfrm>
              <a:prstGeom prst="rect">
                <a:avLst/>
              </a:prstGeom>
              <a:blipFill>
                <a:blip r:embed="rId4"/>
                <a:stretch>
                  <a:fillRect l="-796" t="-4717" b="-7547"/>
                </a:stretch>
              </a:blipFill>
            </p:spPr>
            <p:txBody>
              <a:bodyPr/>
              <a:lstStyle/>
              <a:p>
                <a:r>
                  <a:rPr lang="en-US">
                    <a:noFill/>
                  </a:rPr>
                  <a:t> </a:t>
                </a:r>
              </a:p>
            </p:txBody>
          </p:sp>
        </mc:Fallback>
      </mc:AlternateContent>
    </p:spTree>
    <p:extLst>
      <p:ext uri="{BB962C8B-B14F-4D97-AF65-F5344CB8AC3E}">
        <p14:creationId xmlns:p14="http://schemas.microsoft.com/office/powerpoint/2010/main" val="366573772"/>
      </p:ext>
    </p:extLst>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2530" name="Rectangle 2"/>
          <p:cNvSpPr>
            <a:spLocks noGrp="1" noChangeArrowheads="1"/>
          </p:cNvSpPr>
          <p:nvPr>
            <p:ph type="title"/>
          </p:nvPr>
        </p:nvSpPr>
        <p:spPr/>
        <p:txBody>
          <a:bodyPr/>
          <a:lstStyle/>
          <a:p>
            <a:r>
              <a:rPr lang="en-US" dirty="0"/>
              <a:t>Admissible Heuristics and Optimality</a:t>
            </a:r>
          </a:p>
        </p:txBody>
      </p:sp>
      <mc:AlternateContent xmlns:mc="http://schemas.openxmlformats.org/markup-compatibility/2006">
        <mc:Choice xmlns:a14="http://schemas.microsoft.com/office/drawing/2010/main" Requires="a14">
          <p:sp>
            <p:nvSpPr>
              <p:cNvPr id="22531" name="Rectangle 3"/>
              <p:cNvSpPr>
                <a:spLocks noGrp="1" noChangeArrowheads="1"/>
              </p:cNvSpPr>
              <p:nvPr>
                <p:ph idx="1"/>
              </p:nvPr>
            </p:nvSpPr>
            <p:spPr>
              <a:xfrm>
                <a:off x="628650" y="1825625"/>
                <a:ext cx="7886700" cy="4575175"/>
              </a:xfrm>
            </p:spPr>
            <p:txBody>
              <a:bodyPr>
                <a:normAutofit fontScale="85000" lnSpcReduction="20000"/>
              </a:bodyPr>
              <a:lstStyle/>
              <a:p>
                <a:pPr marL="0" indent="0">
                  <a:buNone/>
                </a:pPr>
                <a:r>
                  <a:rPr lang="en-US" sz="1900" b="1" dirty="0"/>
                  <a:t>Definition: </a:t>
                </a:r>
                <a:r>
                  <a:rPr lang="en-US" sz="1900" dirty="0"/>
                  <a:t>A heuristic </a:t>
                </a:r>
                <a14:m>
                  <m:oMath xmlns:m="http://schemas.openxmlformats.org/officeDocument/2006/math">
                    <m:r>
                      <a:rPr lang="en-US" sz="1900" b="0" i="1" dirty="0" smtClean="0">
                        <a:latin typeface="Cambria Math" panose="02040503050406030204" pitchFamily="18" charset="0"/>
                        <a:cs typeface="Arial" pitchFamily="34" charset="0"/>
                      </a:rPr>
                      <m:t>h</m:t>
                    </m:r>
                  </m:oMath>
                </a14:m>
                <a:r>
                  <a:rPr lang="en-US" sz="1900" dirty="0"/>
                  <a:t> is </a:t>
                </a:r>
                <a:r>
                  <a:rPr lang="en-US" sz="1900" b="1" dirty="0">
                    <a:solidFill>
                      <a:srgbClr val="FF0000"/>
                    </a:solidFill>
                  </a:rPr>
                  <a:t>admissible</a:t>
                </a:r>
                <a:r>
                  <a:rPr lang="en-US" sz="1900" dirty="0"/>
                  <a:t> if for every node </a:t>
                </a:r>
                <a14:m>
                  <m:oMath xmlns:m="http://schemas.openxmlformats.org/officeDocument/2006/math">
                    <m:r>
                      <a:rPr lang="en-US" sz="1900" i="1" dirty="0" smtClean="0">
                        <a:latin typeface="Cambria Math" panose="02040503050406030204" pitchFamily="18" charset="0"/>
                      </a:rPr>
                      <m:t>𝑛</m:t>
                    </m:r>
                  </m:oMath>
                </a14:m>
                <a:r>
                  <a:rPr lang="en-US" sz="1900" dirty="0"/>
                  <a:t>, </a:t>
                </a:r>
                <a:br>
                  <a:rPr lang="en-US" sz="1900" dirty="0"/>
                </a:br>
                <a:br>
                  <a:rPr lang="en-US" sz="1900" dirty="0"/>
                </a:br>
                <a14:m>
                  <m:oMathPara xmlns:m="http://schemas.openxmlformats.org/officeDocument/2006/math">
                    <m:oMathParaPr>
                      <m:jc m:val="centerGroup"/>
                    </m:oMathParaPr>
                    <m:oMath xmlns:m="http://schemas.openxmlformats.org/officeDocument/2006/math">
                      <m:r>
                        <a:rPr lang="en-US" sz="1900" i="1" dirty="0" smtClean="0">
                          <a:latin typeface="Cambria Math" panose="02040503050406030204" pitchFamily="18" charset="0"/>
                        </a:rPr>
                        <m:t>h</m:t>
                      </m:r>
                      <m:d>
                        <m:dPr>
                          <m:ctrlPr>
                            <a:rPr lang="en-US" sz="1900" i="1" dirty="0" smtClean="0">
                              <a:latin typeface="Cambria Math" panose="02040503050406030204" pitchFamily="18" charset="0"/>
                            </a:rPr>
                          </m:ctrlPr>
                        </m:dPr>
                        <m:e>
                          <m:r>
                            <a:rPr lang="en-US" sz="1900" i="1" dirty="0" smtClean="0">
                              <a:latin typeface="Cambria Math" panose="02040503050406030204" pitchFamily="18" charset="0"/>
                            </a:rPr>
                            <m:t>𝑛</m:t>
                          </m:r>
                        </m:e>
                      </m:d>
                      <m:r>
                        <a:rPr lang="en-US" sz="1900" i="1" dirty="0">
                          <a:latin typeface="Cambria Math" panose="02040503050406030204" pitchFamily="18" charset="0"/>
                          <a:cs typeface="Arial" pitchFamily="34" charset="0"/>
                        </a:rPr>
                        <m:t>≤</m:t>
                      </m:r>
                      <m:r>
                        <a:rPr lang="en-US" sz="1900" i="1" dirty="0">
                          <a:latin typeface="Cambria Math" panose="02040503050406030204" pitchFamily="18" charset="0"/>
                        </a:rPr>
                        <m:t> </m:t>
                      </m:r>
                      <m:sSup>
                        <m:sSupPr>
                          <m:ctrlPr>
                            <a:rPr lang="en-US" sz="1900" b="0" i="1" dirty="0" smtClean="0">
                              <a:latin typeface="Cambria Math" panose="02040503050406030204" pitchFamily="18" charset="0"/>
                              <a:cs typeface="Arial" pitchFamily="34" charset="0"/>
                            </a:rPr>
                          </m:ctrlPr>
                        </m:sSupPr>
                        <m:e>
                          <m:r>
                            <a:rPr lang="en-US" sz="1900" i="1" dirty="0">
                              <a:latin typeface="Cambria Math" panose="02040503050406030204" pitchFamily="18" charset="0"/>
                            </a:rPr>
                            <m:t>h</m:t>
                          </m:r>
                        </m:e>
                        <m:sup>
                          <m:r>
                            <a:rPr lang="en-US" sz="1900" b="0" i="1" dirty="0" smtClean="0">
                              <a:latin typeface="Cambria Math" panose="02040503050406030204" pitchFamily="18" charset="0"/>
                            </a:rPr>
                            <m:t>∗</m:t>
                          </m:r>
                        </m:sup>
                      </m:sSup>
                      <m:d>
                        <m:dPr>
                          <m:ctrlPr>
                            <a:rPr lang="en-US" sz="1900" b="0" i="1" dirty="0">
                              <a:latin typeface="Cambria Math" panose="02040503050406030204" pitchFamily="18" charset="0"/>
                            </a:rPr>
                          </m:ctrlPr>
                        </m:dPr>
                        <m:e>
                          <m:r>
                            <a:rPr lang="en-US" sz="1900" i="1" dirty="0">
                              <a:latin typeface="Cambria Math" panose="02040503050406030204" pitchFamily="18" charset="0"/>
                            </a:rPr>
                            <m:t>𝑛</m:t>
                          </m:r>
                        </m:e>
                      </m:d>
                      <m:r>
                        <a:rPr lang="en-US" sz="1900" b="0" i="1" dirty="0" smtClean="0">
                          <a:latin typeface="Cambria Math" panose="02040503050406030204" pitchFamily="18" charset="0"/>
                        </a:rPr>
                        <m:t>,</m:t>
                      </m:r>
                    </m:oMath>
                  </m:oMathPara>
                </a14:m>
                <a:br>
                  <a:rPr lang="en-US" sz="1900" i="1" dirty="0"/>
                </a:br>
                <a:br>
                  <a:rPr lang="en-US" sz="1900" i="1" dirty="0"/>
                </a:br>
                <a:r>
                  <a:rPr lang="en-US" sz="1900" dirty="0"/>
                  <a:t>where </a:t>
                </a:r>
                <a14:m>
                  <m:oMath xmlns:m="http://schemas.openxmlformats.org/officeDocument/2006/math">
                    <m:sSup>
                      <m:sSupPr>
                        <m:ctrlPr>
                          <a:rPr lang="en-US" sz="1900" i="1" dirty="0">
                            <a:latin typeface="Cambria Math" panose="02040503050406030204" pitchFamily="18" charset="0"/>
                            <a:cs typeface="Arial" pitchFamily="34" charset="0"/>
                          </a:rPr>
                        </m:ctrlPr>
                      </m:sSupPr>
                      <m:e>
                        <m:r>
                          <a:rPr lang="en-US" sz="1900" i="1" dirty="0">
                            <a:latin typeface="Cambria Math" panose="02040503050406030204" pitchFamily="18" charset="0"/>
                          </a:rPr>
                          <m:t>h</m:t>
                        </m:r>
                      </m:e>
                      <m:sup>
                        <m:r>
                          <a:rPr lang="en-US" sz="1900" i="1" dirty="0">
                            <a:latin typeface="Cambria Math" panose="02040503050406030204" pitchFamily="18" charset="0"/>
                          </a:rPr>
                          <m:t>∗</m:t>
                        </m:r>
                      </m:sup>
                    </m:sSup>
                    <m:r>
                      <a:rPr lang="en-US" sz="1900" i="1" dirty="0">
                        <a:latin typeface="Cambria Math" panose="02040503050406030204" pitchFamily="18" charset="0"/>
                      </a:rPr>
                      <m:t>(</m:t>
                    </m:r>
                    <m:r>
                      <a:rPr lang="en-US" sz="1900" i="1" dirty="0">
                        <a:latin typeface="Cambria Math" panose="02040503050406030204" pitchFamily="18" charset="0"/>
                      </a:rPr>
                      <m:t>𝑛</m:t>
                    </m:r>
                    <m:r>
                      <a:rPr lang="en-US" sz="1900" i="1" dirty="0">
                        <a:latin typeface="Cambria Math" panose="02040503050406030204" pitchFamily="18" charset="0"/>
                      </a:rPr>
                      <m:t>)</m:t>
                    </m:r>
                  </m:oMath>
                </a14:m>
                <a:r>
                  <a:rPr lang="en-US" sz="1900" dirty="0"/>
                  <a:t> is the true cost to reach the goal state from </a:t>
                </a:r>
                <a14:m>
                  <m:oMath xmlns:m="http://schemas.openxmlformats.org/officeDocument/2006/math">
                    <m:r>
                      <a:rPr lang="en-US" sz="1900" i="1" dirty="0" smtClean="0">
                        <a:latin typeface="Cambria Math" panose="02040503050406030204" pitchFamily="18" charset="0"/>
                      </a:rPr>
                      <m:t>𝑛</m:t>
                    </m:r>
                  </m:oMath>
                </a14:m>
                <a:r>
                  <a:rPr lang="en-US" sz="1900" i="1" dirty="0"/>
                  <a:t>.</a:t>
                </a:r>
                <a:endParaRPr lang="en-US" sz="1900" dirty="0"/>
              </a:p>
              <a:p>
                <a:pPr marL="0" indent="0">
                  <a:buNone/>
                </a:pPr>
                <a:endParaRPr lang="en-US" sz="1900" dirty="0"/>
              </a:p>
              <a:p>
                <a:pPr marL="0" indent="0">
                  <a:buNone/>
                </a:pPr>
                <a:r>
                  <a:rPr lang="en-US" sz="1900" dirty="0"/>
                  <a:t>I.e., an admissible heuristic is a </a:t>
                </a:r>
                <a:r>
                  <a:rPr lang="en-US" sz="1900" b="1" dirty="0">
                    <a:solidFill>
                      <a:srgbClr val="FF0000"/>
                    </a:solidFill>
                  </a:rPr>
                  <a:t>lower bound</a:t>
                </a:r>
                <a:r>
                  <a:rPr lang="en-US" sz="1900" dirty="0"/>
                  <a:t> (an optimistic estimate) and never overestimates the true cost to reach the goal.</a:t>
                </a:r>
              </a:p>
              <a:p>
                <a:pPr marL="0" indent="0">
                  <a:buNone/>
                </a:pPr>
                <a:endParaRPr lang="en-US" sz="1900" dirty="0"/>
              </a:p>
              <a:p>
                <a:pPr marL="0" indent="0">
                  <a:buNone/>
                </a:pPr>
                <a:r>
                  <a:rPr lang="en-US" sz="1900" b="1" dirty="0"/>
                  <a:t>Example</a:t>
                </a:r>
                <a:r>
                  <a:rPr lang="en-US" sz="1900" dirty="0"/>
                  <a:t>: The straight-line distance never overestimates the actual road distance on a map.</a:t>
                </a:r>
              </a:p>
              <a:p>
                <a:endParaRPr lang="en-US" sz="1900" b="1" dirty="0">
                  <a:solidFill>
                    <a:srgbClr val="CC0099"/>
                  </a:solidFill>
                </a:endParaRPr>
              </a:p>
              <a:p>
                <a:pPr marL="0" indent="0">
                  <a:buNone/>
                </a:pPr>
                <a:r>
                  <a:rPr lang="en-US" sz="1900" b="1" dirty="0"/>
                  <a:t>Theorem: </a:t>
                </a:r>
                <a:r>
                  <a:rPr lang="en-US" sz="1900" dirty="0"/>
                  <a:t>If </a:t>
                </a:r>
                <a14:m>
                  <m:oMath xmlns:m="http://schemas.openxmlformats.org/officeDocument/2006/math">
                    <m:r>
                      <a:rPr lang="en-US" sz="1900" i="1" dirty="0">
                        <a:latin typeface="Cambria Math" panose="02040503050406030204" pitchFamily="18" charset="0"/>
                        <a:cs typeface="Arial" pitchFamily="34" charset="0"/>
                      </a:rPr>
                      <m:t>h</m:t>
                    </m:r>
                  </m:oMath>
                </a14:m>
                <a:r>
                  <a:rPr lang="en-US" sz="1900" i="1" dirty="0"/>
                  <a:t> </a:t>
                </a:r>
                <a:r>
                  <a:rPr lang="en-US" sz="1900" dirty="0"/>
                  <a:t>is admissible, A</a:t>
                </a:r>
                <a:r>
                  <a:rPr lang="en-US" sz="1900" baseline="30000" dirty="0"/>
                  <a:t>*</a:t>
                </a:r>
                <a:r>
                  <a:rPr lang="en-US" sz="1900" dirty="0"/>
                  <a:t> is </a:t>
                </a:r>
                <a:r>
                  <a:rPr lang="en-US" sz="1900" b="1" dirty="0">
                    <a:solidFill>
                      <a:srgbClr val="FF0000"/>
                    </a:solidFill>
                  </a:rPr>
                  <a:t>optimal</a:t>
                </a:r>
                <a:r>
                  <a:rPr lang="en-US" sz="1900" dirty="0"/>
                  <a:t>.</a:t>
                </a:r>
              </a:p>
              <a:p>
                <a:pPr marL="0" indent="0">
                  <a:buNone/>
                </a:pPr>
                <a:r>
                  <a:rPr lang="en-US" sz="1900" b="1" dirty="0"/>
                  <a:t>Proof</a:t>
                </a:r>
                <a:r>
                  <a:rPr lang="en-US" sz="1900" dirty="0"/>
                  <a:t>: The admissible heuristic forces A* to explore all possible shorter paths before it reaches the goal state.</a:t>
                </a:r>
              </a:p>
              <a:p>
                <a:pPr marL="0" indent="0">
                  <a:buNone/>
                </a:pPr>
                <a:endParaRPr lang="en-US" sz="1900" dirty="0"/>
              </a:p>
              <a:p>
                <a:pPr marL="0" indent="0">
                  <a:buNone/>
                </a:pPr>
                <a:r>
                  <a:rPr lang="en-US" sz="1900" b="1" dirty="0"/>
                  <a:t>Theorem</a:t>
                </a:r>
                <a:r>
                  <a:rPr lang="en-US" sz="1900" dirty="0"/>
                  <a:t>: A* </a:t>
                </a:r>
                <a:r>
                  <a:rPr lang="en-US" sz="1900" b="1" dirty="0">
                    <a:solidFill>
                      <a:srgbClr val="FF0000"/>
                    </a:solidFill>
                  </a:rPr>
                  <a:t>is optimally efficient</a:t>
                </a:r>
                <a:r>
                  <a:rPr lang="en-US" sz="1900" dirty="0"/>
                  <a:t>. No other tree-based search algorithm that employs the same heuristic can expand fewer nodes and still guarantee the optimal solution.</a:t>
                </a:r>
              </a:p>
              <a:p>
                <a:pPr marL="0" indent="0">
                  <a:buNone/>
                </a:pPr>
                <a:r>
                  <a:rPr lang="en-US" sz="1900" b="1" dirty="0"/>
                  <a:t>Proof</a:t>
                </a:r>
                <a:r>
                  <a:rPr lang="en-US" sz="1900" dirty="0"/>
                  <a:t>: Any algorithm that does not expand all nodes with</a:t>
                </a:r>
                <a14:m>
                  <m:oMath xmlns:m="http://schemas.openxmlformats.org/officeDocument/2006/math">
                    <m:r>
                      <a:rPr lang="en-US" sz="1900" i="1" dirty="0" smtClean="0">
                        <a:latin typeface="Cambria Math" panose="02040503050406030204" pitchFamily="18" charset="0"/>
                      </a:rPr>
                      <m:t> </m:t>
                    </m:r>
                    <m:r>
                      <a:rPr lang="en-US" sz="1900" i="1" dirty="0" smtClean="0">
                        <a:latin typeface="Cambria Math" panose="02040503050406030204" pitchFamily="18" charset="0"/>
                      </a:rPr>
                      <m:t>𝑓</m:t>
                    </m:r>
                    <m:r>
                      <a:rPr lang="en-US" sz="1900" i="1" dirty="0" smtClean="0">
                        <a:latin typeface="Cambria Math" panose="02040503050406030204" pitchFamily="18" charset="0"/>
                      </a:rPr>
                      <m:t>(</m:t>
                    </m:r>
                    <m:r>
                      <a:rPr lang="en-US" sz="1900" i="1" dirty="0" smtClean="0">
                        <a:latin typeface="Cambria Math" panose="02040503050406030204" pitchFamily="18" charset="0"/>
                      </a:rPr>
                      <m:t>𝑛</m:t>
                    </m:r>
                    <m:r>
                      <a:rPr lang="en-US" sz="1900" i="1" dirty="0" smtClean="0">
                        <a:latin typeface="Cambria Math" panose="02040503050406030204" pitchFamily="18" charset="0"/>
                      </a:rPr>
                      <m:t>) &lt; </m:t>
                    </m:r>
                    <m:sSup>
                      <m:sSupPr>
                        <m:ctrlPr>
                          <a:rPr lang="en-US" sz="1900" i="1" dirty="0" smtClean="0">
                            <a:latin typeface="Cambria Math" panose="02040503050406030204" pitchFamily="18" charset="0"/>
                          </a:rPr>
                        </m:ctrlPr>
                      </m:sSupPr>
                      <m:e>
                        <m:r>
                          <a:rPr lang="en-US" sz="1900" i="1" dirty="0" smtClean="0">
                            <a:latin typeface="Cambria Math" panose="02040503050406030204" pitchFamily="18" charset="0"/>
                          </a:rPr>
                          <m:t>𝐶</m:t>
                        </m:r>
                      </m:e>
                      <m:sup>
                        <m:r>
                          <a:rPr lang="en-US" sz="1900" i="1" dirty="0" smtClean="0">
                            <a:latin typeface="Cambria Math" panose="02040503050406030204" pitchFamily="18" charset="0"/>
                          </a:rPr>
                          <m:t>∗</m:t>
                        </m:r>
                      </m:sup>
                    </m:sSup>
                  </m:oMath>
                </a14:m>
                <a:r>
                  <a:rPr lang="en-US" sz="1900" dirty="0"/>
                  <a:t> (the lowest cost of going to a goal node) cannot be optimal because it risks missing the optimal solution.</a:t>
                </a:r>
              </a:p>
              <a:p>
                <a:pPr marL="0" indent="0">
                  <a:buNone/>
                </a:pPr>
                <a:endParaRPr lang="en-US" sz="1900" dirty="0"/>
              </a:p>
              <a:p>
                <a:pPr marL="0" indent="0">
                  <a:buNone/>
                </a:pPr>
                <a:endParaRPr lang="en-US" sz="2400" dirty="0"/>
              </a:p>
            </p:txBody>
          </p:sp>
        </mc:Choice>
        <mc:Fallback>
          <p:sp>
            <p:nvSpPr>
              <p:cNvPr id="22531" name="Rectangle 3"/>
              <p:cNvSpPr>
                <a:spLocks noGrp="1" noRot="1" noChangeAspect="1" noMove="1" noResize="1" noEditPoints="1" noAdjustHandles="1" noChangeArrowheads="1" noChangeShapeType="1" noTextEdit="1"/>
              </p:cNvSpPr>
              <p:nvPr>
                <p:ph idx="1"/>
              </p:nvPr>
            </p:nvSpPr>
            <p:spPr>
              <a:xfrm>
                <a:off x="628650" y="1825625"/>
                <a:ext cx="7886700" cy="4575175"/>
              </a:xfrm>
              <a:blipFill>
                <a:blip r:embed="rId3"/>
                <a:stretch>
                  <a:fillRect l="-386" t="-1731"/>
                </a:stretch>
              </a:blipFill>
            </p:spPr>
            <p:txBody>
              <a:bodyPr/>
              <a:lstStyle/>
              <a:p>
                <a:r>
                  <a:rPr lang="en-US">
                    <a:noFill/>
                  </a:rPr>
                  <a:t> </a:t>
                </a:r>
              </a:p>
            </p:txBody>
          </p:sp>
        </mc:Fallback>
      </mc:AlternateContent>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grpId="0" nodeType="withEffect">
                                  <p:stCondLst>
                                    <p:cond delay="0"/>
                                  </p:stCondLst>
                                  <p:childTnLst>
                                    <p:set>
                                      <p:cBhvr>
                                        <p:cTn id="6" dur="1" fill="hold">
                                          <p:stCondLst>
                                            <p:cond delay="0"/>
                                          </p:stCondLst>
                                        </p:cTn>
                                        <p:tgtEl>
                                          <p:spTgt spid="22531">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22531">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22531">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22531">
                                            <p:txEl>
                                              <p:pRg st="6" end="6"/>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22531">
                                            <p:txEl>
                                              <p:pRg st="7" end="7"/>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22531">
                                            <p:txEl>
                                              <p:pRg st="9" end="9"/>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22531">
                                            <p:txEl>
                                              <p:pRg st="10" end="1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2531" grpId="0" uiExpand="1" build="p"/>
    </p:bldLst>
  </p:timing>
</p:sld>
</file>

<file path=ppt/slides/slide77.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Proof of Optimality of </a:t>
            </a:r>
            <a:br>
              <a:rPr lang="en-US" dirty="0"/>
            </a:br>
            <a:r>
              <a:rPr lang="en-US" dirty="0"/>
              <a:t>A* Search</a:t>
            </a: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666750" y="4794486"/>
                <a:ext cx="7886700" cy="1758713"/>
              </a:xfrm>
            </p:spPr>
            <p:txBody>
              <a:bodyPr>
                <a:normAutofit fontScale="55000" lnSpcReduction="20000"/>
              </a:bodyPr>
              <a:lstStyle/>
              <a:p>
                <a:pPr>
                  <a:lnSpc>
                    <a:spcPct val="120000"/>
                  </a:lnSpc>
                </a:pPr>
                <a:r>
                  <a:rPr lang="en-US" sz="2800" dirty="0"/>
                  <a:t>Suppose A* terminates its search at goal </a:t>
                </a:r>
                <a14:m>
                  <m:oMath xmlns:m="http://schemas.openxmlformats.org/officeDocument/2006/math">
                    <m:sSup>
                      <m:sSupPr>
                        <m:ctrlPr>
                          <a:rPr lang="en-US" sz="2800" b="0" i="1" dirty="0" smtClean="0">
                            <a:latin typeface="Cambria Math" panose="02040503050406030204" pitchFamily="18" charset="0"/>
                          </a:rPr>
                        </m:ctrlPr>
                      </m:sSupPr>
                      <m:e>
                        <m:r>
                          <a:rPr lang="en-US" sz="2800" i="1" dirty="0" smtClean="0">
                            <a:latin typeface="Cambria Math" panose="02040503050406030204" pitchFamily="18" charset="0"/>
                          </a:rPr>
                          <m:t>𝑛</m:t>
                        </m:r>
                      </m:e>
                      <m:sup>
                        <m:r>
                          <a:rPr lang="en-US" sz="2800" b="0" i="1" dirty="0" smtClean="0">
                            <a:latin typeface="Cambria Math" panose="02040503050406030204" pitchFamily="18" charset="0"/>
                          </a:rPr>
                          <m:t>∗</m:t>
                        </m:r>
                      </m:sup>
                    </m:sSup>
                  </m:oMath>
                </a14:m>
                <a:r>
                  <a:rPr lang="en-US" sz="2800" dirty="0"/>
                  <a:t> at a cost of </a:t>
                </a:r>
                <a14:m>
                  <m:oMath xmlns:m="http://schemas.openxmlformats.org/officeDocument/2006/math">
                    <m:sSup>
                      <m:sSupPr>
                        <m:ctrlPr>
                          <a:rPr lang="en-US" sz="2800" i="1" dirty="0">
                            <a:latin typeface="Cambria Math" panose="02040503050406030204" pitchFamily="18" charset="0"/>
                          </a:rPr>
                        </m:ctrlPr>
                      </m:sSupPr>
                      <m:e>
                        <m:r>
                          <a:rPr lang="en-US" sz="2800" i="1" dirty="0">
                            <a:latin typeface="Cambria Math" panose="02040503050406030204" pitchFamily="18" charset="0"/>
                          </a:rPr>
                          <m:t>𝐶</m:t>
                        </m:r>
                      </m:e>
                      <m:sup>
                        <m:r>
                          <a:rPr lang="en-US" sz="2800" i="1" dirty="0">
                            <a:latin typeface="Cambria Math" panose="02040503050406030204" pitchFamily="18" charset="0"/>
                          </a:rPr>
                          <m:t>∗</m:t>
                        </m:r>
                      </m:sup>
                    </m:sSup>
                    <m:r>
                      <a:rPr lang="en-US" sz="2800" b="0" i="1" dirty="0" smtClean="0">
                        <a:latin typeface="Cambria Math" panose="02040503050406030204" pitchFamily="18" charset="0"/>
                      </a:rPr>
                      <m:t>=</m:t>
                    </m:r>
                    <m:r>
                      <a:rPr lang="en-US" sz="2800" b="0" i="1" dirty="0" smtClean="0">
                        <a:latin typeface="Cambria Math" panose="02040503050406030204" pitchFamily="18" charset="0"/>
                      </a:rPr>
                      <m:t>𝑓</m:t>
                    </m:r>
                    <m:d>
                      <m:dPr>
                        <m:ctrlPr>
                          <a:rPr lang="en-US" sz="2800" b="0" i="1" dirty="0" smtClean="0">
                            <a:latin typeface="Cambria Math" panose="02040503050406030204" pitchFamily="18" charset="0"/>
                          </a:rPr>
                        </m:ctrlPr>
                      </m:dPr>
                      <m:e>
                        <m:sSup>
                          <m:sSupPr>
                            <m:ctrlPr>
                              <a:rPr lang="en-US" sz="2800" b="0" i="1" dirty="0" smtClean="0">
                                <a:latin typeface="Cambria Math" panose="02040503050406030204" pitchFamily="18" charset="0"/>
                              </a:rPr>
                            </m:ctrlPr>
                          </m:sSupPr>
                          <m:e>
                            <m:r>
                              <a:rPr lang="en-US" sz="2800" b="0" i="1" dirty="0" smtClean="0">
                                <a:latin typeface="Cambria Math" panose="02040503050406030204" pitchFamily="18" charset="0"/>
                              </a:rPr>
                              <m:t>𝑛</m:t>
                            </m:r>
                          </m:e>
                          <m:sup>
                            <m:r>
                              <a:rPr lang="en-US" sz="2800" b="0" i="1" dirty="0" smtClean="0">
                                <a:latin typeface="Cambria Math" panose="02040503050406030204" pitchFamily="18" charset="0"/>
                              </a:rPr>
                              <m:t>∗</m:t>
                            </m:r>
                          </m:sup>
                        </m:sSup>
                      </m:e>
                    </m:d>
                  </m:oMath>
                </a14:m>
                <a:r>
                  <a:rPr lang="en-US" sz="2800" dirty="0"/>
                  <a:t>.</a:t>
                </a:r>
              </a:p>
              <a:p>
                <a:pPr>
                  <a:lnSpc>
                    <a:spcPct val="120000"/>
                  </a:lnSpc>
                </a:pPr>
                <a:r>
                  <a:rPr lang="en-US" sz="2800" dirty="0"/>
                  <a:t>All unexplored nodes </a:t>
                </a:r>
                <a14:m>
                  <m:oMath xmlns:m="http://schemas.openxmlformats.org/officeDocument/2006/math">
                    <m:r>
                      <a:rPr lang="en-US" sz="2800" i="1" dirty="0" smtClean="0">
                        <a:latin typeface="Cambria Math" panose="02040503050406030204" pitchFamily="18" charset="0"/>
                      </a:rPr>
                      <m:t>𝑛</m:t>
                    </m:r>
                  </m:oMath>
                </a14:m>
                <a:r>
                  <a:rPr lang="en-US" sz="2800" dirty="0"/>
                  <a:t> have </a:t>
                </a:r>
                <a14:m>
                  <m:oMath xmlns:m="http://schemas.openxmlformats.org/officeDocument/2006/math">
                    <m:r>
                      <a:rPr lang="en-US" sz="2800" i="1" dirty="0">
                        <a:latin typeface="Cambria Math" panose="02040503050406030204" pitchFamily="18" charset="0"/>
                      </a:rPr>
                      <m:t>𝑓</m:t>
                    </m:r>
                    <m:d>
                      <m:dPr>
                        <m:ctrlPr>
                          <a:rPr lang="en-US" sz="2800" i="1" dirty="0">
                            <a:latin typeface="Cambria Math" panose="02040503050406030204" pitchFamily="18" charset="0"/>
                          </a:rPr>
                        </m:ctrlPr>
                      </m:dPr>
                      <m:e>
                        <m:r>
                          <a:rPr lang="en-US" sz="2800" i="1" dirty="0">
                            <a:latin typeface="Cambria Math" panose="02040503050406030204" pitchFamily="18" charset="0"/>
                          </a:rPr>
                          <m:t>𝑛</m:t>
                        </m:r>
                      </m:e>
                    </m:d>
                    <m:r>
                      <a:rPr lang="en-US" sz="2800" b="0" i="1" dirty="0" smtClean="0">
                        <a:latin typeface="Cambria Math" panose="02040503050406030204" pitchFamily="18" charset="0"/>
                      </a:rPr>
                      <m:t>≥</m:t>
                    </m:r>
                    <m:r>
                      <a:rPr lang="en-US" sz="2800" i="1" dirty="0">
                        <a:latin typeface="Cambria Math" panose="02040503050406030204" pitchFamily="18" charset="0"/>
                      </a:rPr>
                      <m:t> </m:t>
                    </m:r>
                    <m:r>
                      <a:rPr lang="en-US" sz="2800" i="1" dirty="0">
                        <a:latin typeface="Cambria Math" panose="02040503050406030204" pitchFamily="18" charset="0"/>
                        <a:sym typeface="Symbol"/>
                      </a:rPr>
                      <m:t>𝑓</m:t>
                    </m:r>
                    <m:r>
                      <a:rPr lang="en-US" sz="2800" i="1" dirty="0">
                        <a:latin typeface="Cambria Math" panose="02040503050406030204" pitchFamily="18" charset="0"/>
                        <a:sym typeface="Symbol"/>
                      </a:rPr>
                      <m:t>(</m:t>
                    </m:r>
                    <m:sSup>
                      <m:sSupPr>
                        <m:ctrlPr>
                          <a:rPr lang="en-US" sz="2800" i="1" dirty="0">
                            <a:latin typeface="Cambria Math" panose="02040503050406030204" pitchFamily="18" charset="0"/>
                            <a:sym typeface="Symbol"/>
                          </a:rPr>
                        </m:ctrlPr>
                      </m:sSupPr>
                      <m:e>
                        <m:r>
                          <a:rPr lang="en-US" sz="2800" i="1" dirty="0">
                            <a:latin typeface="Cambria Math" panose="02040503050406030204" pitchFamily="18" charset="0"/>
                            <a:sym typeface="Symbol"/>
                          </a:rPr>
                          <m:t>𝑛</m:t>
                        </m:r>
                      </m:e>
                      <m:sup>
                        <m:r>
                          <a:rPr lang="en-US" sz="2800" i="1" dirty="0">
                            <a:latin typeface="Cambria Math" panose="02040503050406030204" pitchFamily="18" charset="0"/>
                            <a:sym typeface="Symbol"/>
                          </a:rPr>
                          <m:t>∗</m:t>
                        </m:r>
                      </m:sup>
                    </m:sSup>
                    <m:r>
                      <a:rPr lang="en-US" sz="2800" i="1" dirty="0">
                        <a:latin typeface="Cambria Math" panose="02040503050406030204" pitchFamily="18" charset="0"/>
                        <a:sym typeface="Symbol"/>
                      </a:rPr>
                      <m:t>)</m:t>
                    </m:r>
                    <m:r>
                      <a:rPr lang="en-US" sz="2800" i="1" dirty="0">
                        <a:latin typeface="Cambria Math" panose="02040503050406030204" pitchFamily="18" charset="0"/>
                      </a:rPr>
                      <m:t> </m:t>
                    </m:r>
                  </m:oMath>
                </a14:m>
                <a:r>
                  <a:rPr lang="en-US" sz="2800" dirty="0"/>
                  <a:t>or they would have been explored before </a:t>
                </a:r>
                <a14:m>
                  <m:oMath xmlns:m="http://schemas.openxmlformats.org/officeDocument/2006/math">
                    <m:sSup>
                      <m:sSupPr>
                        <m:ctrlPr>
                          <a:rPr lang="en-US" sz="2800" b="0" i="1" smtClean="0">
                            <a:latin typeface="Cambria Math" panose="02040503050406030204" pitchFamily="18" charset="0"/>
                          </a:rPr>
                        </m:ctrlPr>
                      </m:sSupPr>
                      <m:e>
                        <m:r>
                          <a:rPr lang="en-US" sz="2800" b="0" i="1" smtClean="0">
                            <a:latin typeface="Cambria Math" panose="02040503050406030204" pitchFamily="18" charset="0"/>
                          </a:rPr>
                          <m:t>𝑛</m:t>
                        </m:r>
                      </m:e>
                      <m:sup>
                        <m:r>
                          <a:rPr lang="en-US" sz="2800" b="0" i="1" smtClean="0">
                            <a:latin typeface="Cambria Math" panose="02040503050406030204" pitchFamily="18" charset="0"/>
                          </a:rPr>
                          <m:t>∗</m:t>
                        </m:r>
                      </m:sup>
                    </m:sSup>
                    <m:r>
                      <a:rPr lang="en-US" sz="2800" b="0" i="1" smtClean="0">
                        <a:latin typeface="Cambria Math" panose="02040503050406030204" pitchFamily="18" charset="0"/>
                      </a:rPr>
                      <m:t>.</m:t>
                    </m:r>
                  </m:oMath>
                </a14:m>
                <a:endParaRPr lang="en-US" sz="2800" dirty="0"/>
              </a:p>
              <a:p>
                <a:pPr>
                  <a:lnSpc>
                    <a:spcPct val="120000"/>
                  </a:lnSpc>
                </a:pPr>
                <a:r>
                  <a:rPr lang="en-US" sz="2800" dirty="0"/>
                  <a:t>Since </a:t>
                </a:r>
                <a14:m>
                  <m:oMath xmlns:m="http://schemas.openxmlformats.org/officeDocument/2006/math">
                    <m:r>
                      <a:rPr lang="en-US" sz="2800" i="1" dirty="0" smtClean="0">
                        <a:latin typeface="Cambria Math" panose="02040503050406030204" pitchFamily="18" charset="0"/>
                      </a:rPr>
                      <m:t>𝑓</m:t>
                    </m:r>
                    <m:r>
                      <a:rPr lang="en-US" sz="2800" i="1" dirty="0" smtClean="0">
                        <a:latin typeface="Cambria Math" panose="02040503050406030204" pitchFamily="18" charset="0"/>
                      </a:rPr>
                      <m:t>(</m:t>
                    </m:r>
                    <m:r>
                      <a:rPr lang="en-US" sz="2800" i="1" dirty="0" smtClean="0">
                        <a:latin typeface="Cambria Math" panose="02040503050406030204" pitchFamily="18" charset="0"/>
                      </a:rPr>
                      <m:t>𝑛</m:t>
                    </m:r>
                    <m:r>
                      <a:rPr lang="en-US" sz="2800" i="1" dirty="0" smtClean="0">
                        <a:latin typeface="Cambria Math" panose="02040503050406030204" pitchFamily="18" charset="0"/>
                      </a:rPr>
                      <m:t>)</m:t>
                    </m:r>
                  </m:oMath>
                </a14:m>
                <a:r>
                  <a:rPr lang="en-US" sz="2800" dirty="0"/>
                  <a:t> is an </a:t>
                </a:r>
                <a:r>
                  <a:rPr lang="en-US" sz="2800" i="1" dirty="0"/>
                  <a:t>optimistic</a:t>
                </a:r>
                <a:r>
                  <a:rPr lang="en-US" sz="2800" dirty="0"/>
                  <a:t> estimate, it is impossible for </a:t>
                </a:r>
                <a14:m>
                  <m:oMath xmlns:m="http://schemas.openxmlformats.org/officeDocument/2006/math">
                    <m:r>
                      <a:rPr lang="en-US" sz="2800" i="1" dirty="0" smtClean="0">
                        <a:latin typeface="Cambria Math" panose="02040503050406030204" pitchFamily="18" charset="0"/>
                      </a:rPr>
                      <m:t>𝑛</m:t>
                    </m:r>
                  </m:oMath>
                </a14:m>
                <a:r>
                  <a:rPr lang="en-US" sz="2800" dirty="0"/>
                  <a:t> to have a successor goal state </a:t>
                </a:r>
                <a14:m>
                  <m:oMath xmlns:m="http://schemas.openxmlformats.org/officeDocument/2006/math">
                    <m:r>
                      <a:rPr lang="en-US" sz="2800" i="1" dirty="0" smtClean="0">
                        <a:latin typeface="Cambria Math" panose="02040503050406030204" pitchFamily="18" charset="0"/>
                      </a:rPr>
                      <m:t>𝑛</m:t>
                    </m:r>
                    <m:r>
                      <a:rPr lang="en-US" sz="2800" i="1" dirty="0" smtClean="0">
                        <a:latin typeface="Cambria Math" panose="02040503050406030204" pitchFamily="18" charset="0"/>
                      </a:rPr>
                      <m:t>’</m:t>
                    </m:r>
                  </m:oMath>
                </a14:m>
                <a:r>
                  <a:rPr lang="en-US" sz="2800" dirty="0"/>
                  <a:t> with </a:t>
                </a:r>
                <a14:m>
                  <m:oMath xmlns:m="http://schemas.openxmlformats.org/officeDocument/2006/math">
                    <m:r>
                      <a:rPr lang="en-US" sz="2800" b="0" i="1" dirty="0" smtClean="0">
                        <a:latin typeface="Cambria Math" panose="02040503050406030204" pitchFamily="18" charset="0"/>
                      </a:rPr>
                      <m:t>𝐶</m:t>
                    </m:r>
                    <m:r>
                      <a:rPr lang="en-US" sz="2800" b="0" i="1" dirty="0" smtClean="0">
                        <a:latin typeface="Cambria Math" panose="02040503050406030204" pitchFamily="18" charset="0"/>
                      </a:rPr>
                      <m:t>′&lt; </m:t>
                    </m:r>
                    <m:sSup>
                      <m:sSupPr>
                        <m:ctrlPr>
                          <a:rPr lang="en-US" sz="2800" b="0" i="1" dirty="0" smtClean="0">
                            <a:latin typeface="Cambria Math" panose="02040503050406030204" pitchFamily="18" charset="0"/>
                          </a:rPr>
                        </m:ctrlPr>
                      </m:sSupPr>
                      <m:e>
                        <m:r>
                          <a:rPr lang="en-US" sz="2800" i="1" dirty="0" smtClean="0">
                            <a:latin typeface="Cambria Math" panose="02040503050406030204" pitchFamily="18" charset="0"/>
                          </a:rPr>
                          <m:t>𝐶</m:t>
                        </m:r>
                      </m:e>
                      <m:sup>
                        <m:r>
                          <a:rPr lang="en-US" sz="2800" b="0" i="1" dirty="0" smtClean="0">
                            <a:latin typeface="Cambria Math" panose="02040503050406030204" pitchFamily="18" charset="0"/>
                          </a:rPr>
                          <m:t>∗</m:t>
                        </m:r>
                      </m:sup>
                    </m:sSup>
                  </m:oMath>
                </a14:m>
                <a:r>
                  <a:rPr lang="en-US" sz="2800" dirty="0"/>
                  <a:t>.</a:t>
                </a:r>
              </a:p>
              <a:p>
                <a:pPr>
                  <a:lnSpc>
                    <a:spcPct val="120000"/>
                  </a:lnSpc>
                </a:pPr>
                <a:r>
                  <a:rPr lang="en-US" sz="2800" dirty="0"/>
                  <a:t>This proofs that </a:t>
                </a:r>
                <a14:m>
                  <m:oMath xmlns:m="http://schemas.openxmlformats.org/officeDocument/2006/math">
                    <m:sSup>
                      <m:sSupPr>
                        <m:ctrlPr>
                          <a:rPr lang="en-US" sz="2800" i="1" dirty="0">
                            <a:latin typeface="Cambria Math" panose="02040503050406030204" pitchFamily="18" charset="0"/>
                          </a:rPr>
                        </m:ctrlPr>
                      </m:sSupPr>
                      <m:e>
                        <m:r>
                          <a:rPr lang="en-US" sz="2800" i="1" dirty="0">
                            <a:latin typeface="Cambria Math" panose="02040503050406030204" pitchFamily="18" charset="0"/>
                          </a:rPr>
                          <m:t>𝑛</m:t>
                        </m:r>
                      </m:e>
                      <m:sup>
                        <m:r>
                          <a:rPr lang="en-US" sz="2800" i="1" dirty="0">
                            <a:latin typeface="Cambria Math" panose="02040503050406030204" pitchFamily="18" charset="0"/>
                          </a:rPr>
                          <m:t>∗</m:t>
                        </m:r>
                      </m:sup>
                    </m:sSup>
                  </m:oMath>
                </a14:m>
                <a:r>
                  <a:rPr lang="en-US" sz="2800" dirty="0"/>
                  <a:t> must be an optimal solution.</a:t>
                </a:r>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666750" y="4794486"/>
                <a:ext cx="7886700" cy="1758713"/>
              </a:xfrm>
              <a:blipFill>
                <a:blip r:embed="rId3"/>
                <a:stretch>
                  <a:fillRect l="-232" t="-692"/>
                </a:stretch>
              </a:blipFill>
            </p:spPr>
            <p:txBody>
              <a:bodyPr/>
              <a:lstStyle/>
              <a:p>
                <a:r>
                  <a:rPr lang="en-US">
                    <a:noFill/>
                  </a:rPr>
                  <a:t> </a:t>
                </a:r>
              </a:p>
            </p:txBody>
          </p:sp>
        </mc:Fallback>
      </mc:AlternateContent>
      <p:cxnSp>
        <p:nvCxnSpPr>
          <p:cNvPr id="6" name="Straight Connector 5"/>
          <p:cNvCxnSpPr/>
          <p:nvPr/>
        </p:nvCxnSpPr>
        <p:spPr>
          <a:xfrm rot="10800000" flipV="1">
            <a:off x="2611157" y="1383268"/>
            <a:ext cx="1447800" cy="1295400"/>
          </a:xfrm>
          <a:prstGeom prst="line">
            <a:avLst/>
          </a:prstGeom>
        </p:spPr>
        <p:style>
          <a:lnRef idx="1">
            <a:schemeClr val="accent1"/>
          </a:lnRef>
          <a:fillRef idx="0">
            <a:schemeClr val="accent1"/>
          </a:fillRef>
          <a:effectRef idx="0">
            <a:schemeClr val="accent1"/>
          </a:effectRef>
          <a:fontRef idx="minor">
            <a:schemeClr val="tx1"/>
          </a:fontRef>
        </p:style>
      </p:cxnSp>
      <p:cxnSp>
        <p:nvCxnSpPr>
          <p:cNvPr id="8" name="Straight Connector 7"/>
          <p:cNvCxnSpPr/>
          <p:nvPr/>
        </p:nvCxnSpPr>
        <p:spPr>
          <a:xfrm rot="16200000" flipH="1">
            <a:off x="4058957" y="1383268"/>
            <a:ext cx="1600200" cy="1600200"/>
          </a:xfrm>
          <a:prstGeom prst="line">
            <a:avLst/>
          </a:prstGeom>
        </p:spPr>
        <p:style>
          <a:lnRef idx="1">
            <a:schemeClr val="accent1"/>
          </a:lnRef>
          <a:fillRef idx="0">
            <a:schemeClr val="accent1"/>
          </a:fillRef>
          <a:effectRef idx="0">
            <a:schemeClr val="accent1"/>
          </a:effectRef>
          <a:fontRef idx="minor">
            <a:schemeClr val="tx1"/>
          </a:fontRef>
        </p:style>
      </p:cxnSp>
      <p:sp>
        <p:nvSpPr>
          <p:cNvPr id="9" name="Oval 8"/>
          <p:cNvSpPr/>
          <p:nvPr/>
        </p:nvSpPr>
        <p:spPr>
          <a:xfrm>
            <a:off x="5582957" y="2907268"/>
            <a:ext cx="228600" cy="228600"/>
          </a:xfrm>
          <a:prstGeom prst="ellipse">
            <a:avLst/>
          </a:prstGeom>
        </p:spPr>
        <p:style>
          <a:lnRef idx="2">
            <a:schemeClr val="accent2">
              <a:shade val="50000"/>
            </a:schemeClr>
          </a:lnRef>
          <a:fillRef idx="1">
            <a:schemeClr val="accent2"/>
          </a:fillRef>
          <a:effectRef idx="0">
            <a:schemeClr val="accent2"/>
          </a:effectRef>
          <a:fontRef idx="minor">
            <a:schemeClr val="lt1"/>
          </a:fontRef>
        </p:style>
        <p:txBody>
          <a:bodyPr rtlCol="0" anchor="ctr"/>
          <a:lstStyle/>
          <a:p>
            <a:pPr algn="ctr"/>
            <a:endParaRPr lang="en-US" sz="1600"/>
          </a:p>
        </p:txBody>
      </p:sp>
      <p:sp>
        <p:nvSpPr>
          <p:cNvPr id="10" name="TextBox 9"/>
          <p:cNvSpPr txBox="1"/>
          <p:nvPr/>
        </p:nvSpPr>
        <p:spPr>
          <a:xfrm>
            <a:off x="5257800" y="2743200"/>
            <a:ext cx="290464" cy="338554"/>
          </a:xfrm>
          <a:prstGeom prst="rect">
            <a:avLst/>
          </a:prstGeom>
          <a:noFill/>
        </p:spPr>
        <p:txBody>
          <a:bodyPr wrap="none" rtlCol="0">
            <a:spAutoFit/>
          </a:bodyPr>
          <a:lstStyle/>
          <a:p>
            <a:r>
              <a:rPr lang="en-US" sz="1600" i="1" dirty="0">
                <a:latin typeface="+mn-lt"/>
              </a:rPr>
              <a:t>n</a:t>
            </a:r>
          </a:p>
        </p:txBody>
      </p:sp>
      <p:sp>
        <p:nvSpPr>
          <p:cNvPr id="11" name="Oval 10"/>
          <p:cNvSpPr/>
          <p:nvPr/>
        </p:nvSpPr>
        <p:spPr>
          <a:xfrm>
            <a:off x="2534957" y="2526268"/>
            <a:ext cx="228600" cy="228600"/>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600"/>
          </a:p>
        </p:txBody>
      </p:sp>
      <p:sp>
        <p:nvSpPr>
          <p:cNvPr id="12" name="TextBox 11"/>
          <p:cNvSpPr txBox="1"/>
          <p:nvPr/>
        </p:nvSpPr>
        <p:spPr>
          <a:xfrm>
            <a:off x="2839757" y="2450068"/>
            <a:ext cx="913648" cy="338554"/>
          </a:xfrm>
          <a:prstGeom prst="rect">
            <a:avLst/>
          </a:prstGeom>
          <a:noFill/>
        </p:spPr>
        <p:txBody>
          <a:bodyPr wrap="none" rtlCol="0">
            <a:spAutoFit/>
          </a:bodyPr>
          <a:lstStyle/>
          <a:p>
            <a:r>
              <a:rPr lang="en-US" sz="1600" i="1" dirty="0">
                <a:latin typeface="+mn-lt"/>
              </a:rPr>
              <a:t>n</a:t>
            </a:r>
            <a:r>
              <a:rPr lang="en-US" sz="1600" dirty="0">
                <a:latin typeface="+mn-lt"/>
              </a:rPr>
              <a:t>* (goal)</a:t>
            </a:r>
          </a:p>
        </p:txBody>
      </p:sp>
      <mc:AlternateContent xmlns:mc="http://schemas.openxmlformats.org/markup-compatibility/2006" xmlns:a14="http://schemas.microsoft.com/office/drawing/2010/main">
        <mc:Choice Requires="a14">
          <p:sp>
            <p:nvSpPr>
              <p:cNvPr id="15" name="Rectangle 14"/>
              <p:cNvSpPr/>
              <p:nvPr/>
            </p:nvSpPr>
            <p:spPr>
              <a:xfrm>
                <a:off x="1455484" y="2806899"/>
                <a:ext cx="2553841" cy="338554"/>
              </a:xfrm>
              <a:prstGeom prst="rect">
                <a:avLst/>
              </a:prstGeom>
            </p:spPr>
            <p:txBody>
              <a:bodyPr wrap="none">
                <a:spAutoFit/>
              </a:bodyPr>
              <a:lstStyle/>
              <a:p>
                <a:pPr/>
                <a14:m>
                  <m:oMathPara xmlns:m="http://schemas.openxmlformats.org/officeDocument/2006/math">
                    <m:oMathParaPr>
                      <m:jc m:val="centerGroup"/>
                    </m:oMathParaPr>
                    <m:oMath xmlns:m="http://schemas.openxmlformats.org/officeDocument/2006/math">
                      <m:sSup>
                        <m:sSupPr>
                          <m:ctrlPr>
                            <a:rPr lang="en-US" sz="1600" i="1" dirty="0" smtClean="0">
                              <a:latin typeface="Cambria Math" panose="02040503050406030204" pitchFamily="18" charset="0"/>
                            </a:rPr>
                          </m:ctrlPr>
                        </m:sSupPr>
                        <m:e>
                          <m:r>
                            <a:rPr lang="en-US" sz="1600" i="1" dirty="0">
                              <a:latin typeface="Cambria Math" panose="02040503050406030204" pitchFamily="18" charset="0"/>
                            </a:rPr>
                            <m:t>𝐶</m:t>
                          </m:r>
                        </m:e>
                        <m:sup>
                          <m:r>
                            <a:rPr lang="en-US" sz="1600" i="1" dirty="0">
                              <a:latin typeface="Cambria Math" panose="02040503050406030204" pitchFamily="18" charset="0"/>
                            </a:rPr>
                            <m:t>∗</m:t>
                          </m:r>
                        </m:sup>
                      </m:sSup>
                      <m:r>
                        <a:rPr lang="en-US" sz="1600" b="0" i="1" dirty="0" smtClean="0">
                          <a:latin typeface="Cambria Math" panose="02040503050406030204" pitchFamily="18" charset="0"/>
                        </a:rPr>
                        <m:t>=</m:t>
                      </m:r>
                      <m:r>
                        <a:rPr lang="en-US" sz="1600" i="1" dirty="0" smtClean="0">
                          <a:latin typeface="Cambria Math" panose="02040503050406030204" pitchFamily="18" charset="0"/>
                        </a:rPr>
                        <m:t>𝑓</m:t>
                      </m:r>
                      <m:r>
                        <a:rPr lang="en-US" sz="1600" i="1" dirty="0" smtClean="0">
                          <a:latin typeface="Cambria Math" panose="02040503050406030204" pitchFamily="18" charset="0"/>
                        </a:rPr>
                        <m:t>(</m:t>
                      </m:r>
                      <m:sSup>
                        <m:sSupPr>
                          <m:ctrlPr>
                            <a:rPr lang="en-US" sz="1600" b="0" i="1" dirty="0" smtClean="0">
                              <a:latin typeface="Cambria Math" panose="02040503050406030204" pitchFamily="18" charset="0"/>
                            </a:rPr>
                          </m:ctrlPr>
                        </m:sSupPr>
                        <m:e>
                          <m:r>
                            <a:rPr lang="en-US" sz="1600" i="1" dirty="0" smtClean="0">
                              <a:latin typeface="Cambria Math" panose="02040503050406030204" pitchFamily="18" charset="0"/>
                            </a:rPr>
                            <m:t>𝑛</m:t>
                          </m:r>
                        </m:e>
                        <m:sup>
                          <m:r>
                            <a:rPr lang="en-US" sz="1600" b="0" i="1" dirty="0" smtClean="0">
                              <a:latin typeface="Cambria Math" panose="02040503050406030204" pitchFamily="18" charset="0"/>
                            </a:rPr>
                            <m:t>∗</m:t>
                          </m:r>
                        </m:sup>
                      </m:sSup>
                      <m:r>
                        <a:rPr lang="en-US" sz="1600" i="1" dirty="0" smtClean="0">
                          <a:latin typeface="Cambria Math" panose="02040503050406030204" pitchFamily="18" charset="0"/>
                        </a:rPr>
                        <m:t>) = </m:t>
                      </m:r>
                      <m:r>
                        <a:rPr lang="en-US" sz="1600" i="1" dirty="0" smtClean="0">
                          <a:latin typeface="Cambria Math" panose="02040503050406030204" pitchFamily="18" charset="0"/>
                        </a:rPr>
                        <m:t>𝑔</m:t>
                      </m:r>
                      <m:r>
                        <a:rPr lang="en-US" sz="1600" i="1" dirty="0" smtClean="0">
                          <a:latin typeface="Cambria Math" panose="02040503050406030204" pitchFamily="18" charset="0"/>
                        </a:rPr>
                        <m:t>(</m:t>
                      </m:r>
                      <m:sSup>
                        <m:sSupPr>
                          <m:ctrlPr>
                            <a:rPr lang="en-US" sz="1600" b="0" i="1" dirty="0" smtClean="0">
                              <a:latin typeface="Cambria Math" panose="02040503050406030204" pitchFamily="18" charset="0"/>
                            </a:rPr>
                          </m:ctrlPr>
                        </m:sSupPr>
                        <m:e>
                          <m:r>
                            <a:rPr lang="en-US" sz="1600" b="0" i="1" dirty="0" smtClean="0">
                              <a:latin typeface="Cambria Math" panose="02040503050406030204" pitchFamily="18" charset="0"/>
                            </a:rPr>
                            <m:t>𝑛</m:t>
                          </m:r>
                        </m:e>
                        <m:sup>
                          <m:r>
                            <a:rPr lang="en-US" sz="1600" b="0" i="1" dirty="0" smtClean="0">
                              <a:latin typeface="Cambria Math" panose="02040503050406030204" pitchFamily="18" charset="0"/>
                            </a:rPr>
                            <m:t>∗</m:t>
                          </m:r>
                        </m:sup>
                      </m:sSup>
                      <m:r>
                        <a:rPr lang="en-US" sz="1600" i="1" dirty="0" smtClean="0">
                          <a:latin typeface="Cambria Math" panose="02040503050406030204" pitchFamily="18" charset="0"/>
                        </a:rPr>
                        <m:t>) + 0 </m:t>
                      </m:r>
                    </m:oMath>
                  </m:oMathPara>
                </a14:m>
                <a:endParaRPr lang="en-US" sz="1600" dirty="0"/>
              </a:p>
            </p:txBody>
          </p:sp>
        </mc:Choice>
        <mc:Fallback xmlns="">
          <p:sp>
            <p:nvSpPr>
              <p:cNvPr id="15" name="Rectangle 14"/>
              <p:cNvSpPr>
                <a:spLocks noRot="1" noChangeAspect="1" noMove="1" noResize="1" noEditPoints="1" noAdjustHandles="1" noChangeArrowheads="1" noChangeShapeType="1" noTextEdit="1"/>
              </p:cNvSpPr>
              <p:nvPr/>
            </p:nvSpPr>
            <p:spPr>
              <a:xfrm>
                <a:off x="1455484" y="2806899"/>
                <a:ext cx="2553841" cy="338554"/>
              </a:xfrm>
              <a:prstGeom prst="rect">
                <a:avLst/>
              </a:prstGeom>
              <a:blipFill>
                <a:blip r:embed="rId4"/>
                <a:stretch>
                  <a:fillRect b="-8929"/>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6" name="Rectangle 15"/>
              <p:cNvSpPr/>
              <p:nvPr/>
            </p:nvSpPr>
            <p:spPr>
              <a:xfrm>
                <a:off x="5905796" y="2894699"/>
                <a:ext cx="1577034" cy="338554"/>
              </a:xfrm>
              <a:prstGeom prst="rect">
                <a:avLst/>
              </a:prstGeom>
            </p:spPr>
            <p:txBody>
              <a:bodyPr wrap="none">
                <a:spAutoFit/>
              </a:bodyPr>
              <a:lstStyle/>
              <a:p>
                <a:pPr/>
                <a14:m>
                  <m:oMathPara xmlns:m="http://schemas.openxmlformats.org/officeDocument/2006/math">
                    <m:oMathParaPr>
                      <m:jc m:val="centerGroup"/>
                    </m:oMathParaPr>
                    <m:oMath xmlns:m="http://schemas.openxmlformats.org/officeDocument/2006/math">
                      <m:r>
                        <a:rPr lang="en-US" sz="1600" i="1" dirty="0" smtClean="0">
                          <a:latin typeface="Cambria Math" panose="02040503050406030204" pitchFamily="18" charset="0"/>
                        </a:rPr>
                        <m:t>𝑓</m:t>
                      </m:r>
                      <m:d>
                        <m:dPr>
                          <m:ctrlPr>
                            <a:rPr lang="en-US" sz="1600" i="1" dirty="0" smtClean="0">
                              <a:latin typeface="Cambria Math" panose="02040503050406030204" pitchFamily="18" charset="0"/>
                            </a:rPr>
                          </m:ctrlPr>
                        </m:dPr>
                        <m:e>
                          <m:r>
                            <a:rPr lang="en-US" sz="1600" i="1" dirty="0" smtClean="0">
                              <a:latin typeface="Cambria Math" panose="02040503050406030204" pitchFamily="18" charset="0"/>
                            </a:rPr>
                            <m:t>𝑛</m:t>
                          </m:r>
                        </m:e>
                      </m:d>
                      <m:r>
                        <a:rPr lang="en-US" sz="1600" b="0" i="1" dirty="0" smtClean="0">
                          <a:latin typeface="Cambria Math" panose="02040503050406030204" pitchFamily="18" charset="0"/>
                        </a:rPr>
                        <m:t>≥</m:t>
                      </m:r>
                      <m:r>
                        <a:rPr lang="en-US" sz="1600" i="1" dirty="0" smtClean="0">
                          <a:latin typeface="Cambria Math" panose="02040503050406030204" pitchFamily="18" charset="0"/>
                        </a:rPr>
                        <m:t>  </m:t>
                      </m:r>
                      <m:r>
                        <a:rPr lang="en-US" sz="1600" b="0" i="1" dirty="0" smtClean="0">
                          <a:latin typeface="Cambria Math" panose="02040503050406030204" pitchFamily="18" charset="0"/>
                          <a:sym typeface="Symbol"/>
                        </a:rPr>
                        <m:t>𝑓</m:t>
                      </m:r>
                      <m:r>
                        <a:rPr lang="en-US" sz="1600" b="0" i="1" dirty="0" smtClean="0">
                          <a:latin typeface="Cambria Math" panose="02040503050406030204" pitchFamily="18" charset="0"/>
                          <a:sym typeface="Symbol"/>
                        </a:rPr>
                        <m:t>(</m:t>
                      </m:r>
                      <m:sSup>
                        <m:sSupPr>
                          <m:ctrlPr>
                            <a:rPr lang="en-US" sz="1600" b="0" i="1" dirty="0" smtClean="0">
                              <a:latin typeface="Cambria Math" panose="02040503050406030204" pitchFamily="18" charset="0"/>
                              <a:sym typeface="Symbol"/>
                            </a:rPr>
                          </m:ctrlPr>
                        </m:sSupPr>
                        <m:e>
                          <m:r>
                            <a:rPr lang="en-US" sz="1600" b="0" i="1" dirty="0" smtClean="0">
                              <a:latin typeface="Cambria Math" panose="02040503050406030204" pitchFamily="18" charset="0"/>
                              <a:sym typeface="Symbol"/>
                            </a:rPr>
                            <m:t>𝑛</m:t>
                          </m:r>
                        </m:e>
                        <m:sup>
                          <m:r>
                            <a:rPr lang="en-US" sz="1600" b="0" i="1" dirty="0" smtClean="0">
                              <a:latin typeface="Cambria Math" panose="02040503050406030204" pitchFamily="18" charset="0"/>
                              <a:sym typeface="Symbol"/>
                            </a:rPr>
                            <m:t>∗</m:t>
                          </m:r>
                        </m:sup>
                      </m:sSup>
                      <m:r>
                        <a:rPr lang="en-US" sz="1600" b="0" i="1" dirty="0" smtClean="0">
                          <a:latin typeface="Cambria Math" panose="02040503050406030204" pitchFamily="18" charset="0"/>
                          <a:sym typeface="Symbol"/>
                        </a:rPr>
                        <m:t>)</m:t>
                      </m:r>
                      <m:r>
                        <a:rPr lang="en-US" sz="1600" i="1" dirty="0">
                          <a:latin typeface="Cambria Math" panose="02040503050406030204" pitchFamily="18" charset="0"/>
                        </a:rPr>
                        <m:t> </m:t>
                      </m:r>
                    </m:oMath>
                  </m:oMathPara>
                </a14:m>
                <a:endParaRPr lang="en-US" sz="1600" dirty="0"/>
              </a:p>
            </p:txBody>
          </p:sp>
        </mc:Choice>
        <mc:Fallback xmlns="">
          <p:sp>
            <p:nvSpPr>
              <p:cNvPr id="16" name="Rectangle 15"/>
              <p:cNvSpPr>
                <a:spLocks noRot="1" noChangeAspect="1" noMove="1" noResize="1" noEditPoints="1" noAdjustHandles="1" noChangeArrowheads="1" noChangeShapeType="1" noTextEdit="1"/>
              </p:cNvSpPr>
              <p:nvPr/>
            </p:nvSpPr>
            <p:spPr>
              <a:xfrm>
                <a:off x="5905796" y="2894699"/>
                <a:ext cx="1577034" cy="338554"/>
              </a:xfrm>
              <a:prstGeom prst="rect">
                <a:avLst/>
              </a:prstGeom>
              <a:blipFill>
                <a:blip r:embed="rId5"/>
                <a:stretch>
                  <a:fillRect b="-10909"/>
                </a:stretch>
              </a:blipFill>
            </p:spPr>
            <p:txBody>
              <a:bodyPr/>
              <a:lstStyle/>
              <a:p>
                <a:r>
                  <a:rPr lang="en-US">
                    <a:noFill/>
                  </a:rPr>
                  <a:t> </a:t>
                </a:r>
              </a:p>
            </p:txBody>
          </p:sp>
        </mc:Fallback>
      </mc:AlternateContent>
      <p:cxnSp>
        <p:nvCxnSpPr>
          <p:cNvPr id="18" name="Straight Connector 17"/>
          <p:cNvCxnSpPr>
            <a:stCxn id="9" idx="5"/>
          </p:cNvCxnSpPr>
          <p:nvPr/>
        </p:nvCxnSpPr>
        <p:spPr>
          <a:xfrm rot="16200000" flipH="1">
            <a:off x="5778079" y="3102390"/>
            <a:ext cx="643078" cy="643078"/>
          </a:xfrm>
          <a:prstGeom prst="line">
            <a:avLst/>
          </a:prstGeom>
          <a:ln>
            <a:prstDash val="dash"/>
          </a:ln>
        </p:spPr>
        <p:style>
          <a:lnRef idx="1">
            <a:schemeClr val="accent1"/>
          </a:lnRef>
          <a:fillRef idx="0">
            <a:schemeClr val="accent1"/>
          </a:fillRef>
          <a:effectRef idx="0">
            <a:schemeClr val="accent1"/>
          </a:effectRef>
          <a:fontRef idx="minor">
            <a:schemeClr val="tx1"/>
          </a:fontRef>
        </p:style>
      </p:cxnSp>
      <p:sp>
        <p:nvSpPr>
          <p:cNvPr id="20" name="Oval 19"/>
          <p:cNvSpPr/>
          <p:nvPr/>
        </p:nvSpPr>
        <p:spPr>
          <a:xfrm>
            <a:off x="6344957" y="3669268"/>
            <a:ext cx="228600" cy="228600"/>
          </a:xfrm>
          <a:prstGeom prst="ellipse">
            <a:avLst/>
          </a:prstGeom>
        </p:spPr>
        <p:style>
          <a:lnRef idx="2">
            <a:schemeClr val="dk1"/>
          </a:lnRef>
          <a:fillRef idx="1">
            <a:schemeClr val="lt1"/>
          </a:fillRef>
          <a:effectRef idx="0">
            <a:schemeClr val="dk1"/>
          </a:effectRef>
          <a:fontRef idx="minor">
            <a:schemeClr val="dk1"/>
          </a:fontRef>
        </p:style>
        <p:txBody>
          <a:bodyPr rtlCol="0" anchor="ctr"/>
          <a:lstStyle/>
          <a:p>
            <a:pPr algn="ctr"/>
            <a:endParaRPr lang="en-US" sz="1600"/>
          </a:p>
        </p:txBody>
      </p:sp>
      <p:sp>
        <p:nvSpPr>
          <p:cNvPr id="21" name="TextBox 20"/>
          <p:cNvSpPr txBox="1"/>
          <p:nvPr/>
        </p:nvSpPr>
        <p:spPr>
          <a:xfrm>
            <a:off x="4983660" y="3623445"/>
            <a:ext cx="1372492" cy="338554"/>
          </a:xfrm>
          <a:prstGeom prst="rect">
            <a:avLst/>
          </a:prstGeom>
          <a:noFill/>
        </p:spPr>
        <p:txBody>
          <a:bodyPr wrap="none" rtlCol="0">
            <a:spAutoFit/>
          </a:bodyPr>
          <a:lstStyle/>
          <a:p>
            <a:r>
              <a:rPr lang="en-US" sz="1600" i="1" dirty="0">
                <a:latin typeface="+mn-lt"/>
              </a:rPr>
              <a:t>n’ (other goal)</a:t>
            </a:r>
            <a:endParaRPr lang="en-US" sz="1600" dirty="0">
              <a:latin typeface="+mn-lt"/>
            </a:endParaRPr>
          </a:p>
        </p:txBody>
      </p:sp>
      <mc:AlternateContent xmlns:mc="http://schemas.openxmlformats.org/markup-compatibility/2006" xmlns:a14="http://schemas.microsoft.com/office/drawing/2010/main">
        <mc:Choice Requires="a14">
          <p:sp>
            <p:nvSpPr>
              <p:cNvPr id="23" name="Rectangle 22"/>
              <p:cNvSpPr/>
              <p:nvPr/>
            </p:nvSpPr>
            <p:spPr>
              <a:xfrm>
                <a:off x="5403032" y="3979804"/>
                <a:ext cx="2932726" cy="338554"/>
              </a:xfrm>
              <a:prstGeom prst="rect">
                <a:avLst/>
              </a:prstGeom>
            </p:spPr>
            <p:txBody>
              <a:bodyPr wrap="none">
                <a:spAutoFit/>
              </a:bodyPr>
              <a:lstStyle/>
              <a:p>
                <a:pPr/>
                <a14:m>
                  <m:oMathPara xmlns:m="http://schemas.openxmlformats.org/officeDocument/2006/math">
                    <m:oMathParaPr>
                      <m:jc m:val="centerGroup"/>
                    </m:oMathParaPr>
                    <m:oMath xmlns:m="http://schemas.openxmlformats.org/officeDocument/2006/math">
                      <m:r>
                        <a:rPr lang="en-US" sz="1600" i="1" dirty="0" smtClean="0">
                          <a:latin typeface="Cambria Math" panose="02040503050406030204" pitchFamily="18" charset="0"/>
                        </a:rPr>
                        <m:t>𝑔</m:t>
                      </m:r>
                      <m:d>
                        <m:dPr>
                          <m:ctrlPr>
                            <a:rPr lang="en-US" sz="1600" i="1" dirty="0" smtClean="0">
                              <a:latin typeface="Cambria Math" panose="02040503050406030204" pitchFamily="18" charset="0"/>
                            </a:rPr>
                          </m:ctrlPr>
                        </m:dPr>
                        <m:e>
                          <m:sSup>
                            <m:sSupPr>
                              <m:ctrlPr>
                                <a:rPr lang="en-US" sz="1600" i="1" dirty="0" smtClean="0">
                                  <a:latin typeface="Cambria Math" panose="02040503050406030204" pitchFamily="18" charset="0"/>
                                </a:rPr>
                              </m:ctrlPr>
                            </m:sSupPr>
                            <m:e>
                              <m:r>
                                <a:rPr lang="en-US" sz="1600" i="1" dirty="0" smtClean="0">
                                  <a:latin typeface="Cambria Math" panose="02040503050406030204" pitchFamily="18" charset="0"/>
                                </a:rPr>
                                <m:t>𝑛</m:t>
                              </m:r>
                            </m:e>
                            <m:sup>
                              <m:r>
                                <a:rPr lang="en-US" sz="1600" i="1" dirty="0" smtClean="0">
                                  <a:latin typeface="Cambria Math" panose="02040503050406030204" pitchFamily="18" charset="0"/>
                                </a:rPr>
                                <m:t>′</m:t>
                              </m:r>
                            </m:sup>
                          </m:sSup>
                        </m:e>
                      </m:d>
                      <m:r>
                        <a:rPr lang="en-US" sz="1600" b="0" i="1" dirty="0" smtClean="0">
                          <a:latin typeface="Cambria Math" panose="02040503050406030204" pitchFamily="18" charset="0"/>
                        </a:rPr>
                        <m:t>≥ </m:t>
                      </m:r>
                      <m:r>
                        <a:rPr lang="en-US" sz="1600" i="1" dirty="0" smtClean="0">
                          <a:latin typeface="Cambria Math" panose="02040503050406030204" pitchFamily="18" charset="0"/>
                        </a:rPr>
                        <m:t> </m:t>
                      </m:r>
                      <m:r>
                        <a:rPr lang="en-US" sz="1600" i="1" dirty="0">
                          <a:latin typeface="Cambria Math" panose="02040503050406030204" pitchFamily="18" charset="0"/>
                        </a:rPr>
                        <m:t>𝑓</m:t>
                      </m:r>
                      <m:d>
                        <m:dPr>
                          <m:ctrlPr>
                            <a:rPr lang="en-US" sz="1600" i="1" dirty="0">
                              <a:latin typeface="Cambria Math" panose="02040503050406030204" pitchFamily="18" charset="0"/>
                            </a:rPr>
                          </m:ctrlPr>
                        </m:dPr>
                        <m:e>
                          <m:r>
                            <a:rPr lang="en-US" sz="1600" i="1" dirty="0">
                              <a:latin typeface="Cambria Math" panose="02040503050406030204" pitchFamily="18" charset="0"/>
                            </a:rPr>
                            <m:t>𝑛</m:t>
                          </m:r>
                        </m:e>
                      </m:d>
                      <m:r>
                        <a:rPr lang="en-US" sz="1600" i="1" dirty="0">
                          <a:latin typeface="Cambria Math" panose="02040503050406030204" pitchFamily="18" charset="0"/>
                          <a:ea typeface="Cambria Math" panose="02040503050406030204" pitchFamily="18" charset="0"/>
                        </a:rPr>
                        <m:t>⟺</m:t>
                      </m:r>
                      <m:r>
                        <a:rPr lang="en-US" sz="1600" i="1" dirty="0">
                          <a:latin typeface="Cambria Math" panose="02040503050406030204" pitchFamily="18" charset="0"/>
                        </a:rPr>
                        <m:t>𝑔</m:t>
                      </m:r>
                      <m:d>
                        <m:dPr>
                          <m:ctrlPr>
                            <a:rPr lang="en-US" sz="1600" i="1" dirty="0">
                              <a:latin typeface="Cambria Math" panose="02040503050406030204" pitchFamily="18" charset="0"/>
                            </a:rPr>
                          </m:ctrlPr>
                        </m:dPr>
                        <m:e>
                          <m:sSup>
                            <m:sSupPr>
                              <m:ctrlPr>
                                <a:rPr lang="en-US" sz="1600" i="1" dirty="0">
                                  <a:latin typeface="Cambria Math" panose="02040503050406030204" pitchFamily="18" charset="0"/>
                                </a:rPr>
                              </m:ctrlPr>
                            </m:sSupPr>
                            <m:e>
                              <m:r>
                                <a:rPr lang="en-US" sz="1600" i="1" dirty="0">
                                  <a:latin typeface="Cambria Math" panose="02040503050406030204" pitchFamily="18" charset="0"/>
                                </a:rPr>
                                <m:t>𝑛</m:t>
                              </m:r>
                            </m:e>
                            <m:sup>
                              <m:r>
                                <a:rPr lang="en-US" sz="1600" i="1" dirty="0">
                                  <a:latin typeface="Cambria Math" panose="02040503050406030204" pitchFamily="18" charset="0"/>
                                </a:rPr>
                                <m:t>′</m:t>
                              </m:r>
                            </m:sup>
                          </m:sSup>
                        </m:e>
                      </m:d>
                      <m:r>
                        <a:rPr lang="en-US" sz="1600" b="0" i="1" dirty="0" smtClean="0">
                          <a:latin typeface="Cambria Math" panose="02040503050406030204" pitchFamily="18" charset="0"/>
                        </a:rPr>
                        <m:t>≥</m:t>
                      </m:r>
                      <m:r>
                        <a:rPr lang="en-US" sz="1600" i="1" dirty="0">
                          <a:latin typeface="Cambria Math" panose="02040503050406030204" pitchFamily="18" charset="0"/>
                        </a:rPr>
                        <m:t> </m:t>
                      </m:r>
                      <m:sSup>
                        <m:sSupPr>
                          <m:ctrlPr>
                            <a:rPr lang="en-US" sz="1600" b="0" i="1" dirty="0" smtClean="0">
                              <a:latin typeface="Cambria Math" panose="02040503050406030204" pitchFamily="18" charset="0"/>
                              <a:sym typeface="Symbol"/>
                            </a:rPr>
                          </m:ctrlPr>
                        </m:sSupPr>
                        <m:e>
                          <m:r>
                            <a:rPr lang="en-US" sz="1600" i="1" dirty="0">
                              <a:latin typeface="Cambria Math" panose="02040503050406030204" pitchFamily="18" charset="0"/>
                            </a:rPr>
                            <m:t>𝐶</m:t>
                          </m:r>
                        </m:e>
                        <m:sup>
                          <m:r>
                            <a:rPr lang="en-US" sz="1600" b="0" i="1" dirty="0" smtClean="0">
                              <a:latin typeface="Cambria Math" panose="02040503050406030204" pitchFamily="18" charset="0"/>
                            </a:rPr>
                            <m:t>∗</m:t>
                          </m:r>
                        </m:sup>
                      </m:sSup>
                      <m:r>
                        <a:rPr lang="en-US" sz="1600" i="1" dirty="0">
                          <a:latin typeface="Cambria Math" panose="02040503050406030204" pitchFamily="18" charset="0"/>
                        </a:rPr>
                        <m:t> </m:t>
                      </m:r>
                    </m:oMath>
                  </m:oMathPara>
                </a14:m>
                <a:endParaRPr lang="en-US" sz="1600" dirty="0"/>
              </a:p>
            </p:txBody>
          </p:sp>
        </mc:Choice>
        <mc:Fallback xmlns="">
          <p:sp>
            <p:nvSpPr>
              <p:cNvPr id="23" name="Rectangle 22"/>
              <p:cNvSpPr>
                <a:spLocks noRot="1" noChangeAspect="1" noMove="1" noResize="1" noEditPoints="1" noAdjustHandles="1" noChangeArrowheads="1" noChangeShapeType="1" noTextEdit="1"/>
              </p:cNvSpPr>
              <p:nvPr/>
            </p:nvSpPr>
            <p:spPr>
              <a:xfrm>
                <a:off x="5403032" y="3979804"/>
                <a:ext cx="2932726" cy="338554"/>
              </a:xfrm>
              <a:prstGeom prst="rect">
                <a:avLst/>
              </a:prstGeom>
              <a:blipFill>
                <a:blip r:embed="rId6"/>
                <a:stretch>
                  <a:fillRect b="-10909"/>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7" name="Rectangle 16">
                <a:extLst>
                  <a:ext uri="{FF2B5EF4-FFF2-40B4-BE49-F238E27FC236}">
                    <a16:creationId xmlns:a16="http://schemas.microsoft.com/office/drawing/2014/main" id="{356A35BE-A8E7-45DA-8EFF-A8AA655CE1F8}"/>
                  </a:ext>
                </a:extLst>
              </p:cNvPr>
              <p:cNvSpPr/>
              <p:nvPr/>
            </p:nvSpPr>
            <p:spPr>
              <a:xfrm>
                <a:off x="6252545" y="843241"/>
                <a:ext cx="1914114" cy="307777"/>
              </a:xfrm>
              <a:prstGeom prst="rect">
                <a:avLst/>
              </a:prstGeom>
            </p:spPr>
            <p:txBody>
              <a:bodyPr wrap="none">
                <a:spAutoFit/>
              </a:bodyPr>
              <a:lstStyle/>
              <a:p>
                <a:pPr/>
                <a14:m>
                  <m:oMathPara xmlns:m="http://schemas.openxmlformats.org/officeDocument/2006/math">
                    <m:oMathParaPr>
                      <m:jc m:val="centerGroup"/>
                    </m:oMathParaPr>
                    <m:oMath xmlns:m="http://schemas.openxmlformats.org/officeDocument/2006/math">
                      <m:r>
                        <a:rPr lang="en-US" sz="1400" i="1" dirty="0" smtClean="0">
                          <a:latin typeface="Cambria Math" panose="02040503050406030204" pitchFamily="18" charset="0"/>
                        </a:rPr>
                        <m:t>𝑓</m:t>
                      </m:r>
                      <m:r>
                        <a:rPr lang="en-US" sz="1400" i="1" dirty="0" smtClean="0">
                          <a:latin typeface="Cambria Math" panose="02040503050406030204" pitchFamily="18" charset="0"/>
                        </a:rPr>
                        <m:t>(</m:t>
                      </m:r>
                      <m:r>
                        <a:rPr lang="en-US" sz="1400" i="1" dirty="0" smtClean="0">
                          <a:latin typeface="Cambria Math" panose="02040503050406030204" pitchFamily="18" charset="0"/>
                        </a:rPr>
                        <m:t>𝑛</m:t>
                      </m:r>
                      <m:r>
                        <a:rPr lang="en-US" sz="1400" i="1" dirty="0" smtClean="0">
                          <a:latin typeface="Cambria Math" panose="02040503050406030204" pitchFamily="18" charset="0"/>
                        </a:rPr>
                        <m:t>) = </m:t>
                      </m:r>
                      <m:r>
                        <a:rPr lang="en-US" sz="1400" i="1" dirty="0" smtClean="0">
                          <a:latin typeface="Cambria Math" panose="02040503050406030204" pitchFamily="18" charset="0"/>
                        </a:rPr>
                        <m:t>𝑔</m:t>
                      </m:r>
                      <m:r>
                        <a:rPr lang="en-US" sz="1400" i="1" dirty="0" smtClean="0">
                          <a:latin typeface="Cambria Math" panose="02040503050406030204" pitchFamily="18" charset="0"/>
                        </a:rPr>
                        <m:t>(</m:t>
                      </m:r>
                      <m:r>
                        <a:rPr lang="en-US" sz="1400" i="1" dirty="0" smtClean="0">
                          <a:latin typeface="Cambria Math" panose="02040503050406030204" pitchFamily="18" charset="0"/>
                        </a:rPr>
                        <m:t>𝑛</m:t>
                      </m:r>
                      <m:r>
                        <a:rPr lang="en-US" sz="1400" i="1" dirty="0" smtClean="0">
                          <a:latin typeface="Cambria Math" panose="02040503050406030204" pitchFamily="18" charset="0"/>
                        </a:rPr>
                        <m:t>) + </m:t>
                      </m:r>
                      <m:r>
                        <a:rPr lang="en-US" sz="1400" i="1" dirty="0" smtClean="0">
                          <a:latin typeface="Cambria Math" panose="02040503050406030204" pitchFamily="18" charset="0"/>
                        </a:rPr>
                        <m:t>h</m:t>
                      </m:r>
                      <m:r>
                        <a:rPr lang="en-US" sz="1400" i="1" dirty="0" smtClean="0">
                          <a:latin typeface="Cambria Math" panose="02040503050406030204" pitchFamily="18" charset="0"/>
                        </a:rPr>
                        <m:t>(</m:t>
                      </m:r>
                      <m:r>
                        <a:rPr lang="en-US" sz="1400" i="1" dirty="0" smtClean="0">
                          <a:latin typeface="Cambria Math" panose="02040503050406030204" pitchFamily="18" charset="0"/>
                        </a:rPr>
                        <m:t>𝑛</m:t>
                      </m:r>
                      <m:r>
                        <a:rPr lang="en-US" sz="1400" i="1" dirty="0" smtClean="0">
                          <a:latin typeface="Cambria Math" panose="02040503050406030204" pitchFamily="18" charset="0"/>
                        </a:rPr>
                        <m:t>)</m:t>
                      </m:r>
                    </m:oMath>
                  </m:oMathPara>
                </a14:m>
                <a:endParaRPr lang="en-US" sz="1400" dirty="0"/>
              </a:p>
            </p:txBody>
          </p:sp>
        </mc:Choice>
        <mc:Fallback xmlns="">
          <p:sp>
            <p:nvSpPr>
              <p:cNvPr id="17" name="Rectangle 16">
                <a:extLst>
                  <a:ext uri="{FF2B5EF4-FFF2-40B4-BE49-F238E27FC236}">
                    <a16:creationId xmlns:a16="http://schemas.microsoft.com/office/drawing/2014/main" id="{356A35BE-A8E7-45DA-8EFF-A8AA655CE1F8}"/>
                  </a:ext>
                </a:extLst>
              </p:cNvPr>
              <p:cNvSpPr>
                <a:spLocks noRot="1" noChangeAspect="1" noMove="1" noResize="1" noEditPoints="1" noAdjustHandles="1" noChangeArrowheads="1" noChangeShapeType="1" noTextEdit="1"/>
              </p:cNvSpPr>
              <p:nvPr/>
            </p:nvSpPr>
            <p:spPr>
              <a:xfrm>
                <a:off x="6252545" y="843241"/>
                <a:ext cx="1914114" cy="307777"/>
              </a:xfrm>
              <a:prstGeom prst="rect">
                <a:avLst/>
              </a:prstGeom>
              <a:blipFill>
                <a:blip r:embed="rId7"/>
                <a:stretch>
                  <a:fillRect b="-5882"/>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9" name="TextBox 18">
                <a:extLst>
                  <a:ext uri="{FF2B5EF4-FFF2-40B4-BE49-F238E27FC236}">
                    <a16:creationId xmlns:a16="http://schemas.microsoft.com/office/drawing/2014/main" id="{A7159086-AB07-4054-9B2F-7B26EEA586BE}"/>
                  </a:ext>
                </a:extLst>
              </p:cNvPr>
              <p:cNvSpPr txBox="1"/>
              <p:nvPr/>
            </p:nvSpPr>
            <p:spPr>
              <a:xfrm>
                <a:off x="5798721" y="1185494"/>
                <a:ext cx="2596550" cy="307777"/>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en-US" sz="1400" i="1" dirty="0" smtClean="0">
                          <a:latin typeface="Cambria Math" panose="02040503050406030204" pitchFamily="18" charset="0"/>
                        </a:rPr>
                        <m:t>𝑓</m:t>
                      </m:r>
                      <m:r>
                        <a:rPr lang="en-US" sz="1400" i="1" dirty="0" smtClean="0">
                          <a:latin typeface="Cambria Math" panose="02040503050406030204" pitchFamily="18" charset="0"/>
                        </a:rPr>
                        <m:t>(</m:t>
                      </m:r>
                      <m:sSup>
                        <m:sSupPr>
                          <m:ctrlPr>
                            <a:rPr lang="en-US" sz="1400" b="0" i="1" dirty="0" smtClean="0">
                              <a:latin typeface="Cambria Math" panose="02040503050406030204" pitchFamily="18" charset="0"/>
                            </a:rPr>
                          </m:ctrlPr>
                        </m:sSupPr>
                        <m:e>
                          <m:r>
                            <a:rPr lang="en-US" sz="1400" i="1" dirty="0" smtClean="0">
                              <a:latin typeface="Cambria Math" panose="02040503050406030204" pitchFamily="18" charset="0"/>
                            </a:rPr>
                            <m:t>𝑛</m:t>
                          </m:r>
                        </m:e>
                        <m:sup>
                          <m:r>
                            <a:rPr lang="en-US" sz="1400" b="0" i="1" dirty="0" smtClean="0">
                              <a:latin typeface="Cambria Math" panose="02040503050406030204" pitchFamily="18" charset="0"/>
                            </a:rPr>
                            <m:t>∗</m:t>
                          </m:r>
                        </m:sup>
                      </m:sSup>
                      <m:r>
                        <a:rPr lang="en-US" sz="1400" i="1" dirty="0" smtClean="0">
                          <a:latin typeface="Cambria Math" panose="02040503050406030204" pitchFamily="18" charset="0"/>
                        </a:rPr>
                        <m:t>) = </m:t>
                      </m:r>
                      <m:r>
                        <a:rPr lang="en-US" sz="1400" i="1" dirty="0" smtClean="0">
                          <a:latin typeface="Cambria Math" panose="02040503050406030204" pitchFamily="18" charset="0"/>
                        </a:rPr>
                        <m:t>𝑔</m:t>
                      </m:r>
                      <m:r>
                        <a:rPr lang="en-US" sz="1400" i="1" dirty="0" smtClean="0">
                          <a:latin typeface="Cambria Math" panose="02040503050406030204" pitchFamily="18" charset="0"/>
                        </a:rPr>
                        <m:t>(</m:t>
                      </m:r>
                      <m:r>
                        <a:rPr lang="en-US" sz="1400" i="1" dirty="0" smtClean="0">
                          <a:latin typeface="Cambria Math" panose="02040503050406030204" pitchFamily="18" charset="0"/>
                        </a:rPr>
                        <m:t>𝑛</m:t>
                      </m:r>
                      <m:r>
                        <a:rPr lang="en-US" sz="1400" i="1" dirty="0" smtClean="0">
                          <a:latin typeface="Cambria Math" panose="02040503050406030204" pitchFamily="18" charset="0"/>
                        </a:rPr>
                        <m:t>) +0</m:t>
                      </m:r>
                    </m:oMath>
                  </m:oMathPara>
                </a14:m>
                <a:endParaRPr lang="en-US" sz="1400" dirty="0"/>
              </a:p>
            </p:txBody>
          </p:sp>
        </mc:Choice>
        <mc:Fallback xmlns="">
          <p:sp>
            <p:nvSpPr>
              <p:cNvPr id="19" name="TextBox 18">
                <a:extLst>
                  <a:ext uri="{FF2B5EF4-FFF2-40B4-BE49-F238E27FC236}">
                    <a16:creationId xmlns:a16="http://schemas.microsoft.com/office/drawing/2014/main" id="{A7159086-AB07-4054-9B2F-7B26EEA586BE}"/>
                  </a:ext>
                </a:extLst>
              </p:cNvPr>
              <p:cNvSpPr txBox="1">
                <a:spLocks noRot="1" noChangeAspect="1" noMove="1" noResize="1" noEditPoints="1" noAdjustHandles="1" noChangeArrowheads="1" noChangeShapeType="1" noTextEdit="1"/>
              </p:cNvSpPr>
              <p:nvPr/>
            </p:nvSpPr>
            <p:spPr>
              <a:xfrm>
                <a:off x="5798721" y="1185494"/>
                <a:ext cx="2596550" cy="307777"/>
              </a:xfrm>
              <a:prstGeom prst="rect">
                <a:avLst/>
              </a:prstGeom>
              <a:blipFill>
                <a:blip r:embed="rId8"/>
                <a:stretch>
                  <a:fillRect b="-5882"/>
                </a:stretch>
              </a:blipFill>
            </p:spPr>
            <p:txBody>
              <a:bodyPr/>
              <a:lstStyle/>
              <a:p>
                <a:r>
                  <a:rPr lang="en-US">
                    <a:noFill/>
                  </a:rPr>
                  <a:t> </a:t>
                </a:r>
              </a:p>
            </p:txBody>
          </p:sp>
        </mc:Fallback>
      </mc:AlternateContent>
      <p:sp>
        <p:nvSpPr>
          <p:cNvPr id="5" name="TextBox 4">
            <a:extLst>
              <a:ext uri="{FF2B5EF4-FFF2-40B4-BE49-F238E27FC236}">
                <a16:creationId xmlns:a16="http://schemas.microsoft.com/office/drawing/2014/main" id="{C16A10A8-775A-418B-846A-46FB9DACAB82}"/>
              </a:ext>
            </a:extLst>
          </p:cNvPr>
          <p:cNvSpPr txBox="1"/>
          <p:nvPr/>
        </p:nvSpPr>
        <p:spPr>
          <a:xfrm>
            <a:off x="5118949" y="1176552"/>
            <a:ext cx="1287340" cy="307777"/>
          </a:xfrm>
          <a:prstGeom prst="rect">
            <a:avLst/>
          </a:prstGeom>
          <a:noFill/>
        </p:spPr>
        <p:txBody>
          <a:bodyPr wrap="none" rtlCol="0">
            <a:spAutoFit/>
          </a:bodyPr>
          <a:lstStyle/>
          <a:p>
            <a:r>
              <a:rPr lang="en-US" sz="1400" dirty="0"/>
              <a:t>For goal states:</a:t>
            </a:r>
          </a:p>
        </p:txBody>
      </p:sp>
      <mc:AlternateContent xmlns:mc="http://schemas.openxmlformats.org/markup-compatibility/2006" xmlns:a14="http://schemas.microsoft.com/office/drawing/2010/main">
        <mc:Choice Requires="a14">
          <p:sp>
            <p:nvSpPr>
              <p:cNvPr id="7" name="TextBox 6">
                <a:extLst>
                  <a:ext uri="{FF2B5EF4-FFF2-40B4-BE49-F238E27FC236}">
                    <a16:creationId xmlns:a16="http://schemas.microsoft.com/office/drawing/2014/main" id="{1CAFA438-DB26-49E6-9AB9-C615E5BB9BDA}"/>
                  </a:ext>
                </a:extLst>
              </p:cNvPr>
              <p:cNvSpPr txBox="1"/>
              <p:nvPr/>
            </p:nvSpPr>
            <p:spPr>
              <a:xfrm>
                <a:off x="5924139" y="2556344"/>
                <a:ext cx="2517420" cy="338554"/>
              </a:xfrm>
              <a:prstGeom prst="rect">
                <a:avLst/>
              </a:prstGeom>
              <a:noFill/>
            </p:spPr>
            <p:txBody>
              <a:bodyPr wrap="none" rtlCol="0">
                <a:spAutoFit/>
              </a:bodyPr>
              <a:lstStyle/>
              <a:p>
                <a:r>
                  <a:rPr lang="en-US" sz="1600" dirty="0"/>
                  <a:t>Any unexplored node </a:t>
                </a:r>
                <a14:m>
                  <m:oMath xmlns:m="http://schemas.openxmlformats.org/officeDocument/2006/math">
                    <m:r>
                      <a:rPr lang="en-US" sz="1600" i="1" dirty="0" smtClean="0">
                        <a:latin typeface="Cambria Math" panose="02040503050406030204" pitchFamily="18" charset="0"/>
                      </a:rPr>
                      <m:t>𝑛</m:t>
                    </m:r>
                  </m:oMath>
                </a14:m>
                <a:r>
                  <a:rPr lang="en-US" sz="1600" dirty="0"/>
                  <a:t> has:</a:t>
                </a:r>
              </a:p>
            </p:txBody>
          </p:sp>
        </mc:Choice>
        <mc:Fallback xmlns="">
          <p:sp>
            <p:nvSpPr>
              <p:cNvPr id="7" name="TextBox 6">
                <a:extLst>
                  <a:ext uri="{FF2B5EF4-FFF2-40B4-BE49-F238E27FC236}">
                    <a16:creationId xmlns:a16="http://schemas.microsoft.com/office/drawing/2014/main" id="{1CAFA438-DB26-49E6-9AB9-C615E5BB9BDA}"/>
                  </a:ext>
                </a:extLst>
              </p:cNvPr>
              <p:cNvSpPr txBox="1">
                <a:spLocks noRot="1" noChangeAspect="1" noMove="1" noResize="1" noEditPoints="1" noAdjustHandles="1" noChangeArrowheads="1" noChangeShapeType="1" noTextEdit="1"/>
              </p:cNvSpPr>
              <p:nvPr/>
            </p:nvSpPr>
            <p:spPr>
              <a:xfrm>
                <a:off x="5924139" y="2556344"/>
                <a:ext cx="2517420" cy="338554"/>
              </a:xfrm>
              <a:prstGeom prst="rect">
                <a:avLst/>
              </a:prstGeom>
              <a:blipFill>
                <a:blip r:embed="rId9"/>
                <a:stretch>
                  <a:fillRect l="-1453" t="-5357" r="-242" b="-21429"/>
                </a:stretch>
              </a:blipFill>
            </p:spPr>
            <p:txBody>
              <a:bodyPr/>
              <a:lstStyle/>
              <a:p>
                <a:r>
                  <a:rPr lang="en-US">
                    <a:noFill/>
                  </a:rPr>
                  <a:t> </a:t>
                </a:r>
              </a:p>
            </p:txBody>
          </p:sp>
        </mc:Fallback>
      </mc:AlternateContent>
      <p:sp>
        <p:nvSpPr>
          <p:cNvPr id="13" name="Rectangle 12">
            <a:extLst>
              <a:ext uri="{FF2B5EF4-FFF2-40B4-BE49-F238E27FC236}">
                <a16:creationId xmlns:a16="http://schemas.microsoft.com/office/drawing/2014/main" id="{6FF398BE-4CE1-4864-9587-E5636F0F5841}"/>
              </a:ext>
            </a:extLst>
          </p:cNvPr>
          <p:cNvSpPr/>
          <p:nvPr/>
        </p:nvSpPr>
        <p:spPr>
          <a:xfrm>
            <a:off x="5029200" y="685801"/>
            <a:ext cx="3366071" cy="858304"/>
          </a:xfrm>
          <a:prstGeom prst="rect">
            <a:avLst/>
          </a:prstGeom>
          <a:noFill/>
          <a:ln w="9525" cap="flat" cmpd="sng" algn="ctr">
            <a:solidFill>
              <a:schemeClr val="accent2"/>
            </a:solidFill>
            <a:prstDash val="solid"/>
            <a:round/>
            <a:headEnd type="none" w="med" len="med"/>
            <a:tailEnd type="none" w="med" len="med"/>
          </a:ln>
        </p:spPr>
        <p:style>
          <a:lnRef idx="0">
            <a:scrgbClr r="0" g="0" b="0"/>
          </a:lnRef>
          <a:fillRef idx="0">
            <a:scrgbClr r="0" g="0" b="0"/>
          </a:fillRef>
          <a:effectRef idx="0">
            <a:scrgbClr r="0" g="0" b="0"/>
          </a:effectRef>
          <a:fontRef idx="minor">
            <a:schemeClr val="accent2"/>
          </a:fontRef>
        </p:style>
        <p:txBody>
          <a:bodyPr rtlCol="0" anchor="ctr"/>
          <a:lstStyle/>
          <a:p>
            <a:pPr algn="ctr"/>
            <a:endParaRPr lang="en-US"/>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grpId="0" nodeType="withEffect">
                                  <p:stCondLst>
                                    <p:cond delay="0"/>
                                  </p:stCondLst>
                                  <p:childTnLst>
                                    <p:set>
                                      <p:cBhvr>
                                        <p:cTn id="6" dur="1" fill="hold">
                                          <p:stCondLst>
                                            <p:cond delay="0"/>
                                          </p:stCondLst>
                                        </p:cTn>
                                        <p:tgtEl>
                                          <p:spTgt spid="21"/>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8"/>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20"/>
                                        </p:tgtEl>
                                        <p:attrNameLst>
                                          <p:attrName>style.visibility</p:attrName>
                                        </p:attrNameLst>
                                      </p:cBhvr>
                                      <p:to>
                                        <p:strVal val="visible"/>
                                      </p:to>
                                    </p:set>
                                  </p:childTnLst>
                                </p:cTn>
                              </p:par>
                              <p:par>
                                <p:cTn id="11" presetID="1" presetClass="entr" presetSubtype="0" fill="hold" grpId="1" nodeType="withEffect">
                                  <p:stCondLst>
                                    <p:cond delay="0"/>
                                  </p:stCondLst>
                                  <p:childTnLst>
                                    <p:set>
                                      <p:cBhvr>
                                        <p:cTn id="12" dur="1" fill="hold">
                                          <p:stCondLst>
                                            <p:cond delay="0"/>
                                          </p:stCondLst>
                                        </p:cTn>
                                        <p:tgtEl>
                                          <p:spTgt spid="21"/>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2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0" grpId="0" animBg="1"/>
      <p:bldP spid="21" grpId="0"/>
      <p:bldP spid="21" grpId="1"/>
      <p:bldP spid="23" grpId="0"/>
    </p:bldLst>
  </p:timing>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7650" name="Rectangle 2"/>
          <p:cNvSpPr>
            <a:spLocks noGrp="1" noChangeArrowheads="1"/>
          </p:cNvSpPr>
          <p:nvPr>
            <p:ph type="title"/>
          </p:nvPr>
        </p:nvSpPr>
        <p:spPr/>
        <p:txBody>
          <a:bodyPr/>
          <a:lstStyle/>
          <a:p>
            <a:r>
              <a:rPr lang="en-US" dirty="0"/>
              <a:t>Properties of A*Search</a:t>
            </a:r>
          </a:p>
        </p:txBody>
      </p:sp>
      <mc:AlternateContent xmlns:mc="http://schemas.openxmlformats.org/markup-compatibility/2006" xmlns:a14="http://schemas.microsoft.com/office/drawing/2010/main">
        <mc:Choice Requires="a14">
          <p:sp>
            <p:nvSpPr>
              <p:cNvPr id="27651" name="Rectangle 3"/>
              <p:cNvSpPr>
                <a:spLocks noGrp="1" noChangeArrowheads="1"/>
              </p:cNvSpPr>
              <p:nvPr>
                <p:ph idx="1"/>
              </p:nvPr>
            </p:nvSpPr>
            <p:spPr/>
            <p:txBody>
              <a:bodyPr>
                <a:normAutofit fontScale="92500" lnSpcReduction="20000"/>
              </a:bodyPr>
              <a:lstStyle/>
              <a:p>
                <a:r>
                  <a:rPr lang="en-US" sz="2400" b="1" dirty="0">
                    <a:solidFill>
                      <a:srgbClr val="FF0000"/>
                    </a:solidFill>
                  </a:rPr>
                  <a:t>Complete?</a:t>
                </a:r>
              </a:p>
              <a:p>
                <a:pPr lvl="1">
                  <a:buNone/>
                </a:pPr>
                <a:r>
                  <a:rPr lang="en-US" sz="2400" dirty="0"/>
                  <a:t>Yes</a:t>
                </a:r>
              </a:p>
              <a:p>
                <a:endParaRPr lang="en-US" sz="2400" b="1" dirty="0">
                  <a:solidFill>
                    <a:srgbClr val="CC0099"/>
                  </a:solidFill>
                </a:endParaRPr>
              </a:p>
              <a:p>
                <a:r>
                  <a:rPr lang="en-US" sz="2400" b="1" dirty="0">
                    <a:solidFill>
                      <a:srgbClr val="FF0000"/>
                    </a:solidFill>
                  </a:rPr>
                  <a:t>Optimal?</a:t>
                </a:r>
              </a:p>
              <a:p>
                <a:pPr lvl="1">
                  <a:buNone/>
                </a:pPr>
                <a:r>
                  <a:rPr lang="en-US" sz="2400" dirty="0"/>
                  <a:t>Yes</a:t>
                </a:r>
              </a:p>
              <a:p>
                <a:endParaRPr lang="en-US" sz="2400" b="1" dirty="0">
                  <a:solidFill>
                    <a:srgbClr val="CC0099"/>
                  </a:solidFill>
                </a:endParaRPr>
              </a:p>
              <a:p>
                <a:r>
                  <a:rPr lang="en-US" sz="2400" b="1" dirty="0">
                    <a:solidFill>
                      <a:srgbClr val="FF0000"/>
                    </a:solidFill>
                  </a:rPr>
                  <a:t>Time?</a:t>
                </a:r>
              </a:p>
              <a:p>
                <a:pPr lvl="1">
                  <a:buNone/>
                </a:pPr>
                <a:r>
                  <a:rPr lang="en-US" sz="2400" dirty="0"/>
                  <a:t>Number of nodes for which </a:t>
                </a:r>
                <a14:m>
                  <m:oMath xmlns:m="http://schemas.openxmlformats.org/officeDocument/2006/math">
                    <m:r>
                      <a:rPr lang="en-US" sz="2400" i="1" dirty="0" smtClean="0">
                        <a:latin typeface="Cambria Math" panose="02040503050406030204" pitchFamily="18" charset="0"/>
                      </a:rPr>
                      <m:t>𝑓</m:t>
                    </m:r>
                    <m:r>
                      <a:rPr lang="en-US" sz="2400" i="1" dirty="0" smtClean="0">
                        <a:latin typeface="Cambria Math" panose="02040503050406030204" pitchFamily="18" charset="0"/>
                      </a:rPr>
                      <m:t>(</m:t>
                    </m:r>
                    <m:r>
                      <a:rPr lang="en-US" sz="2400" i="1" dirty="0" smtClean="0">
                        <a:latin typeface="Cambria Math" panose="02040503050406030204" pitchFamily="18" charset="0"/>
                      </a:rPr>
                      <m:t>𝑛</m:t>
                    </m:r>
                    <m:r>
                      <a:rPr lang="en-US" sz="2400" i="1" dirty="0" smtClean="0">
                        <a:latin typeface="Cambria Math" panose="02040503050406030204" pitchFamily="18" charset="0"/>
                      </a:rPr>
                      <m:t>) ≤ </m:t>
                    </m:r>
                    <m:sSup>
                      <m:sSupPr>
                        <m:ctrlPr>
                          <a:rPr lang="en-US" sz="2400" b="0" i="1" dirty="0" smtClean="0">
                            <a:latin typeface="Cambria Math" panose="02040503050406030204" pitchFamily="18" charset="0"/>
                            <a:cs typeface="Arial" pitchFamily="34" charset="0"/>
                          </a:rPr>
                        </m:ctrlPr>
                      </m:sSupPr>
                      <m:e>
                        <m:r>
                          <a:rPr lang="en-US" sz="2400" i="1" dirty="0">
                            <a:latin typeface="Cambria Math" panose="02040503050406030204" pitchFamily="18" charset="0"/>
                          </a:rPr>
                          <m:t>𝐶</m:t>
                        </m:r>
                      </m:e>
                      <m:sup>
                        <m:r>
                          <a:rPr lang="en-US" sz="2400" b="0" i="1" dirty="0" smtClean="0">
                            <a:latin typeface="Cambria Math" panose="02040503050406030204" pitchFamily="18" charset="0"/>
                          </a:rPr>
                          <m:t>∗</m:t>
                        </m:r>
                      </m:sup>
                    </m:sSup>
                  </m:oMath>
                </a14:m>
                <a:r>
                  <a:rPr lang="en-US" sz="2400" dirty="0"/>
                  <a:t> in the worst case </a:t>
                </a:r>
                <a14:m>
                  <m:oMath xmlns:m="http://schemas.openxmlformats.org/officeDocument/2006/math">
                    <m:r>
                      <a:rPr lang="en-US" sz="2400" b="0" i="1" smtClean="0">
                        <a:latin typeface="Cambria Math" panose="02040503050406030204" pitchFamily="18" charset="0"/>
                      </a:rPr>
                      <m:t>𝑂</m:t>
                    </m:r>
                    <m:r>
                      <a:rPr lang="en-US" sz="2400" b="0" i="1" smtClean="0">
                        <a:latin typeface="Cambria Math" panose="02040503050406030204" pitchFamily="18" charset="0"/>
                      </a:rPr>
                      <m:t>(</m:t>
                    </m:r>
                    <m:sSup>
                      <m:sSupPr>
                        <m:ctrlPr>
                          <a:rPr lang="en-US" sz="2400" b="0" i="1" smtClean="0">
                            <a:latin typeface="Cambria Math" panose="02040503050406030204" pitchFamily="18" charset="0"/>
                          </a:rPr>
                        </m:ctrlPr>
                      </m:sSupPr>
                      <m:e>
                        <m:r>
                          <a:rPr lang="en-US" sz="2400" b="0" i="1" smtClean="0">
                            <a:latin typeface="Cambria Math" panose="02040503050406030204" pitchFamily="18" charset="0"/>
                          </a:rPr>
                          <m:t>𝑏</m:t>
                        </m:r>
                      </m:e>
                      <m:sup>
                        <m:r>
                          <a:rPr lang="en-US" sz="2400" b="0" i="1" smtClean="0">
                            <a:latin typeface="Cambria Math" panose="02040503050406030204" pitchFamily="18" charset="0"/>
                          </a:rPr>
                          <m:t>𝑑</m:t>
                        </m:r>
                      </m:sup>
                    </m:sSup>
                    <m:r>
                      <a:rPr lang="en-US" sz="2400" b="0" i="1" smtClean="0">
                        <a:latin typeface="Cambria Math" panose="02040503050406030204" pitchFamily="18" charset="0"/>
                      </a:rPr>
                      <m:t>)</m:t>
                    </m:r>
                  </m:oMath>
                </a14:m>
                <a:r>
                  <a:rPr lang="en-US" sz="2400" dirty="0"/>
                  <a:t> like BFS.</a:t>
                </a:r>
              </a:p>
              <a:p>
                <a:endParaRPr lang="en-US" sz="2400" b="1" dirty="0">
                  <a:solidFill>
                    <a:srgbClr val="CC0099"/>
                  </a:solidFill>
                </a:endParaRPr>
              </a:p>
              <a:p>
                <a:r>
                  <a:rPr lang="en-US" sz="2400" b="1" dirty="0">
                    <a:solidFill>
                      <a:srgbClr val="FF0000"/>
                    </a:solidFill>
                  </a:rPr>
                  <a:t>Space?</a:t>
                </a:r>
              </a:p>
              <a:p>
                <a:pPr lvl="1">
                  <a:buNone/>
                </a:pPr>
                <a:r>
                  <a:rPr lang="en-US" sz="2400" dirty="0"/>
                  <a:t>Same as time complexity. This is often too high unless a very good heuristic is know.</a:t>
                </a:r>
              </a:p>
            </p:txBody>
          </p:sp>
        </mc:Choice>
        <mc:Fallback xmlns="">
          <p:sp>
            <p:nvSpPr>
              <p:cNvPr id="27651" name="Rectangle 3"/>
              <p:cNvSpPr>
                <a:spLocks noGrp="1" noRot="1" noChangeAspect="1" noMove="1" noResize="1" noEditPoints="1" noAdjustHandles="1" noChangeArrowheads="1" noChangeShapeType="1" noTextEdit="1"/>
              </p:cNvSpPr>
              <p:nvPr>
                <p:ph idx="1"/>
              </p:nvPr>
            </p:nvSpPr>
            <p:spPr>
              <a:blipFill>
                <a:blip r:embed="rId3"/>
                <a:stretch>
                  <a:fillRect l="-850" t="-2801"/>
                </a:stretch>
              </a:blipFill>
            </p:spPr>
            <p:txBody>
              <a:bodyPr/>
              <a:lstStyle/>
              <a:p>
                <a:r>
                  <a:rPr lang="en-US">
                    <a:noFill/>
                  </a:rPr>
                  <a:t> </a:t>
                </a:r>
              </a:p>
            </p:txBody>
          </p:sp>
        </mc:Fallback>
      </mc:AlternateContent>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31B7EA6-8025-90E1-E37A-575A8A03C50C}"/>
              </a:ext>
            </a:extLst>
          </p:cNvPr>
          <p:cNvSpPr>
            <a:spLocks noGrp="1"/>
          </p:cNvSpPr>
          <p:nvPr>
            <p:ph type="title"/>
          </p:nvPr>
        </p:nvSpPr>
        <p:spPr/>
        <p:txBody>
          <a:bodyPr/>
          <a:lstStyle/>
          <a:p>
            <a:r>
              <a:rPr lang="en-US" dirty="0"/>
              <a:t>Iterative-Deepening A* Search – IDA*</a:t>
            </a:r>
          </a:p>
        </p:txBody>
      </p:sp>
      <mc:AlternateContent xmlns:mc="http://schemas.openxmlformats.org/markup-compatibility/2006">
        <mc:Choice xmlns:a14="http://schemas.microsoft.com/office/drawing/2010/main" Requires="a14">
          <p:sp>
            <p:nvSpPr>
              <p:cNvPr id="3" name="Content Placeholder 2">
                <a:extLst>
                  <a:ext uri="{FF2B5EF4-FFF2-40B4-BE49-F238E27FC236}">
                    <a16:creationId xmlns:a16="http://schemas.microsoft.com/office/drawing/2014/main" id="{64F068FC-89B3-09BC-2DDC-E641BE15087F}"/>
                  </a:ext>
                </a:extLst>
              </p:cNvPr>
              <p:cNvSpPr>
                <a:spLocks noGrp="1"/>
              </p:cNvSpPr>
              <p:nvPr>
                <p:ph idx="1"/>
              </p:nvPr>
            </p:nvSpPr>
            <p:spPr/>
            <p:txBody>
              <a:bodyPr>
                <a:normAutofit fontScale="85000" lnSpcReduction="20000"/>
              </a:bodyPr>
              <a:lstStyle/>
              <a:p>
                <a:r>
                  <a:rPr lang="en-US" b="1" dirty="0"/>
                  <a:t>Idea</a:t>
                </a:r>
                <a:r>
                  <a:rPr lang="en-US" dirty="0"/>
                  <a:t>: A* search without a reached data structure.</a:t>
                </a:r>
              </a:p>
              <a:p>
                <a:r>
                  <a:rPr lang="en-US" b="1" dirty="0"/>
                  <a:t>Remember</a:t>
                </a:r>
                <a:r>
                  <a:rPr lang="en-US" dirty="0"/>
                  <a:t>: Regular IDA assumes uninform cost (1 per step) and increases the cutoff by one after each iteration.</a:t>
                </a:r>
              </a:p>
              <a:p>
                <a:endParaRPr lang="en-US" dirty="0"/>
              </a:p>
              <a:p>
                <a:r>
                  <a:rPr lang="en-US" b="1" dirty="0"/>
                  <a:t>IDA* </a:t>
                </a:r>
                <a:r>
                  <a:rPr lang="en-US" dirty="0"/>
                  <a:t>uses the cost </a:t>
                </a:r>
                <a14:m>
                  <m:oMath xmlns:m="http://schemas.openxmlformats.org/officeDocument/2006/math">
                    <m:r>
                      <a:rPr lang="en-US" i="1" dirty="0" smtClean="0">
                        <a:latin typeface="Cambria Math" panose="02040503050406030204" pitchFamily="18" charset="0"/>
                      </a:rPr>
                      <m:t>𝑓</m:t>
                    </m:r>
                    <m:r>
                      <a:rPr lang="en-US" b="0" i="1" dirty="0" smtClean="0">
                        <a:latin typeface="Cambria Math" panose="02040503050406030204" pitchFamily="18" charset="0"/>
                      </a:rPr>
                      <m:t>(</m:t>
                    </m:r>
                    <m:r>
                      <a:rPr lang="en-US" b="0" i="1" dirty="0" smtClean="0">
                        <a:latin typeface="Cambria Math" panose="02040503050406030204" pitchFamily="18" charset="0"/>
                      </a:rPr>
                      <m:t>𝑛</m:t>
                    </m:r>
                    <m:r>
                      <a:rPr lang="en-US" b="0" i="1" dirty="0" smtClean="0">
                        <a:latin typeface="Cambria Math" panose="02040503050406030204" pitchFamily="18" charset="0"/>
                      </a:rPr>
                      <m:t>)=</m:t>
                    </m:r>
                    <m:r>
                      <a:rPr lang="en-US" i="1" dirty="0" err="1">
                        <a:latin typeface="Cambria Math" panose="02040503050406030204" pitchFamily="18" charset="0"/>
                      </a:rPr>
                      <m:t>𝑔</m:t>
                    </m:r>
                    <m:r>
                      <a:rPr lang="en-US" b="0" i="1" dirty="0" smtClean="0">
                        <a:latin typeface="Cambria Math" panose="02040503050406030204" pitchFamily="18" charset="0"/>
                      </a:rPr>
                      <m:t>(</m:t>
                    </m:r>
                    <m:r>
                      <a:rPr lang="en-US" b="0" i="1" dirty="0" smtClean="0">
                        <a:latin typeface="Cambria Math" panose="02040503050406030204" pitchFamily="18" charset="0"/>
                      </a:rPr>
                      <m:t>𝑛</m:t>
                    </m:r>
                    <m:r>
                      <a:rPr lang="en-US" b="0" i="1" dirty="0" smtClean="0">
                        <a:latin typeface="Cambria Math" panose="02040503050406030204" pitchFamily="18" charset="0"/>
                      </a:rPr>
                      <m:t>)+</m:t>
                    </m:r>
                    <m:r>
                      <a:rPr lang="en-US" i="1" dirty="0" err="1" smtClean="0">
                        <a:latin typeface="Cambria Math" panose="02040503050406030204" pitchFamily="18" charset="0"/>
                      </a:rPr>
                      <m:t>h</m:t>
                    </m:r>
                    <m:r>
                      <a:rPr lang="en-US" b="0" i="1" dirty="0" smtClean="0">
                        <a:latin typeface="Cambria Math" panose="02040503050406030204" pitchFamily="18" charset="0"/>
                      </a:rPr>
                      <m:t>(</m:t>
                    </m:r>
                    <m:r>
                      <a:rPr lang="en-US" b="0" i="1" dirty="0" smtClean="0">
                        <a:latin typeface="Cambria Math" panose="02040503050406030204" pitchFamily="18" charset="0"/>
                      </a:rPr>
                      <m:t>𝑛</m:t>
                    </m:r>
                    <m:r>
                      <a:rPr lang="en-US" b="0" i="1" dirty="0" smtClean="0">
                        <a:latin typeface="Cambria Math" panose="02040503050406030204" pitchFamily="18" charset="0"/>
                      </a:rPr>
                      <m:t>)</m:t>
                    </m:r>
                  </m:oMath>
                </a14:m>
                <a:r>
                  <a:rPr lang="en-US" dirty="0"/>
                  <a:t> of a node as the cutoff. In each iteration, the cost cutoff increases slightly. It is optimal if steps are small and </a:t>
                </a:r>
                <a14:m>
                  <m:oMath xmlns:m="http://schemas.openxmlformats.org/officeDocument/2006/math">
                    <m:r>
                      <a:rPr lang="en-US" i="1" dirty="0" smtClean="0">
                        <a:latin typeface="Cambria Math" panose="02040503050406030204" pitchFamily="18" charset="0"/>
                      </a:rPr>
                      <m:t>h</m:t>
                    </m:r>
                  </m:oMath>
                </a14:m>
                <a:r>
                  <a:rPr lang="en-US" dirty="0"/>
                  <a:t> is admissible. </a:t>
                </a:r>
              </a:p>
              <a:p>
                <a:endParaRPr lang="en-US" b="1" dirty="0"/>
              </a:p>
              <a:p>
                <a:r>
                  <a:rPr lang="en-US" b="1" dirty="0"/>
                  <a:t>Issues</a:t>
                </a:r>
                <a:r>
                  <a:rPr lang="en-US" dirty="0"/>
                  <a:t>: </a:t>
                </a:r>
              </a:p>
              <a:p>
                <a:pPr lvl="1"/>
                <a:r>
                  <a:rPr lang="en-US" dirty="0"/>
                  <a:t>By how much to increase the cutoff in each iteration. Optimality depends on this!</a:t>
                </a:r>
              </a:p>
              <a:p>
                <a:pPr lvl="1"/>
                <a:r>
                  <a:rPr lang="en-US" dirty="0"/>
                  <a:t>Time complexity: Rebuilds the tree many times.</a:t>
                </a:r>
              </a:p>
              <a:p>
                <a:endParaRPr lang="en-US" dirty="0"/>
              </a:p>
              <a:p>
                <a:r>
                  <a:rPr lang="en-US" b="1" dirty="0"/>
                  <a:t>Other memory-bounded variants of A* search</a:t>
                </a:r>
                <a:endParaRPr lang="en-US" dirty="0"/>
              </a:p>
              <a:p>
                <a:pPr lvl="1"/>
                <a:r>
                  <a:rPr lang="en-US" dirty="0"/>
                  <a:t>Recursive Best-First Search (</a:t>
                </a:r>
                <a:r>
                  <a:rPr lang="en-US" b="1" dirty="0"/>
                  <a:t>RBFS</a:t>
                </a:r>
                <a:r>
                  <a:rPr lang="en-US" dirty="0"/>
                  <a:t>) adds a </a:t>
                </a:r>
                <a14:m>
                  <m:oMath xmlns:m="http://schemas.openxmlformats.org/officeDocument/2006/math">
                    <m:r>
                      <a:rPr lang="en-US" i="1" dirty="0" smtClean="0">
                        <a:latin typeface="Cambria Math" panose="02040503050406030204" pitchFamily="18" charset="0"/>
                      </a:rPr>
                      <m:t>𝑓</m:t>
                    </m:r>
                  </m:oMath>
                </a14:m>
                <a:r>
                  <a:rPr lang="en-US" dirty="0"/>
                  <a:t>-limit to the depth-first search behavior of best-first search.</a:t>
                </a:r>
              </a:p>
              <a:p>
                <a:pPr lvl="1"/>
                <a:r>
                  <a:rPr lang="en-US" dirty="0"/>
                  <a:t>Simplified memory-bounded A* (</a:t>
                </a:r>
                <a:r>
                  <a:rPr lang="en-US" b="1" dirty="0"/>
                  <a:t>SMA*</a:t>
                </a:r>
                <a:r>
                  <a:rPr lang="en-US" dirty="0"/>
                  <a:t>) performs A* till the memory is full and then drops the worst (highest </a:t>
                </a:r>
                <a14:m>
                  <m:oMath xmlns:m="http://schemas.openxmlformats.org/officeDocument/2006/math">
                    <m:r>
                      <a:rPr lang="en-US" i="1" dirty="0" smtClean="0">
                        <a:latin typeface="Cambria Math" panose="02040503050406030204" pitchFamily="18" charset="0"/>
                      </a:rPr>
                      <m:t>𝑓</m:t>
                    </m:r>
                  </m:oMath>
                </a14:m>
                <a:r>
                  <a:rPr lang="en-US" dirty="0"/>
                  <a:t>) leaf node from memory. It can rebuild the node later if needed.</a:t>
                </a:r>
              </a:p>
            </p:txBody>
          </p:sp>
        </mc:Choice>
        <mc:Fallback>
          <p:sp>
            <p:nvSpPr>
              <p:cNvPr id="3" name="Content Placeholder 2">
                <a:extLst>
                  <a:ext uri="{FF2B5EF4-FFF2-40B4-BE49-F238E27FC236}">
                    <a16:creationId xmlns:a16="http://schemas.microsoft.com/office/drawing/2014/main" id="{64F068FC-89B3-09BC-2DDC-E641BE15087F}"/>
                  </a:ext>
                </a:extLst>
              </p:cNvPr>
              <p:cNvSpPr>
                <a:spLocks noGrp="1" noRot="1" noChangeAspect="1" noMove="1" noResize="1" noEditPoints="1" noAdjustHandles="1" noChangeArrowheads="1" noChangeShapeType="1" noTextEdit="1"/>
              </p:cNvSpPr>
              <p:nvPr>
                <p:ph idx="1"/>
              </p:nvPr>
            </p:nvSpPr>
            <p:spPr>
              <a:blipFill>
                <a:blip r:embed="rId2"/>
                <a:stretch>
                  <a:fillRect l="-464" t="-2241"/>
                </a:stretch>
              </a:blipFill>
            </p:spPr>
            <p:txBody>
              <a:bodyPr/>
              <a:lstStyle/>
              <a:p>
                <a:r>
                  <a:rPr lang="en-US">
                    <a:noFill/>
                  </a:rPr>
                  <a:t> </a:t>
                </a:r>
              </a:p>
            </p:txBody>
          </p:sp>
        </mc:Fallback>
      </mc:AlternateContent>
    </p:spTree>
    <p:extLst>
      <p:ext uri="{BB962C8B-B14F-4D97-AF65-F5344CB8AC3E}">
        <p14:creationId xmlns:p14="http://schemas.microsoft.com/office/powerpoint/2010/main" val="9627013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5" end="5"/>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3">
                                            <p:txEl>
                                              <p:pRg st="6" end="6"/>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
                                            <p:txEl>
                                              <p:pRg st="9" end="9"/>
                                            </p:txEl>
                                          </p:spTgt>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3">
                                            <p:txEl>
                                              <p:pRg st="10" end="10"/>
                                            </p:txEl>
                                          </p:spTgt>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3">
                                            <p:txEl>
                                              <p:pRg st="11" end="1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4E86ECF-8245-AD86-8DAF-0F72372690E8}"/>
            </a:ext>
          </a:extLst>
        </p:cNvPr>
        <p:cNvGrpSpPr/>
        <p:nvPr/>
      </p:nvGrpSpPr>
      <p:grpSpPr>
        <a:xfrm>
          <a:off x="0" y="0"/>
          <a:ext cx="0" cy="0"/>
          <a:chOff x="0" y="0"/>
          <a:chExt cx="0" cy="0"/>
        </a:xfrm>
      </p:grpSpPr>
      <p:pic>
        <p:nvPicPr>
          <p:cNvPr id="3" name="Picture 2" descr="Person holding a compass">
            <a:extLst>
              <a:ext uri="{FF2B5EF4-FFF2-40B4-BE49-F238E27FC236}">
                <a16:creationId xmlns:a16="http://schemas.microsoft.com/office/drawing/2014/main" id="{7206BED6-8397-E00D-DF22-9F7D395208F9}"/>
              </a:ext>
            </a:extLst>
          </p:cNvPr>
          <p:cNvPicPr>
            <a:picLocks noChangeAspect="1"/>
          </p:cNvPicPr>
          <p:nvPr/>
        </p:nvPicPr>
        <p:blipFill rotWithShape="1">
          <a:blip r:embed="rId2" cstate="print">
            <a:alphaModFix/>
            <a:extLst>
              <a:ext uri="{28A0092B-C50C-407E-A947-70E740481C1C}">
                <a14:useLocalDpi xmlns:a14="http://schemas.microsoft.com/office/drawing/2010/main" val="0"/>
              </a:ext>
            </a:extLst>
          </a:blip>
          <a:srcRect l="280" r="10719" b="-2"/>
          <a:stretch/>
        </p:blipFill>
        <p:spPr>
          <a:xfrm>
            <a:off x="20" y="1"/>
            <a:ext cx="9143980" cy="6857999"/>
          </a:xfrm>
          <a:prstGeom prst="rect">
            <a:avLst/>
          </a:prstGeom>
        </p:spPr>
      </p:pic>
      <p:sp>
        <p:nvSpPr>
          <p:cNvPr id="7" name="Title 6">
            <a:extLst>
              <a:ext uri="{FF2B5EF4-FFF2-40B4-BE49-F238E27FC236}">
                <a16:creationId xmlns:a16="http://schemas.microsoft.com/office/drawing/2014/main" id="{501D3DEE-D717-FB37-FBF0-1F954F97A70A}"/>
              </a:ext>
            </a:extLst>
          </p:cNvPr>
          <p:cNvSpPr>
            <a:spLocks noGrp="1"/>
          </p:cNvSpPr>
          <p:nvPr>
            <p:ph type="title"/>
          </p:nvPr>
        </p:nvSpPr>
        <p:spPr>
          <a:xfrm>
            <a:off x="1066800" y="5638800"/>
            <a:ext cx="6858000" cy="858838"/>
          </a:xfrm>
        </p:spPr>
        <p:txBody>
          <a:bodyPr vert="horz" lIns="91440" tIns="45720" rIns="91440" bIns="45720" rtlCol="0" anchor="b">
            <a:noAutofit/>
          </a:bodyPr>
          <a:lstStyle/>
          <a:p>
            <a:pPr algn="ctr" defTabSz="914400"/>
            <a:r>
              <a:rPr lang="en-US" sz="4800" b="1" dirty="0">
                <a:solidFill>
                  <a:srgbClr val="FFFFFF"/>
                </a:solidFill>
              </a:rPr>
              <a:t>Informed Search</a:t>
            </a:r>
            <a:br>
              <a:rPr lang="en-US" sz="4800" b="1" dirty="0">
                <a:solidFill>
                  <a:srgbClr val="FFFFFF"/>
                </a:solidFill>
              </a:rPr>
            </a:br>
            <a:r>
              <a:rPr lang="en-US" sz="3600" b="1" dirty="0">
                <a:solidFill>
                  <a:srgbClr val="FFFFFF"/>
                </a:solidFill>
              </a:rPr>
              <a:t>Designing Heuristics</a:t>
            </a:r>
            <a:endParaRPr lang="en-US" sz="4800" b="1" dirty="0">
              <a:solidFill>
                <a:srgbClr val="FFFFFF"/>
              </a:solidFill>
            </a:endParaRPr>
          </a:p>
        </p:txBody>
      </p:sp>
    </p:spTree>
    <p:extLst>
      <p:ext uri="{BB962C8B-B14F-4D97-AF65-F5344CB8AC3E}">
        <p14:creationId xmlns:p14="http://schemas.microsoft.com/office/powerpoint/2010/main" val="926816414"/>
      </p:ext>
    </p:extLst>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8674" name="Rectangle 2"/>
          <p:cNvSpPr>
            <a:spLocks noGrp="1" noChangeArrowheads="1"/>
          </p:cNvSpPr>
          <p:nvPr>
            <p:ph type="title"/>
          </p:nvPr>
        </p:nvSpPr>
        <p:spPr/>
        <p:txBody>
          <a:bodyPr/>
          <a:lstStyle/>
          <a:p>
            <a:r>
              <a:rPr lang="en-US" dirty="0"/>
              <a:t>Designing Heuristic Functions</a:t>
            </a:r>
          </a:p>
        </p:txBody>
      </p:sp>
      <mc:AlternateContent xmlns:mc="http://schemas.openxmlformats.org/markup-compatibility/2006">
        <mc:Choice xmlns:a14="http://schemas.microsoft.com/office/drawing/2010/main" Requires="a14">
          <p:sp>
            <p:nvSpPr>
              <p:cNvPr id="28675" name="Rectangle 3"/>
              <p:cNvSpPr>
                <a:spLocks noGrp="1" noChangeArrowheads="1"/>
              </p:cNvSpPr>
              <p:nvPr>
                <p:ph idx="1"/>
              </p:nvPr>
            </p:nvSpPr>
            <p:spPr>
              <a:xfrm>
                <a:off x="628650" y="3657600"/>
                <a:ext cx="7886700" cy="2835274"/>
              </a:xfrm>
            </p:spPr>
            <p:txBody>
              <a:bodyPr>
                <a:normAutofit fontScale="92500" lnSpcReduction="20000"/>
              </a:bodyPr>
              <a:lstStyle/>
              <a:p>
                <a:pPr marL="0" indent="0">
                  <a:buNone/>
                </a:pPr>
                <a:r>
                  <a:rPr lang="en-US" sz="2000" dirty="0"/>
                  <a:t>Example heuristics for the 8-puzzle:</a:t>
                </a:r>
              </a:p>
              <a:p>
                <a:pPr lvl="1"/>
                <a14:m>
                  <m:oMath xmlns:m="http://schemas.openxmlformats.org/officeDocument/2006/math">
                    <m:r>
                      <a:rPr lang="en-US" sz="2000" i="1" dirty="0" smtClean="0">
                        <a:latin typeface="Cambria Math" panose="02040503050406030204" pitchFamily="18" charset="0"/>
                      </a:rPr>
                      <m:t>h</m:t>
                    </m:r>
                    <m:r>
                      <a:rPr lang="en-US" sz="2000" i="1" baseline="-25000" dirty="0">
                        <a:latin typeface="Cambria Math" panose="02040503050406030204" pitchFamily="18" charset="0"/>
                      </a:rPr>
                      <m:t>1</m:t>
                    </m:r>
                    <m:r>
                      <a:rPr lang="en-US" sz="2000" i="1" dirty="0">
                        <a:latin typeface="Cambria Math" panose="02040503050406030204" pitchFamily="18" charset="0"/>
                      </a:rPr>
                      <m:t>(</m:t>
                    </m:r>
                    <m:r>
                      <a:rPr lang="en-US" sz="2000" i="1" dirty="0">
                        <a:latin typeface="Cambria Math" panose="02040503050406030204" pitchFamily="18" charset="0"/>
                      </a:rPr>
                      <m:t>𝑛</m:t>
                    </m:r>
                    <m:r>
                      <a:rPr lang="en-US" sz="2000" i="1" dirty="0">
                        <a:latin typeface="Cambria Math" panose="02040503050406030204" pitchFamily="18" charset="0"/>
                      </a:rPr>
                      <m:t>)</m:t>
                    </m:r>
                  </m:oMath>
                </a14:m>
                <a:r>
                  <a:rPr lang="en-US" sz="2000" i="1" dirty="0"/>
                  <a:t> </a:t>
                </a:r>
                <a:r>
                  <a:rPr lang="en-US" sz="2000" dirty="0"/>
                  <a:t>= number of misplaced tiles</a:t>
                </a:r>
              </a:p>
              <a:p>
                <a:pPr lvl="1"/>
                <a14:m>
                  <m:oMath xmlns:m="http://schemas.openxmlformats.org/officeDocument/2006/math">
                    <m:r>
                      <a:rPr lang="en-US" sz="2000" i="1" dirty="0" smtClean="0">
                        <a:latin typeface="Cambria Math" panose="02040503050406030204" pitchFamily="18" charset="0"/>
                      </a:rPr>
                      <m:t>h</m:t>
                    </m:r>
                    <m:r>
                      <a:rPr lang="en-US" sz="2000" i="1" baseline="-25000" dirty="0">
                        <a:latin typeface="Cambria Math" panose="02040503050406030204" pitchFamily="18" charset="0"/>
                      </a:rPr>
                      <m:t>1</m:t>
                    </m:r>
                    <m:r>
                      <a:rPr lang="en-US" sz="2000" i="1" dirty="0">
                        <a:latin typeface="Cambria Math" panose="02040503050406030204" pitchFamily="18" charset="0"/>
                      </a:rPr>
                      <m:t>(</m:t>
                    </m:r>
                    <m:r>
                      <a:rPr lang="en-US" sz="2000" i="1" dirty="0">
                        <a:latin typeface="Cambria Math" panose="02040503050406030204" pitchFamily="18" charset="0"/>
                      </a:rPr>
                      <m:t>𝑠𝑡𝑎𝑟𝑡</m:t>
                    </m:r>
                    <m:r>
                      <a:rPr lang="en-US" sz="2000" i="1" dirty="0">
                        <a:latin typeface="Cambria Math" panose="02040503050406030204" pitchFamily="18" charset="0"/>
                      </a:rPr>
                      <m:t>) = 8</m:t>
                    </m:r>
                  </m:oMath>
                </a14:m>
                <a:endParaRPr lang="en-US" sz="2000" dirty="0"/>
              </a:p>
              <a:p>
                <a:pPr lvl="1">
                  <a:buNone/>
                </a:pPr>
                <a:endParaRPr lang="en-US" sz="2000" dirty="0"/>
              </a:p>
              <a:p>
                <a:pPr lvl="1">
                  <a:buNone/>
                </a:pPr>
                <a:endParaRPr lang="en-US" sz="2000" dirty="0"/>
              </a:p>
              <a:p>
                <a:pPr lvl="1"/>
                <a14:m>
                  <m:oMath xmlns:m="http://schemas.openxmlformats.org/officeDocument/2006/math">
                    <m:r>
                      <a:rPr lang="en-US" sz="2000" i="1" dirty="0" smtClean="0">
                        <a:latin typeface="Cambria Math" panose="02040503050406030204" pitchFamily="18" charset="0"/>
                      </a:rPr>
                      <m:t>h</m:t>
                    </m:r>
                    <m:r>
                      <a:rPr lang="en-US" sz="2000" i="1" baseline="-25000" dirty="0">
                        <a:latin typeface="Cambria Math" panose="02040503050406030204" pitchFamily="18" charset="0"/>
                      </a:rPr>
                      <m:t>2</m:t>
                    </m:r>
                    <m:r>
                      <a:rPr lang="en-US" sz="2000" i="1" dirty="0">
                        <a:latin typeface="Cambria Math" panose="02040503050406030204" pitchFamily="18" charset="0"/>
                      </a:rPr>
                      <m:t>(</m:t>
                    </m:r>
                    <m:r>
                      <a:rPr lang="en-US" sz="2000" i="1" dirty="0">
                        <a:latin typeface="Cambria Math" panose="02040503050406030204" pitchFamily="18" charset="0"/>
                      </a:rPr>
                      <m:t>𝑛</m:t>
                    </m:r>
                    <m:r>
                      <a:rPr lang="en-US" sz="2000" i="1" dirty="0">
                        <a:latin typeface="Cambria Math" panose="02040503050406030204" pitchFamily="18" charset="0"/>
                      </a:rPr>
                      <m:t>)</m:t>
                    </m:r>
                  </m:oMath>
                </a14:m>
                <a:r>
                  <a:rPr lang="en-US" sz="2000" i="1" dirty="0"/>
                  <a:t> </a:t>
                </a:r>
                <a:r>
                  <a:rPr lang="en-US" sz="2000" dirty="0"/>
                  <a:t>= total Manhattan distance (number of moves from the desired location of each tile)</a:t>
                </a:r>
              </a:p>
              <a:p>
                <a:pPr lvl="1"/>
                <a14:m>
                  <m:oMath xmlns:m="http://schemas.openxmlformats.org/officeDocument/2006/math">
                    <m:r>
                      <a:rPr lang="en-US" sz="2000" i="1" dirty="0" smtClean="0">
                        <a:latin typeface="Cambria Math" panose="02040503050406030204" pitchFamily="18" charset="0"/>
                      </a:rPr>
                      <m:t>h</m:t>
                    </m:r>
                    <m:r>
                      <a:rPr lang="en-US" sz="2000" i="1" baseline="-25000" dirty="0">
                        <a:latin typeface="Cambria Math" panose="02040503050406030204" pitchFamily="18" charset="0"/>
                      </a:rPr>
                      <m:t>2</m:t>
                    </m:r>
                    <m:r>
                      <a:rPr lang="en-US" sz="2000" i="1" dirty="0">
                        <a:latin typeface="Cambria Math" panose="02040503050406030204" pitchFamily="18" charset="0"/>
                      </a:rPr>
                      <m:t>(</m:t>
                    </m:r>
                    <m:r>
                      <a:rPr lang="en-US" sz="2000" i="1" dirty="0">
                        <a:latin typeface="Cambria Math" panose="02040503050406030204" pitchFamily="18" charset="0"/>
                      </a:rPr>
                      <m:t>𝑠𝑡𝑎𝑟𝑡</m:t>
                    </m:r>
                    <m:r>
                      <a:rPr lang="en-US" sz="2000" i="1" dirty="0">
                        <a:latin typeface="Cambria Math" panose="02040503050406030204" pitchFamily="18" charset="0"/>
                      </a:rPr>
                      <m:t>) = 3+1+2+2+2+3+3+2 = 18</m:t>
                    </m:r>
                  </m:oMath>
                </a14:m>
                <a:endParaRPr lang="en-US" sz="2000" dirty="0"/>
              </a:p>
              <a:p>
                <a:pPr marL="0" indent="0">
                  <a:buNone/>
                </a:pPr>
                <a:endParaRPr lang="en-US" sz="2000" dirty="0"/>
              </a:p>
              <a:p>
                <a:pPr marL="0" indent="0">
                  <a:buNone/>
                </a:pPr>
                <a:r>
                  <a:rPr lang="en-US" sz="2000" dirty="0"/>
                  <a:t>Are </a:t>
                </a:r>
                <a14:m>
                  <m:oMath xmlns:m="http://schemas.openxmlformats.org/officeDocument/2006/math">
                    <m:r>
                      <a:rPr lang="en-US" sz="2000" i="1" dirty="0" smtClean="0">
                        <a:latin typeface="Cambria Math" panose="02040503050406030204" pitchFamily="18" charset="0"/>
                      </a:rPr>
                      <m:t>h</m:t>
                    </m:r>
                    <m:r>
                      <a:rPr lang="en-US" sz="2000" i="1" baseline="-25000" dirty="0">
                        <a:latin typeface="Cambria Math" panose="02040503050406030204" pitchFamily="18" charset="0"/>
                      </a:rPr>
                      <m:t>1</m:t>
                    </m:r>
                  </m:oMath>
                </a14:m>
                <a:r>
                  <a:rPr lang="en-US" sz="2000" baseline="-25000" dirty="0"/>
                  <a:t> </a:t>
                </a:r>
                <a:r>
                  <a:rPr lang="en-US" sz="2000" dirty="0"/>
                  <a:t>and </a:t>
                </a:r>
                <a14:m>
                  <m:oMath xmlns:m="http://schemas.openxmlformats.org/officeDocument/2006/math">
                    <m:r>
                      <a:rPr lang="en-US" sz="2000" i="1" dirty="0" smtClean="0">
                        <a:latin typeface="Cambria Math" panose="02040503050406030204" pitchFamily="18" charset="0"/>
                      </a:rPr>
                      <m:t>h</m:t>
                    </m:r>
                    <m:r>
                      <a:rPr lang="en-US" sz="2000" i="1" baseline="-25000" dirty="0">
                        <a:latin typeface="Cambria Math" panose="02040503050406030204" pitchFamily="18" charset="0"/>
                      </a:rPr>
                      <m:t>2</m:t>
                    </m:r>
                  </m:oMath>
                </a14:m>
                <a:r>
                  <a:rPr lang="en-US" sz="2000" baseline="-25000" dirty="0"/>
                  <a:t> </a:t>
                </a:r>
                <a:r>
                  <a:rPr lang="en-US" sz="2000" dirty="0"/>
                  <a:t>admissible?</a:t>
                </a:r>
              </a:p>
            </p:txBody>
          </p:sp>
        </mc:Choice>
        <mc:Fallback>
          <p:sp>
            <p:nvSpPr>
              <p:cNvPr id="28675" name="Rectangle 3"/>
              <p:cNvSpPr>
                <a:spLocks noGrp="1" noRot="1" noChangeAspect="1" noMove="1" noResize="1" noEditPoints="1" noAdjustHandles="1" noChangeArrowheads="1" noChangeShapeType="1" noTextEdit="1"/>
              </p:cNvSpPr>
              <p:nvPr>
                <p:ph idx="1"/>
              </p:nvPr>
            </p:nvSpPr>
            <p:spPr>
              <a:xfrm>
                <a:off x="628650" y="3657600"/>
                <a:ext cx="7886700" cy="2835274"/>
              </a:xfrm>
              <a:blipFill>
                <a:blip r:embed="rId3"/>
                <a:stretch>
                  <a:fillRect l="-696" t="-3656" b="-1075"/>
                </a:stretch>
              </a:blipFill>
            </p:spPr>
            <p:txBody>
              <a:bodyPr/>
              <a:lstStyle/>
              <a:p>
                <a:r>
                  <a:rPr lang="en-US">
                    <a:noFill/>
                  </a:rPr>
                  <a:t> </a:t>
                </a:r>
              </a:p>
            </p:txBody>
          </p:sp>
        </mc:Fallback>
      </mc:AlternateContent>
      <p:pic>
        <p:nvPicPr>
          <p:cNvPr id="28677" name="Picture 5" descr="8puzzle"/>
          <p:cNvPicPr>
            <a:picLocks noChangeAspect="1" noChangeArrowheads="1"/>
          </p:cNvPicPr>
          <p:nvPr/>
        </p:nvPicPr>
        <p:blipFill>
          <a:blip r:embed="rId4" cstate="print"/>
          <a:srcRect/>
          <a:stretch>
            <a:fillRect/>
          </a:stretch>
        </p:blipFill>
        <p:spPr bwMode="auto">
          <a:xfrm>
            <a:off x="2443162" y="1419225"/>
            <a:ext cx="4257675" cy="2162175"/>
          </a:xfrm>
          <a:prstGeom prst="rect">
            <a:avLst/>
          </a:prstGeom>
          <a:noFill/>
        </p:spPr>
      </p:pic>
      <p:sp>
        <p:nvSpPr>
          <p:cNvPr id="2" name="Speech Bubble: Oval 1">
            <a:extLst>
              <a:ext uri="{FF2B5EF4-FFF2-40B4-BE49-F238E27FC236}">
                <a16:creationId xmlns:a16="http://schemas.microsoft.com/office/drawing/2014/main" id="{FD045406-1F84-4E3F-86E8-5D2BF0DAD9FB}"/>
              </a:ext>
            </a:extLst>
          </p:cNvPr>
          <p:cNvSpPr/>
          <p:nvPr/>
        </p:nvSpPr>
        <p:spPr>
          <a:xfrm>
            <a:off x="3619500" y="5791200"/>
            <a:ext cx="1905000" cy="625474"/>
          </a:xfrm>
          <a:prstGeom prst="wedgeEllipseCallout">
            <a:avLst>
              <a:gd name="adj1" fmla="val -98807"/>
              <a:gd name="adj2" fmla="val -62647"/>
            </a:avLst>
          </a:prstGeom>
        </p:spPr>
        <p:style>
          <a:lnRef idx="2">
            <a:schemeClr val="accent3">
              <a:shade val="15000"/>
            </a:schemeClr>
          </a:lnRef>
          <a:fillRef idx="1">
            <a:schemeClr val="accent3"/>
          </a:fillRef>
          <a:effectRef idx="0">
            <a:schemeClr val="accent3"/>
          </a:effectRef>
          <a:fontRef idx="minor">
            <a:schemeClr val="lt1"/>
          </a:fontRef>
        </p:style>
        <p:txBody>
          <a:bodyPr rtlCol="0" anchor="ctr"/>
          <a:lstStyle/>
          <a:p>
            <a:pPr algn="ctr"/>
            <a:r>
              <a:rPr lang="en-US" sz="1200" dirty="0"/>
              <a:t>1 needs to move 3 positions</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8675">
                                            <p:txEl>
                                              <p:pRg st="1" end="1"/>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28675">
                                            <p:txEl>
                                              <p:pRg st="2" end="2"/>
                                            </p:txEl>
                                          </p:spTgt>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28675">
                                            <p:txEl>
                                              <p:pRg st="5" end="5"/>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28675">
                                            <p:txEl>
                                              <p:pRg st="6" end="6"/>
                                            </p:txEl>
                                          </p:spTgt>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2"/>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nodeType="clickEffect">
                                  <p:stCondLst>
                                    <p:cond delay="0"/>
                                  </p:stCondLst>
                                  <p:childTnLst>
                                    <p:set>
                                      <p:cBhvr>
                                        <p:cTn id="20" dur="1" fill="hold">
                                          <p:stCondLst>
                                            <p:cond delay="0"/>
                                          </p:stCondLst>
                                        </p:cTn>
                                        <p:tgtEl>
                                          <p:spTgt spid="28675">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Lst>
  </p:timing>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1746" name="Rectangle 2"/>
          <p:cNvSpPr>
            <a:spLocks noGrp="1" noChangeArrowheads="1"/>
          </p:cNvSpPr>
          <p:nvPr>
            <p:ph type="title"/>
          </p:nvPr>
        </p:nvSpPr>
        <p:spPr/>
        <p:txBody>
          <a:bodyPr/>
          <a:lstStyle/>
          <a:p>
            <a:r>
              <a:rPr lang="en-US" dirty="0"/>
              <a:t>Heuristics from Relaxed Problems</a:t>
            </a:r>
          </a:p>
        </p:txBody>
      </p:sp>
      <mc:AlternateContent xmlns:mc="http://schemas.openxmlformats.org/markup-compatibility/2006">
        <mc:Choice xmlns:a14="http://schemas.microsoft.com/office/drawing/2010/main" Requires="a14">
          <p:sp>
            <p:nvSpPr>
              <p:cNvPr id="31747" name="Rectangle 3"/>
              <p:cNvSpPr>
                <a:spLocks noGrp="1" noChangeArrowheads="1"/>
              </p:cNvSpPr>
              <p:nvPr>
                <p:ph idx="1"/>
              </p:nvPr>
            </p:nvSpPr>
            <p:spPr>
              <a:xfrm>
                <a:off x="628650" y="1600200"/>
                <a:ext cx="7886700" cy="2743200"/>
              </a:xfrm>
            </p:spPr>
            <p:txBody>
              <a:bodyPr>
                <a:normAutofit fontScale="92500" lnSpcReduction="20000"/>
              </a:bodyPr>
              <a:lstStyle/>
              <a:p>
                <a:r>
                  <a:rPr lang="en-US" sz="2000" dirty="0"/>
                  <a:t>A problem with fewer restrictions on the actions (the transition model) is called a relaxed problem.</a:t>
                </a:r>
                <a:endParaRPr lang="en-US" sz="2000" b="1" dirty="0">
                  <a:solidFill>
                    <a:srgbClr val="FF0000"/>
                  </a:solidFill>
                </a:endParaRPr>
              </a:p>
              <a:p>
                <a:r>
                  <a:rPr lang="en-US" sz="2000" b="1" dirty="0">
                    <a:solidFill>
                      <a:srgbClr val="FF0000"/>
                    </a:solidFill>
                  </a:rPr>
                  <a:t>Guarantee: </a:t>
                </a:r>
                <a:r>
                  <a:rPr lang="en-US" sz="2000" dirty="0"/>
                  <a:t>The cost of an optimal solution to a relaxed problem is an admissible heuristic for the original problem. I.e., the true cost is never smaller.</a:t>
                </a:r>
              </a:p>
              <a:p>
                <a:endParaRPr lang="en-US" dirty="0"/>
              </a:p>
              <a:p>
                <a:r>
                  <a:rPr lang="en-US" dirty="0"/>
                  <a:t>What relaxation is used by </a:t>
                </a:r>
                <a14:m>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h</m:t>
                        </m:r>
                      </m:e>
                      <m:sub>
                        <m:r>
                          <a:rPr lang="en-US" b="0" i="1" smtClean="0">
                            <a:latin typeface="Cambria Math" panose="02040503050406030204" pitchFamily="18" charset="0"/>
                          </a:rPr>
                          <m:t>1</m:t>
                        </m:r>
                      </m:sub>
                    </m:sSub>
                  </m:oMath>
                </a14:m>
                <a:r>
                  <a:rPr lang="en-US" dirty="0"/>
                  <a:t> and </a:t>
                </a:r>
                <a14:m>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h</m:t>
                        </m:r>
                      </m:e>
                      <m:sub>
                        <m:r>
                          <a:rPr lang="en-US" b="0" i="1" smtClean="0">
                            <a:latin typeface="Cambria Math" panose="02040503050406030204" pitchFamily="18" charset="0"/>
                          </a:rPr>
                          <m:t>2</m:t>
                        </m:r>
                      </m:sub>
                    </m:sSub>
                  </m:oMath>
                </a14:m>
                <a:r>
                  <a:rPr lang="en-US" dirty="0"/>
                  <a:t>?</a:t>
                </a:r>
              </a:p>
              <a:p>
                <a:pPr lvl="1"/>
                <a14:m>
                  <m:oMath xmlns:m="http://schemas.openxmlformats.org/officeDocument/2006/math">
                    <m:r>
                      <a:rPr lang="en-US" sz="1700" i="1" dirty="0">
                        <a:latin typeface="Cambria Math" panose="02040503050406030204" pitchFamily="18" charset="0"/>
                      </a:rPr>
                      <m:t>h</m:t>
                    </m:r>
                    <m:r>
                      <a:rPr lang="en-US" sz="1700" i="1" baseline="-25000" dirty="0">
                        <a:latin typeface="Cambria Math" panose="02040503050406030204" pitchFamily="18" charset="0"/>
                      </a:rPr>
                      <m:t>1</m:t>
                    </m:r>
                  </m:oMath>
                </a14:m>
                <a:r>
                  <a:rPr lang="en-US" sz="1700" dirty="0"/>
                  <a:t>: The rules of the 8-puzzle are relaxed so that a tile can be move </a:t>
                </a:r>
                <a:r>
                  <a:rPr lang="en-US" sz="1700" dirty="0">
                    <a:solidFill>
                      <a:srgbClr val="FF0000"/>
                    </a:solidFill>
                  </a:rPr>
                  <a:t>anywhere</a:t>
                </a:r>
                <a:r>
                  <a:rPr lang="en-US" sz="1700" dirty="0"/>
                  <a:t> in one step.</a:t>
                </a:r>
              </a:p>
              <a:p>
                <a:pPr lvl="1"/>
                <a14:m>
                  <m:oMath xmlns:m="http://schemas.openxmlformats.org/officeDocument/2006/math">
                    <m:r>
                      <a:rPr lang="en-US" sz="1700" i="1" dirty="0">
                        <a:latin typeface="Cambria Math" panose="02040503050406030204" pitchFamily="18" charset="0"/>
                      </a:rPr>
                      <m:t>h</m:t>
                    </m:r>
                    <m:r>
                      <a:rPr lang="en-US" sz="1700" b="0" i="1" baseline="-25000" dirty="0" smtClean="0">
                        <a:latin typeface="Cambria Math" panose="02040503050406030204" pitchFamily="18" charset="0"/>
                      </a:rPr>
                      <m:t>2</m:t>
                    </m:r>
                  </m:oMath>
                </a14:m>
                <a:r>
                  <a:rPr lang="en-US" sz="1700" dirty="0"/>
                  <a:t>: The rules are relaxed so that a tile can move to </a:t>
                </a:r>
                <a:r>
                  <a:rPr lang="en-US" sz="1700" dirty="0">
                    <a:solidFill>
                      <a:srgbClr val="FF0000"/>
                    </a:solidFill>
                  </a:rPr>
                  <a:t>any adjacent square</a:t>
                </a:r>
                <a:r>
                  <a:rPr lang="en-US" sz="1700" dirty="0"/>
                  <a:t>, even on top of other squares.</a:t>
                </a:r>
              </a:p>
            </p:txBody>
          </p:sp>
        </mc:Choice>
        <mc:Fallback>
          <p:sp>
            <p:nvSpPr>
              <p:cNvPr id="31747" name="Rectangle 3"/>
              <p:cNvSpPr>
                <a:spLocks noGrp="1" noRot="1" noChangeAspect="1" noMove="1" noResize="1" noEditPoints="1" noAdjustHandles="1" noChangeArrowheads="1" noChangeShapeType="1" noTextEdit="1"/>
              </p:cNvSpPr>
              <p:nvPr>
                <p:ph idx="1"/>
              </p:nvPr>
            </p:nvSpPr>
            <p:spPr>
              <a:xfrm>
                <a:off x="628650" y="1600200"/>
                <a:ext cx="7886700" cy="2743200"/>
              </a:xfrm>
              <a:blipFill>
                <a:blip r:embed="rId3"/>
                <a:stretch>
                  <a:fillRect l="-541" t="-3778" r="-232"/>
                </a:stretch>
              </a:blipFill>
            </p:spPr>
            <p:txBody>
              <a:bodyPr/>
              <a:lstStyle/>
              <a:p>
                <a:r>
                  <a:rPr lang="en-US">
                    <a:noFill/>
                  </a:rPr>
                  <a:t> </a:t>
                </a:r>
              </a:p>
            </p:txBody>
          </p:sp>
        </mc:Fallback>
      </mc:AlternateContent>
      <p:grpSp>
        <p:nvGrpSpPr>
          <p:cNvPr id="3" name="Group 2">
            <a:extLst>
              <a:ext uri="{FF2B5EF4-FFF2-40B4-BE49-F238E27FC236}">
                <a16:creationId xmlns:a16="http://schemas.microsoft.com/office/drawing/2014/main" id="{F004DC3E-E052-1B42-0FA3-0FCADBE587B2}"/>
              </a:ext>
            </a:extLst>
          </p:cNvPr>
          <p:cNvGrpSpPr/>
          <p:nvPr/>
        </p:nvGrpSpPr>
        <p:grpSpPr>
          <a:xfrm>
            <a:off x="762000" y="4419600"/>
            <a:ext cx="7924800" cy="2209800"/>
            <a:chOff x="762000" y="4419600"/>
            <a:chExt cx="7924800" cy="2209800"/>
          </a:xfrm>
        </p:grpSpPr>
        <p:pic>
          <p:nvPicPr>
            <p:cNvPr id="4" name="Picture 5" descr="8puzzle">
              <a:extLst>
                <a:ext uri="{FF2B5EF4-FFF2-40B4-BE49-F238E27FC236}">
                  <a16:creationId xmlns:a16="http://schemas.microsoft.com/office/drawing/2014/main" id="{66432456-2E86-4039-AC9B-531E04026339}"/>
                </a:ext>
              </a:extLst>
            </p:cNvPr>
            <p:cNvPicPr>
              <a:picLocks noChangeAspect="1" noChangeArrowheads="1"/>
            </p:cNvPicPr>
            <p:nvPr/>
          </p:nvPicPr>
          <p:blipFill>
            <a:blip r:embed="rId4" cstate="print"/>
            <a:srcRect/>
            <a:stretch>
              <a:fillRect/>
            </a:stretch>
          </p:blipFill>
          <p:spPr bwMode="auto">
            <a:xfrm>
              <a:off x="762000" y="4467225"/>
              <a:ext cx="4257675" cy="2162175"/>
            </a:xfrm>
            <a:prstGeom prst="rect">
              <a:avLst/>
            </a:prstGeom>
            <a:noFill/>
          </p:spPr>
        </p:pic>
        <mc:AlternateContent xmlns:mc="http://schemas.openxmlformats.org/markup-compatibility/2006">
          <mc:Choice xmlns:a14="http://schemas.microsoft.com/office/drawing/2010/main" Requires="a14">
            <p:sp>
              <p:nvSpPr>
                <p:cNvPr id="2" name="Rectangle 1">
                  <a:extLst>
                    <a:ext uri="{FF2B5EF4-FFF2-40B4-BE49-F238E27FC236}">
                      <a16:creationId xmlns:a16="http://schemas.microsoft.com/office/drawing/2014/main" id="{16A7BB08-C7D6-4FA0-8AAE-E2FDBC693D13}"/>
                    </a:ext>
                  </a:extLst>
                </p:cNvPr>
                <p:cNvSpPr/>
                <p:nvPr/>
              </p:nvSpPr>
              <p:spPr>
                <a:xfrm>
                  <a:off x="5257800" y="4419600"/>
                  <a:ext cx="3429000" cy="1804597"/>
                </a:xfrm>
                <a:prstGeom prst="rect">
                  <a:avLst/>
                </a:prstGeom>
              </p:spPr>
              <p:txBody>
                <a:bodyPr wrap="square">
                  <a:spAutoFit/>
                </a:bodyPr>
                <a:lstStyle/>
                <a:p>
                  <a:pPr/>
                  <a:r>
                    <a:rPr lang="en-US" sz="1600" dirty="0"/>
                    <a:t>Misplaced tiles</a:t>
                  </a:r>
                </a:p>
                <a:p>
                  <a:pPr/>
                  <a14:m>
                    <m:oMathPara xmlns:m="http://schemas.openxmlformats.org/officeDocument/2006/math">
                      <m:oMathParaPr>
                        <m:jc m:val="left"/>
                      </m:oMathParaPr>
                      <m:oMath xmlns:m="http://schemas.openxmlformats.org/officeDocument/2006/math">
                        <m:r>
                          <a:rPr lang="en-US" sz="1600" i="1" dirty="0" smtClean="0">
                            <a:latin typeface="Cambria Math" panose="02040503050406030204" pitchFamily="18" charset="0"/>
                          </a:rPr>
                          <m:t>h</m:t>
                        </m:r>
                        <m:r>
                          <a:rPr lang="en-US" sz="1600" i="1" baseline="-25000" dirty="0">
                            <a:latin typeface="Cambria Math" panose="02040503050406030204" pitchFamily="18" charset="0"/>
                          </a:rPr>
                          <m:t>1</m:t>
                        </m:r>
                        <m:r>
                          <a:rPr lang="en-US" sz="1600" i="1" dirty="0">
                            <a:latin typeface="Cambria Math" panose="02040503050406030204" pitchFamily="18" charset="0"/>
                          </a:rPr>
                          <m:t>(</m:t>
                        </m:r>
                        <m:r>
                          <a:rPr lang="en-US" sz="1600" i="1" dirty="0">
                            <a:latin typeface="Cambria Math" panose="02040503050406030204" pitchFamily="18" charset="0"/>
                          </a:rPr>
                          <m:t>𝑠𝑡𝑎𝑟𝑡</m:t>
                        </m:r>
                        <m:r>
                          <a:rPr lang="en-US" sz="1600" i="1" dirty="0">
                            <a:latin typeface="Cambria Math" panose="02040503050406030204" pitchFamily="18" charset="0"/>
                          </a:rPr>
                          <m:t>) = 8</m:t>
                        </m:r>
                      </m:oMath>
                    </m:oMathPara>
                  </a14:m>
                  <a:endParaRPr lang="en-US" sz="1600" dirty="0"/>
                </a:p>
                <a:p>
                  <a:endParaRPr lang="en-US" sz="1600" i="1" dirty="0"/>
                </a:p>
                <a:p>
                  <a:r>
                    <a:rPr lang="en-US" sz="1600" dirty="0"/>
                    <a:t>Sum of Manhattan distances</a:t>
                  </a:r>
                </a:p>
                <a:p>
                  <a:pPr/>
                  <a14:m>
                    <m:oMathPara xmlns:m="http://schemas.openxmlformats.org/officeDocument/2006/math">
                      <m:oMathParaPr>
                        <m:jc m:val="left"/>
                      </m:oMathParaPr>
                      <m:oMath xmlns:m="http://schemas.openxmlformats.org/officeDocument/2006/math">
                        <m:r>
                          <a:rPr lang="en-US" sz="1600" i="1" dirty="0" smtClean="0">
                            <a:latin typeface="Cambria Math" panose="02040503050406030204" pitchFamily="18" charset="0"/>
                          </a:rPr>
                          <m:t>h</m:t>
                        </m:r>
                        <m:r>
                          <a:rPr lang="en-US" sz="1600" i="1" baseline="-25000" dirty="0">
                            <a:latin typeface="Cambria Math" panose="02040503050406030204" pitchFamily="18" charset="0"/>
                          </a:rPr>
                          <m:t>2</m:t>
                        </m:r>
                        <m:r>
                          <a:rPr lang="en-US" sz="1600" i="1" dirty="0">
                            <a:latin typeface="Cambria Math" panose="02040503050406030204" pitchFamily="18" charset="0"/>
                          </a:rPr>
                          <m:t>(</m:t>
                        </m:r>
                        <m:r>
                          <a:rPr lang="en-US" sz="1600" i="1" dirty="0">
                            <a:latin typeface="Cambria Math" panose="02040503050406030204" pitchFamily="18" charset="0"/>
                          </a:rPr>
                          <m:t>𝑠𝑡𝑎𝑟𝑡</m:t>
                        </m:r>
                        <m:r>
                          <a:rPr lang="en-US" sz="1600" b="0" i="1" dirty="0" smtClean="0">
                            <a:latin typeface="Cambria Math" panose="02040503050406030204" pitchFamily="18" charset="0"/>
                          </a:rPr>
                          <m:t>)</m:t>
                        </m:r>
                        <m:r>
                          <a:rPr lang="en-US" sz="1600" i="1" dirty="0">
                            <a:latin typeface="Cambria Math" panose="02040503050406030204" pitchFamily="18" charset="0"/>
                          </a:rPr>
                          <m:t>= 3+1+2+2+2+3+3+2 = 18</m:t>
                        </m:r>
                      </m:oMath>
                    </m:oMathPara>
                  </a14:m>
                  <a:endParaRPr lang="en-US" sz="1600" dirty="0"/>
                </a:p>
              </p:txBody>
            </p:sp>
          </mc:Choice>
          <mc:Fallback>
            <p:sp>
              <p:nvSpPr>
                <p:cNvPr id="2" name="Rectangle 1">
                  <a:extLst>
                    <a:ext uri="{FF2B5EF4-FFF2-40B4-BE49-F238E27FC236}">
                      <a16:creationId xmlns:a16="http://schemas.microsoft.com/office/drawing/2014/main" id="{16A7BB08-C7D6-4FA0-8AAE-E2FDBC693D13}"/>
                    </a:ext>
                  </a:extLst>
                </p:cNvPr>
                <p:cNvSpPr>
                  <a:spLocks noRot="1" noChangeAspect="1" noMove="1" noResize="1" noEditPoints="1" noAdjustHandles="1" noChangeArrowheads="1" noChangeShapeType="1" noTextEdit="1"/>
                </p:cNvSpPr>
                <p:nvPr/>
              </p:nvSpPr>
              <p:spPr>
                <a:xfrm>
                  <a:off x="5257800" y="4419600"/>
                  <a:ext cx="3429000" cy="1804597"/>
                </a:xfrm>
                <a:prstGeom prst="rect">
                  <a:avLst/>
                </a:prstGeom>
                <a:blipFill>
                  <a:blip r:embed="rId5"/>
                  <a:stretch>
                    <a:fillRect l="-1068" t="-1014"/>
                  </a:stretch>
                </a:blipFill>
              </p:spPr>
              <p:txBody>
                <a:bodyPr/>
                <a:lstStyle/>
                <a:p>
                  <a:r>
                    <a:rPr lang="en-US">
                      <a:noFill/>
                    </a:rPr>
                    <a:t> </a:t>
                  </a:r>
                </a:p>
              </p:txBody>
            </p:sp>
          </mc:Fallback>
        </mc:AlternateContent>
      </p:gr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1747">
                                            <p:txEl>
                                              <p:pRg st="3" end="3"/>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3"/>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31747">
                                            <p:txEl>
                                              <p:pRg st="4" end="4"/>
                                            </p:txEl>
                                          </p:spTgt>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31747">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1747" grpId="0" uiExpand="1" build="p"/>
    </p:bldLst>
  </p:timing>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76200"/>
            <a:ext cx="8229600" cy="1143000"/>
          </a:xfrm>
        </p:spPr>
        <p:txBody>
          <a:bodyPr/>
          <a:lstStyle/>
          <a:p>
            <a:r>
              <a:rPr lang="en-US" dirty="0"/>
              <a:t>Heuristics from Relaxed Problems</a:t>
            </a:r>
          </a:p>
        </p:txBody>
      </p:sp>
      <p:sp>
        <p:nvSpPr>
          <p:cNvPr id="3" name="Content Placeholder 2"/>
          <p:cNvSpPr>
            <a:spLocks noGrp="1"/>
          </p:cNvSpPr>
          <p:nvPr>
            <p:ph idx="1"/>
          </p:nvPr>
        </p:nvSpPr>
        <p:spPr>
          <a:xfrm>
            <a:off x="457200" y="1219200"/>
            <a:ext cx="8229600" cy="4525963"/>
          </a:xfrm>
        </p:spPr>
        <p:txBody>
          <a:bodyPr>
            <a:normAutofit/>
          </a:bodyPr>
          <a:lstStyle/>
          <a:p>
            <a:pPr marL="0" indent="0" algn="ctr">
              <a:buNone/>
            </a:pPr>
            <a:r>
              <a:rPr lang="en-US" sz="2400" b="1" dirty="0"/>
              <a:t>What relaxations are used in these two cases?</a:t>
            </a:r>
          </a:p>
        </p:txBody>
      </p:sp>
      <p:pic>
        <p:nvPicPr>
          <p:cNvPr id="5" name="Picture 2"/>
          <p:cNvPicPr>
            <a:picLocks noChangeAspect="1" noChangeArrowheads="1"/>
          </p:cNvPicPr>
          <p:nvPr/>
        </p:nvPicPr>
        <p:blipFill>
          <a:blip r:embed="rId3" cstate="print">
            <a:extLst>
              <a:ext uri="{BEBA8EAE-BF5A-486C-A8C5-ECC9F3942E4B}">
                <a14:imgProps xmlns:a14="http://schemas.microsoft.com/office/drawing/2010/main">
                  <a14:imgLayer r:embed="rId4">
                    <a14:imgEffect>
                      <a14:artisticPencilSketch/>
                    </a14:imgEffect>
                  </a14:imgLayer>
                </a14:imgProps>
              </a:ext>
            </a:extLst>
          </a:blip>
          <a:srcRect/>
          <a:stretch>
            <a:fillRect/>
          </a:stretch>
        </p:blipFill>
        <p:spPr bwMode="auto">
          <a:xfrm>
            <a:off x="652534" y="2678960"/>
            <a:ext cx="3272163" cy="3272163"/>
          </a:xfrm>
          <a:prstGeom prst="rect">
            <a:avLst/>
          </a:prstGeom>
          <a:noFill/>
          <a:ln w="9525">
            <a:noFill/>
            <a:miter lim="800000"/>
            <a:headEnd/>
            <a:tailEnd/>
          </a:ln>
        </p:spPr>
      </p:pic>
      <p:sp>
        <p:nvSpPr>
          <p:cNvPr id="6" name="Down Arrow 5"/>
          <p:cNvSpPr/>
          <p:nvPr/>
        </p:nvSpPr>
        <p:spPr>
          <a:xfrm>
            <a:off x="834321" y="2427299"/>
            <a:ext cx="181787" cy="242382"/>
          </a:xfrm>
          <a:prstGeom prst="down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extBox 6"/>
          <p:cNvSpPr txBox="1"/>
          <p:nvPr/>
        </p:nvSpPr>
        <p:spPr>
          <a:xfrm>
            <a:off x="457200" y="2133600"/>
            <a:ext cx="983077" cy="293699"/>
          </a:xfrm>
          <a:prstGeom prst="rect">
            <a:avLst/>
          </a:prstGeom>
          <a:noFill/>
        </p:spPr>
        <p:txBody>
          <a:bodyPr wrap="none" rtlCol="0">
            <a:spAutoFit/>
          </a:bodyPr>
          <a:lstStyle/>
          <a:p>
            <a:r>
              <a:rPr lang="en-US" dirty="0"/>
              <a:t>Start state</a:t>
            </a:r>
          </a:p>
        </p:txBody>
      </p:sp>
      <p:sp>
        <p:nvSpPr>
          <p:cNvPr id="8" name="Down Arrow 7"/>
          <p:cNvSpPr/>
          <p:nvPr/>
        </p:nvSpPr>
        <p:spPr>
          <a:xfrm rot="5400000">
            <a:off x="4068898" y="5547973"/>
            <a:ext cx="181787" cy="242382"/>
          </a:xfrm>
          <a:prstGeom prst="down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TextBox 8"/>
          <p:cNvSpPr txBox="1"/>
          <p:nvPr/>
        </p:nvSpPr>
        <p:spPr>
          <a:xfrm>
            <a:off x="3372562" y="5974746"/>
            <a:ext cx="983077" cy="293699"/>
          </a:xfrm>
          <a:prstGeom prst="rect">
            <a:avLst/>
          </a:prstGeom>
          <a:noFill/>
        </p:spPr>
        <p:txBody>
          <a:bodyPr wrap="none" rtlCol="0">
            <a:spAutoFit/>
          </a:bodyPr>
          <a:lstStyle/>
          <a:p>
            <a:r>
              <a:rPr lang="en-US" dirty="0"/>
              <a:t>Goal state</a:t>
            </a:r>
          </a:p>
        </p:txBody>
      </p:sp>
      <p:sp>
        <p:nvSpPr>
          <p:cNvPr id="10" name="5-Point Star 9"/>
          <p:cNvSpPr/>
          <p:nvPr/>
        </p:nvSpPr>
        <p:spPr>
          <a:xfrm>
            <a:off x="1864446" y="4920998"/>
            <a:ext cx="181787" cy="181787"/>
          </a:xfrm>
          <a:prstGeom prst="star5">
            <a:avLst/>
          </a:prstGeom>
          <a:solidFill>
            <a:srgbClr val="FF0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1" name="Straight Connector 10"/>
          <p:cNvCxnSpPr/>
          <p:nvPr/>
        </p:nvCxnSpPr>
        <p:spPr>
          <a:xfrm>
            <a:off x="1985637" y="5042189"/>
            <a:ext cx="1878464" cy="666552"/>
          </a:xfrm>
          <a:prstGeom prst="line">
            <a:avLst/>
          </a:prstGeom>
          <a:ln w="38100" cap="flat" cmpd="sng" algn="ctr">
            <a:solidFill>
              <a:schemeClr val="accent2"/>
            </a:solidFill>
            <a:prstDash val="solid"/>
            <a:round/>
            <a:headEnd type="arrow" w="med" len="med"/>
            <a:tailEnd type="arrow" w="med" len="med"/>
          </a:ln>
        </p:spPr>
        <p:style>
          <a:lnRef idx="0">
            <a:scrgbClr r="0" g="0" b="0"/>
          </a:lnRef>
          <a:fillRef idx="0">
            <a:scrgbClr r="0" g="0" b="0"/>
          </a:fillRef>
          <a:effectRef idx="0">
            <a:scrgbClr r="0" g="0" b="0"/>
          </a:effectRef>
          <a:fontRef idx="minor">
            <a:schemeClr val="tx1"/>
          </a:fontRef>
        </p:style>
      </p:cxnSp>
      <p:pic>
        <p:nvPicPr>
          <p:cNvPr id="12" name="Picture 2">
            <a:extLst>
              <a:ext uri="{FF2B5EF4-FFF2-40B4-BE49-F238E27FC236}">
                <a16:creationId xmlns:a16="http://schemas.microsoft.com/office/drawing/2014/main" id="{DF9E533F-BB9B-4439-8E8F-5DED1104394F}"/>
              </a:ext>
            </a:extLst>
          </p:cNvPr>
          <p:cNvPicPr>
            <a:picLocks noChangeAspect="1" noChangeArrowheads="1"/>
          </p:cNvPicPr>
          <p:nvPr/>
        </p:nvPicPr>
        <p:blipFill>
          <a:blip r:embed="rId3" cstate="print">
            <a:extLst>
              <a:ext uri="{BEBA8EAE-BF5A-486C-A8C5-ECC9F3942E4B}">
                <a14:imgProps xmlns:a14="http://schemas.microsoft.com/office/drawing/2010/main">
                  <a14:imgLayer r:embed="rId4">
                    <a14:imgEffect>
                      <a14:artisticPencilSketch/>
                    </a14:imgEffect>
                  </a14:imgLayer>
                </a14:imgProps>
              </a:ext>
            </a:extLst>
          </a:blip>
          <a:srcRect/>
          <a:stretch>
            <a:fillRect/>
          </a:stretch>
        </p:blipFill>
        <p:spPr bwMode="auto">
          <a:xfrm>
            <a:off x="4843534" y="2650385"/>
            <a:ext cx="3272163" cy="3272163"/>
          </a:xfrm>
          <a:prstGeom prst="rect">
            <a:avLst/>
          </a:prstGeom>
          <a:noFill/>
          <a:ln w="9525">
            <a:noFill/>
            <a:miter lim="800000"/>
            <a:headEnd/>
            <a:tailEnd/>
          </a:ln>
        </p:spPr>
      </p:pic>
      <p:sp>
        <p:nvSpPr>
          <p:cNvPr id="13" name="Down Arrow 5">
            <a:extLst>
              <a:ext uri="{FF2B5EF4-FFF2-40B4-BE49-F238E27FC236}">
                <a16:creationId xmlns:a16="http://schemas.microsoft.com/office/drawing/2014/main" id="{B3F9EDDE-1211-49CC-AE28-0DEA8B67AF1F}"/>
              </a:ext>
            </a:extLst>
          </p:cNvPr>
          <p:cNvSpPr/>
          <p:nvPr/>
        </p:nvSpPr>
        <p:spPr>
          <a:xfrm>
            <a:off x="5025321" y="2398724"/>
            <a:ext cx="181787" cy="242382"/>
          </a:xfrm>
          <a:prstGeom prst="down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TextBox 13">
            <a:extLst>
              <a:ext uri="{FF2B5EF4-FFF2-40B4-BE49-F238E27FC236}">
                <a16:creationId xmlns:a16="http://schemas.microsoft.com/office/drawing/2014/main" id="{44A4A6DB-BDAD-44F5-B13C-B4880EE656EE}"/>
              </a:ext>
            </a:extLst>
          </p:cNvPr>
          <p:cNvSpPr txBox="1"/>
          <p:nvPr/>
        </p:nvSpPr>
        <p:spPr>
          <a:xfrm>
            <a:off x="4648200" y="2105025"/>
            <a:ext cx="983077" cy="293699"/>
          </a:xfrm>
          <a:prstGeom prst="rect">
            <a:avLst/>
          </a:prstGeom>
          <a:noFill/>
        </p:spPr>
        <p:txBody>
          <a:bodyPr wrap="none" rtlCol="0">
            <a:spAutoFit/>
          </a:bodyPr>
          <a:lstStyle/>
          <a:p>
            <a:r>
              <a:rPr lang="en-US" dirty="0"/>
              <a:t>Start state</a:t>
            </a:r>
          </a:p>
        </p:txBody>
      </p:sp>
      <p:sp>
        <p:nvSpPr>
          <p:cNvPr id="15" name="Down Arrow 7">
            <a:extLst>
              <a:ext uri="{FF2B5EF4-FFF2-40B4-BE49-F238E27FC236}">
                <a16:creationId xmlns:a16="http://schemas.microsoft.com/office/drawing/2014/main" id="{6552566B-6F41-412F-BD9D-8B255E817642}"/>
              </a:ext>
            </a:extLst>
          </p:cNvPr>
          <p:cNvSpPr/>
          <p:nvPr/>
        </p:nvSpPr>
        <p:spPr>
          <a:xfrm rot="5400000">
            <a:off x="8236888" y="5519398"/>
            <a:ext cx="181787" cy="242382"/>
          </a:xfrm>
          <a:prstGeom prst="down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TextBox 15">
            <a:extLst>
              <a:ext uri="{FF2B5EF4-FFF2-40B4-BE49-F238E27FC236}">
                <a16:creationId xmlns:a16="http://schemas.microsoft.com/office/drawing/2014/main" id="{57F9CFA2-F858-4809-8B7D-A3225899B45B}"/>
              </a:ext>
            </a:extLst>
          </p:cNvPr>
          <p:cNvSpPr txBox="1"/>
          <p:nvPr/>
        </p:nvSpPr>
        <p:spPr>
          <a:xfrm>
            <a:off x="7836242" y="5961230"/>
            <a:ext cx="983077" cy="293699"/>
          </a:xfrm>
          <a:prstGeom prst="rect">
            <a:avLst/>
          </a:prstGeom>
          <a:noFill/>
        </p:spPr>
        <p:txBody>
          <a:bodyPr wrap="none" rtlCol="0">
            <a:spAutoFit/>
          </a:bodyPr>
          <a:lstStyle/>
          <a:p>
            <a:r>
              <a:rPr lang="en-US" dirty="0"/>
              <a:t>Goal state</a:t>
            </a:r>
          </a:p>
        </p:txBody>
      </p:sp>
      <p:sp>
        <p:nvSpPr>
          <p:cNvPr id="17" name="5-Point Star 9">
            <a:extLst>
              <a:ext uri="{FF2B5EF4-FFF2-40B4-BE49-F238E27FC236}">
                <a16:creationId xmlns:a16="http://schemas.microsoft.com/office/drawing/2014/main" id="{C5FBD971-D576-46B5-B778-F31D90E6A82B}"/>
              </a:ext>
            </a:extLst>
          </p:cNvPr>
          <p:cNvSpPr/>
          <p:nvPr/>
        </p:nvSpPr>
        <p:spPr>
          <a:xfrm>
            <a:off x="6055446" y="4892423"/>
            <a:ext cx="181787" cy="181787"/>
          </a:xfrm>
          <a:prstGeom prst="star5">
            <a:avLst/>
          </a:prstGeom>
          <a:solidFill>
            <a:srgbClr val="FF0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8" name="Straight Connector 17">
            <a:extLst>
              <a:ext uri="{FF2B5EF4-FFF2-40B4-BE49-F238E27FC236}">
                <a16:creationId xmlns:a16="http://schemas.microsoft.com/office/drawing/2014/main" id="{FFB86754-9901-4B12-8CBE-445BFFF5B1E5}"/>
              </a:ext>
            </a:extLst>
          </p:cNvPr>
          <p:cNvCxnSpPr/>
          <p:nvPr/>
        </p:nvCxnSpPr>
        <p:spPr>
          <a:xfrm>
            <a:off x="6176637" y="5013614"/>
            <a:ext cx="1878464" cy="666552"/>
          </a:xfrm>
          <a:prstGeom prst="bentConnector3">
            <a:avLst>
              <a:gd name="adj1" fmla="val 308"/>
            </a:avLst>
          </a:prstGeom>
          <a:ln w="38100" cap="flat" cmpd="sng" algn="ctr">
            <a:solidFill>
              <a:schemeClr val="accent2"/>
            </a:solidFill>
            <a:prstDash val="solid"/>
            <a:round/>
            <a:headEnd type="arrow" w="med" len="med"/>
            <a:tailEnd type="arrow" w="med" len="med"/>
          </a:ln>
        </p:spPr>
        <p:style>
          <a:lnRef idx="0">
            <a:scrgbClr r="0" g="0" b="0"/>
          </a:lnRef>
          <a:fillRef idx="0">
            <a:scrgbClr r="0" g="0" b="0"/>
          </a:fillRef>
          <a:effectRef idx="0">
            <a:scrgbClr r="0" g="0" b="0"/>
          </a:effectRef>
          <a:fontRef idx="minor">
            <a:schemeClr val="tx1"/>
          </a:fontRef>
        </p:style>
      </p:cxnSp>
      <p:sp>
        <p:nvSpPr>
          <p:cNvPr id="4" name="Rectangle 3">
            <a:extLst>
              <a:ext uri="{FF2B5EF4-FFF2-40B4-BE49-F238E27FC236}">
                <a16:creationId xmlns:a16="http://schemas.microsoft.com/office/drawing/2014/main" id="{19042422-30D2-4FB5-9682-F3AE7571F65B}"/>
              </a:ext>
            </a:extLst>
          </p:cNvPr>
          <p:cNvSpPr/>
          <p:nvPr/>
        </p:nvSpPr>
        <p:spPr>
          <a:xfrm>
            <a:off x="1325338" y="1828800"/>
            <a:ext cx="1952779" cy="369332"/>
          </a:xfrm>
          <a:prstGeom prst="rect">
            <a:avLst/>
          </a:prstGeom>
        </p:spPr>
        <p:txBody>
          <a:bodyPr wrap="none">
            <a:spAutoFit/>
          </a:bodyPr>
          <a:lstStyle/>
          <a:p>
            <a:r>
              <a:rPr lang="en-US" b="1" dirty="0"/>
              <a:t>Euclidean distance</a:t>
            </a:r>
          </a:p>
        </p:txBody>
      </p:sp>
      <p:sp>
        <p:nvSpPr>
          <p:cNvPr id="19" name="Rectangle 18">
            <a:extLst>
              <a:ext uri="{FF2B5EF4-FFF2-40B4-BE49-F238E27FC236}">
                <a16:creationId xmlns:a16="http://schemas.microsoft.com/office/drawing/2014/main" id="{6B0D99D0-DFBD-4069-8820-82E7E0CAE9B6}"/>
              </a:ext>
            </a:extLst>
          </p:cNvPr>
          <p:cNvSpPr/>
          <p:nvPr/>
        </p:nvSpPr>
        <p:spPr>
          <a:xfrm>
            <a:off x="5514821" y="1840468"/>
            <a:ext cx="2099614" cy="369332"/>
          </a:xfrm>
          <a:prstGeom prst="rect">
            <a:avLst/>
          </a:prstGeom>
        </p:spPr>
        <p:txBody>
          <a:bodyPr wrap="none">
            <a:spAutoFit/>
          </a:bodyPr>
          <a:lstStyle/>
          <a:p>
            <a:r>
              <a:rPr lang="en-US" b="1" dirty="0"/>
              <a:t>Manhattan distance</a:t>
            </a:r>
          </a:p>
        </p:txBody>
      </p:sp>
    </p:spTree>
    <p:extLst>
      <p:ext uri="{BB962C8B-B14F-4D97-AF65-F5344CB8AC3E}">
        <p14:creationId xmlns:p14="http://schemas.microsoft.com/office/powerpoint/2010/main" val="746709703"/>
      </p:ext>
    </p:extLst>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Heuristics from Subproblems</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a:xfrm>
                <a:off x="628650" y="1524001"/>
                <a:ext cx="7886700" cy="2743200"/>
              </a:xfrm>
            </p:spPr>
            <p:txBody>
              <a:bodyPr>
                <a:normAutofit fontScale="70000" lnSpcReduction="20000"/>
              </a:bodyPr>
              <a:lstStyle/>
              <a:p>
                <a:r>
                  <a:rPr lang="en-US" b="1" dirty="0"/>
                  <a:t>Definition</a:t>
                </a:r>
                <a:r>
                  <a:rPr lang="en-US" dirty="0"/>
                  <a:t>: A subproblem is a smaller, self-contained part of a larger problem that can be solved independently and then used to help solve the original (overall) problem.</a:t>
                </a:r>
              </a:p>
              <a:p>
                <a:r>
                  <a:rPr lang="en-US" b="1" dirty="0"/>
                  <a:t>Example</a:t>
                </a:r>
                <a:r>
                  <a:rPr lang="en-US" dirty="0"/>
                  <a:t>: Let </a:t>
                </a:r>
                <a14:m>
                  <m:oMath xmlns:m="http://schemas.openxmlformats.org/officeDocument/2006/math">
                    <m:r>
                      <a:rPr lang="en-US" i="1" dirty="0">
                        <a:latin typeface="Cambria Math" panose="02040503050406030204" pitchFamily="18" charset="0"/>
                      </a:rPr>
                      <m:t>h</m:t>
                    </m:r>
                    <m:r>
                      <a:rPr lang="en-US" i="1" dirty="0">
                        <a:latin typeface="Cambria Math" panose="02040503050406030204" pitchFamily="18" charset="0"/>
                      </a:rPr>
                      <m:t>3(</m:t>
                    </m:r>
                    <m:r>
                      <a:rPr lang="en-US" i="1" dirty="0">
                        <a:latin typeface="Cambria Math" panose="02040503050406030204" pitchFamily="18" charset="0"/>
                      </a:rPr>
                      <m:t>𝑛</m:t>
                    </m:r>
                    <m:r>
                      <a:rPr lang="en-US" i="1" dirty="0">
                        <a:latin typeface="Cambria Math" panose="02040503050406030204" pitchFamily="18" charset="0"/>
                      </a:rPr>
                      <m:t>)</m:t>
                    </m:r>
                  </m:oMath>
                </a14:m>
                <a:r>
                  <a:rPr lang="en-US" dirty="0"/>
                  <a:t> be the cost of getting a subset of tiles </a:t>
                </a:r>
                <a:br>
                  <a:rPr lang="en-US" dirty="0"/>
                </a:br>
                <a:r>
                  <a:rPr lang="en-US" dirty="0"/>
                  <a:t>(say, 1,2,3,4) into their correct positions. The final order of the * tiles does not matter for the subproblem. </a:t>
                </a:r>
              </a:p>
              <a:p>
                <a:endParaRPr lang="en-US" b="1" dirty="0"/>
              </a:p>
              <a:p>
                <a:r>
                  <a:rPr lang="en-US" b="1" dirty="0"/>
                  <a:t>Guarantee</a:t>
                </a:r>
                <a:r>
                  <a:rPr lang="en-US" dirty="0"/>
                  <a:t>: Solutions for subproblems are an admissible heuristic. </a:t>
                </a:r>
              </a:p>
              <a:p>
                <a:endParaRPr lang="en-US" b="1" dirty="0"/>
              </a:p>
              <a:p>
                <a:r>
                  <a:rPr lang="en-US" b="1" dirty="0"/>
                  <a:t>Calculation</a:t>
                </a:r>
                <a:r>
                  <a:rPr lang="en-US" dirty="0"/>
                  <a:t>:</a:t>
                </a:r>
              </a:p>
              <a:p>
                <a:pPr lvl="1"/>
                <a:r>
                  <a:rPr lang="en-US" dirty="0"/>
                  <a:t>Very </a:t>
                </a:r>
                <a:r>
                  <a:rPr lang="en-US" b="1" dirty="0"/>
                  <a:t>small subproblems are often easy to solve </a:t>
                </a:r>
                <a:r>
                  <a:rPr lang="en-US" dirty="0"/>
                  <a:t>since combinatorial problems typically have an exponential time complexity.</a:t>
                </a:r>
              </a:p>
              <a:p>
                <a:pPr lvl="1"/>
                <a:r>
                  <a:rPr lang="en-US" dirty="0"/>
                  <a:t>We can </a:t>
                </a:r>
                <a:r>
                  <a:rPr lang="en-US" b="1" dirty="0"/>
                  <a:t>precompute</a:t>
                </a:r>
                <a:r>
                  <a:rPr lang="en-US" dirty="0"/>
                  <a:t> and save the exact solution cost for every or many possible subproblem instances – </a:t>
                </a:r>
                <a:r>
                  <a:rPr lang="en-US" b="1" dirty="0"/>
                  <a:t>pattern database</a:t>
                </a:r>
                <a:r>
                  <a:rPr lang="en-US" dirty="0"/>
                  <a:t>.</a:t>
                </a:r>
              </a:p>
            </p:txBody>
          </p:sp>
        </mc:Choice>
        <mc:Fallback>
          <p:sp>
            <p:nvSpPr>
              <p:cNvPr id="3" name="Content Placeholder 2"/>
              <p:cNvSpPr>
                <a:spLocks noGrp="1" noRot="1" noChangeAspect="1" noMove="1" noResize="1" noEditPoints="1" noAdjustHandles="1" noChangeArrowheads="1" noChangeShapeType="1" noTextEdit="1"/>
              </p:cNvSpPr>
              <p:nvPr>
                <p:ph idx="1"/>
              </p:nvPr>
            </p:nvSpPr>
            <p:spPr>
              <a:xfrm>
                <a:off x="628650" y="1524001"/>
                <a:ext cx="7886700" cy="2743200"/>
              </a:xfrm>
              <a:blipFill>
                <a:blip r:embed="rId3"/>
                <a:stretch>
                  <a:fillRect l="-232" t="-2444" b="-667"/>
                </a:stretch>
              </a:blipFill>
            </p:spPr>
            <p:txBody>
              <a:bodyPr/>
              <a:lstStyle/>
              <a:p>
                <a:r>
                  <a:rPr lang="en-US">
                    <a:noFill/>
                  </a:rPr>
                  <a:t> </a:t>
                </a:r>
              </a:p>
            </p:txBody>
          </p:sp>
        </mc:Fallback>
      </mc:AlternateContent>
      <p:grpSp>
        <p:nvGrpSpPr>
          <p:cNvPr id="28" name="Group 27">
            <a:extLst>
              <a:ext uri="{FF2B5EF4-FFF2-40B4-BE49-F238E27FC236}">
                <a16:creationId xmlns:a16="http://schemas.microsoft.com/office/drawing/2014/main" id="{7EAADC28-1161-42DD-8170-07AE9A27BF31}"/>
              </a:ext>
            </a:extLst>
          </p:cNvPr>
          <p:cNvGrpSpPr/>
          <p:nvPr/>
        </p:nvGrpSpPr>
        <p:grpSpPr>
          <a:xfrm>
            <a:off x="2600325" y="4314825"/>
            <a:ext cx="4257675" cy="2162175"/>
            <a:chOff x="2600325" y="4086225"/>
            <a:chExt cx="4257675" cy="2162175"/>
          </a:xfrm>
        </p:grpSpPr>
        <p:pic>
          <p:nvPicPr>
            <p:cNvPr id="5" name="Picture 5" descr="8puzzle"/>
            <p:cNvPicPr>
              <a:picLocks noChangeAspect="1" noChangeArrowheads="1"/>
            </p:cNvPicPr>
            <p:nvPr/>
          </p:nvPicPr>
          <p:blipFill>
            <a:blip r:embed="rId4" cstate="print"/>
            <a:srcRect/>
            <a:stretch>
              <a:fillRect/>
            </a:stretch>
          </p:blipFill>
          <p:spPr bwMode="auto">
            <a:xfrm>
              <a:off x="2600325" y="4086225"/>
              <a:ext cx="4257675" cy="2162175"/>
            </a:xfrm>
            <a:prstGeom prst="rect">
              <a:avLst/>
            </a:prstGeom>
            <a:noFill/>
          </p:spPr>
        </p:pic>
        <p:sp>
          <p:nvSpPr>
            <p:cNvPr id="16" name="Rectangle 15">
              <a:extLst>
                <a:ext uri="{FF2B5EF4-FFF2-40B4-BE49-F238E27FC236}">
                  <a16:creationId xmlns:a16="http://schemas.microsoft.com/office/drawing/2014/main" id="{4750879E-C215-4D93-97D0-3A1FBA970BAD}"/>
                </a:ext>
              </a:extLst>
            </p:cNvPr>
            <p:cNvSpPr/>
            <p:nvPr/>
          </p:nvSpPr>
          <p:spPr>
            <a:xfrm>
              <a:off x="2819400" y="4191000"/>
              <a:ext cx="286425" cy="381000"/>
            </a:xfrm>
            <a:prstGeom prst="rect">
              <a:avLst/>
            </a:prstGeom>
            <a:ln>
              <a:noFill/>
            </a:ln>
          </p:spPr>
          <p:style>
            <a:lnRef idx="2">
              <a:schemeClr val="dk1"/>
            </a:lnRef>
            <a:fillRef idx="1">
              <a:schemeClr val="lt1"/>
            </a:fillRef>
            <a:effectRef idx="0">
              <a:schemeClr val="dk1"/>
            </a:effectRef>
            <a:fontRef idx="minor">
              <a:schemeClr val="dk1"/>
            </a:fontRef>
          </p:style>
          <p:txBody>
            <a:bodyPr rtlCol="0" anchor="ctr"/>
            <a:lstStyle/>
            <a:p>
              <a:pPr algn="ctr"/>
              <a:r>
                <a:rPr lang="en-US" sz="3200" dirty="0"/>
                <a:t>*</a:t>
              </a:r>
            </a:p>
          </p:txBody>
        </p:sp>
        <p:sp>
          <p:nvSpPr>
            <p:cNvPr id="21" name="Rectangle 20">
              <a:extLst>
                <a:ext uri="{FF2B5EF4-FFF2-40B4-BE49-F238E27FC236}">
                  <a16:creationId xmlns:a16="http://schemas.microsoft.com/office/drawing/2014/main" id="{096A3762-4DCB-4DEC-BFEB-26C988B34D0B}"/>
                </a:ext>
              </a:extLst>
            </p:cNvPr>
            <p:cNvSpPr/>
            <p:nvPr/>
          </p:nvSpPr>
          <p:spPr>
            <a:xfrm>
              <a:off x="2761575" y="4800600"/>
              <a:ext cx="286425" cy="381000"/>
            </a:xfrm>
            <a:prstGeom prst="rect">
              <a:avLst/>
            </a:prstGeom>
            <a:ln>
              <a:noFill/>
            </a:ln>
          </p:spPr>
          <p:style>
            <a:lnRef idx="2">
              <a:schemeClr val="dk1"/>
            </a:lnRef>
            <a:fillRef idx="1">
              <a:schemeClr val="lt1"/>
            </a:fillRef>
            <a:effectRef idx="0">
              <a:schemeClr val="dk1"/>
            </a:effectRef>
            <a:fontRef idx="minor">
              <a:schemeClr val="dk1"/>
            </a:fontRef>
          </p:style>
          <p:txBody>
            <a:bodyPr rtlCol="0" anchor="ctr"/>
            <a:lstStyle/>
            <a:p>
              <a:pPr algn="ctr"/>
              <a:r>
                <a:rPr lang="en-US" sz="3200" dirty="0"/>
                <a:t>*</a:t>
              </a:r>
            </a:p>
          </p:txBody>
        </p:sp>
        <p:sp>
          <p:nvSpPr>
            <p:cNvPr id="22" name="Rectangle 21">
              <a:extLst>
                <a:ext uri="{FF2B5EF4-FFF2-40B4-BE49-F238E27FC236}">
                  <a16:creationId xmlns:a16="http://schemas.microsoft.com/office/drawing/2014/main" id="{ADCFF45D-32C2-40B2-B9FF-9077A9CFBC5B}"/>
                </a:ext>
              </a:extLst>
            </p:cNvPr>
            <p:cNvSpPr/>
            <p:nvPr/>
          </p:nvSpPr>
          <p:spPr>
            <a:xfrm>
              <a:off x="2761575" y="5410200"/>
              <a:ext cx="286425" cy="381000"/>
            </a:xfrm>
            <a:prstGeom prst="rect">
              <a:avLst/>
            </a:prstGeom>
            <a:ln>
              <a:noFill/>
            </a:ln>
          </p:spPr>
          <p:style>
            <a:lnRef idx="2">
              <a:schemeClr val="dk1"/>
            </a:lnRef>
            <a:fillRef idx="1">
              <a:schemeClr val="lt1"/>
            </a:fillRef>
            <a:effectRef idx="0">
              <a:schemeClr val="dk1"/>
            </a:effectRef>
            <a:fontRef idx="minor">
              <a:schemeClr val="dk1"/>
            </a:fontRef>
          </p:style>
          <p:txBody>
            <a:bodyPr rtlCol="0" anchor="ctr"/>
            <a:lstStyle/>
            <a:p>
              <a:pPr algn="ctr"/>
              <a:r>
                <a:rPr lang="en-US" sz="3200" dirty="0"/>
                <a:t>*</a:t>
              </a:r>
            </a:p>
          </p:txBody>
        </p:sp>
        <p:sp>
          <p:nvSpPr>
            <p:cNvPr id="23" name="Rectangle 22">
              <a:extLst>
                <a:ext uri="{FF2B5EF4-FFF2-40B4-BE49-F238E27FC236}">
                  <a16:creationId xmlns:a16="http://schemas.microsoft.com/office/drawing/2014/main" id="{B2ED45A9-3386-47B7-A037-4310821A7C12}"/>
                </a:ext>
              </a:extLst>
            </p:cNvPr>
            <p:cNvSpPr/>
            <p:nvPr/>
          </p:nvSpPr>
          <p:spPr>
            <a:xfrm>
              <a:off x="3962400" y="4800600"/>
              <a:ext cx="286425" cy="381000"/>
            </a:xfrm>
            <a:prstGeom prst="rect">
              <a:avLst/>
            </a:prstGeom>
            <a:ln>
              <a:noFill/>
            </a:ln>
          </p:spPr>
          <p:style>
            <a:lnRef idx="2">
              <a:schemeClr val="dk1"/>
            </a:lnRef>
            <a:fillRef idx="1">
              <a:schemeClr val="lt1"/>
            </a:fillRef>
            <a:effectRef idx="0">
              <a:schemeClr val="dk1"/>
            </a:effectRef>
            <a:fontRef idx="minor">
              <a:schemeClr val="dk1"/>
            </a:fontRef>
          </p:style>
          <p:txBody>
            <a:bodyPr rtlCol="0" anchor="ctr"/>
            <a:lstStyle/>
            <a:p>
              <a:pPr algn="ctr"/>
              <a:r>
                <a:rPr lang="en-US" sz="3200" dirty="0"/>
                <a:t>*</a:t>
              </a:r>
            </a:p>
          </p:txBody>
        </p:sp>
        <p:sp>
          <p:nvSpPr>
            <p:cNvPr id="24" name="Rectangle 23">
              <a:extLst>
                <a:ext uri="{FF2B5EF4-FFF2-40B4-BE49-F238E27FC236}">
                  <a16:creationId xmlns:a16="http://schemas.microsoft.com/office/drawing/2014/main" id="{87AEDA1F-946C-4263-AD4B-579B6FA4FC31}"/>
                </a:ext>
              </a:extLst>
            </p:cNvPr>
            <p:cNvSpPr/>
            <p:nvPr/>
          </p:nvSpPr>
          <p:spPr>
            <a:xfrm>
              <a:off x="6419175" y="4800600"/>
              <a:ext cx="286425" cy="381000"/>
            </a:xfrm>
            <a:prstGeom prst="rect">
              <a:avLst/>
            </a:prstGeom>
            <a:ln>
              <a:noFill/>
            </a:ln>
          </p:spPr>
          <p:style>
            <a:lnRef idx="2">
              <a:schemeClr val="dk1"/>
            </a:lnRef>
            <a:fillRef idx="1">
              <a:schemeClr val="lt1"/>
            </a:fillRef>
            <a:effectRef idx="0">
              <a:schemeClr val="dk1"/>
            </a:effectRef>
            <a:fontRef idx="minor">
              <a:schemeClr val="dk1"/>
            </a:fontRef>
          </p:style>
          <p:txBody>
            <a:bodyPr rtlCol="0" anchor="ctr"/>
            <a:lstStyle/>
            <a:p>
              <a:pPr algn="ctr"/>
              <a:r>
                <a:rPr lang="en-US" sz="3200" dirty="0"/>
                <a:t>*</a:t>
              </a:r>
            </a:p>
          </p:txBody>
        </p:sp>
        <p:sp>
          <p:nvSpPr>
            <p:cNvPr id="25" name="Rectangle 24">
              <a:extLst>
                <a:ext uri="{FF2B5EF4-FFF2-40B4-BE49-F238E27FC236}">
                  <a16:creationId xmlns:a16="http://schemas.microsoft.com/office/drawing/2014/main" id="{7D3BB848-228C-44D4-8CFC-A72146CC5EFF}"/>
                </a:ext>
              </a:extLst>
            </p:cNvPr>
            <p:cNvSpPr/>
            <p:nvPr/>
          </p:nvSpPr>
          <p:spPr>
            <a:xfrm>
              <a:off x="5181600" y="5410200"/>
              <a:ext cx="286425" cy="381000"/>
            </a:xfrm>
            <a:prstGeom prst="rect">
              <a:avLst/>
            </a:prstGeom>
            <a:ln>
              <a:noFill/>
            </a:ln>
          </p:spPr>
          <p:style>
            <a:lnRef idx="2">
              <a:schemeClr val="dk1"/>
            </a:lnRef>
            <a:fillRef idx="1">
              <a:schemeClr val="lt1"/>
            </a:fillRef>
            <a:effectRef idx="0">
              <a:schemeClr val="dk1"/>
            </a:effectRef>
            <a:fontRef idx="minor">
              <a:schemeClr val="dk1"/>
            </a:fontRef>
          </p:style>
          <p:txBody>
            <a:bodyPr rtlCol="0" anchor="ctr"/>
            <a:lstStyle/>
            <a:p>
              <a:pPr algn="ctr"/>
              <a:r>
                <a:rPr lang="en-US" sz="3200" dirty="0"/>
                <a:t>*</a:t>
              </a:r>
            </a:p>
          </p:txBody>
        </p:sp>
        <p:sp>
          <p:nvSpPr>
            <p:cNvPr id="26" name="Rectangle 25">
              <a:extLst>
                <a:ext uri="{FF2B5EF4-FFF2-40B4-BE49-F238E27FC236}">
                  <a16:creationId xmlns:a16="http://schemas.microsoft.com/office/drawing/2014/main" id="{AC77A3D5-74A2-4103-AF46-32E70A17BB43}"/>
                </a:ext>
              </a:extLst>
            </p:cNvPr>
            <p:cNvSpPr/>
            <p:nvPr/>
          </p:nvSpPr>
          <p:spPr>
            <a:xfrm>
              <a:off x="5791200" y="5410200"/>
              <a:ext cx="286425" cy="381000"/>
            </a:xfrm>
            <a:prstGeom prst="rect">
              <a:avLst/>
            </a:prstGeom>
            <a:ln>
              <a:noFill/>
            </a:ln>
          </p:spPr>
          <p:style>
            <a:lnRef idx="2">
              <a:schemeClr val="dk1"/>
            </a:lnRef>
            <a:fillRef idx="1">
              <a:schemeClr val="lt1"/>
            </a:fillRef>
            <a:effectRef idx="0">
              <a:schemeClr val="dk1"/>
            </a:effectRef>
            <a:fontRef idx="minor">
              <a:schemeClr val="dk1"/>
            </a:fontRef>
          </p:style>
          <p:txBody>
            <a:bodyPr rtlCol="0" anchor="ctr"/>
            <a:lstStyle/>
            <a:p>
              <a:pPr algn="ctr"/>
              <a:r>
                <a:rPr lang="en-US" sz="3200" dirty="0"/>
                <a:t>*</a:t>
              </a:r>
            </a:p>
          </p:txBody>
        </p:sp>
        <p:sp>
          <p:nvSpPr>
            <p:cNvPr id="27" name="Rectangle 26">
              <a:extLst>
                <a:ext uri="{FF2B5EF4-FFF2-40B4-BE49-F238E27FC236}">
                  <a16:creationId xmlns:a16="http://schemas.microsoft.com/office/drawing/2014/main" id="{67B69E41-E3D3-4B86-B19A-686F360A7E44}"/>
                </a:ext>
              </a:extLst>
            </p:cNvPr>
            <p:cNvSpPr/>
            <p:nvPr/>
          </p:nvSpPr>
          <p:spPr>
            <a:xfrm>
              <a:off x="6419175" y="5410200"/>
              <a:ext cx="286425" cy="381000"/>
            </a:xfrm>
            <a:prstGeom prst="rect">
              <a:avLst/>
            </a:prstGeom>
            <a:ln>
              <a:noFill/>
            </a:ln>
          </p:spPr>
          <p:style>
            <a:lnRef idx="2">
              <a:schemeClr val="dk1"/>
            </a:lnRef>
            <a:fillRef idx="1">
              <a:schemeClr val="lt1"/>
            </a:fillRef>
            <a:effectRef idx="0">
              <a:schemeClr val="dk1"/>
            </a:effectRef>
            <a:fontRef idx="minor">
              <a:schemeClr val="dk1"/>
            </a:fontRef>
          </p:style>
          <p:txBody>
            <a:bodyPr rtlCol="0" anchor="ctr"/>
            <a:lstStyle/>
            <a:p>
              <a:pPr algn="ctr"/>
              <a:r>
                <a:rPr lang="en-US" sz="3200" dirty="0"/>
                <a:t>*</a:t>
              </a:r>
            </a:p>
          </p:txBody>
        </p:sp>
      </p:gr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3">
                                            <p:txEl>
                                              <p:pRg st="6" end="6"/>
                                            </p:txEl>
                                          </p:spTgt>
                                        </p:tgtEl>
                                        <p:attrNameLst>
                                          <p:attrName>style.visibility</p:attrName>
                                        </p:attrNameLst>
                                      </p:cBhvr>
                                      <p:to>
                                        <p:strVal val="visible"/>
                                      </p:to>
                                    </p:set>
                                  </p:childTnLst>
                                </p:cTn>
                              </p:par>
                              <p:par>
                                <p:cTn id="21" presetID="1" presetClass="entr" presetSubtype="0" fill="hold" nodeType="withEffect">
                                  <p:stCondLst>
                                    <p:cond delay="0"/>
                                  </p:stCondLst>
                                  <p:childTnLst>
                                    <p:set>
                                      <p:cBhvr>
                                        <p:cTn id="22"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0722" name="Rectangle 2"/>
          <p:cNvSpPr>
            <a:spLocks noGrp="1" noChangeArrowheads="1"/>
          </p:cNvSpPr>
          <p:nvPr>
            <p:ph type="title"/>
          </p:nvPr>
        </p:nvSpPr>
        <p:spPr/>
        <p:txBody>
          <a:bodyPr/>
          <a:lstStyle/>
          <a:p>
            <a:r>
              <a:rPr lang="en-US" dirty="0"/>
              <a:t>Dominance: What Heuristic is Better?</a:t>
            </a:r>
          </a:p>
        </p:txBody>
      </p:sp>
      <mc:AlternateContent xmlns:mc="http://schemas.openxmlformats.org/markup-compatibility/2006">
        <mc:Choice xmlns:a14="http://schemas.microsoft.com/office/drawing/2010/main" Requires="a14">
          <p:sp>
            <p:nvSpPr>
              <p:cNvPr id="30723" name="Rectangle 3"/>
              <p:cNvSpPr>
                <a:spLocks noGrp="1" noChangeArrowheads="1"/>
              </p:cNvSpPr>
              <p:nvPr>
                <p:ph idx="1"/>
              </p:nvPr>
            </p:nvSpPr>
            <p:spPr>
              <a:xfrm>
                <a:off x="628650" y="1752600"/>
                <a:ext cx="7886700" cy="4351338"/>
              </a:xfrm>
            </p:spPr>
            <p:txBody>
              <a:bodyPr/>
              <a:lstStyle/>
              <a:p>
                <a:pPr marL="0" indent="0">
                  <a:buNone/>
                </a:pPr>
                <a:r>
                  <a:rPr lang="en-US" sz="2800" b="1" dirty="0"/>
                  <a:t>Definition: </a:t>
                </a:r>
                <a:r>
                  <a:rPr lang="en-US" sz="2800" dirty="0"/>
                  <a:t>If </a:t>
                </a:r>
                <a14:m>
                  <m:oMath xmlns:m="http://schemas.openxmlformats.org/officeDocument/2006/math">
                    <m:r>
                      <a:rPr lang="en-US" sz="2800" i="1" dirty="0" smtClean="0">
                        <a:latin typeface="Cambria Math" panose="02040503050406030204" pitchFamily="18" charset="0"/>
                      </a:rPr>
                      <m:t>h</m:t>
                    </m:r>
                    <m:r>
                      <a:rPr lang="en-US" sz="2800" i="1" baseline="-25000" dirty="0">
                        <a:latin typeface="Cambria Math" panose="02040503050406030204" pitchFamily="18" charset="0"/>
                      </a:rPr>
                      <m:t>1</m:t>
                    </m:r>
                  </m:oMath>
                </a14:m>
                <a:r>
                  <a:rPr lang="en-US" sz="2800" baseline="-25000" dirty="0"/>
                  <a:t> </a:t>
                </a:r>
                <a:r>
                  <a:rPr lang="en-US" sz="2800" dirty="0"/>
                  <a:t>and </a:t>
                </a:r>
                <a14:m>
                  <m:oMath xmlns:m="http://schemas.openxmlformats.org/officeDocument/2006/math">
                    <m:r>
                      <a:rPr lang="en-US" sz="2800" i="1" dirty="0" smtClean="0">
                        <a:latin typeface="Cambria Math" panose="02040503050406030204" pitchFamily="18" charset="0"/>
                      </a:rPr>
                      <m:t>h</m:t>
                    </m:r>
                    <m:r>
                      <a:rPr lang="en-US" sz="2800" i="1" baseline="-25000" dirty="0">
                        <a:latin typeface="Cambria Math" panose="02040503050406030204" pitchFamily="18" charset="0"/>
                      </a:rPr>
                      <m:t>2</m:t>
                    </m:r>
                  </m:oMath>
                </a14:m>
                <a:r>
                  <a:rPr lang="en-US" sz="2800" baseline="-25000" dirty="0"/>
                  <a:t> </a:t>
                </a:r>
                <a:r>
                  <a:rPr lang="en-US" sz="2800" dirty="0"/>
                  <a:t>are both admissible heuristics and</a:t>
                </a:r>
                <a:r>
                  <a:rPr lang="en-US" sz="2800" baseline="-25000" dirty="0"/>
                  <a:t> </a:t>
                </a:r>
                <a14:m>
                  <m:oMath xmlns:m="http://schemas.openxmlformats.org/officeDocument/2006/math">
                    <m:r>
                      <a:rPr lang="en-US" sz="2800" i="1" dirty="0" smtClean="0">
                        <a:solidFill>
                          <a:srgbClr val="FF0000"/>
                        </a:solidFill>
                        <a:latin typeface="Cambria Math" panose="02040503050406030204" pitchFamily="18" charset="0"/>
                      </a:rPr>
                      <m:t>h</m:t>
                    </m:r>
                    <m:r>
                      <a:rPr lang="en-US" sz="2800" i="1" baseline="-25000" dirty="0">
                        <a:solidFill>
                          <a:srgbClr val="FF0000"/>
                        </a:solidFill>
                        <a:latin typeface="Cambria Math" panose="02040503050406030204" pitchFamily="18" charset="0"/>
                      </a:rPr>
                      <m:t>2</m:t>
                    </m:r>
                    <m:r>
                      <a:rPr lang="en-US" sz="2800" i="1" dirty="0">
                        <a:solidFill>
                          <a:srgbClr val="FF0000"/>
                        </a:solidFill>
                        <a:latin typeface="Cambria Math" panose="02040503050406030204" pitchFamily="18" charset="0"/>
                      </a:rPr>
                      <m:t>(</m:t>
                    </m:r>
                    <m:r>
                      <a:rPr lang="en-US" sz="2800" i="1" dirty="0">
                        <a:solidFill>
                          <a:srgbClr val="FF0000"/>
                        </a:solidFill>
                        <a:latin typeface="Cambria Math" panose="02040503050406030204" pitchFamily="18" charset="0"/>
                      </a:rPr>
                      <m:t>𝑛</m:t>
                    </m:r>
                    <m:r>
                      <a:rPr lang="en-US" sz="2800" i="1" dirty="0">
                        <a:solidFill>
                          <a:srgbClr val="FF0000"/>
                        </a:solidFill>
                        <a:latin typeface="Cambria Math" panose="02040503050406030204" pitchFamily="18" charset="0"/>
                      </a:rPr>
                      <m:t>) ≥ </m:t>
                    </m:r>
                    <m:r>
                      <a:rPr lang="en-US" sz="2800" i="1" dirty="0">
                        <a:solidFill>
                          <a:srgbClr val="FF0000"/>
                        </a:solidFill>
                        <a:latin typeface="Cambria Math" panose="02040503050406030204" pitchFamily="18" charset="0"/>
                      </a:rPr>
                      <m:t>h</m:t>
                    </m:r>
                    <m:r>
                      <a:rPr lang="en-US" sz="2800" i="1" baseline="-25000" dirty="0">
                        <a:solidFill>
                          <a:srgbClr val="FF0000"/>
                        </a:solidFill>
                        <a:latin typeface="Cambria Math" panose="02040503050406030204" pitchFamily="18" charset="0"/>
                      </a:rPr>
                      <m:t>1</m:t>
                    </m:r>
                    <m:r>
                      <a:rPr lang="en-US" sz="2800" i="1" dirty="0">
                        <a:solidFill>
                          <a:srgbClr val="FF0000"/>
                        </a:solidFill>
                        <a:latin typeface="Cambria Math" panose="02040503050406030204" pitchFamily="18" charset="0"/>
                      </a:rPr>
                      <m:t>(</m:t>
                    </m:r>
                    <m:r>
                      <a:rPr lang="en-US" sz="2800" i="1" dirty="0">
                        <a:solidFill>
                          <a:srgbClr val="FF0000"/>
                        </a:solidFill>
                        <a:latin typeface="Cambria Math" panose="02040503050406030204" pitchFamily="18" charset="0"/>
                      </a:rPr>
                      <m:t>𝑛</m:t>
                    </m:r>
                    <m:r>
                      <a:rPr lang="en-US" sz="2800" i="1" dirty="0">
                        <a:solidFill>
                          <a:srgbClr val="FF0000"/>
                        </a:solidFill>
                        <a:latin typeface="Cambria Math" panose="02040503050406030204" pitchFamily="18" charset="0"/>
                      </a:rPr>
                      <m:t>) </m:t>
                    </m:r>
                  </m:oMath>
                </a14:m>
                <a:r>
                  <a:rPr lang="en-US" sz="2800" dirty="0"/>
                  <a:t>for all </a:t>
                </a:r>
                <a14:m>
                  <m:oMath xmlns:m="http://schemas.openxmlformats.org/officeDocument/2006/math">
                    <m:r>
                      <a:rPr lang="en-US" sz="2800" i="1" dirty="0" smtClean="0">
                        <a:latin typeface="Cambria Math" panose="02040503050406030204" pitchFamily="18" charset="0"/>
                      </a:rPr>
                      <m:t>𝑛</m:t>
                    </m:r>
                  </m:oMath>
                </a14:m>
                <a:r>
                  <a:rPr lang="en-US" sz="2800" i="1" dirty="0"/>
                  <a:t>,</a:t>
                </a:r>
                <a:r>
                  <a:rPr lang="en-US" sz="2800" dirty="0"/>
                  <a:t> then </a:t>
                </a:r>
                <a14:m>
                  <m:oMath xmlns:m="http://schemas.openxmlformats.org/officeDocument/2006/math">
                    <m:r>
                      <a:rPr lang="en-US" sz="2800" i="1" dirty="0" smtClean="0">
                        <a:latin typeface="Cambria Math" panose="02040503050406030204" pitchFamily="18" charset="0"/>
                      </a:rPr>
                      <m:t>h</m:t>
                    </m:r>
                    <m:r>
                      <a:rPr lang="en-US" sz="2800" i="1" baseline="-25000" dirty="0">
                        <a:latin typeface="Cambria Math" panose="02040503050406030204" pitchFamily="18" charset="0"/>
                      </a:rPr>
                      <m:t>2</m:t>
                    </m:r>
                  </m:oMath>
                </a14:m>
                <a:r>
                  <a:rPr lang="en-US" sz="2800" i="1" dirty="0"/>
                  <a:t> </a:t>
                </a:r>
                <a:r>
                  <a:rPr lang="en-US" sz="2800" dirty="0">
                    <a:solidFill>
                      <a:srgbClr val="FF0000"/>
                    </a:solidFill>
                  </a:rPr>
                  <a:t>dominates</a:t>
                </a:r>
                <a:r>
                  <a:rPr lang="en-US" sz="2800" dirty="0"/>
                  <a:t> </a:t>
                </a:r>
                <a14:m>
                  <m:oMath xmlns:m="http://schemas.openxmlformats.org/officeDocument/2006/math">
                    <m:r>
                      <a:rPr lang="en-US" sz="2800" i="1" dirty="0" smtClean="0">
                        <a:latin typeface="Cambria Math" panose="02040503050406030204" pitchFamily="18" charset="0"/>
                      </a:rPr>
                      <m:t>h</m:t>
                    </m:r>
                    <m:r>
                      <a:rPr lang="en-US" sz="2800" i="1" baseline="-25000" dirty="0">
                        <a:latin typeface="Cambria Math" panose="02040503050406030204" pitchFamily="18" charset="0"/>
                      </a:rPr>
                      <m:t>1</m:t>
                    </m:r>
                  </m:oMath>
                </a14:m>
                <a:r>
                  <a:rPr lang="en-US" sz="2800" i="1" dirty="0"/>
                  <a:t>.</a:t>
                </a:r>
              </a:p>
              <a:p>
                <a:endParaRPr lang="en-US" sz="2800" dirty="0"/>
              </a:p>
              <a:p>
                <a:pPr marL="0" indent="0">
                  <a:buNone/>
                </a:pPr>
                <a:r>
                  <a:rPr lang="en-US" sz="2800" dirty="0"/>
                  <a:t>Is </a:t>
                </a:r>
                <a14:m>
                  <m:oMath xmlns:m="http://schemas.openxmlformats.org/officeDocument/2006/math">
                    <m:r>
                      <a:rPr lang="en-US" sz="2800" i="1" dirty="0">
                        <a:latin typeface="Cambria Math" panose="02040503050406030204" pitchFamily="18" charset="0"/>
                      </a:rPr>
                      <m:t>h</m:t>
                    </m:r>
                    <m:r>
                      <a:rPr lang="en-US" sz="2800" i="1" baseline="-25000" dirty="0">
                        <a:latin typeface="Cambria Math" panose="02040503050406030204" pitchFamily="18" charset="0"/>
                      </a:rPr>
                      <m:t>1 </m:t>
                    </m:r>
                  </m:oMath>
                </a14:m>
                <a:r>
                  <a:rPr lang="en-US" sz="2800" dirty="0"/>
                  <a:t>or </a:t>
                </a:r>
                <a14:m>
                  <m:oMath xmlns:m="http://schemas.openxmlformats.org/officeDocument/2006/math">
                    <m:r>
                      <a:rPr lang="en-US" sz="2800" i="1" dirty="0">
                        <a:latin typeface="Cambria Math" panose="02040503050406030204" pitchFamily="18" charset="0"/>
                      </a:rPr>
                      <m:t>h</m:t>
                    </m:r>
                    <m:r>
                      <a:rPr lang="en-US" sz="2800" i="1" baseline="-25000" dirty="0">
                        <a:latin typeface="Cambria Math" panose="02040503050406030204" pitchFamily="18" charset="0"/>
                      </a:rPr>
                      <m:t>2</m:t>
                    </m:r>
                  </m:oMath>
                </a14:m>
                <a:r>
                  <a:rPr lang="en-US" sz="2800" i="1" dirty="0"/>
                  <a:t> </a:t>
                </a:r>
                <a:r>
                  <a:rPr lang="en-US" sz="2800" dirty="0"/>
                  <a:t>better for A* search?</a:t>
                </a:r>
              </a:p>
              <a:p>
                <a:pPr lvl="1"/>
                <a:r>
                  <a:rPr lang="en-US" sz="2400" dirty="0"/>
                  <a:t>A* search expands every node with</a:t>
                </a:r>
                <a:br>
                  <a:rPr lang="en-US" sz="2400" dirty="0"/>
                </a:br>
                <a14:m>
                  <m:oMath xmlns:m="http://schemas.openxmlformats.org/officeDocument/2006/math">
                    <m:r>
                      <a:rPr lang="en-US" sz="2400" i="1" dirty="0" smtClean="0">
                        <a:solidFill>
                          <a:srgbClr val="FF0000"/>
                        </a:solidFill>
                        <a:latin typeface="Cambria Math" panose="02040503050406030204" pitchFamily="18" charset="0"/>
                      </a:rPr>
                      <m:t> </m:t>
                    </m:r>
                    <m:r>
                      <a:rPr lang="en-US" sz="2400" i="1" dirty="0" smtClean="0">
                        <a:solidFill>
                          <a:srgbClr val="FF0000"/>
                        </a:solidFill>
                        <a:latin typeface="Cambria Math" panose="02040503050406030204" pitchFamily="18" charset="0"/>
                      </a:rPr>
                      <m:t>𝑓</m:t>
                    </m:r>
                    <m:r>
                      <a:rPr lang="en-US" sz="2400" i="1" dirty="0" smtClean="0">
                        <a:solidFill>
                          <a:srgbClr val="FF0000"/>
                        </a:solidFill>
                        <a:latin typeface="Cambria Math" panose="02040503050406030204" pitchFamily="18" charset="0"/>
                      </a:rPr>
                      <m:t>(</m:t>
                    </m:r>
                    <m:r>
                      <a:rPr lang="en-US" sz="2400" i="1" dirty="0" smtClean="0">
                        <a:solidFill>
                          <a:srgbClr val="FF0000"/>
                        </a:solidFill>
                        <a:latin typeface="Cambria Math" panose="02040503050406030204" pitchFamily="18" charset="0"/>
                      </a:rPr>
                      <m:t>𝑛</m:t>
                    </m:r>
                    <m:r>
                      <a:rPr lang="en-US" sz="2400" i="1" dirty="0" smtClean="0">
                        <a:solidFill>
                          <a:srgbClr val="FF0000"/>
                        </a:solidFill>
                        <a:latin typeface="Cambria Math" panose="02040503050406030204" pitchFamily="18" charset="0"/>
                      </a:rPr>
                      <m:t>) &lt; </m:t>
                    </m:r>
                    <m:sSup>
                      <m:sSupPr>
                        <m:ctrlPr>
                          <a:rPr lang="en-US" sz="2400" b="0" i="1" dirty="0" smtClean="0">
                            <a:solidFill>
                              <a:srgbClr val="FF0000"/>
                            </a:solidFill>
                            <a:latin typeface="Cambria Math" panose="02040503050406030204" pitchFamily="18" charset="0"/>
                          </a:rPr>
                        </m:ctrlPr>
                      </m:sSupPr>
                      <m:e>
                        <m:r>
                          <a:rPr lang="en-US" sz="2400" i="1" dirty="0" smtClean="0">
                            <a:solidFill>
                              <a:srgbClr val="FF0000"/>
                            </a:solidFill>
                            <a:latin typeface="Cambria Math" panose="02040503050406030204" pitchFamily="18" charset="0"/>
                          </a:rPr>
                          <m:t>𝐶</m:t>
                        </m:r>
                      </m:e>
                      <m:sup>
                        <m:r>
                          <a:rPr lang="en-US" sz="2400" b="0" i="1" dirty="0" smtClean="0">
                            <a:solidFill>
                              <a:srgbClr val="FF0000"/>
                            </a:solidFill>
                            <a:latin typeface="Cambria Math" panose="02040503050406030204" pitchFamily="18" charset="0"/>
                          </a:rPr>
                          <m:t>∗</m:t>
                        </m:r>
                      </m:sup>
                    </m:sSup>
                    <m:r>
                      <a:rPr lang="en-US" sz="2400" i="1" dirty="0" smtClean="0">
                        <a:solidFill>
                          <a:srgbClr val="FF0000"/>
                        </a:solidFill>
                        <a:latin typeface="Cambria Math" panose="02040503050406030204" pitchFamily="18" charset="0"/>
                      </a:rPr>
                      <m:t> </m:t>
                    </m:r>
                  </m:oMath>
                </a14:m>
                <a:r>
                  <a:rPr lang="en-US" sz="2400" dirty="0">
                    <a:sym typeface="Wingdings" panose="05000000000000000000" pitchFamily="2" charset="2"/>
                  </a:rPr>
                  <a:t> </a:t>
                </a:r>
                <a14:m>
                  <m:oMath xmlns:m="http://schemas.openxmlformats.org/officeDocument/2006/math">
                    <m:r>
                      <a:rPr lang="en-US" sz="2400" i="1" dirty="0" smtClean="0">
                        <a:solidFill>
                          <a:srgbClr val="FF0000"/>
                        </a:solidFill>
                        <a:latin typeface="Cambria Math" panose="02040503050406030204" pitchFamily="18" charset="0"/>
                      </a:rPr>
                      <m:t>h</m:t>
                    </m:r>
                    <m:r>
                      <a:rPr lang="en-US" sz="2400" i="1" dirty="0" smtClean="0">
                        <a:solidFill>
                          <a:srgbClr val="FF0000"/>
                        </a:solidFill>
                        <a:latin typeface="Cambria Math" panose="02040503050406030204" pitchFamily="18" charset="0"/>
                      </a:rPr>
                      <m:t>(</m:t>
                    </m:r>
                    <m:r>
                      <a:rPr lang="en-US" sz="2400" i="1" dirty="0" smtClean="0">
                        <a:solidFill>
                          <a:srgbClr val="FF0000"/>
                        </a:solidFill>
                        <a:latin typeface="Cambria Math" panose="02040503050406030204" pitchFamily="18" charset="0"/>
                      </a:rPr>
                      <m:t>𝑛</m:t>
                    </m:r>
                    <m:r>
                      <a:rPr lang="en-US" sz="2400" i="1" dirty="0" smtClean="0">
                        <a:solidFill>
                          <a:srgbClr val="FF0000"/>
                        </a:solidFill>
                        <a:latin typeface="Cambria Math" panose="02040503050406030204" pitchFamily="18" charset="0"/>
                      </a:rPr>
                      <m:t>) &lt; </m:t>
                    </m:r>
                    <m:sSup>
                      <m:sSupPr>
                        <m:ctrlPr>
                          <a:rPr lang="en-US" sz="2400" b="0" i="1" dirty="0" smtClean="0">
                            <a:solidFill>
                              <a:srgbClr val="FF0000"/>
                            </a:solidFill>
                            <a:latin typeface="Cambria Math" panose="02040503050406030204" pitchFamily="18" charset="0"/>
                          </a:rPr>
                        </m:ctrlPr>
                      </m:sSupPr>
                      <m:e>
                        <m:r>
                          <a:rPr lang="en-US" sz="2400" i="1" dirty="0" smtClean="0">
                            <a:solidFill>
                              <a:srgbClr val="FF0000"/>
                            </a:solidFill>
                            <a:latin typeface="Cambria Math" panose="02040503050406030204" pitchFamily="18" charset="0"/>
                          </a:rPr>
                          <m:t>𝐶</m:t>
                        </m:r>
                      </m:e>
                      <m:sup>
                        <m:r>
                          <a:rPr lang="en-US" sz="2400" b="0" i="1" dirty="0" smtClean="0">
                            <a:solidFill>
                              <a:srgbClr val="FF0000"/>
                            </a:solidFill>
                            <a:latin typeface="Cambria Math" panose="02040503050406030204" pitchFamily="18" charset="0"/>
                          </a:rPr>
                          <m:t>∗</m:t>
                        </m:r>
                      </m:sup>
                    </m:sSup>
                    <m:r>
                      <a:rPr lang="en-US" sz="2400" i="1" dirty="0" smtClean="0">
                        <a:solidFill>
                          <a:srgbClr val="FF0000"/>
                        </a:solidFill>
                        <a:latin typeface="Cambria Math" panose="02040503050406030204" pitchFamily="18" charset="0"/>
                      </a:rPr>
                      <m:t> –  </m:t>
                    </m:r>
                    <m:r>
                      <a:rPr lang="en-US" sz="2400" i="1" dirty="0" smtClean="0">
                        <a:solidFill>
                          <a:srgbClr val="FF0000"/>
                        </a:solidFill>
                        <a:latin typeface="Cambria Math" panose="02040503050406030204" pitchFamily="18" charset="0"/>
                      </a:rPr>
                      <m:t>𝑔</m:t>
                    </m:r>
                    <m:r>
                      <a:rPr lang="en-US" sz="2400" i="1" dirty="0" smtClean="0">
                        <a:solidFill>
                          <a:srgbClr val="FF0000"/>
                        </a:solidFill>
                        <a:latin typeface="Cambria Math" panose="02040503050406030204" pitchFamily="18" charset="0"/>
                      </a:rPr>
                      <m:t>(</m:t>
                    </m:r>
                    <m:r>
                      <a:rPr lang="en-US" sz="2400" i="1" dirty="0" smtClean="0">
                        <a:solidFill>
                          <a:srgbClr val="FF0000"/>
                        </a:solidFill>
                        <a:latin typeface="Cambria Math" panose="02040503050406030204" pitchFamily="18" charset="0"/>
                      </a:rPr>
                      <m:t>𝑛</m:t>
                    </m:r>
                    <m:r>
                      <a:rPr lang="en-US" sz="2400" i="1" dirty="0" smtClean="0">
                        <a:solidFill>
                          <a:srgbClr val="FF0000"/>
                        </a:solidFill>
                        <a:latin typeface="Cambria Math" panose="02040503050406030204" pitchFamily="18" charset="0"/>
                      </a:rPr>
                      <m:t>)</m:t>
                    </m:r>
                  </m:oMath>
                </a14:m>
                <a:endParaRPr lang="en-US" sz="2400" dirty="0">
                  <a:solidFill>
                    <a:srgbClr val="FF0000"/>
                  </a:solidFill>
                </a:endParaRPr>
              </a:p>
              <a:p>
                <a:pPr lvl="1"/>
                <a14:m>
                  <m:oMath xmlns:m="http://schemas.openxmlformats.org/officeDocument/2006/math">
                    <m:r>
                      <a:rPr lang="en-US" sz="2400" i="1" dirty="0">
                        <a:latin typeface="Cambria Math" panose="02040503050406030204" pitchFamily="18" charset="0"/>
                      </a:rPr>
                      <m:t>h</m:t>
                    </m:r>
                    <m:r>
                      <a:rPr lang="en-US" sz="2400" i="1" baseline="-25000" dirty="0">
                        <a:latin typeface="Cambria Math" panose="02040503050406030204" pitchFamily="18" charset="0"/>
                      </a:rPr>
                      <m:t>2 </m:t>
                    </m:r>
                  </m:oMath>
                </a14:m>
                <a:r>
                  <a:rPr lang="en-US" sz="2400" dirty="0"/>
                  <a:t> is never smaller than </a:t>
                </a:r>
                <a14:m>
                  <m:oMath xmlns:m="http://schemas.openxmlformats.org/officeDocument/2006/math">
                    <m:r>
                      <a:rPr lang="en-US" sz="2400" i="1" dirty="0">
                        <a:latin typeface="Cambria Math" panose="02040503050406030204" pitchFamily="18" charset="0"/>
                      </a:rPr>
                      <m:t>h</m:t>
                    </m:r>
                    <m:r>
                      <a:rPr lang="en-US" sz="2400" b="0" i="1" baseline="-25000" dirty="0" smtClean="0">
                        <a:latin typeface="Cambria Math" panose="02040503050406030204" pitchFamily="18" charset="0"/>
                      </a:rPr>
                      <m:t>1</m:t>
                    </m:r>
                  </m:oMath>
                </a14:m>
                <a:r>
                  <a:rPr lang="en-US" sz="2400" dirty="0"/>
                  <a:t>. A* search with </a:t>
                </a:r>
                <a14:m>
                  <m:oMath xmlns:m="http://schemas.openxmlformats.org/officeDocument/2006/math">
                    <m:r>
                      <a:rPr lang="en-US" sz="2400" i="1" dirty="0" smtClean="0">
                        <a:latin typeface="Cambria Math" panose="02040503050406030204" pitchFamily="18" charset="0"/>
                      </a:rPr>
                      <m:t>h</m:t>
                    </m:r>
                    <m:r>
                      <a:rPr lang="en-US" sz="2400" i="1" baseline="-25000" dirty="0">
                        <a:latin typeface="Cambria Math" panose="02040503050406030204" pitchFamily="18" charset="0"/>
                      </a:rPr>
                      <m:t>2</m:t>
                    </m:r>
                  </m:oMath>
                </a14:m>
                <a:r>
                  <a:rPr lang="en-US" sz="2400" baseline="-25000" dirty="0"/>
                  <a:t> </a:t>
                </a:r>
                <a:r>
                  <a:rPr lang="en-US" sz="2400" dirty="0"/>
                  <a:t>will expand less nodes and is therefore better.</a:t>
                </a:r>
              </a:p>
              <a:p>
                <a:pPr lvl="1"/>
                <a:endParaRPr lang="en-US" sz="2400" dirty="0"/>
              </a:p>
              <a:p>
                <a:pPr lvl="1"/>
                <a:endParaRPr lang="en-US" sz="2400" dirty="0"/>
              </a:p>
            </p:txBody>
          </p:sp>
        </mc:Choice>
        <mc:Fallback>
          <p:sp>
            <p:nvSpPr>
              <p:cNvPr id="30723" name="Rectangle 3"/>
              <p:cNvSpPr>
                <a:spLocks noGrp="1" noRot="1" noChangeAspect="1" noMove="1" noResize="1" noEditPoints="1" noAdjustHandles="1" noChangeArrowheads="1" noChangeShapeType="1" noTextEdit="1"/>
              </p:cNvSpPr>
              <p:nvPr>
                <p:ph idx="1"/>
              </p:nvPr>
            </p:nvSpPr>
            <p:spPr>
              <a:xfrm>
                <a:off x="628650" y="1752600"/>
                <a:ext cx="7886700" cy="4351338"/>
              </a:xfrm>
              <a:blipFill>
                <a:blip r:embed="rId3"/>
                <a:stretch>
                  <a:fillRect l="-1546" t="-2384" r="-1546"/>
                </a:stretch>
              </a:blipFill>
            </p:spPr>
            <p:txBody>
              <a:bodyPr/>
              <a:lstStyle/>
              <a:p>
                <a:r>
                  <a:rPr lang="en-US">
                    <a:noFill/>
                  </a:rPr>
                  <a:t> </a:t>
                </a:r>
              </a:p>
            </p:txBody>
          </p:sp>
        </mc:Fallback>
      </mc:AlternateContent>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grpId="0" nodeType="withEffect">
                                  <p:stCondLst>
                                    <p:cond delay="0"/>
                                  </p:stCondLst>
                                  <p:childTnLst>
                                    <p:set>
                                      <p:cBhvr>
                                        <p:cTn id="6" dur="1" fill="hold">
                                          <p:stCondLst>
                                            <p:cond delay="0"/>
                                          </p:stCondLst>
                                        </p:cTn>
                                        <p:tgtEl>
                                          <p:spTgt spid="3072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072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0723">
                                            <p:txEl>
                                              <p:pRg st="3" end="3"/>
                                            </p:txEl>
                                          </p:spTgt>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3072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0723" grpId="0" uiExpand="1" build="p"/>
    </p:bldLst>
  </p:timing>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Combining Heuristics</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a:xfrm>
                <a:off x="628650" y="1825625"/>
                <a:ext cx="7886700" cy="3965575"/>
              </a:xfrm>
            </p:spPr>
            <p:txBody>
              <a:bodyPr>
                <a:normAutofit fontScale="92500" lnSpcReduction="10000"/>
              </a:bodyPr>
              <a:lstStyle/>
              <a:p>
                <a:r>
                  <a:rPr lang="en-US" sz="2800" dirty="0"/>
                  <a:t>Suppose we have a collection of admissible heuristics </a:t>
                </a:r>
                <a14:m>
                  <m:oMath xmlns:m="http://schemas.openxmlformats.org/officeDocument/2006/math">
                    <m:r>
                      <a:rPr lang="en-US" sz="2800" i="1" dirty="0" smtClean="0">
                        <a:latin typeface="Cambria Math" panose="02040503050406030204" pitchFamily="18" charset="0"/>
                      </a:rPr>
                      <m:t>h</m:t>
                    </m:r>
                    <m:r>
                      <a:rPr lang="en-US" sz="2800" i="1" baseline="-25000" dirty="0">
                        <a:latin typeface="Cambria Math" panose="02040503050406030204" pitchFamily="18" charset="0"/>
                      </a:rPr>
                      <m:t>1</m:t>
                    </m:r>
                    <m:r>
                      <a:rPr lang="en-US" sz="2800" i="1" dirty="0">
                        <a:latin typeface="Cambria Math" panose="02040503050406030204" pitchFamily="18" charset="0"/>
                      </a:rPr>
                      <m:t>, </m:t>
                    </m:r>
                    <m:r>
                      <a:rPr lang="en-US" sz="2800" i="1" dirty="0">
                        <a:latin typeface="Cambria Math" panose="02040503050406030204" pitchFamily="18" charset="0"/>
                      </a:rPr>
                      <m:t>h</m:t>
                    </m:r>
                    <m:r>
                      <a:rPr lang="en-US" sz="2800" i="1" baseline="-25000" dirty="0">
                        <a:latin typeface="Cambria Math" panose="02040503050406030204" pitchFamily="18" charset="0"/>
                      </a:rPr>
                      <m:t>2</m:t>
                    </m:r>
                    <m:r>
                      <a:rPr lang="en-US" sz="2800" i="1" dirty="0">
                        <a:latin typeface="Cambria Math" panose="02040503050406030204" pitchFamily="18" charset="0"/>
                      </a:rPr>
                      <m:t>, …, </m:t>
                    </m:r>
                    <m:r>
                      <a:rPr lang="en-US" sz="2800" i="1" dirty="0" err="1">
                        <a:latin typeface="Cambria Math" panose="02040503050406030204" pitchFamily="18" charset="0"/>
                      </a:rPr>
                      <m:t>h</m:t>
                    </m:r>
                    <m:r>
                      <a:rPr lang="en-US" sz="2800" i="1" baseline="-25000" dirty="0" err="1">
                        <a:latin typeface="Cambria Math" panose="02040503050406030204" pitchFamily="18" charset="0"/>
                      </a:rPr>
                      <m:t>𝑚</m:t>
                    </m:r>
                    <m:r>
                      <a:rPr lang="en-US" sz="2800" i="1" dirty="0">
                        <a:latin typeface="Cambria Math" panose="02040503050406030204" pitchFamily="18" charset="0"/>
                      </a:rPr>
                      <m:t>, </m:t>
                    </m:r>
                  </m:oMath>
                </a14:m>
                <a:r>
                  <a:rPr lang="en-US" sz="2800" dirty="0"/>
                  <a:t>but none of them dominates the others.</a:t>
                </a:r>
              </a:p>
              <a:p>
                <a:endParaRPr lang="en-US" sz="2800" dirty="0"/>
              </a:p>
              <a:p>
                <a:r>
                  <a:rPr lang="en-US" sz="2800" dirty="0"/>
                  <a:t>Combining them is easy:</a:t>
                </a:r>
              </a:p>
              <a:p>
                <a:endParaRPr lang="en-US" sz="800" dirty="0"/>
              </a:p>
              <a:p>
                <a:pPr algn="ctr">
                  <a:buNone/>
                </a:pPr>
                <a14:m>
                  <m:oMathPara xmlns:m="http://schemas.openxmlformats.org/officeDocument/2006/math">
                    <m:oMathParaPr>
                      <m:jc m:val="centerGroup"/>
                    </m:oMathParaPr>
                    <m:oMath xmlns:m="http://schemas.openxmlformats.org/officeDocument/2006/math">
                      <m:r>
                        <a:rPr lang="en-US" sz="2800" i="1" dirty="0" smtClean="0">
                          <a:solidFill>
                            <a:srgbClr val="FF0000"/>
                          </a:solidFill>
                          <a:latin typeface="Cambria Math" panose="02040503050406030204" pitchFamily="18" charset="0"/>
                        </a:rPr>
                        <m:t>h</m:t>
                      </m:r>
                      <m:r>
                        <a:rPr lang="en-US" sz="2800" i="1" dirty="0" smtClean="0">
                          <a:solidFill>
                            <a:srgbClr val="FF0000"/>
                          </a:solidFill>
                          <a:latin typeface="Cambria Math" panose="02040503050406030204" pitchFamily="18" charset="0"/>
                        </a:rPr>
                        <m:t>(</m:t>
                      </m:r>
                      <m:r>
                        <a:rPr lang="en-US" sz="2800" i="1" dirty="0" smtClean="0">
                          <a:solidFill>
                            <a:srgbClr val="FF0000"/>
                          </a:solidFill>
                          <a:latin typeface="Cambria Math" panose="02040503050406030204" pitchFamily="18" charset="0"/>
                        </a:rPr>
                        <m:t>𝑛</m:t>
                      </m:r>
                      <m:r>
                        <a:rPr lang="en-US" sz="2800" i="1" dirty="0" smtClean="0">
                          <a:solidFill>
                            <a:srgbClr val="FF0000"/>
                          </a:solidFill>
                          <a:latin typeface="Cambria Math" panose="02040503050406030204" pitchFamily="18" charset="0"/>
                        </a:rPr>
                        <m:t>) = </m:t>
                      </m:r>
                      <m:r>
                        <m:rPr>
                          <m:sty m:val="p"/>
                        </m:rPr>
                        <a:rPr lang="en-US" sz="2800" i="1" dirty="0" smtClean="0">
                          <a:solidFill>
                            <a:srgbClr val="FF0000"/>
                          </a:solidFill>
                          <a:latin typeface="Cambria Math" panose="02040503050406030204" pitchFamily="18" charset="0"/>
                        </a:rPr>
                        <m:t>max</m:t>
                      </m:r>
                      <m:r>
                        <a:rPr lang="en-US" sz="2800" i="1" dirty="0" smtClean="0">
                          <a:solidFill>
                            <a:srgbClr val="FF0000"/>
                          </a:solidFill>
                          <a:latin typeface="Cambria Math" panose="02040503050406030204" pitchFamily="18" charset="0"/>
                        </a:rPr>
                        <m:t>⁡{</m:t>
                      </m:r>
                      <m:r>
                        <a:rPr lang="en-US" sz="2800" i="1" dirty="0" smtClean="0">
                          <a:solidFill>
                            <a:srgbClr val="FF0000"/>
                          </a:solidFill>
                          <a:latin typeface="Cambria Math" panose="02040503050406030204" pitchFamily="18" charset="0"/>
                        </a:rPr>
                        <m:t>h</m:t>
                      </m:r>
                      <m:r>
                        <a:rPr lang="en-US" sz="2800" i="1" baseline="-25000" dirty="0">
                          <a:solidFill>
                            <a:srgbClr val="FF0000"/>
                          </a:solidFill>
                          <a:latin typeface="Cambria Math" panose="02040503050406030204" pitchFamily="18" charset="0"/>
                        </a:rPr>
                        <m:t>1</m:t>
                      </m:r>
                      <m:r>
                        <a:rPr lang="en-US" sz="2800" i="1" dirty="0">
                          <a:solidFill>
                            <a:srgbClr val="FF0000"/>
                          </a:solidFill>
                          <a:latin typeface="Cambria Math" panose="02040503050406030204" pitchFamily="18" charset="0"/>
                        </a:rPr>
                        <m:t>(</m:t>
                      </m:r>
                      <m:r>
                        <a:rPr lang="en-US" sz="2800" i="1" dirty="0">
                          <a:solidFill>
                            <a:srgbClr val="FF0000"/>
                          </a:solidFill>
                          <a:latin typeface="Cambria Math" panose="02040503050406030204" pitchFamily="18" charset="0"/>
                        </a:rPr>
                        <m:t>𝑛</m:t>
                      </m:r>
                      <m:r>
                        <a:rPr lang="en-US" sz="2800" i="1" dirty="0">
                          <a:solidFill>
                            <a:srgbClr val="FF0000"/>
                          </a:solidFill>
                          <a:latin typeface="Cambria Math" panose="02040503050406030204" pitchFamily="18" charset="0"/>
                        </a:rPr>
                        <m:t>), </m:t>
                      </m:r>
                      <m:r>
                        <a:rPr lang="en-US" sz="2800" i="1" dirty="0">
                          <a:solidFill>
                            <a:srgbClr val="FF0000"/>
                          </a:solidFill>
                          <a:latin typeface="Cambria Math" panose="02040503050406030204" pitchFamily="18" charset="0"/>
                        </a:rPr>
                        <m:t>h</m:t>
                      </m:r>
                      <m:r>
                        <a:rPr lang="en-US" sz="2800" i="1" baseline="-25000" dirty="0">
                          <a:solidFill>
                            <a:srgbClr val="FF0000"/>
                          </a:solidFill>
                          <a:latin typeface="Cambria Math" panose="02040503050406030204" pitchFamily="18" charset="0"/>
                        </a:rPr>
                        <m:t>2</m:t>
                      </m:r>
                      <m:r>
                        <a:rPr lang="en-US" sz="2800" i="1" dirty="0">
                          <a:solidFill>
                            <a:srgbClr val="FF0000"/>
                          </a:solidFill>
                          <a:latin typeface="Cambria Math" panose="02040503050406030204" pitchFamily="18" charset="0"/>
                        </a:rPr>
                        <m:t>(</m:t>
                      </m:r>
                      <m:r>
                        <a:rPr lang="en-US" sz="2800" i="1" dirty="0">
                          <a:solidFill>
                            <a:srgbClr val="FF0000"/>
                          </a:solidFill>
                          <a:latin typeface="Cambria Math" panose="02040503050406030204" pitchFamily="18" charset="0"/>
                        </a:rPr>
                        <m:t>𝑛</m:t>
                      </m:r>
                      <m:r>
                        <a:rPr lang="en-US" sz="2800" i="1" dirty="0">
                          <a:solidFill>
                            <a:srgbClr val="FF0000"/>
                          </a:solidFill>
                          <a:latin typeface="Cambria Math" panose="02040503050406030204" pitchFamily="18" charset="0"/>
                        </a:rPr>
                        <m:t>), …, </m:t>
                      </m:r>
                      <m:r>
                        <a:rPr lang="en-US" sz="2800" i="1" dirty="0" err="1">
                          <a:solidFill>
                            <a:srgbClr val="FF0000"/>
                          </a:solidFill>
                          <a:latin typeface="Cambria Math" panose="02040503050406030204" pitchFamily="18" charset="0"/>
                        </a:rPr>
                        <m:t>h</m:t>
                      </m:r>
                      <m:r>
                        <a:rPr lang="en-US" sz="2800" i="1" baseline="-25000" dirty="0" err="1">
                          <a:solidFill>
                            <a:srgbClr val="FF0000"/>
                          </a:solidFill>
                          <a:latin typeface="Cambria Math" panose="02040503050406030204" pitchFamily="18" charset="0"/>
                        </a:rPr>
                        <m:t>𝑚</m:t>
                      </m:r>
                      <m:r>
                        <a:rPr lang="en-US" sz="2800" i="1" dirty="0">
                          <a:solidFill>
                            <a:srgbClr val="FF0000"/>
                          </a:solidFill>
                          <a:latin typeface="Cambria Math" panose="02040503050406030204" pitchFamily="18" charset="0"/>
                        </a:rPr>
                        <m:t>(</m:t>
                      </m:r>
                      <m:r>
                        <a:rPr lang="en-US" sz="2800" i="1" dirty="0">
                          <a:solidFill>
                            <a:srgbClr val="FF0000"/>
                          </a:solidFill>
                          <a:latin typeface="Cambria Math" panose="02040503050406030204" pitchFamily="18" charset="0"/>
                        </a:rPr>
                        <m:t>𝑛</m:t>
                      </m:r>
                      <m:r>
                        <a:rPr lang="en-US" sz="2800" i="1" dirty="0">
                          <a:solidFill>
                            <a:srgbClr val="FF0000"/>
                          </a:solidFill>
                          <a:latin typeface="Cambria Math" panose="02040503050406030204" pitchFamily="18" charset="0"/>
                        </a:rPr>
                        <m:t>)}</m:t>
                      </m:r>
                    </m:oMath>
                  </m:oMathPara>
                </a14:m>
                <a:endParaRPr lang="en-US" sz="2800" dirty="0">
                  <a:solidFill>
                    <a:srgbClr val="FF0000"/>
                  </a:solidFill>
                </a:endParaRPr>
              </a:p>
              <a:p>
                <a:endParaRPr lang="en-US" sz="2800" dirty="0"/>
              </a:p>
              <a:p>
                <a:endParaRPr lang="en-US" sz="2800" dirty="0"/>
              </a:p>
              <a:p>
                <a:r>
                  <a:rPr lang="en-US" sz="2800" dirty="0"/>
                  <a:t>That is, always pick for each node the heuristic that is closest to the real cost to the goal </a:t>
                </a:r>
                <a14:m>
                  <m:oMath xmlns:m="http://schemas.openxmlformats.org/officeDocument/2006/math">
                    <m:sSup>
                      <m:sSupPr>
                        <m:ctrlPr>
                          <a:rPr lang="en-US" sz="2800" b="0" i="1" dirty="0" smtClean="0">
                            <a:latin typeface="Cambria Math" panose="02040503050406030204" pitchFamily="18" charset="0"/>
                          </a:rPr>
                        </m:ctrlPr>
                      </m:sSupPr>
                      <m:e>
                        <m:r>
                          <a:rPr lang="en-US" sz="2800" i="1" dirty="0" smtClean="0">
                            <a:latin typeface="Cambria Math" panose="02040503050406030204" pitchFamily="18" charset="0"/>
                          </a:rPr>
                          <m:t>h</m:t>
                        </m:r>
                      </m:e>
                      <m:sup>
                        <m:r>
                          <a:rPr lang="en-US" sz="2800" b="0" i="1" dirty="0" smtClean="0">
                            <a:latin typeface="Cambria Math" panose="02040503050406030204" pitchFamily="18" charset="0"/>
                          </a:rPr>
                          <m:t>∗</m:t>
                        </m:r>
                      </m:sup>
                    </m:sSup>
                    <m:r>
                      <a:rPr lang="en-US" sz="2800" i="1" dirty="0" smtClean="0">
                        <a:latin typeface="Cambria Math" panose="02040503050406030204" pitchFamily="18" charset="0"/>
                      </a:rPr>
                      <m:t>(</m:t>
                    </m:r>
                    <m:r>
                      <a:rPr lang="en-US" sz="2800" i="1" dirty="0" smtClean="0">
                        <a:latin typeface="Cambria Math" panose="02040503050406030204" pitchFamily="18" charset="0"/>
                      </a:rPr>
                      <m:t>𝑛</m:t>
                    </m:r>
                    <m:r>
                      <a:rPr lang="en-US" sz="2800" i="1" dirty="0" smtClean="0">
                        <a:latin typeface="Cambria Math" panose="02040503050406030204" pitchFamily="18" charset="0"/>
                      </a:rPr>
                      <m:t>)</m:t>
                    </m:r>
                  </m:oMath>
                </a14:m>
                <a:r>
                  <a:rPr lang="en-US" sz="2800" dirty="0"/>
                  <a:t>. </a:t>
                </a:r>
              </a:p>
            </p:txBody>
          </p:sp>
        </mc:Choice>
        <mc:Fallback>
          <p:sp>
            <p:nvSpPr>
              <p:cNvPr id="3" name="Content Placeholder 2"/>
              <p:cNvSpPr>
                <a:spLocks noGrp="1" noRot="1" noChangeAspect="1" noMove="1" noResize="1" noEditPoints="1" noAdjustHandles="1" noChangeArrowheads="1" noChangeShapeType="1" noTextEdit="1"/>
              </p:cNvSpPr>
              <p:nvPr>
                <p:ph idx="1"/>
              </p:nvPr>
            </p:nvSpPr>
            <p:spPr>
              <a:xfrm>
                <a:off x="628650" y="1825625"/>
                <a:ext cx="7886700" cy="3965575"/>
              </a:xfrm>
              <a:blipFill>
                <a:blip r:embed="rId3"/>
                <a:stretch>
                  <a:fillRect l="-1159" t="-3072"/>
                </a:stretch>
              </a:blipFill>
            </p:spPr>
            <p:txBody>
              <a:bodyPr/>
              <a:lstStyle/>
              <a:p>
                <a:r>
                  <a:rPr lang="en-US">
                    <a:noFill/>
                  </a:rPr>
                  <a:t> </a:t>
                </a:r>
              </a:p>
            </p:txBody>
          </p:sp>
        </mc:Fallback>
      </mc:AlternateContent>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0722" name="Rectangle 2"/>
          <p:cNvSpPr>
            <a:spLocks noGrp="1" noChangeArrowheads="1"/>
          </p:cNvSpPr>
          <p:nvPr>
            <p:ph type="title"/>
          </p:nvPr>
        </p:nvSpPr>
        <p:spPr/>
        <p:txBody>
          <a:bodyPr/>
          <a:lstStyle/>
          <a:p>
            <a:r>
              <a:rPr lang="en-US" dirty="0"/>
              <a:t>Example: Effect of Information in Search</a:t>
            </a:r>
          </a:p>
        </p:txBody>
      </p:sp>
      <mc:AlternateContent xmlns:mc="http://schemas.openxmlformats.org/markup-compatibility/2006" xmlns:a14="http://schemas.microsoft.com/office/drawing/2010/main">
        <mc:Choice Requires="a14">
          <p:sp>
            <p:nvSpPr>
              <p:cNvPr id="30723" name="Rectangle 3"/>
              <p:cNvSpPr>
                <a:spLocks noGrp="1" noChangeArrowheads="1"/>
              </p:cNvSpPr>
              <p:nvPr>
                <p:ph idx="1"/>
              </p:nvPr>
            </p:nvSpPr>
            <p:spPr>
              <a:xfrm>
                <a:off x="628650" y="1825625"/>
                <a:ext cx="5391150" cy="4351338"/>
              </a:xfrm>
            </p:spPr>
            <p:txBody>
              <a:bodyPr>
                <a:normAutofit fontScale="85000" lnSpcReduction="20000"/>
              </a:bodyPr>
              <a:lstStyle/>
              <a:p>
                <a:pPr marL="0" indent="0">
                  <a:lnSpc>
                    <a:spcPct val="110000"/>
                  </a:lnSpc>
                  <a:buNone/>
                </a:pPr>
                <a:r>
                  <a:rPr lang="en-US" sz="2400" dirty="0"/>
                  <a:t>Typical search costs for the 8-puzzle</a:t>
                </a:r>
              </a:p>
              <a:p>
                <a:pPr>
                  <a:lnSpc>
                    <a:spcPct val="110000"/>
                  </a:lnSpc>
                </a:pPr>
                <a:endParaRPr lang="en-US" sz="2400" dirty="0"/>
              </a:p>
              <a:p>
                <a:pPr>
                  <a:lnSpc>
                    <a:spcPct val="110000"/>
                  </a:lnSpc>
                </a:pPr>
                <a:r>
                  <a:rPr lang="en-US" sz="2400" dirty="0"/>
                  <a:t>State space:  </a:t>
                </a:r>
                <a14:m>
                  <m:oMath xmlns:m="http://schemas.openxmlformats.org/officeDocument/2006/math">
                    <m:f>
                      <m:fPr>
                        <m:ctrlPr>
                          <a:rPr lang="en-US" sz="2400" b="0" i="1" smtClean="0">
                            <a:latin typeface="Cambria Math" panose="02040503050406030204" pitchFamily="18" charset="0"/>
                          </a:rPr>
                        </m:ctrlPr>
                      </m:fPr>
                      <m:num>
                        <m:r>
                          <a:rPr lang="en-US" sz="2400" b="0" i="1" smtClean="0">
                            <a:latin typeface="Cambria Math" panose="02040503050406030204" pitchFamily="18" charset="0"/>
                          </a:rPr>
                          <m:t>9!</m:t>
                        </m:r>
                      </m:num>
                      <m:den>
                        <m:r>
                          <a:rPr lang="en-US" sz="2400" b="0" i="1" smtClean="0">
                            <a:latin typeface="Cambria Math" panose="02040503050406030204" pitchFamily="18" charset="0"/>
                          </a:rPr>
                          <m:t>2</m:t>
                        </m:r>
                      </m:den>
                    </m:f>
                    <m:r>
                      <a:rPr lang="en-US" sz="2400" b="0" i="1" smtClean="0">
                        <a:latin typeface="Cambria Math" panose="02040503050406030204" pitchFamily="18" charset="0"/>
                      </a:rPr>
                      <m:t>=</m:t>
                    </m:r>
                  </m:oMath>
                </a14:m>
                <a:r>
                  <a:rPr lang="en-US" sz="2400" dirty="0"/>
                  <a:t> 1,811,440 states</a:t>
                </a:r>
                <a:br>
                  <a:rPr lang="en-US" sz="2400" dirty="0"/>
                </a:br>
                <a:endParaRPr lang="en-US" sz="2400" dirty="0"/>
              </a:p>
              <a:p>
                <a:pPr>
                  <a:lnSpc>
                    <a:spcPct val="110000"/>
                  </a:lnSpc>
                </a:pPr>
                <a:r>
                  <a:rPr lang="en-US" sz="2400" dirty="0"/>
                  <a:t>Problem with solution at depth </a:t>
                </a:r>
                <a14:m>
                  <m:oMath xmlns:m="http://schemas.openxmlformats.org/officeDocument/2006/math">
                    <m:r>
                      <a:rPr lang="en-US" sz="2400" i="1" dirty="0" smtClean="0">
                        <a:latin typeface="Cambria Math" panose="02040503050406030204" pitchFamily="18" charset="0"/>
                      </a:rPr>
                      <m:t>𝑑</m:t>
                    </m:r>
                    <m:r>
                      <a:rPr lang="en-US" sz="2400" i="1" dirty="0" smtClean="0">
                        <a:latin typeface="Cambria Math" panose="02040503050406030204" pitchFamily="18" charset="0"/>
                      </a:rPr>
                      <m:t>=12</m:t>
                    </m:r>
                  </m:oMath>
                </a14:m>
                <a:r>
                  <a:rPr lang="en-US" sz="2400" i="1" dirty="0"/>
                  <a:t>	</a:t>
                </a:r>
                <a:br>
                  <a:rPr lang="en-US" sz="2400" i="1" dirty="0"/>
                </a:br>
                <a:r>
                  <a:rPr lang="en-US" sz="2400" i="1" dirty="0"/>
                  <a:t>		</a:t>
                </a:r>
                <a:r>
                  <a:rPr lang="en-US" sz="2400" dirty="0"/>
                  <a:t>IDS      = 3,644,035 nodes</a:t>
                </a:r>
                <a:br>
                  <a:rPr lang="en-US" sz="2400" dirty="0"/>
                </a:br>
                <a:r>
                  <a:rPr lang="en-US" sz="2400" dirty="0"/>
                  <a:t>		A</a:t>
                </a:r>
                <a:r>
                  <a:rPr lang="en-US" sz="2400" baseline="30000" dirty="0"/>
                  <a:t>*</a:t>
                </a:r>
                <a:r>
                  <a:rPr lang="en-US" sz="2400" dirty="0"/>
                  <a:t>(</a:t>
                </a:r>
                <a14:m>
                  <m:oMath xmlns:m="http://schemas.openxmlformats.org/officeDocument/2006/math">
                    <m:r>
                      <a:rPr lang="en-US" sz="2400" i="1" dirty="0" smtClean="0">
                        <a:latin typeface="Cambria Math" panose="02040503050406030204" pitchFamily="18" charset="0"/>
                      </a:rPr>
                      <m:t>h</m:t>
                    </m:r>
                    <m:r>
                      <a:rPr lang="en-US" sz="2400" i="1" baseline="-25000" dirty="0" smtClean="0">
                        <a:latin typeface="Cambria Math" panose="02040503050406030204" pitchFamily="18" charset="0"/>
                      </a:rPr>
                      <m:t>1</m:t>
                    </m:r>
                  </m:oMath>
                </a14:m>
                <a:r>
                  <a:rPr lang="en-US" sz="2400" dirty="0"/>
                  <a:t>) = 227 nodes </a:t>
                </a:r>
                <a:br>
                  <a:rPr lang="en-US" sz="2400" dirty="0"/>
                </a:br>
                <a:r>
                  <a:rPr lang="en-US" sz="2400" dirty="0"/>
                  <a:t>		A</a:t>
                </a:r>
                <a:r>
                  <a:rPr lang="en-US" sz="2400" baseline="30000" dirty="0"/>
                  <a:t>*</a:t>
                </a:r>
                <a:r>
                  <a:rPr lang="en-US" sz="2400" dirty="0"/>
                  <a:t>(</a:t>
                </a:r>
                <a14:m>
                  <m:oMath xmlns:m="http://schemas.openxmlformats.org/officeDocument/2006/math">
                    <m:r>
                      <a:rPr lang="en-US" sz="2400" i="1" dirty="0" smtClean="0">
                        <a:latin typeface="Cambria Math" panose="02040503050406030204" pitchFamily="18" charset="0"/>
                      </a:rPr>
                      <m:t>h</m:t>
                    </m:r>
                    <m:r>
                      <a:rPr lang="en-US" sz="2400" i="1" baseline="-25000" dirty="0">
                        <a:latin typeface="Cambria Math" panose="02040503050406030204" pitchFamily="18" charset="0"/>
                      </a:rPr>
                      <m:t>2</m:t>
                    </m:r>
                  </m:oMath>
                </a14:m>
                <a:r>
                  <a:rPr lang="en-US" sz="2400" dirty="0"/>
                  <a:t>) = 73 nodes </a:t>
                </a:r>
              </a:p>
              <a:p>
                <a:pPr>
                  <a:lnSpc>
                    <a:spcPct val="110000"/>
                  </a:lnSpc>
                </a:pPr>
                <a:endParaRPr lang="en-US" sz="2400" i="1" dirty="0"/>
              </a:p>
              <a:p>
                <a:pPr>
                  <a:lnSpc>
                    <a:spcPct val="110000"/>
                  </a:lnSpc>
                </a:pPr>
                <a:r>
                  <a:rPr lang="en-US" sz="2400" dirty="0"/>
                  <a:t>Solution at depth </a:t>
                </a:r>
                <a14:m>
                  <m:oMath xmlns:m="http://schemas.openxmlformats.org/officeDocument/2006/math">
                    <m:r>
                      <a:rPr lang="en-US" sz="2400" i="1" dirty="0" smtClean="0">
                        <a:latin typeface="Cambria Math" panose="02040503050406030204" pitchFamily="18" charset="0"/>
                      </a:rPr>
                      <m:t>𝑑</m:t>
                    </m:r>
                    <m:r>
                      <a:rPr lang="en-US" sz="2400" i="1" dirty="0">
                        <a:latin typeface="Cambria Math" panose="02040503050406030204" pitchFamily="18" charset="0"/>
                      </a:rPr>
                      <m:t>=24 </m:t>
                    </m:r>
                  </m:oMath>
                </a14:m>
                <a:r>
                  <a:rPr lang="en-US" sz="2400" i="1" dirty="0"/>
                  <a:t>	</a:t>
                </a:r>
                <a:br>
                  <a:rPr lang="en-US" sz="2400" i="1" dirty="0"/>
                </a:br>
                <a:r>
                  <a:rPr lang="en-US" sz="2400" i="1" dirty="0"/>
                  <a:t>		</a:t>
                </a:r>
                <a:r>
                  <a:rPr lang="en-US" sz="2400" dirty="0"/>
                  <a:t>IDS      ≈ 54,000,000,000 nodes </a:t>
                </a:r>
                <a:br>
                  <a:rPr lang="en-US" sz="2400" dirty="0"/>
                </a:br>
                <a:r>
                  <a:rPr lang="en-US" sz="2400" dirty="0"/>
                  <a:t>		A</a:t>
                </a:r>
                <a:r>
                  <a:rPr lang="en-US" sz="2400" baseline="30000" dirty="0"/>
                  <a:t>*</a:t>
                </a:r>
                <a:r>
                  <a:rPr lang="en-US" sz="2400" dirty="0"/>
                  <a:t>(</a:t>
                </a:r>
                <a14:m>
                  <m:oMath xmlns:m="http://schemas.openxmlformats.org/officeDocument/2006/math">
                    <m:r>
                      <a:rPr lang="en-US" sz="2400" i="1" dirty="0" smtClean="0">
                        <a:latin typeface="Cambria Math" panose="02040503050406030204" pitchFamily="18" charset="0"/>
                      </a:rPr>
                      <m:t>h</m:t>
                    </m:r>
                    <m:r>
                      <a:rPr lang="en-US" sz="2400" i="1" baseline="-25000" dirty="0">
                        <a:latin typeface="Cambria Math" panose="02040503050406030204" pitchFamily="18" charset="0"/>
                      </a:rPr>
                      <m:t>1</m:t>
                    </m:r>
                  </m:oMath>
                </a14:m>
                <a:r>
                  <a:rPr lang="en-US" sz="2400" dirty="0"/>
                  <a:t>) = 39,135 nodes </a:t>
                </a:r>
                <a:br>
                  <a:rPr lang="en-US" sz="2400" dirty="0"/>
                </a:br>
                <a:r>
                  <a:rPr lang="en-US" sz="2400" dirty="0"/>
                  <a:t>		A</a:t>
                </a:r>
                <a:r>
                  <a:rPr lang="en-US" sz="2400" baseline="30000" dirty="0"/>
                  <a:t>*</a:t>
                </a:r>
                <a:r>
                  <a:rPr lang="en-US" sz="2400" dirty="0"/>
                  <a:t>(</a:t>
                </a:r>
                <a14:m>
                  <m:oMath xmlns:m="http://schemas.openxmlformats.org/officeDocument/2006/math">
                    <m:r>
                      <a:rPr lang="en-US" sz="2400" i="1" dirty="0" smtClean="0">
                        <a:latin typeface="Cambria Math" panose="02040503050406030204" pitchFamily="18" charset="0"/>
                      </a:rPr>
                      <m:t>h</m:t>
                    </m:r>
                    <m:r>
                      <a:rPr lang="en-US" sz="2400" i="1" baseline="-25000" dirty="0">
                        <a:latin typeface="Cambria Math" panose="02040503050406030204" pitchFamily="18" charset="0"/>
                      </a:rPr>
                      <m:t>2</m:t>
                    </m:r>
                  </m:oMath>
                </a14:m>
                <a:r>
                  <a:rPr lang="en-US" sz="2400" dirty="0"/>
                  <a:t>) = 1,641 nodes </a:t>
                </a:r>
              </a:p>
            </p:txBody>
          </p:sp>
        </mc:Choice>
        <mc:Fallback xmlns="">
          <p:sp>
            <p:nvSpPr>
              <p:cNvPr id="30723" name="Rectangle 3"/>
              <p:cNvSpPr>
                <a:spLocks noGrp="1" noRot="1" noChangeAspect="1" noMove="1" noResize="1" noEditPoints="1" noAdjustHandles="1" noChangeArrowheads="1" noChangeShapeType="1" noTextEdit="1"/>
              </p:cNvSpPr>
              <p:nvPr>
                <p:ph idx="1"/>
              </p:nvPr>
            </p:nvSpPr>
            <p:spPr>
              <a:xfrm>
                <a:off x="628650" y="1825625"/>
                <a:ext cx="5391150" cy="4351338"/>
              </a:xfrm>
              <a:blipFill>
                <a:blip r:embed="rId3"/>
                <a:stretch>
                  <a:fillRect l="-1130" t="-1401" b="-980"/>
                </a:stretch>
              </a:blipFill>
            </p:spPr>
            <p:txBody>
              <a:bodyPr/>
              <a:lstStyle/>
              <a:p>
                <a:r>
                  <a:rPr lang="en-US">
                    <a:noFill/>
                  </a:rPr>
                  <a:t> </a:t>
                </a:r>
              </a:p>
            </p:txBody>
          </p:sp>
        </mc:Fallback>
      </mc:AlternateContent>
      <p:pic>
        <p:nvPicPr>
          <p:cNvPr id="2" name="Picture 5" descr="8puzzle">
            <a:extLst>
              <a:ext uri="{FF2B5EF4-FFF2-40B4-BE49-F238E27FC236}">
                <a16:creationId xmlns:a16="http://schemas.microsoft.com/office/drawing/2014/main" id="{BE586611-CF39-D0BB-B922-010064E706A8}"/>
              </a:ext>
            </a:extLst>
          </p:cNvPr>
          <p:cNvPicPr>
            <a:picLocks noChangeAspect="1" noChangeArrowheads="1"/>
          </p:cNvPicPr>
          <p:nvPr/>
        </p:nvPicPr>
        <p:blipFill>
          <a:blip r:embed="rId4" cstate="print"/>
          <a:srcRect r="50000" b="12182"/>
          <a:stretch/>
        </p:blipFill>
        <p:spPr bwMode="auto">
          <a:xfrm>
            <a:off x="6415199" y="1848879"/>
            <a:ext cx="2128838" cy="1898779"/>
          </a:xfrm>
          <a:prstGeom prst="rect">
            <a:avLst/>
          </a:prstGeom>
          <a:noFill/>
        </p:spPr>
      </p:pic>
      <p:sp>
        <p:nvSpPr>
          <p:cNvPr id="3" name="Speech Bubble: Rectangle with Corners Rounded 2">
            <a:extLst>
              <a:ext uri="{FF2B5EF4-FFF2-40B4-BE49-F238E27FC236}">
                <a16:creationId xmlns:a16="http://schemas.microsoft.com/office/drawing/2014/main" id="{AADAA77C-743D-1418-1043-B45CB7626490}"/>
              </a:ext>
            </a:extLst>
          </p:cNvPr>
          <p:cNvSpPr/>
          <p:nvPr/>
        </p:nvSpPr>
        <p:spPr>
          <a:xfrm>
            <a:off x="6096000" y="4800600"/>
            <a:ext cx="1981200" cy="762000"/>
          </a:xfrm>
          <a:prstGeom prst="wedgeRoundRectCallout">
            <a:avLst>
              <a:gd name="adj1" fmla="val -156791"/>
              <a:gd name="adj2" fmla="val -168161"/>
              <a:gd name="adj3" fmla="val 16667"/>
            </a:avLst>
          </a:prstGeom>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r>
              <a:rPr lang="en-US" sz="1400" dirty="0"/>
              <a:t>Contains many redundant paths which IDS cannot break!</a:t>
            </a:r>
          </a:p>
        </p:txBody>
      </p:sp>
      <mc:AlternateContent xmlns:mc="http://schemas.openxmlformats.org/markup-compatibility/2006" xmlns:a14="http://schemas.microsoft.com/office/drawing/2010/main">
        <mc:Choice Requires="a14">
          <p:sp>
            <p:nvSpPr>
              <p:cNvPr id="5" name="TextBox 4">
                <a:extLst>
                  <a:ext uri="{FF2B5EF4-FFF2-40B4-BE49-F238E27FC236}">
                    <a16:creationId xmlns:a16="http://schemas.microsoft.com/office/drawing/2014/main" id="{2F8C09EF-93D7-454D-382E-694F2FA81F57}"/>
                  </a:ext>
                </a:extLst>
              </p:cNvPr>
              <p:cNvSpPr txBox="1"/>
              <p:nvPr/>
            </p:nvSpPr>
            <p:spPr>
              <a:xfrm>
                <a:off x="6246876" y="3977200"/>
                <a:ext cx="2362200" cy="461665"/>
              </a:xfrm>
              <a:prstGeom prst="rect">
                <a:avLst/>
              </a:prstGeom>
            </p:spPr>
            <p:style>
              <a:lnRef idx="2">
                <a:schemeClr val="accent2"/>
              </a:lnRef>
              <a:fillRef idx="1">
                <a:schemeClr val="lt1"/>
              </a:fillRef>
              <a:effectRef idx="0">
                <a:schemeClr val="accent2"/>
              </a:effectRef>
              <a:fontRef idx="minor">
                <a:schemeClr val="dk1"/>
              </a:fontRef>
            </p:style>
            <p:txBody>
              <a:bodyPr wrap="square" lIns="91440" rIns="91440">
                <a:spAutoFit/>
              </a:bodyPr>
              <a:lstStyle/>
              <a:p>
                <a14:m>
                  <m:oMath xmlns:m="http://schemas.openxmlformats.org/officeDocument/2006/math">
                    <m:r>
                      <a:rPr lang="en-US" sz="1200" i="1" dirty="0" smtClean="0">
                        <a:latin typeface="Cambria Math" panose="02040503050406030204" pitchFamily="18" charset="0"/>
                      </a:rPr>
                      <m:t>h</m:t>
                    </m:r>
                    <m:r>
                      <a:rPr lang="en-US" sz="1200" i="1" baseline="-25000" dirty="0">
                        <a:latin typeface="Cambria Math" panose="02040503050406030204" pitchFamily="18" charset="0"/>
                      </a:rPr>
                      <m:t>1</m:t>
                    </m:r>
                    <m:r>
                      <a:rPr lang="en-US" sz="1200" i="1" dirty="0">
                        <a:latin typeface="Cambria Math" panose="02040503050406030204" pitchFamily="18" charset="0"/>
                      </a:rPr>
                      <m:t>(</m:t>
                    </m:r>
                    <m:r>
                      <a:rPr lang="en-US" sz="1200" i="1" dirty="0">
                        <a:latin typeface="Cambria Math" panose="02040503050406030204" pitchFamily="18" charset="0"/>
                      </a:rPr>
                      <m:t>𝑛</m:t>
                    </m:r>
                    <m:r>
                      <a:rPr lang="en-US" sz="1200" i="1" dirty="0">
                        <a:latin typeface="Cambria Math" panose="02040503050406030204" pitchFamily="18" charset="0"/>
                      </a:rPr>
                      <m:t>)</m:t>
                    </m:r>
                  </m:oMath>
                </a14:m>
                <a:r>
                  <a:rPr lang="en-US" sz="1200" i="1" dirty="0"/>
                  <a:t> </a:t>
                </a:r>
                <a:r>
                  <a:rPr lang="en-US" sz="1200" dirty="0"/>
                  <a:t>= number of misplaced tiles</a:t>
                </a:r>
              </a:p>
              <a:p>
                <a14:m>
                  <m:oMath xmlns:m="http://schemas.openxmlformats.org/officeDocument/2006/math">
                    <m:r>
                      <a:rPr lang="en-US" sz="1200" i="1" dirty="0">
                        <a:latin typeface="Cambria Math" panose="02040503050406030204" pitchFamily="18" charset="0"/>
                      </a:rPr>
                      <m:t>h</m:t>
                    </m:r>
                    <m:r>
                      <a:rPr lang="en-US" sz="1200" i="1" baseline="-25000" dirty="0">
                        <a:latin typeface="Cambria Math" panose="02040503050406030204" pitchFamily="18" charset="0"/>
                      </a:rPr>
                      <m:t>2</m:t>
                    </m:r>
                    <m:r>
                      <a:rPr lang="en-US" sz="1200" i="1" dirty="0">
                        <a:latin typeface="Cambria Math" panose="02040503050406030204" pitchFamily="18" charset="0"/>
                      </a:rPr>
                      <m:t>(</m:t>
                    </m:r>
                    <m:r>
                      <a:rPr lang="en-US" sz="1200" i="1" dirty="0">
                        <a:latin typeface="Cambria Math" panose="02040503050406030204" pitchFamily="18" charset="0"/>
                      </a:rPr>
                      <m:t>𝑛</m:t>
                    </m:r>
                    <m:r>
                      <a:rPr lang="en-US" sz="1200" i="1" dirty="0">
                        <a:latin typeface="Cambria Math" panose="02040503050406030204" pitchFamily="18" charset="0"/>
                      </a:rPr>
                      <m:t>)</m:t>
                    </m:r>
                  </m:oMath>
                </a14:m>
                <a:r>
                  <a:rPr lang="en-US" sz="1200" i="1" dirty="0"/>
                  <a:t> </a:t>
                </a:r>
                <a:r>
                  <a:rPr lang="en-US" sz="1200" dirty="0"/>
                  <a:t>= total Manhattan distance</a:t>
                </a:r>
              </a:p>
            </p:txBody>
          </p:sp>
        </mc:Choice>
        <mc:Fallback xmlns="">
          <p:sp>
            <p:nvSpPr>
              <p:cNvPr id="5" name="TextBox 4">
                <a:extLst>
                  <a:ext uri="{FF2B5EF4-FFF2-40B4-BE49-F238E27FC236}">
                    <a16:creationId xmlns:a16="http://schemas.microsoft.com/office/drawing/2014/main" id="{2F8C09EF-93D7-454D-382E-694F2FA81F57}"/>
                  </a:ext>
                </a:extLst>
              </p:cNvPr>
              <p:cNvSpPr txBox="1">
                <a:spLocks noRot="1" noChangeAspect="1" noMove="1" noResize="1" noEditPoints="1" noAdjustHandles="1" noChangeArrowheads="1" noChangeShapeType="1" noTextEdit="1"/>
              </p:cNvSpPr>
              <p:nvPr/>
            </p:nvSpPr>
            <p:spPr>
              <a:xfrm>
                <a:off x="6246876" y="3977200"/>
                <a:ext cx="2362200" cy="461665"/>
              </a:xfrm>
              <a:prstGeom prst="rect">
                <a:avLst/>
              </a:prstGeom>
              <a:blipFill>
                <a:blip r:embed="rId5"/>
                <a:stretch>
                  <a:fillRect b="-7692"/>
                </a:stretch>
              </a:blipFill>
            </p:spPr>
            <p:txBody>
              <a:bodyPr/>
              <a:lstStyle/>
              <a:p>
                <a:r>
                  <a:rPr lang="en-US">
                    <a:noFill/>
                  </a:rPr>
                  <a:t> </a:t>
                </a:r>
              </a:p>
            </p:txBody>
          </p:sp>
        </mc:Fallback>
      </mc:AlternateContent>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0723">
                                            <p:txEl>
                                              <p:pRg st="3" end="3"/>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072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Lst>
  </p:timing>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Satisficing Search: Weighted A* Search</a:t>
            </a: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628650" y="1825625"/>
                <a:ext cx="7886700" cy="2289175"/>
              </a:xfrm>
            </p:spPr>
            <p:txBody>
              <a:bodyPr>
                <a:normAutofit fontScale="92500" lnSpcReduction="20000"/>
              </a:bodyPr>
              <a:lstStyle/>
              <a:p>
                <a:r>
                  <a:rPr lang="en-US" dirty="0"/>
                  <a:t>Often it is sufficient to find a </a:t>
                </a:r>
                <a:r>
                  <a:rPr lang="en-US" b="1" dirty="0">
                    <a:solidFill>
                      <a:srgbClr val="FF0000"/>
                    </a:solidFill>
                  </a:rPr>
                  <a:t>“good enough” solution </a:t>
                </a:r>
                <a:r>
                  <a:rPr lang="en-US" dirty="0"/>
                  <a:t>if it can be found very quickly or with way less computational resources. I.e., </a:t>
                </a:r>
                <a:r>
                  <a:rPr lang="en-US" dirty="0">
                    <a:solidFill>
                      <a:srgbClr val="FF0000"/>
                    </a:solidFill>
                  </a:rPr>
                  <a:t>expanding fewer nodes</a:t>
                </a:r>
                <a:r>
                  <a:rPr lang="en-US" dirty="0"/>
                  <a:t>.</a:t>
                </a:r>
              </a:p>
              <a:p>
                <a:endParaRPr lang="en-US" dirty="0"/>
              </a:p>
              <a:p>
                <a:r>
                  <a:rPr lang="en-US" dirty="0"/>
                  <a:t>We could use inadmissible heuristics in A* search (e.g., by multiplying </a:t>
                </a:r>
                <a14:m>
                  <m:oMath xmlns:m="http://schemas.openxmlformats.org/officeDocument/2006/math">
                    <m:r>
                      <a:rPr lang="en-US" i="1" dirty="0" smtClean="0">
                        <a:latin typeface="Cambria Math" panose="02040503050406030204" pitchFamily="18" charset="0"/>
                      </a:rPr>
                      <m:t>h</m:t>
                    </m:r>
                    <m:r>
                      <a:rPr lang="en-US" i="1" dirty="0" smtClean="0">
                        <a:latin typeface="Cambria Math" panose="02040503050406030204" pitchFamily="18" charset="0"/>
                      </a:rPr>
                      <m:t>(</m:t>
                    </m:r>
                    <m:r>
                      <a:rPr lang="en-US" i="1" dirty="0" smtClean="0">
                        <a:latin typeface="Cambria Math" panose="02040503050406030204" pitchFamily="18" charset="0"/>
                      </a:rPr>
                      <m:t>𝑛</m:t>
                    </m:r>
                    <m:r>
                      <a:rPr lang="en-US" i="1" dirty="0" smtClean="0">
                        <a:latin typeface="Cambria Math" panose="02040503050406030204" pitchFamily="18" charset="0"/>
                      </a:rPr>
                      <m:t>)</m:t>
                    </m:r>
                  </m:oMath>
                </a14:m>
                <a:r>
                  <a:rPr lang="en-US" dirty="0"/>
                  <a:t> with a factor </a:t>
                </a:r>
                <a14:m>
                  <m:oMath xmlns:m="http://schemas.openxmlformats.org/officeDocument/2006/math">
                    <m:r>
                      <a:rPr lang="en-US" i="1" dirty="0" smtClean="0">
                        <a:latin typeface="Cambria Math" panose="02040503050406030204" pitchFamily="18" charset="0"/>
                      </a:rPr>
                      <m:t>𝑊</m:t>
                    </m:r>
                  </m:oMath>
                </a14:m>
                <a:r>
                  <a:rPr lang="en-US" dirty="0"/>
                  <a:t>) that sometimes overestimate the optimal cost to the goal slightly. </a:t>
                </a:r>
              </a:p>
              <a:p>
                <a:pPr marL="685800" lvl="1" indent="-342900">
                  <a:buFont typeface="+mj-lt"/>
                  <a:buAutoNum type="arabicPeriod"/>
                </a:pPr>
                <a:r>
                  <a:rPr lang="en-US" dirty="0"/>
                  <a:t>It potentially reduces the number of expanded nodes significantly.</a:t>
                </a:r>
              </a:p>
              <a:p>
                <a:pPr marL="685800" lvl="1" indent="-342900">
                  <a:buFont typeface="+mj-lt"/>
                  <a:buAutoNum type="arabicPeriod"/>
                </a:pPr>
                <a:r>
                  <a:rPr lang="en-US" b="1" dirty="0">
                    <a:solidFill>
                      <a:srgbClr val="FF0000"/>
                    </a:solidFill>
                  </a:rPr>
                  <a:t>This will break the algorithm’s optimality guaranty!</a:t>
                </a:r>
              </a:p>
              <a:p>
                <a:pPr lvl="1"/>
                <a:endParaRPr lang="en-US" dirty="0"/>
              </a:p>
              <a:p>
                <a:pPr lvl="1"/>
                <a:endParaRPr lang="en-US" dirty="0"/>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628650" y="1825625"/>
                <a:ext cx="7886700" cy="2289175"/>
              </a:xfrm>
              <a:blipFill>
                <a:blip r:embed="rId3"/>
                <a:stretch>
                  <a:fillRect l="-541" t="-4521"/>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6" name="TextBox 5">
                <a:extLst>
                  <a:ext uri="{FF2B5EF4-FFF2-40B4-BE49-F238E27FC236}">
                    <a16:creationId xmlns:a16="http://schemas.microsoft.com/office/drawing/2014/main" id="{50B30838-AD7A-4533-8D6F-5E87E3D8C415}"/>
                  </a:ext>
                </a:extLst>
              </p:cNvPr>
              <p:cNvSpPr txBox="1"/>
              <p:nvPr/>
            </p:nvSpPr>
            <p:spPr>
              <a:xfrm>
                <a:off x="1001268" y="4470195"/>
                <a:ext cx="7162800" cy="369332"/>
              </a:xfrm>
              <a:prstGeom prst="rect">
                <a:avLst/>
              </a:prstGeom>
            </p:spPr>
            <p:style>
              <a:lnRef idx="2">
                <a:schemeClr val="accent6">
                  <a:shade val="50000"/>
                </a:schemeClr>
              </a:lnRef>
              <a:fillRef idx="1">
                <a:schemeClr val="accent6"/>
              </a:fillRef>
              <a:effectRef idx="0">
                <a:schemeClr val="accent6"/>
              </a:effectRef>
              <a:fontRef idx="minor">
                <a:schemeClr val="lt1"/>
              </a:fontRef>
            </p:style>
            <p:txBody>
              <a:bodyPr wrap="square">
                <a:spAutoFit/>
              </a:bodyPr>
              <a:lstStyle/>
              <a:p>
                <a:r>
                  <a:rPr lang="en-US" b="1" dirty="0"/>
                  <a:t>Weighted A* search:    </a:t>
                </a:r>
                <a14:m>
                  <m:oMath xmlns:m="http://schemas.openxmlformats.org/officeDocument/2006/math">
                    <m:r>
                      <a:rPr lang="en-US" b="1" i="1" smtClean="0">
                        <a:latin typeface="Cambria Math" panose="02040503050406030204" pitchFamily="18" charset="0"/>
                      </a:rPr>
                      <m:t>𝒇</m:t>
                    </m:r>
                    <m:d>
                      <m:dPr>
                        <m:ctrlPr>
                          <a:rPr lang="en-US" b="1" i="1" smtClean="0">
                            <a:latin typeface="Cambria Math" panose="02040503050406030204" pitchFamily="18" charset="0"/>
                          </a:rPr>
                        </m:ctrlPr>
                      </m:dPr>
                      <m:e>
                        <m:r>
                          <a:rPr lang="en-US" b="1" i="1" smtClean="0">
                            <a:latin typeface="Cambria Math" panose="02040503050406030204" pitchFamily="18" charset="0"/>
                          </a:rPr>
                          <m:t>𝒏</m:t>
                        </m:r>
                      </m:e>
                    </m:d>
                    <m:r>
                      <a:rPr lang="en-US" b="1" i="0" smtClean="0">
                        <a:latin typeface="Cambria Math" panose="02040503050406030204" pitchFamily="18" charset="0"/>
                      </a:rPr>
                      <m:t>=</m:t>
                    </m:r>
                    <m:r>
                      <a:rPr lang="en-US" b="1" i="1">
                        <a:latin typeface="Cambria Math" panose="02040503050406030204" pitchFamily="18" charset="0"/>
                      </a:rPr>
                      <m:t>𝒈</m:t>
                    </m:r>
                    <m:d>
                      <m:dPr>
                        <m:ctrlPr>
                          <a:rPr lang="en-US" b="1" i="1">
                            <a:latin typeface="Cambria Math" panose="02040503050406030204" pitchFamily="18" charset="0"/>
                          </a:rPr>
                        </m:ctrlPr>
                      </m:dPr>
                      <m:e>
                        <m:r>
                          <a:rPr lang="en-US" b="1" i="1">
                            <a:latin typeface="Cambria Math" panose="02040503050406030204" pitchFamily="18" charset="0"/>
                          </a:rPr>
                          <m:t>𝒏</m:t>
                        </m:r>
                      </m:e>
                    </m:d>
                    <m:r>
                      <a:rPr lang="en-US" b="1" i="1">
                        <a:latin typeface="Cambria Math" panose="02040503050406030204" pitchFamily="18" charset="0"/>
                      </a:rPr>
                      <m:t>+</m:t>
                    </m:r>
                    <m:r>
                      <a:rPr lang="en-US" b="1" i="1" smtClean="0">
                        <a:latin typeface="Cambria Math" panose="02040503050406030204" pitchFamily="18" charset="0"/>
                      </a:rPr>
                      <m:t>𝑾</m:t>
                    </m:r>
                    <m:r>
                      <a:rPr lang="en-US" b="1" i="1" smtClean="0">
                        <a:latin typeface="Cambria Math" panose="02040503050406030204" pitchFamily="18" charset="0"/>
                      </a:rPr>
                      <m:t>×</m:t>
                    </m:r>
                    <m:r>
                      <a:rPr lang="en-US" b="1" i="1">
                        <a:latin typeface="Cambria Math" panose="02040503050406030204" pitchFamily="18" charset="0"/>
                      </a:rPr>
                      <m:t>𝒉</m:t>
                    </m:r>
                    <m:d>
                      <m:dPr>
                        <m:ctrlPr>
                          <a:rPr lang="en-US" b="1" i="1">
                            <a:latin typeface="Cambria Math" panose="02040503050406030204" pitchFamily="18" charset="0"/>
                          </a:rPr>
                        </m:ctrlPr>
                      </m:dPr>
                      <m:e>
                        <m:r>
                          <a:rPr lang="en-US" b="1" i="1">
                            <a:latin typeface="Cambria Math" panose="02040503050406030204" pitchFamily="18" charset="0"/>
                          </a:rPr>
                          <m:t>𝒏</m:t>
                        </m:r>
                      </m:e>
                    </m:d>
                  </m:oMath>
                </a14:m>
                <a:r>
                  <a:rPr lang="en-US" b="1" dirty="0"/>
                  <a:t>	</a:t>
                </a:r>
                <a14:m>
                  <m:oMath xmlns:m="http://schemas.openxmlformats.org/officeDocument/2006/math">
                    <m:r>
                      <a:rPr lang="en-US" b="1" i="1">
                        <a:latin typeface="Cambria Math" panose="02040503050406030204" pitchFamily="18" charset="0"/>
                      </a:rPr>
                      <m:t>(</m:t>
                    </m:r>
                    <m:r>
                      <a:rPr lang="en-US" b="1" i="1" smtClean="0">
                        <a:latin typeface="Cambria Math" panose="02040503050406030204" pitchFamily="18" charset="0"/>
                      </a:rPr>
                      <m:t>𝟏</m:t>
                    </m:r>
                    <m:r>
                      <a:rPr lang="en-US" b="1" i="1" smtClean="0">
                        <a:latin typeface="Cambria Math" panose="02040503050406030204" pitchFamily="18" charset="0"/>
                      </a:rPr>
                      <m:t>&lt;</m:t>
                    </m:r>
                    <m:r>
                      <a:rPr lang="en-US" b="1" i="1">
                        <a:latin typeface="Cambria Math" panose="02040503050406030204" pitchFamily="18" charset="0"/>
                      </a:rPr>
                      <m:t>𝑾</m:t>
                    </m:r>
                    <m:r>
                      <a:rPr lang="en-US" b="1" i="1" smtClean="0">
                        <a:latin typeface="Cambria Math" panose="02040503050406030204" pitchFamily="18" charset="0"/>
                      </a:rPr>
                      <m:t>&lt;∞)</m:t>
                    </m:r>
                  </m:oMath>
                </a14:m>
                <a:endParaRPr lang="en-US" b="1" dirty="0"/>
              </a:p>
            </p:txBody>
          </p:sp>
        </mc:Choice>
        <mc:Fallback>
          <p:sp>
            <p:nvSpPr>
              <p:cNvPr id="6" name="TextBox 5">
                <a:extLst>
                  <a:ext uri="{FF2B5EF4-FFF2-40B4-BE49-F238E27FC236}">
                    <a16:creationId xmlns:a16="http://schemas.microsoft.com/office/drawing/2014/main" id="{50B30838-AD7A-4533-8D6F-5E87E3D8C415}"/>
                  </a:ext>
                </a:extLst>
              </p:cNvPr>
              <p:cNvSpPr txBox="1">
                <a:spLocks noRot="1" noChangeAspect="1" noMove="1" noResize="1" noEditPoints="1" noAdjustHandles="1" noChangeArrowheads="1" noChangeShapeType="1" noTextEdit="1"/>
              </p:cNvSpPr>
              <p:nvPr/>
            </p:nvSpPr>
            <p:spPr>
              <a:xfrm>
                <a:off x="1001268" y="4470195"/>
                <a:ext cx="7162800" cy="369332"/>
              </a:xfrm>
              <a:prstGeom prst="rect">
                <a:avLst/>
              </a:prstGeom>
              <a:blipFill>
                <a:blip r:embed="rId4"/>
                <a:stretch>
                  <a:fillRect l="-595" t="-6349" b="-22222"/>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7" name="TextBox 6">
                <a:extLst>
                  <a:ext uri="{FF2B5EF4-FFF2-40B4-BE49-F238E27FC236}">
                    <a16:creationId xmlns:a16="http://schemas.microsoft.com/office/drawing/2014/main" id="{4AB469F3-CD7F-44FA-97E0-41223E774AE1}"/>
                  </a:ext>
                </a:extLst>
              </p:cNvPr>
              <p:cNvSpPr txBox="1"/>
              <p:nvPr/>
            </p:nvSpPr>
            <p:spPr>
              <a:xfrm>
                <a:off x="990600" y="5145107"/>
                <a:ext cx="7162800" cy="1477328"/>
              </a:xfrm>
              <a:prstGeom prst="rect">
                <a:avLst/>
              </a:prstGeom>
              <a:noFill/>
            </p:spPr>
            <p:txBody>
              <a:bodyPr wrap="square">
                <a:spAutoFit/>
              </a:bodyPr>
              <a:lstStyle/>
              <a:p>
                <a:pPr marL="0" indent="0">
                  <a:buNone/>
                </a:pPr>
                <a:endParaRPr lang="en-US" dirty="0"/>
              </a:p>
              <a:p>
                <a:pPr marL="0" indent="0">
                  <a:buNone/>
                </a:pPr>
                <a:r>
                  <a:rPr lang="en-US" dirty="0"/>
                  <a:t>The presented algorithms are special cases:</a:t>
                </a:r>
              </a:p>
              <a:p>
                <a:pPr marL="0" indent="0">
                  <a:buNone/>
                </a:pPr>
                <a:r>
                  <a:rPr lang="en-US" dirty="0"/>
                  <a:t>A* search:		</a:t>
                </a:r>
                <a14:m>
                  <m:oMath xmlns:m="http://schemas.openxmlformats.org/officeDocument/2006/math">
                    <m:r>
                      <a:rPr lang="en-US" i="1">
                        <a:latin typeface="Cambria Math" panose="02040503050406030204" pitchFamily="18" charset="0"/>
                      </a:rPr>
                      <m:t>𝑓</m:t>
                    </m:r>
                    <m:d>
                      <m:dPr>
                        <m:ctrlPr>
                          <a:rPr lang="en-US" b="0" i="1" smtClean="0">
                            <a:latin typeface="Cambria Math" panose="02040503050406030204" pitchFamily="18" charset="0"/>
                          </a:rPr>
                        </m:ctrlPr>
                      </m:dPr>
                      <m:e>
                        <m:r>
                          <a:rPr lang="en-US" b="0" i="1" smtClean="0">
                            <a:latin typeface="Cambria Math" panose="02040503050406030204" pitchFamily="18" charset="0"/>
                          </a:rPr>
                          <m:t>𝑛</m:t>
                        </m:r>
                      </m:e>
                    </m:d>
                    <m:r>
                      <a:rPr lang="en-US" b="0" i="0" smtClean="0">
                        <a:latin typeface="Cambria Math" panose="02040503050406030204" pitchFamily="18" charset="0"/>
                      </a:rPr>
                      <m:t>=</m:t>
                    </m:r>
                    <m:r>
                      <a:rPr lang="en-US" b="0" i="1" smtClean="0">
                        <a:latin typeface="Cambria Math" panose="02040503050406030204" pitchFamily="18" charset="0"/>
                      </a:rPr>
                      <m:t>𝑔</m:t>
                    </m:r>
                    <m:d>
                      <m:dPr>
                        <m:ctrlPr>
                          <a:rPr lang="en-US" b="0" i="1" smtClean="0">
                            <a:latin typeface="Cambria Math" panose="02040503050406030204" pitchFamily="18" charset="0"/>
                          </a:rPr>
                        </m:ctrlPr>
                      </m:dPr>
                      <m:e>
                        <m:r>
                          <a:rPr lang="en-US" b="0" i="1" smtClean="0">
                            <a:latin typeface="Cambria Math" panose="02040503050406030204" pitchFamily="18" charset="0"/>
                          </a:rPr>
                          <m:t>𝑛</m:t>
                        </m:r>
                      </m:e>
                    </m:d>
                    <m:r>
                      <a:rPr lang="en-US" b="0" i="1" smtClean="0">
                        <a:latin typeface="Cambria Math" panose="02040503050406030204" pitchFamily="18" charset="0"/>
                      </a:rPr>
                      <m:t>+</m:t>
                    </m:r>
                    <m:r>
                      <a:rPr lang="en-US" b="0" i="1" smtClean="0">
                        <a:latin typeface="Cambria Math" panose="02040503050406030204" pitchFamily="18" charset="0"/>
                      </a:rPr>
                      <m:t>h</m:t>
                    </m:r>
                    <m:d>
                      <m:dPr>
                        <m:ctrlPr>
                          <a:rPr lang="en-US" b="0" i="1" smtClean="0">
                            <a:latin typeface="Cambria Math" panose="02040503050406030204" pitchFamily="18" charset="0"/>
                          </a:rPr>
                        </m:ctrlPr>
                      </m:dPr>
                      <m:e>
                        <m:r>
                          <a:rPr lang="en-US" b="0" i="1" smtClean="0">
                            <a:latin typeface="Cambria Math" panose="02040503050406030204" pitchFamily="18" charset="0"/>
                          </a:rPr>
                          <m:t>𝑛</m:t>
                        </m:r>
                      </m:e>
                    </m:d>
                  </m:oMath>
                </a14:m>
                <a:r>
                  <a:rPr lang="en-US" dirty="0"/>
                  <a:t>	</a:t>
                </a:r>
                <a14:m>
                  <m:oMath xmlns:m="http://schemas.openxmlformats.org/officeDocument/2006/math">
                    <m:r>
                      <a:rPr lang="en-US" b="0" i="1" smtClean="0">
                        <a:latin typeface="Cambria Math" panose="02040503050406030204" pitchFamily="18" charset="0"/>
                      </a:rPr>
                      <m:t>(</m:t>
                    </m:r>
                    <m:r>
                      <a:rPr lang="en-US" b="0" i="1" smtClean="0">
                        <a:latin typeface="Cambria Math" panose="02040503050406030204" pitchFamily="18" charset="0"/>
                      </a:rPr>
                      <m:t>𝑊</m:t>
                    </m:r>
                    <m:r>
                      <a:rPr lang="en-US" b="0" i="1" smtClean="0">
                        <a:latin typeface="Cambria Math" panose="02040503050406030204" pitchFamily="18" charset="0"/>
                      </a:rPr>
                      <m:t>=1)</m:t>
                    </m:r>
                  </m:oMath>
                </a14:m>
                <a:endParaRPr lang="en-US" dirty="0"/>
              </a:p>
              <a:p>
                <a:r>
                  <a:rPr lang="en-US" dirty="0"/>
                  <a:t>Uniform cost search/BFS:	</a:t>
                </a:r>
                <a14:m>
                  <m:oMath xmlns:m="http://schemas.openxmlformats.org/officeDocument/2006/math">
                    <m:r>
                      <a:rPr lang="en-US" i="1">
                        <a:latin typeface="Cambria Math" panose="02040503050406030204" pitchFamily="18" charset="0"/>
                      </a:rPr>
                      <m:t>𝑓</m:t>
                    </m:r>
                    <m:d>
                      <m:dPr>
                        <m:ctrlPr>
                          <a:rPr lang="en-US" i="1">
                            <a:latin typeface="Cambria Math" panose="02040503050406030204" pitchFamily="18" charset="0"/>
                          </a:rPr>
                        </m:ctrlPr>
                      </m:dPr>
                      <m:e>
                        <m:r>
                          <a:rPr lang="en-US" i="1">
                            <a:latin typeface="Cambria Math" panose="02040503050406030204" pitchFamily="18" charset="0"/>
                          </a:rPr>
                          <m:t>𝑛</m:t>
                        </m:r>
                      </m:e>
                    </m:d>
                    <m:r>
                      <a:rPr lang="en-US">
                        <a:latin typeface="Cambria Math" panose="02040503050406030204" pitchFamily="18" charset="0"/>
                      </a:rPr>
                      <m:t>=</m:t>
                    </m:r>
                    <m:r>
                      <a:rPr lang="en-US" i="1">
                        <a:latin typeface="Cambria Math" panose="02040503050406030204" pitchFamily="18" charset="0"/>
                      </a:rPr>
                      <m:t>𝑔</m:t>
                    </m:r>
                    <m:d>
                      <m:dPr>
                        <m:ctrlPr>
                          <a:rPr lang="en-US" i="1">
                            <a:latin typeface="Cambria Math" panose="02040503050406030204" pitchFamily="18" charset="0"/>
                          </a:rPr>
                        </m:ctrlPr>
                      </m:dPr>
                      <m:e>
                        <m:r>
                          <a:rPr lang="en-US" i="1">
                            <a:latin typeface="Cambria Math" panose="02040503050406030204" pitchFamily="18" charset="0"/>
                          </a:rPr>
                          <m:t>𝑛</m:t>
                        </m:r>
                      </m:e>
                    </m:d>
                  </m:oMath>
                </a14:m>
                <a:r>
                  <a:rPr lang="en-US" dirty="0"/>
                  <a:t>		</a:t>
                </a:r>
                <a14:m>
                  <m:oMath xmlns:m="http://schemas.openxmlformats.org/officeDocument/2006/math">
                    <m:r>
                      <a:rPr lang="en-US" i="1">
                        <a:latin typeface="Cambria Math" panose="02040503050406030204" pitchFamily="18" charset="0"/>
                      </a:rPr>
                      <m:t>(</m:t>
                    </m:r>
                    <m:r>
                      <a:rPr lang="en-US" i="1">
                        <a:latin typeface="Cambria Math" panose="02040503050406030204" pitchFamily="18" charset="0"/>
                      </a:rPr>
                      <m:t>𝑊</m:t>
                    </m:r>
                    <m:r>
                      <a:rPr lang="en-US" i="1">
                        <a:latin typeface="Cambria Math" panose="02040503050406030204" pitchFamily="18" charset="0"/>
                      </a:rPr>
                      <m:t>=0)</m:t>
                    </m:r>
                  </m:oMath>
                </a14:m>
                <a:endParaRPr lang="en-US" dirty="0"/>
              </a:p>
              <a:p>
                <a:r>
                  <a:rPr lang="en-US" dirty="0"/>
                  <a:t>Greedy best-first search:	</a:t>
                </a:r>
                <a14:m>
                  <m:oMath xmlns:m="http://schemas.openxmlformats.org/officeDocument/2006/math">
                    <m:r>
                      <a:rPr lang="en-US" i="1">
                        <a:latin typeface="Cambria Math" panose="02040503050406030204" pitchFamily="18" charset="0"/>
                      </a:rPr>
                      <m:t>𝑓</m:t>
                    </m:r>
                    <m:d>
                      <m:dPr>
                        <m:ctrlPr>
                          <a:rPr lang="en-US" i="1">
                            <a:latin typeface="Cambria Math" panose="02040503050406030204" pitchFamily="18" charset="0"/>
                          </a:rPr>
                        </m:ctrlPr>
                      </m:dPr>
                      <m:e>
                        <m:r>
                          <a:rPr lang="en-US" i="1">
                            <a:latin typeface="Cambria Math" panose="02040503050406030204" pitchFamily="18" charset="0"/>
                          </a:rPr>
                          <m:t>𝑛</m:t>
                        </m:r>
                      </m:e>
                    </m:d>
                    <m:r>
                      <a:rPr lang="en-US">
                        <a:latin typeface="Cambria Math" panose="02040503050406030204" pitchFamily="18" charset="0"/>
                      </a:rPr>
                      <m:t>=</m:t>
                    </m:r>
                    <m:r>
                      <a:rPr lang="en-US" i="1">
                        <a:latin typeface="Cambria Math" panose="02040503050406030204" pitchFamily="18" charset="0"/>
                      </a:rPr>
                      <m:t>h</m:t>
                    </m:r>
                    <m:d>
                      <m:dPr>
                        <m:ctrlPr>
                          <a:rPr lang="en-US" i="1">
                            <a:latin typeface="Cambria Math" panose="02040503050406030204" pitchFamily="18" charset="0"/>
                          </a:rPr>
                        </m:ctrlPr>
                      </m:dPr>
                      <m:e>
                        <m:r>
                          <a:rPr lang="en-US" i="1">
                            <a:latin typeface="Cambria Math" panose="02040503050406030204" pitchFamily="18" charset="0"/>
                          </a:rPr>
                          <m:t>𝑛</m:t>
                        </m:r>
                      </m:e>
                    </m:d>
                  </m:oMath>
                </a14:m>
                <a:r>
                  <a:rPr lang="en-US" dirty="0"/>
                  <a:t>		</a:t>
                </a:r>
                <a14:m>
                  <m:oMath xmlns:m="http://schemas.openxmlformats.org/officeDocument/2006/math">
                    <m:d>
                      <m:dPr>
                        <m:ctrlPr>
                          <a:rPr lang="en-US" i="1">
                            <a:latin typeface="Cambria Math" panose="02040503050406030204" pitchFamily="18" charset="0"/>
                          </a:rPr>
                        </m:ctrlPr>
                      </m:dPr>
                      <m:e>
                        <m:r>
                          <a:rPr lang="en-US" i="1">
                            <a:latin typeface="Cambria Math" panose="02040503050406030204" pitchFamily="18" charset="0"/>
                          </a:rPr>
                          <m:t>𝑊</m:t>
                        </m:r>
                        <m:r>
                          <a:rPr lang="en-US" i="1">
                            <a:latin typeface="Cambria Math" panose="02040503050406030204" pitchFamily="18" charset="0"/>
                          </a:rPr>
                          <m:t>=∞</m:t>
                        </m:r>
                      </m:e>
                    </m:d>
                  </m:oMath>
                </a14:m>
                <a:endParaRPr lang="en-US" dirty="0"/>
              </a:p>
            </p:txBody>
          </p:sp>
        </mc:Choice>
        <mc:Fallback>
          <p:sp>
            <p:nvSpPr>
              <p:cNvPr id="7" name="TextBox 6">
                <a:extLst>
                  <a:ext uri="{FF2B5EF4-FFF2-40B4-BE49-F238E27FC236}">
                    <a16:creationId xmlns:a16="http://schemas.microsoft.com/office/drawing/2014/main" id="{4AB469F3-CD7F-44FA-97E0-41223E774AE1}"/>
                  </a:ext>
                </a:extLst>
              </p:cNvPr>
              <p:cNvSpPr txBox="1">
                <a:spLocks noRot="1" noChangeAspect="1" noMove="1" noResize="1" noEditPoints="1" noAdjustHandles="1" noChangeArrowheads="1" noChangeShapeType="1" noTextEdit="1"/>
              </p:cNvSpPr>
              <p:nvPr/>
            </p:nvSpPr>
            <p:spPr>
              <a:xfrm>
                <a:off x="990600" y="5145107"/>
                <a:ext cx="7162800" cy="1477328"/>
              </a:xfrm>
              <a:prstGeom prst="rect">
                <a:avLst/>
              </a:prstGeom>
              <a:blipFill>
                <a:blip r:embed="rId5"/>
                <a:stretch>
                  <a:fillRect l="-766" b="-5785"/>
                </a:stretch>
              </a:blipFill>
            </p:spPr>
            <p:txBody>
              <a:bodyPr/>
              <a:lstStyle/>
              <a:p>
                <a:r>
                  <a:rPr lang="en-US">
                    <a:noFill/>
                  </a:rPr>
                  <a:t> </a:t>
                </a:r>
              </a:p>
            </p:txBody>
          </p:sp>
        </mc:Fallback>
      </mc:AlternateContent>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3">
                                            <p:txEl>
                                              <p:pRg st="3" end="3"/>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3">
                                            <p:txEl>
                                              <p:pRg st="4" end="4"/>
                                            </p:txEl>
                                          </p:spTgt>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6"/>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7" grpId="0"/>
    </p:bldLst>
  </p:timing>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3" name="Picture 12">
            <a:extLst>
              <a:ext uri="{FF2B5EF4-FFF2-40B4-BE49-F238E27FC236}">
                <a16:creationId xmlns:a16="http://schemas.microsoft.com/office/drawing/2014/main" id="{5F5C1E68-CB2B-46C1-89F8-E5F4F4A65B7F}"/>
              </a:ext>
            </a:extLst>
          </p:cNvPr>
          <p:cNvPicPr>
            <a:picLocks noChangeAspect="1"/>
          </p:cNvPicPr>
          <p:nvPr/>
        </p:nvPicPr>
        <p:blipFill rotWithShape="1">
          <a:blip r:embed="rId3"/>
          <a:srcRect l="41319" t="30823" r="42500" b="38814"/>
          <a:stretch/>
        </p:blipFill>
        <p:spPr>
          <a:xfrm>
            <a:off x="533400" y="2362200"/>
            <a:ext cx="2180442" cy="2133600"/>
          </a:xfrm>
          <a:prstGeom prst="rect">
            <a:avLst/>
          </a:prstGeom>
        </p:spPr>
      </p:pic>
      <p:sp>
        <p:nvSpPr>
          <p:cNvPr id="2" name="Title 1"/>
          <p:cNvSpPr>
            <a:spLocks noGrp="1"/>
          </p:cNvSpPr>
          <p:nvPr>
            <p:ph type="title"/>
          </p:nvPr>
        </p:nvSpPr>
        <p:spPr/>
        <p:txBody>
          <a:bodyPr/>
          <a:lstStyle/>
          <a:p>
            <a:r>
              <a:rPr lang="en-US" dirty="0"/>
              <a:t>Example of Weighted A* Search</a:t>
            </a:r>
          </a:p>
        </p:txBody>
      </p:sp>
      <mc:AlternateContent xmlns:mc="http://schemas.openxmlformats.org/markup-compatibility/2006" xmlns:a14="http://schemas.microsoft.com/office/drawing/2010/main">
        <mc:Choice Requires="a14">
          <p:sp>
            <p:nvSpPr>
              <p:cNvPr id="5" name="TextBox 4"/>
              <p:cNvSpPr txBox="1"/>
              <p:nvPr/>
            </p:nvSpPr>
            <p:spPr>
              <a:xfrm>
                <a:off x="5844636" y="5155135"/>
                <a:ext cx="2763962" cy="584840"/>
              </a:xfrm>
              <a:prstGeom prst="rect">
                <a:avLst/>
              </a:prstGeom>
              <a:noFill/>
            </p:spPr>
            <p:txBody>
              <a:bodyPr wrap="none" rtlCol="0">
                <a:spAutoFit/>
              </a:bodyPr>
              <a:lstStyle/>
              <a:p>
                <a:pPr algn="ctr"/>
                <a:r>
                  <a:rPr lang="en-US" sz="1600" b="0" dirty="0"/>
                  <a:t>Weighted A* Search</a:t>
                </a:r>
              </a:p>
              <a:p>
                <a:pPr algn="ctr"/>
                <a14:m>
                  <m:oMathPara xmlns:m="http://schemas.openxmlformats.org/officeDocument/2006/math">
                    <m:oMathParaPr>
                      <m:jc m:val="centerGroup"/>
                    </m:oMathParaPr>
                    <m:oMath xmlns:m="http://schemas.openxmlformats.org/officeDocument/2006/math">
                      <m:r>
                        <a:rPr lang="en-US" sz="1600" b="0" i="1" dirty="0" smtClean="0">
                          <a:latin typeface="Cambria Math" panose="02040503050406030204" pitchFamily="18" charset="0"/>
                        </a:rPr>
                        <m:t>𝑓</m:t>
                      </m:r>
                      <m:r>
                        <a:rPr lang="en-US" sz="1600" i="1" dirty="0" smtClean="0">
                          <a:latin typeface="Cambria Math" panose="02040503050406030204" pitchFamily="18" charset="0"/>
                        </a:rPr>
                        <m:t>(</m:t>
                      </m:r>
                      <m:r>
                        <a:rPr lang="en-US" sz="1600" i="1" dirty="0" smtClean="0">
                          <a:latin typeface="Cambria Math" panose="02040503050406030204" pitchFamily="18" charset="0"/>
                        </a:rPr>
                        <m:t>𝑛</m:t>
                      </m:r>
                      <m:r>
                        <a:rPr lang="en-US" sz="1600" i="1" dirty="0" smtClean="0">
                          <a:latin typeface="Cambria Math" panose="02040503050406030204" pitchFamily="18" charset="0"/>
                        </a:rPr>
                        <m:t>) = </m:t>
                      </m:r>
                      <m:r>
                        <a:rPr lang="en-US" sz="1600" i="1" dirty="0" smtClean="0">
                          <a:latin typeface="Cambria Math" panose="02040503050406030204" pitchFamily="18" charset="0"/>
                        </a:rPr>
                        <m:t>𝑔</m:t>
                      </m:r>
                      <m:r>
                        <a:rPr lang="en-US" sz="1600" i="1" dirty="0" smtClean="0">
                          <a:latin typeface="Cambria Math" panose="02040503050406030204" pitchFamily="18" charset="0"/>
                        </a:rPr>
                        <m:t>(</m:t>
                      </m:r>
                      <m:r>
                        <a:rPr lang="en-US" sz="1600" i="1" dirty="0" smtClean="0">
                          <a:latin typeface="Cambria Math" panose="02040503050406030204" pitchFamily="18" charset="0"/>
                        </a:rPr>
                        <m:t>𝑛</m:t>
                      </m:r>
                      <m:r>
                        <a:rPr lang="en-US" sz="1600" i="1" dirty="0" smtClean="0">
                          <a:latin typeface="Cambria Math" panose="02040503050406030204" pitchFamily="18" charset="0"/>
                        </a:rPr>
                        <m:t>)+5 </m:t>
                      </m:r>
                      <m:sSub>
                        <m:sSubPr>
                          <m:ctrlPr>
                            <a:rPr lang="en-US" sz="1600" b="0" i="1" dirty="0" smtClean="0">
                              <a:latin typeface="Cambria Math" panose="02040503050406030204" pitchFamily="18" charset="0"/>
                            </a:rPr>
                          </m:ctrlPr>
                        </m:sSubPr>
                        <m:e>
                          <m:r>
                            <a:rPr lang="en-US" sz="1600" i="1" dirty="0" smtClean="0">
                              <a:latin typeface="Cambria Math" panose="02040503050406030204" pitchFamily="18" charset="0"/>
                            </a:rPr>
                            <m:t>h</m:t>
                          </m:r>
                        </m:e>
                        <m:sub>
                          <m:r>
                            <a:rPr lang="en-US" sz="1600" b="0" i="1" dirty="0" smtClean="0">
                              <a:latin typeface="Cambria Math" panose="02040503050406030204" pitchFamily="18" charset="0"/>
                            </a:rPr>
                            <m:t>𝐸𝑢𝑐𝑙</m:t>
                          </m:r>
                        </m:sub>
                      </m:sSub>
                      <m:r>
                        <a:rPr lang="en-US" sz="1600" i="1" dirty="0" smtClean="0">
                          <a:latin typeface="Cambria Math" panose="02040503050406030204" pitchFamily="18" charset="0"/>
                        </a:rPr>
                        <m:t>(</m:t>
                      </m:r>
                      <m:r>
                        <a:rPr lang="en-US" sz="1600" i="1" dirty="0" smtClean="0">
                          <a:latin typeface="Cambria Math" panose="02040503050406030204" pitchFamily="18" charset="0"/>
                        </a:rPr>
                        <m:t>𝑛</m:t>
                      </m:r>
                      <m:r>
                        <a:rPr lang="en-US" sz="1600" i="1" dirty="0" smtClean="0">
                          <a:latin typeface="Cambria Math" panose="02040503050406030204" pitchFamily="18" charset="0"/>
                        </a:rPr>
                        <m:t>) </m:t>
                      </m:r>
                    </m:oMath>
                  </m:oMathPara>
                </a14:m>
                <a:br>
                  <a:rPr lang="en-US" sz="1600" dirty="0"/>
                </a:br>
                <a:endParaRPr lang="en-US" sz="1600" dirty="0"/>
              </a:p>
            </p:txBody>
          </p:sp>
        </mc:Choice>
        <mc:Fallback xmlns="">
          <p:sp>
            <p:nvSpPr>
              <p:cNvPr id="5" name="TextBox 4"/>
              <p:cNvSpPr txBox="1">
                <a:spLocks noRot="1" noChangeAspect="1" noMove="1" noResize="1" noEditPoints="1" noAdjustHandles="1" noChangeArrowheads="1" noChangeShapeType="1" noTextEdit="1"/>
              </p:cNvSpPr>
              <p:nvPr/>
            </p:nvSpPr>
            <p:spPr>
              <a:xfrm>
                <a:off x="5844636" y="5155135"/>
                <a:ext cx="2763962" cy="584840"/>
              </a:xfrm>
              <a:prstGeom prst="rect">
                <a:avLst/>
              </a:prstGeom>
              <a:blipFill>
                <a:blip r:embed="rId4"/>
                <a:stretch>
                  <a:fillRect t="-3125" b="-5208"/>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 name="TextBox 6"/>
              <p:cNvSpPr txBox="1"/>
              <p:nvPr/>
            </p:nvSpPr>
            <p:spPr>
              <a:xfrm>
                <a:off x="3136850" y="5155168"/>
                <a:ext cx="2357247" cy="584775"/>
              </a:xfrm>
              <a:prstGeom prst="rect">
                <a:avLst/>
              </a:prstGeom>
              <a:noFill/>
            </p:spPr>
            <p:txBody>
              <a:bodyPr wrap="none" rtlCol="0">
                <a:spAutoFit/>
              </a:bodyPr>
              <a:lstStyle/>
              <a:p>
                <a:pPr algn="ctr"/>
                <a:r>
                  <a:rPr lang="en-US" sz="1600" dirty="0"/>
                  <a:t>Exact A* Search</a:t>
                </a:r>
                <a:br>
                  <a:rPr lang="en-US" sz="1600" dirty="0"/>
                </a:br>
                <a14:m>
                  <m:oMathPara xmlns:m="http://schemas.openxmlformats.org/officeDocument/2006/math">
                    <m:oMathParaPr>
                      <m:jc m:val="centerGroup"/>
                    </m:oMathParaPr>
                    <m:oMath xmlns:m="http://schemas.openxmlformats.org/officeDocument/2006/math">
                      <m:r>
                        <a:rPr lang="en-US" sz="1600" i="1" dirty="0">
                          <a:latin typeface="Cambria Math" panose="02040503050406030204" pitchFamily="18" charset="0"/>
                        </a:rPr>
                        <m:t>𝑓</m:t>
                      </m:r>
                      <m:d>
                        <m:dPr>
                          <m:ctrlPr>
                            <a:rPr lang="en-US" sz="1600" i="1" dirty="0">
                              <a:latin typeface="Cambria Math" panose="02040503050406030204" pitchFamily="18" charset="0"/>
                            </a:rPr>
                          </m:ctrlPr>
                        </m:dPr>
                        <m:e>
                          <m:r>
                            <a:rPr lang="en-US" sz="1600" i="1" dirty="0">
                              <a:latin typeface="Cambria Math" panose="02040503050406030204" pitchFamily="18" charset="0"/>
                            </a:rPr>
                            <m:t>𝑛</m:t>
                          </m:r>
                        </m:e>
                      </m:d>
                      <m:r>
                        <a:rPr lang="en-US" sz="1600" b="0" i="1" dirty="0" smtClean="0">
                          <a:latin typeface="Cambria Math" panose="02040503050406030204" pitchFamily="18" charset="0"/>
                        </a:rPr>
                        <m:t>=</m:t>
                      </m:r>
                      <m:r>
                        <a:rPr lang="en-US" sz="1600" i="1" dirty="0">
                          <a:latin typeface="Cambria Math" panose="02040503050406030204" pitchFamily="18" charset="0"/>
                        </a:rPr>
                        <m:t> </m:t>
                      </m:r>
                      <m:r>
                        <a:rPr lang="en-US" sz="1600" i="1" dirty="0">
                          <a:latin typeface="Cambria Math" panose="02040503050406030204" pitchFamily="18" charset="0"/>
                        </a:rPr>
                        <m:t>𝑔</m:t>
                      </m:r>
                      <m:r>
                        <a:rPr lang="en-US" sz="1600" i="1" dirty="0">
                          <a:latin typeface="Cambria Math" panose="02040503050406030204" pitchFamily="18" charset="0"/>
                        </a:rPr>
                        <m:t>(</m:t>
                      </m:r>
                      <m:r>
                        <a:rPr lang="en-US" sz="1600" i="1" dirty="0">
                          <a:latin typeface="Cambria Math" panose="02040503050406030204" pitchFamily="18" charset="0"/>
                        </a:rPr>
                        <m:t>𝑛</m:t>
                      </m:r>
                      <m:r>
                        <a:rPr lang="en-US" sz="1600" i="1" dirty="0">
                          <a:latin typeface="Cambria Math" panose="02040503050406030204" pitchFamily="18" charset="0"/>
                        </a:rPr>
                        <m:t>)+</m:t>
                      </m:r>
                      <m:sSub>
                        <m:sSubPr>
                          <m:ctrlPr>
                            <a:rPr lang="en-US" sz="1600" i="1" dirty="0" smtClean="0">
                              <a:latin typeface="Cambria Math" panose="02040503050406030204" pitchFamily="18" charset="0"/>
                            </a:rPr>
                          </m:ctrlPr>
                        </m:sSubPr>
                        <m:e>
                          <m:r>
                            <a:rPr lang="en-US" sz="1600" i="1" dirty="0">
                              <a:latin typeface="Cambria Math" panose="02040503050406030204" pitchFamily="18" charset="0"/>
                            </a:rPr>
                            <m:t>h</m:t>
                          </m:r>
                        </m:e>
                        <m:sub>
                          <m:r>
                            <a:rPr lang="en-US" sz="1600" i="1" dirty="0">
                              <a:latin typeface="Cambria Math" panose="02040503050406030204" pitchFamily="18" charset="0"/>
                            </a:rPr>
                            <m:t>𝐸𝑢𝑐𝑙</m:t>
                          </m:r>
                        </m:sub>
                      </m:sSub>
                      <m:r>
                        <a:rPr lang="en-US" sz="1600" i="1" dirty="0">
                          <a:latin typeface="Cambria Math" panose="02040503050406030204" pitchFamily="18" charset="0"/>
                        </a:rPr>
                        <m:t>(</m:t>
                      </m:r>
                      <m:r>
                        <a:rPr lang="en-US" sz="1600" i="1" dirty="0">
                          <a:latin typeface="Cambria Math" panose="02040503050406030204" pitchFamily="18" charset="0"/>
                        </a:rPr>
                        <m:t>𝑛</m:t>
                      </m:r>
                      <m:r>
                        <a:rPr lang="en-US" sz="1600" i="1" dirty="0">
                          <a:latin typeface="Cambria Math" panose="02040503050406030204" pitchFamily="18" charset="0"/>
                        </a:rPr>
                        <m:t>)</m:t>
                      </m:r>
                    </m:oMath>
                  </m:oMathPara>
                </a14:m>
                <a:endParaRPr lang="en-US" sz="1600" dirty="0"/>
              </a:p>
            </p:txBody>
          </p:sp>
        </mc:Choice>
        <mc:Fallback xmlns="">
          <p:sp>
            <p:nvSpPr>
              <p:cNvPr id="7" name="TextBox 6"/>
              <p:cNvSpPr txBox="1">
                <a:spLocks noRot="1" noChangeAspect="1" noMove="1" noResize="1" noEditPoints="1" noAdjustHandles="1" noChangeArrowheads="1" noChangeShapeType="1" noTextEdit="1"/>
              </p:cNvSpPr>
              <p:nvPr/>
            </p:nvSpPr>
            <p:spPr>
              <a:xfrm>
                <a:off x="3136850" y="5155168"/>
                <a:ext cx="2357247" cy="584775"/>
              </a:xfrm>
              <a:prstGeom prst="rect">
                <a:avLst/>
              </a:prstGeom>
              <a:blipFill>
                <a:blip r:embed="rId5"/>
                <a:stretch>
                  <a:fillRect t="-3125" b="-5208"/>
                </a:stretch>
              </a:blipFill>
            </p:spPr>
            <p:txBody>
              <a:bodyPr/>
              <a:lstStyle/>
              <a:p>
                <a:r>
                  <a:rPr lang="en-US">
                    <a:noFill/>
                  </a:rPr>
                  <a:t> </a:t>
                </a:r>
              </a:p>
            </p:txBody>
          </p:sp>
        </mc:Fallback>
      </mc:AlternateContent>
      <p:pic>
        <p:nvPicPr>
          <p:cNvPr id="3" name="Picture 2">
            <a:extLst>
              <a:ext uri="{FF2B5EF4-FFF2-40B4-BE49-F238E27FC236}">
                <a16:creationId xmlns:a16="http://schemas.microsoft.com/office/drawing/2014/main" id="{69F3E892-74D9-4885-9A4C-324BD8ACA047}"/>
              </a:ext>
            </a:extLst>
          </p:cNvPr>
          <p:cNvPicPr>
            <a:picLocks noChangeAspect="1"/>
          </p:cNvPicPr>
          <p:nvPr/>
        </p:nvPicPr>
        <p:blipFill rotWithShape="1">
          <a:blip r:embed="rId6"/>
          <a:srcRect l="41667" t="36384" r="42500" b="31974"/>
          <a:stretch/>
        </p:blipFill>
        <p:spPr>
          <a:xfrm>
            <a:off x="6191645" y="2319802"/>
            <a:ext cx="2180442" cy="2272251"/>
          </a:xfrm>
          <a:prstGeom prst="rect">
            <a:avLst/>
          </a:prstGeom>
        </p:spPr>
      </p:pic>
      <p:sp>
        <p:nvSpPr>
          <p:cNvPr id="4" name="Rectangle 3">
            <a:extLst>
              <a:ext uri="{FF2B5EF4-FFF2-40B4-BE49-F238E27FC236}">
                <a16:creationId xmlns:a16="http://schemas.microsoft.com/office/drawing/2014/main" id="{B225429A-0E81-4495-9878-809F8C7FF276}"/>
              </a:ext>
            </a:extLst>
          </p:cNvPr>
          <p:cNvSpPr/>
          <p:nvPr/>
        </p:nvSpPr>
        <p:spPr>
          <a:xfrm>
            <a:off x="2968272" y="6308208"/>
            <a:ext cx="3311420" cy="369332"/>
          </a:xfrm>
          <a:prstGeom prst="rect">
            <a:avLst/>
          </a:prstGeom>
        </p:spPr>
        <p:txBody>
          <a:bodyPr wrap="none">
            <a:spAutoFit/>
          </a:bodyPr>
          <a:lstStyle/>
          <a:p>
            <a:pPr algn="ctr"/>
            <a:r>
              <a:rPr lang="en-US" dirty="0"/>
              <a:t>Source and Animation: </a:t>
            </a:r>
            <a:r>
              <a:rPr lang="en-US" dirty="0">
                <a:hlinkClick r:id="rId7"/>
              </a:rPr>
              <a:t>Wikipedia</a:t>
            </a:r>
            <a:endParaRPr lang="en-US" dirty="0"/>
          </a:p>
        </p:txBody>
      </p:sp>
      <p:cxnSp>
        <p:nvCxnSpPr>
          <p:cNvPr id="10" name="Straight Arrow Connector 9">
            <a:extLst>
              <a:ext uri="{FF2B5EF4-FFF2-40B4-BE49-F238E27FC236}">
                <a16:creationId xmlns:a16="http://schemas.microsoft.com/office/drawing/2014/main" id="{1434C36E-86E8-4F37-BC9B-8ED5D7824CBD}"/>
              </a:ext>
            </a:extLst>
          </p:cNvPr>
          <p:cNvCxnSpPr/>
          <p:nvPr/>
        </p:nvCxnSpPr>
        <p:spPr>
          <a:xfrm flipV="1">
            <a:off x="704850" y="2590800"/>
            <a:ext cx="1733550" cy="1752600"/>
          </a:xfrm>
          <a:prstGeom prst="straightConnector1">
            <a:avLst/>
          </a:prstGeom>
          <a:ln>
            <a:tailEnd type="triangle"/>
          </a:ln>
        </p:spPr>
        <p:style>
          <a:lnRef idx="3">
            <a:schemeClr val="accent2"/>
          </a:lnRef>
          <a:fillRef idx="0">
            <a:schemeClr val="accent2"/>
          </a:fillRef>
          <a:effectRef idx="2">
            <a:schemeClr val="accent2"/>
          </a:effectRef>
          <a:fontRef idx="minor">
            <a:schemeClr val="tx1"/>
          </a:fontRef>
        </p:style>
      </p:cxnSp>
      <mc:AlternateContent xmlns:mc="http://schemas.openxmlformats.org/markup-compatibility/2006" xmlns:a14="http://schemas.microsoft.com/office/drawing/2010/main">
        <mc:Choice Requires="a14">
          <p:sp>
            <p:nvSpPr>
              <p:cNvPr id="12" name="TextBox 11">
                <a:extLst>
                  <a:ext uri="{FF2B5EF4-FFF2-40B4-BE49-F238E27FC236}">
                    <a16:creationId xmlns:a16="http://schemas.microsoft.com/office/drawing/2014/main" id="{29FCAAAB-3996-4816-87FB-4EED6F717091}"/>
                  </a:ext>
                </a:extLst>
              </p:cNvPr>
              <p:cNvSpPr txBox="1"/>
              <p:nvPr/>
            </p:nvSpPr>
            <p:spPr>
              <a:xfrm>
                <a:off x="304800" y="5155168"/>
                <a:ext cx="2481512" cy="584775"/>
              </a:xfrm>
              <a:prstGeom prst="rect">
                <a:avLst/>
              </a:prstGeom>
              <a:noFill/>
            </p:spPr>
            <p:txBody>
              <a:bodyPr wrap="none" rtlCol="0">
                <a:spAutoFit/>
              </a:bodyPr>
              <a:lstStyle/>
              <a:p>
                <a:pPr algn="ctr"/>
                <a:r>
                  <a:rPr lang="en-US" sz="1600" dirty="0"/>
                  <a:t>Breadth-first Search (BFS)</a:t>
                </a:r>
              </a:p>
              <a:p>
                <a:pPr algn="ctr"/>
                <a14:m>
                  <m:oMath xmlns:m="http://schemas.openxmlformats.org/officeDocument/2006/math">
                    <m:r>
                      <a:rPr lang="en-US" sz="1600" i="1" dirty="0" smtClean="0">
                        <a:latin typeface="Cambria Math" panose="02040503050406030204" pitchFamily="18" charset="0"/>
                      </a:rPr>
                      <m:t>𝑓</m:t>
                    </m:r>
                    <m:d>
                      <m:dPr>
                        <m:ctrlPr>
                          <a:rPr lang="en-US" sz="1600" i="1" dirty="0">
                            <a:latin typeface="Cambria Math" panose="02040503050406030204" pitchFamily="18" charset="0"/>
                          </a:rPr>
                        </m:ctrlPr>
                      </m:dPr>
                      <m:e>
                        <m:r>
                          <a:rPr lang="en-US" sz="1600" i="1" dirty="0">
                            <a:latin typeface="Cambria Math" panose="02040503050406030204" pitchFamily="18" charset="0"/>
                          </a:rPr>
                          <m:t>𝑛</m:t>
                        </m:r>
                      </m:e>
                    </m:d>
                    <m:r>
                      <a:rPr lang="en-US" sz="1600" b="0" i="1" dirty="0" smtClean="0">
                        <a:latin typeface="Cambria Math" panose="02040503050406030204" pitchFamily="18" charset="0"/>
                      </a:rPr>
                      <m:t>= </m:t>
                    </m:r>
                  </m:oMath>
                </a14:m>
                <a:r>
                  <a:rPr lang="en-US" sz="1600" dirty="0"/>
                  <a:t># actions to reach n</a:t>
                </a:r>
              </a:p>
            </p:txBody>
          </p:sp>
        </mc:Choice>
        <mc:Fallback xmlns="">
          <p:sp>
            <p:nvSpPr>
              <p:cNvPr id="12" name="TextBox 11">
                <a:extLst>
                  <a:ext uri="{FF2B5EF4-FFF2-40B4-BE49-F238E27FC236}">
                    <a16:creationId xmlns:a16="http://schemas.microsoft.com/office/drawing/2014/main" id="{29FCAAAB-3996-4816-87FB-4EED6F717091}"/>
                  </a:ext>
                </a:extLst>
              </p:cNvPr>
              <p:cNvSpPr txBox="1">
                <a:spLocks noRot="1" noChangeAspect="1" noMove="1" noResize="1" noEditPoints="1" noAdjustHandles="1" noChangeArrowheads="1" noChangeShapeType="1" noTextEdit="1"/>
              </p:cNvSpPr>
              <p:nvPr/>
            </p:nvSpPr>
            <p:spPr>
              <a:xfrm>
                <a:off x="304800" y="5155168"/>
                <a:ext cx="2481512" cy="584775"/>
              </a:xfrm>
              <a:prstGeom prst="rect">
                <a:avLst/>
              </a:prstGeom>
              <a:blipFill>
                <a:blip r:embed="rId8"/>
                <a:stretch>
                  <a:fillRect t="-3125" r="-983" b="-12500"/>
                </a:stretch>
              </a:blipFill>
            </p:spPr>
            <p:txBody>
              <a:bodyPr/>
              <a:lstStyle/>
              <a:p>
                <a:r>
                  <a:rPr lang="en-US">
                    <a:noFill/>
                  </a:rPr>
                  <a:t> </a:t>
                </a:r>
              </a:p>
            </p:txBody>
          </p:sp>
        </mc:Fallback>
      </mc:AlternateContent>
      <p:pic>
        <p:nvPicPr>
          <p:cNvPr id="9" name="Picture 8">
            <a:extLst>
              <a:ext uri="{FF2B5EF4-FFF2-40B4-BE49-F238E27FC236}">
                <a16:creationId xmlns:a16="http://schemas.microsoft.com/office/drawing/2014/main" id="{3B6D8434-1CF8-357A-E149-1CD595BB8A1C}"/>
              </a:ext>
            </a:extLst>
          </p:cNvPr>
          <p:cNvPicPr>
            <a:picLocks noChangeAspect="1"/>
          </p:cNvPicPr>
          <p:nvPr/>
        </p:nvPicPr>
        <p:blipFill rotWithShape="1">
          <a:blip r:embed="rId9"/>
          <a:srcRect l="44557" t="41166" r="44555" b="37975"/>
          <a:stretch/>
        </p:blipFill>
        <p:spPr>
          <a:xfrm>
            <a:off x="3505200" y="2315358"/>
            <a:ext cx="2180442" cy="2180442"/>
          </a:xfrm>
          <a:prstGeom prst="rect">
            <a:avLst/>
          </a:prstGeom>
        </p:spPr>
      </p:pic>
      <p:sp>
        <p:nvSpPr>
          <p:cNvPr id="6" name="Arrow: Right 5">
            <a:extLst>
              <a:ext uri="{FF2B5EF4-FFF2-40B4-BE49-F238E27FC236}">
                <a16:creationId xmlns:a16="http://schemas.microsoft.com/office/drawing/2014/main" id="{2AF8C8CC-1133-077C-E51C-5C842EAC0AE9}"/>
              </a:ext>
            </a:extLst>
          </p:cNvPr>
          <p:cNvSpPr/>
          <p:nvPr/>
        </p:nvSpPr>
        <p:spPr>
          <a:xfrm>
            <a:off x="1863436" y="1641970"/>
            <a:ext cx="5486400" cy="584775"/>
          </a:xfrm>
          <a:prstGeom prst="rightArrow">
            <a:avLst/>
          </a:prstGeom>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r>
              <a:rPr lang="en-US" dirty="0"/>
              <a:t>Reduction in the number of expanded nodes</a:t>
            </a:r>
          </a:p>
        </p:txBody>
      </p:sp>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p:bg>
      <p:bgPr>
        <a:solidFill>
          <a:srgbClr val="000000"/>
        </a:solidFill>
        <a:effectLst/>
      </p:bgPr>
    </p:bg>
    <p:spTree>
      <p:nvGrpSpPr>
        <p:cNvPr id="1" name=""/>
        <p:cNvGrpSpPr/>
        <p:nvPr/>
      </p:nvGrpSpPr>
      <p:grpSpPr>
        <a:xfrm>
          <a:off x="0" y="0"/>
          <a:ext cx="0" cy="0"/>
          <a:chOff x="0" y="0"/>
          <a:chExt cx="0" cy="0"/>
        </a:xfrm>
      </p:grpSpPr>
      <p:sp>
        <p:nvSpPr>
          <p:cNvPr id="9" name="Rectangle 8">
            <a:extLst>
              <a:ext uri="{FF2B5EF4-FFF2-40B4-BE49-F238E27FC236}">
                <a16:creationId xmlns:a16="http://schemas.microsoft.com/office/drawing/2014/main" id="{71B2258F-86CA-4D4D-8270-BC05FCDEBFB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9144000" cy="6857999"/>
          </a:xfrm>
          <a:prstGeom prst="rect">
            <a:avLst/>
          </a:prstGeom>
          <a:solidFill>
            <a:srgbClr val="00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5" name="Picture 4" descr="Small tree">
            <a:extLst>
              <a:ext uri="{FF2B5EF4-FFF2-40B4-BE49-F238E27FC236}">
                <a16:creationId xmlns:a16="http://schemas.microsoft.com/office/drawing/2014/main" id="{31525A40-C194-58F5-842E-78E1D4B0EFF7}"/>
              </a:ext>
            </a:extLst>
          </p:cNvPr>
          <p:cNvPicPr>
            <a:picLocks noChangeAspect="1"/>
          </p:cNvPicPr>
          <p:nvPr/>
        </p:nvPicPr>
        <p:blipFill>
          <a:blip r:embed="rId2">
            <a:alphaModFix/>
          </a:blip>
          <a:srcRect r="10999" b="-2"/>
          <a:stretch/>
        </p:blipFill>
        <p:spPr>
          <a:xfrm>
            <a:off x="20" y="1"/>
            <a:ext cx="9143980" cy="6857999"/>
          </a:xfrm>
          <a:prstGeom prst="rect">
            <a:avLst/>
          </a:prstGeom>
        </p:spPr>
      </p:pic>
      <p:sp>
        <p:nvSpPr>
          <p:cNvPr id="2" name="Title 1">
            <a:extLst>
              <a:ext uri="{FF2B5EF4-FFF2-40B4-BE49-F238E27FC236}">
                <a16:creationId xmlns:a16="http://schemas.microsoft.com/office/drawing/2014/main" id="{6A4A9C3A-6405-2270-39F4-75120E41EC91}"/>
              </a:ext>
            </a:extLst>
          </p:cNvPr>
          <p:cNvSpPr>
            <a:spLocks noGrp="1"/>
          </p:cNvSpPr>
          <p:nvPr>
            <p:ph type="title"/>
          </p:nvPr>
        </p:nvSpPr>
        <p:spPr>
          <a:xfrm>
            <a:off x="685800" y="3953294"/>
            <a:ext cx="7543800" cy="2900518"/>
          </a:xfrm>
        </p:spPr>
        <p:txBody>
          <a:bodyPr vert="horz" lIns="91440" tIns="45720" rIns="91440" bIns="45720" rtlCol="0" anchor="b">
            <a:normAutofit/>
          </a:bodyPr>
          <a:lstStyle/>
          <a:p>
            <a:pPr algn="ctr" defTabSz="914400"/>
            <a:r>
              <a:rPr lang="en-US" sz="6000" dirty="0">
                <a:solidFill>
                  <a:srgbClr val="FFFFFF"/>
                </a:solidFill>
              </a:rPr>
              <a:t>Summary</a:t>
            </a:r>
            <a:r>
              <a:rPr lang="en-US" sz="6000" b="1" dirty="0">
                <a:solidFill>
                  <a:srgbClr val="FFFFFF"/>
                </a:solidFill>
              </a:rPr>
              <a:t> </a:t>
            </a:r>
            <a:br>
              <a:rPr lang="en-US" sz="6000" b="1" dirty="0">
                <a:solidFill>
                  <a:srgbClr val="FFFFFF"/>
                </a:solidFill>
              </a:rPr>
            </a:br>
            <a:r>
              <a:rPr lang="en-US" sz="6000" b="1" dirty="0">
                <a:solidFill>
                  <a:srgbClr val="FFFFFF"/>
                </a:solidFill>
              </a:rPr>
              <a:t>Planning Agents</a:t>
            </a:r>
          </a:p>
        </p:txBody>
      </p:sp>
    </p:spTree>
    <p:extLst>
      <p:ext uri="{BB962C8B-B14F-4D97-AF65-F5344CB8AC3E}">
        <p14:creationId xmlns:p14="http://schemas.microsoft.com/office/powerpoint/2010/main" val="4280976743"/>
      </p:ext>
    </p:extLst>
  </p:cSld>
  <p:clrMapOvr>
    <a:overrideClrMapping bg1="dk1" tx1="lt1" bg2="dk2" tx2="lt2" accent1="accent1" accent2="accent2" accent3="accent3" accent4="accent4" accent5="accent5" accent6="accent6" hlink="hlink" folHlink="folHlink"/>
  </p:clrMapOvr>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A4DAEAC-141A-A1F2-9808-BEFA834C2C75}"/>
            </a:ext>
          </a:extLst>
        </p:cNvPr>
        <p:cNvGrpSpPr/>
        <p:nvPr/>
      </p:nvGrpSpPr>
      <p:grpSpPr>
        <a:xfrm>
          <a:off x="0" y="0"/>
          <a:ext cx="0" cy="0"/>
          <a:chOff x="0" y="0"/>
          <a:chExt cx="0" cy="0"/>
        </a:xfrm>
      </p:grpSpPr>
      <p:pic>
        <p:nvPicPr>
          <p:cNvPr id="9" name="Picture 8">
            <a:extLst>
              <a:ext uri="{FF2B5EF4-FFF2-40B4-BE49-F238E27FC236}">
                <a16:creationId xmlns:a16="http://schemas.microsoft.com/office/drawing/2014/main" id="{3F7A8FC7-1DAE-19FE-BC34-4993B3386428}"/>
              </a:ext>
            </a:extLst>
          </p:cNvPr>
          <p:cNvPicPr>
            <a:picLocks noChangeAspect="1"/>
          </p:cNvPicPr>
          <p:nvPr/>
        </p:nvPicPr>
        <p:blipFill>
          <a:blip r:embed="rId3"/>
          <a:stretch>
            <a:fillRect/>
          </a:stretch>
        </p:blipFill>
        <p:spPr>
          <a:xfrm>
            <a:off x="2114318" y="2819400"/>
            <a:ext cx="4515082" cy="2927500"/>
          </a:xfrm>
          <a:prstGeom prst="rect">
            <a:avLst/>
          </a:prstGeom>
        </p:spPr>
      </p:pic>
      <p:sp>
        <p:nvSpPr>
          <p:cNvPr id="28674" name="Rectangle 2">
            <a:extLst>
              <a:ext uri="{FF2B5EF4-FFF2-40B4-BE49-F238E27FC236}">
                <a16:creationId xmlns:a16="http://schemas.microsoft.com/office/drawing/2014/main" id="{7CCE129A-8633-C940-6C20-0CD670616141}"/>
              </a:ext>
            </a:extLst>
          </p:cNvPr>
          <p:cNvSpPr>
            <a:spLocks noGrp="1" noChangeArrowheads="1"/>
          </p:cNvSpPr>
          <p:nvPr>
            <p:ph type="title"/>
          </p:nvPr>
        </p:nvSpPr>
        <p:spPr/>
        <p:txBody>
          <a:bodyPr/>
          <a:lstStyle/>
          <a:p>
            <a:r>
              <a:rPr lang="en-US" dirty="0"/>
              <a:t>Remember: Planning Agent (Goal-based)</a:t>
            </a:r>
          </a:p>
        </p:txBody>
      </p:sp>
      <p:sp>
        <p:nvSpPr>
          <p:cNvPr id="7" name="Content Placeholder 6">
            <a:extLst>
              <a:ext uri="{FF2B5EF4-FFF2-40B4-BE49-F238E27FC236}">
                <a16:creationId xmlns:a16="http://schemas.microsoft.com/office/drawing/2014/main" id="{AD535501-1AF2-A165-CD1C-686D95E29A87}"/>
              </a:ext>
            </a:extLst>
          </p:cNvPr>
          <p:cNvSpPr>
            <a:spLocks noGrp="1"/>
          </p:cNvSpPr>
          <p:nvPr>
            <p:ph idx="1"/>
          </p:nvPr>
        </p:nvSpPr>
        <p:spPr>
          <a:xfrm>
            <a:off x="628650" y="1447801"/>
            <a:ext cx="7886700" cy="1235149"/>
          </a:xfrm>
        </p:spPr>
        <p:txBody>
          <a:bodyPr>
            <a:normAutofit fontScale="85000" lnSpcReduction="10000"/>
          </a:bodyPr>
          <a:lstStyle/>
          <a:p>
            <a:r>
              <a:rPr lang="en-US" dirty="0"/>
              <a:t>The agent has the task of reaching a defined </a:t>
            </a:r>
            <a:r>
              <a:rPr lang="en-US" b="1" dirty="0">
                <a:solidFill>
                  <a:srgbClr val="FF0000"/>
                </a:solidFill>
              </a:rPr>
              <a:t>goal state</a:t>
            </a:r>
            <a:r>
              <a:rPr lang="en-US" dirty="0"/>
              <a:t>. </a:t>
            </a:r>
          </a:p>
          <a:p>
            <a:r>
              <a:rPr lang="en-US" dirty="0"/>
              <a:t>The performance measure is typically the cost to reach the goal.</a:t>
            </a:r>
            <a:r>
              <a:rPr lang="en-US" b="1" dirty="0">
                <a:solidFill>
                  <a:srgbClr val="FF0000"/>
                </a:solidFill>
              </a:rPr>
              <a:t>  </a:t>
            </a:r>
            <a:endParaRPr lang="en-US" dirty="0"/>
          </a:p>
          <a:p>
            <a:r>
              <a:rPr lang="en-US" dirty="0"/>
              <a:t>We will discuss a special type of </a:t>
            </a:r>
            <a:r>
              <a:rPr lang="en-US" b="1" dirty="0">
                <a:solidFill>
                  <a:srgbClr val="FF0000"/>
                </a:solidFill>
              </a:rPr>
              <a:t>goal-based agents </a:t>
            </a:r>
            <a:r>
              <a:rPr lang="en-US" dirty="0"/>
              <a:t>called </a:t>
            </a:r>
            <a:r>
              <a:rPr lang="en-US" b="1" dirty="0">
                <a:solidFill>
                  <a:srgbClr val="FF0000"/>
                </a:solidFill>
              </a:rPr>
              <a:t>planning agents, </a:t>
            </a:r>
            <a:r>
              <a:rPr lang="en-US" dirty="0"/>
              <a:t>which use </a:t>
            </a:r>
            <a:r>
              <a:rPr lang="en-US" b="1" dirty="0">
                <a:solidFill>
                  <a:srgbClr val="FF0000"/>
                </a:solidFill>
              </a:rPr>
              <a:t>search algorithms </a:t>
            </a:r>
            <a:r>
              <a:rPr lang="en-US" dirty="0"/>
              <a:t>to plan a sequence of actions that lead to the goal.</a:t>
            </a:r>
          </a:p>
        </p:txBody>
      </p:sp>
      <p:sp>
        <p:nvSpPr>
          <p:cNvPr id="8" name="Speech Bubble: Rectangle 7">
            <a:extLst>
              <a:ext uri="{FF2B5EF4-FFF2-40B4-BE49-F238E27FC236}">
                <a16:creationId xmlns:a16="http://schemas.microsoft.com/office/drawing/2014/main" id="{8FCCAB7A-B25C-2786-4570-5F155EEDA9CA}"/>
              </a:ext>
            </a:extLst>
          </p:cNvPr>
          <p:cNvSpPr/>
          <p:nvPr/>
        </p:nvSpPr>
        <p:spPr>
          <a:xfrm>
            <a:off x="7022755" y="2986180"/>
            <a:ext cx="825845" cy="369332"/>
          </a:xfrm>
          <a:prstGeom prst="wedgeRectCallout">
            <a:avLst>
              <a:gd name="adj1" fmla="val -136624"/>
              <a:gd name="adj2" fmla="val 66339"/>
            </a:avLst>
          </a:prstGeom>
          <a:solidFill>
            <a:schemeClr val="accent6"/>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r>
              <a:rPr lang="en-US" dirty="0"/>
              <a:t>Maze</a:t>
            </a:r>
          </a:p>
        </p:txBody>
      </p:sp>
      <p:sp>
        <p:nvSpPr>
          <p:cNvPr id="10" name="Speech Bubble: Rectangle 9">
            <a:extLst>
              <a:ext uri="{FF2B5EF4-FFF2-40B4-BE49-F238E27FC236}">
                <a16:creationId xmlns:a16="http://schemas.microsoft.com/office/drawing/2014/main" id="{D1EDE55B-7031-B83C-E7D8-4A637F954FB1}"/>
              </a:ext>
            </a:extLst>
          </p:cNvPr>
          <p:cNvSpPr/>
          <p:nvPr/>
        </p:nvSpPr>
        <p:spPr>
          <a:xfrm>
            <a:off x="628650" y="2819400"/>
            <a:ext cx="1135082" cy="671466"/>
          </a:xfrm>
          <a:prstGeom prst="wedgeRectCallout">
            <a:avLst>
              <a:gd name="adj1" fmla="val 166126"/>
              <a:gd name="adj2" fmla="val 29905"/>
            </a:avLst>
          </a:prstGeom>
          <a:solidFill>
            <a:schemeClr val="accent6"/>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r>
              <a:rPr lang="en-US" dirty="0"/>
              <a:t>Agent’s location</a:t>
            </a:r>
          </a:p>
        </p:txBody>
      </p:sp>
      <p:sp>
        <p:nvSpPr>
          <p:cNvPr id="11" name="Speech Bubble: Rectangle 10">
            <a:extLst>
              <a:ext uri="{FF2B5EF4-FFF2-40B4-BE49-F238E27FC236}">
                <a16:creationId xmlns:a16="http://schemas.microsoft.com/office/drawing/2014/main" id="{97E285E5-E05F-3279-5219-248E80B7D5B9}"/>
              </a:ext>
            </a:extLst>
          </p:cNvPr>
          <p:cNvSpPr/>
          <p:nvPr/>
        </p:nvSpPr>
        <p:spPr>
          <a:xfrm>
            <a:off x="628650" y="4099817"/>
            <a:ext cx="1135082" cy="671466"/>
          </a:xfrm>
          <a:prstGeom prst="wedgeRectCallout">
            <a:avLst>
              <a:gd name="adj1" fmla="val 137052"/>
              <a:gd name="adj2" fmla="val -49822"/>
            </a:avLst>
          </a:prstGeom>
          <a:solidFill>
            <a:schemeClr val="accent6"/>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r>
              <a:rPr lang="en-US" dirty="0"/>
              <a:t>Map of the maze</a:t>
            </a:r>
          </a:p>
        </p:txBody>
      </p:sp>
      <p:sp>
        <p:nvSpPr>
          <p:cNvPr id="12" name="Speech Bubble: Rectangle 11">
            <a:extLst>
              <a:ext uri="{FF2B5EF4-FFF2-40B4-BE49-F238E27FC236}">
                <a16:creationId xmlns:a16="http://schemas.microsoft.com/office/drawing/2014/main" id="{465FA716-7E0E-6E2C-D1F4-A009BDA751C9}"/>
              </a:ext>
            </a:extLst>
          </p:cNvPr>
          <p:cNvSpPr/>
          <p:nvPr/>
        </p:nvSpPr>
        <p:spPr>
          <a:xfrm>
            <a:off x="645968" y="4971707"/>
            <a:ext cx="1135082" cy="671466"/>
          </a:xfrm>
          <a:prstGeom prst="wedgeRectCallout">
            <a:avLst>
              <a:gd name="adj1" fmla="val 164296"/>
              <a:gd name="adj2" fmla="val -52113"/>
            </a:avLst>
          </a:prstGeom>
          <a:solidFill>
            <a:schemeClr val="accent6"/>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r>
              <a:rPr lang="en-US" dirty="0"/>
              <a:t>Exit location</a:t>
            </a:r>
          </a:p>
        </p:txBody>
      </p:sp>
      <p:sp>
        <p:nvSpPr>
          <p:cNvPr id="2" name="Rectangle 1">
            <a:extLst>
              <a:ext uri="{FF2B5EF4-FFF2-40B4-BE49-F238E27FC236}">
                <a16:creationId xmlns:a16="http://schemas.microsoft.com/office/drawing/2014/main" id="{C8B9C8CF-67A0-24A4-0C28-0607E1A4B16F}"/>
              </a:ext>
            </a:extLst>
          </p:cNvPr>
          <p:cNvSpPr/>
          <p:nvPr/>
        </p:nvSpPr>
        <p:spPr>
          <a:xfrm>
            <a:off x="3614530" y="4342072"/>
            <a:ext cx="728274" cy="322078"/>
          </a:xfrm>
          <a:prstGeom prst="rect">
            <a:avLst/>
          </a:prstGeom>
        </p:spPr>
        <p:style>
          <a:lnRef idx="2">
            <a:schemeClr val="accent2"/>
          </a:lnRef>
          <a:fillRef idx="1">
            <a:schemeClr val="lt1"/>
          </a:fillRef>
          <a:effectRef idx="0">
            <a:schemeClr val="accent2"/>
          </a:effectRef>
          <a:fontRef idx="minor">
            <a:schemeClr val="dk1"/>
          </a:fontRef>
        </p:style>
        <p:txBody>
          <a:bodyPr rtlCol="0" anchor="ctr"/>
          <a:lstStyle/>
          <a:p>
            <a:pPr algn="ctr"/>
            <a:r>
              <a:rPr lang="en-US" sz="1050" dirty="0">
                <a:latin typeface="Cambria Math" panose="02040503050406030204" pitchFamily="18" charset="0"/>
                <a:ea typeface="Cambria Math" panose="02040503050406030204" pitchFamily="18" charset="0"/>
                <a:cs typeface="Calibri" panose="020F0502020204030204" pitchFamily="34" charset="0"/>
              </a:rPr>
              <a:t>Search for a plan</a:t>
            </a:r>
          </a:p>
        </p:txBody>
      </p:sp>
      <p:sp>
        <p:nvSpPr>
          <p:cNvPr id="15" name="Rectangle 14">
            <a:extLst>
              <a:ext uri="{FF2B5EF4-FFF2-40B4-BE49-F238E27FC236}">
                <a16:creationId xmlns:a16="http://schemas.microsoft.com/office/drawing/2014/main" id="{9C05A4B3-B963-A8C1-FD7C-75AFAAD88CF0}"/>
              </a:ext>
            </a:extLst>
          </p:cNvPr>
          <p:cNvSpPr/>
          <p:nvPr/>
        </p:nvSpPr>
        <p:spPr>
          <a:xfrm>
            <a:off x="3561522" y="4843567"/>
            <a:ext cx="781282" cy="152400"/>
          </a:xfrm>
          <a:prstGeom prst="rect">
            <a:avLst/>
          </a:prstGeom>
          <a:solidFill>
            <a:srgbClr val="BADBE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Oval 2">
            <a:extLst>
              <a:ext uri="{FF2B5EF4-FFF2-40B4-BE49-F238E27FC236}">
                <a16:creationId xmlns:a16="http://schemas.microsoft.com/office/drawing/2014/main" id="{6590175B-5843-7114-6566-153D0DBEF736}"/>
              </a:ext>
            </a:extLst>
          </p:cNvPr>
          <p:cNvSpPr/>
          <p:nvPr/>
        </p:nvSpPr>
        <p:spPr>
          <a:xfrm>
            <a:off x="2895600" y="4664150"/>
            <a:ext cx="685800" cy="457200"/>
          </a:xfrm>
          <a:prstGeom prst="ellipse">
            <a:avLst/>
          </a:prstGeom>
          <a:noFill/>
          <a:ln w="28575" cap="flat" cmpd="sng" algn="ctr">
            <a:solidFill>
              <a:schemeClr val="accent2"/>
            </a:solidFill>
            <a:prstDash val="solid"/>
            <a:round/>
            <a:headEnd type="none" w="med" len="med"/>
            <a:tailEnd type="none" w="med" len="med"/>
          </a:ln>
        </p:spPr>
        <p:style>
          <a:lnRef idx="0">
            <a:scrgbClr r="0" g="0" b="0"/>
          </a:lnRef>
          <a:fillRef idx="0">
            <a:scrgbClr r="0" g="0" b="0"/>
          </a:fillRef>
          <a:effectRef idx="0">
            <a:scrgbClr r="0" g="0" b="0"/>
          </a:effectRef>
          <a:fontRef idx="minor">
            <a:schemeClr val="accent2"/>
          </a:fontRef>
        </p:style>
        <p:txBody>
          <a:bodyPr rtlCol="0" anchor="ctr"/>
          <a:lstStyle/>
          <a:p>
            <a:pPr algn="ctr"/>
            <a:endParaRPr lang="en-US"/>
          </a:p>
        </p:txBody>
      </p:sp>
      <p:cxnSp>
        <p:nvCxnSpPr>
          <p:cNvPr id="14" name="Straight Arrow Connector 13">
            <a:extLst>
              <a:ext uri="{FF2B5EF4-FFF2-40B4-BE49-F238E27FC236}">
                <a16:creationId xmlns:a16="http://schemas.microsoft.com/office/drawing/2014/main" id="{BF210988-FADA-B223-FEF7-B09417518327}"/>
              </a:ext>
            </a:extLst>
          </p:cNvPr>
          <p:cNvCxnSpPr>
            <a:cxnSpLocks/>
            <a:stCxn id="2" idx="2"/>
          </p:cNvCxnSpPr>
          <p:nvPr/>
        </p:nvCxnSpPr>
        <p:spPr>
          <a:xfrm>
            <a:off x="3978667" y="4664150"/>
            <a:ext cx="410750" cy="250917"/>
          </a:xfrm>
          <a:prstGeom prst="straightConnector1">
            <a:avLst/>
          </a:prstGeom>
          <a:ln w="28575">
            <a:tailEnd type="triangle"/>
          </a:ln>
        </p:spPr>
        <p:style>
          <a:lnRef idx="3">
            <a:schemeClr val="accent2"/>
          </a:lnRef>
          <a:fillRef idx="0">
            <a:schemeClr val="accent2"/>
          </a:fillRef>
          <a:effectRef idx="2">
            <a:schemeClr val="accent2"/>
          </a:effectRef>
          <a:fontRef idx="minor">
            <a:schemeClr val="tx1"/>
          </a:fontRef>
        </p:style>
      </p:cxnSp>
      <p:sp>
        <p:nvSpPr>
          <p:cNvPr id="20" name="Rectangle 19">
            <a:extLst>
              <a:ext uri="{FF2B5EF4-FFF2-40B4-BE49-F238E27FC236}">
                <a16:creationId xmlns:a16="http://schemas.microsoft.com/office/drawing/2014/main" id="{5224298D-FF44-3812-DFB2-F58558AEC333}"/>
              </a:ext>
            </a:extLst>
          </p:cNvPr>
          <p:cNvSpPr/>
          <p:nvPr/>
        </p:nvSpPr>
        <p:spPr>
          <a:xfrm>
            <a:off x="4447462" y="4206951"/>
            <a:ext cx="982019" cy="517450"/>
          </a:xfrm>
          <a:prstGeom prst="rect">
            <a:avLst/>
          </a:prstGeom>
          <a:solidFill>
            <a:srgbClr val="BADBE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Rectangle 3">
            <a:extLst>
              <a:ext uri="{FF2B5EF4-FFF2-40B4-BE49-F238E27FC236}">
                <a16:creationId xmlns:a16="http://schemas.microsoft.com/office/drawing/2014/main" id="{491C288E-4825-3D04-3B0D-39D5C7C901C1}"/>
              </a:ext>
            </a:extLst>
          </p:cNvPr>
          <p:cNvSpPr/>
          <p:nvPr/>
        </p:nvSpPr>
        <p:spPr>
          <a:xfrm>
            <a:off x="4191000" y="3825950"/>
            <a:ext cx="1447800" cy="457200"/>
          </a:xfrm>
          <a:prstGeom prst="rect">
            <a:avLst/>
          </a:prstGeom>
          <a:noFill/>
          <a:ln w="28575" cap="flat" cmpd="sng" algn="ctr">
            <a:solidFill>
              <a:schemeClr val="accent2"/>
            </a:solidFill>
            <a:prstDash val="solid"/>
            <a:round/>
            <a:headEnd type="none" w="med" len="med"/>
            <a:tailEnd type="none" w="med" len="med"/>
          </a:ln>
        </p:spPr>
        <p:style>
          <a:lnRef idx="0">
            <a:scrgbClr r="0" g="0" b="0"/>
          </a:lnRef>
          <a:fillRef idx="0">
            <a:scrgbClr r="0" g="0" b="0"/>
          </a:fillRef>
          <a:effectRef idx="0">
            <a:scrgbClr r="0" g="0" b="0"/>
          </a:effectRef>
          <a:fontRef idx="minor">
            <a:schemeClr val="accent2"/>
          </a:fontRef>
        </p:style>
        <p:txBody>
          <a:bodyPr rtlCol="0" anchor="ctr"/>
          <a:lstStyle/>
          <a:p>
            <a:pPr algn="ctr"/>
            <a:endParaRPr lang="en-US"/>
          </a:p>
        </p:txBody>
      </p:sp>
      <p:cxnSp>
        <p:nvCxnSpPr>
          <p:cNvPr id="21" name="Straight Arrow Connector 20">
            <a:extLst>
              <a:ext uri="{FF2B5EF4-FFF2-40B4-BE49-F238E27FC236}">
                <a16:creationId xmlns:a16="http://schemas.microsoft.com/office/drawing/2014/main" id="{FAB26D3A-D84F-6C45-20EA-B99FAE88D34D}"/>
              </a:ext>
            </a:extLst>
          </p:cNvPr>
          <p:cNvCxnSpPr>
            <a:cxnSpLocks/>
            <a:endCxn id="2" idx="0"/>
          </p:cNvCxnSpPr>
          <p:nvPr/>
        </p:nvCxnSpPr>
        <p:spPr>
          <a:xfrm flipH="1">
            <a:off x="3978667" y="4073534"/>
            <a:ext cx="212333" cy="268538"/>
          </a:xfrm>
          <a:prstGeom prst="straightConnector1">
            <a:avLst/>
          </a:prstGeom>
          <a:ln w="28575">
            <a:tailEnd type="triangle"/>
          </a:ln>
        </p:spPr>
        <p:style>
          <a:lnRef idx="3">
            <a:schemeClr val="accent2"/>
          </a:lnRef>
          <a:fillRef idx="0">
            <a:schemeClr val="accent2"/>
          </a:fillRef>
          <a:effectRef idx="2">
            <a:schemeClr val="accent2"/>
          </a:effectRef>
          <a:fontRef idx="minor">
            <a:schemeClr val="tx1"/>
          </a:fontRef>
        </p:style>
      </p:cxnSp>
      <p:cxnSp>
        <p:nvCxnSpPr>
          <p:cNvPr id="24" name="Straight Arrow Connector 23">
            <a:extLst>
              <a:ext uri="{FF2B5EF4-FFF2-40B4-BE49-F238E27FC236}">
                <a16:creationId xmlns:a16="http://schemas.microsoft.com/office/drawing/2014/main" id="{7433815A-C229-8DB8-3AD7-6B32ADAD67AF}"/>
              </a:ext>
            </a:extLst>
          </p:cNvPr>
          <p:cNvCxnSpPr>
            <a:cxnSpLocks/>
            <a:stCxn id="3" idx="7"/>
            <a:endCxn id="2" idx="1"/>
          </p:cNvCxnSpPr>
          <p:nvPr/>
        </p:nvCxnSpPr>
        <p:spPr>
          <a:xfrm flipV="1">
            <a:off x="3480967" y="4503111"/>
            <a:ext cx="133563" cy="227994"/>
          </a:xfrm>
          <a:prstGeom prst="straightConnector1">
            <a:avLst/>
          </a:prstGeom>
          <a:ln w="28575">
            <a:tailEnd type="triangle"/>
          </a:ln>
        </p:spPr>
        <p:style>
          <a:lnRef idx="3">
            <a:schemeClr val="accent2"/>
          </a:lnRef>
          <a:fillRef idx="0">
            <a:schemeClr val="accent2"/>
          </a:fillRef>
          <a:effectRef idx="2">
            <a:schemeClr val="accent2"/>
          </a:effectRef>
          <a:fontRef idx="minor">
            <a:schemeClr val="tx1"/>
          </a:fontRef>
        </p:style>
      </p:cxnSp>
      <mc:AlternateContent xmlns:mc="http://schemas.openxmlformats.org/markup-compatibility/2006" xmlns:a14="http://schemas.microsoft.com/office/drawing/2010/main">
        <mc:Choice Requires="a14">
          <p:sp>
            <p:nvSpPr>
              <p:cNvPr id="5" name="TextBox 4">
                <a:extLst>
                  <a:ext uri="{FF2B5EF4-FFF2-40B4-BE49-F238E27FC236}">
                    <a16:creationId xmlns:a16="http://schemas.microsoft.com/office/drawing/2014/main" id="{7FD52EB0-6D03-E4A5-25B0-26AF4AB90D3C}"/>
                  </a:ext>
                </a:extLst>
              </p:cNvPr>
              <p:cNvSpPr txBox="1"/>
              <p:nvPr/>
            </p:nvSpPr>
            <p:spPr>
              <a:xfrm>
                <a:off x="5281466" y="5771798"/>
                <a:ext cx="3784740" cy="972702"/>
              </a:xfrm>
              <a:prstGeom prst="rect">
                <a:avLst/>
              </a:prstGeom>
            </p:spPr>
            <p:style>
              <a:lnRef idx="2">
                <a:schemeClr val="accent2"/>
              </a:lnRef>
              <a:fillRef idx="1">
                <a:schemeClr val="lt1"/>
              </a:fillRef>
              <a:effectRef idx="0">
                <a:schemeClr val="accent2"/>
              </a:effectRef>
              <a:fontRef idx="minor">
                <a:schemeClr val="dk1"/>
              </a:fontRef>
            </p:style>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𝑎</m:t>
                          </m:r>
                        </m:e>
                        <m:sub>
                          <m:r>
                            <a:rPr lang="en-US" b="0" i="1" smtClean="0">
                              <a:latin typeface="Cambria Math" panose="02040503050406030204" pitchFamily="18" charset="0"/>
                            </a:rPr>
                            <m:t>𝑖</m:t>
                          </m:r>
                        </m:sub>
                      </m:sSub>
                      <m:r>
                        <a:rPr lang="en-US" b="0" i="1" smtClean="0">
                          <a:latin typeface="Cambria Math" panose="02040503050406030204" pitchFamily="18" charset="0"/>
                        </a:rPr>
                        <m:t>=</m:t>
                      </m:r>
                      <m:func>
                        <m:funcPr>
                          <m:ctrlPr>
                            <a:rPr lang="en-US" b="0" i="1" smtClean="0">
                              <a:latin typeface="Cambria Math" panose="02040503050406030204" pitchFamily="18" charset="0"/>
                            </a:rPr>
                          </m:ctrlPr>
                        </m:funcPr>
                        <m:fName>
                          <m:sSub>
                            <m:sSubPr>
                              <m:ctrlPr>
                                <a:rPr lang="en-US" b="0" i="1" smtClean="0">
                                  <a:latin typeface="Cambria Math" panose="02040503050406030204" pitchFamily="18" charset="0"/>
                                  <a:ea typeface="Cambria Math" panose="02040503050406030204" pitchFamily="18" charset="0"/>
                                </a:rPr>
                              </m:ctrlPr>
                            </m:sSubPr>
                            <m:e>
                              <m:r>
                                <m:rPr>
                                  <m:sty m:val="p"/>
                                </m:rPr>
                                <a:rPr lang="en-US" b="0" i="0" smtClean="0">
                                  <a:latin typeface="Cambria Math" panose="02040503050406030204" pitchFamily="18" charset="0"/>
                                  <a:ea typeface="Cambria Math" panose="02040503050406030204" pitchFamily="18" charset="0"/>
                                </a:rPr>
                                <m:t>argmin</m:t>
                              </m:r>
                            </m:e>
                            <m:sub>
                              <m:sSub>
                                <m:sSubPr>
                                  <m:ctrlPr>
                                    <a:rPr lang="en-US" b="0" i="1" smtClean="0">
                                      <a:latin typeface="Cambria Math" panose="02040503050406030204" pitchFamily="18" charset="0"/>
                                      <a:ea typeface="Cambria Math" panose="02040503050406030204" pitchFamily="18" charset="0"/>
                                    </a:rPr>
                                  </m:ctrlPr>
                                </m:sSubPr>
                                <m:e>
                                  <m:r>
                                    <a:rPr lang="en-US" b="0" i="1" smtClean="0">
                                      <a:latin typeface="Cambria Math" panose="02040503050406030204" pitchFamily="18" charset="0"/>
                                      <a:ea typeface="Cambria Math" panose="02040503050406030204" pitchFamily="18" charset="0"/>
                                    </a:rPr>
                                    <m:t>𝑎</m:t>
                                  </m:r>
                                </m:e>
                                <m:sub>
                                  <m:r>
                                    <a:rPr lang="en-US" b="0" i="1" smtClean="0">
                                      <a:latin typeface="Cambria Math" panose="02040503050406030204" pitchFamily="18" charset="0"/>
                                      <a:ea typeface="Cambria Math" panose="02040503050406030204" pitchFamily="18" charset="0"/>
                                    </a:rPr>
                                    <m:t>𝑖</m:t>
                                  </m:r>
                                </m:sub>
                              </m:sSub>
                              <m:r>
                                <a:rPr lang="en-US" b="0" i="1" smtClean="0">
                                  <a:latin typeface="Cambria Math" panose="02040503050406030204" pitchFamily="18" charset="0"/>
                                  <a:ea typeface="Cambria Math" panose="02040503050406030204" pitchFamily="18" charset="0"/>
                                </a:rPr>
                                <m:t>∈</m:t>
                              </m:r>
                              <m:r>
                                <m:rPr>
                                  <m:sty m:val="p"/>
                                </m:rPr>
                                <a:rPr lang="en-US" b="0" i="0" smtClean="0">
                                  <a:latin typeface="Cambria Math" panose="02040503050406030204" pitchFamily="18" charset="0"/>
                                  <a:ea typeface="Cambria Math" panose="02040503050406030204" pitchFamily="18" charset="0"/>
                                </a:rPr>
                                <m:t>A</m:t>
                              </m:r>
                            </m:sub>
                          </m:sSub>
                        </m:fName>
                        <m:e>
                          <m:d>
                            <m:dPr>
                              <m:begChr m:val="["/>
                              <m:endChr m:val="]"/>
                              <m:ctrlPr>
                                <a:rPr lang="en-US" i="1">
                                  <a:latin typeface="Cambria Math" panose="02040503050406030204" pitchFamily="18" charset="0"/>
                                  <a:ea typeface="Cambria Math" panose="02040503050406030204" pitchFamily="18" charset="0"/>
                                </a:rPr>
                              </m:ctrlPr>
                            </m:dPr>
                            <m:e>
                              <m:nary>
                                <m:naryPr>
                                  <m:chr m:val="∑"/>
                                  <m:ctrlPr>
                                    <a:rPr lang="en-US" i="1">
                                      <a:latin typeface="Cambria Math" panose="02040503050406030204" pitchFamily="18" charset="0"/>
                                    </a:rPr>
                                  </m:ctrlPr>
                                </m:naryPr>
                                <m:sub>
                                  <m:r>
                                    <m:rPr>
                                      <m:brk m:alnAt="23"/>
                                    </m:rPr>
                                    <a:rPr lang="en-US" i="1">
                                      <a:latin typeface="Cambria Math" panose="02040503050406030204" pitchFamily="18" charset="0"/>
                                    </a:rPr>
                                    <m:t>𝑡</m:t>
                                  </m:r>
                                  <m:r>
                                    <a:rPr lang="en-US" i="1">
                                      <a:latin typeface="Cambria Math" panose="02040503050406030204" pitchFamily="18" charset="0"/>
                                    </a:rPr>
                                    <m:t>=</m:t>
                                  </m:r>
                                  <m:r>
                                    <a:rPr lang="en-US" b="0" i="1" smtClean="0">
                                      <a:latin typeface="Cambria Math" panose="02040503050406030204" pitchFamily="18" charset="0"/>
                                    </a:rPr>
                                    <m:t>𝑖</m:t>
                                  </m:r>
                                </m:sub>
                                <m:sup>
                                  <m:r>
                                    <a:rPr lang="en-US" i="1">
                                      <a:latin typeface="Cambria Math" panose="02040503050406030204" pitchFamily="18" charset="0"/>
                                    </a:rPr>
                                    <m:t>𝑇</m:t>
                                  </m:r>
                                </m:sup>
                                <m:e>
                                  <m:sSub>
                                    <m:sSubPr>
                                      <m:ctrlPr>
                                        <a:rPr lang="en-US" i="1">
                                          <a:latin typeface="Cambria Math" panose="02040503050406030204" pitchFamily="18" charset="0"/>
                                        </a:rPr>
                                      </m:ctrlPr>
                                    </m:sSubPr>
                                    <m:e>
                                      <m:r>
                                        <a:rPr lang="en-US" i="1">
                                          <a:latin typeface="Cambria Math" panose="02040503050406030204" pitchFamily="18" charset="0"/>
                                        </a:rPr>
                                        <m:t>𝑐</m:t>
                                      </m:r>
                                    </m:e>
                                    <m:sub>
                                      <m:r>
                                        <a:rPr lang="en-US" b="0" i="1" smtClean="0">
                                          <a:latin typeface="Cambria Math" panose="02040503050406030204" pitchFamily="18" charset="0"/>
                                        </a:rPr>
                                        <m:t>𝑡</m:t>
                                      </m:r>
                                    </m:sub>
                                  </m:sSub>
                                </m:e>
                              </m:nary>
                              <m:d>
                                <m:dPr>
                                  <m:begChr m:val="|"/>
                                  <m:endChr m:val=""/>
                                  <m:ctrlPr>
                                    <a:rPr lang="en-US" i="1" smtClean="0">
                                      <a:latin typeface="Cambria Math" panose="02040503050406030204" pitchFamily="18" charset="0"/>
                                    </a:rPr>
                                  </m:ctrlPr>
                                </m:dPr>
                                <m:e>
                                  <m:sSub>
                                    <m:sSubPr>
                                      <m:ctrlPr>
                                        <a:rPr lang="en-US" i="1">
                                          <a:latin typeface="Cambria Math" panose="02040503050406030204" pitchFamily="18" charset="0"/>
                                        </a:rPr>
                                      </m:ctrlPr>
                                    </m:sSubPr>
                                    <m:e>
                                      <m:r>
                                        <a:rPr lang="en-US" b="0" i="1" smtClean="0">
                                          <a:latin typeface="Cambria Math" panose="02040503050406030204" pitchFamily="18" charset="0"/>
                                        </a:rPr>
                                        <m:t> </m:t>
                                      </m:r>
                                      <m:r>
                                        <a:rPr lang="en-US" i="1">
                                          <a:latin typeface="Cambria Math" panose="02040503050406030204" pitchFamily="18" charset="0"/>
                                        </a:rPr>
                                        <m:t>𝑠</m:t>
                                      </m:r>
                                    </m:e>
                                    <m:sub>
                                      <m:r>
                                        <a:rPr lang="en-US" i="1">
                                          <a:latin typeface="Cambria Math" panose="02040503050406030204" pitchFamily="18" charset="0"/>
                                        </a:rPr>
                                        <m:t>𝑇</m:t>
                                      </m:r>
                                    </m:sub>
                                  </m:sSub>
                                  <m:r>
                                    <a:rPr lang="en-US" i="1">
                                      <a:latin typeface="Cambria Math" panose="02040503050406030204" pitchFamily="18" charset="0"/>
                                    </a:rPr>
                                    <m:t>∈</m:t>
                                  </m:r>
                                  <m:sSup>
                                    <m:sSupPr>
                                      <m:ctrlPr>
                                        <a:rPr lang="en-US" i="1">
                                          <a:latin typeface="Cambria Math" panose="02040503050406030204" pitchFamily="18" charset="0"/>
                                        </a:rPr>
                                      </m:ctrlPr>
                                    </m:sSupPr>
                                    <m:e>
                                      <m:r>
                                        <a:rPr lang="en-US" i="1">
                                          <a:latin typeface="Cambria Math" panose="02040503050406030204" pitchFamily="18" charset="0"/>
                                        </a:rPr>
                                        <m:t>𝑆</m:t>
                                      </m:r>
                                    </m:e>
                                    <m:sup>
                                      <m:r>
                                        <a:rPr lang="en-US" i="1">
                                          <a:latin typeface="Cambria Math" panose="02040503050406030204" pitchFamily="18" charset="0"/>
                                        </a:rPr>
                                        <m:t>𝑔𝑜𝑎𝑙</m:t>
                                      </m:r>
                                    </m:sup>
                                  </m:sSup>
                                </m:e>
                              </m:d>
                            </m:e>
                          </m:d>
                        </m:e>
                      </m:func>
                    </m:oMath>
                  </m:oMathPara>
                </a14:m>
                <a:endParaRPr lang="en-US" dirty="0"/>
              </a:p>
            </p:txBody>
          </p:sp>
        </mc:Choice>
        <mc:Fallback xmlns="">
          <p:sp>
            <p:nvSpPr>
              <p:cNvPr id="5" name="TextBox 4">
                <a:extLst>
                  <a:ext uri="{FF2B5EF4-FFF2-40B4-BE49-F238E27FC236}">
                    <a16:creationId xmlns:a16="http://schemas.microsoft.com/office/drawing/2014/main" id="{DD2D845A-90C6-5CAF-F223-B8BAC2392F95}"/>
                  </a:ext>
                </a:extLst>
              </p:cNvPr>
              <p:cNvSpPr txBox="1">
                <a:spLocks noRot="1" noChangeAspect="1" noMove="1" noResize="1" noEditPoints="1" noAdjustHandles="1" noChangeArrowheads="1" noChangeShapeType="1" noTextEdit="1"/>
              </p:cNvSpPr>
              <p:nvPr/>
            </p:nvSpPr>
            <p:spPr>
              <a:xfrm>
                <a:off x="5281466" y="5771798"/>
                <a:ext cx="3784740" cy="972702"/>
              </a:xfrm>
              <a:prstGeom prst="rect">
                <a:avLst/>
              </a:prstGeom>
              <a:blipFill>
                <a:blip r:embed="rId4"/>
                <a:stretch>
                  <a:fillRect/>
                </a:stretch>
              </a:blipFill>
            </p:spPr>
            <p:txBody>
              <a:bodyPr/>
              <a:lstStyle/>
              <a:p>
                <a:r>
                  <a:rPr lang="en-US">
                    <a:noFill/>
                  </a:rPr>
                  <a:t> </a:t>
                </a:r>
              </a:p>
            </p:txBody>
          </p:sp>
        </mc:Fallback>
      </mc:AlternateContent>
    </p:spTree>
    <p:extLst>
      <p:ext uri="{BB962C8B-B14F-4D97-AF65-F5344CB8AC3E}">
        <p14:creationId xmlns:p14="http://schemas.microsoft.com/office/powerpoint/2010/main" val="3272395115"/>
      </p:ext>
    </p:extLst>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3424899-9202-49C8-9CFC-76056765C35B}"/>
              </a:ext>
            </a:extLst>
          </p:cNvPr>
          <p:cNvSpPr>
            <a:spLocks noGrp="1"/>
          </p:cNvSpPr>
          <p:nvPr>
            <p:ph type="title"/>
          </p:nvPr>
        </p:nvSpPr>
        <p:spPr/>
        <p:txBody>
          <a:bodyPr>
            <a:normAutofit/>
          </a:bodyPr>
          <a:lstStyle/>
          <a:p>
            <a:r>
              <a:rPr lang="en-US" sz="3200" dirty="0"/>
              <a:t>A Planning Agent: Planning vs. Execution Phase</a:t>
            </a:r>
          </a:p>
        </p:txBody>
      </p:sp>
      <p:sp>
        <p:nvSpPr>
          <p:cNvPr id="3" name="Content Placeholder 2">
            <a:extLst>
              <a:ext uri="{FF2B5EF4-FFF2-40B4-BE49-F238E27FC236}">
                <a16:creationId xmlns:a16="http://schemas.microsoft.com/office/drawing/2014/main" id="{3E6B963F-E87F-4651-B2DE-E5A07C2F52E6}"/>
              </a:ext>
            </a:extLst>
          </p:cNvPr>
          <p:cNvSpPr>
            <a:spLocks noGrp="1"/>
          </p:cNvSpPr>
          <p:nvPr>
            <p:ph idx="1"/>
          </p:nvPr>
        </p:nvSpPr>
        <p:spPr>
          <a:xfrm>
            <a:off x="632508" y="1560222"/>
            <a:ext cx="7886700" cy="1062943"/>
          </a:xfrm>
        </p:spPr>
        <p:txBody>
          <a:bodyPr>
            <a:normAutofit fontScale="92500"/>
          </a:bodyPr>
          <a:lstStyle/>
          <a:p>
            <a:pPr marL="457200" indent="-457200">
              <a:buFont typeface="+mj-lt"/>
              <a:buAutoNum type="arabicPeriod"/>
            </a:pPr>
            <a:r>
              <a:rPr lang="en-US" dirty="0"/>
              <a:t>Planning is done by </a:t>
            </a:r>
            <a:r>
              <a:rPr lang="en-US" b="1" dirty="0"/>
              <a:t>a planning function </a:t>
            </a:r>
            <a:r>
              <a:rPr lang="en-US" dirty="0"/>
              <a:t>using search. The result is a </a:t>
            </a:r>
            <a:r>
              <a:rPr lang="en-US" b="1" dirty="0"/>
              <a:t>plan</a:t>
            </a:r>
            <a:r>
              <a:rPr lang="en-US" dirty="0"/>
              <a:t>.</a:t>
            </a:r>
          </a:p>
          <a:p>
            <a:pPr marL="457200" indent="-457200">
              <a:buFont typeface="+mj-lt"/>
              <a:buAutoNum type="arabicPeriod"/>
            </a:pPr>
            <a:r>
              <a:rPr lang="en-US" dirty="0"/>
              <a:t>The plan is executed by the agent function, which returns the planned actions from the plan step-by-step.</a:t>
            </a:r>
          </a:p>
        </p:txBody>
      </p:sp>
      <p:sp>
        <p:nvSpPr>
          <p:cNvPr id="33" name="Content Placeholder 2">
            <a:extLst>
              <a:ext uri="{FF2B5EF4-FFF2-40B4-BE49-F238E27FC236}">
                <a16:creationId xmlns:a16="http://schemas.microsoft.com/office/drawing/2014/main" id="{CDB0949F-FEE3-CA99-7B67-A916DF4216C7}"/>
              </a:ext>
            </a:extLst>
          </p:cNvPr>
          <p:cNvSpPr txBox="1">
            <a:spLocks/>
          </p:cNvSpPr>
          <p:nvPr/>
        </p:nvSpPr>
        <p:spPr>
          <a:xfrm>
            <a:off x="457200" y="6026478"/>
            <a:ext cx="8153400" cy="589974"/>
          </a:xfrm>
          <a:prstGeom prst="rect">
            <a:avLst/>
          </a:prstGeom>
        </p:spPr>
        <p:txBody>
          <a:bodyPr vert="horz" lIns="91440" tIns="45720" rIns="91440" bIns="45720" rtlCol="0">
            <a:normAutofit fontScale="77500" lnSpcReduction="20000"/>
          </a:bodyPr>
          <a:lstStyle>
            <a:lvl1pPr marL="171450" indent="-171450" algn="l" defTabSz="685800" rtl="0" eaLnBrk="1" latinLnBrk="0" hangingPunct="1">
              <a:lnSpc>
                <a:spcPct val="90000"/>
              </a:lnSpc>
              <a:spcBef>
                <a:spcPts val="750"/>
              </a:spcBef>
              <a:buFont typeface="Arial" panose="020B0604020202020204" pitchFamily="34" charset="0"/>
              <a:buChar char="•"/>
              <a:defRPr sz="2100" kern="1200">
                <a:solidFill>
                  <a:schemeClr val="tx1"/>
                </a:solidFill>
                <a:latin typeface="+mn-lt"/>
                <a:ea typeface="+mn-ea"/>
                <a:cs typeface="+mn-cs"/>
              </a:defRPr>
            </a:lvl1pPr>
            <a:lvl2pPr marL="514350" indent="-171450" algn="l" defTabSz="685800" rtl="0" eaLnBrk="1" latinLnBrk="0" hangingPunct="1">
              <a:lnSpc>
                <a:spcPct val="90000"/>
              </a:lnSpc>
              <a:spcBef>
                <a:spcPts val="375"/>
              </a:spcBef>
              <a:buFont typeface="Arial" panose="020B0604020202020204" pitchFamily="34" charset="0"/>
              <a:buChar char="•"/>
              <a:defRPr sz="1800" kern="1200">
                <a:solidFill>
                  <a:schemeClr val="tx1"/>
                </a:solidFill>
                <a:latin typeface="+mn-lt"/>
                <a:ea typeface="+mn-ea"/>
                <a:cs typeface="+mn-cs"/>
              </a:defRPr>
            </a:lvl2pPr>
            <a:lvl3pPr marL="857250" indent="-171450" algn="l" defTabSz="685800" rtl="0" eaLnBrk="1" latinLnBrk="0" hangingPunct="1">
              <a:lnSpc>
                <a:spcPct val="90000"/>
              </a:lnSpc>
              <a:spcBef>
                <a:spcPts val="375"/>
              </a:spcBef>
              <a:buFont typeface="Arial" panose="020B0604020202020204" pitchFamily="34" charset="0"/>
              <a:buChar char="•"/>
              <a:defRPr sz="1500" kern="1200">
                <a:solidFill>
                  <a:schemeClr val="tx1"/>
                </a:solidFill>
                <a:latin typeface="+mn-lt"/>
                <a:ea typeface="+mn-ea"/>
                <a:cs typeface="+mn-cs"/>
              </a:defRPr>
            </a:lvl3pPr>
            <a:lvl4pPr marL="12001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4pPr>
            <a:lvl5pPr marL="15430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5pPr>
            <a:lvl6pPr marL="18859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a:lstStyle>
          <a:p>
            <a:pPr marL="0" indent="0">
              <a:lnSpc>
                <a:spcPct val="120000"/>
              </a:lnSpc>
              <a:buNone/>
            </a:pPr>
            <a:r>
              <a:rPr lang="en-US" b="1" dirty="0"/>
              <a:t>Note</a:t>
            </a:r>
            <a:r>
              <a:rPr lang="en-US" dirty="0"/>
              <a:t>: The execution does not use percepts or the transition function. It blindly follows the plan.</a:t>
            </a:r>
            <a:br>
              <a:rPr lang="en-US" dirty="0"/>
            </a:br>
            <a:r>
              <a:rPr lang="en-US" b="1" dirty="0"/>
              <a:t>Caution</a:t>
            </a:r>
            <a:r>
              <a:rPr lang="en-US" dirty="0"/>
              <a:t>: This only works in an environment with </a:t>
            </a:r>
            <a:r>
              <a:rPr lang="en-US" b="1" dirty="0"/>
              <a:t>deterministic transitions</a:t>
            </a:r>
            <a:r>
              <a:rPr lang="en-US" dirty="0"/>
              <a:t>.  </a:t>
            </a:r>
          </a:p>
        </p:txBody>
      </p:sp>
      <p:grpSp>
        <p:nvGrpSpPr>
          <p:cNvPr id="16" name="Group 15">
            <a:extLst>
              <a:ext uri="{FF2B5EF4-FFF2-40B4-BE49-F238E27FC236}">
                <a16:creationId xmlns:a16="http://schemas.microsoft.com/office/drawing/2014/main" id="{FDC0AC22-45CD-C9CC-52FB-CE1639FAC6B4}"/>
              </a:ext>
            </a:extLst>
          </p:cNvPr>
          <p:cNvGrpSpPr/>
          <p:nvPr/>
        </p:nvGrpSpPr>
        <p:grpSpPr>
          <a:xfrm>
            <a:off x="3532914" y="2763174"/>
            <a:ext cx="4667694" cy="2626184"/>
            <a:chOff x="3532914" y="2763174"/>
            <a:chExt cx="4667694" cy="2626184"/>
          </a:xfrm>
        </p:grpSpPr>
        <p:grpSp>
          <p:nvGrpSpPr>
            <p:cNvPr id="8" name="Group 7">
              <a:extLst>
                <a:ext uri="{FF2B5EF4-FFF2-40B4-BE49-F238E27FC236}">
                  <a16:creationId xmlns:a16="http://schemas.microsoft.com/office/drawing/2014/main" id="{D2DAC08E-DA66-5C39-4A92-2375B4445B08}"/>
                </a:ext>
              </a:extLst>
            </p:cNvPr>
            <p:cNvGrpSpPr/>
            <p:nvPr/>
          </p:nvGrpSpPr>
          <p:grpSpPr>
            <a:xfrm>
              <a:off x="3532915" y="3233375"/>
              <a:ext cx="4667693" cy="2155983"/>
              <a:chOff x="1627915" y="3279775"/>
              <a:chExt cx="4667693" cy="2155983"/>
            </a:xfrm>
          </p:grpSpPr>
          <p:grpSp>
            <p:nvGrpSpPr>
              <p:cNvPr id="28" name="Group 27">
                <a:extLst>
                  <a:ext uri="{FF2B5EF4-FFF2-40B4-BE49-F238E27FC236}">
                    <a16:creationId xmlns:a16="http://schemas.microsoft.com/office/drawing/2014/main" id="{9A16963B-4497-49CC-84E8-2E09171927A7}"/>
                  </a:ext>
                </a:extLst>
              </p:cNvPr>
              <p:cNvGrpSpPr/>
              <p:nvPr/>
            </p:nvGrpSpPr>
            <p:grpSpPr>
              <a:xfrm>
                <a:off x="1627915" y="3279775"/>
                <a:ext cx="4667693" cy="2155983"/>
                <a:chOff x="1524000" y="3352800"/>
                <a:chExt cx="4667693" cy="2155983"/>
              </a:xfrm>
            </p:grpSpPr>
            <p:sp>
              <p:nvSpPr>
                <p:cNvPr id="4" name="TextBox 3">
                  <a:extLst>
                    <a:ext uri="{FF2B5EF4-FFF2-40B4-BE49-F238E27FC236}">
                      <a16:creationId xmlns:a16="http://schemas.microsoft.com/office/drawing/2014/main" id="{F281C13B-D08C-41C7-95F0-994DE7700A16}"/>
                    </a:ext>
                  </a:extLst>
                </p:cNvPr>
                <p:cNvSpPr txBox="1"/>
                <p:nvPr/>
              </p:nvSpPr>
              <p:spPr>
                <a:xfrm>
                  <a:off x="5257263" y="3821651"/>
                  <a:ext cx="733784" cy="1477328"/>
                </a:xfrm>
                <a:prstGeom prst="rect">
                  <a:avLst/>
                </a:prstGeom>
              </p:spPr>
              <p:style>
                <a:lnRef idx="2">
                  <a:schemeClr val="accent5">
                    <a:shade val="15000"/>
                  </a:schemeClr>
                </a:lnRef>
                <a:fillRef idx="1">
                  <a:schemeClr val="accent5"/>
                </a:fillRef>
                <a:effectRef idx="0">
                  <a:schemeClr val="accent5"/>
                </a:effectRef>
                <a:fontRef idx="minor">
                  <a:schemeClr val="lt1"/>
                </a:fontRef>
              </p:style>
              <p:txBody>
                <a:bodyPr wrap="square" rtlCol="0">
                  <a:spAutoFit/>
                </a:bodyPr>
                <a:lstStyle/>
                <a:p>
                  <a:pPr algn="ctr"/>
                  <a:r>
                    <a:rPr lang="en-US" dirty="0"/>
                    <a:t>S</a:t>
                  </a:r>
                </a:p>
                <a:p>
                  <a:pPr algn="ctr"/>
                  <a:r>
                    <a:rPr lang="en-US" dirty="0"/>
                    <a:t>S</a:t>
                  </a:r>
                </a:p>
                <a:p>
                  <a:pPr algn="ctr"/>
                  <a:r>
                    <a:rPr lang="en-US" dirty="0"/>
                    <a:t>S</a:t>
                  </a:r>
                </a:p>
                <a:p>
                  <a:pPr algn="ctr"/>
                  <a:r>
                    <a:rPr lang="en-US" dirty="0"/>
                    <a:t>E</a:t>
                  </a:r>
                </a:p>
                <a:p>
                  <a:pPr algn="ctr"/>
                  <a:r>
                    <a:rPr lang="en-US" dirty="0"/>
                    <a:t>…</a:t>
                  </a:r>
                </a:p>
              </p:txBody>
            </p:sp>
            <p:sp>
              <p:nvSpPr>
                <p:cNvPr id="5" name="TextBox 4">
                  <a:extLst>
                    <a:ext uri="{FF2B5EF4-FFF2-40B4-BE49-F238E27FC236}">
                      <a16:creationId xmlns:a16="http://schemas.microsoft.com/office/drawing/2014/main" id="{E3487A28-7FEC-42DE-B61F-F40B099F9075}"/>
                    </a:ext>
                  </a:extLst>
                </p:cNvPr>
                <p:cNvSpPr txBox="1"/>
                <p:nvPr/>
              </p:nvSpPr>
              <p:spPr>
                <a:xfrm>
                  <a:off x="1980699" y="4836256"/>
                  <a:ext cx="1143000" cy="369332"/>
                </a:xfrm>
                <a:prstGeom prst="rect">
                  <a:avLst/>
                </a:prstGeom>
              </p:spPr>
              <p:style>
                <a:lnRef idx="2">
                  <a:schemeClr val="accent5">
                    <a:shade val="15000"/>
                  </a:schemeClr>
                </a:lnRef>
                <a:fillRef idx="1">
                  <a:schemeClr val="accent5"/>
                </a:fillRef>
                <a:effectRef idx="0">
                  <a:schemeClr val="accent5"/>
                </a:effectRef>
                <a:fontRef idx="minor">
                  <a:schemeClr val="lt1"/>
                </a:fontRef>
              </p:style>
              <p:txBody>
                <a:bodyPr wrap="square" rtlCol="0">
                  <a:spAutoFit/>
                </a:bodyPr>
                <a:lstStyle/>
                <a:p>
                  <a:pPr algn="ctr"/>
                  <a:r>
                    <a:rPr lang="en-US" dirty="0"/>
                    <a:t>Step 2</a:t>
                  </a:r>
                </a:p>
              </p:txBody>
            </p:sp>
            <p:cxnSp>
              <p:nvCxnSpPr>
                <p:cNvPr id="7" name="Straight Arrow Connector 6">
                  <a:extLst>
                    <a:ext uri="{FF2B5EF4-FFF2-40B4-BE49-F238E27FC236}">
                      <a16:creationId xmlns:a16="http://schemas.microsoft.com/office/drawing/2014/main" id="{8DD78E0A-A9CD-41B1-AECE-E5C87683D860}"/>
                    </a:ext>
                  </a:extLst>
                </p:cNvPr>
                <p:cNvCxnSpPr>
                  <a:cxnSpLocks/>
                  <a:stCxn id="5" idx="3"/>
                  <a:endCxn id="10" idx="1"/>
                </p:cNvCxnSpPr>
                <p:nvPr/>
              </p:nvCxnSpPr>
              <p:spPr>
                <a:xfrm flipV="1">
                  <a:off x="3123699" y="4262534"/>
                  <a:ext cx="1476876" cy="758388"/>
                </a:xfrm>
                <a:prstGeom prst="straightConnector1">
                  <a:avLst/>
                </a:prstGeom>
                <a:ln w="76200">
                  <a:solidFill>
                    <a:schemeClr val="accent5"/>
                  </a:solidFill>
                  <a:headEnd type="none" w="med" len="med"/>
                  <a:tailEnd type="triangle" w="med" len="med"/>
                </a:ln>
              </p:spPr>
              <p:style>
                <a:lnRef idx="1">
                  <a:schemeClr val="accent2"/>
                </a:lnRef>
                <a:fillRef idx="0">
                  <a:schemeClr val="accent2"/>
                </a:fillRef>
                <a:effectRef idx="0">
                  <a:schemeClr val="accent2"/>
                </a:effectRef>
                <a:fontRef idx="minor">
                  <a:schemeClr val="tx1"/>
                </a:fontRef>
              </p:style>
            </p:cxnSp>
            <p:sp>
              <p:nvSpPr>
                <p:cNvPr id="10" name="TextBox 9">
                  <a:extLst>
                    <a:ext uri="{FF2B5EF4-FFF2-40B4-BE49-F238E27FC236}">
                      <a16:creationId xmlns:a16="http://schemas.microsoft.com/office/drawing/2014/main" id="{4264DD5C-CD60-4FEF-A8C6-2549F68A5065}"/>
                    </a:ext>
                  </a:extLst>
                </p:cNvPr>
                <p:cNvSpPr txBox="1"/>
                <p:nvPr/>
              </p:nvSpPr>
              <p:spPr>
                <a:xfrm>
                  <a:off x="4600575" y="4077868"/>
                  <a:ext cx="381000" cy="369332"/>
                </a:xfrm>
                <a:prstGeom prst="rect">
                  <a:avLst/>
                </a:prstGeom>
                <a:noFill/>
              </p:spPr>
              <p:txBody>
                <a:bodyPr wrap="square" rtlCol="0">
                  <a:spAutoFit/>
                </a:bodyPr>
                <a:lstStyle/>
                <a:p>
                  <a:r>
                    <a:rPr lang="en-US" dirty="0"/>
                    <a:t>2</a:t>
                  </a:r>
                </a:p>
              </p:txBody>
            </p:sp>
            <p:sp>
              <p:nvSpPr>
                <p:cNvPr id="11" name="TextBox 10">
                  <a:extLst>
                    <a:ext uri="{FF2B5EF4-FFF2-40B4-BE49-F238E27FC236}">
                      <a16:creationId xmlns:a16="http://schemas.microsoft.com/office/drawing/2014/main" id="{60E265ED-85C6-4305-881B-B50A7214BBC7}"/>
                    </a:ext>
                  </a:extLst>
                </p:cNvPr>
                <p:cNvSpPr txBox="1"/>
                <p:nvPr/>
              </p:nvSpPr>
              <p:spPr>
                <a:xfrm>
                  <a:off x="4599715" y="4341449"/>
                  <a:ext cx="381000" cy="369332"/>
                </a:xfrm>
                <a:prstGeom prst="rect">
                  <a:avLst/>
                </a:prstGeom>
                <a:noFill/>
              </p:spPr>
              <p:txBody>
                <a:bodyPr wrap="square" rtlCol="0">
                  <a:spAutoFit/>
                </a:bodyPr>
                <a:lstStyle/>
                <a:p>
                  <a:r>
                    <a:rPr lang="en-US" dirty="0"/>
                    <a:t>3</a:t>
                  </a:r>
                </a:p>
              </p:txBody>
            </p:sp>
            <p:sp>
              <p:nvSpPr>
                <p:cNvPr id="12" name="TextBox 11">
                  <a:extLst>
                    <a:ext uri="{FF2B5EF4-FFF2-40B4-BE49-F238E27FC236}">
                      <a16:creationId xmlns:a16="http://schemas.microsoft.com/office/drawing/2014/main" id="{FDF6BB9D-69D6-4035-A10E-032C703BC33C}"/>
                    </a:ext>
                  </a:extLst>
                </p:cNvPr>
                <p:cNvSpPr txBox="1"/>
                <p:nvPr/>
              </p:nvSpPr>
              <p:spPr>
                <a:xfrm>
                  <a:off x="4589562" y="4651590"/>
                  <a:ext cx="381000" cy="369332"/>
                </a:xfrm>
                <a:prstGeom prst="rect">
                  <a:avLst/>
                </a:prstGeom>
                <a:noFill/>
              </p:spPr>
              <p:txBody>
                <a:bodyPr wrap="square" rtlCol="0">
                  <a:spAutoFit/>
                </a:bodyPr>
                <a:lstStyle/>
                <a:p>
                  <a:r>
                    <a:rPr lang="en-US" dirty="0"/>
                    <a:t>4</a:t>
                  </a:r>
                </a:p>
              </p:txBody>
            </p:sp>
            <p:sp>
              <p:nvSpPr>
                <p:cNvPr id="13" name="TextBox 12">
                  <a:extLst>
                    <a:ext uri="{FF2B5EF4-FFF2-40B4-BE49-F238E27FC236}">
                      <a16:creationId xmlns:a16="http://schemas.microsoft.com/office/drawing/2014/main" id="{F26767FE-3CCF-47D3-ACC4-7D4CE178B81E}"/>
                    </a:ext>
                  </a:extLst>
                </p:cNvPr>
                <p:cNvSpPr txBox="1"/>
                <p:nvPr/>
              </p:nvSpPr>
              <p:spPr>
                <a:xfrm>
                  <a:off x="4419600" y="3424535"/>
                  <a:ext cx="914400" cy="369332"/>
                </a:xfrm>
                <a:prstGeom prst="rect">
                  <a:avLst/>
                </a:prstGeom>
                <a:noFill/>
              </p:spPr>
              <p:txBody>
                <a:bodyPr wrap="square" rtlCol="0">
                  <a:spAutoFit/>
                </a:bodyPr>
                <a:lstStyle/>
                <a:p>
                  <a:r>
                    <a:rPr lang="en-US" dirty="0"/>
                    <a:t>Step</a:t>
                  </a:r>
                </a:p>
              </p:txBody>
            </p:sp>
            <p:sp>
              <p:nvSpPr>
                <p:cNvPr id="14" name="TextBox 13">
                  <a:extLst>
                    <a:ext uri="{FF2B5EF4-FFF2-40B4-BE49-F238E27FC236}">
                      <a16:creationId xmlns:a16="http://schemas.microsoft.com/office/drawing/2014/main" id="{1151AAF9-1B70-4E2D-8C11-8AA0CB12F354}"/>
                    </a:ext>
                  </a:extLst>
                </p:cNvPr>
                <p:cNvSpPr txBox="1"/>
                <p:nvPr/>
              </p:nvSpPr>
              <p:spPr>
                <a:xfrm>
                  <a:off x="4589562" y="3813897"/>
                  <a:ext cx="381000" cy="369332"/>
                </a:xfrm>
                <a:prstGeom prst="rect">
                  <a:avLst/>
                </a:prstGeom>
                <a:noFill/>
              </p:spPr>
              <p:txBody>
                <a:bodyPr wrap="square" rtlCol="0">
                  <a:spAutoFit/>
                </a:bodyPr>
                <a:lstStyle/>
                <a:p>
                  <a:r>
                    <a:rPr lang="en-US" dirty="0"/>
                    <a:t>1</a:t>
                  </a:r>
                </a:p>
              </p:txBody>
            </p:sp>
            <p:sp>
              <p:nvSpPr>
                <p:cNvPr id="24" name="TextBox 23">
                  <a:extLst>
                    <a:ext uri="{FF2B5EF4-FFF2-40B4-BE49-F238E27FC236}">
                      <a16:creationId xmlns:a16="http://schemas.microsoft.com/office/drawing/2014/main" id="{F751783D-19EA-4481-99F2-A2EE82B69559}"/>
                    </a:ext>
                  </a:extLst>
                </p:cNvPr>
                <p:cNvSpPr txBox="1"/>
                <p:nvPr/>
              </p:nvSpPr>
              <p:spPr>
                <a:xfrm>
                  <a:off x="1621382" y="4071051"/>
                  <a:ext cx="1769250" cy="738664"/>
                </a:xfrm>
                <a:prstGeom prst="rect">
                  <a:avLst/>
                </a:prstGeom>
                <a:noFill/>
              </p:spPr>
              <p:txBody>
                <a:bodyPr wrap="square" rtlCol="0">
                  <a:spAutoFit/>
                </a:bodyPr>
                <a:lstStyle/>
                <a:p>
                  <a:pPr algn="ctr"/>
                  <a:endParaRPr lang="en-US" sz="1400" dirty="0"/>
                </a:p>
                <a:p>
                  <a:pPr algn="ctr"/>
                  <a:r>
                    <a:rPr lang="en-US" sz="1400" dirty="0"/>
                    <a:t>Current step (=program counter)</a:t>
                  </a:r>
                </a:p>
              </p:txBody>
            </p:sp>
            <p:sp>
              <p:nvSpPr>
                <p:cNvPr id="25" name="TextBox 24">
                  <a:extLst>
                    <a:ext uri="{FF2B5EF4-FFF2-40B4-BE49-F238E27FC236}">
                      <a16:creationId xmlns:a16="http://schemas.microsoft.com/office/drawing/2014/main" id="{9279523E-6893-4967-A081-A6CAF1BFC6EB}"/>
                    </a:ext>
                  </a:extLst>
                </p:cNvPr>
                <p:cNvSpPr txBox="1"/>
                <p:nvPr/>
              </p:nvSpPr>
              <p:spPr>
                <a:xfrm>
                  <a:off x="5319892" y="3427041"/>
                  <a:ext cx="608526" cy="369332"/>
                </a:xfrm>
                <a:prstGeom prst="rect">
                  <a:avLst/>
                </a:prstGeom>
                <a:noFill/>
              </p:spPr>
              <p:txBody>
                <a:bodyPr wrap="square" rtlCol="0">
                  <a:spAutoFit/>
                </a:bodyPr>
                <a:lstStyle/>
                <a:p>
                  <a:r>
                    <a:rPr lang="en-US" dirty="0"/>
                    <a:t>Plan</a:t>
                  </a:r>
                </a:p>
              </p:txBody>
            </p:sp>
            <p:sp>
              <p:nvSpPr>
                <p:cNvPr id="26" name="Rectangle 25">
                  <a:extLst>
                    <a:ext uri="{FF2B5EF4-FFF2-40B4-BE49-F238E27FC236}">
                      <a16:creationId xmlns:a16="http://schemas.microsoft.com/office/drawing/2014/main" id="{D469C6AE-C822-461C-AF5D-23C3FFAF7BF7}"/>
                    </a:ext>
                  </a:extLst>
                </p:cNvPr>
                <p:cNvSpPr/>
                <p:nvPr/>
              </p:nvSpPr>
              <p:spPr>
                <a:xfrm>
                  <a:off x="1524000" y="3352800"/>
                  <a:ext cx="4667693" cy="2155983"/>
                </a:xfrm>
                <a:prstGeom prst="rect">
                  <a:avLst/>
                </a:prstGeom>
                <a:noFill/>
                <a:ln w="9525" cap="flat" cmpd="sng" algn="ctr">
                  <a:solidFill>
                    <a:schemeClr val="accent2"/>
                  </a:solidFill>
                  <a:prstDash val="solid"/>
                  <a:round/>
                  <a:headEnd type="none" w="med" len="med"/>
                  <a:tailEnd type="none" w="med" len="med"/>
                </a:ln>
              </p:spPr>
              <p:style>
                <a:lnRef idx="0">
                  <a:scrgbClr r="0" g="0" b="0"/>
                </a:lnRef>
                <a:fillRef idx="0">
                  <a:scrgbClr r="0" g="0" b="0"/>
                </a:fillRef>
                <a:effectRef idx="0">
                  <a:scrgbClr r="0" g="0" b="0"/>
                </a:effectRef>
                <a:fontRef idx="minor">
                  <a:schemeClr val="accent2"/>
                </a:fontRef>
              </p:style>
              <p:txBody>
                <a:bodyPr rtlCol="0" anchor="ctr"/>
                <a:lstStyle/>
                <a:p>
                  <a:pPr algn="ctr"/>
                  <a:endParaRPr lang="en-US" sz="1400" dirty="0"/>
                </a:p>
              </p:txBody>
            </p:sp>
            <p:sp>
              <p:nvSpPr>
                <p:cNvPr id="27" name="TextBox 26">
                  <a:extLst>
                    <a:ext uri="{FF2B5EF4-FFF2-40B4-BE49-F238E27FC236}">
                      <a16:creationId xmlns:a16="http://schemas.microsoft.com/office/drawing/2014/main" id="{E7C45D22-3726-411A-AE0C-B3A81CAB3BE2}"/>
                    </a:ext>
                  </a:extLst>
                </p:cNvPr>
                <p:cNvSpPr txBox="1"/>
                <p:nvPr/>
              </p:nvSpPr>
              <p:spPr>
                <a:xfrm>
                  <a:off x="1600200" y="3421440"/>
                  <a:ext cx="1219200" cy="369332"/>
                </a:xfrm>
                <a:prstGeom prst="rect">
                  <a:avLst/>
                </a:prstGeom>
                <a:noFill/>
              </p:spPr>
              <p:txBody>
                <a:bodyPr wrap="square" rtlCol="0">
                  <a:spAutoFit/>
                </a:bodyPr>
                <a:lstStyle/>
                <a:p>
                  <a:r>
                    <a:rPr lang="en-US" b="1" dirty="0"/>
                    <a:t>Agent</a:t>
                  </a:r>
                </a:p>
              </p:txBody>
            </p:sp>
          </p:grpSp>
          <p:sp>
            <p:nvSpPr>
              <p:cNvPr id="6" name="TextBox 5">
                <a:extLst>
                  <a:ext uri="{FF2B5EF4-FFF2-40B4-BE49-F238E27FC236}">
                    <a16:creationId xmlns:a16="http://schemas.microsoft.com/office/drawing/2014/main" id="{8B6CE156-836D-54DA-6E79-02A95E464995}"/>
                  </a:ext>
                </a:extLst>
              </p:cNvPr>
              <p:cNvSpPr txBox="1"/>
              <p:nvPr/>
            </p:nvSpPr>
            <p:spPr>
              <a:xfrm>
                <a:off x="4693477" y="4844560"/>
                <a:ext cx="381000" cy="369332"/>
              </a:xfrm>
              <a:prstGeom prst="rect">
                <a:avLst/>
              </a:prstGeom>
              <a:noFill/>
            </p:spPr>
            <p:txBody>
              <a:bodyPr wrap="square" rtlCol="0">
                <a:spAutoFit/>
              </a:bodyPr>
              <a:lstStyle/>
              <a:p>
                <a:r>
                  <a:rPr lang="en-US" dirty="0"/>
                  <a:t>…</a:t>
                </a:r>
              </a:p>
            </p:txBody>
          </p:sp>
        </p:grpSp>
        <p:sp>
          <p:nvSpPr>
            <p:cNvPr id="37" name="TextBox 36">
              <a:extLst>
                <a:ext uri="{FF2B5EF4-FFF2-40B4-BE49-F238E27FC236}">
                  <a16:creationId xmlns:a16="http://schemas.microsoft.com/office/drawing/2014/main" id="{9678B282-B10F-72AF-B852-FC232480871E}"/>
                </a:ext>
              </a:extLst>
            </p:cNvPr>
            <p:cNvSpPr txBox="1"/>
            <p:nvPr/>
          </p:nvSpPr>
          <p:spPr>
            <a:xfrm>
              <a:off x="3532914" y="2763174"/>
              <a:ext cx="4667693" cy="369332"/>
            </a:xfrm>
            <a:prstGeom prst="rect">
              <a:avLst/>
            </a:prstGeom>
            <a:noFill/>
          </p:spPr>
          <p:txBody>
            <a:bodyPr wrap="square">
              <a:spAutoFit/>
            </a:bodyPr>
            <a:lstStyle/>
            <a:p>
              <a:r>
                <a:rPr lang="en-US" b="1" dirty="0"/>
                <a:t>Execution of the plan </a:t>
              </a:r>
              <a:r>
                <a:rPr lang="en-US" dirty="0"/>
                <a:t>at step 2 returns action S</a:t>
              </a:r>
            </a:p>
          </p:txBody>
        </p:sp>
      </p:grpSp>
      <p:cxnSp>
        <p:nvCxnSpPr>
          <p:cNvPr id="18" name="Connector: Elbow 17">
            <a:extLst>
              <a:ext uri="{FF2B5EF4-FFF2-40B4-BE49-F238E27FC236}">
                <a16:creationId xmlns:a16="http://schemas.microsoft.com/office/drawing/2014/main" id="{9551AF79-6B93-19AF-9461-B0B0BD3C7342}"/>
              </a:ext>
            </a:extLst>
          </p:cNvPr>
          <p:cNvCxnSpPr>
            <a:stCxn id="9" idx="2"/>
            <a:endCxn id="4" idx="2"/>
          </p:cNvCxnSpPr>
          <p:nvPr/>
        </p:nvCxnSpPr>
        <p:spPr>
          <a:xfrm rot="5400000" flipH="1" flipV="1">
            <a:off x="4568824" y="2544220"/>
            <a:ext cx="428912" cy="5699579"/>
          </a:xfrm>
          <a:prstGeom prst="bentConnector3">
            <a:avLst>
              <a:gd name="adj1" fmla="val -53298"/>
            </a:avLst>
          </a:prstGeom>
          <a:ln w="19050" cap="flat" cmpd="sng" algn="ctr">
            <a:solidFill>
              <a:schemeClr val="accent6"/>
            </a:solidFill>
            <a:prstDash val="solid"/>
            <a:round/>
            <a:headEnd type="none" w="med" len="med"/>
            <a:tailEnd type="arrow" w="med" len="med"/>
          </a:ln>
        </p:spPr>
        <p:style>
          <a:lnRef idx="0">
            <a:scrgbClr r="0" g="0" b="0"/>
          </a:lnRef>
          <a:fillRef idx="0">
            <a:scrgbClr r="0" g="0" b="0"/>
          </a:fillRef>
          <a:effectRef idx="0">
            <a:scrgbClr r="0" g="0" b="0"/>
          </a:effectRef>
          <a:fontRef idx="minor">
            <a:schemeClr val="tx1"/>
          </a:fontRef>
        </p:style>
      </p:cxnSp>
      <p:grpSp>
        <p:nvGrpSpPr>
          <p:cNvPr id="20" name="Group 19">
            <a:extLst>
              <a:ext uri="{FF2B5EF4-FFF2-40B4-BE49-F238E27FC236}">
                <a16:creationId xmlns:a16="http://schemas.microsoft.com/office/drawing/2014/main" id="{6CECFECF-C911-0734-8EFD-0D8A1C970E3D}"/>
              </a:ext>
            </a:extLst>
          </p:cNvPr>
          <p:cNvGrpSpPr/>
          <p:nvPr/>
        </p:nvGrpSpPr>
        <p:grpSpPr>
          <a:xfrm>
            <a:off x="737697" y="2763174"/>
            <a:ext cx="2391587" cy="2845292"/>
            <a:chOff x="737697" y="2763174"/>
            <a:chExt cx="2391587" cy="2845292"/>
          </a:xfrm>
        </p:grpSpPr>
        <p:grpSp>
          <p:nvGrpSpPr>
            <p:cNvPr id="15" name="Group 14">
              <a:extLst>
                <a:ext uri="{FF2B5EF4-FFF2-40B4-BE49-F238E27FC236}">
                  <a16:creationId xmlns:a16="http://schemas.microsoft.com/office/drawing/2014/main" id="{105E9A0B-6D26-4285-5407-0CF504A8341C}"/>
                </a:ext>
              </a:extLst>
            </p:cNvPr>
            <p:cNvGrpSpPr/>
            <p:nvPr/>
          </p:nvGrpSpPr>
          <p:grpSpPr>
            <a:xfrm>
              <a:off x="737697" y="2763174"/>
              <a:ext cx="2391587" cy="2845292"/>
              <a:chOff x="737697" y="2763174"/>
              <a:chExt cx="2391587" cy="2845292"/>
            </a:xfrm>
          </p:grpSpPr>
          <p:grpSp>
            <p:nvGrpSpPr>
              <p:cNvPr id="30" name="Group 29">
                <a:extLst>
                  <a:ext uri="{FF2B5EF4-FFF2-40B4-BE49-F238E27FC236}">
                    <a16:creationId xmlns:a16="http://schemas.microsoft.com/office/drawing/2014/main" id="{A0AAA342-B0CA-365A-B50F-F3B4B8FEB04C}"/>
                  </a:ext>
                </a:extLst>
              </p:cNvPr>
              <p:cNvGrpSpPr/>
              <p:nvPr/>
            </p:nvGrpSpPr>
            <p:grpSpPr>
              <a:xfrm>
                <a:off x="737697" y="3216879"/>
                <a:ext cx="2391587" cy="2391587"/>
                <a:chOff x="6347505" y="3279775"/>
                <a:chExt cx="2391587" cy="2391587"/>
              </a:xfrm>
            </p:grpSpPr>
            <p:pic>
              <p:nvPicPr>
                <p:cNvPr id="9" name="Picture 2">
                  <a:extLst>
                    <a:ext uri="{FF2B5EF4-FFF2-40B4-BE49-F238E27FC236}">
                      <a16:creationId xmlns:a16="http://schemas.microsoft.com/office/drawing/2014/main" id="{9A694FE3-5561-7D96-5BC7-3DC26FC998DC}"/>
                    </a:ext>
                  </a:extLst>
                </p:cNvPr>
                <p:cNvPicPr>
                  <a:picLocks noChangeAspect="1" noChangeArrowheads="1"/>
                </p:cNvPicPr>
                <p:nvPr/>
              </p:nvPicPr>
              <p:blipFill>
                <a:blip r:embed="rId2" cstate="print">
                  <a:extLst>
                    <a:ext uri="{BEBA8EAE-BF5A-486C-A8C5-ECC9F3942E4B}">
                      <a14:imgProps xmlns:a14="http://schemas.microsoft.com/office/drawing/2010/main">
                        <a14:imgLayer r:embed="rId3">
                          <a14:imgEffect>
                            <a14:artisticPencilSketch/>
                          </a14:imgEffect>
                        </a14:imgLayer>
                      </a14:imgProps>
                    </a:ext>
                  </a:extLst>
                </a:blip>
                <a:srcRect/>
                <a:stretch>
                  <a:fillRect/>
                </a:stretch>
              </p:blipFill>
              <p:spPr bwMode="auto">
                <a:xfrm>
                  <a:off x="6347505" y="3279775"/>
                  <a:ext cx="2391587" cy="2391587"/>
                </a:xfrm>
                <a:prstGeom prst="rect">
                  <a:avLst/>
                </a:prstGeom>
                <a:noFill/>
                <a:ln w="9525">
                  <a:noFill/>
                  <a:miter lim="800000"/>
                  <a:headEnd/>
                  <a:tailEnd/>
                </a:ln>
              </p:spPr>
            </p:pic>
            <p:cxnSp>
              <p:nvCxnSpPr>
                <p:cNvPr id="19" name="Straight Arrow Connector 18">
                  <a:extLst>
                    <a:ext uri="{FF2B5EF4-FFF2-40B4-BE49-F238E27FC236}">
                      <a16:creationId xmlns:a16="http://schemas.microsoft.com/office/drawing/2014/main" id="{15034E05-5278-4E1D-2D73-A17E96595D33}"/>
                    </a:ext>
                  </a:extLst>
                </p:cNvPr>
                <p:cNvCxnSpPr>
                  <a:cxnSpLocks/>
                </p:cNvCxnSpPr>
                <p:nvPr/>
              </p:nvCxnSpPr>
              <p:spPr>
                <a:xfrm>
                  <a:off x="6553200" y="3292492"/>
                  <a:ext cx="0" cy="149225"/>
                </a:xfrm>
                <a:prstGeom prst="straightConnector1">
                  <a:avLst/>
                </a:prstGeom>
                <a:ln>
                  <a:tailEnd type="triangle"/>
                </a:ln>
              </p:spPr>
              <p:style>
                <a:lnRef idx="3">
                  <a:schemeClr val="accent6"/>
                </a:lnRef>
                <a:fillRef idx="0">
                  <a:schemeClr val="accent6"/>
                </a:fillRef>
                <a:effectRef idx="2">
                  <a:schemeClr val="accent6"/>
                </a:effectRef>
                <a:fontRef idx="minor">
                  <a:schemeClr val="tx1"/>
                </a:fontRef>
              </p:style>
            </p:cxnSp>
            <p:cxnSp>
              <p:nvCxnSpPr>
                <p:cNvPr id="21" name="Straight Arrow Connector 20">
                  <a:extLst>
                    <a:ext uri="{FF2B5EF4-FFF2-40B4-BE49-F238E27FC236}">
                      <a16:creationId xmlns:a16="http://schemas.microsoft.com/office/drawing/2014/main" id="{8F654D57-D174-7F84-8E16-1FC52CAFFBD6}"/>
                    </a:ext>
                  </a:extLst>
                </p:cNvPr>
                <p:cNvCxnSpPr>
                  <a:cxnSpLocks/>
                </p:cNvCxnSpPr>
                <p:nvPr/>
              </p:nvCxnSpPr>
              <p:spPr>
                <a:xfrm>
                  <a:off x="6553200" y="3429000"/>
                  <a:ext cx="0" cy="149225"/>
                </a:xfrm>
                <a:prstGeom prst="straightConnector1">
                  <a:avLst/>
                </a:prstGeom>
                <a:ln>
                  <a:tailEnd type="triangle"/>
                </a:ln>
              </p:spPr>
              <p:style>
                <a:lnRef idx="3">
                  <a:schemeClr val="accent6"/>
                </a:lnRef>
                <a:fillRef idx="0">
                  <a:schemeClr val="accent6"/>
                </a:fillRef>
                <a:effectRef idx="2">
                  <a:schemeClr val="accent6"/>
                </a:effectRef>
                <a:fontRef idx="minor">
                  <a:schemeClr val="tx1"/>
                </a:fontRef>
              </p:style>
            </p:cxnSp>
            <p:cxnSp>
              <p:nvCxnSpPr>
                <p:cNvPr id="23" name="Straight Arrow Connector 22">
                  <a:extLst>
                    <a:ext uri="{FF2B5EF4-FFF2-40B4-BE49-F238E27FC236}">
                      <a16:creationId xmlns:a16="http://schemas.microsoft.com/office/drawing/2014/main" id="{450EEEBA-990B-3A34-05BE-C96E4D74D25F}"/>
                    </a:ext>
                  </a:extLst>
                </p:cNvPr>
                <p:cNvCxnSpPr>
                  <a:cxnSpLocks/>
                </p:cNvCxnSpPr>
                <p:nvPr/>
              </p:nvCxnSpPr>
              <p:spPr>
                <a:xfrm>
                  <a:off x="6553200" y="3584575"/>
                  <a:ext cx="0" cy="149225"/>
                </a:xfrm>
                <a:prstGeom prst="straightConnector1">
                  <a:avLst/>
                </a:prstGeom>
                <a:ln>
                  <a:tailEnd type="triangle"/>
                </a:ln>
              </p:spPr>
              <p:style>
                <a:lnRef idx="3">
                  <a:schemeClr val="accent6"/>
                </a:lnRef>
                <a:fillRef idx="0">
                  <a:schemeClr val="accent6"/>
                </a:fillRef>
                <a:effectRef idx="2">
                  <a:schemeClr val="accent6"/>
                </a:effectRef>
                <a:fontRef idx="minor">
                  <a:schemeClr val="tx1"/>
                </a:fontRef>
              </p:style>
            </p:cxnSp>
            <p:cxnSp>
              <p:nvCxnSpPr>
                <p:cNvPr id="29" name="Straight Arrow Connector 28">
                  <a:extLst>
                    <a:ext uri="{FF2B5EF4-FFF2-40B4-BE49-F238E27FC236}">
                      <a16:creationId xmlns:a16="http://schemas.microsoft.com/office/drawing/2014/main" id="{F6808E85-5ECF-EDED-22A2-4B43D07B9E71}"/>
                    </a:ext>
                  </a:extLst>
                </p:cNvPr>
                <p:cNvCxnSpPr>
                  <a:cxnSpLocks/>
                </p:cNvCxnSpPr>
                <p:nvPr/>
              </p:nvCxnSpPr>
              <p:spPr>
                <a:xfrm rot="16200000">
                  <a:off x="6653642" y="3659187"/>
                  <a:ext cx="0" cy="149225"/>
                </a:xfrm>
                <a:prstGeom prst="straightConnector1">
                  <a:avLst/>
                </a:prstGeom>
                <a:ln>
                  <a:tailEnd type="triangle"/>
                </a:ln>
              </p:spPr>
              <p:style>
                <a:lnRef idx="3">
                  <a:schemeClr val="accent6"/>
                </a:lnRef>
                <a:fillRef idx="0">
                  <a:schemeClr val="accent6"/>
                </a:fillRef>
                <a:effectRef idx="2">
                  <a:schemeClr val="accent6"/>
                </a:effectRef>
                <a:fontRef idx="minor">
                  <a:schemeClr val="tx1"/>
                </a:fontRef>
              </p:style>
            </p:cxnSp>
          </p:grpSp>
          <p:sp>
            <p:nvSpPr>
              <p:cNvPr id="36" name="TextBox 35">
                <a:extLst>
                  <a:ext uri="{FF2B5EF4-FFF2-40B4-BE49-F238E27FC236}">
                    <a16:creationId xmlns:a16="http://schemas.microsoft.com/office/drawing/2014/main" id="{FA48CFE2-1E92-9DFF-9A57-1C84037F4E51}"/>
                  </a:ext>
                </a:extLst>
              </p:cNvPr>
              <p:cNvSpPr txBox="1"/>
              <p:nvPr/>
            </p:nvSpPr>
            <p:spPr>
              <a:xfrm>
                <a:off x="1118447" y="2763174"/>
                <a:ext cx="1929553" cy="369332"/>
              </a:xfrm>
              <a:prstGeom prst="rect">
                <a:avLst/>
              </a:prstGeom>
              <a:noFill/>
            </p:spPr>
            <p:txBody>
              <a:bodyPr wrap="square">
                <a:spAutoFit/>
              </a:bodyPr>
              <a:lstStyle/>
              <a:p>
                <a:r>
                  <a:rPr lang="en-US" b="1" dirty="0"/>
                  <a:t>Planning function</a:t>
                </a:r>
              </a:p>
            </p:txBody>
          </p:sp>
          <p:sp>
            <p:nvSpPr>
              <p:cNvPr id="38" name="TextBox 37">
                <a:extLst>
                  <a:ext uri="{FF2B5EF4-FFF2-40B4-BE49-F238E27FC236}">
                    <a16:creationId xmlns:a16="http://schemas.microsoft.com/office/drawing/2014/main" id="{DAB6D509-C389-EABF-6961-9FA3C4320F66}"/>
                  </a:ext>
                </a:extLst>
              </p:cNvPr>
              <p:cNvSpPr txBox="1"/>
              <p:nvPr/>
            </p:nvSpPr>
            <p:spPr>
              <a:xfrm rot="16200000">
                <a:off x="982591" y="3466519"/>
                <a:ext cx="271712" cy="369332"/>
              </a:xfrm>
              <a:prstGeom prst="rect">
                <a:avLst/>
              </a:prstGeom>
              <a:noFill/>
            </p:spPr>
            <p:txBody>
              <a:bodyPr wrap="square" rtlCol="0">
                <a:spAutoFit/>
              </a:bodyPr>
              <a:lstStyle/>
              <a:p>
                <a:r>
                  <a:rPr lang="en-US" dirty="0">
                    <a:solidFill>
                      <a:schemeClr val="accent6"/>
                    </a:solidFill>
                  </a:rPr>
                  <a:t>…</a:t>
                </a:r>
              </a:p>
            </p:txBody>
          </p:sp>
        </p:grpSp>
        <p:sp>
          <p:nvSpPr>
            <p:cNvPr id="17" name="TextBox 16">
              <a:extLst>
                <a:ext uri="{FF2B5EF4-FFF2-40B4-BE49-F238E27FC236}">
                  <a16:creationId xmlns:a16="http://schemas.microsoft.com/office/drawing/2014/main" id="{1F01E6D7-AB28-F345-6193-0FEDE799A5F6}"/>
                </a:ext>
              </a:extLst>
            </p:cNvPr>
            <p:cNvSpPr txBox="1"/>
            <p:nvPr/>
          </p:nvSpPr>
          <p:spPr>
            <a:xfrm rot="1174007">
              <a:off x="1039481" y="4215587"/>
              <a:ext cx="1786772" cy="369332"/>
            </a:xfrm>
            <a:prstGeom prst="rect">
              <a:avLst/>
            </a:prstGeom>
            <a:ln/>
          </p:spPr>
          <p:style>
            <a:lnRef idx="3">
              <a:schemeClr val="lt1"/>
            </a:lnRef>
            <a:fillRef idx="1">
              <a:schemeClr val="accent3"/>
            </a:fillRef>
            <a:effectRef idx="1">
              <a:schemeClr val="accent3"/>
            </a:effectRef>
            <a:fontRef idx="minor">
              <a:schemeClr val="lt1"/>
            </a:fontRef>
          </p:style>
          <p:txBody>
            <a:bodyPr wrap="square">
              <a:spAutoFit/>
            </a:bodyPr>
            <a:lstStyle/>
            <a:p>
              <a:r>
                <a:rPr lang="en-US" b="1" dirty="0"/>
                <a:t>Transition model</a:t>
              </a:r>
            </a:p>
          </p:txBody>
        </p:sp>
      </p:grpSp>
    </p:spTree>
    <p:extLst>
      <p:ext uri="{BB962C8B-B14F-4D97-AF65-F5344CB8AC3E}">
        <p14:creationId xmlns:p14="http://schemas.microsoft.com/office/powerpoint/2010/main" val="220404009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6"/>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8"/>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3" grpId="0"/>
    </p:bldLst>
  </p:timing>
</p:sld>
</file>

<file path=ppt/slides/slide9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E0A8D72-99B9-A207-E474-95FE2AEE3379}"/>
              </a:ext>
            </a:extLst>
          </p:cNvPr>
          <p:cNvSpPr>
            <a:spLocks noGrp="1"/>
          </p:cNvSpPr>
          <p:nvPr>
            <p:ph type="title"/>
          </p:nvPr>
        </p:nvSpPr>
        <p:spPr>
          <a:xfrm>
            <a:off x="628650" y="365127"/>
            <a:ext cx="7886700" cy="1035110"/>
          </a:xfrm>
        </p:spPr>
        <p:txBody>
          <a:bodyPr>
            <a:normAutofit/>
          </a:bodyPr>
          <a:lstStyle/>
          <a:p>
            <a:r>
              <a:rPr lang="en-US" sz="2800" dirty="0"/>
              <a:t>Example: Complete Planning Agent to Solve a Maze</a:t>
            </a:r>
          </a:p>
        </p:txBody>
      </p:sp>
      <p:sp>
        <p:nvSpPr>
          <p:cNvPr id="81" name="TextBox 80">
            <a:extLst>
              <a:ext uri="{FF2B5EF4-FFF2-40B4-BE49-F238E27FC236}">
                <a16:creationId xmlns:a16="http://schemas.microsoft.com/office/drawing/2014/main" id="{13822271-07B3-F1D4-8308-615D8DE88316}"/>
              </a:ext>
            </a:extLst>
          </p:cNvPr>
          <p:cNvSpPr txBox="1"/>
          <p:nvPr/>
        </p:nvSpPr>
        <p:spPr>
          <a:xfrm>
            <a:off x="432690" y="5722203"/>
            <a:ext cx="8413577" cy="830997"/>
          </a:xfrm>
          <a:prstGeom prst="rect">
            <a:avLst/>
          </a:prstGeom>
          <a:noFill/>
        </p:spPr>
        <p:txBody>
          <a:bodyPr wrap="square" rtlCol="0">
            <a:spAutoFit/>
          </a:bodyPr>
          <a:lstStyle/>
          <a:p>
            <a:pPr marL="285750" indent="-285750">
              <a:buFont typeface="Arial" panose="020B0604020202020204" pitchFamily="34" charset="0"/>
              <a:buChar char="•"/>
            </a:pPr>
            <a:r>
              <a:rPr lang="en-US" sz="1600" dirty="0"/>
              <a:t>The event loop calls the agent function for the next action.</a:t>
            </a:r>
          </a:p>
          <a:p>
            <a:pPr marL="285750" indent="-285750">
              <a:buFont typeface="Arial" panose="020B0604020202020204" pitchFamily="34" charset="0"/>
              <a:buChar char="•"/>
            </a:pPr>
            <a:r>
              <a:rPr lang="en-US" sz="1600" dirty="0"/>
              <a:t>The agent function </a:t>
            </a:r>
            <a:r>
              <a:rPr lang="en-US" sz="1600" b="1" dirty="0"/>
              <a:t>follows</a:t>
            </a:r>
            <a:r>
              <a:rPr lang="en-US" sz="1600" dirty="0"/>
              <a:t> the stored plan or calls the planning function if there is no </a:t>
            </a:r>
            <a:r>
              <a:rPr lang="en-US" sz="1600" b="1" dirty="0"/>
              <a:t>plan</a:t>
            </a:r>
            <a:r>
              <a:rPr lang="en-US" sz="1600" dirty="0"/>
              <a:t> yet or if it thinks the current plan does not work based on the percepts (</a:t>
            </a:r>
            <a:r>
              <a:rPr lang="en-US" sz="1600" b="1" dirty="0"/>
              <a:t>replanning</a:t>
            </a:r>
            <a:r>
              <a:rPr lang="en-US" sz="1600" dirty="0"/>
              <a:t>).</a:t>
            </a:r>
          </a:p>
        </p:txBody>
      </p:sp>
      <p:grpSp>
        <p:nvGrpSpPr>
          <p:cNvPr id="6" name="Group 5">
            <a:extLst>
              <a:ext uri="{FF2B5EF4-FFF2-40B4-BE49-F238E27FC236}">
                <a16:creationId xmlns:a16="http://schemas.microsoft.com/office/drawing/2014/main" id="{B35FBD37-E1A8-6E2B-5B8B-42EA3697236B}"/>
              </a:ext>
            </a:extLst>
          </p:cNvPr>
          <p:cNvGrpSpPr/>
          <p:nvPr/>
        </p:nvGrpSpPr>
        <p:grpSpPr>
          <a:xfrm>
            <a:off x="914400" y="1371600"/>
            <a:ext cx="7086600" cy="4404161"/>
            <a:chOff x="838200" y="1371600"/>
            <a:chExt cx="7086600" cy="4404161"/>
          </a:xfrm>
        </p:grpSpPr>
        <p:sp>
          <p:nvSpPr>
            <p:cNvPr id="4" name="Rectangle 3">
              <a:extLst>
                <a:ext uri="{FF2B5EF4-FFF2-40B4-BE49-F238E27FC236}">
                  <a16:creationId xmlns:a16="http://schemas.microsoft.com/office/drawing/2014/main" id="{47EE04EB-FDAD-F984-D610-9EC783632DAA}"/>
                </a:ext>
              </a:extLst>
            </p:cNvPr>
            <p:cNvSpPr/>
            <p:nvPr/>
          </p:nvSpPr>
          <p:spPr>
            <a:xfrm>
              <a:off x="838200" y="2260852"/>
              <a:ext cx="4565477" cy="3048000"/>
            </a:xfrm>
            <a:prstGeom prst="rect">
              <a:avLst/>
            </a:prstGeom>
            <a:solidFill>
              <a:schemeClr val="accent5">
                <a:alpha val="50000"/>
              </a:schemeClr>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lang="en-US" dirty="0"/>
            </a:p>
          </p:txBody>
        </p:sp>
        <p:sp>
          <p:nvSpPr>
            <p:cNvPr id="5" name="Rectangle 4">
              <a:extLst>
                <a:ext uri="{FF2B5EF4-FFF2-40B4-BE49-F238E27FC236}">
                  <a16:creationId xmlns:a16="http://schemas.microsoft.com/office/drawing/2014/main" id="{32F070FF-4D65-E7C9-1ACB-B36EF1F4C786}"/>
                </a:ext>
              </a:extLst>
            </p:cNvPr>
            <p:cNvSpPr/>
            <p:nvPr/>
          </p:nvSpPr>
          <p:spPr>
            <a:xfrm>
              <a:off x="6477000" y="2260852"/>
              <a:ext cx="1447800" cy="3048000"/>
            </a:xfrm>
            <a:prstGeom prst="rect">
              <a:avLst/>
            </a:prstGeom>
            <a:solidFill>
              <a:schemeClr val="accent5">
                <a:alpha val="50000"/>
              </a:schemeClr>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r>
                <a:rPr lang="en-US" b="1" dirty="0">
                  <a:solidFill>
                    <a:schemeClr val="tx1"/>
                  </a:solidFill>
                </a:rPr>
                <a:t>Environment</a:t>
              </a:r>
            </a:p>
            <a:p>
              <a:pPr algn="ctr"/>
              <a:endParaRPr lang="en-US" dirty="0">
                <a:solidFill>
                  <a:schemeClr val="tx1"/>
                </a:solidFill>
              </a:endParaRPr>
            </a:p>
            <a:p>
              <a:pPr algn="ctr"/>
              <a:endParaRPr lang="en-US" dirty="0">
                <a:solidFill>
                  <a:schemeClr val="tx1"/>
                </a:solidFill>
              </a:endParaRPr>
            </a:p>
            <a:p>
              <a:pPr algn="ctr"/>
              <a:endParaRPr lang="en-US" dirty="0">
                <a:solidFill>
                  <a:schemeClr val="tx1"/>
                </a:solidFill>
              </a:endParaRPr>
            </a:p>
            <a:p>
              <a:pPr algn="ctr"/>
              <a:endParaRPr lang="en-US" dirty="0">
                <a:solidFill>
                  <a:schemeClr val="tx1"/>
                </a:solidFill>
              </a:endParaRPr>
            </a:p>
            <a:p>
              <a:pPr algn="ctr"/>
              <a:endParaRPr lang="en-US" dirty="0">
                <a:solidFill>
                  <a:schemeClr val="tx1"/>
                </a:solidFill>
              </a:endParaRPr>
            </a:p>
            <a:p>
              <a:pPr algn="ctr"/>
              <a:r>
                <a:rPr lang="en-US" dirty="0">
                  <a:solidFill>
                    <a:schemeClr val="tx1"/>
                  </a:solidFill>
                </a:rPr>
                <a:t>Physical Maze</a:t>
              </a:r>
            </a:p>
          </p:txBody>
        </p:sp>
        <p:sp>
          <p:nvSpPr>
            <p:cNvPr id="12" name="TextBox 11">
              <a:extLst>
                <a:ext uri="{FF2B5EF4-FFF2-40B4-BE49-F238E27FC236}">
                  <a16:creationId xmlns:a16="http://schemas.microsoft.com/office/drawing/2014/main" id="{A79A5B77-0753-3C80-0701-85ED846E29E5}"/>
                </a:ext>
              </a:extLst>
            </p:cNvPr>
            <p:cNvSpPr txBox="1"/>
            <p:nvPr/>
          </p:nvSpPr>
          <p:spPr>
            <a:xfrm>
              <a:off x="3388701" y="1371600"/>
              <a:ext cx="1898478" cy="738664"/>
            </a:xfrm>
            <a:prstGeom prst="rect">
              <a:avLst/>
            </a:prstGeom>
            <a:noFill/>
          </p:spPr>
          <p:txBody>
            <a:bodyPr wrap="square" rtlCol="0">
              <a:spAutoFit/>
            </a:bodyPr>
            <a:lstStyle/>
            <a:p>
              <a:r>
                <a:rPr lang="en-US" sz="1400" dirty="0"/>
                <a:t>Map </a:t>
              </a:r>
              <a:br>
                <a:rPr lang="en-US" sz="1400" dirty="0"/>
              </a:br>
              <a:r>
                <a:rPr lang="en-US" sz="1400" dirty="0"/>
                <a:t>= Transition function + initial and goal state</a:t>
              </a:r>
            </a:p>
          </p:txBody>
        </p:sp>
        <p:cxnSp>
          <p:nvCxnSpPr>
            <p:cNvPr id="14" name="Straight Arrow Connector 13">
              <a:extLst>
                <a:ext uri="{FF2B5EF4-FFF2-40B4-BE49-F238E27FC236}">
                  <a16:creationId xmlns:a16="http://schemas.microsoft.com/office/drawing/2014/main" id="{00F7312F-513F-182C-CCBF-62BEAC8F8370}"/>
                </a:ext>
              </a:extLst>
            </p:cNvPr>
            <p:cNvCxnSpPr>
              <a:cxnSpLocks/>
              <a:endCxn id="24" idx="3"/>
            </p:cNvCxnSpPr>
            <p:nvPr/>
          </p:nvCxnSpPr>
          <p:spPr>
            <a:xfrm flipH="1">
              <a:off x="5098877" y="2700477"/>
              <a:ext cx="1530523" cy="0"/>
            </a:xfrm>
            <a:prstGeom prst="straightConnector1">
              <a:avLst/>
            </a:prstGeom>
            <a:ln>
              <a:tailEnd type="triangle"/>
            </a:ln>
          </p:spPr>
          <p:style>
            <a:lnRef idx="3">
              <a:schemeClr val="accent1"/>
            </a:lnRef>
            <a:fillRef idx="0">
              <a:schemeClr val="accent1"/>
            </a:fillRef>
            <a:effectRef idx="2">
              <a:schemeClr val="accent1"/>
            </a:effectRef>
            <a:fontRef idx="minor">
              <a:schemeClr val="tx1"/>
            </a:fontRef>
          </p:style>
        </p:cxnSp>
        <p:cxnSp>
          <p:nvCxnSpPr>
            <p:cNvPr id="22" name="Straight Arrow Connector 21">
              <a:extLst>
                <a:ext uri="{FF2B5EF4-FFF2-40B4-BE49-F238E27FC236}">
                  <a16:creationId xmlns:a16="http://schemas.microsoft.com/office/drawing/2014/main" id="{D078E14E-CE8B-4CAA-DD9E-B4F589A9AB0D}"/>
                </a:ext>
              </a:extLst>
            </p:cNvPr>
            <p:cNvCxnSpPr>
              <a:cxnSpLocks/>
              <a:stCxn id="25" idx="3"/>
            </p:cNvCxnSpPr>
            <p:nvPr/>
          </p:nvCxnSpPr>
          <p:spPr>
            <a:xfrm>
              <a:off x="5201581" y="4991775"/>
              <a:ext cx="1580219" cy="0"/>
            </a:xfrm>
            <a:prstGeom prst="straightConnector1">
              <a:avLst/>
            </a:prstGeom>
            <a:ln>
              <a:tailEnd type="triangle"/>
            </a:ln>
          </p:spPr>
          <p:style>
            <a:lnRef idx="3">
              <a:schemeClr val="accent1"/>
            </a:lnRef>
            <a:fillRef idx="0">
              <a:schemeClr val="accent1"/>
            </a:fillRef>
            <a:effectRef idx="2">
              <a:schemeClr val="accent1"/>
            </a:effectRef>
            <a:fontRef idx="minor">
              <a:schemeClr val="tx1"/>
            </a:fontRef>
          </p:style>
        </p:cxnSp>
        <p:sp>
          <p:nvSpPr>
            <p:cNvPr id="24" name="TextBox 23">
              <a:extLst>
                <a:ext uri="{FF2B5EF4-FFF2-40B4-BE49-F238E27FC236}">
                  <a16:creationId xmlns:a16="http://schemas.microsoft.com/office/drawing/2014/main" id="{4AA1C588-96F1-EE94-0BDE-75EB05E5E306}"/>
                </a:ext>
              </a:extLst>
            </p:cNvPr>
            <p:cNvSpPr txBox="1"/>
            <p:nvPr/>
          </p:nvSpPr>
          <p:spPr>
            <a:xfrm>
              <a:off x="4184477" y="2515811"/>
              <a:ext cx="914400" cy="369332"/>
            </a:xfrm>
            <a:prstGeom prst="rect">
              <a:avLst/>
            </a:prstGeom>
            <a:noFill/>
          </p:spPr>
          <p:txBody>
            <a:bodyPr wrap="square" rtlCol="0">
              <a:spAutoFit/>
            </a:bodyPr>
            <a:lstStyle/>
            <a:p>
              <a:r>
                <a:rPr lang="en-US" dirty="0"/>
                <a:t>Sensors</a:t>
              </a:r>
            </a:p>
          </p:txBody>
        </p:sp>
        <p:sp>
          <p:nvSpPr>
            <p:cNvPr id="25" name="TextBox 24">
              <a:extLst>
                <a:ext uri="{FF2B5EF4-FFF2-40B4-BE49-F238E27FC236}">
                  <a16:creationId xmlns:a16="http://schemas.microsoft.com/office/drawing/2014/main" id="{EA083DFE-4C36-0C94-8302-313F526159A3}"/>
                </a:ext>
              </a:extLst>
            </p:cNvPr>
            <p:cNvSpPr txBox="1"/>
            <p:nvPr/>
          </p:nvSpPr>
          <p:spPr>
            <a:xfrm>
              <a:off x="4081772" y="4807109"/>
              <a:ext cx="1119809" cy="369332"/>
            </a:xfrm>
            <a:prstGeom prst="rect">
              <a:avLst/>
            </a:prstGeom>
            <a:noFill/>
          </p:spPr>
          <p:txBody>
            <a:bodyPr wrap="square" rtlCol="0">
              <a:spAutoFit/>
            </a:bodyPr>
            <a:lstStyle/>
            <a:p>
              <a:r>
                <a:rPr lang="en-US" dirty="0"/>
                <a:t>Actuators</a:t>
              </a:r>
            </a:p>
          </p:txBody>
        </p:sp>
        <p:sp>
          <p:nvSpPr>
            <p:cNvPr id="26" name="Flowchart: Document 25">
              <a:extLst>
                <a:ext uri="{FF2B5EF4-FFF2-40B4-BE49-F238E27FC236}">
                  <a16:creationId xmlns:a16="http://schemas.microsoft.com/office/drawing/2014/main" id="{A1D0D1DE-2930-B85A-AEA6-1BA5C797D282}"/>
                </a:ext>
              </a:extLst>
            </p:cNvPr>
            <p:cNvSpPr/>
            <p:nvPr/>
          </p:nvSpPr>
          <p:spPr>
            <a:xfrm>
              <a:off x="2671633" y="3634091"/>
              <a:ext cx="609600" cy="937591"/>
            </a:xfrm>
            <a:prstGeom prst="flowChartDocument">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r>
                <a:rPr lang="en-US" dirty="0"/>
                <a:t>Plan</a:t>
              </a:r>
            </a:p>
          </p:txBody>
        </p:sp>
        <p:sp>
          <p:nvSpPr>
            <p:cNvPr id="27" name="Rectangle 26">
              <a:extLst>
                <a:ext uri="{FF2B5EF4-FFF2-40B4-BE49-F238E27FC236}">
                  <a16:creationId xmlns:a16="http://schemas.microsoft.com/office/drawing/2014/main" id="{4B335A07-30C7-7F2F-6DE2-F2603A478600}"/>
                </a:ext>
              </a:extLst>
            </p:cNvPr>
            <p:cNvSpPr/>
            <p:nvPr/>
          </p:nvSpPr>
          <p:spPr>
            <a:xfrm>
              <a:off x="2328733" y="2476546"/>
              <a:ext cx="1295400" cy="635411"/>
            </a:xfrm>
            <a:prstGeom prst="rect">
              <a:avLst/>
            </a:prstGeom>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r>
                <a:rPr lang="en-US" dirty="0"/>
                <a:t>Planning function</a:t>
              </a:r>
            </a:p>
          </p:txBody>
        </p:sp>
        <p:sp>
          <p:nvSpPr>
            <p:cNvPr id="29" name="Rectangle 28">
              <a:extLst>
                <a:ext uri="{FF2B5EF4-FFF2-40B4-BE49-F238E27FC236}">
                  <a16:creationId xmlns:a16="http://schemas.microsoft.com/office/drawing/2014/main" id="{8B8FE497-FD5A-414F-B390-B1A3A187D04A}"/>
                </a:ext>
              </a:extLst>
            </p:cNvPr>
            <p:cNvSpPr/>
            <p:nvPr/>
          </p:nvSpPr>
          <p:spPr>
            <a:xfrm>
              <a:off x="3991779" y="3569242"/>
              <a:ext cx="1295400" cy="635411"/>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dirty="0"/>
                <a:t>Agent function</a:t>
              </a:r>
            </a:p>
          </p:txBody>
        </p:sp>
        <p:cxnSp>
          <p:nvCxnSpPr>
            <p:cNvPr id="30" name="Straight Arrow Connector 29">
              <a:extLst>
                <a:ext uri="{FF2B5EF4-FFF2-40B4-BE49-F238E27FC236}">
                  <a16:creationId xmlns:a16="http://schemas.microsoft.com/office/drawing/2014/main" id="{A148EE61-3EA1-E3B4-4B55-BEEC9867BF7E}"/>
                </a:ext>
              </a:extLst>
            </p:cNvPr>
            <p:cNvCxnSpPr>
              <a:cxnSpLocks/>
              <a:stCxn id="75" idx="2"/>
              <a:endCxn id="27" idx="0"/>
            </p:cNvCxnSpPr>
            <p:nvPr/>
          </p:nvCxnSpPr>
          <p:spPr>
            <a:xfrm>
              <a:off x="2976433" y="2155611"/>
              <a:ext cx="0" cy="320935"/>
            </a:xfrm>
            <a:prstGeom prst="straightConnector1">
              <a:avLst/>
            </a:prstGeom>
            <a:ln>
              <a:tailEnd type="triangle"/>
            </a:ln>
          </p:spPr>
          <p:style>
            <a:lnRef idx="3">
              <a:schemeClr val="accent1"/>
            </a:lnRef>
            <a:fillRef idx="0">
              <a:schemeClr val="accent1"/>
            </a:fillRef>
            <a:effectRef idx="2">
              <a:schemeClr val="accent1"/>
            </a:effectRef>
            <a:fontRef idx="minor">
              <a:schemeClr val="tx1"/>
            </a:fontRef>
          </p:style>
        </p:cxnSp>
        <p:cxnSp>
          <p:nvCxnSpPr>
            <p:cNvPr id="35" name="Straight Arrow Connector 34">
              <a:extLst>
                <a:ext uri="{FF2B5EF4-FFF2-40B4-BE49-F238E27FC236}">
                  <a16:creationId xmlns:a16="http://schemas.microsoft.com/office/drawing/2014/main" id="{0AEBF7BB-9215-C0AF-2072-EF71F603943A}"/>
                </a:ext>
              </a:extLst>
            </p:cNvPr>
            <p:cNvCxnSpPr>
              <a:stCxn id="24" idx="2"/>
              <a:endCxn id="29" idx="0"/>
            </p:cNvCxnSpPr>
            <p:nvPr/>
          </p:nvCxnSpPr>
          <p:spPr>
            <a:xfrm flipH="1">
              <a:off x="4639479" y="2885143"/>
              <a:ext cx="2198" cy="684099"/>
            </a:xfrm>
            <a:prstGeom prst="straightConnector1">
              <a:avLst/>
            </a:prstGeom>
            <a:ln>
              <a:tailEnd type="triangle"/>
            </a:ln>
          </p:spPr>
          <p:style>
            <a:lnRef idx="3">
              <a:schemeClr val="accent1"/>
            </a:lnRef>
            <a:fillRef idx="0">
              <a:schemeClr val="accent1"/>
            </a:fillRef>
            <a:effectRef idx="2">
              <a:schemeClr val="accent1"/>
            </a:effectRef>
            <a:fontRef idx="minor">
              <a:schemeClr val="tx1"/>
            </a:fontRef>
          </p:style>
        </p:cxnSp>
        <p:cxnSp>
          <p:nvCxnSpPr>
            <p:cNvPr id="40" name="Straight Arrow Connector 39">
              <a:extLst>
                <a:ext uri="{FF2B5EF4-FFF2-40B4-BE49-F238E27FC236}">
                  <a16:creationId xmlns:a16="http://schemas.microsoft.com/office/drawing/2014/main" id="{CB43D0F8-D6D4-A99A-BDBD-1CB85F0EF0AB}"/>
                </a:ext>
              </a:extLst>
            </p:cNvPr>
            <p:cNvCxnSpPr>
              <a:cxnSpLocks/>
              <a:stCxn id="29" idx="2"/>
              <a:endCxn id="25" idx="0"/>
            </p:cNvCxnSpPr>
            <p:nvPr/>
          </p:nvCxnSpPr>
          <p:spPr>
            <a:xfrm>
              <a:off x="4639479" y="4204653"/>
              <a:ext cx="2198" cy="602456"/>
            </a:xfrm>
            <a:prstGeom prst="straightConnector1">
              <a:avLst/>
            </a:prstGeom>
            <a:ln>
              <a:tailEnd type="triangle"/>
            </a:ln>
          </p:spPr>
          <p:style>
            <a:lnRef idx="3">
              <a:schemeClr val="accent1"/>
            </a:lnRef>
            <a:fillRef idx="0">
              <a:schemeClr val="accent1"/>
            </a:fillRef>
            <a:effectRef idx="2">
              <a:schemeClr val="accent1"/>
            </a:effectRef>
            <a:fontRef idx="minor">
              <a:schemeClr val="tx1"/>
            </a:fontRef>
          </p:style>
        </p:cxnSp>
        <p:cxnSp>
          <p:nvCxnSpPr>
            <p:cNvPr id="50" name="Straight Arrow Connector 49">
              <a:extLst>
                <a:ext uri="{FF2B5EF4-FFF2-40B4-BE49-F238E27FC236}">
                  <a16:creationId xmlns:a16="http://schemas.microsoft.com/office/drawing/2014/main" id="{4EFB613D-1690-C492-C50D-D118275F3CAF}"/>
                </a:ext>
              </a:extLst>
            </p:cNvPr>
            <p:cNvCxnSpPr>
              <a:cxnSpLocks/>
              <a:stCxn id="27" idx="2"/>
              <a:endCxn id="26" idx="0"/>
            </p:cNvCxnSpPr>
            <p:nvPr/>
          </p:nvCxnSpPr>
          <p:spPr>
            <a:xfrm>
              <a:off x="2976433" y="3111957"/>
              <a:ext cx="0" cy="522134"/>
            </a:xfrm>
            <a:prstGeom prst="straightConnector1">
              <a:avLst/>
            </a:prstGeom>
            <a:ln>
              <a:tailEnd type="triangle"/>
            </a:ln>
          </p:spPr>
          <p:style>
            <a:lnRef idx="3">
              <a:schemeClr val="accent1"/>
            </a:lnRef>
            <a:fillRef idx="0">
              <a:schemeClr val="accent1"/>
            </a:fillRef>
            <a:effectRef idx="2">
              <a:schemeClr val="accent1"/>
            </a:effectRef>
            <a:fontRef idx="minor">
              <a:schemeClr val="tx1"/>
            </a:fontRef>
          </p:style>
        </p:cxnSp>
        <p:sp>
          <p:nvSpPr>
            <p:cNvPr id="54" name="Rectangle 53">
              <a:extLst>
                <a:ext uri="{FF2B5EF4-FFF2-40B4-BE49-F238E27FC236}">
                  <a16:creationId xmlns:a16="http://schemas.microsoft.com/office/drawing/2014/main" id="{0B7C1EE7-71F7-6B4F-D34C-379DCC7C376F}"/>
                </a:ext>
              </a:extLst>
            </p:cNvPr>
            <p:cNvSpPr/>
            <p:nvPr/>
          </p:nvSpPr>
          <p:spPr>
            <a:xfrm>
              <a:off x="2471120" y="4673049"/>
              <a:ext cx="898563" cy="413479"/>
            </a:xfrm>
            <a:prstGeom prst="rect">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r>
                <a:rPr lang="en-US" sz="1050" dirty="0"/>
                <a:t>Current step in plan</a:t>
              </a:r>
            </a:p>
          </p:txBody>
        </p:sp>
        <p:cxnSp>
          <p:nvCxnSpPr>
            <p:cNvPr id="58" name="Straight Arrow Connector 57">
              <a:extLst>
                <a:ext uri="{FF2B5EF4-FFF2-40B4-BE49-F238E27FC236}">
                  <a16:creationId xmlns:a16="http://schemas.microsoft.com/office/drawing/2014/main" id="{153297F0-3177-04CD-16C2-36C9AB8FDEB0}"/>
                </a:ext>
              </a:extLst>
            </p:cNvPr>
            <p:cNvCxnSpPr>
              <a:cxnSpLocks/>
            </p:cNvCxnSpPr>
            <p:nvPr/>
          </p:nvCxnSpPr>
          <p:spPr>
            <a:xfrm flipH="1" flipV="1">
              <a:off x="3624133" y="2794251"/>
              <a:ext cx="384261" cy="791645"/>
            </a:xfrm>
            <a:prstGeom prst="straightConnector1">
              <a:avLst/>
            </a:prstGeom>
            <a:ln>
              <a:tailEnd type="triangle"/>
            </a:ln>
          </p:spPr>
          <p:style>
            <a:lnRef idx="3">
              <a:schemeClr val="accent1"/>
            </a:lnRef>
            <a:fillRef idx="0">
              <a:schemeClr val="accent1"/>
            </a:fillRef>
            <a:effectRef idx="2">
              <a:schemeClr val="accent1"/>
            </a:effectRef>
            <a:fontRef idx="minor">
              <a:schemeClr val="tx1"/>
            </a:fontRef>
          </p:style>
        </p:cxnSp>
        <p:cxnSp>
          <p:nvCxnSpPr>
            <p:cNvPr id="61" name="Straight Arrow Connector 60">
              <a:extLst>
                <a:ext uri="{FF2B5EF4-FFF2-40B4-BE49-F238E27FC236}">
                  <a16:creationId xmlns:a16="http://schemas.microsoft.com/office/drawing/2014/main" id="{2AC11F8C-0F28-1F74-A8AC-B78E269513FC}"/>
                </a:ext>
              </a:extLst>
            </p:cNvPr>
            <p:cNvCxnSpPr>
              <a:stCxn id="26" idx="3"/>
              <a:endCxn id="29" idx="1"/>
            </p:cNvCxnSpPr>
            <p:nvPr/>
          </p:nvCxnSpPr>
          <p:spPr>
            <a:xfrm flipV="1">
              <a:off x="3281233" y="3886948"/>
              <a:ext cx="710546" cy="215939"/>
            </a:xfrm>
            <a:prstGeom prst="straightConnector1">
              <a:avLst/>
            </a:prstGeom>
            <a:ln>
              <a:tailEnd type="triangle"/>
            </a:ln>
          </p:spPr>
          <p:style>
            <a:lnRef idx="3">
              <a:schemeClr val="accent1"/>
            </a:lnRef>
            <a:fillRef idx="0">
              <a:schemeClr val="accent1"/>
            </a:fillRef>
            <a:effectRef idx="2">
              <a:schemeClr val="accent1"/>
            </a:effectRef>
            <a:fontRef idx="minor">
              <a:schemeClr val="tx1"/>
            </a:fontRef>
          </p:style>
        </p:cxnSp>
        <p:cxnSp>
          <p:nvCxnSpPr>
            <p:cNvPr id="65" name="Straight Arrow Connector 64">
              <a:extLst>
                <a:ext uri="{FF2B5EF4-FFF2-40B4-BE49-F238E27FC236}">
                  <a16:creationId xmlns:a16="http://schemas.microsoft.com/office/drawing/2014/main" id="{C2DC9E51-BDEE-14E6-1A5F-B87C11A51AD9}"/>
                </a:ext>
              </a:extLst>
            </p:cNvPr>
            <p:cNvCxnSpPr>
              <a:cxnSpLocks/>
              <a:stCxn id="54" idx="3"/>
              <a:endCxn id="29" idx="1"/>
            </p:cNvCxnSpPr>
            <p:nvPr/>
          </p:nvCxnSpPr>
          <p:spPr>
            <a:xfrm flipV="1">
              <a:off x="3369683" y="3886948"/>
              <a:ext cx="622096" cy="992841"/>
            </a:xfrm>
            <a:prstGeom prst="straightConnector1">
              <a:avLst/>
            </a:prstGeom>
            <a:ln>
              <a:headEnd type="triangle" w="med" len="med"/>
              <a:tailEnd type="triangle" w="med" len="med"/>
            </a:ln>
          </p:spPr>
          <p:style>
            <a:lnRef idx="3">
              <a:schemeClr val="accent1"/>
            </a:lnRef>
            <a:fillRef idx="0">
              <a:schemeClr val="accent1"/>
            </a:fillRef>
            <a:effectRef idx="2">
              <a:schemeClr val="accent1"/>
            </a:effectRef>
            <a:fontRef idx="minor">
              <a:schemeClr val="tx1"/>
            </a:fontRef>
          </p:style>
        </p:cxnSp>
        <p:sp>
          <p:nvSpPr>
            <p:cNvPr id="66" name="TextBox 65">
              <a:extLst>
                <a:ext uri="{FF2B5EF4-FFF2-40B4-BE49-F238E27FC236}">
                  <a16:creationId xmlns:a16="http://schemas.microsoft.com/office/drawing/2014/main" id="{A832D720-62A7-875A-50E7-2D1B1CF429F3}"/>
                </a:ext>
              </a:extLst>
            </p:cNvPr>
            <p:cNvSpPr txBox="1"/>
            <p:nvPr/>
          </p:nvSpPr>
          <p:spPr>
            <a:xfrm>
              <a:off x="903192" y="2428726"/>
              <a:ext cx="1495996" cy="2000548"/>
            </a:xfrm>
            <a:prstGeom prst="rect">
              <a:avLst/>
            </a:prstGeom>
            <a:noFill/>
          </p:spPr>
          <p:txBody>
            <a:bodyPr wrap="square" rtlCol="0">
              <a:spAutoFit/>
            </a:bodyPr>
            <a:lstStyle/>
            <a:p>
              <a:r>
                <a:rPr lang="en-US" sz="1600" b="1" dirty="0"/>
                <a:t>Physical agent </a:t>
              </a:r>
            </a:p>
            <a:p>
              <a:endParaRPr lang="en-US" sz="1200" dirty="0"/>
            </a:p>
            <a:p>
              <a:r>
                <a:rPr lang="en-US" sz="1200" dirty="0"/>
                <a:t>has an event loop:</a:t>
              </a:r>
            </a:p>
            <a:p>
              <a:pPr marL="285750" indent="-285750">
                <a:buFont typeface="Arial" panose="020B0604020202020204" pitchFamily="34" charset="0"/>
                <a:buChar char="•"/>
              </a:pPr>
              <a:r>
                <a:rPr lang="en-US" sz="1200" dirty="0"/>
                <a:t>Read sensors</a:t>
              </a:r>
            </a:p>
            <a:p>
              <a:pPr marL="285750" indent="-285750">
                <a:buFont typeface="Arial" panose="020B0604020202020204" pitchFamily="34" charset="0"/>
                <a:buChar char="•"/>
              </a:pPr>
              <a:r>
                <a:rPr lang="en-US" sz="1200" dirty="0"/>
                <a:t>Call agent function</a:t>
              </a:r>
            </a:p>
            <a:p>
              <a:pPr marL="285750" indent="-285750">
                <a:buFont typeface="Arial" panose="020B0604020202020204" pitchFamily="34" charset="0"/>
                <a:buChar char="•"/>
              </a:pPr>
              <a:r>
                <a:rPr lang="en-US" sz="1200" dirty="0"/>
                <a:t>Execute action in the physical environment</a:t>
              </a:r>
            </a:p>
            <a:p>
              <a:pPr marL="285750" indent="-285750">
                <a:buFont typeface="Arial" panose="020B0604020202020204" pitchFamily="34" charset="0"/>
                <a:buChar char="•"/>
              </a:pPr>
              <a:r>
                <a:rPr lang="en-US" sz="1200" dirty="0"/>
                <a:t>Repeat</a:t>
              </a:r>
            </a:p>
          </p:txBody>
        </p:sp>
        <p:sp>
          <p:nvSpPr>
            <p:cNvPr id="67" name="TextBox 66">
              <a:extLst>
                <a:ext uri="{FF2B5EF4-FFF2-40B4-BE49-F238E27FC236}">
                  <a16:creationId xmlns:a16="http://schemas.microsoft.com/office/drawing/2014/main" id="{E2D8A0B5-2575-659B-3EB2-DB7A163D7D89}"/>
                </a:ext>
              </a:extLst>
            </p:cNvPr>
            <p:cNvSpPr txBox="1"/>
            <p:nvPr/>
          </p:nvSpPr>
          <p:spPr>
            <a:xfrm rot="3894451">
              <a:off x="3599472" y="2892076"/>
              <a:ext cx="912202" cy="415498"/>
            </a:xfrm>
            <a:prstGeom prst="rect">
              <a:avLst/>
            </a:prstGeom>
            <a:noFill/>
          </p:spPr>
          <p:txBody>
            <a:bodyPr wrap="square" rtlCol="0">
              <a:spAutoFit/>
            </a:bodyPr>
            <a:lstStyle/>
            <a:p>
              <a:pPr algn="ctr"/>
              <a:r>
                <a:rPr lang="en-US" sz="1050" dirty="0"/>
                <a:t>Need  to plan or replan</a:t>
              </a:r>
            </a:p>
          </p:txBody>
        </p:sp>
        <p:sp>
          <p:nvSpPr>
            <p:cNvPr id="68" name="TextBox 67">
              <a:extLst>
                <a:ext uri="{FF2B5EF4-FFF2-40B4-BE49-F238E27FC236}">
                  <a16:creationId xmlns:a16="http://schemas.microsoft.com/office/drawing/2014/main" id="{A03AB979-D3AE-7A42-908A-FCE005D22F76}"/>
                </a:ext>
              </a:extLst>
            </p:cNvPr>
            <p:cNvSpPr txBox="1"/>
            <p:nvPr/>
          </p:nvSpPr>
          <p:spPr>
            <a:xfrm rot="18182195">
              <a:off x="3389483" y="4406195"/>
              <a:ext cx="912202" cy="415498"/>
            </a:xfrm>
            <a:prstGeom prst="rect">
              <a:avLst/>
            </a:prstGeom>
            <a:noFill/>
          </p:spPr>
          <p:txBody>
            <a:bodyPr wrap="square" rtlCol="0">
              <a:spAutoFit/>
            </a:bodyPr>
            <a:lstStyle/>
            <a:p>
              <a:pPr algn="ctr"/>
              <a:r>
                <a:rPr lang="en-US" sz="1050" dirty="0"/>
                <a:t>Follow the plan</a:t>
              </a:r>
            </a:p>
          </p:txBody>
        </p:sp>
        <p:sp>
          <p:nvSpPr>
            <p:cNvPr id="69" name="TextBox 68">
              <a:extLst>
                <a:ext uri="{FF2B5EF4-FFF2-40B4-BE49-F238E27FC236}">
                  <a16:creationId xmlns:a16="http://schemas.microsoft.com/office/drawing/2014/main" id="{375EE33E-FB2C-721F-EF76-2A3EC3DE72A8}"/>
                </a:ext>
              </a:extLst>
            </p:cNvPr>
            <p:cNvSpPr txBox="1"/>
            <p:nvPr/>
          </p:nvSpPr>
          <p:spPr>
            <a:xfrm>
              <a:off x="4607549" y="3001602"/>
              <a:ext cx="726737" cy="276999"/>
            </a:xfrm>
            <a:prstGeom prst="rect">
              <a:avLst/>
            </a:prstGeom>
            <a:noFill/>
          </p:spPr>
          <p:txBody>
            <a:bodyPr wrap="none" rtlCol="0">
              <a:spAutoFit/>
            </a:bodyPr>
            <a:lstStyle/>
            <a:p>
              <a:r>
                <a:rPr lang="en-US" sz="1200" dirty="0"/>
                <a:t>percepts</a:t>
              </a:r>
            </a:p>
          </p:txBody>
        </p:sp>
        <p:sp>
          <p:nvSpPr>
            <p:cNvPr id="70" name="TextBox 69">
              <a:extLst>
                <a:ext uri="{FF2B5EF4-FFF2-40B4-BE49-F238E27FC236}">
                  <a16:creationId xmlns:a16="http://schemas.microsoft.com/office/drawing/2014/main" id="{E3E2FC15-F2AD-3226-002B-6DD69A27664D}"/>
                </a:ext>
              </a:extLst>
            </p:cNvPr>
            <p:cNvSpPr txBox="1"/>
            <p:nvPr/>
          </p:nvSpPr>
          <p:spPr>
            <a:xfrm>
              <a:off x="4591957" y="4237669"/>
              <a:ext cx="572593" cy="461665"/>
            </a:xfrm>
            <a:prstGeom prst="rect">
              <a:avLst/>
            </a:prstGeom>
            <a:noFill/>
          </p:spPr>
          <p:txBody>
            <a:bodyPr wrap="none" rtlCol="0">
              <a:spAutoFit/>
            </a:bodyPr>
            <a:lstStyle/>
            <a:p>
              <a:pPr algn="ctr"/>
              <a:r>
                <a:rPr lang="en-US" sz="1200" dirty="0"/>
                <a:t>next </a:t>
              </a:r>
              <a:br>
                <a:rPr lang="en-US" sz="1200" dirty="0"/>
              </a:br>
              <a:r>
                <a:rPr lang="en-US" sz="1200" dirty="0"/>
                <a:t>action</a:t>
              </a:r>
            </a:p>
          </p:txBody>
        </p:sp>
        <p:sp>
          <p:nvSpPr>
            <p:cNvPr id="71" name="TextBox 70">
              <a:extLst>
                <a:ext uri="{FF2B5EF4-FFF2-40B4-BE49-F238E27FC236}">
                  <a16:creationId xmlns:a16="http://schemas.microsoft.com/office/drawing/2014/main" id="{75455819-E475-3473-AEA6-95B408637968}"/>
                </a:ext>
              </a:extLst>
            </p:cNvPr>
            <p:cNvSpPr txBox="1"/>
            <p:nvPr/>
          </p:nvSpPr>
          <p:spPr>
            <a:xfrm>
              <a:off x="5456762" y="2423478"/>
              <a:ext cx="970137" cy="276999"/>
            </a:xfrm>
            <a:prstGeom prst="rect">
              <a:avLst/>
            </a:prstGeom>
            <a:noFill/>
          </p:spPr>
          <p:txBody>
            <a:bodyPr wrap="none" rtlCol="0">
              <a:spAutoFit/>
            </a:bodyPr>
            <a:lstStyle/>
            <a:p>
              <a:r>
                <a:rPr lang="en-US" sz="1200" dirty="0"/>
                <a:t>Sensor input</a:t>
              </a:r>
            </a:p>
          </p:txBody>
        </p:sp>
        <p:sp>
          <p:nvSpPr>
            <p:cNvPr id="72" name="TextBox 71">
              <a:extLst>
                <a:ext uri="{FF2B5EF4-FFF2-40B4-BE49-F238E27FC236}">
                  <a16:creationId xmlns:a16="http://schemas.microsoft.com/office/drawing/2014/main" id="{2614B56B-CD77-296C-B1E6-448390DE68FC}"/>
                </a:ext>
              </a:extLst>
            </p:cNvPr>
            <p:cNvSpPr txBox="1"/>
            <p:nvPr/>
          </p:nvSpPr>
          <p:spPr>
            <a:xfrm>
              <a:off x="5315429" y="4944764"/>
              <a:ext cx="1205522" cy="830997"/>
            </a:xfrm>
            <a:prstGeom prst="rect">
              <a:avLst/>
            </a:prstGeom>
            <a:noFill/>
          </p:spPr>
          <p:txBody>
            <a:bodyPr wrap="square" rtlCol="0">
              <a:spAutoFit/>
            </a:bodyPr>
            <a:lstStyle/>
            <a:p>
              <a:pPr algn="ctr"/>
              <a:r>
                <a:rPr lang="en-US" sz="1200" dirty="0"/>
                <a:t>Execute actions step-by-step  in the physical environment</a:t>
              </a:r>
            </a:p>
          </p:txBody>
        </p:sp>
        <p:sp>
          <p:nvSpPr>
            <p:cNvPr id="73" name="Rectangle 72">
              <a:extLst>
                <a:ext uri="{FF2B5EF4-FFF2-40B4-BE49-F238E27FC236}">
                  <a16:creationId xmlns:a16="http://schemas.microsoft.com/office/drawing/2014/main" id="{8D4F1B72-E637-F0D7-7C26-AC6CB57F21D9}"/>
                </a:ext>
              </a:extLst>
            </p:cNvPr>
            <p:cNvSpPr/>
            <p:nvPr/>
          </p:nvSpPr>
          <p:spPr>
            <a:xfrm>
              <a:off x="2388085" y="3347702"/>
              <a:ext cx="1073323" cy="1828740"/>
            </a:xfrm>
            <a:prstGeom prst="rect">
              <a:avLst/>
            </a:prstGeom>
            <a:noFill/>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sp>
          <p:nvSpPr>
            <p:cNvPr id="74" name="TextBox 73">
              <a:extLst>
                <a:ext uri="{FF2B5EF4-FFF2-40B4-BE49-F238E27FC236}">
                  <a16:creationId xmlns:a16="http://schemas.microsoft.com/office/drawing/2014/main" id="{FEF9495C-D846-7623-5728-7AED271C7AC4}"/>
                </a:ext>
              </a:extLst>
            </p:cNvPr>
            <p:cNvSpPr txBox="1"/>
            <p:nvPr/>
          </p:nvSpPr>
          <p:spPr>
            <a:xfrm>
              <a:off x="2376361" y="3336782"/>
              <a:ext cx="795466" cy="307777"/>
            </a:xfrm>
            <a:prstGeom prst="rect">
              <a:avLst/>
            </a:prstGeom>
            <a:noFill/>
          </p:spPr>
          <p:txBody>
            <a:bodyPr wrap="square" rtlCol="0">
              <a:spAutoFit/>
            </a:bodyPr>
            <a:lstStyle/>
            <a:p>
              <a:r>
                <a:rPr lang="en-US" sz="1400" dirty="0"/>
                <a:t>State</a:t>
              </a:r>
            </a:p>
          </p:txBody>
        </p:sp>
        <p:grpSp>
          <p:nvGrpSpPr>
            <p:cNvPr id="78" name="Group 77">
              <a:extLst>
                <a:ext uri="{FF2B5EF4-FFF2-40B4-BE49-F238E27FC236}">
                  <a16:creationId xmlns:a16="http://schemas.microsoft.com/office/drawing/2014/main" id="{66D5FF0F-4FBC-B030-AAAE-0C75628DC924}"/>
                </a:ext>
              </a:extLst>
            </p:cNvPr>
            <p:cNvGrpSpPr/>
            <p:nvPr/>
          </p:nvGrpSpPr>
          <p:grpSpPr>
            <a:xfrm>
              <a:off x="2627138" y="1395210"/>
              <a:ext cx="698589" cy="814231"/>
              <a:chOff x="1359385" y="1371600"/>
              <a:chExt cx="1022177" cy="1209520"/>
            </a:xfrm>
          </p:grpSpPr>
          <p:pic>
            <p:nvPicPr>
              <p:cNvPr id="7" name="Picture 2">
                <a:extLst>
                  <a:ext uri="{FF2B5EF4-FFF2-40B4-BE49-F238E27FC236}">
                    <a16:creationId xmlns:a16="http://schemas.microsoft.com/office/drawing/2014/main" id="{FC0755DE-063C-ECDE-1711-46875EE34DEB}"/>
                  </a:ext>
                </a:extLst>
              </p:cNvPr>
              <p:cNvPicPr>
                <a:picLocks noChangeAspect="1" noChangeArrowheads="1"/>
              </p:cNvPicPr>
              <p:nvPr/>
            </p:nvPicPr>
            <p:blipFill>
              <a:blip r:embed="rId2" cstate="print">
                <a:extLst>
                  <a:ext uri="{BEBA8EAE-BF5A-486C-A8C5-ECC9F3942E4B}">
                    <a14:imgProps xmlns:a14="http://schemas.microsoft.com/office/drawing/2010/main">
                      <a14:imgLayer r:embed="rId3">
                        <a14:imgEffect>
                          <a14:artisticPencilSketch/>
                        </a14:imgEffect>
                      </a14:imgLayer>
                    </a14:imgProps>
                  </a:ext>
                </a:extLst>
              </a:blip>
              <a:srcRect/>
              <a:stretch>
                <a:fillRect/>
              </a:stretch>
            </p:blipFill>
            <p:spPr bwMode="auto">
              <a:xfrm>
                <a:off x="1505352" y="1462344"/>
                <a:ext cx="746844" cy="746844"/>
              </a:xfrm>
              <a:prstGeom prst="rect">
                <a:avLst/>
              </a:prstGeom>
              <a:noFill/>
              <a:ln w="9525">
                <a:noFill/>
                <a:miter lim="800000"/>
                <a:headEnd/>
                <a:tailEnd/>
              </a:ln>
            </p:spPr>
          </p:pic>
          <p:sp>
            <p:nvSpPr>
              <p:cNvPr id="75" name="Flowchart: Document 74">
                <a:extLst>
                  <a:ext uri="{FF2B5EF4-FFF2-40B4-BE49-F238E27FC236}">
                    <a16:creationId xmlns:a16="http://schemas.microsoft.com/office/drawing/2014/main" id="{A964E517-F8C7-5FEE-1FFC-CA4C4093CD32}"/>
                  </a:ext>
                </a:extLst>
              </p:cNvPr>
              <p:cNvSpPr/>
              <p:nvPr/>
            </p:nvSpPr>
            <p:spPr>
              <a:xfrm>
                <a:off x="1359385" y="1371600"/>
                <a:ext cx="1022177" cy="1209520"/>
              </a:xfrm>
              <a:prstGeom prst="flowChartDocumen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pic>
          <p:nvPicPr>
            <p:cNvPr id="3" name="Picture 2">
              <a:extLst>
                <a:ext uri="{FF2B5EF4-FFF2-40B4-BE49-F238E27FC236}">
                  <a16:creationId xmlns:a16="http://schemas.microsoft.com/office/drawing/2014/main" id="{DC28649C-EF41-DD3B-A5E5-3F6A9950446C}"/>
                </a:ext>
              </a:extLst>
            </p:cNvPr>
            <p:cNvPicPr>
              <a:picLocks noChangeAspect="1" noChangeArrowheads="1"/>
            </p:cNvPicPr>
            <p:nvPr/>
          </p:nvPicPr>
          <p:blipFill>
            <a:blip r:embed="rId2" cstate="print">
              <a:extLst>
                <a:ext uri="{BEBA8EAE-BF5A-486C-A8C5-ECC9F3942E4B}">
                  <a14:imgProps xmlns:a14="http://schemas.microsoft.com/office/drawing/2010/main">
                    <a14:imgLayer r:embed="rId3">
                      <a14:imgEffect>
                        <a14:artisticPencilSketch/>
                      </a14:imgEffect>
                    </a14:imgLayer>
                  </a14:imgProps>
                </a:ext>
              </a:extLst>
            </a:blip>
            <a:srcRect/>
            <a:stretch>
              <a:fillRect/>
            </a:stretch>
          </p:blipFill>
          <p:spPr bwMode="auto">
            <a:xfrm>
              <a:off x="6715161" y="3179744"/>
              <a:ext cx="971478" cy="956912"/>
            </a:xfrm>
            <a:prstGeom prst="rect">
              <a:avLst/>
            </a:prstGeom>
            <a:noFill/>
            <a:ln w="9525">
              <a:noFill/>
              <a:miter lim="800000"/>
              <a:headEnd/>
              <a:tailEnd/>
            </a:ln>
          </p:spPr>
        </p:pic>
      </p:grpSp>
    </p:spTree>
    <p:extLst>
      <p:ext uri="{BB962C8B-B14F-4D97-AF65-F5344CB8AC3E}">
        <p14:creationId xmlns:p14="http://schemas.microsoft.com/office/powerpoint/2010/main" val="3928293013"/>
      </p:ext>
    </p:extLst>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4274" name="Rectangle 2"/>
          <p:cNvSpPr>
            <a:spLocks noGrp="1" noChangeArrowheads="1"/>
          </p:cNvSpPr>
          <p:nvPr>
            <p:ph type="title"/>
          </p:nvPr>
        </p:nvSpPr>
        <p:spPr>
          <a:xfrm>
            <a:off x="736879" y="358746"/>
            <a:ext cx="8229600" cy="868362"/>
          </a:xfrm>
        </p:spPr>
        <p:txBody>
          <a:bodyPr>
            <a:normAutofit fontScale="90000"/>
          </a:bodyPr>
          <a:lstStyle/>
          <a:p>
            <a:r>
              <a:rPr lang="en-US" dirty="0">
                <a:latin typeface="+mn-lt"/>
              </a:rPr>
              <a:t>Summary: </a:t>
            </a:r>
            <a:br>
              <a:rPr lang="en-US" dirty="0">
                <a:latin typeface="+mn-lt"/>
              </a:rPr>
            </a:br>
            <a:r>
              <a:rPr lang="en-US" dirty="0">
                <a:latin typeface="+mn-lt"/>
              </a:rPr>
              <a:t>All Search Strategies</a:t>
            </a:r>
          </a:p>
        </p:txBody>
      </p:sp>
      <mc:AlternateContent xmlns:mc="http://schemas.openxmlformats.org/markup-compatibility/2006" xmlns:a14="http://schemas.microsoft.com/office/drawing/2010/main">
        <mc:Choice Requires="a14">
          <p:graphicFrame>
            <p:nvGraphicFramePr>
              <p:cNvPr id="7" name="Table 6"/>
              <p:cNvGraphicFramePr>
                <a:graphicFrameLocks noGrp="1"/>
              </p:cNvGraphicFramePr>
              <p:nvPr>
                <p:extLst>
                  <p:ext uri="{D42A27DB-BD31-4B8C-83A1-F6EECF244321}">
                    <p14:modId xmlns:p14="http://schemas.microsoft.com/office/powerpoint/2010/main" val="4164794686"/>
                  </p:ext>
                </p:extLst>
              </p:nvPr>
            </p:nvGraphicFramePr>
            <p:xfrm>
              <a:off x="736879" y="1600200"/>
              <a:ext cx="7924800" cy="4970825"/>
            </p:xfrm>
            <a:graphic>
              <a:graphicData uri="http://schemas.openxmlformats.org/drawingml/2006/table">
                <a:tbl>
                  <a:tblPr firstRow="1" bandRow="1">
                    <a:tableStyleId>{5C22544A-7EE6-4342-B048-85BDC9FD1C3A}</a:tableStyleId>
                  </a:tblPr>
                  <a:tblGrid>
                    <a:gridCol w="1584960">
                      <a:extLst>
                        <a:ext uri="{9D8B030D-6E8A-4147-A177-3AD203B41FA5}">
                          <a16:colId xmlns:a16="http://schemas.microsoft.com/office/drawing/2014/main" val="20000"/>
                        </a:ext>
                      </a:extLst>
                    </a:gridCol>
                    <a:gridCol w="1584960">
                      <a:extLst>
                        <a:ext uri="{9D8B030D-6E8A-4147-A177-3AD203B41FA5}">
                          <a16:colId xmlns:a16="http://schemas.microsoft.com/office/drawing/2014/main" val="20001"/>
                        </a:ext>
                      </a:extLst>
                    </a:gridCol>
                    <a:gridCol w="1584960">
                      <a:extLst>
                        <a:ext uri="{9D8B030D-6E8A-4147-A177-3AD203B41FA5}">
                          <a16:colId xmlns:a16="http://schemas.microsoft.com/office/drawing/2014/main" val="20002"/>
                        </a:ext>
                      </a:extLst>
                    </a:gridCol>
                    <a:gridCol w="1584960">
                      <a:extLst>
                        <a:ext uri="{9D8B030D-6E8A-4147-A177-3AD203B41FA5}">
                          <a16:colId xmlns:a16="http://schemas.microsoft.com/office/drawing/2014/main" val="20003"/>
                        </a:ext>
                      </a:extLst>
                    </a:gridCol>
                    <a:gridCol w="1584960">
                      <a:extLst>
                        <a:ext uri="{9D8B030D-6E8A-4147-A177-3AD203B41FA5}">
                          <a16:colId xmlns:a16="http://schemas.microsoft.com/office/drawing/2014/main" val="20004"/>
                        </a:ext>
                      </a:extLst>
                    </a:gridCol>
                  </a:tblGrid>
                  <a:tr h="592125">
                    <a:tc>
                      <a:txBody>
                        <a:bodyPr/>
                        <a:lstStyle/>
                        <a:p>
                          <a:pPr algn="ctr"/>
                          <a:r>
                            <a:rPr lang="en-US" sz="1800" dirty="0"/>
                            <a:t>Algorithm</a:t>
                          </a:r>
                        </a:p>
                      </a:txBody>
                      <a:tcPr anchor="ctr">
                        <a:lnR w="38100" cap="flat" cmpd="sng" algn="ctr">
                          <a:solidFill>
                            <a:schemeClr val="bg1"/>
                          </a:solidFill>
                          <a:prstDash val="solid"/>
                          <a:round/>
                          <a:headEnd type="none" w="med" len="med"/>
                          <a:tailEnd type="none" w="med" len="med"/>
                        </a:lnR>
                      </a:tcPr>
                    </a:tc>
                    <a:tc>
                      <a:txBody>
                        <a:bodyPr/>
                        <a:lstStyle/>
                        <a:p>
                          <a:pPr algn="ctr"/>
                          <a:r>
                            <a:rPr lang="en-US" sz="1800" dirty="0"/>
                            <a:t>Complete?</a:t>
                          </a:r>
                        </a:p>
                      </a:txBody>
                      <a:tcPr anchor="ctr">
                        <a:lnL w="38100" cap="flat" cmpd="sng" algn="ctr">
                          <a:solidFill>
                            <a:schemeClr val="bg1"/>
                          </a:solidFill>
                          <a:prstDash val="solid"/>
                          <a:round/>
                          <a:headEnd type="none" w="med" len="med"/>
                          <a:tailEnd type="none" w="med" len="med"/>
                        </a:lnL>
                      </a:tcPr>
                    </a:tc>
                    <a:tc>
                      <a:txBody>
                        <a:bodyPr/>
                        <a:lstStyle/>
                        <a:p>
                          <a:pPr algn="ctr"/>
                          <a:r>
                            <a:rPr lang="en-US" sz="1800" dirty="0"/>
                            <a:t>Optimal?</a:t>
                          </a:r>
                        </a:p>
                      </a:txBody>
                      <a:tcPr anchor="ctr"/>
                    </a:tc>
                    <a:tc>
                      <a:txBody>
                        <a:bodyPr/>
                        <a:lstStyle/>
                        <a:p>
                          <a:pPr algn="ctr"/>
                          <a:r>
                            <a:rPr lang="en-US" sz="1800" dirty="0"/>
                            <a:t>Time complexity</a:t>
                          </a:r>
                        </a:p>
                      </a:txBody>
                      <a:tcPr anchor="ctr"/>
                    </a:tc>
                    <a:tc>
                      <a:txBody>
                        <a:bodyPr/>
                        <a:lstStyle/>
                        <a:p>
                          <a:pPr algn="ctr"/>
                          <a:r>
                            <a:rPr lang="en-US" sz="1800" dirty="0"/>
                            <a:t>Space complexity</a:t>
                          </a:r>
                        </a:p>
                      </a:txBody>
                      <a:tcPr anchor="ctr"/>
                    </a:tc>
                    <a:extLst>
                      <a:ext uri="{0D108BD9-81ED-4DB2-BD59-A6C34878D82A}">
                        <a16:rowId xmlns:a16="http://schemas.microsoft.com/office/drawing/2014/main" val="10000"/>
                      </a:ext>
                    </a:extLst>
                  </a:tr>
                  <a:tr h="627583">
                    <a:tc>
                      <a:txBody>
                        <a:bodyPr/>
                        <a:lstStyle/>
                        <a:p>
                          <a:pPr algn="ctr"/>
                          <a:r>
                            <a:rPr lang="en-US" sz="1800" b="1" dirty="0"/>
                            <a:t>BFS (Breadth-first search)</a:t>
                          </a:r>
                        </a:p>
                      </a:txBody>
                      <a:tcPr anchor="ctr">
                        <a:lnR w="38100" cap="flat" cmpd="sng" algn="ctr">
                          <a:solidFill>
                            <a:schemeClr val="bg1"/>
                          </a:solidFill>
                          <a:prstDash val="solid"/>
                          <a:round/>
                          <a:headEnd type="none" w="med" len="med"/>
                          <a:tailEnd type="none" w="med" len="med"/>
                        </a:lnR>
                      </a:tcPr>
                    </a:tc>
                    <a:tc>
                      <a:txBody>
                        <a:bodyPr/>
                        <a:lstStyle/>
                        <a:p>
                          <a:pPr algn="ctr"/>
                          <a:r>
                            <a:rPr lang="en-US" sz="1600" dirty="0"/>
                            <a:t>Yes</a:t>
                          </a:r>
                        </a:p>
                      </a:txBody>
                      <a:tcPr anchor="ctr">
                        <a:lnL w="38100" cap="flat" cmpd="sng" algn="ctr">
                          <a:solidFill>
                            <a:schemeClr val="bg1"/>
                          </a:solidFill>
                          <a:prstDash val="solid"/>
                          <a:round/>
                          <a:headEnd type="none" w="med" len="med"/>
                          <a:tailEnd type="none" w="med" len="med"/>
                        </a:lnL>
                      </a:tcPr>
                    </a:tc>
                    <a:tc>
                      <a:txBody>
                        <a:bodyPr/>
                        <a:lstStyle/>
                        <a:p>
                          <a:pPr marL="0" marR="0" lvl="0" indent="0" algn="ctr" defTabSz="685800" rtl="0" eaLnBrk="1" fontAlgn="auto" latinLnBrk="0" hangingPunct="1">
                            <a:lnSpc>
                              <a:spcPct val="100000"/>
                            </a:lnSpc>
                            <a:spcBef>
                              <a:spcPts val="0"/>
                            </a:spcBef>
                            <a:spcAft>
                              <a:spcPts val="0"/>
                            </a:spcAft>
                            <a:buClrTx/>
                            <a:buSzTx/>
                            <a:buFontTx/>
                            <a:buNone/>
                            <a:tabLst/>
                            <a:defRPr/>
                          </a:pPr>
                          <a:r>
                            <a:rPr lang="en-US" sz="1600" dirty="0">
                              <a:latin typeface="+mn-lt"/>
                            </a:rPr>
                            <a:t>If all step </a:t>
                          </a:r>
                          <a:br>
                            <a:rPr lang="en-US" sz="1600" dirty="0">
                              <a:latin typeface="+mn-lt"/>
                            </a:rPr>
                          </a:br>
                          <a:r>
                            <a:rPr lang="en-US" sz="1600" dirty="0">
                              <a:latin typeface="+mn-lt"/>
                            </a:rPr>
                            <a:t>costs are equal</a:t>
                          </a:r>
                        </a:p>
                      </a:txBody>
                      <a:tcPr anchor="ctr"/>
                    </a:tc>
                    <a:tc>
                      <a:txBody>
                        <a:bodyPr/>
                        <a:lstStyle/>
                        <a:p>
                          <a:pPr marL="0" marR="0" lvl="0" indent="0" algn="ctr" defTabSz="6858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r>
                                  <a:rPr lang="en-US" sz="1600" i="1" dirty="0" smtClean="0">
                                    <a:latin typeface="Cambria Math" panose="02040503050406030204" pitchFamily="18" charset="0"/>
                                  </a:rPr>
                                  <m:t>𝑂</m:t>
                                </m:r>
                                <m:r>
                                  <a:rPr lang="en-US" sz="1600" i="1" dirty="0" smtClean="0">
                                    <a:latin typeface="Cambria Math" panose="02040503050406030204" pitchFamily="18" charset="0"/>
                                  </a:rPr>
                                  <m:t>(</m:t>
                                </m:r>
                                <m:r>
                                  <a:rPr lang="en-US" sz="1600" i="1" dirty="0" err="1">
                                    <a:latin typeface="Cambria Math" panose="02040503050406030204" pitchFamily="18" charset="0"/>
                                  </a:rPr>
                                  <m:t>𝑏</m:t>
                                </m:r>
                                <m:r>
                                  <a:rPr lang="en-US" sz="1600" i="1" baseline="30000" dirty="0" err="1">
                                    <a:latin typeface="Cambria Math" panose="02040503050406030204" pitchFamily="18" charset="0"/>
                                  </a:rPr>
                                  <m:t>𝑑</m:t>
                                </m:r>
                                <m:r>
                                  <a:rPr lang="en-US" sz="1600" i="1" dirty="0">
                                    <a:latin typeface="Cambria Math" panose="02040503050406030204" pitchFamily="18" charset="0"/>
                                  </a:rPr>
                                  <m:t>)</m:t>
                                </m:r>
                              </m:oMath>
                            </m:oMathPara>
                          </a14:m>
                          <a:endParaRPr lang="en-US" sz="1600" dirty="0">
                            <a:latin typeface="+mn-lt"/>
                          </a:endParaRPr>
                        </a:p>
                      </a:txBody>
                      <a:tcPr anchor="ctr"/>
                    </a:tc>
                    <a:tc>
                      <a:txBody>
                        <a:bodyPr/>
                        <a:lstStyle/>
                        <a:p>
                          <a:pPr marL="0" marR="0" lvl="0" indent="0" algn="ctr" defTabSz="6858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r>
                                  <a:rPr lang="en-US" sz="1600" i="1" dirty="0" smtClean="0">
                                    <a:latin typeface="Cambria Math" panose="02040503050406030204" pitchFamily="18" charset="0"/>
                                  </a:rPr>
                                  <m:t>𝑂</m:t>
                                </m:r>
                                <m:r>
                                  <a:rPr lang="en-US" sz="1600" i="1" dirty="0" smtClean="0">
                                    <a:latin typeface="Cambria Math" panose="02040503050406030204" pitchFamily="18" charset="0"/>
                                  </a:rPr>
                                  <m:t>(</m:t>
                                </m:r>
                                <m:r>
                                  <a:rPr lang="en-US" sz="1600" i="1" dirty="0" err="1">
                                    <a:latin typeface="Cambria Math" panose="02040503050406030204" pitchFamily="18" charset="0"/>
                                  </a:rPr>
                                  <m:t>𝑏</m:t>
                                </m:r>
                                <m:r>
                                  <a:rPr lang="en-US" sz="1600" i="1" baseline="30000" dirty="0" err="1">
                                    <a:latin typeface="Cambria Math" panose="02040503050406030204" pitchFamily="18" charset="0"/>
                                  </a:rPr>
                                  <m:t>𝑑</m:t>
                                </m:r>
                                <m:r>
                                  <a:rPr lang="en-US" sz="1600" i="1" dirty="0">
                                    <a:latin typeface="Cambria Math" panose="02040503050406030204" pitchFamily="18" charset="0"/>
                                  </a:rPr>
                                  <m:t>)</m:t>
                                </m:r>
                              </m:oMath>
                            </m:oMathPara>
                          </a14:m>
                          <a:endParaRPr lang="en-US" sz="1600" dirty="0">
                            <a:latin typeface="+mn-lt"/>
                          </a:endParaRPr>
                        </a:p>
                      </a:txBody>
                      <a:tcPr anchor="ctr"/>
                    </a:tc>
                    <a:extLst>
                      <a:ext uri="{0D108BD9-81ED-4DB2-BD59-A6C34878D82A}">
                        <a16:rowId xmlns:a16="http://schemas.microsoft.com/office/drawing/2014/main" val="10001"/>
                      </a:ext>
                    </a:extLst>
                  </a:tr>
                  <a:tr h="673257">
                    <a:tc>
                      <a:txBody>
                        <a:bodyPr/>
                        <a:lstStyle/>
                        <a:p>
                          <a:pPr algn="ctr"/>
                          <a:r>
                            <a:rPr lang="en-US" sz="1800" b="1" dirty="0"/>
                            <a:t>Uniform-cost</a:t>
                          </a:r>
                          <a:br>
                            <a:rPr lang="en-US" sz="1800" b="1" dirty="0"/>
                          </a:br>
                          <a:r>
                            <a:rPr lang="en-US" sz="1800" b="1" dirty="0"/>
                            <a:t>Search</a:t>
                          </a:r>
                        </a:p>
                      </a:txBody>
                      <a:tcPr anchor="ctr">
                        <a:lnR w="38100" cap="flat" cmpd="sng" algn="ctr">
                          <a:solidFill>
                            <a:schemeClr val="bg1"/>
                          </a:solidFill>
                          <a:prstDash val="solid"/>
                          <a:round/>
                          <a:headEnd type="none" w="med" len="med"/>
                          <a:tailEnd type="none" w="med" len="med"/>
                        </a:lnR>
                      </a:tcPr>
                    </a:tc>
                    <a:tc>
                      <a:txBody>
                        <a:bodyPr/>
                        <a:lstStyle/>
                        <a:p>
                          <a:pPr algn="ctr"/>
                          <a:r>
                            <a:rPr lang="en-US" sz="1600" dirty="0"/>
                            <a:t>Yes</a:t>
                          </a:r>
                        </a:p>
                      </a:txBody>
                      <a:tcPr anchor="ctr">
                        <a:lnL w="38100" cap="flat" cmpd="sng" algn="ctr">
                          <a:solidFill>
                            <a:schemeClr val="bg1"/>
                          </a:solidFill>
                          <a:prstDash val="solid"/>
                          <a:round/>
                          <a:headEnd type="none" w="med" len="med"/>
                          <a:tailEnd type="none" w="med" len="med"/>
                        </a:lnL>
                      </a:tcPr>
                    </a:tc>
                    <a:tc>
                      <a:txBody>
                        <a:bodyPr/>
                        <a:lstStyle/>
                        <a:p>
                          <a:pPr algn="ctr"/>
                          <a:r>
                            <a:rPr lang="en-US" sz="1600" dirty="0"/>
                            <a:t>Yes</a:t>
                          </a:r>
                        </a:p>
                      </a:txBody>
                      <a:tcPr anchor="ctr"/>
                    </a:tc>
                    <a:tc gridSpan="2">
                      <a:txBody>
                        <a:bodyPr/>
                        <a:lstStyle/>
                        <a:p>
                          <a:pPr marL="0" marR="0" lvl="0" indent="0" algn="ctr" defTabSz="685800" rtl="0" eaLnBrk="1" fontAlgn="auto" latinLnBrk="0" hangingPunct="1">
                            <a:lnSpc>
                              <a:spcPct val="100000"/>
                            </a:lnSpc>
                            <a:spcBef>
                              <a:spcPts val="0"/>
                            </a:spcBef>
                            <a:spcAft>
                              <a:spcPts val="0"/>
                            </a:spcAft>
                            <a:buClrTx/>
                            <a:buSzTx/>
                            <a:buFontTx/>
                            <a:buNone/>
                            <a:tabLst/>
                            <a:defRPr/>
                          </a:pPr>
                          <a:r>
                            <a:rPr lang="en-US" sz="1600" dirty="0">
                              <a:latin typeface="+mn-lt"/>
                            </a:rPr>
                            <a:t>Number of nodes with </a:t>
                          </a:r>
                          <a14:m>
                            <m:oMath xmlns:m="http://schemas.openxmlformats.org/officeDocument/2006/math">
                              <m:r>
                                <a:rPr lang="en-US" sz="1600" i="1" dirty="0" smtClean="0">
                                  <a:latin typeface="Cambria Math" panose="02040503050406030204" pitchFamily="18" charset="0"/>
                                </a:rPr>
                                <m:t>𝑔</m:t>
                              </m:r>
                              <m:r>
                                <a:rPr lang="en-US" sz="1600" i="1" dirty="0" smtClean="0">
                                  <a:latin typeface="Cambria Math" panose="02040503050406030204" pitchFamily="18" charset="0"/>
                                </a:rPr>
                                <m:t>(</m:t>
                              </m:r>
                              <m:r>
                                <a:rPr lang="en-US" sz="1600" i="1" dirty="0" smtClean="0">
                                  <a:latin typeface="Cambria Math" panose="02040503050406030204" pitchFamily="18" charset="0"/>
                                </a:rPr>
                                <m:t>𝑛</m:t>
                              </m:r>
                              <m:r>
                                <a:rPr lang="en-US" sz="1600" i="1" dirty="0" smtClean="0">
                                  <a:latin typeface="Cambria Math" panose="02040503050406030204" pitchFamily="18" charset="0"/>
                                </a:rPr>
                                <m:t>) ≤ </m:t>
                              </m:r>
                              <m:sSup>
                                <m:sSupPr>
                                  <m:ctrlPr>
                                    <a:rPr lang="en-US" sz="1600" b="0" i="1" dirty="0" smtClean="0">
                                      <a:latin typeface="Cambria Math" panose="02040503050406030204" pitchFamily="18" charset="0"/>
                                      <a:cs typeface="Arial" pitchFamily="34" charset="0"/>
                                    </a:rPr>
                                  </m:ctrlPr>
                                </m:sSupPr>
                                <m:e>
                                  <m:r>
                                    <a:rPr lang="en-US" sz="1600" i="1" dirty="0">
                                      <a:latin typeface="Cambria Math" panose="02040503050406030204" pitchFamily="18" charset="0"/>
                                    </a:rPr>
                                    <m:t>𝐶</m:t>
                                  </m:r>
                                </m:e>
                                <m:sup>
                                  <m:r>
                                    <a:rPr lang="en-US" sz="1600" b="0" i="1" dirty="0" smtClean="0">
                                      <a:latin typeface="Cambria Math" panose="02040503050406030204" pitchFamily="18" charset="0"/>
                                    </a:rPr>
                                    <m:t>∗</m:t>
                                  </m:r>
                                </m:sup>
                              </m:sSup>
                            </m:oMath>
                          </a14:m>
                          <a:endParaRPr lang="en-US" sz="1600" dirty="0">
                            <a:latin typeface="+mn-lt"/>
                          </a:endParaRPr>
                        </a:p>
                      </a:txBody>
                      <a:tcPr anchor="ctr"/>
                    </a:tc>
                    <a:tc hMerge="1">
                      <a:txBody>
                        <a:bodyPr/>
                        <a:lstStyle/>
                        <a:p>
                          <a:endParaRPr lang="en-US" dirty="0"/>
                        </a:p>
                      </a:txBody>
                      <a:tcPr anchor="ctr"/>
                    </a:tc>
                    <a:extLst>
                      <a:ext uri="{0D108BD9-81ED-4DB2-BD59-A6C34878D82A}">
                        <a16:rowId xmlns:a16="http://schemas.microsoft.com/office/drawing/2014/main" val="10002"/>
                      </a:ext>
                    </a:extLst>
                  </a:tr>
                  <a:tr h="698004">
                    <a:tc>
                      <a:txBody>
                        <a:bodyPr/>
                        <a:lstStyle/>
                        <a:p>
                          <a:pPr algn="ctr"/>
                          <a:r>
                            <a:rPr lang="en-US" sz="1800" b="1" dirty="0"/>
                            <a:t>DFS</a:t>
                          </a:r>
                        </a:p>
                      </a:txBody>
                      <a:tcPr anchor="ctr">
                        <a:lnR w="38100" cap="flat" cmpd="sng" algn="ctr">
                          <a:solidFill>
                            <a:schemeClr val="bg1"/>
                          </a:solidFill>
                          <a:prstDash val="solid"/>
                          <a:round/>
                          <a:headEnd type="none" w="med" len="med"/>
                          <a:tailEnd type="none" w="med" len="med"/>
                        </a:lnR>
                      </a:tcPr>
                    </a:tc>
                    <a:tc>
                      <a:txBody>
                        <a:bodyPr/>
                        <a:lstStyle/>
                        <a:p>
                          <a:pPr marL="0" marR="0" lvl="0" indent="0" algn="ctr" defTabSz="685800" rtl="0" eaLnBrk="1" fontAlgn="auto" latinLnBrk="0" hangingPunct="1">
                            <a:lnSpc>
                              <a:spcPct val="100000"/>
                            </a:lnSpc>
                            <a:spcBef>
                              <a:spcPts val="0"/>
                            </a:spcBef>
                            <a:spcAft>
                              <a:spcPts val="0"/>
                            </a:spcAft>
                            <a:buClrTx/>
                            <a:buSzTx/>
                            <a:buFontTx/>
                            <a:buNone/>
                            <a:tabLst/>
                            <a:defRPr/>
                          </a:pPr>
                          <a:r>
                            <a:rPr lang="en-US" sz="1600" dirty="0">
                              <a:latin typeface="+mn-lt"/>
                            </a:rPr>
                            <a:t>In finite spaces </a:t>
                          </a:r>
                          <a:br>
                            <a:rPr lang="en-US" sz="1600" dirty="0">
                              <a:latin typeface="+mn-lt"/>
                            </a:rPr>
                          </a:br>
                          <a:r>
                            <a:rPr lang="en-US" sz="1600" dirty="0">
                              <a:latin typeface="+mn-lt"/>
                            </a:rPr>
                            <a:t>(cycles checking)</a:t>
                          </a:r>
                        </a:p>
                        <a:p>
                          <a:pPr algn="ctr"/>
                          <a:endParaRPr lang="en-US" sz="1600" dirty="0"/>
                        </a:p>
                      </a:txBody>
                      <a:tcPr anchor="ctr">
                        <a:lnL w="38100" cap="flat" cmpd="sng" algn="ctr">
                          <a:solidFill>
                            <a:schemeClr val="bg1"/>
                          </a:solidFill>
                          <a:prstDash val="solid"/>
                          <a:round/>
                          <a:headEnd type="none" w="med" len="med"/>
                          <a:tailEnd type="none" w="med" len="med"/>
                        </a:lnL>
                      </a:tcPr>
                    </a:tc>
                    <a:tc>
                      <a:txBody>
                        <a:bodyPr/>
                        <a:lstStyle/>
                        <a:p>
                          <a:pPr algn="ctr"/>
                          <a:r>
                            <a:rPr lang="en-US" sz="1600" b="1" dirty="0"/>
                            <a:t>No</a:t>
                          </a:r>
                        </a:p>
                      </a:txBody>
                      <a:tcPr anchor="ctr"/>
                    </a:tc>
                    <a:tc>
                      <a:txBody>
                        <a:bodyPr/>
                        <a:lstStyle/>
                        <a:p>
                          <a:pPr marL="0" marR="0" lvl="0" indent="0" algn="ctr" defTabSz="6858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r>
                                  <a:rPr lang="en-US" sz="1600" i="1" dirty="0" smtClean="0">
                                    <a:latin typeface="Cambria Math" panose="02040503050406030204" pitchFamily="18" charset="0"/>
                                  </a:rPr>
                                  <m:t>𝑂</m:t>
                                </m:r>
                                <m:r>
                                  <a:rPr lang="en-US" sz="1600" i="1" dirty="0" smtClean="0">
                                    <a:latin typeface="Cambria Math" panose="02040503050406030204" pitchFamily="18" charset="0"/>
                                  </a:rPr>
                                  <m:t>(</m:t>
                                </m:r>
                                <m:r>
                                  <a:rPr lang="en-US" sz="1600" i="1" dirty="0" err="1">
                                    <a:latin typeface="Cambria Math" panose="02040503050406030204" pitchFamily="18" charset="0"/>
                                  </a:rPr>
                                  <m:t>𝑏</m:t>
                                </m:r>
                                <m:r>
                                  <a:rPr lang="en-US" sz="1600" i="1" baseline="30000" dirty="0" err="1">
                                    <a:latin typeface="Cambria Math" panose="02040503050406030204" pitchFamily="18" charset="0"/>
                                  </a:rPr>
                                  <m:t>𝑚</m:t>
                                </m:r>
                                <m:r>
                                  <a:rPr lang="en-US" sz="1600" i="1" dirty="0">
                                    <a:latin typeface="Cambria Math" panose="02040503050406030204" pitchFamily="18" charset="0"/>
                                  </a:rPr>
                                  <m:t>)</m:t>
                                </m:r>
                              </m:oMath>
                            </m:oMathPara>
                          </a14:m>
                          <a:endParaRPr lang="en-US" sz="1600" dirty="0">
                            <a:latin typeface="+mn-lt"/>
                          </a:endParaRPr>
                        </a:p>
                      </a:txBody>
                      <a:tcPr anchor="ctr"/>
                    </a:tc>
                    <a:tc>
                      <a:txBody>
                        <a:bodyPr/>
                        <a:lstStyle/>
                        <a:p>
                          <a:pPr marL="0" marR="0" lvl="0" indent="0" algn="ctr" defTabSz="6858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r>
                                  <a:rPr lang="en-US" sz="1600" i="1" dirty="0" smtClean="0">
                                    <a:latin typeface="Cambria Math" panose="02040503050406030204" pitchFamily="18" charset="0"/>
                                  </a:rPr>
                                  <m:t>𝑂</m:t>
                                </m:r>
                                <m:r>
                                  <a:rPr lang="en-US" sz="1600" i="1" dirty="0" smtClean="0">
                                    <a:latin typeface="Cambria Math" panose="02040503050406030204" pitchFamily="18" charset="0"/>
                                  </a:rPr>
                                  <m:t>(</m:t>
                                </m:r>
                                <m:r>
                                  <a:rPr lang="en-US" sz="1600" i="1" dirty="0" err="1">
                                    <a:latin typeface="Cambria Math" panose="02040503050406030204" pitchFamily="18" charset="0"/>
                                  </a:rPr>
                                  <m:t>𝑏𝑚</m:t>
                                </m:r>
                                <m:r>
                                  <a:rPr lang="en-US" sz="1600" i="1" dirty="0">
                                    <a:latin typeface="Cambria Math" panose="02040503050406030204" pitchFamily="18" charset="0"/>
                                  </a:rPr>
                                  <m:t>)</m:t>
                                </m:r>
                              </m:oMath>
                            </m:oMathPara>
                          </a14:m>
                          <a:endParaRPr lang="en-US" sz="1600" dirty="0">
                            <a:latin typeface="+mn-lt"/>
                          </a:endParaRPr>
                        </a:p>
                      </a:txBody>
                      <a:tcPr anchor="ctr"/>
                    </a:tc>
                    <a:extLst>
                      <a:ext uri="{0D108BD9-81ED-4DB2-BD59-A6C34878D82A}">
                        <a16:rowId xmlns:a16="http://schemas.microsoft.com/office/drawing/2014/main" val="10003"/>
                      </a:ext>
                    </a:extLst>
                  </a:tr>
                  <a:tr h="685744">
                    <a:tc>
                      <a:txBody>
                        <a:bodyPr/>
                        <a:lstStyle/>
                        <a:p>
                          <a:pPr algn="ctr"/>
                          <a:r>
                            <a:rPr lang="en-US" sz="1800" b="1" dirty="0"/>
                            <a:t>IDS</a:t>
                          </a:r>
                        </a:p>
                      </a:txBody>
                      <a:tcPr anchor="ctr">
                        <a:lnR w="38100" cap="flat" cmpd="sng" algn="ctr">
                          <a:solidFill>
                            <a:schemeClr val="bg1"/>
                          </a:solidFill>
                          <a:prstDash val="solid"/>
                          <a:round/>
                          <a:headEnd type="none" w="med" len="med"/>
                          <a:tailEnd type="none" w="med" len="med"/>
                        </a:lnR>
                        <a:lnB w="38100" cap="flat" cmpd="sng" algn="ctr">
                          <a:solidFill>
                            <a:schemeClr val="tx1"/>
                          </a:solidFill>
                          <a:prstDash val="solid"/>
                          <a:round/>
                          <a:headEnd type="none" w="med" len="med"/>
                          <a:tailEnd type="none" w="med" len="med"/>
                        </a:lnB>
                      </a:tcPr>
                    </a:tc>
                    <a:tc>
                      <a:txBody>
                        <a:bodyPr/>
                        <a:lstStyle/>
                        <a:p>
                          <a:pPr algn="ctr"/>
                          <a:r>
                            <a:rPr lang="en-US" sz="1600" dirty="0"/>
                            <a:t>Yes</a:t>
                          </a:r>
                        </a:p>
                      </a:txBody>
                      <a:tcPr anchor="ctr">
                        <a:lnL w="38100" cap="flat" cmpd="sng" algn="ctr">
                          <a:solidFill>
                            <a:schemeClr val="bg1"/>
                          </a:solidFill>
                          <a:prstDash val="solid"/>
                          <a:round/>
                          <a:headEnd type="none" w="med" len="med"/>
                          <a:tailEnd type="none" w="med" len="med"/>
                        </a:lnL>
                        <a:lnB w="38100" cap="flat" cmpd="sng" algn="ctr">
                          <a:solidFill>
                            <a:schemeClr val="tx1"/>
                          </a:solidFill>
                          <a:prstDash val="solid"/>
                          <a:round/>
                          <a:headEnd type="none" w="med" len="med"/>
                          <a:tailEnd type="none" w="med" len="med"/>
                        </a:lnB>
                      </a:tcPr>
                    </a:tc>
                    <a:tc>
                      <a:txBody>
                        <a:bodyPr/>
                        <a:lstStyle/>
                        <a:p>
                          <a:pPr marL="0" marR="0" lvl="0" indent="0" algn="ctr" defTabSz="685800" rtl="0" eaLnBrk="1" fontAlgn="auto" latinLnBrk="0" hangingPunct="1">
                            <a:lnSpc>
                              <a:spcPct val="100000"/>
                            </a:lnSpc>
                            <a:spcBef>
                              <a:spcPts val="0"/>
                            </a:spcBef>
                            <a:spcAft>
                              <a:spcPts val="0"/>
                            </a:spcAft>
                            <a:buClrTx/>
                            <a:buSzTx/>
                            <a:buFontTx/>
                            <a:buNone/>
                            <a:tabLst/>
                            <a:defRPr/>
                          </a:pPr>
                          <a:r>
                            <a:rPr lang="en-US" sz="1600" dirty="0">
                              <a:latin typeface="+mn-lt"/>
                            </a:rPr>
                            <a:t>If all step </a:t>
                          </a:r>
                          <a:br>
                            <a:rPr lang="en-US" sz="1600" dirty="0">
                              <a:latin typeface="+mn-lt"/>
                            </a:rPr>
                          </a:br>
                          <a:r>
                            <a:rPr lang="en-US" sz="1600" dirty="0">
                              <a:latin typeface="+mn-lt"/>
                            </a:rPr>
                            <a:t>costs are equal</a:t>
                          </a:r>
                        </a:p>
                      </a:txBody>
                      <a:tcPr anchor="ctr">
                        <a:lnB w="38100" cap="flat" cmpd="sng" algn="ctr">
                          <a:solidFill>
                            <a:schemeClr val="tx1"/>
                          </a:solidFill>
                          <a:prstDash val="solid"/>
                          <a:round/>
                          <a:headEnd type="none" w="med" len="med"/>
                          <a:tailEnd type="none" w="med" len="med"/>
                        </a:lnB>
                      </a:tcPr>
                    </a:tc>
                    <a:tc>
                      <a:txBody>
                        <a:bodyPr/>
                        <a:lstStyle/>
                        <a:p>
                          <a:pPr marL="0" marR="0" lvl="0" indent="0" algn="ctr" defTabSz="6858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r>
                                  <a:rPr lang="en-US" sz="1600" i="1" dirty="0" smtClean="0">
                                    <a:latin typeface="Cambria Math" panose="02040503050406030204" pitchFamily="18" charset="0"/>
                                  </a:rPr>
                                  <m:t>𝑂</m:t>
                                </m:r>
                                <m:r>
                                  <a:rPr lang="en-US" sz="1600" i="1" dirty="0" smtClean="0">
                                    <a:latin typeface="Cambria Math" panose="02040503050406030204" pitchFamily="18" charset="0"/>
                                  </a:rPr>
                                  <m:t>(</m:t>
                                </m:r>
                                <m:r>
                                  <a:rPr lang="en-US" sz="1600" i="1" dirty="0" err="1">
                                    <a:latin typeface="Cambria Math" panose="02040503050406030204" pitchFamily="18" charset="0"/>
                                  </a:rPr>
                                  <m:t>𝑏</m:t>
                                </m:r>
                                <m:r>
                                  <a:rPr lang="en-US" sz="1600" i="1" baseline="30000" dirty="0" err="1">
                                    <a:latin typeface="Cambria Math" panose="02040503050406030204" pitchFamily="18" charset="0"/>
                                  </a:rPr>
                                  <m:t>𝑑</m:t>
                                </m:r>
                                <m:r>
                                  <a:rPr lang="en-US" sz="1600" i="1" dirty="0">
                                    <a:latin typeface="Cambria Math" panose="02040503050406030204" pitchFamily="18" charset="0"/>
                                  </a:rPr>
                                  <m:t>)</m:t>
                                </m:r>
                              </m:oMath>
                            </m:oMathPara>
                          </a14:m>
                          <a:endParaRPr lang="en-US" sz="1600" dirty="0">
                            <a:latin typeface="+mn-lt"/>
                          </a:endParaRPr>
                        </a:p>
                      </a:txBody>
                      <a:tcPr anchor="ctr">
                        <a:lnB w="38100" cap="flat" cmpd="sng" algn="ctr">
                          <a:solidFill>
                            <a:schemeClr val="tx1"/>
                          </a:solidFill>
                          <a:prstDash val="solid"/>
                          <a:round/>
                          <a:headEnd type="none" w="med" len="med"/>
                          <a:tailEnd type="none" w="med" len="med"/>
                        </a:lnB>
                      </a:tcPr>
                    </a:tc>
                    <a:tc>
                      <a:txBody>
                        <a:bodyPr/>
                        <a:lstStyle/>
                        <a:p>
                          <a:pPr marL="0" marR="0" lvl="0" indent="0" algn="ctr" defTabSz="6858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r>
                                  <a:rPr lang="en-US" sz="1600" i="1" dirty="0" smtClean="0">
                                    <a:latin typeface="Cambria Math" panose="02040503050406030204" pitchFamily="18" charset="0"/>
                                  </a:rPr>
                                  <m:t>𝑂</m:t>
                                </m:r>
                                <m:r>
                                  <a:rPr lang="en-US" sz="1600" i="1" dirty="0" smtClean="0">
                                    <a:latin typeface="Cambria Math" panose="02040503050406030204" pitchFamily="18" charset="0"/>
                                  </a:rPr>
                                  <m:t>(</m:t>
                                </m:r>
                                <m:r>
                                  <a:rPr lang="en-US" sz="1600" i="1" dirty="0" smtClean="0">
                                    <a:latin typeface="Cambria Math" panose="02040503050406030204" pitchFamily="18" charset="0"/>
                                  </a:rPr>
                                  <m:t>𝑏𝑑</m:t>
                                </m:r>
                                <m:r>
                                  <a:rPr lang="en-US" sz="1600" i="1" dirty="0" smtClean="0">
                                    <a:latin typeface="Cambria Math" panose="02040503050406030204" pitchFamily="18" charset="0"/>
                                  </a:rPr>
                                  <m:t>)</m:t>
                                </m:r>
                              </m:oMath>
                            </m:oMathPara>
                          </a14:m>
                          <a:endParaRPr lang="en-US" sz="1600" dirty="0">
                            <a:latin typeface="+mn-lt"/>
                          </a:endParaRPr>
                        </a:p>
                      </a:txBody>
                      <a:tcPr anchor="ctr">
                        <a:lnB w="381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4"/>
                      </a:ext>
                    </a:extLst>
                  </a:tr>
                  <a:tr h="685744">
                    <a:tc>
                      <a:txBody>
                        <a:bodyPr/>
                        <a:lstStyle/>
                        <a:p>
                          <a:pPr algn="ctr"/>
                          <a:r>
                            <a:rPr lang="en-US" sz="1800" b="1" dirty="0"/>
                            <a:t>Greedy best-first Search</a:t>
                          </a:r>
                        </a:p>
                      </a:txBody>
                      <a:tcPr anchor="ctr">
                        <a:lnR w="38100" cap="flat" cmpd="sng" algn="ctr">
                          <a:solidFill>
                            <a:schemeClr val="bg1"/>
                          </a:solidFill>
                          <a:prstDash val="solid"/>
                          <a:round/>
                          <a:headEnd type="none" w="med" len="med"/>
                          <a:tailEnd type="none" w="med" len="med"/>
                        </a:lnR>
                        <a:lnT w="38100" cap="flat" cmpd="sng" algn="ctr">
                          <a:solidFill>
                            <a:schemeClr val="tx1"/>
                          </a:solidFill>
                          <a:prstDash val="solid"/>
                          <a:round/>
                          <a:headEnd type="none" w="med" len="med"/>
                          <a:tailEnd type="none" w="med" len="med"/>
                        </a:lnT>
                      </a:tcPr>
                    </a:tc>
                    <a:tc>
                      <a:txBody>
                        <a:bodyPr/>
                        <a:lstStyle/>
                        <a:p>
                          <a:pPr marL="0" marR="0" lvl="0" indent="0" algn="ctr" defTabSz="685800" rtl="0" eaLnBrk="1" fontAlgn="auto" latinLnBrk="0" hangingPunct="1">
                            <a:lnSpc>
                              <a:spcPct val="100000"/>
                            </a:lnSpc>
                            <a:spcBef>
                              <a:spcPts val="0"/>
                            </a:spcBef>
                            <a:spcAft>
                              <a:spcPts val="0"/>
                            </a:spcAft>
                            <a:buClrTx/>
                            <a:buSzTx/>
                            <a:buFontTx/>
                            <a:buNone/>
                            <a:tabLst/>
                            <a:defRPr/>
                          </a:pPr>
                          <a:r>
                            <a:rPr lang="en-US" sz="1600" dirty="0">
                              <a:latin typeface="+mn-lt"/>
                            </a:rPr>
                            <a:t>In finite spaces </a:t>
                          </a:r>
                          <a:br>
                            <a:rPr lang="en-US" sz="1600" dirty="0">
                              <a:latin typeface="+mn-lt"/>
                            </a:rPr>
                          </a:br>
                          <a:r>
                            <a:rPr lang="en-US" sz="1600" dirty="0">
                              <a:latin typeface="+mn-lt"/>
                            </a:rPr>
                            <a:t>(cycles checking)</a:t>
                          </a:r>
                        </a:p>
                        <a:p>
                          <a:pPr algn="ctr"/>
                          <a:endParaRPr lang="en-US" sz="1600" dirty="0"/>
                        </a:p>
                      </a:txBody>
                      <a:tcPr anchor="ctr">
                        <a:lnL w="38100" cap="flat" cmpd="sng" algn="ctr">
                          <a:solidFill>
                            <a:schemeClr val="bg1"/>
                          </a:solidFill>
                          <a:prstDash val="solid"/>
                          <a:round/>
                          <a:headEnd type="none" w="med" len="med"/>
                          <a:tailEnd type="none" w="med" len="med"/>
                        </a:lnL>
                        <a:lnT w="38100" cap="flat" cmpd="sng" algn="ctr">
                          <a:solidFill>
                            <a:schemeClr val="tx1"/>
                          </a:solidFill>
                          <a:prstDash val="solid"/>
                          <a:round/>
                          <a:headEnd type="none" w="med" len="med"/>
                          <a:tailEnd type="none" w="med" len="med"/>
                        </a:lnT>
                      </a:tcPr>
                    </a:tc>
                    <a:tc>
                      <a:txBody>
                        <a:bodyPr/>
                        <a:lstStyle/>
                        <a:p>
                          <a:pPr algn="ctr"/>
                          <a:r>
                            <a:rPr lang="en-US" sz="1600" dirty="0"/>
                            <a:t>No</a:t>
                          </a:r>
                        </a:p>
                      </a:txBody>
                      <a:tcPr anchor="ctr">
                        <a:lnT w="38100" cap="flat" cmpd="sng" algn="ctr">
                          <a:solidFill>
                            <a:schemeClr val="tx1"/>
                          </a:solidFill>
                          <a:prstDash val="solid"/>
                          <a:round/>
                          <a:headEnd type="none" w="med" len="med"/>
                          <a:tailEnd type="none" w="med" len="med"/>
                        </a:lnT>
                      </a:tcPr>
                    </a:tc>
                    <a:tc gridSpan="2">
                      <a:txBody>
                        <a:bodyPr/>
                        <a:lstStyle/>
                        <a:p>
                          <a:pPr algn="ctr"/>
                          <a:r>
                            <a:rPr lang="en-US" sz="1600" dirty="0"/>
                            <a:t>Depends on heuristic</a:t>
                          </a:r>
                          <a:br>
                            <a:rPr lang="en-US" sz="1600" dirty="0"/>
                          </a:br>
                          <a14:m>
                            <m:oMathPara xmlns:m="http://schemas.openxmlformats.org/officeDocument/2006/math">
                              <m:oMathParaPr>
                                <m:jc m:val="center"/>
                              </m:oMathParaPr>
                              <m:oMath xmlns:m="http://schemas.openxmlformats.org/officeDocument/2006/math">
                                <m:r>
                                  <m:rPr>
                                    <m:nor/>
                                  </m:rPr>
                                  <a:rPr lang="en-US" sz="1600" dirty="0" smtClean="0"/>
                                  <m:t>Best</m:t>
                                </m:r>
                                <m:r>
                                  <m:rPr>
                                    <m:nor/>
                                  </m:rPr>
                                  <a:rPr lang="en-US" sz="1600" dirty="0" smtClean="0"/>
                                  <m:t> </m:t>
                                </m:r>
                                <m:r>
                                  <m:rPr>
                                    <m:nor/>
                                  </m:rPr>
                                  <a:rPr lang="en-US" sz="1600" dirty="0" smtClean="0"/>
                                  <m:t>case</m:t>
                                </m:r>
                                <m:r>
                                  <m:rPr>
                                    <m:nor/>
                                  </m:rPr>
                                  <a:rPr lang="en-US" sz="1600" dirty="0" smtClean="0"/>
                                  <m:t>: </m:t>
                                </m:r>
                                <m:r>
                                  <a:rPr lang="en-US" sz="1600" i="1" dirty="0">
                                    <a:latin typeface="Cambria Math" panose="02040503050406030204" pitchFamily="18" charset="0"/>
                                  </a:rPr>
                                  <m:t>𝑂</m:t>
                                </m:r>
                                <m:r>
                                  <a:rPr lang="en-US" sz="1600" i="1" dirty="0">
                                    <a:latin typeface="Cambria Math" panose="02040503050406030204" pitchFamily="18" charset="0"/>
                                  </a:rPr>
                                  <m:t>(</m:t>
                                </m:r>
                                <m:r>
                                  <a:rPr lang="en-US" sz="1600" i="1" dirty="0" err="1">
                                    <a:latin typeface="Cambria Math" panose="02040503050406030204" pitchFamily="18" charset="0"/>
                                  </a:rPr>
                                  <m:t>𝑏𝑑</m:t>
                                </m:r>
                                <m:r>
                                  <a:rPr lang="en-US" sz="1600" i="1" dirty="0">
                                    <a:latin typeface="Cambria Math" panose="02040503050406030204" pitchFamily="18" charset="0"/>
                                  </a:rPr>
                                  <m:t>)</m:t>
                                </m:r>
                              </m:oMath>
                            </m:oMathPara>
                          </a14:m>
                          <a:endParaRPr lang="en-US" sz="1600" dirty="0"/>
                        </a:p>
                        <a:p>
                          <a:pPr algn="ctr"/>
                          <a:r>
                            <a:rPr lang="en-US" sz="1600" dirty="0">
                              <a:latin typeface="+mn-lt"/>
                            </a:rPr>
                            <a:t>Worst case: </a:t>
                          </a:r>
                          <a14:m>
                            <m:oMath xmlns:m="http://schemas.openxmlformats.org/officeDocument/2006/math">
                              <m:r>
                                <a:rPr lang="en-US" sz="1600" i="1" dirty="0" smtClean="0">
                                  <a:latin typeface="Cambria Math" panose="02040503050406030204" pitchFamily="18" charset="0"/>
                                </a:rPr>
                                <m:t>𝑂</m:t>
                              </m:r>
                              <m:d>
                                <m:dPr>
                                  <m:ctrlPr>
                                    <a:rPr lang="en-US" sz="1600" i="1" dirty="0" smtClean="0">
                                      <a:latin typeface="Cambria Math" panose="02040503050406030204" pitchFamily="18" charset="0"/>
                                    </a:rPr>
                                  </m:ctrlPr>
                                </m:dPr>
                                <m:e>
                                  <m:r>
                                    <a:rPr lang="en-US" sz="1600" i="1" dirty="0" err="1">
                                      <a:latin typeface="Cambria Math" panose="02040503050406030204" pitchFamily="18" charset="0"/>
                                    </a:rPr>
                                    <m:t>𝑏</m:t>
                                  </m:r>
                                  <m:r>
                                    <a:rPr lang="en-US" sz="1600" i="1" baseline="30000" dirty="0" err="1">
                                      <a:latin typeface="Cambria Math" panose="02040503050406030204" pitchFamily="18" charset="0"/>
                                    </a:rPr>
                                    <m:t>𝑚</m:t>
                                  </m:r>
                                </m:e>
                              </m:d>
                            </m:oMath>
                          </a14:m>
                          <a:endParaRPr lang="en-US" sz="1600" dirty="0"/>
                        </a:p>
                      </a:txBody>
                      <a:tcPr anchor="ctr">
                        <a:lnT w="38100" cap="flat" cmpd="sng" algn="ctr">
                          <a:solidFill>
                            <a:schemeClr val="tx1"/>
                          </a:solidFill>
                          <a:prstDash val="solid"/>
                          <a:round/>
                          <a:headEnd type="none" w="med" len="med"/>
                          <a:tailEnd type="none" w="med" len="med"/>
                        </a:lnT>
                      </a:tcPr>
                    </a:tc>
                    <a:tc hMerge="1">
                      <a:txBody>
                        <a:bodyPr/>
                        <a:lstStyle/>
                        <a:p>
                          <a:endParaRPr lang="en-US" dirty="0"/>
                        </a:p>
                      </a:txBody>
                      <a:tcPr anchor="ctr">
                        <a:lnT w="38100" cap="flat" cmpd="sng" algn="ctr">
                          <a:solidFill>
                            <a:schemeClr val="tx1"/>
                          </a:solidFill>
                          <a:prstDash val="solid"/>
                          <a:round/>
                          <a:headEnd type="none" w="med" len="med"/>
                          <a:tailEnd type="none" w="med" len="med"/>
                        </a:lnT>
                      </a:tcPr>
                    </a:tc>
                    <a:extLst>
                      <a:ext uri="{0D108BD9-81ED-4DB2-BD59-A6C34878D82A}">
                        <a16:rowId xmlns:a16="http://schemas.microsoft.com/office/drawing/2014/main" val="10005"/>
                      </a:ext>
                    </a:extLst>
                  </a:tr>
                  <a:tr h="685744">
                    <a:tc>
                      <a:txBody>
                        <a:bodyPr/>
                        <a:lstStyle/>
                        <a:p>
                          <a:pPr algn="ctr"/>
                          <a:r>
                            <a:rPr lang="en-US" sz="1800" b="1" dirty="0"/>
                            <a:t>A* Search</a:t>
                          </a:r>
                        </a:p>
                      </a:txBody>
                      <a:tcPr anchor="ctr">
                        <a:lnR w="38100" cap="flat" cmpd="sng" algn="ctr">
                          <a:solidFill>
                            <a:schemeClr val="bg1"/>
                          </a:solidFill>
                          <a:prstDash val="solid"/>
                          <a:round/>
                          <a:headEnd type="none" w="med" len="med"/>
                          <a:tailEnd type="none" w="med" len="med"/>
                        </a:lnR>
                      </a:tcPr>
                    </a:tc>
                    <a:tc>
                      <a:txBody>
                        <a:bodyPr/>
                        <a:lstStyle/>
                        <a:p>
                          <a:pPr algn="ctr"/>
                          <a:r>
                            <a:rPr lang="en-US" sz="1600" dirty="0"/>
                            <a:t>Yes</a:t>
                          </a:r>
                        </a:p>
                      </a:txBody>
                      <a:tcPr anchor="ctr">
                        <a:lnL w="38100" cap="flat" cmpd="sng" algn="ctr">
                          <a:solidFill>
                            <a:schemeClr val="bg1"/>
                          </a:solidFill>
                          <a:prstDash val="solid"/>
                          <a:round/>
                          <a:headEnd type="none" w="med" len="med"/>
                          <a:tailEnd type="none" w="med" len="med"/>
                        </a:lnL>
                      </a:tcPr>
                    </a:tc>
                    <a:tc>
                      <a:txBody>
                        <a:bodyPr/>
                        <a:lstStyle/>
                        <a:p>
                          <a:pPr algn="ctr"/>
                          <a:r>
                            <a:rPr lang="en-US" sz="1600" dirty="0"/>
                            <a:t>Yes</a:t>
                          </a:r>
                        </a:p>
                      </a:txBody>
                      <a:tcPr anchor="ctr"/>
                    </a:tc>
                    <a:tc gridSpan="2">
                      <a:txBody>
                        <a:bodyPr/>
                        <a:lstStyle/>
                        <a:p>
                          <a:pPr marL="0" marR="0" lvl="0" indent="0" algn="ctr" defTabSz="685800" rtl="0" eaLnBrk="1" fontAlgn="auto" latinLnBrk="0" hangingPunct="1">
                            <a:lnSpc>
                              <a:spcPct val="100000"/>
                            </a:lnSpc>
                            <a:spcBef>
                              <a:spcPts val="0"/>
                            </a:spcBef>
                            <a:spcAft>
                              <a:spcPts val="0"/>
                            </a:spcAft>
                            <a:buClrTx/>
                            <a:buSzTx/>
                            <a:buFontTx/>
                            <a:buNone/>
                            <a:tabLst/>
                            <a:defRPr/>
                          </a:pPr>
                          <a:r>
                            <a:rPr lang="en-US" sz="1600" dirty="0">
                              <a:latin typeface="+mn-lt"/>
                            </a:rPr>
                            <a:t>Number of nodes with </a:t>
                          </a:r>
                          <a:br>
                            <a:rPr lang="en-US" sz="1600" dirty="0">
                              <a:latin typeface="+mn-lt"/>
                            </a:rPr>
                          </a:br>
                          <a14:m>
                            <m:oMathPara xmlns:m="http://schemas.openxmlformats.org/officeDocument/2006/math">
                              <m:oMathParaPr>
                                <m:jc m:val="centerGroup"/>
                              </m:oMathParaPr>
                              <m:oMath xmlns:m="http://schemas.openxmlformats.org/officeDocument/2006/math">
                                <m:r>
                                  <a:rPr lang="en-US" sz="1600" i="1" dirty="0" smtClean="0">
                                    <a:latin typeface="Cambria Math" panose="02040503050406030204" pitchFamily="18" charset="0"/>
                                  </a:rPr>
                                  <m:t>𝑔</m:t>
                                </m:r>
                                <m:r>
                                  <a:rPr lang="en-US" sz="1600" i="1" dirty="0" smtClean="0">
                                    <a:latin typeface="Cambria Math" panose="02040503050406030204" pitchFamily="18" charset="0"/>
                                  </a:rPr>
                                  <m:t>(</m:t>
                                </m:r>
                                <m:r>
                                  <a:rPr lang="en-US" sz="1600" i="1" dirty="0" smtClean="0">
                                    <a:latin typeface="Cambria Math" panose="02040503050406030204" pitchFamily="18" charset="0"/>
                                  </a:rPr>
                                  <m:t>𝑛</m:t>
                                </m:r>
                                <m:r>
                                  <a:rPr lang="en-US" sz="1600" i="1" dirty="0" smtClean="0">
                                    <a:latin typeface="Cambria Math" panose="02040503050406030204" pitchFamily="18" charset="0"/>
                                  </a:rPr>
                                  <m:t>)+</m:t>
                                </m:r>
                                <m:r>
                                  <a:rPr lang="en-US" sz="1600" i="1" dirty="0" smtClean="0">
                                    <a:latin typeface="Cambria Math" panose="02040503050406030204" pitchFamily="18" charset="0"/>
                                  </a:rPr>
                                  <m:t>h</m:t>
                                </m:r>
                                <m:r>
                                  <a:rPr lang="en-US" sz="1600" i="1" dirty="0" smtClean="0">
                                    <a:latin typeface="Cambria Math" panose="02040503050406030204" pitchFamily="18" charset="0"/>
                                  </a:rPr>
                                  <m:t>(</m:t>
                                </m:r>
                                <m:r>
                                  <a:rPr lang="en-US" sz="1600" i="1" dirty="0" smtClean="0">
                                    <a:latin typeface="Cambria Math" panose="02040503050406030204" pitchFamily="18" charset="0"/>
                                  </a:rPr>
                                  <m:t>𝑛</m:t>
                                </m:r>
                                <m:r>
                                  <a:rPr lang="en-US" sz="1600" i="1" dirty="0" smtClean="0">
                                    <a:latin typeface="Cambria Math" panose="02040503050406030204" pitchFamily="18" charset="0"/>
                                  </a:rPr>
                                  <m:t>) ≤ </m:t>
                                </m:r>
                                <m:sSup>
                                  <m:sSupPr>
                                    <m:ctrlPr>
                                      <a:rPr lang="en-US" sz="1600" b="0" i="1" dirty="0" smtClean="0">
                                        <a:latin typeface="Cambria Math" panose="02040503050406030204" pitchFamily="18" charset="0"/>
                                        <a:cs typeface="Arial" pitchFamily="34" charset="0"/>
                                      </a:rPr>
                                    </m:ctrlPr>
                                  </m:sSupPr>
                                  <m:e>
                                    <m:r>
                                      <a:rPr lang="en-US" sz="1600" i="1" dirty="0">
                                        <a:latin typeface="Cambria Math" panose="02040503050406030204" pitchFamily="18" charset="0"/>
                                      </a:rPr>
                                      <m:t>𝐶</m:t>
                                    </m:r>
                                  </m:e>
                                  <m:sup>
                                    <m:r>
                                      <a:rPr lang="en-US" sz="1600" b="0" i="1" dirty="0" smtClean="0">
                                        <a:latin typeface="Cambria Math" panose="02040503050406030204" pitchFamily="18" charset="0"/>
                                      </a:rPr>
                                      <m:t>∗</m:t>
                                    </m:r>
                                  </m:sup>
                                </m:sSup>
                              </m:oMath>
                            </m:oMathPara>
                          </a14:m>
                          <a:endParaRPr lang="en-US" sz="1600" dirty="0">
                            <a:latin typeface="+mn-lt"/>
                          </a:endParaRPr>
                        </a:p>
                      </a:txBody>
                      <a:tcPr anchor="ctr"/>
                    </a:tc>
                    <a:tc hMerge="1">
                      <a:txBody>
                        <a:bodyPr/>
                        <a:lstStyle/>
                        <a:p>
                          <a:endParaRPr lang="en-US" dirty="0"/>
                        </a:p>
                      </a:txBody>
                      <a:tcPr anchor="ctr"/>
                    </a:tc>
                    <a:extLst>
                      <a:ext uri="{0D108BD9-81ED-4DB2-BD59-A6C34878D82A}">
                        <a16:rowId xmlns:a16="http://schemas.microsoft.com/office/drawing/2014/main" val="10006"/>
                      </a:ext>
                    </a:extLst>
                  </a:tr>
                </a:tbl>
              </a:graphicData>
            </a:graphic>
          </p:graphicFrame>
        </mc:Choice>
        <mc:Fallback xmlns="">
          <p:graphicFrame>
            <p:nvGraphicFramePr>
              <p:cNvPr id="7" name="Table 6"/>
              <p:cNvGraphicFramePr>
                <a:graphicFrameLocks noGrp="1"/>
              </p:cNvGraphicFramePr>
              <p:nvPr>
                <p:extLst>
                  <p:ext uri="{D42A27DB-BD31-4B8C-83A1-F6EECF244321}">
                    <p14:modId xmlns:p14="http://schemas.microsoft.com/office/powerpoint/2010/main" val="4164794686"/>
                  </p:ext>
                </p:extLst>
              </p:nvPr>
            </p:nvGraphicFramePr>
            <p:xfrm>
              <a:off x="736879" y="1600200"/>
              <a:ext cx="7924800" cy="4970825"/>
            </p:xfrm>
            <a:graphic>
              <a:graphicData uri="http://schemas.openxmlformats.org/drawingml/2006/table">
                <a:tbl>
                  <a:tblPr firstRow="1" bandRow="1">
                    <a:tableStyleId>{5C22544A-7EE6-4342-B048-85BDC9FD1C3A}</a:tableStyleId>
                  </a:tblPr>
                  <a:tblGrid>
                    <a:gridCol w="1584960">
                      <a:extLst>
                        <a:ext uri="{9D8B030D-6E8A-4147-A177-3AD203B41FA5}">
                          <a16:colId xmlns:a16="http://schemas.microsoft.com/office/drawing/2014/main" val="20000"/>
                        </a:ext>
                      </a:extLst>
                    </a:gridCol>
                    <a:gridCol w="1584960">
                      <a:extLst>
                        <a:ext uri="{9D8B030D-6E8A-4147-A177-3AD203B41FA5}">
                          <a16:colId xmlns:a16="http://schemas.microsoft.com/office/drawing/2014/main" val="20001"/>
                        </a:ext>
                      </a:extLst>
                    </a:gridCol>
                    <a:gridCol w="1584960">
                      <a:extLst>
                        <a:ext uri="{9D8B030D-6E8A-4147-A177-3AD203B41FA5}">
                          <a16:colId xmlns:a16="http://schemas.microsoft.com/office/drawing/2014/main" val="20002"/>
                        </a:ext>
                      </a:extLst>
                    </a:gridCol>
                    <a:gridCol w="1584960">
                      <a:extLst>
                        <a:ext uri="{9D8B030D-6E8A-4147-A177-3AD203B41FA5}">
                          <a16:colId xmlns:a16="http://schemas.microsoft.com/office/drawing/2014/main" val="20003"/>
                        </a:ext>
                      </a:extLst>
                    </a:gridCol>
                    <a:gridCol w="1584960">
                      <a:extLst>
                        <a:ext uri="{9D8B030D-6E8A-4147-A177-3AD203B41FA5}">
                          <a16:colId xmlns:a16="http://schemas.microsoft.com/office/drawing/2014/main" val="20004"/>
                        </a:ext>
                      </a:extLst>
                    </a:gridCol>
                  </a:tblGrid>
                  <a:tr h="640080">
                    <a:tc>
                      <a:txBody>
                        <a:bodyPr/>
                        <a:lstStyle/>
                        <a:p>
                          <a:pPr algn="ctr"/>
                          <a:r>
                            <a:rPr lang="en-US" sz="1800" dirty="0"/>
                            <a:t>Algorithm</a:t>
                          </a:r>
                        </a:p>
                      </a:txBody>
                      <a:tcPr anchor="ctr">
                        <a:lnR w="38100" cap="flat" cmpd="sng" algn="ctr">
                          <a:solidFill>
                            <a:schemeClr val="bg1"/>
                          </a:solidFill>
                          <a:prstDash val="solid"/>
                          <a:round/>
                          <a:headEnd type="none" w="med" len="med"/>
                          <a:tailEnd type="none" w="med" len="med"/>
                        </a:lnR>
                      </a:tcPr>
                    </a:tc>
                    <a:tc>
                      <a:txBody>
                        <a:bodyPr/>
                        <a:lstStyle/>
                        <a:p>
                          <a:pPr algn="ctr"/>
                          <a:r>
                            <a:rPr lang="en-US" sz="1800" dirty="0"/>
                            <a:t>Complete?</a:t>
                          </a:r>
                        </a:p>
                      </a:txBody>
                      <a:tcPr anchor="ctr">
                        <a:lnL w="38100" cap="flat" cmpd="sng" algn="ctr">
                          <a:solidFill>
                            <a:schemeClr val="bg1"/>
                          </a:solidFill>
                          <a:prstDash val="solid"/>
                          <a:round/>
                          <a:headEnd type="none" w="med" len="med"/>
                          <a:tailEnd type="none" w="med" len="med"/>
                        </a:lnL>
                      </a:tcPr>
                    </a:tc>
                    <a:tc>
                      <a:txBody>
                        <a:bodyPr/>
                        <a:lstStyle/>
                        <a:p>
                          <a:pPr algn="ctr"/>
                          <a:r>
                            <a:rPr lang="en-US" sz="1800" dirty="0"/>
                            <a:t>Optimal?</a:t>
                          </a:r>
                        </a:p>
                      </a:txBody>
                      <a:tcPr anchor="ctr"/>
                    </a:tc>
                    <a:tc>
                      <a:txBody>
                        <a:bodyPr/>
                        <a:lstStyle/>
                        <a:p>
                          <a:pPr algn="ctr"/>
                          <a:r>
                            <a:rPr lang="en-US" sz="1800" dirty="0"/>
                            <a:t>Time complexity</a:t>
                          </a:r>
                        </a:p>
                      </a:txBody>
                      <a:tcPr anchor="ctr"/>
                    </a:tc>
                    <a:tc>
                      <a:txBody>
                        <a:bodyPr/>
                        <a:lstStyle/>
                        <a:p>
                          <a:pPr algn="ctr"/>
                          <a:r>
                            <a:rPr lang="en-US" sz="1800" dirty="0"/>
                            <a:t>Space complexity</a:t>
                          </a:r>
                        </a:p>
                      </a:txBody>
                      <a:tcPr anchor="ctr"/>
                    </a:tc>
                    <a:extLst>
                      <a:ext uri="{0D108BD9-81ED-4DB2-BD59-A6C34878D82A}">
                        <a16:rowId xmlns:a16="http://schemas.microsoft.com/office/drawing/2014/main" val="10000"/>
                      </a:ext>
                    </a:extLst>
                  </a:tr>
                  <a:tr h="640080">
                    <a:tc>
                      <a:txBody>
                        <a:bodyPr/>
                        <a:lstStyle/>
                        <a:p>
                          <a:pPr algn="ctr"/>
                          <a:r>
                            <a:rPr lang="en-US" sz="1800" b="1" dirty="0"/>
                            <a:t>BFS (Breadth-first search)</a:t>
                          </a:r>
                        </a:p>
                      </a:txBody>
                      <a:tcPr anchor="ctr">
                        <a:lnR w="38100" cap="flat" cmpd="sng" algn="ctr">
                          <a:solidFill>
                            <a:schemeClr val="bg1"/>
                          </a:solidFill>
                          <a:prstDash val="solid"/>
                          <a:round/>
                          <a:headEnd type="none" w="med" len="med"/>
                          <a:tailEnd type="none" w="med" len="med"/>
                        </a:lnR>
                      </a:tcPr>
                    </a:tc>
                    <a:tc>
                      <a:txBody>
                        <a:bodyPr/>
                        <a:lstStyle/>
                        <a:p>
                          <a:pPr algn="ctr"/>
                          <a:r>
                            <a:rPr lang="en-US" sz="1600" dirty="0"/>
                            <a:t>Yes</a:t>
                          </a:r>
                        </a:p>
                      </a:txBody>
                      <a:tcPr anchor="ctr">
                        <a:lnL w="38100" cap="flat" cmpd="sng" algn="ctr">
                          <a:solidFill>
                            <a:schemeClr val="bg1"/>
                          </a:solidFill>
                          <a:prstDash val="solid"/>
                          <a:round/>
                          <a:headEnd type="none" w="med" len="med"/>
                          <a:tailEnd type="none" w="med" len="med"/>
                        </a:lnL>
                      </a:tcPr>
                    </a:tc>
                    <a:tc>
                      <a:txBody>
                        <a:bodyPr/>
                        <a:lstStyle/>
                        <a:p>
                          <a:pPr marL="0" marR="0" lvl="0" indent="0" algn="ctr" defTabSz="685800" rtl="0" eaLnBrk="1" fontAlgn="auto" latinLnBrk="0" hangingPunct="1">
                            <a:lnSpc>
                              <a:spcPct val="100000"/>
                            </a:lnSpc>
                            <a:spcBef>
                              <a:spcPts val="0"/>
                            </a:spcBef>
                            <a:spcAft>
                              <a:spcPts val="0"/>
                            </a:spcAft>
                            <a:buClrTx/>
                            <a:buSzTx/>
                            <a:buFontTx/>
                            <a:buNone/>
                            <a:tabLst/>
                            <a:defRPr/>
                          </a:pPr>
                          <a:r>
                            <a:rPr lang="en-US" sz="1600" dirty="0">
                              <a:latin typeface="+mn-lt"/>
                            </a:rPr>
                            <a:t>If all step </a:t>
                          </a:r>
                          <a:br>
                            <a:rPr lang="en-US" sz="1600" dirty="0">
                              <a:latin typeface="+mn-lt"/>
                            </a:rPr>
                          </a:br>
                          <a:r>
                            <a:rPr lang="en-US" sz="1600" dirty="0">
                              <a:latin typeface="+mn-lt"/>
                            </a:rPr>
                            <a:t>costs are equal</a:t>
                          </a:r>
                        </a:p>
                      </a:txBody>
                      <a:tcPr anchor="ctr"/>
                    </a:tc>
                    <a:tc>
                      <a:txBody>
                        <a:bodyPr/>
                        <a:lstStyle/>
                        <a:p>
                          <a:endParaRPr lang="en-US"/>
                        </a:p>
                      </a:txBody>
                      <a:tcPr anchor="ctr">
                        <a:blipFill>
                          <a:blip r:embed="rId3"/>
                          <a:stretch>
                            <a:fillRect l="-300769" t="-104762" r="-101923" b="-581905"/>
                          </a:stretch>
                        </a:blipFill>
                      </a:tcPr>
                    </a:tc>
                    <a:tc>
                      <a:txBody>
                        <a:bodyPr/>
                        <a:lstStyle/>
                        <a:p>
                          <a:endParaRPr lang="en-US"/>
                        </a:p>
                      </a:txBody>
                      <a:tcPr anchor="ctr">
                        <a:blipFill>
                          <a:blip r:embed="rId3"/>
                          <a:stretch>
                            <a:fillRect l="-400769" t="-104762" r="-1923" b="-581905"/>
                          </a:stretch>
                        </a:blipFill>
                      </a:tcPr>
                    </a:tc>
                    <a:extLst>
                      <a:ext uri="{0D108BD9-81ED-4DB2-BD59-A6C34878D82A}">
                        <a16:rowId xmlns:a16="http://schemas.microsoft.com/office/drawing/2014/main" val="10001"/>
                      </a:ext>
                    </a:extLst>
                  </a:tr>
                  <a:tr h="673257">
                    <a:tc>
                      <a:txBody>
                        <a:bodyPr/>
                        <a:lstStyle/>
                        <a:p>
                          <a:pPr algn="ctr"/>
                          <a:r>
                            <a:rPr lang="en-US" sz="1800" b="1" dirty="0"/>
                            <a:t>Uniform-cost</a:t>
                          </a:r>
                          <a:br>
                            <a:rPr lang="en-US" sz="1800" b="1" dirty="0"/>
                          </a:br>
                          <a:r>
                            <a:rPr lang="en-US" sz="1800" b="1" dirty="0"/>
                            <a:t>Search</a:t>
                          </a:r>
                        </a:p>
                      </a:txBody>
                      <a:tcPr anchor="ctr">
                        <a:lnR w="38100" cap="flat" cmpd="sng" algn="ctr">
                          <a:solidFill>
                            <a:schemeClr val="bg1"/>
                          </a:solidFill>
                          <a:prstDash val="solid"/>
                          <a:round/>
                          <a:headEnd type="none" w="med" len="med"/>
                          <a:tailEnd type="none" w="med" len="med"/>
                        </a:lnR>
                      </a:tcPr>
                    </a:tc>
                    <a:tc>
                      <a:txBody>
                        <a:bodyPr/>
                        <a:lstStyle/>
                        <a:p>
                          <a:pPr algn="ctr"/>
                          <a:r>
                            <a:rPr lang="en-US" sz="1600" dirty="0"/>
                            <a:t>Yes</a:t>
                          </a:r>
                        </a:p>
                      </a:txBody>
                      <a:tcPr anchor="ctr">
                        <a:lnL w="38100" cap="flat" cmpd="sng" algn="ctr">
                          <a:solidFill>
                            <a:schemeClr val="bg1"/>
                          </a:solidFill>
                          <a:prstDash val="solid"/>
                          <a:round/>
                          <a:headEnd type="none" w="med" len="med"/>
                          <a:tailEnd type="none" w="med" len="med"/>
                        </a:lnL>
                      </a:tcPr>
                    </a:tc>
                    <a:tc>
                      <a:txBody>
                        <a:bodyPr/>
                        <a:lstStyle/>
                        <a:p>
                          <a:pPr algn="ctr"/>
                          <a:r>
                            <a:rPr lang="en-US" sz="1600" dirty="0"/>
                            <a:t>Yes</a:t>
                          </a:r>
                        </a:p>
                      </a:txBody>
                      <a:tcPr anchor="ctr"/>
                    </a:tc>
                    <a:tc gridSpan="2">
                      <a:txBody>
                        <a:bodyPr/>
                        <a:lstStyle/>
                        <a:p>
                          <a:endParaRPr lang="en-US"/>
                        </a:p>
                      </a:txBody>
                      <a:tcPr anchor="ctr">
                        <a:blipFill>
                          <a:blip r:embed="rId3"/>
                          <a:stretch>
                            <a:fillRect l="-150385" t="-193694" r="-962" b="-450450"/>
                          </a:stretch>
                        </a:blipFill>
                      </a:tcPr>
                    </a:tc>
                    <a:tc hMerge="1">
                      <a:txBody>
                        <a:bodyPr/>
                        <a:lstStyle/>
                        <a:p>
                          <a:endParaRPr lang="en-US" dirty="0"/>
                        </a:p>
                      </a:txBody>
                      <a:tcPr anchor="ctr"/>
                    </a:tc>
                    <a:extLst>
                      <a:ext uri="{0D108BD9-81ED-4DB2-BD59-A6C34878D82A}">
                        <a16:rowId xmlns:a16="http://schemas.microsoft.com/office/drawing/2014/main" val="10002"/>
                      </a:ext>
                    </a:extLst>
                  </a:tr>
                  <a:tr h="822960">
                    <a:tc>
                      <a:txBody>
                        <a:bodyPr/>
                        <a:lstStyle/>
                        <a:p>
                          <a:pPr algn="ctr"/>
                          <a:r>
                            <a:rPr lang="en-US" sz="1800" b="1" dirty="0"/>
                            <a:t>DFS</a:t>
                          </a:r>
                        </a:p>
                      </a:txBody>
                      <a:tcPr anchor="ctr">
                        <a:lnR w="38100" cap="flat" cmpd="sng" algn="ctr">
                          <a:solidFill>
                            <a:schemeClr val="bg1"/>
                          </a:solidFill>
                          <a:prstDash val="solid"/>
                          <a:round/>
                          <a:headEnd type="none" w="med" len="med"/>
                          <a:tailEnd type="none" w="med" len="med"/>
                        </a:lnR>
                      </a:tcPr>
                    </a:tc>
                    <a:tc>
                      <a:txBody>
                        <a:bodyPr/>
                        <a:lstStyle/>
                        <a:p>
                          <a:pPr marL="0" marR="0" lvl="0" indent="0" algn="ctr" defTabSz="685800" rtl="0" eaLnBrk="1" fontAlgn="auto" latinLnBrk="0" hangingPunct="1">
                            <a:lnSpc>
                              <a:spcPct val="100000"/>
                            </a:lnSpc>
                            <a:spcBef>
                              <a:spcPts val="0"/>
                            </a:spcBef>
                            <a:spcAft>
                              <a:spcPts val="0"/>
                            </a:spcAft>
                            <a:buClrTx/>
                            <a:buSzTx/>
                            <a:buFontTx/>
                            <a:buNone/>
                            <a:tabLst/>
                            <a:defRPr/>
                          </a:pPr>
                          <a:r>
                            <a:rPr lang="en-US" sz="1600" dirty="0">
                              <a:latin typeface="+mn-lt"/>
                            </a:rPr>
                            <a:t>In finite spaces </a:t>
                          </a:r>
                          <a:br>
                            <a:rPr lang="en-US" sz="1600" dirty="0">
                              <a:latin typeface="+mn-lt"/>
                            </a:rPr>
                          </a:br>
                          <a:r>
                            <a:rPr lang="en-US" sz="1600" dirty="0">
                              <a:latin typeface="+mn-lt"/>
                            </a:rPr>
                            <a:t>(cycles checking)</a:t>
                          </a:r>
                        </a:p>
                        <a:p>
                          <a:pPr algn="ctr"/>
                          <a:endParaRPr lang="en-US" sz="1600" dirty="0"/>
                        </a:p>
                      </a:txBody>
                      <a:tcPr anchor="ctr">
                        <a:lnL w="38100" cap="flat" cmpd="sng" algn="ctr">
                          <a:solidFill>
                            <a:schemeClr val="bg1"/>
                          </a:solidFill>
                          <a:prstDash val="solid"/>
                          <a:round/>
                          <a:headEnd type="none" w="med" len="med"/>
                          <a:tailEnd type="none" w="med" len="med"/>
                        </a:lnL>
                      </a:tcPr>
                    </a:tc>
                    <a:tc>
                      <a:txBody>
                        <a:bodyPr/>
                        <a:lstStyle/>
                        <a:p>
                          <a:pPr algn="ctr"/>
                          <a:r>
                            <a:rPr lang="en-US" sz="1600" b="1" dirty="0"/>
                            <a:t>No</a:t>
                          </a:r>
                        </a:p>
                      </a:txBody>
                      <a:tcPr anchor="ctr"/>
                    </a:tc>
                    <a:tc>
                      <a:txBody>
                        <a:bodyPr/>
                        <a:lstStyle/>
                        <a:p>
                          <a:endParaRPr lang="en-US"/>
                        </a:p>
                      </a:txBody>
                      <a:tcPr anchor="ctr">
                        <a:blipFill>
                          <a:blip r:embed="rId3"/>
                          <a:stretch>
                            <a:fillRect l="-300769" t="-241481" r="-101923" b="-270370"/>
                          </a:stretch>
                        </a:blipFill>
                      </a:tcPr>
                    </a:tc>
                    <a:tc>
                      <a:txBody>
                        <a:bodyPr/>
                        <a:lstStyle/>
                        <a:p>
                          <a:endParaRPr lang="en-US"/>
                        </a:p>
                      </a:txBody>
                      <a:tcPr anchor="ctr">
                        <a:blipFill>
                          <a:blip r:embed="rId3"/>
                          <a:stretch>
                            <a:fillRect l="-400769" t="-241481" r="-1923" b="-270370"/>
                          </a:stretch>
                        </a:blipFill>
                      </a:tcPr>
                    </a:tc>
                    <a:extLst>
                      <a:ext uri="{0D108BD9-81ED-4DB2-BD59-A6C34878D82A}">
                        <a16:rowId xmlns:a16="http://schemas.microsoft.com/office/drawing/2014/main" val="10003"/>
                      </a:ext>
                    </a:extLst>
                  </a:tr>
                  <a:tr h="685744">
                    <a:tc>
                      <a:txBody>
                        <a:bodyPr/>
                        <a:lstStyle/>
                        <a:p>
                          <a:pPr algn="ctr"/>
                          <a:r>
                            <a:rPr lang="en-US" sz="1800" b="1" dirty="0"/>
                            <a:t>IDS</a:t>
                          </a:r>
                        </a:p>
                      </a:txBody>
                      <a:tcPr anchor="ctr">
                        <a:lnR w="38100" cap="flat" cmpd="sng" algn="ctr">
                          <a:solidFill>
                            <a:schemeClr val="bg1"/>
                          </a:solidFill>
                          <a:prstDash val="solid"/>
                          <a:round/>
                          <a:headEnd type="none" w="med" len="med"/>
                          <a:tailEnd type="none" w="med" len="med"/>
                        </a:lnR>
                        <a:lnB w="38100" cap="flat" cmpd="sng" algn="ctr">
                          <a:solidFill>
                            <a:schemeClr val="tx1"/>
                          </a:solidFill>
                          <a:prstDash val="solid"/>
                          <a:round/>
                          <a:headEnd type="none" w="med" len="med"/>
                          <a:tailEnd type="none" w="med" len="med"/>
                        </a:lnB>
                      </a:tcPr>
                    </a:tc>
                    <a:tc>
                      <a:txBody>
                        <a:bodyPr/>
                        <a:lstStyle/>
                        <a:p>
                          <a:pPr algn="ctr"/>
                          <a:r>
                            <a:rPr lang="en-US" sz="1600" dirty="0"/>
                            <a:t>Yes</a:t>
                          </a:r>
                        </a:p>
                      </a:txBody>
                      <a:tcPr anchor="ctr">
                        <a:lnL w="38100" cap="flat" cmpd="sng" algn="ctr">
                          <a:solidFill>
                            <a:schemeClr val="bg1"/>
                          </a:solidFill>
                          <a:prstDash val="solid"/>
                          <a:round/>
                          <a:headEnd type="none" w="med" len="med"/>
                          <a:tailEnd type="none" w="med" len="med"/>
                        </a:lnL>
                        <a:lnB w="38100" cap="flat" cmpd="sng" algn="ctr">
                          <a:solidFill>
                            <a:schemeClr val="tx1"/>
                          </a:solidFill>
                          <a:prstDash val="solid"/>
                          <a:round/>
                          <a:headEnd type="none" w="med" len="med"/>
                          <a:tailEnd type="none" w="med" len="med"/>
                        </a:lnB>
                      </a:tcPr>
                    </a:tc>
                    <a:tc>
                      <a:txBody>
                        <a:bodyPr/>
                        <a:lstStyle/>
                        <a:p>
                          <a:pPr marL="0" marR="0" lvl="0" indent="0" algn="ctr" defTabSz="685800" rtl="0" eaLnBrk="1" fontAlgn="auto" latinLnBrk="0" hangingPunct="1">
                            <a:lnSpc>
                              <a:spcPct val="100000"/>
                            </a:lnSpc>
                            <a:spcBef>
                              <a:spcPts val="0"/>
                            </a:spcBef>
                            <a:spcAft>
                              <a:spcPts val="0"/>
                            </a:spcAft>
                            <a:buClrTx/>
                            <a:buSzTx/>
                            <a:buFontTx/>
                            <a:buNone/>
                            <a:tabLst/>
                            <a:defRPr/>
                          </a:pPr>
                          <a:r>
                            <a:rPr lang="en-US" sz="1600" dirty="0">
                              <a:latin typeface="+mn-lt"/>
                            </a:rPr>
                            <a:t>If all step </a:t>
                          </a:r>
                          <a:br>
                            <a:rPr lang="en-US" sz="1600" dirty="0">
                              <a:latin typeface="+mn-lt"/>
                            </a:rPr>
                          </a:br>
                          <a:r>
                            <a:rPr lang="en-US" sz="1600" dirty="0">
                              <a:latin typeface="+mn-lt"/>
                            </a:rPr>
                            <a:t>costs are equal</a:t>
                          </a:r>
                        </a:p>
                      </a:txBody>
                      <a:tcPr anchor="ctr">
                        <a:lnB w="38100" cap="flat" cmpd="sng" algn="ctr">
                          <a:solidFill>
                            <a:schemeClr val="tx1"/>
                          </a:solidFill>
                          <a:prstDash val="solid"/>
                          <a:round/>
                          <a:headEnd type="none" w="med" len="med"/>
                          <a:tailEnd type="none" w="med" len="med"/>
                        </a:lnB>
                      </a:tcPr>
                    </a:tc>
                    <a:tc>
                      <a:txBody>
                        <a:bodyPr/>
                        <a:lstStyle/>
                        <a:p>
                          <a:endParaRPr lang="en-US"/>
                        </a:p>
                      </a:txBody>
                      <a:tcPr anchor="ctr">
                        <a:lnB w="38100" cap="flat" cmpd="sng" algn="ctr">
                          <a:solidFill>
                            <a:schemeClr val="tx1"/>
                          </a:solidFill>
                          <a:prstDash val="solid"/>
                          <a:round/>
                          <a:headEnd type="none" w="med" len="med"/>
                          <a:tailEnd type="none" w="med" len="med"/>
                        </a:lnB>
                        <a:blipFill>
                          <a:blip r:embed="rId3"/>
                          <a:stretch>
                            <a:fillRect l="-300769" t="-411607" r="-101923" b="-225893"/>
                          </a:stretch>
                        </a:blipFill>
                      </a:tcPr>
                    </a:tc>
                    <a:tc>
                      <a:txBody>
                        <a:bodyPr/>
                        <a:lstStyle/>
                        <a:p>
                          <a:endParaRPr lang="en-US"/>
                        </a:p>
                      </a:txBody>
                      <a:tcPr anchor="ctr">
                        <a:lnB w="38100" cap="flat" cmpd="sng" algn="ctr">
                          <a:solidFill>
                            <a:schemeClr val="tx1"/>
                          </a:solidFill>
                          <a:prstDash val="solid"/>
                          <a:round/>
                          <a:headEnd type="none" w="med" len="med"/>
                          <a:tailEnd type="none" w="med" len="med"/>
                        </a:lnB>
                        <a:blipFill>
                          <a:blip r:embed="rId3"/>
                          <a:stretch>
                            <a:fillRect l="-400769" t="-411607" r="-1923" b="-225893"/>
                          </a:stretch>
                        </a:blipFill>
                      </a:tcPr>
                    </a:tc>
                    <a:extLst>
                      <a:ext uri="{0D108BD9-81ED-4DB2-BD59-A6C34878D82A}">
                        <a16:rowId xmlns:a16="http://schemas.microsoft.com/office/drawing/2014/main" val="10004"/>
                      </a:ext>
                    </a:extLst>
                  </a:tr>
                  <a:tr h="822960">
                    <a:tc>
                      <a:txBody>
                        <a:bodyPr/>
                        <a:lstStyle/>
                        <a:p>
                          <a:pPr algn="ctr"/>
                          <a:r>
                            <a:rPr lang="en-US" sz="1800" b="1" dirty="0"/>
                            <a:t>Greedy best-first Search</a:t>
                          </a:r>
                        </a:p>
                      </a:txBody>
                      <a:tcPr anchor="ctr">
                        <a:lnR w="38100" cap="flat" cmpd="sng" algn="ctr">
                          <a:solidFill>
                            <a:schemeClr val="bg1"/>
                          </a:solidFill>
                          <a:prstDash val="solid"/>
                          <a:round/>
                          <a:headEnd type="none" w="med" len="med"/>
                          <a:tailEnd type="none" w="med" len="med"/>
                        </a:lnR>
                        <a:lnT w="38100" cap="flat" cmpd="sng" algn="ctr">
                          <a:solidFill>
                            <a:schemeClr val="tx1"/>
                          </a:solidFill>
                          <a:prstDash val="solid"/>
                          <a:round/>
                          <a:headEnd type="none" w="med" len="med"/>
                          <a:tailEnd type="none" w="med" len="med"/>
                        </a:lnT>
                      </a:tcPr>
                    </a:tc>
                    <a:tc>
                      <a:txBody>
                        <a:bodyPr/>
                        <a:lstStyle/>
                        <a:p>
                          <a:pPr marL="0" marR="0" lvl="0" indent="0" algn="ctr" defTabSz="685800" rtl="0" eaLnBrk="1" fontAlgn="auto" latinLnBrk="0" hangingPunct="1">
                            <a:lnSpc>
                              <a:spcPct val="100000"/>
                            </a:lnSpc>
                            <a:spcBef>
                              <a:spcPts val="0"/>
                            </a:spcBef>
                            <a:spcAft>
                              <a:spcPts val="0"/>
                            </a:spcAft>
                            <a:buClrTx/>
                            <a:buSzTx/>
                            <a:buFontTx/>
                            <a:buNone/>
                            <a:tabLst/>
                            <a:defRPr/>
                          </a:pPr>
                          <a:r>
                            <a:rPr lang="en-US" sz="1600" dirty="0">
                              <a:latin typeface="+mn-lt"/>
                            </a:rPr>
                            <a:t>In finite spaces </a:t>
                          </a:r>
                          <a:br>
                            <a:rPr lang="en-US" sz="1600" dirty="0">
                              <a:latin typeface="+mn-lt"/>
                            </a:rPr>
                          </a:br>
                          <a:r>
                            <a:rPr lang="en-US" sz="1600" dirty="0">
                              <a:latin typeface="+mn-lt"/>
                            </a:rPr>
                            <a:t>(cycles checking)</a:t>
                          </a:r>
                        </a:p>
                        <a:p>
                          <a:pPr algn="ctr"/>
                          <a:endParaRPr lang="en-US" sz="1600" dirty="0"/>
                        </a:p>
                      </a:txBody>
                      <a:tcPr anchor="ctr">
                        <a:lnL w="38100" cap="flat" cmpd="sng" algn="ctr">
                          <a:solidFill>
                            <a:schemeClr val="bg1"/>
                          </a:solidFill>
                          <a:prstDash val="solid"/>
                          <a:round/>
                          <a:headEnd type="none" w="med" len="med"/>
                          <a:tailEnd type="none" w="med" len="med"/>
                        </a:lnL>
                        <a:lnT w="38100" cap="flat" cmpd="sng" algn="ctr">
                          <a:solidFill>
                            <a:schemeClr val="tx1"/>
                          </a:solidFill>
                          <a:prstDash val="solid"/>
                          <a:round/>
                          <a:headEnd type="none" w="med" len="med"/>
                          <a:tailEnd type="none" w="med" len="med"/>
                        </a:lnT>
                      </a:tcPr>
                    </a:tc>
                    <a:tc>
                      <a:txBody>
                        <a:bodyPr/>
                        <a:lstStyle/>
                        <a:p>
                          <a:pPr algn="ctr"/>
                          <a:r>
                            <a:rPr lang="en-US" sz="1600" dirty="0"/>
                            <a:t>No</a:t>
                          </a:r>
                        </a:p>
                      </a:txBody>
                      <a:tcPr anchor="ctr">
                        <a:lnT w="38100" cap="flat" cmpd="sng" algn="ctr">
                          <a:solidFill>
                            <a:schemeClr val="tx1"/>
                          </a:solidFill>
                          <a:prstDash val="solid"/>
                          <a:round/>
                          <a:headEnd type="none" w="med" len="med"/>
                          <a:tailEnd type="none" w="med" len="med"/>
                        </a:lnT>
                      </a:tcPr>
                    </a:tc>
                    <a:tc gridSpan="2">
                      <a:txBody>
                        <a:bodyPr/>
                        <a:lstStyle/>
                        <a:p>
                          <a:endParaRPr lang="en-US"/>
                        </a:p>
                      </a:txBody>
                      <a:tcPr anchor="ctr">
                        <a:lnT w="38100" cap="flat" cmpd="sng" algn="ctr">
                          <a:solidFill>
                            <a:schemeClr val="tx1"/>
                          </a:solidFill>
                          <a:prstDash val="solid"/>
                          <a:round/>
                          <a:headEnd type="none" w="med" len="med"/>
                          <a:tailEnd type="none" w="med" len="med"/>
                        </a:lnT>
                        <a:blipFill>
                          <a:blip r:embed="rId3"/>
                          <a:stretch>
                            <a:fillRect l="-150385" t="-424444" r="-962" b="-87407"/>
                          </a:stretch>
                        </a:blipFill>
                      </a:tcPr>
                    </a:tc>
                    <a:tc hMerge="1">
                      <a:txBody>
                        <a:bodyPr/>
                        <a:lstStyle/>
                        <a:p>
                          <a:endParaRPr lang="en-US" dirty="0"/>
                        </a:p>
                      </a:txBody>
                      <a:tcPr anchor="ctr">
                        <a:lnT w="38100" cap="flat" cmpd="sng" algn="ctr">
                          <a:solidFill>
                            <a:schemeClr val="tx1"/>
                          </a:solidFill>
                          <a:prstDash val="solid"/>
                          <a:round/>
                          <a:headEnd type="none" w="med" len="med"/>
                          <a:tailEnd type="none" w="med" len="med"/>
                        </a:lnT>
                      </a:tcPr>
                    </a:tc>
                    <a:extLst>
                      <a:ext uri="{0D108BD9-81ED-4DB2-BD59-A6C34878D82A}">
                        <a16:rowId xmlns:a16="http://schemas.microsoft.com/office/drawing/2014/main" val="10005"/>
                      </a:ext>
                    </a:extLst>
                  </a:tr>
                  <a:tr h="685744">
                    <a:tc>
                      <a:txBody>
                        <a:bodyPr/>
                        <a:lstStyle/>
                        <a:p>
                          <a:pPr algn="ctr"/>
                          <a:r>
                            <a:rPr lang="en-US" sz="1800" b="1" dirty="0"/>
                            <a:t>A* Search</a:t>
                          </a:r>
                        </a:p>
                      </a:txBody>
                      <a:tcPr anchor="ctr">
                        <a:lnR w="38100" cap="flat" cmpd="sng" algn="ctr">
                          <a:solidFill>
                            <a:schemeClr val="bg1"/>
                          </a:solidFill>
                          <a:prstDash val="solid"/>
                          <a:round/>
                          <a:headEnd type="none" w="med" len="med"/>
                          <a:tailEnd type="none" w="med" len="med"/>
                        </a:lnR>
                      </a:tcPr>
                    </a:tc>
                    <a:tc>
                      <a:txBody>
                        <a:bodyPr/>
                        <a:lstStyle/>
                        <a:p>
                          <a:pPr algn="ctr"/>
                          <a:r>
                            <a:rPr lang="en-US" sz="1600" dirty="0"/>
                            <a:t>Yes</a:t>
                          </a:r>
                        </a:p>
                      </a:txBody>
                      <a:tcPr anchor="ctr">
                        <a:lnL w="38100" cap="flat" cmpd="sng" algn="ctr">
                          <a:solidFill>
                            <a:schemeClr val="bg1"/>
                          </a:solidFill>
                          <a:prstDash val="solid"/>
                          <a:round/>
                          <a:headEnd type="none" w="med" len="med"/>
                          <a:tailEnd type="none" w="med" len="med"/>
                        </a:lnL>
                      </a:tcPr>
                    </a:tc>
                    <a:tc>
                      <a:txBody>
                        <a:bodyPr/>
                        <a:lstStyle/>
                        <a:p>
                          <a:pPr algn="ctr"/>
                          <a:r>
                            <a:rPr lang="en-US" sz="1600" dirty="0"/>
                            <a:t>Yes</a:t>
                          </a:r>
                        </a:p>
                      </a:txBody>
                      <a:tcPr anchor="ctr"/>
                    </a:tc>
                    <a:tc gridSpan="2">
                      <a:txBody>
                        <a:bodyPr/>
                        <a:lstStyle/>
                        <a:p>
                          <a:endParaRPr lang="en-US"/>
                        </a:p>
                      </a:txBody>
                      <a:tcPr anchor="ctr">
                        <a:blipFill>
                          <a:blip r:embed="rId3"/>
                          <a:stretch>
                            <a:fillRect l="-150385" t="-626549" r="-962" b="-4425"/>
                          </a:stretch>
                        </a:blipFill>
                      </a:tcPr>
                    </a:tc>
                    <a:tc hMerge="1">
                      <a:txBody>
                        <a:bodyPr/>
                        <a:lstStyle/>
                        <a:p>
                          <a:endParaRPr lang="en-US" dirty="0"/>
                        </a:p>
                      </a:txBody>
                      <a:tcPr anchor="ctr"/>
                    </a:tc>
                    <a:extLst>
                      <a:ext uri="{0D108BD9-81ED-4DB2-BD59-A6C34878D82A}">
                        <a16:rowId xmlns:a16="http://schemas.microsoft.com/office/drawing/2014/main" val="10006"/>
                      </a:ext>
                    </a:extLst>
                  </a:tr>
                </a:tbl>
              </a:graphicData>
            </a:graphic>
          </p:graphicFrame>
        </mc:Fallback>
      </mc:AlternateContent>
      <p:sp>
        <p:nvSpPr>
          <p:cNvPr id="3" name="Rectangle 2">
            <a:extLst>
              <a:ext uri="{FF2B5EF4-FFF2-40B4-BE49-F238E27FC236}">
                <a16:creationId xmlns:a16="http://schemas.microsoft.com/office/drawing/2014/main" id="{B8F6266B-B6E3-46D0-8870-F1AFB7596898}"/>
              </a:ext>
            </a:extLst>
          </p:cNvPr>
          <p:cNvSpPr/>
          <p:nvPr/>
        </p:nvSpPr>
        <p:spPr>
          <a:xfrm>
            <a:off x="4343400" y="254318"/>
            <a:ext cx="4442647" cy="1077218"/>
          </a:xfrm>
          <a:prstGeom prst="rect">
            <a:avLst/>
          </a:prstGeom>
        </p:spPr>
        <p:style>
          <a:lnRef idx="3">
            <a:schemeClr val="lt1"/>
          </a:lnRef>
          <a:fillRef idx="1">
            <a:schemeClr val="accent3"/>
          </a:fillRef>
          <a:effectRef idx="1">
            <a:schemeClr val="accent3"/>
          </a:effectRef>
          <a:fontRef idx="minor">
            <a:schemeClr val="lt1"/>
          </a:fontRef>
        </p:style>
        <p:txBody>
          <a:bodyPr wrap="square">
            <a:spAutoFit/>
          </a:bodyPr>
          <a:lstStyle/>
          <a:p>
            <a:r>
              <a:rPr lang="en-US" sz="1600" dirty="0">
                <a:latin typeface="+mn-lt"/>
              </a:rPr>
              <a:t>b:    maximum branching factor of the search tree</a:t>
            </a:r>
          </a:p>
          <a:p>
            <a:r>
              <a:rPr lang="en-US" sz="1600" dirty="0">
                <a:latin typeface="+mn-lt"/>
              </a:rPr>
              <a:t>d:    depth of the optimal solution</a:t>
            </a:r>
          </a:p>
          <a:p>
            <a:r>
              <a:rPr lang="en-US" sz="1600" dirty="0">
                <a:latin typeface="+mn-lt"/>
              </a:rPr>
              <a:t>m:   maximum length of any path in the state space</a:t>
            </a:r>
          </a:p>
          <a:p>
            <a:r>
              <a:rPr lang="en-US" sz="1600" dirty="0">
                <a:latin typeface="+mn-lt"/>
              </a:rPr>
              <a:t>C*:  cost of optimal solution</a:t>
            </a:r>
          </a:p>
        </p:txBody>
      </p:sp>
      <p:sp>
        <p:nvSpPr>
          <p:cNvPr id="4" name="Rectangle 3">
            <a:extLst>
              <a:ext uri="{FF2B5EF4-FFF2-40B4-BE49-F238E27FC236}">
                <a16:creationId xmlns:a16="http://schemas.microsoft.com/office/drawing/2014/main" id="{CDF61E80-4B55-8979-0EEC-874E5C0C9D98}"/>
              </a:ext>
            </a:extLst>
          </p:cNvPr>
          <p:cNvSpPr/>
          <p:nvPr/>
        </p:nvSpPr>
        <p:spPr>
          <a:xfrm>
            <a:off x="7162800" y="3657600"/>
            <a:ext cx="1371600" cy="1295400"/>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Rectangle 5">
            <a:extLst>
              <a:ext uri="{FF2B5EF4-FFF2-40B4-BE49-F238E27FC236}">
                <a16:creationId xmlns:a16="http://schemas.microsoft.com/office/drawing/2014/main" id="{44F0DA85-90AE-4AAC-7555-21DC3B1F4A14}"/>
              </a:ext>
            </a:extLst>
          </p:cNvPr>
          <p:cNvSpPr/>
          <p:nvPr/>
        </p:nvSpPr>
        <p:spPr>
          <a:xfrm>
            <a:off x="4165879" y="5867400"/>
            <a:ext cx="4368521" cy="736282"/>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rgbClr val="FF0000"/>
                </a:solidFill>
              </a:rPr>
              <a:t>With a good heuristic</a:t>
            </a:r>
          </a:p>
        </p:txBody>
      </p:sp>
      <p:grpSp>
        <p:nvGrpSpPr>
          <p:cNvPr id="8" name="Group 7">
            <a:extLst>
              <a:ext uri="{FF2B5EF4-FFF2-40B4-BE49-F238E27FC236}">
                <a16:creationId xmlns:a16="http://schemas.microsoft.com/office/drawing/2014/main" id="{F9C81D61-6D26-C4D7-F3D5-0458E0E3D877}"/>
              </a:ext>
            </a:extLst>
          </p:cNvPr>
          <p:cNvGrpSpPr/>
          <p:nvPr/>
        </p:nvGrpSpPr>
        <p:grpSpPr>
          <a:xfrm>
            <a:off x="129692" y="3104843"/>
            <a:ext cx="708508" cy="2400914"/>
            <a:chOff x="129692" y="3104843"/>
            <a:chExt cx="708508" cy="2400914"/>
          </a:xfrm>
        </p:grpSpPr>
        <p:sp>
          <p:nvSpPr>
            <p:cNvPr id="2" name="TextBox 1">
              <a:extLst>
                <a:ext uri="{FF2B5EF4-FFF2-40B4-BE49-F238E27FC236}">
                  <a16:creationId xmlns:a16="http://schemas.microsoft.com/office/drawing/2014/main" id="{29A3CB49-3F1D-3ED0-FD69-45BB53BF543D}"/>
                </a:ext>
              </a:extLst>
            </p:cNvPr>
            <p:cNvSpPr txBox="1"/>
            <p:nvPr/>
          </p:nvSpPr>
          <p:spPr>
            <a:xfrm rot="16200000">
              <a:off x="-809155" y="4043690"/>
              <a:ext cx="2400914" cy="523220"/>
            </a:xfrm>
            <a:prstGeom prst="rect">
              <a:avLst/>
            </a:prstGeom>
            <a:noFill/>
          </p:spPr>
          <p:txBody>
            <a:bodyPr wrap="none" rtlCol="0">
              <a:spAutoFit/>
            </a:bodyPr>
            <a:lstStyle/>
            <a:p>
              <a:pPr algn="ctr"/>
              <a:r>
                <a:rPr lang="en-US" sz="1400" dirty="0">
                  <a:solidFill>
                    <a:srgbClr val="FF0000"/>
                  </a:solidFill>
                </a:rPr>
                <a:t>Needs cycle checking</a:t>
              </a:r>
            </a:p>
            <a:p>
              <a:pPr algn="ctr"/>
              <a:r>
                <a:rPr lang="en-US" sz="1400" dirty="0">
                  <a:solidFill>
                    <a:srgbClr val="FF0000"/>
                  </a:solidFill>
                </a:rPr>
                <a:t>Cannot avoid redundant paths</a:t>
              </a:r>
            </a:p>
          </p:txBody>
        </p:sp>
        <p:sp>
          <p:nvSpPr>
            <p:cNvPr id="5" name="Left Brace 4">
              <a:extLst>
                <a:ext uri="{FF2B5EF4-FFF2-40B4-BE49-F238E27FC236}">
                  <a16:creationId xmlns:a16="http://schemas.microsoft.com/office/drawing/2014/main" id="{0B7F1C61-2680-3D8A-141D-ACCD3DAD8087}"/>
                </a:ext>
              </a:extLst>
            </p:cNvPr>
            <p:cNvSpPr/>
            <p:nvPr/>
          </p:nvSpPr>
          <p:spPr>
            <a:xfrm>
              <a:off x="609600" y="3657600"/>
              <a:ext cx="228600" cy="1295400"/>
            </a:xfrm>
            <a:prstGeom prst="leftBrace">
              <a:avLst/>
            </a:prstGeom>
            <a:ln w="28575">
              <a:solidFill>
                <a:srgbClr val="FF000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gr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8"/>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6" grpId="0" animBg="1"/>
    </p:bldLst>
  </p:timing>
</p:sld>
</file>

<file path=ppt/slides/slide9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Implementation as Best-First Search</a:t>
            </a:r>
          </a:p>
        </p:txBody>
      </p:sp>
      <mc:AlternateContent xmlns:mc="http://schemas.openxmlformats.org/markup-compatibility/2006" xmlns:a14="http://schemas.microsoft.com/office/drawing/2010/main">
        <mc:Choice Requires="a14">
          <p:sp>
            <p:nvSpPr>
              <p:cNvPr id="6" name="Content Placeholder 5">
                <a:extLst>
                  <a:ext uri="{FF2B5EF4-FFF2-40B4-BE49-F238E27FC236}">
                    <a16:creationId xmlns:a16="http://schemas.microsoft.com/office/drawing/2014/main" id="{0E34E8AE-CDF7-4C36-9458-8A8DAF645078}"/>
                  </a:ext>
                </a:extLst>
              </p:cNvPr>
              <p:cNvSpPr>
                <a:spLocks noGrp="1"/>
              </p:cNvSpPr>
              <p:nvPr>
                <p:ph idx="1"/>
              </p:nvPr>
            </p:nvSpPr>
            <p:spPr>
              <a:xfrm>
                <a:off x="628650" y="1524000"/>
                <a:ext cx="7886700" cy="4652963"/>
              </a:xfrm>
            </p:spPr>
            <p:txBody>
              <a:bodyPr>
                <a:normAutofit fontScale="92500" lnSpcReduction="20000"/>
              </a:bodyPr>
              <a:lstStyle/>
              <a:p>
                <a:r>
                  <a:rPr lang="en-US" sz="2000" dirty="0"/>
                  <a:t>All discussed search strategies can be implemented using Best-first search.</a:t>
                </a:r>
              </a:p>
              <a:p>
                <a:r>
                  <a:rPr lang="en-US" sz="2000" dirty="0"/>
                  <a:t>Best-first search expands always the </a:t>
                </a:r>
                <a:r>
                  <a:rPr lang="en-US" sz="2000" b="1" dirty="0"/>
                  <a:t>node with the minimum value of an evaluation function </a:t>
                </a:r>
                <a14:m>
                  <m:oMath xmlns:m="http://schemas.openxmlformats.org/officeDocument/2006/math">
                    <m:r>
                      <a:rPr lang="en-US" sz="2000" b="1" i="1" dirty="0" smtClean="0">
                        <a:latin typeface="Cambria Math" panose="02040503050406030204" pitchFamily="18" charset="0"/>
                      </a:rPr>
                      <m:t>𝒇</m:t>
                    </m:r>
                    <m:r>
                      <a:rPr lang="en-US" sz="2000" b="1" i="1" dirty="0" smtClean="0">
                        <a:latin typeface="Cambria Math" panose="02040503050406030204" pitchFamily="18" charset="0"/>
                      </a:rPr>
                      <m:t>(</m:t>
                    </m:r>
                    <m:r>
                      <a:rPr lang="en-US" sz="2000" b="1" i="1" dirty="0" smtClean="0">
                        <a:latin typeface="Cambria Math" panose="02040503050406030204" pitchFamily="18" charset="0"/>
                      </a:rPr>
                      <m:t>𝒏</m:t>
                    </m:r>
                    <m:r>
                      <a:rPr lang="en-US" sz="2000" b="1" i="1" dirty="0" smtClean="0">
                        <a:latin typeface="Cambria Math" panose="02040503050406030204" pitchFamily="18" charset="0"/>
                      </a:rPr>
                      <m:t>)</m:t>
                    </m:r>
                  </m:oMath>
                </a14:m>
                <a:r>
                  <a:rPr lang="en-US" sz="2000" b="1" dirty="0"/>
                  <a:t>.</a:t>
                </a:r>
              </a:p>
              <a:p>
                <a:endParaRPr lang="en-US" sz="2000" dirty="0"/>
              </a:p>
              <a:p>
                <a:endParaRPr lang="en-US" sz="2000" dirty="0"/>
              </a:p>
              <a:p>
                <a:endParaRPr lang="en-US" sz="2000" dirty="0"/>
              </a:p>
              <a:p>
                <a:endParaRPr lang="en-US" sz="2000" dirty="0"/>
              </a:p>
              <a:p>
                <a:endParaRPr lang="en-US" sz="2000" dirty="0"/>
              </a:p>
              <a:p>
                <a:endParaRPr lang="en-US" sz="2000" dirty="0"/>
              </a:p>
              <a:p>
                <a:endParaRPr lang="en-US" sz="2000" dirty="0"/>
              </a:p>
              <a:p>
                <a:endParaRPr lang="en-US" sz="2000" dirty="0"/>
              </a:p>
              <a:p>
                <a:endParaRPr lang="en-US" sz="2000" dirty="0"/>
              </a:p>
              <a:p>
                <a:endParaRPr lang="en-US" sz="2000" b="1" dirty="0"/>
              </a:p>
              <a:p>
                <a:r>
                  <a:rPr lang="en-US" sz="2000" b="1" dirty="0"/>
                  <a:t>Important note: </a:t>
                </a:r>
                <a:r>
                  <a:rPr lang="en-US" sz="2000" dirty="0"/>
                  <a:t>Do not implement DFS/IDS using Best-first search! </a:t>
                </a:r>
                <a:br>
                  <a:rPr lang="en-US" sz="2000" dirty="0"/>
                </a:br>
                <a:r>
                  <a:rPr lang="en-US" sz="2000" dirty="0"/>
                  <a:t>You will get poor space complexity from BFS and the disadvantages of DFS (not optimal and worse time complexity).</a:t>
                </a:r>
              </a:p>
              <a:p>
                <a:endParaRPr lang="en-US" sz="2000" dirty="0"/>
              </a:p>
              <a:p>
                <a:endParaRPr lang="en-US" sz="2000" dirty="0"/>
              </a:p>
              <a:p>
                <a:endParaRPr lang="en-US" sz="2000" dirty="0"/>
              </a:p>
            </p:txBody>
          </p:sp>
        </mc:Choice>
        <mc:Fallback xmlns="">
          <p:sp>
            <p:nvSpPr>
              <p:cNvPr id="6" name="Content Placeholder 5">
                <a:extLst>
                  <a:ext uri="{FF2B5EF4-FFF2-40B4-BE49-F238E27FC236}">
                    <a16:creationId xmlns:a16="http://schemas.microsoft.com/office/drawing/2014/main" id="{0E34E8AE-CDF7-4C36-9458-8A8DAF645078}"/>
                  </a:ext>
                </a:extLst>
              </p:cNvPr>
              <p:cNvSpPr>
                <a:spLocks noGrp="1" noRot="1" noChangeAspect="1" noMove="1" noResize="1" noEditPoints="1" noAdjustHandles="1" noChangeArrowheads="1" noChangeShapeType="1" noTextEdit="1"/>
              </p:cNvSpPr>
              <p:nvPr>
                <p:ph idx="1"/>
              </p:nvPr>
            </p:nvSpPr>
            <p:spPr>
              <a:xfrm>
                <a:off x="628650" y="1524000"/>
                <a:ext cx="7886700" cy="4652963"/>
              </a:xfrm>
              <a:blipFill>
                <a:blip r:embed="rId3"/>
                <a:stretch>
                  <a:fillRect l="-541" t="-2228" b="-524"/>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graphicFrame>
            <p:nvGraphicFramePr>
              <p:cNvPr id="7" name="Table 7">
                <a:extLst>
                  <a:ext uri="{FF2B5EF4-FFF2-40B4-BE49-F238E27FC236}">
                    <a16:creationId xmlns:a16="http://schemas.microsoft.com/office/drawing/2014/main" id="{F801AAD9-28D9-4F75-AA97-25540DA4F5E3}"/>
                  </a:ext>
                </a:extLst>
              </p:cNvPr>
              <p:cNvGraphicFramePr>
                <a:graphicFrameLocks noGrp="1"/>
              </p:cNvGraphicFramePr>
              <p:nvPr>
                <p:extLst>
                  <p:ext uri="{D42A27DB-BD31-4B8C-83A1-F6EECF244321}">
                    <p14:modId xmlns:p14="http://schemas.microsoft.com/office/powerpoint/2010/main" val="2046048234"/>
                  </p:ext>
                </p:extLst>
              </p:nvPr>
            </p:nvGraphicFramePr>
            <p:xfrm>
              <a:off x="1295400" y="2667000"/>
              <a:ext cx="6553200" cy="2377440"/>
            </p:xfrm>
            <a:graphic>
              <a:graphicData uri="http://schemas.openxmlformats.org/drawingml/2006/table">
                <a:tbl>
                  <a:tblPr firstRow="1" bandRow="1">
                    <a:tableStyleId>{5C22544A-7EE6-4342-B048-85BDC9FD1C3A}</a:tableStyleId>
                  </a:tblPr>
                  <a:tblGrid>
                    <a:gridCol w="3581400">
                      <a:extLst>
                        <a:ext uri="{9D8B030D-6E8A-4147-A177-3AD203B41FA5}">
                          <a16:colId xmlns:a16="http://schemas.microsoft.com/office/drawing/2014/main" val="2199455995"/>
                        </a:ext>
                      </a:extLst>
                    </a:gridCol>
                    <a:gridCol w="2971800">
                      <a:extLst>
                        <a:ext uri="{9D8B030D-6E8A-4147-A177-3AD203B41FA5}">
                          <a16:colId xmlns:a16="http://schemas.microsoft.com/office/drawing/2014/main" val="2480919178"/>
                        </a:ext>
                      </a:extLst>
                    </a:gridCol>
                  </a:tblGrid>
                  <a:tr h="370840">
                    <a:tc>
                      <a:txBody>
                        <a:bodyPr/>
                        <a:lstStyle/>
                        <a:p>
                          <a:pPr algn="l"/>
                          <a:r>
                            <a:rPr lang="en-US" sz="2000" b="1" dirty="0"/>
                            <a:t>Search Strategy</a:t>
                          </a:r>
                        </a:p>
                      </a:txBody>
                      <a:tcPr/>
                    </a:tc>
                    <a:tc>
                      <a:txBody>
                        <a:bodyPr/>
                        <a:lstStyle/>
                        <a:p>
                          <a:pPr algn="ctr"/>
                          <a:r>
                            <a:rPr lang="en-US" sz="2000" dirty="0"/>
                            <a:t>Evaluation function </a:t>
                          </a:r>
                          <a14:m>
                            <m:oMath xmlns:m="http://schemas.openxmlformats.org/officeDocument/2006/math">
                              <m:r>
                                <a:rPr lang="en-US" sz="2000" b="1" i="1" smtClean="0">
                                  <a:latin typeface="Cambria Math" panose="02040503050406030204" pitchFamily="18" charset="0"/>
                                </a:rPr>
                                <m:t>𝒇</m:t>
                              </m:r>
                              <m:r>
                                <a:rPr lang="en-US" sz="2000" b="1" i="1" smtClean="0">
                                  <a:latin typeface="Cambria Math" panose="02040503050406030204" pitchFamily="18" charset="0"/>
                                </a:rPr>
                                <m:t>(</m:t>
                              </m:r>
                              <m:r>
                                <a:rPr lang="en-US" sz="2000" b="1" i="1" smtClean="0">
                                  <a:latin typeface="Cambria Math" panose="02040503050406030204" pitchFamily="18" charset="0"/>
                                </a:rPr>
                                <m:t>𝒏</m:t>
                              </m:r>
                              <m:r>
                                <a:rPr lang="en-US" sz="2000" b="1" i="1" smtClean="0">
                                  <a:latin typeface="Cambria Math" panose="02040503050406030204" pitchFamily="18" charset="0"/>
                                </a:rPr>
                                <m:t>)</m:t>
                              </m:r>
                            </m:oMath>
                          </a14:m>
                          <a:endParaRPr lang="en-US" sz="2000" dirty="0"/>
                        </a:p>
                      </a:txBody>
                      <a:tcPr/>
                    </a:tc>
                    <a:extLst>
                      <a:ext uri="{0D108BD9-81ED-4DB2-BD59-A6C34878D82A}">
                        <a16:rowId xmlns:a16="http://schemas.microsoft.com/office/drawing/2014/main" val="32724796"/>
                      </a:ext>
                    </a:extLst>
                  </a:tr>
                  <a:tr h="370840">
                    <a:tc>
                      <a:txBody>
                        <a:bodyPr/>
                        <a:lstStyle/>
                        <a:p>
                          <a:r>
                            <a:rPr lang="en-US" sz="2000" b="1" dirty="0"/>
                            <a:t>BFS (Breadth-first search)</a:t>
                          </a:r>
                        </a:p>
                      </a:txBody>
                      <a:tcPr/>
                    </a:tc>
                    <a:tc>
                      <a:txBody>
                        <a:bodyPr/>
                        <a:lstStyle/>
                        <a:p>
                          <a:pPr marL="0" marR="0" lvl="0" indent="0" algn="ctr" defTabSz="685800" rtl="0" eaLnBrk="1" fontAlgn="auto" latinLnBrk="0" hangingPunct="1">
                            <a:lnSpc>
                              <a:spcPct val="100000"/>
                            </a:lnSpc>
                            <a:spcBef>
                              <a:spcPts val="0"/>
                            </a:spcBef>
                            <a:spcAft>
                              <a:spcPts val="0"/>
                            </a:spcAft>
                            <a:buClrTx/>
                            <a:buSzTx/>
                            <a:buFontTx/>
                            <a:buNone/>
                            <a:tabLst/>
                            <a:defRPr/>
                          </a:pPr>
                          <a14:m>
                            <m:oMath xmlns:m="http://schemas.openxmlformats.org/officeDocument/2006/math">
                              <m:r>
                                <a:rPr lang="en-US" sz="2000" b="0" i="1" dirty="0" smtClean="0">
                                  <a:latin typeface="Cambria Math" panose="02040503050406030204" pitchFamily="18" charset="0"/>
                                </a:rPr>
                                <m:t>𝑔</m:t>
                              </m:r>
                              <m:r>
                                <a:rPr lang="en-US" sz="2000" b="0" i="1" dirty="0" smtClean="0">
                                  <a:latin typeface="Cambria Math" panose="02040503050406030204" pitchFamily="18" charset="0"/>
                                </a:rPr>
                                <m:t>(</m:t>
                              </m:r>
                              <m:r>
                                <a:rPr lang="en-US" sz="2000" b="0" i="1" dirty="0" smtClean="0">
                                  <a:latin typeface="Cambria Math" panose="02040503050406030204" pitchFamily="18" charset="0"/>
                                </a:rPr>
                                <m:t>𝑛</m:t>
                              </m:r>
                              <m:r>
                                <a:rPr lang="en-US" sz="2000" b="0" i="1" dirty="0" smtClean="0">
                                  <a:latin typeface="Cambria Math" panose="02040503050406030204" pitchFamily="18" charset="0"/>
                                </a:rPr>
                                <m:t>)</m:t>
                              </m:r>
                            </m:oMath>
                          </a14:m>
                          <a:r>
                            <a:rPr lang="en-US" sz="2000" dirty="0"/>
                            <a:t> (=uniform path cost)</a:t>
                          </a:r>
                        </a:p>
                      </a:txBody>
                      <a:tcPr/>
                    </a:tc>
                    <a:extLst>
                      <a:ext uri="{0D108BD9-81ED-4DB2-BD59-A6C34878D82A}">
                        <a16:rowId xmlns:a16="http://schemas.microsoft.com/office/drawing/2014/main" val="1409969715"/>
                      </a:ext>
                    </a:extLst>
                  </a:tr>
                  <a:tr h="370840">
                    <a:tc>
                      <a:txBody>
                        <a:bodyPr/>
                        <a:lstStyle/>
                        <a:p>
                          <a:r>
                            <a:rPr lang="en-US" sz="2000" b="1" dirty="0"/>
                            <a:t>Uniform-cost Search</a:t>
                          </a:r>
                        </a:p>
                      </a:txBody>
                      <a:tcPr/>
                    </a:tc>
                    <a:tc>
                      <a:txBody>
                        <a:bodyPr/>
                        <a:lstStyle/>
                        <a:p>
                          <a:pPr algn="ctr"/>
                          <a14:m>
                            <m:oMath xmlns:m="http://schemas.openxmlformats.org/officeDocument/2006/math">
                              <m:r>
                                <a:rPr lang="en-US" sz="2000" b="0" i="1" dirty="0" smtClean="0">
                                  <a:latin typeface="Cambria Math" panose="02040503050406030204" pitchFamily="18" charset="0"/>
                                </a:rPr>
                                <m:t>𝑔</m:t>
                              </m:r>
                              <m:r>
                                <a:rPr lang="en-US" sz="2000" b="0" i="1" dirty="0" smtClean="0">
                                  <a:latin typeface="Cambria Math" panose="02040503050406030204" pitchFamily="18" charset="0"/>
                                </a:rPr>
                                <m:t>(</m:t>
                              </m:r>
                              <m:r>
                                <a:rPr lang="en-US" sz="2000" b="0" i="1" dirty="0" smtClean="0">
                                  <a:latin typeface="Cambria Math" panose="02040503050406030204" pitchFamily="18" charset="0"/>
                                </a:rPr>
                                <m:t>𝑛</m:t>
                              </m:r>
                              <m:r>
                                <a:rPr lang="en-US" sz="2000" b="0" i="1" dirty="0" smtClean="0">
                                  <a:latin typeface="Cambria Math" panose="02040503050406030204" pitchFamily="18" charset="0"/>
                                </a:rPr>
                                <m:t>)</m:t>
                              </m:r>
                            </m:oMath>
                          </a14:m>
                          <a:r>
                            <a:rPr lang="en-US" sz="2000" dirty="0"/>
                            <a:t> (=path cost)</a:t>
                          </a:r>
                        </a:p>
                      </a:txBody>
                      <a:tcPr/>
                    </a:tc>
                    <a:extLst>
                      <a:ext uri="{0D108BD9-81ED-4DB2-BD59-A6C34878D82A}">
                        <a16:rowId xmlns:a16="http://schemas.microsoft.com/office/drawing/2014/main" val="3724469291"/>
                      </a:ext>
                    </a:extLst>
                  </a:tr>
                  <a:tr h="370840">
                    <a:tc>
                      <a:txBody>
                        <a:bodyPr/>
                        <a:lstStyle/>
                        <a:p>
                          <a:r>
                            <a:rPr lang="en-US" sz="2000" b="1" dirty="0"/>
                            <a:t>DFS/IDS (see note below!)</a:t>
                          </a:r>
                        </a:p>
                      </a:txBody>
                      <a:tcPr/>
                    </a:tc>
                    <a:tc>
                      <a:txBody>
                        <a:bodyPr/>
                        <a:lstStyle/>
                        <a:p>
                          <a:pPr/>
                          <a14:m>
                            <m:oMathPara xmlns:m="http://schemas.openxmlformats.org/officeDocument/2006/math">
                              <m:oMathParaPr>
                                <m:jc m:val="centerGroup"/>
                              </m:oMathParaPr>
                              <m:oMath xmlns:m="http://schemas.openxmlformats.org/officeDocument/2006/math">
                                <m:r>
                                  <a:rPr lang="en-US" sz="2000" i="1" dirty="0" smtClean="0">
                                    <a:latin typeface="Cambria Math" panose="02040503050406030204" pitchFamily="18" charset="0"/>
                                  </a:rPr>
                                  <m:t>−</m:t>
                                </m:r>
                                <m:r>
                                  <a:rPr lang="en-US" sz="2000" b="0" i="1" dirty="0" smtClean="0">
                                    <a:latin typeface="Cambria Math" panose="02040503050406030204" pitchFamily="18" charset="0"/>
                                  </a:rPr>
                                  <m:t>𝑔</m:t>
                                </m:r>
                                <m:r>
                                  <a:rPr lang="en-US" sz="2000" b="0" i="1" dirty="0" smtClean="0">
                                    <a:latin typeface="Cambria Math" panose="02040503050406030204" pitchFamily="18" charset="0"/>
                                  </a:rPr>
                                  <m:t>(</m:t>
                                </m:r>
                                <m:r>
                                  <a:rPr lang="en-US" sz="2000" b="0" i="1" dirty="0" smtClean="0">
                                    <a:latin typeface="Cambria Math" panose="02040503050406030204" pitchFamily="18" charset="0"/>
                                  </a:rPr>
                                  <m:t>𝑛</m:t>
                                </m:r>
                                <m:r>
                                  <a:rPr lang="en-US" sz="2000" b="0" i="1" dirty="0" smtClean="0">
                                    <a:latin typeface="Cambria Math" panose="02040503050406030204" pitchFamily="18" charset="0"/>
                                  </a:rPr>
                                  <m:t>)</m:t>
                                </m:r>
                              </m:oMath>
                            </m:oMathPara>
                          </a14:m>
                          <a:endParaRPr lang="en-US" sz="2000" dirty="0"/>
                        </a:p>
                      </a:txBody>
                      <a:tcPr/>
                    </a:tc>
                    <a:extLst>
                      <a:ext uri="{0D108BD9-81ED-4DB2-BD59-A6C34878D82A}">
                        <a16:rowId xmlns:a16="http://schemas.microsoft.com/office/drawing/2014/main" val="1255110076"/>
                      </a:ext>
                    </a:extLst>
                  </a:tr>
                  <a:tr h="370840">
                    <a:tc>
                      <a:txBody>
                        <a:bodyPr/>
                        <a:lstStyle/>
                        <a:p>
                          <a:r>
                            <a:rPr lang="en-US" sz="2000" b="1" dirty="0"/>
                            <a:t>Greedy Best-first Search</a:t>
                          </a:r>
                        </a:p>
                      </a:txBody>
                      <a:tcPr/>
                    </a:tc>
                    <a:tc>
                      <a:txBody>
                        <a:bodyPr/>
                        <a:lstStyle/>
                        <a:p>
                          <a:pPr/>
                          <a14:m>
                            <m:oMathPara xmlns:m="http://schemas.openxmlformats.org/officeDocument/2006/math">
                              <m:oMathParaPr>
                                <m:jc m:val="centerGroup"/>
                              </m:oMathParaPr>
                              <m:oMath xmlns:m="http://schemas.openxmlformats.org/officeDocument/2006/math">
                                <m:r>
                                  <a:rPr lang="en-US" sz="2000" b="0" i="1" smtClean="0">
                                    <a:latin typeface="Cambria Math" panose="02040503050406030204" pitchFamily="18" charset="0"/>
                                  </a:rPr>
                                  <m:t>h</m:t>
                                </m:r>
                                <m:r>
                                  <a:rPr lang="en-US" sz="2000" b="0" i="1" smtClean="0">
                                    <a:latin typeface="Cambria Math" panose="02040503050406030204" pitchFamily="18" charset="0"/>
                                  </a:rPr>
                                  <m:t>(</m:t>
                                </m:r>
                                <m:r>
                                  <a:rPr lang="en-US" sz="2000" b="0" i="1" smtClean="0">
                                    <a:latin typeface="Cambria Math" panose="02040503050406030204" pitchFamily="18" charset="0"/>
                                  </a:rPr>
                                  <m:t>𝑛</m:t>
                                </m:r>
                                <m:r>
                                  <a:rPr lang="en-US" sz="2000" b="0" i="1" smtClean="0">
                                    <a:latin typeface="Cambria Math" panose="02040503050406030204" pitchFamily="18" charset="0"/>
                                  </a:rPr>
                                  <m:t>)</m:t>
                                </m:r>
                              </m:oMath>
                            </m:oMathPara>
                          </a14:m>
                          <a:endParaRPr lang="en-US" sz="2000" dirty="0"/>
                        </a:p>
                      </a:txBody>
                      <a:tcPr/>
                    </a:tc>
                    <a:extLst>
                      <a:ext uri="{0D108BD9-81ED-4DB2-BD59-A6C34878D82A}">
                        <a16:rowId xmlns:a16="http://schemas.microsoft.com/office/drawing/2014/main" val="3556244319"/>
                      </a:ext>
                    </a:extLst>
                  </a:tr>
                  <a:tr h="370840">
                    <a:tc>
                      <a:txBody>
                        <a:bodyPr/>
                        <a:lstStyle/>
                        <a:p>
                          <a:r>
                            <a:rPr lang="en-US" sz="2000" b="1" dirty="0"/>
                            <a:t>(weighted) A* Search</a:t>
                          </a:r>
                        </a:p>
                      </a:txBody>
                      <a:tcPr/>
                    </a:tc>
                    <a:tc>
                      <a:txBody>
                        <a:bodyPr/>
                        <a:lstStyle/>
                        <a:p>
                          <a:pPr/>
                          <a14:m>
                            <m:oMathPara xmlns:m="http://schemas.openxmlformats.org/officeDocument/2006/math">
                              <m:oMathParaPr>
                                <m:jc m:val="centerGroup"/>
                              </m:oMathParaPr>
                              <m:oMath xmlns:m="http://schemas.openxmlformats.org/officeDocument/2006/math">
                                <m:r>
                                  <a:rPr lang="en-US" sz="2000" b="0" i="1" smtClean="0">
                                    <a:latin typeface="Cambria Math" panose="02040503050406030204" pitchFamily="18" charset="0"/>
                                  </a:rPr>
                                  <m:t>𝑔</m:t>
                                </m:r>
                                <m:d>
                                  <m:dPr>
                                    <m:ctrlPr>
                                      <a:rPr lang="en-US" sz="2000" b="0" i="1" smtClean="0">
                                        <a:latin typeface="Cambria Math" panose="02040503050406030204" pitchFamily="18" charset="0"/>
                                      </a:rPr>
                                    </m:ctrlPr>
                                  </m:dPr>
                                  <m:e>
                                    <m:r>
                                      <a:rPr lang="en-US" sz="2000" b="0" i="1" smtClean="0">
                                        <a:latin typeface="Cambria Math" panose="02040503050406030204" pitchFamily="18" charset="0"/>
                                      </a:rPr>
                                      <m:t>𝑛</m:t>
                                    </m:r>
                                  </m:e>
                                </m:d>
                                <m:r>
                                  <a:rPr lang="en-US" sz="2000" b="0" i="1" smtClean="0">
                                    <a:latin typeface="Cambria Math" panose="02040503050406030204" pitchFamily="18" charset="0"/>
                                  </a:rPr>
                                  <m:t>+</m:t>
                                </m:r>
                                <m:r>
                                  <a:rPr lang="en-US" sz="2000" b="0" i="1" smtClean="0">
                                    <a:latin typeface="Cambria Math" panose="02040503050406030204" pitchFamily="18" charset="0"/>
                                  </a:rPr>
                                  <m:t>𝑊</m:t>
                                </m:r>
                                <m:r>
                                  <a:rPr lang="en-US" sz="2000" b="0" i="1" smtClean="0">
                                    <a:latin typeface="Cambria Math" panose="02040503050406030204" pitchFamily="18" charset="0"/>
                                  </a:rPr>
                                  <m:t>×</m:t>
                                </m:r>
                                <m:r>
                                  <a:rPr lang="en-US" sz="2000" b="0" i="1" smtClean="0">
                                    <a:latin typeface="Cambria Math" panose="02040503050406030204" pitchFamily="18" charset="0"/>
                                  </a:rPr>
                                  <m:t>h</m:t>
                                </m:r>
                                <m:r>
                                  <a:rPr lang="en-US" sz="2000" b="0" i="1" smtClean="0">
                                    <a:latin typeface="Cambria Math" panose="02040503050406030204" pitchFamily="18" charset="0"/>
                                  </a:rPr>
                                  <m:t>(</m:t>
                                </m:r>
                                <m:r>
                                  <a:rPr lang="en-US" sz="2000" b="0" i="1" smtClean="0">
                                    <a:latin typeface="Cambria Math" panose="02040503050406030204" pitchFamily="18" charset="0"/>
                                  </a:rPr>
                                  <m:t>𝑛</m:t>
                                </m:r>
                                <m:r>
                                  <a:rPr lang="en-US" sz="2000" b="0" i="1" smtClean="0">
                                    <a:latin typeface="Cambria Math" panose="02040503050406030204" pitchFamily="18" charset="0"/>
                                  </a:rPr>
                                  <m:t>)</m:t>
                                </m:r>
                              </m:oMath>
                            </m:oMathPara>
                          </a14:m>
                          <a:endParaRPr lang="en-US" sz="2000" dirty="0"/>
                        </a:p>
                      </a:txBody>
                      <a:tcPr/>
                    </a:tc>
                    <a:extLst>
                      <a:ext uri="{0D108BD9-81ED-4DB2-BD59-A6C34878D82A}">
                        <a16:rowId xmlns:a16="http://schemas.microsoft.com/office/drawing/2014/main" val="3585196568"/>
                      </a:ext>
                    </a:extLst>
                  </a:tr>
                </a:tbl>
              </a:graphicData>
            </a:graphic>
          </p:graphicFrame>
        </mc:Choice>
        <mc:Fallback xmlns="">
          <p:graphicFrame>
            <p:nvGraphicFramePr>
              <p:cNvPr id="7" name="Table 7">
                <a:extLst>
                  <a:ext uri="{FF2B5EF4-FFF2-40B4-BE49-F238E27FC236}">
                    <a16:creationId xmlns:a16="http://schemas.microsoft.com/office/drawing/2014/main" id="{F801AAD9-28D9-4F75-AA97-25540DA4F5E3}"/>
                  </a:ext>
                </a:extLst>
              </p:cNvPr>
              <p:cNvGraphicFramePr>
                <a:graphicFrameLocks noGrp="1"/>
              </p:cNvGraphicFramePr>
              <p:nvPr>
                <p:extLst>
                  <p:ext uri="{D42A27DB-BD31-4B8C-83A1-F6EECF244321}">
                    <p14:modId xmlns:p14="http://schemas.microsoft.com/office/powerpoint/2010/main" val="2046048234"/>
                  </p:ext>
                </p:extLst>
              </p:nvPr>
            </p:nvGraphicFramePr>
            <p:xfrm>
              <a:off x="1295400" y="2667000"/>
              <a:ext cx="6553200" cy="2377440"/>
            </p:xfrm>
            <a:graphic>
              <a:graphicData uri="http://schemas.openxmlformats.org/drawingml/2006/table">
                <a:tbl>
                  <a:tblPr firstRow="1" bandRow="1">
                    <a:tableStyleId>{5C22544A-7EE6-4342-B048-85BDC9FD1C3A}</a:tableStyleId>
                  </a:tblPr>
                  <a:tblGrid>
                    <a:gridCol w="3581400">
                      <a:extLst>
                        <a:ext uri="{9D8B030D-6E8A-4147-A177-3AD203B41FA5}">
                          <a16:colId xmlns:a16="http://schemas.microsoft.com/office/drawing/2014/main" val="2199455995"/>
                        </a:ext>
                      </a:extLst>
                    </a:gridCol>
                    <a:gridCol w="2971800">
                      <a:extLst>
                        <a:ext uri="{9D8B030D-6E8A-4147-A177-3AD203B41FA5}">
                          <a16:colId xmlns:a16="http://schemas.microsoft.com/office/drawing/2014/main" val="2480919178"/>
                        </a:ext>
                      </a:extLst>
                    </a:gridCol>
                  </a:tblGrid>
                  <a:tr h="396240">
                    <a:tc>
                      <a:txBody>
                        <a:bodyPr/>
                        <a:lstStyle/>
                        <a:p>
                          <a:pPr algn="l"/>
                          <a:r>
                            <a:rPr lang="en-US" sz="2000" b="1" dirty="0"/>
                            <a:t>Search Strategy</a:t>
                          </a:r>
                        </a:p>
                      </a:txBody>
                      <a:tcPr/>
                    </a:tc>
                    <a:tc>
                      <a:txBody>
                        <a:bodyPr/>
                        <a:lstStyle/>
                        <a:p>
                          <a:endParaRPr lang="en-US"/>
                        </a:p>
                      </a:txBody>
                      <a:tcPr>
                        <a:blipFill>
                          <a:blip r:embed="rId4"/>
                          <a:stretch>
                            <a:fillRect l="-120697" t="-7692" r="-820" b="-527692"/>
                          </a:stretch>
                        </a:blipFill>
                      </a:tcPr>
                    </a:tc>
                    <a:extLst>
                      <a:ext uri="{0D108BD9-81ED-4DB2-BD59-A6C34878D82A}">
                        <a16:rowId xmlns:a16="http://schemas.microsoft.com/office/drawing/2014/main" val="32724796"/>
                      </a:ext>
                    </a:extLst>
                  </a:tr>
                  <a:tr h="396240">
                    <a:tc>
                      <a:txBody>
                        <a:bodyPr/>
                        <a:lstStyle/>
                        <a:p>
                          <a:r>
                            <a:rPr lang="en-US" sz="2000" b="1" dirty="0"/>
                            <a:t>BFS (Breadth-first search)</a:t>
                          </a:r>
                        </a:p>
                      </a:txBody>
                      <a:tcPr/>
                    </a:tc>
                    <a:tc>
                      <a:txBody>
                        <a:bodyPr/>
                        <a:lstStyle/>
                        <a:p>
                          <a:endParaRPr lang="en-US"/>
                        </a:p>
                      </a:txBody>
                      <a:tcPr>
                        <a:blipFill>
                          <a:blip r:embed="rId4"/>
                          <a:stretch>
                            <a:fillRect l="-120697" t="-107692" r="-820" b="-427692"/>
                          </a:stretch>
                        </a:blipFill>
                      </a:tcPr>
                    </a:tc>
                    <a:extLst>
                      <a:ext uri="{0D108BD9-81ED-4DB2-BD59-A6C34878D82A}">
                        <a16:rowId xmlns:a16="http://schemas.microsoft.com/office/drawing/2014/main" val="1409969715"/>
                      </a:ext>
                    </a:extLst>
                  </a:tr>
                  <a:tr h="396240">
                    <a:tc>
                      <a:txBody>
                        <a:bodyPr/>
                        <a:lstStyle/>
                        <a:p>
                          <a:r>
                            <a:rPr lang="en-US" sz="2000" b="1" dirty="0"/>
                            <a:t>Uniform-cost Search</a:t>
                          </a:r>
                        </a:p>
                      </a:txBody>
                      <a:tcPr/>
                    </a:tc>
                    <a:tc>
                      <a:txBody>
                        <a:bodyPr/>
                        <a:lstStyle/>
                        <a:p>
                          <a:endParaRPr lang="en-US"/>
                        </a:p>
                      </a:txBody>
                      <a:tcPr>
                        <a:blipFill>
                          <a:blip r:embed="rId4"/>
                          <a:stretch>
                            <a:fillRect l="-120697" t="-204545" r="-820" b="-321212"/>
                          </a:stretch>
                        </a:blipFill>
                      </a:tcPr>
                    </a:tc>
                    <a:extLst>
                      <a:ext uri="{0D108BD9-81ED-4DB2-BD59-A6C34878D82A}">
                        <a16:rowId xmlns:a16="http://schemas.microsoft.com/office/drawing/2014/main" val="3724469291"/>
                      </a:ext>
                    </a:extLst>
                  </a:tr>
                  <a:tr h="396240">
                    <a:tc>
                      <a:txBody>
                        <a:bodyPr/>
                        <a:lstStyle/>
                        <a:p>
                          <a:r>
                            <a:rPr lang="en-US" sz="2000" b="1" dirty="0"/>
                            <a:t>DFS/IDS (see note below!)</a:t>
                          </a:r>
                        </a:p>
                      </a:txBody>
                      <a:tcPr/>
                    </a:tc>
                    <a:tc>
                      <a:txBody>
                        <a:bodyPr/>
                        <a:lstStyle/>
                        <a:p>
                          <a:endParaRPr lang="en-US"/>
                        </a:p>
                      </a:txBody>
                      <a:tcPr>
                        <a:blipFill>
                          <a:blip r:embed="rId4"/>
                          <a:stretch>
                            <a:fillRect l="-120697" t="-309231" r="-820" b="-226154"/>
                          </a:stretch>
                        </a:blipFill>
                      </a:tcPr>
                    </a:tc>
                    <a:extLst>
                      <a:ext uri="{0D108BD9-81ED-4DB2-BD59-A6C34878D82A}">
                        <a16:rowId xmlns:a16="http://schemas.microsoft.com/office/drawing/2014/main" val="1255110076"/>
                      </a:ext>
                    </a:extLst>
                  </a:tr>
                  <a:tr h="396240">
                    <a:tc>
                      <a:txBody>
                        <a:bodyPr/>
                        <a:lstStyle/>
                        <a:p>
                          <a:r>
                            <a:rPr lang="en-US" sz="2000" b="1" dirty="0"/>
                            <a:t>Greedy Best-first Search</a:t>
                          </a:r>
                        </a:p>
                      </a:txBody>
                      <a:tcPr/>
                    </a:tc>
                    <a:tc>
                      <a:txBody>
                        <a:bodyPr/>
                        <a:lstStyle/>
                        <a:p>
                          <a:endParaRPr lang="en-US"/>
                        </a:p>
                      </a:txBody>
                      <a:tcPr>
                        <a:blipFill>
                          <a:blip r:embed="rId4"/>
                          <a:stretch>
                            <a:fillRect l="-120697" t="-409231" r="-820" b="-126154"/>
                          </a:stretch>
                        </a:blipFill>
                      </a:tcPr>
                    </a:tc>
                    <a:extLst>
                      <a:ext uri="{0D108BD9-81ED-4DB2-BD59-A6C34878D82A}">
                        <a16:rowId xmlns:a16="http://schemas.microsoft.com/office/drawing/2014/main" val="3556244319"/>
                      </a:ext>
                    </a:extLst>
                  </a:tr>
                  <a:tr h="396240">
                    <a:tc>
                      <a:txBody>
                        <a:bodyPr/>
                        <a:lstStyle/>
                        <a:p>
                          <a:r>
                            <a:rPr lang="en-US" sz="2000" b="1" dirty="0"/>
                            <a:t>(weighted) A* Search</a:t>
                          </a:r>
                        </a:p>
                      </a:txBody>
                      <a:tcPr/>
                    </a:tc>
                    <a:tc>
                      <a:txBody>
                        <a:bodyPr/>
                        <a:lstStyle/>
                        <a:p>
                          <a:endParaRPr lang="en-US"/>
                        </a:p>
                      </a:txBody>
                      <a:tcPr>
                        <a:blipFill>
                          <a:blip r:embed="rId4"/>
                          <a:stretch>
                            <a:fillRect l="-120697" t="-509231" r="-820" b="-26154"/>
                          </a:stretch>
                        </a:blipFill>
                      </a:tcPr>
                    </a:tc>
                    <a:extLst>
                      <a:ext uri="{0D108BD9-81ED-4DB2-BD59-A6C34878D82A}">
                        <a16:rowId xmlns:a16="http://schemas.microsoft.com/office/drawing/2014/main" val="3585196568"/>
                      </a:ext>
                    </a:extLst>
                  </a:tr>
                </a:tbl>
              </a:graphicData>
            </a:graphic>
          </p:graphicFrame>
        </mc:Fallback>
      </mc:AlternateContent>
      <p:cxnSp>
        <p:nvCxnSpPr>
          <p:cNvPr id="4" name="Straight Connector 3">
            <a:extLst>
              <a:ext uri="{FF2B5EF4-FFF2-40B4-BE49-F238E27FC236}">
                <a16:creationId xmlns:a16="http://schemas.microsoft.com/office/drawing/2014/main" id="{483C12D9-C856-3E61-7BF4-004C6C90F0D9}"/>
              </a:ext>
            </a:extLst>
          </p:cNvPr>
          <p:cNvCxnSpPr/>
          <p:nvPr/>
        </p:nvCxnSpPr>
        <p:spPr>
          <a:xfrm>
            <a:off x="1295400" y="4038600"/>
            <a:ext cx="5867400" cy="0"/>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31180083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
                                            <p:txEl>
                                              <p:pRg st="12" end="12"/>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36" name="Rectangle 35">
            <a:extLst>
              <a:ext uri="{FF2B5EF4-FFF2-40B4-BE49-F238E27FC236}">
                <a16:creationId xmlns:a16="http://schemas.microsoft.com/office/drawing/2014/main" id="{04C21BAE-6866-4C7A-A7EC-C1B2E572D5B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9144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6" name="Picture 15" descr="Small tree">
            <a:extLst>
              <a:ext uri="{FF2B5EF4-FFF2-40B4-BE49-F238E27FC236}">
                <a16:creationId xmlns:a16="http://schemas.microsoft.com/office/drawing/2014/main" id="{022110FC-111E-941D-69CB-20CE67DC97C2}"/>
              </a:ext>
            </a:extLst>
          </p:cNvPr>
          <p:cNvPicPr>
            <a:picLocks noChangeAspect="1"/>
          </p:cNvPicPr>
          <p:nvPr/>
        </p:nvPicPr>
        <p:blipFill>
          <a:blip r:embed="rId2"/>
          <a:srcRect r="10999" b="-2"/>
          <a:stretch/>
        </p:blipFill>
        <p:spPr>
          <a:xfrm>
            <a:off x="20" y="1"/>
            <a:ext cx="9143980" cy="6857999"/>
          </a:xfrm>
          <a:prstGeom prst="rect">
            <a:avLst/>
          </a:prstGeom>
        </p:spPr>
      </p:pic>
      <p:sp useBgFill="1">
        <p:nvSpPr>
          <p:cNvPr id="38" name="Freeform: Shape 37">
            <a:extLst>
              <a:ext uri="{FF2B5EF4-FFF2-40B4-BE49-F238E27FC236}">
                <a16:creationId xmlns:a16="http://schemas.microsoft.com/office/drawing/2014/main" id="{7E7D0C94-08B4-48AE-8813-CC4D60294F4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645694" y="609600"/>
            <a:ext cx="4029076" cy="5513767"/>
          </a:xfrm>
          <a:custGeom>
            <a:avLst/>
            <a:gdLst>
              <a:gd name="connsiteX0" fmla="*/ 0 w 5372101"/>
              <a:gd name="connsiteY0" fmla="*/ 0 h 5513767"/>
              <a:gd name="connsiteX1" fmla="*/ 5372101 w 5372101"/>
              <a:gd name="connsiteY1" fmla="*/ 0 h 5513767"/>
              <a:gd name="connsiteX2" fmla="*/ 5372101 w 5372101"/>
              <a:gd name="connsiteY2" fmla="*/ 5513767 h 5513767"/>
              <a:gd name="connsiteX3" fmla="*/ 5363126 w 5372101"/>
              <a:gd name="connsiteY3" fmla="*/ 5512835 h 5513767"/>
              <a:gd name="connsiteX4" fmla="*/ 5316714 w 5372101"/>
              <a:gd name="connsiteY4" fmla="*/ 5491247 h 5513767"/>
              <a:gd name="connsiteX5" fmla="*/ 5198331 w 5372101"/>
              <a:gd name="connsiteY5" fmla="*/ 5470092 h 5513767"/>
              <a:gd name="connsiteX6" fmla="*/ 5150428 w 5372101"/>
              <a:gd name="connsiteY6" fmla="*/ 5472506 h 5513767"/>
              <a:gd name="connsiteX7" fmla="*/ 5085506 w 5372101"/>
              <a:gd name="connsiteY7" fmla="*/ 5468851 h 5513767"/>
              <a:gd name="connsiteX8" fmla="*/ 4968663 w 5372101"/>
              <a:gd name="connsiteY8" fmla="*/ 5470487 h 5513767"/>
              <a:gd name="connsiteX9" fmla="*/ 4815623 w 5372101"/>
              <a:gd name="connsiteY9" fmla="*/ 5458622 h 5513767"/>
              <a:gd name="connsiteX10" fmla="*/ 4716679 w 5372101"/>
              <a:gd name="connsiteY10" fmla="*/ 5405365 h 5513767"/>
              <a:gd name="connsiteX11" fmla="*/ 4704891 w 5372101"/>
              <a:gd name="connsiteY11" fmla="*/ 5411529 h 5513767"/>
              <a:gd name="connsiteX12" fmla="*/ 4630496 w 5372101"/>
              <a:gd name="connsiteY12" fmla="*/ 5396532 h 5513767"/>
              <a:gd name="connsiteX13" fmla="*/ 4506964 w 5372101"/>
              <a:gd name="connsiteY13" fmla="*/ 5396685 h 5513767"/>
              <a:gd name="connsiteX14" fmla="*/ 4427135 w 5372101"/>
              <a:gd name="connsiteY14" fmla="*/ 5358585 h 5513767"/>
              <a:gd name="connsiteX15" fmla="*/ 4028338 w 5372101"/>
              <a:gd name="connsiteY15" fmla="*/ 5313494 h 5513767"/>
              <a:gd name="connsiteX16" fmla="*/ 4015367 w 5372101"/>
              <a:gd name="connsiteY16" fmla="*/ 5320766 h 5513767"/>
              <a:gd name="connsiteX17" fmla="*/ 4002837 w 5372101"/>
              <a:gd name="connsiteY17" fmla="*/ 5322294 h 5513767"/>
              <a:gd name="connsiteX18" fmla="*/ 3997650 w 5372101"/>
              <a:gd name="connsiteY18" fmla="*/ 5329513 h 5513767"/>
              <a:gd name="connsiteX19" fmla="*/ 3991991 w 5372101"/>
              <a:gd name="connsiteY19" fmla="*/ 5331908 h 5513767"/>
              <a:gd name="connsiteX20" fmla="*/ 3925210 w 5372101"/>
              <a:gd name="connsiteY20" fmla="*/ 5319395 h 5513767"/>
              <a:gd name="connsiteX21" fmla="*/ 3837014 w 5372101"/>
              <a:gd name="connsiteY21" fmla="*/ 5289023 h 5513767"/>
              <a:gd name="connsiteX22" fmla="*/ 3798765 w 5372101"/>
              <a:gd name="connsiteY22" fmla="*/ 5299431 h 5513767"/>
              <a:gd name="connsiteX23" fmla="*/ 3792144 w 5372101"/>
              <a:gd name="connsiteY23" fmla="*/ 5301616 h 5513767"/>
              <a:gd name="connsiteX24" fmla="*/ 3766249 w 5372101"/>
              <a:gd name="connsiteY24" fmla="*/ 5301869 h 5513767"/>
              <a:gd name="connsiteX25" fmla="*/ 3718651 w 5372101"/>
              <a:gd name="connsiteY25" fmla="*/ 5320541 h 5513767"/>
              <a:gd name="connsiteX26" fmla="*/ 3671207 w 5372101"/>
              <a:gd name="connsiteY26" fmla="*/ 5318046 h 5513767"/>
              <a:gd name="connsiteX27" fmla="*/ 3446863 w 5372101"/>
              <a:gd name="connsiteY27" fmla="*/ 5294348 h 5513767"/>
              <a:gd name="connsiteX28" fmla="*/ 3312000 w 5372101"/>
              <a:gd name="connsiteY28" fmla="*/ 5286923 h 5513767"/>
              <a:gd name="connsiteX29" fmla="*/ 3259756 w 5372101"/>
              <a:gd name="connsiteY29" fmla="*/ 5294712 h 5513767"/>
              <a:gd name="connsiteX30" fmla="*/ 3187481 w 5372101"/>
              <a:gd name="connsiteY30" fmla="*/ 5298457 h 5513767"/>
              <a:gd name="connsiteX31" fmla="*/ 3124115 w 5372101"/>
              <a:gd name="connsiteY31" fmla="*/ 5294626 h 5513767"/>
              <a:gd name="connsiteX32" fmla="*/ 3099907 w 5372101"/>
              <a:gd name="connsiteY32" fmla="*/ 5302443 h 5513767"/>
              <a:gd name="connsiteX33" fmla="*/ 3017494 w 5372101"/>
              <a:gd name="connsiteY33" fmla="*/ 5301439 h 5513767"/>
              <a:gd name="connsiteX34" fmla="*/ 3010848 w 5372101"/>
              <a:gd name="connsiteY34" fmla="*/ 5307225 h 5513767"/>
              <a:gd name="connsiteX35" fmla="*/ 2994286 w 5372101"/>
              <a:gd name="connsiteY35" fmla="*/ 5309060 h 5513767"/>
              <a:gd name="connsiteX36" fmla="*/ 2988160 w 5372101"/>
              <a:gd name="connsiteY36" fmla="*/ 5310041 h 5513767"/>
              <a:gd name="connsiteX37" fmla="*/ 2984260 w 5372101"/>
              <a:gd name="connsiteY37" fmla="*/ 5307528 h 5513767"/>
              <a:gd name="connsiteX38" fmla="*/ 2979127 w 5372101"/>
              <a:gd name="connsiteY38" fmla="*/ 5308389 h 5513767"/>
              <a:gd name="connsiteX39" fmla="*/ 2978660 w 5372101"/>
              <a:gd name="connsiteY39" fmla="*/ 5311563 h 5513767"/>
              <a:gd name="connsiteX40" fmla="*/ 2946326 w 5372101"/>
              <a:gd name="connsiteY40" fmla="*/ 5316745 h 5513767"/>
              <a:gd name="connsiteX41" fmla="*/ 2713134 w 5372101"/>
              <a:gd name="connsiteY41" fmla="*/ 5331381 h 5513767"/>
              <a:gd name="connsiteX42" fmla="*/ 2352072 w 5372101"/>
              <a:gd name="connsiteY42" fmla="*/ 5342761 h 5513767"/>
              <a:gd name="connsiteX43" fmla="*/ 2260922 w 5372101"/>
              <a:gd name="connsiteY43" fmla="*/ 5328122 h 5513767"/>
              <a:gd name="connsiteX44" fmla="*/ 2178497 w 5372101"/>
              <a:gd name="connsiteY44" fmla="*/ 5351065 h 5513767"/>
              <a:gd name="connsiteX45" fmla="*/ 2034408 w 5372101"/>
              <a:gd name="connsiteY45" fmla="*/ 5307958 h 5513767"/>
              <a:gd name="connsiteX46" fmla="*/ 1831505 w 5372101"/>
              <a:gd name="connsiteY46" fmla="*/ 5312691 h 5513767"/>
              <a:gd name="connsiteX47" fmla="*/ 1710387 w 5372101"/>
              <a:gd name="connsiteY47" fmla="*/ 5308705 h 5513767"/>
              <a:gd name="connsiteX48" fmla="*/ 1664816 w 5372101"/>
              <a:gd name="connsiteY48" fmla="*/ 5296479 h 5513767"/>
              <a:gd name="connsiteX49" fmla="*/ 1600883 w 5372101"/>
              <a:gd name="connsiteY49" fmla="*/ 5286607 h 5513767"/>
              <a:gd name="connsiteX50" fmla="*/ 1488397 w 5372101"/>
              <a:gd name="connsiteY50" fmla="*/ 5260898 h 5513767"/>
              <a:gd name="connsiteX51" fmla="*/ 1336670 w 5372101"/>
              <a:gd name="connsiteY51" fmla="*/ 5240770 h 5513767"/>
              <a:gd name="connsiteX52" fmla="*/ 1224297 w 5372101"/>
              <a:gd name="connsiteY52" fmla="*/ 5271845 h 5513767"/>
              <a:gd name="connsiteX53" fmla="*/ 1214830 w 5372101"/>
              <a:gd name="connsiteY53" fmla="*/ 5263450 h 5513767"/>
              <a:gd name="connsiteX54" fmla="*/ 1138181 w 5372101"/>
              <a:gd name="connsiteY54" fmla="*/ 5262590 h 5513767"/>
              <a:gd name="connsiteX55" fmla="*/ 943575 w 5372101"/>
              <a:gd name="connsiteY55" fmla="*/ 5290808 h 5513767"/>
              <a:gd name="connsiteX56" fmla="*/ 529813 w 5372101"/>
              <a:gd name="connsiteY56" fmla="*/ 5218555 h 5513767"/>
              <a:gd name="connsiteX57" fmla="*/ 519546 w 5372101"/>
              <a:gd name="connsiteY57" fmla="*/ 5208845 h 5513767"/>
              <a:gd name="connsiteX58" fmla="*/ 507906 w 5372101"/>
              <a:gd name="connsiteY58" fmla="*/ 5204779 h 5513767"/>
              <a:gd name="connsiteX59" fmla="*/ 505153 w 5372101"/>
              <a:gd name="connsiteY59" fmla="*/ 5196726 h 5513767"/>
              <a:gd name="connsiteX60" fmla="*/ 500429 w 5372101"/>
              <a:gd name="connsiteY60" fmla="*/ 5193241 h 5513767"/>
              <a:gd name="connsiteX61" fmla="*/ 431923 w 5372101"/>
              <a:gd name="connsiteY61" fmla="*/ 5191553 h 5513767"/>
              <a:gd name="connsiteX62" fmla="*/ 337115 w 5372101"/>
              <a:gd name="connsiteY62" fmla="*/ 5202714 h 5513767"/>
              <a:gd name="connsiteX63" fmla="*/ 303383 w 5372101"/>
              <a:gd name="connsiteY63" fmla="*/ 5184750 h 5513767"/>
              <a:gd name="connsiteX64" fmla="*/ 297664 w 5372101"/>
              <a:gd name="connsiteY64" fmla="*/ 5181269 h 5513767"/>
              <a:gd name="connsiteX65" fmla="*/ 272701 w 5372101"/>
              <a:gd name="connsiteY65" fmla="*/ 5175678 h 5513767"/>
              <a:gd name="connsiteX66" fmla="*/ 268242 w 5372101"/>
              <a:gd name="connsiteY66" fmla="*/ 5163678 h 5513767"/>
              <a:gd name="connsiteX67" fmla="*/ 232517 w 5372101"/>
              <a:gd name="connsiteY67" fmla="*/ 5147792 h 5513767"/>
              <a:gd name="connsiteX68" fmla="*/ 185851 w 5372101"/>
              <a:gd name="connsiteY68" fmla="*/ 5140408 h 5513767"/>
              <a:gd name="connsiteX69" fmla="*/ 20337 w 5372101"/>
              <a:gd name="connsiteY69" fmla="*/ 5113040 h 5513767"/>
              <a:gd name="connsiteX70" fmla="*/ 0 w 5372101"/>
              <a:gd name="connsiteY70" fmla="*/ 5112243 h 551376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Lst>
            <a:rect l="l" t="t" r="r" b="b"/>
            <a:pathLst>
              <a:path w="5372101" h="5513767">
                <a:moveTo>
                  <a:pt x="0" y="0"/>
                </a:moveTo>
                <a:lnTo>
                  <a:pt x="5372101" y="0"/>
                </a:lnTo>
                <a:lnTo>
                  <a:pt x="5372101" y="5513767"/>
                </a:lnTo>
                <a:lnTo>
                  <a:pt x="5363126" y="5512835"/>
                </a:lnTo>
                <a:cubicBezTo>
                  <a:pt x="5345779" y="5509071"/>
                  <a:pt x="5329767" y="5502649"/>
                  <a:pt x="5316714" y="5491247"/>
                </a:cubicBezTo>
                <a:cubicBezTo>
                  <a:pt x="5295689" y="5478131"/>
                  <a:pt x="5219502" y="5459909"/>
                  <a:pt x="5198331" y="5470092"/>
                </a:cubicBezTo>
                <a:cubicBezTo>
                  <a:pt x="5181052" y="5469102"/>
                  <a:pt x="5165047" y="5459569"/>
                  <a:pt x="5150428" y="5472506"/>
                </a:cubicBezTo>
                <a:cubicBezTo>
                  <a:pt x="5129562" y="5487248"/>
                  <a:pt x="5088050" y="5445894"/>
                  <a:pt x="5085506" y="5468851"/>
                </a:cubicBezTo>
                <a:cubicBezTo>
                  <a:pt x="5055692" y="5440170"/>
                  <a:pt x="5006122" y="5469577"/>
                  <a:pt x="4968663" y="5470487"/>
                </a:cubicBezTo>
                <a:cubicBezTo>
                  <a:pt x="4947085" y="5444049"/>
                  <a:pt x="4889767" y="5472037"/>
                  <a:pt x="4815623" y="5458622"/>
                </a:cubicBezTo>
                <a:cubicBezTo>
                  <a:pt x="4792418" y="5428488"/>
                  <a:pt x="4765548" y="5449887"/>
                  <a:pt x="4716679" y="5405365"/>
                </a:cubicBezTo>
                <a:cubicBezTo>
                  <a:pt x="4713235" y="5407807"/>
                  <a:pt x="4709266" y="5409883"/>
                  <a:pt x="4704891" y="5411529"/>
                </a:cubicBezTo>
                <a:cubicBezTo>
                  <a:pt x="4679473" y="5421092"/>
                  <a:pt x="4646164" y="5414379"/>
                  <a:pt x="4630496" y="5396532"/>
                </a:cubicBezTo>
                <a:cubicBezTo>
                  <a:pt x="4590205" y="5365061"/>
                  <a:pt x="4548419" y="5412094"/>
                  <a:pt x="4506964" y="5396685"/>
                </a:cubicBezTo>
                <a:lnTo>
                  <a:pt x="4427135" y="5358585"/>
                </a:lnTo>
                <a:cubicBezTo>
                  <a:pt x="4319267" y="5308575"/>
                  <a:pt x="4152341" y="5340956"/>
                  <a:pt x="4028338" y="5313494"/>
                </a:cubicBezTo>
                <a:lnTo>
                  <a:pt x="4015367" y="5320766"/>
                </a:lnTo>
                <a:lnTo>
                  <a:pt x="4002837" y="5322294"/>
                </a:lnTo>
                <a:lnTo>
                  <a:pt x="3997650" y="5329513"/>
                </a:lnTo>
                <a:lnTo>
                  <a:pt x="3991991" y="5331908"/>
                </a:lnTo>
                <a:cubicBezTo>
                  <a:pt x="3969659" y="5338581"/>
                  <a:pt x="3978880" y="5316131"/>
                  <a:pt x="3925210" y="5319395"/>
                </a:cubicBezTo>
                <a:cubicBezTo>
                  <a:pt x="3947765" y="5277139"/>
                  <a:pt x="3837331" y="5338342"/>
                  <a:pt x="3837014" y="5289023"/>
                </a:cubicBezTo>
                <a:cubicBezTo>
                  <a:pt x="3824001" y="5291376"/>
                  <a:pt x="3811407" y="5295212"/>
                  <a:pt x="3798765" y="5299431"/>
                </a:cubicBezTo>
                <a:lnTo>
                  <a:pt x="3792144" y="5301616"/>
                </a:lnTo>
                <a:lnTo>
                  <a:pt x="3766249" y="5301869"/>
                </a:lnTo>
                <a:lnTo>
                  <a:pt x="3718651" y="5320541"/>
                </a:lnTo>
                <a:cubicBezTo>
                  <a:pt x="3703968" y="5321892"/>
                  <a:pt x="3688308" y="5321427"/>
                  <a:pt x="3671207" y="5318046"/>
                </a:cubicBezTo>
                <a:cubicBezTo>
                  <a:pt x="3616458" y="5288532"/>
                  <a:pt x="3514048" y="5333307"/>
                  <a:pt x="3446863" y="5294348"/>
                </a:cubicBezTo>
                <a:cubicBezTo>
                  <a:pt x="3420930" y="5283822"/>
                  <a:pt x="3333157" y="5274511"/>
                  <a:pt x="3312000" y="5286923"/>
                </a:cubicBezTo>
                <a:cubicBezTo>
                  <a:pt x="3292759" y="5287903"/>
                  <a:pt x="3273112" y="5280334"/>
                  <a:pt x="3259756" y="5294712"/>
                </a:cubicBezTo>
                <a:cubicBezTo>
                  <a:pt x="3239905" y="5311572"/>
                  <a:pt x="3185410" y="5275588"/>
                  <a:pt x="3187481" y="5298457"/>
                </a:cubicBezTo>
                <a:cubicBezTo>
                  <a:pt x="3168018" y="5286036"/>
                  <a:pt x="3146200" y="5288458"/>
                  <a:pt x="3124115" y="5294626"/>
                </a:cubicBezTo>
                <a:lnTo>
                  <a:pt x="3099907" y="5302443"/>
                </a:lnTo>
                <a:lnTo>
                  <a:pt x="3017494" y="5301439"/>
                </a:lnTo>
                <a:lnTo>
                  <a:pt x="3010848" y="5307225"/>
                </a:lnTo>
                <a:lnTo>
                  <a:pt x="2994286" y="5309060"/>
                </a:lnTo>
                <a:lnTo>
                  <a:pt x="2988160" y="5310041"/>
                </a:lnTo>
                <a:lnTo>
                  <a:pt x="2984260" y="5307528"/>
                </a:lnTo>
                <a:cubicBezTo>
                  <a:pt x="2981957" y="5306419"/>
                  <a:pt x="2980273" y="5306402"/>
                  <a:pt x="2979127" y="5308389"/>
                </a:cubicBezTo>
                <a:cubicBezTo>
                  <a:pt x="2978971" y="5309447"/>
                  <a:pt x="2978816" y="5310505"/>
                  <a:pt x="2978660" y="5311563"/>
                </a:cubicBezTo>
                <a:lnTo>
                  <a:pt x="2946326" y="5316745"/>
                </a:lnTo>
                <a:lnTo>
                  <a:pt x="2713134" y="5331381"/>
                </a:lnTo>
                <a:cubicBezTo>
                  <a:pt x="2610698" y="5372328"/>
                  <a:pt x="2466037" y="5325762"/>
                  <a:pt x="2352072" y="5342761"/>
                </a:cubicBezTo>
                <a:cubicBezTo>
                  <a:pt x="2293501" y="5293708"/>
                  <a:pt x="2324138" y="5338538"/>
                  <a:pt x="2260922" y="5328122"/>
                </a:cubicBezTo>
                <a:cubicBezTo>
                  <a:pt x="2275681" y="5372347"/>
                  <a:pt x="2185007" y="5301703"/>
                  <a:pt x="2178497" y="5351065"/>
                </a:cubicBezTo>
                <a:cubicBezTo>
                  <a:pt x="2133294" y="5337229"/>
                  <a:pt x="2097074" y="5300208"/>
                  <a:pt x="2034408" y="5307958"/>
                </a:cubicBezTo>
                <a:cubicBezTo>
                  <a:pt x="1981894" y="5332879"/>
                  <a:pt x="1896288" y="5279365"/>
                  <a:pt x="1831505" y="5312691"/>
                </a:cubicBezTo>
                <a:cubicBezTo>
                  <a:pt x="1807063" y="5321035"/>
                  <a:pt x="1727674" y="5322925"/>
                  <a:pt x="1710387" y="5308705"/>
                </a:cubicBezTo>
                <a:cubicBezTo>
                  <a:pt x="1693367" y="5306094"/>
                  <a:pt x="1674901" y="5312009"/>
                  <a:pt x="1664816" y="5296479"/>
                </a:cubicBezTo>
                <a:cubicBezTo>
                  <a:pt x="1649255" y="5277912"/>
                  <a:pt x="1596152" y="5309335"/>
                  <a:pt x="1600883" y="5286607"/>
                </a:cubicBezTo>
                <a:cubicBezTo>
                  <a:pt x="1563066" y="5308189"/>
                  <a:pt x="1524339" y="5269513"/>
                  <a:pt x="1488397" y="5260898"/>
                </a:cubicBezTo>
                <a:cubicBezTo>
                  <a:pt x="1459246" y="5282011"/>
                  <a:pt x="1412580" y="5243108"/>
                  <a:pt x="1336670" y="5240770"/>
                </a:cubicBezTo>
                <a:cubicBezTo>
                  <a:pt x="1304792" y="5265122"/>
                  <a:pt x="1285508" y="5238878"/>
                  <a:pt x="1224297" y="5271845"/>
                </a:cubicBezTo>
                <a:cubicBezTo>
                  <a:pt x="1221731" y="5268771"/>
                  <a:pt x="1218543" y="5265944"/>
                  <a:pt x="1214830" y="5263450"/>
                </a:cubicBezTo>
                <a:cubicBezTo>
                  <a:pt x="1193241" y="5248952"/>
                  <a:pt x="1158925" y="5248567"/>
                  <a:pt x="1138181" y="5262590"/>
                </a:cubicBezTo>
                <a:lnTo>
                  <a:pt x="943575" y="5290808"/>
                </a:lnTo>
                <a:cubicBezTo>
                  <a:pt x="823587" y="5316899"/>
                  <a:pt x="658340" y="5217603"/>
                  <a:pt x="529813" y="5218555"/>
                </a:cubicBezTo>
                <a:lnTo>
                  <a:pt x="519546" y="5208845"/>
                </a:lnTo>
                <a:lnTo>
                  <a:pt x="507906" y="5204779"/>
                </a:lnTo>
                <a:lnTo>
                  <a:pt x="505153" y="5196726"/>
                </a:lnTo>
                <a:lnTo>
                  <a:pt x="500429" y="5193241"/>
                </a:lnTo>
                <a:cubicBezTo>
                  <a:pt x="480923" y="5182176"/>
                  <a:pt x="482807" y="5205793"/>
                  <a:pt x="431923" y="5191553"/>
                </a:cubicBezTo>
                <a:cubicBezTo>
                  <a:pt x="440499" y="5237077"/>
                  <a:pt x="352872" y="5155083"/>
                  <a:pt x="337115" y="5202714"/>
                </a:cubicBezTo>
                <a:cubicBezTo>
                  <a:pt x="325265" y="5197752"/>
                  <a:pt x="314288" y="5191441"/>
                  <a:pt x="303383" y="5184750"/>
                </a:cubicBezTo>
                <a:lnTo>
                  <a:pt x="297664" y="5181269"/>
                </a:lnTo>
                <a:lnTo>
                  <a:pt x="272701" y="5175678"/>
                </a:lnTo>
                <a:lnTo>
                  <a:pt x="268242" y="5163678"/>
                </a:lnTo>
                <a:lnTo>
                  <a:pt x="232517" y="5147792"/>
                </a:lnTo>
                <a:cubicBezTo>
                  <a:pt x="218741" y="5143453"/>
                  <a:pt x="203450" y="5140668"/>
                  <a:pt x="185851" y="5140408"/>
                </a:cubicBezTo>
                <a:cubicBezTo>
                  <a:pt x="139207" y="5153337"/>
                  <a:pt x="79723" y="5120316"/>
                  <a:pt x="20337" y="5113040"/>
                </a:cubicBezTo>
                <a:lnTo>
                  <a:pt x="0" y="5112243"/>
                </a:lnTo>
                <a:close/>
              </a:path>
            </a:pathLst>
          </a:custGeom>
          <a:ln>
            <a:noFill/>
          </a:ln>
          <a:effectLst>
            <a:outerShdw blurRad="25400" dist="12700" dir="3000000" algn="tl" rotWithShape="0">
              <a:prstClr val="black">
                <a:alpha val="27000"/>
              </a:prstClr>
            </a:outerShdw>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35" name="Freeform: Shape 34">
            <a:extLst>
              <a:ext uri="{FF2B5EF4-FFF2-40B4-BE49-F238E27FC236}">
                <a16:creationId xmlns:a16="http://schemas.microsoft.com/office/drawing/2014/main" id="{DD0D366F-455D-4298-97E9-89785ADAEC0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645694" y="609600"/>
            <a:ext cx="4029076" cy="5513767"/>
          </a:xfrm>
          <a:custGeom>
            <a:avLst/>
            <a:gdLst>
              <a:gd name="connsiteX0" fmla="*/ 0 w 5372101"/>
              <a:gd name="connsiteY0" fmla="*/ 0 h 5513767"/>
              <a:gd name="connsiteX1" fmla="*/ 5372101 w 5372101"/>
              <a:gd name="connsiteY1" fmla="*/ 0 h 5513767"/>
              <a:gd name="connsiteX2" fmla="*/ 5372101 w 5372101"/>
              <a:gd name="connsiteY2" fmla="*/ 5513767 h 5513767"/>
              <a:gd name="connsiteX3" fmla="*/ 5363126 w 5372101"/>
              <a:gd name="connsiteY3" fmla="*/ 5512835 h 5513767"/>
              <a:gd name="connsiteX4" fmla="*/ 5316714 w 5372101"/>
              <a:gd name="connsiteY4" fmla="*/ 5491247 h 5513767"/>
              <a:gd name="connsiteX5" fmla="*/ 5198331 w 5372101"/>
              <a:gd name="connsiteY5" fmla="*/ 5470092 h 5513767"/>
              <a:gd name="connsiteX6" fmla="*/ 5150428 w 5372101"/>
              <a:gd name="connsiteY6" fmla="*/ 5472506 h 5513767"/>
              <a:gd name="connsiteX7" fmla="*/ 5085506 w 5372101"/>
              <a:gd name="connsiteY7" fmla="*/ 5468851 h 5513767"/>
              <a:gd name="connsiteX8" fmla="*/ 4968663 w 5372101"/>
              <a:gd name="connsiteY8" fmla="*/ 5470487 h 5513767"/>
              <a:gd name="connsiteX9" fmla="*/ 4815623 w 5372101"/>
              <a:gd name="connsiteY9" fmla="*/ 5458622 h 5513767"/>
              <a:gd name="connsiteX10" fmla="*/ 4716679 w 5372101"/>
              <a:gd name="connsiteY10" fmla="*/ 5405365 h 5513767"/>
              <a:gd name="connsiteX11" fmla="*/ 4704891 w 5372101"/>
              <a:gd name="connsiteY11" fmla="*/ 5411529 h 5513767"/>
              <a:gd name="connsiteX12" fmla="*/ 4630496 w 5372101"/>
              <a:gd name="connsiteY12" fmla="*/ 5396532 h 5513767"/>
              <a:gd name="connsiteX13" fmla="*/ 4506964 w 5372101"/>
              <a:gd name="connsiteY13" fmla="*/ 5396685 h 5513767"/>
              <a:gd name="connsiteX14" fmla="*/ 4427135 w 5372101"/>
              <a:gd name="connsiteY14" fmla="*/ 5358585 h 5513767"/>
              <a:gd name="connsiteX15" fmla="*/ 4028338 w 5372101"/>
              <a:gd name="connsiteY15" fmla="*/ 5313494 h 5513767"/>
              <a:gd name="connsiteX16" fmla="*/ 4015367 w 5372101"/>
              <a:gd name="connsiteY16" fmla="*/ 5320766 h 5513767"/>
              <a:gd name="connsiteX17" fmla="*/ 4002837 w 5372101"/>
              <a:gd name="connsiteY17" fmla="*/ 5322294 h 5513767"/>
              <a:gd name="connsiteX18" fmla="*/ 3997650 w 5372101"/>
              <a:gd name="connsiteY18" fmla="*/ 5329513 h 5513767"/>
              <a:gd name="connsiteX19" fmla="*/ 3991991 w 5372101"/>
              <a:gd name="connsiteY19" fmla="*/ 5331908 h 5513767"/>
              <a:gd name="connsiteX20" fmla="*/ 3925210 w 5372101"/>
              <a:gd name="connsiteY20" fmla="*/ 5319395 h 5513767"/>
              <a:gd name="connsiteX21" fmla="*/ 3837014 w 5372101"/>
              <a:gd name="connsiteY21" fmla="*/ 5289023 h 5513767"/>
              <a:gd name="connsiteX22" fmla="*/ 3798765 w 5372101"/>
              <a:gd name="connsiteY22" fmla="*/ 5299431 h 5513767"/>
              <a:gd name="connsiteX23" fmla="*/ 3792144 w 5372101"/>
              <a:gd name="connsiteY23" fmla="*/ 5301616 h 5513767"/>
              <a:gd name="connsiteX24" fmla="*/ 3766249 w 5372101"/>
              <a:gd name="connsiteY24" fmla="*/ 5301869 h 5513767"/>
              <a:gd name="connsiteX25" fmla="*/ 3718651 w 5372101"/>
              <a:gd name="connsiteY25" fmla="*/ 5320541 h 5513767"/>
              <a:gd name="connsiteX26" fmla="*/ 3671207 w 5372101"/>
              <a:gd name="connsiteY26" fmla="*/ 5318046 h 5513767"/>
              <a:gd name="connsiteX27" fmla="*/ 3446863 w 5372101"/>
              <a:gd name="connsiteY27" fmla="*/ 5294348 h 5513767"/>
              <a:gd name="connsiteX28" fmla="*/ 3312000 w 5372101"/>
              <a:gd name="connsiteY28" fmla="*/ 5286923 h 5513767"/>
              <a:gd name="connsiteX29" fmla="*/ 3259756 w 5372101"/>
              <a:gd name="connsiteY29" fmla="*/ 5294712 h 5513767"/>
              <a:gd name="connsiteX30" fmla="*/ 3187481 w 5372101"/>
              <a:gd name="connsiteY30" fmla="*/ 5298457 h 5513767"/>
              <a:gd name="connsiteX31" fmla="*/ 3124115 w 5372101"/>
              <a:gd name="connsiteY31" fmla="*/ 5294626 h 5513767"/>
              <a:gd name="connsiteX32" fmla="*/ 3099907 w 5372101"/>
              <a:gd name="connsiteY32" fmla="*/ 5302443 h 5513767"/>
              <a:gd name="connsiteX33" fmla="*/ 3017494 w 5372101"/>
              <a:gd name="connsiteY33" fmla="*/ 5301439 h 5513767"/>
              <a:gd name="connsiteX34" fmla="*/ 3010848 w 5372101"/>
              <a:gd name="connsiteY34" fmla="*/ 5307225 h 5513767"/>
              <a:gd name="connsiteX35" fmla="*/ 2994286 w 5372101"/>
              <a:gd name="connsiteY35" fmla="*/ 5309060 h 5513767"/>
              <a:gd name="connsiteX36" fmla="*/ 2988160 w 5372101"/>
              <a:gd name="connsiteY36" fmla="*/ 5310041 h 5513767"/>
              <a:gd name="connsiteX37" fmla="*/ 2984260 w 5372101"/>
              <a:gd name="connsiteY37" fmla="*/ 5307528 h 5513767"/>
              <a:gd name="connsiteX38" fmla="*/ 2979127 w 5372101"/>
              <a:gd name="connsiteY38" fmla="*/ 5308389 h 5513767"/>
              <a:gd name="connsiteX39" fmla="*/ 2978660 w 5372101"/>
              <a:gd name="connsiteY39" fmla="*/ 5311563 h 5513767"/>
              <a:gd name="connsiteX40" fmla="*/ 2946326 w 5372101"/>
              <a:gd name="connsiteY40" fmla="*/ 5316745 h 5513767"/>
              <a:gd name="connsiteX41" fmla="*/ 2713134 w 5372101"/>
              <a:gd name="connsiteY41" fmla="*/ 5331381 h 5513767"/>
              <a:gd name="connsiteX42" fmla="*/ 2352072 w 5372101"/>
              <a:gd name="connsiteY42" fmla="*/ 5342761 h 5513767"/>
              <a:gd name="connsiteX43" fmla="*/ 2260922 w 5372101"/>
              <a:gd name="connsiteY43" fmla="*/ 5328122 h 5513767"/>
              <a:gd name="connsiteX44" fmla="*/ 2178497 w 5372101"/>
              <a:gd name="connsiteY44" fmla="*/ 5351065 h 5513767"/>
              <a:gd name="connsiteX45" fmla="*/ 2034408 w 5372101"/>
              <a:gd name="connsiteY45" fmla="*/ 5307958 h 5513767"/>
              <a:gd name="connsiteX46" fmla="*/ 1831505 w 5372101"/>
              <a:gd name="connsiteY46" fmla="*/ 5312691 h 5513767"/>
              <a:gd name="connsiteX47" fmla="*/ 1710387 w 5372101"/>
              <a:gd name="connsiteY47" fmla="*/ 5308705 h 5513767"/>
              <a:gd name="connsiteX48" fmla="*/ 1664816 w 5372101"/>
              <a:gd name="connsiteY48" fmla="*/ 5296479 h 5513767"/>
              <a:gd name="connsiteX49" fmla="*/ 1600883 w 5372101"/>
              <a:gd name="connsiteY49" fmla="*/ 5286607 h 5513767"/>
              <a:gd name="connsiteX50" fmla="*/ 1488397 w 5372101"/>
              <a:gd name="connsiteY50" fmla="*/ 5260898 h 5513767"/>
              <a:gd name="connsiteX51" fmla="*/ 1336670 w 5372101"/>
              <a:gd name="connsiteY51" fmla="*/ 5240770 h 5513767"/>
              <a:gd name="connsiteX52" fmla="*/ 1224297 w 5372101"/>
              <a:gd name="connsiteY52" fmla="*/ 5271845 h 5513767"/>
              <a:gd name="connsiteX53" fmla="*/ 1214830 w 5372101"/>
              <a:gd name="connsiteY53" fmla="*/ 5263450 h 5513767"/>
              <a:gd name="connsiteX54" fmla="*/ 1138181 w 5372101"/>
              <a:gd name="connsiteY54" fmla="*/ 5262590 h 5513767"/>
              <a:gd name="connsiteX55" fmla="*/ 943575 w 5372101"/>
              <a:gd name="connsiteY55" fmla="*/ 5290808 h 5513767"/>
              <a:gd name="connsiteX56" fmla="*/ 529813 w 5372101"/>
              <a:gd name="connsiteY56" fmla="*/ 5218555 h 5513767"/>
              <a:gd name="connsiteX57" fmla="*/ 519546 w 5372101"/>
              <a:gd name="connsiteY57" fmla="*/ 5208845 h 5513767"/>
              <a:gd name="connsiteX58" fmla="*/ 507906 w 5372101"/>
              <a:gd name="connsiteY58" fmla="*/ 5204779 h 5513767"/>
              <a:gd name="connsiteX59" fmla="*/ 505153 w 5372101"/>
              <a:gd name="connsiteY59" fmla="*/ 5196726 h 5513767"/>
              <a:gd name="connsiteX60" fmla="*/ 500429 w 5372101"/>
              <a:gd name="connsiteY60" fmla="*/ 5193241 h 5513767"/>
              <a:gd name="connsiteX61" fmla="*/ 431923 w 5372101"/>
              <a:gd name="connsiteY61" fmla="*/ 5191553 h 5513767"/>
              <a:gd name="connsiteX62" fmla="*/ 337115 w 5372101"/>
              <a:gd name="connsiteY62" fmla="*/ 5202714 h 5513767"/>
              <a:gd name="connsiteX63" fmla="*/ 303383 w 5372101"/>
              <a:gd name="connsiteY63" fmla="*/ 5184750 h 5513767"/>
              <a:gd name="connsiteX64" fmla="*/ 297664 w 5372101"/>
              <a:gd name="connsiteY64" fmla="*/ 5181269 h 5513767"/>
              <a:gd name="connsiteX65" fmla="*/ 272701 w 5372101"/>
              <a:gd name="connsiteY65" fmla="*/ 5175678 h 5513767"/>
              <a:gd name="connsiteX66" fmla="*/ 268242 w 5372101"/>
              <a:gd name="connsiteY66" fmla="*/ 5163678 h 5513767"/>
              <a:gd name="connsiteX67" fmla="*/ 232517 w 5372101"/>
              <a:gd name="connsiteY67" fmla="*/ 5147792 h 5513767"/>
              <a:gd name="connsiteX68" fmla="*/ 185851 w 5372101"/>
              <a:gd name="connsiteY68" fmla="*/ 5140408 h 5513767"/>
              <a:gd name="connsiteX69" fmla="*/ 20337 w 5372101"/>
              <a:gd name="connsiteY69" fmla="*/ 5113040 h 5513767"/>
              <a:gd name="connsiteX70" fmla="*/ 0 w 5372101"/>
              <a:gd name="connsiteY70" fmla="*/ 5112243 h 551376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Lst>
            <a:rect l="l" t="t" r="r" b="b"/>
            <a:pathLst>
              <a:path w="5372101" h="5513767">
                <a:moveTo>
                  <a:pt x="0" y="0"/>
                </a:moveTo>
                <a:lnTo>
                  <a:pt x="5372101" y="0"/>
                </a:lnTo>
                <a:lnTo>
                  <a:pt x="5372101" y="5513767"/>
                </a:lnTo>
                <a:lnTo>
                  <a:pt x="5363126" y="5512835"/>
                </a:lnTo>
                <a:cubicBezTo>
                  <a:pt x="5345779" y="5509071"/>
                  <a:pt x="5329767" y="5502649"/>
                  <a:pt x="5316714" y="5491247"/>
                </a:cubicBezTo>
                <a:cubicBezTo>
                  <a:pt x="5295689" y="5478131"/>
                  <a:pt x="5219502" y="5459909"/>
                  <a:pt x="5198331" y="5470092"/>
                </a:cubicBezTo>
                <a:cubicBezTo>
                  <a:pt x="5181052" y="5469102"/>
                  <a:pt x="5165047" y="5459569"/>
                  <a:pt x="5150428" y="5472506"/>
                </a:cubicBezTo>
                <a:cubicBezTo>
                  <a:pt x="5129562" y="5487248"/>
                  <a:pt x="5088050" y="5445894"/>
                  <a:pt x="5085506" y="5468851"/>
                </a:cubicBezTo>
                <a:cubicBezTo>
                  <a:pt x="5055692" y="5440170"/>
                  <a:pt x="5006122" y="5469577"/>
                  <a:pt x="4968663" y="5470487"/>
                </a:cubicBezTo>
                <a:cubicBezTo>
                  <a:pt x="4947085" y="5444049"/>
                  <a:pt x="4889767" y="5472037"/>
                  <a:pt x="4815623" y="5458622"/>
                </a:cubicBezTo>
                <a:cubicBezTo>
                  <a:pt x="4792418" y="5428488"/>
                  <a:pt x="4765548" y="5449887"/>
                  <a:pt x="4716679" y="5405365"/>
                </a:cubicBezTo>
                <a:cubicBezTo>
                  <a:pt x="4713235" y="5407807"/>
                  <a:pt x="4709266" y="5409883"/>
                  <a:pt x="4704891" y="5411529"/>
                </a:cubicBezTo>
                <a:cubicBezTo>
                  <a:pt x="4679473" y="5421092"/>
                  <a:pt x="4646164" y="5414379"/>
                  <a:pt x="4630496" y="5396532"/>
                </a:cubicBezTo>
                <a:cubicBezTo>
                  <a:pt x="4590205" y="5365061"/>
                  <a:pt x="4548419" y="5412094"/>
                  <a:pt x="4506964" y="5396685"/>
                </a:cubicBezTo>
                <a:lnTo>
                  <a:pt x="4427135" y="5358585"/>
                </a:lnTo>
                <a:cubicBezTo>
                  <a:pt x="4319267" y="5308575"/>
                  <a:pt x="4152341" y="5340956"/>
                  <a:pt x="4028338" y="5313494"/>
                </a:cubicBezTo>
                <a:lnTo>
                  <a:pt x="4015367" y="5320766"/>
                </a:lnTo>
                <a:lnTo>
                  <a:pt x="4002837" y="5322294"/>
                </a:lnTo>
                <a:lnTo>
                  <a:pt x="3997650" y="5329513"/>
                </a:lnTo>
                <a:lnTo>
                  <a:pt x="3991991" y="5331908"/>
                </a:lnTo>
                <a:cubicBezTo>
                  <a:pt x="3969659" y="5338581"/>
                  <a:pt x="3978880" y="5316131"/>
                  <a:pt x="3925210" y="5319395"/>
                </a:cubicBezTo>
                <a:cubicBezTo>
                  <a:pt x="3947765" y="5277139"/>
                  <a:pt x="3837331" y="5338342"/>
                  <a:pt x="3837014" y="5289023"/>
                </a:cubicBezTo>
                <a:cubicBezTo>
                  <a:pt x="3824001" y="5291376"/>
                  <a:pt x="3811407" y="5295212"/>
                  <a:pt x="3798765" y="5299431"/>
                </a:cubicBezTo>
                <a:lnTo>
                  <a:pt x="3792144" y="5301616"/>
                </a:lnTo>
                <a:lnTo>
                  <a:pt x="3766249" y="5301869"/>
                </a:lnTo>
                <a:lnTo>
                  <a:pt x="3718651" y="5320541"/>
                </a:lnTo>
                <a:cubicBezTo>
                  <a:pt x="3703968" y="5321892"/>
                  <a:pt x="3688308" y="5321427"/>
                  <a:pt x="3671207" y="5318046"/>
                </a:cubicBezTo>
                <a:cubicBezTo>
                  <a:pt x="3616458" y="5288532"/>
                  <a:pt x="3514048" y="5333307"/>
                  <a:pt x="3446863" y="5294348"/>
                </a:cubicBezTo>
                <a:cubicBezTo>
                  <a:pt x="3420930" y="5283822"/>
                  <a:pt x="3333157" y="5274511"/>
                  <a:pt x="3312000" y="5286923"/>
                </a:cubicBezTo>
                <a:cubicBezTo>
                  <a:pt x="3292759" y="5287903"/>
                  <a:pt x="3273112" y="5280334"/>
                  <a:pt x="3259756" y="5294712"/>
                </a:cubicBezTo>
                <a:cubicBezTo>
                  <a:pt x="3239905" y="5311572"/>
                  <a:pt x="3185410" y="5275588"/>
                  <a:pt x="3187481" y="5298457"/>
                </a:cubicBezTo>
                <a:cubicBezTo>
                  <a:pt x="3168018" y="5286036"/>
                  <a:pt x="3146200" y="5288458"/>
                  <a:pt x="3124115" y="5294626"/>
                </a:cubicBezTo>
                <a:lnTo>
                  <a:pt x="3099907" y="5302443"/>
                </a:lnTo>
                <a:lnTo>
                  <a:pt x="3017494" y="5301439"/>
                </a:lnTo>
                <a:lnTo>
                  <a:pt x="3010848" y="5307225"/>
                </a:lnTo>
                <a:lnTo>
                  <a:pt x="2994286" y="5309060"/>
                </a:lnTo>
                <a:lnTo>
                  <a:pt x="2988160" y="5310041"/>
                </a:lnTo>
                <a:lnTo>
                  <a:pt x="2984260" y="5307528"/>
                </a:lnTo>
                <a:cubicBezTo>
                  <a:pt x="2981957" y="5306419"/>
                  <a:pt x="2980273" y="5306402"/>
                  <a:pt x="2979127" y="5308389"/>
                </a:cubicBezTo>
                <a:cubicBezTo>
                  <a:pt x="2978971" y="5309447"/>
                  <a:pt x="2978816" y="5310505"/>
                  <a:pt x="2978660" y="5311563"/>
                </a:cubicBezTo>
                <a:lnTo>
                  <a:pt x="2946326" y="5316745"/>
                </a:lnTo>
                <a:lnTo>
                  <a:pt x="2713134" y="5331381"/>
                </a:lnTo>
                <a:cubicBezTo>
                  <a:pt x="2610698" y="5372328"/>
                  <a:pt x="2466037" y="5325762"/>
                  <a:pt x="2352072" y="5342761"/>
                </a:cubicBezTo>
                <a:cubicBezTo>
                  <a:pt x="2293501" y="5293708"/>
                  <a:pt x="2324138" y="5338538"/>
                  <a:pt x="2260922" y="5328122"/>
                </a:cubicBezTo>
                <a:cubicBezTo>
                  <a:pt x="2275681" y="5372347"/>
                  <a:pt x="2185007" y="5301703"/>
                  <a:pt x="2178497" y="5351065"/>
                </a:cubicBezTo>
                <a:cubicBezTo>
                  <a:pt x="2133294" y="5337229"/>
                  <a:pt x="2097074" y="5300208"/>
                  <a:pt x="2034408" y="5307958"/>
                </a:cubicBezTo>
                <a:cubicBezTo>
                  <a:pt x="1981894" y="5332879"/>
                  <a:pt x="1896288" y="5279365"/>
                  <a:pt x="1831505" y="5312691"/>
                </a:cubicBezTo>
                <a:cubicBezTo>
                  <a:pt x="1807063" y="5321035"/>
                  <a:pt x="1727674" y="5322925"/>
                  <a:pt x="1710387" y="5308705"/>
                </a:cubicBezTo>
                <a:cubicBezTo>
                  <a:pt x="1693367" y="5306094"/>
                  <a:pt x="1674901" y="5312009"/>
                  <a:pt x="1664816" y="5296479"/>
                </a:cubicBezTo>
                <a:cubicBezTo>
                  <a:pt x="1649255" y="5277912"/>
                  <a:pt x="1596152" y="5309335"/>
                  <a:pt x="1600883" y="5286607"/>
                </a:cubicBezTo>
                <a:cubicBezTo>
                  <a:pt x="1563066" y="5308189"/>
                  <a:pt x="1524339" y="5269513"/>
                  <a:pt x="1488397" y="5260898"/>
                </a:cubicBezTo>
                <a:cubicBezTo>
                  <a:pt x="1459246" y="5282011"/>
                  <a:pt x="1412580" y="5243108"/>
                  <a:pt x="1336670" y="5240770"/>
                </a:cubicBezTo>
                <a:cubicBezTo>
                  <a:pt x="1304792" y="5265122"/>
                  <a:pt x="1285508" y="5238878"/>
                  <a:pt x="1224297" y="5271845"/>
                </a:cubicBezTo>
                <a:cubicBezTo>
                  <a:pt x="1221731" y="5268771"/>
                  <a:pt x="1218543" y="5265944"/>
                  <a:pt x="1214830" y="5263450"/>
                </a:cubicBezTo>
                <a:cubicBezTo>
                  <a:pt x="1193241" y="5248952"/>
                  <a:pt x="1158925" y="5248567"/>
                  <a:pt x="1138181" y="5262590"/>
                </a:cubicBezTo>
                <a:lnTo>
                  <a:pt x="943575" y="5290808"/>
                </a:lnTo>
                <a:cubicBezTo>
                  <a:pt x="823587" y="5316899"/>
                  <a:pt x="658340" y="5217603"/>
                  <a:pt x="529813" y="5218555"/>
                </a:cubicBezTo>
                <a:lnTo>
                  <a:pt x="519546" y="5208845"/>
                </a:lnTo>
                <a:lnTo>
                  <a:pt x="507906" y="5204779"/>
                </a:lnTo>
                <a:lnTo>
                  <a:pt x="505153" y="5196726"/>
                </a:lnTo>
                <a:lnTo>
                  <a:pt x="500429" y="5193241"/>
                </a:lnTo>
                <a:cubicBezTo>
                  <a:pt x="480923" y="5182176"/>
                  <a:pt x="482807" y="5205793"/>
                  <a:pt x="431923" y="5191553"/>
                </a:cubicBezTo>
                <a:cubicBezTo>
                  <a:pt x="440499" y="5237077"/>
                  <a:pt x="352872" y="5155083"/>
                  <a:pt x="337115" y="5202714"/>
                </a:cubicBezTo>
                <a:cubicBezTo>
                  <a:pt x="325265" y="5197752"/>
                  <a:pt x="314288" y="5191441"/>
                  <a:pt x="303383" y="5184750"/>
                </a:cubicBezTo>
                <a:lnTo>
                  <a:pt x="297664" y="5181269"/>
                </a:lnTo>
                <a:lnTo>
                  <a:pt x="272701" y="5175678"/>
                </a:lnTo>
                <a:lnTo>
                  <a:pt x="268242" y="5163678"/>
                </a:lnTo>
                <a:lnTo>
                  <a:pt x="232517" y="5147792"/>
                </a:lnTo>
                <a:cubicBezTo>
                  <a:pt x="218741" y="5143453"/>
                  <a:pt x="203450" y="5140668"/>
                  <a:pt x="185851" y="5140408"/>
                </a:cubicBezTo>
                <a:cubicBezTo>
                  <a:pt x="139207" y="5153337"/>
                  <a:pt x="79723" y="5120316"/>
                  <a:pt x="20337" y="5113040"/>
                </a:cubicBezTo>
                <a:lnTo>
                  <a:pt x="0" y="5112243"/>
                </a:lnTo>
                <a:close/>
              </a:path>
            </a:pathLst>
          </a:custGeom>
          <a:solidFill>
            <a:srgbClr val="82766A">
              <a:alpha val="15000"/>
            </a:srgbClr>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18" name="Content Placeholder 2">
            <a:extLst>
              <a:ext uri="{FF2B5EF4-FFF2-40B4-BE49-F238E27FC236}">
                <a16:creationId xmlns:a16="http://schemas.microsoft.com/office/drawing/2014/main" id="{92AC04F2-A253-42C1-91D8-2D8C359959AD}"/>
              </a:ext>
            </a:extLst>
          </p:cNvPr>
          <p:cNvSpPr>
            <a:spLocks noGrp="1"/>
          </p:cNvSpPr>
          <p:nvPr>
            <p:ph idx="1"/>
          </p:nvPr>
        </p:nvSpPr>
        <p:spPr>
          <a:xfrm>
            <a:off x="4988314" y="1377419"/>
            <a:ext cx="3343835" cy="4279579"/>
          </a:xfrm>
        </p:spPr>
        <p:txBody>
          <a:bodyPr anchor="ctr">
            <a:normAutofit fontScale="92500" lnSpcReduction="20000"/>
          </a:bodyPr>
          <a:lstStyle/>
          <a:p>
            <a:r>
              <a:rPr lang="en-US" sz="1400" dirty="0"/>
              <a:t>Tree search can be used for planning actions for </a:t>
            </a:r>
            <a:r>
              <a:rPr lang="en-US" sz="1400" b="1" dirty="0"/>
              <a:t>goal-based agents</a:t>
            </a:r>
            <a:r>
              <a:rPr lang="en-US" sz="1400" dirty="0"/>
              <a:t> in known, fully observable, and deterministic environments.</a:t>
            </a:r>
          </a:p>
          <a:p>
            <a:r>
              <a:rPr lang="en-US" sz="1400" dirty="0"/>
              <a:t>Issues are:</a:t>
            </a:r>
          </a:p>
          <a:p>
            <a:pPr lvl="1"/>
            <a:r>
              <a:rPr lang="en-US" sz="1400" dirty="0"/>
              <a:t>The large search space typically does not fit into memory. AI uses a transition function as a compact representation of the </a:t>
            </a:r>
            <a:r>
              <a:rPr lang="en-US" sz="1400" b="1" dirty="0"/>
              <a:t>transition model.</a:t>
            </a:r>
            <a:endParaRPr lang="en-US" sz="1400" dirty="0"/>
          </a:p>
          <a:p>
            <a:pPr lvl="1"/>
            <a:r>
              <a:rPr lang="en-US" sz="1400" dirty="0"/>
              <a:t>The search tree is built on the fly, and we must deal with </a:t>
            </a:r>
            <a:r>
              <a:rPr lang="en-US" sz="1400" b="1" dirty="0"/>
              <a:t>cycles, redundant paths, and memory management</a:t>
            </a:r>
            <a:r>
              <a:rPr lang="en-US" sz="1400" dirty="0"/>
              <a:t>.</a:t>
            </a:r>
          </a:p>
          <a:p>
            <a:r>
              <a:rPr lang="en-US" sz="1400" b="1" dirty="0"/>
              <a:t>Uninformed search</a:t>
            </a:r>
            <a:r>
              <a:rPr lang="en-US" sz="1400" dirty="0"/>
              <a:t>:</a:t>
            </a:r>
          </a:p>
          <a:p>
            <a:pPr lvl="1"/>
            <a:r>
              <a:rPr lang="en-US" sz="1100" b="1" dirty="0"/>
              <a:t>BFS</a:t>
            </a:r>
            <a:r>
              <a:rPr lang="en-US" sz="1100" dirty="0"/>
              <a:t> is not usable for large state spaces!</a:t>
            </a:r>
          </a:p>
          <a:p>
            <a:pPr lvl="1"/>
            <a:r>
              <a:rPr lang="en-US" sz="1100" dirty="0"/>
              <a:t>AI typically uses </a:t>
            </a:r>
            <a:r>
              <a:rPr lang="en-US" sz="1100" b="1" dirty="0"/>
              <a:t>DFS</a:t>
            </a:r>
            <a:r>
              <a:rPr lang="en-US" sz="1100" dirty="0"/>
              <a:t> implemented in a memory-efficient way. It requires cycle checking, is not optimal, and cannot avoid redundant paths.</a:t>
            </a:r>
          </a:p>
          <a:p>
            <a:pPr lvl="1"/>
            <a:r>
              <a:rPr lang="en-US" sz="1100" b="1" dirty="0"/>
              <a:t>Iterative Deepening Search (IDS)</a:t>
            </a:r>
            <a:r>
              <a:rPr lang="en-US" sz="1100" dirty="0"/>
              <a:t> is an optimal version of DFS that rebuilds trees level-wise. It is very slow.</a:t>
            </a:r>
          </a:p>
          <a:p>
            <a:r>
              <a:rPr lang="en-US" sz="1400" b="1" dirty="0"/>
              <a:t>Informed search </a:t>
            </a:r>
            <a:r>
              <a:rPr lang="en-US" sz="1400" dirty="0"/>
              <a:t>uses heuristics based on knowledge or percepts to improve search performance </a:t>
            </a:r>
          </a:p>
          <a:p>
            <a:pPr lvl="1"/>
            <a:r>
              <a:rPr lang="en-US" sz="1100" dirty="0"/>
              <a:t>A* requires an admissible heuristic and expands fewer nodes than BFS.</a:t>
            </a:r>
          </a:p>
        </p:txBody>
      </p:sp>
      <p:sp>
        <p:nvSpPr>
          <p:cNvPr id="2" name="Title 1">
            <a:extLst>
              <a:ext uri="{FF2B5EF4-FFF2-40B4-BE49-F238E27FC236}">
                <a16:creationId xmlns:a16="http://schemas.microsoft.com/office/drawing/2014/main" id="{DDFD7AEE-F7EC-44DA-B8A7-79ACFFD3A799}"/>
              </a:ext>
            </a:extLst>
          </p:cNvPr>
          <p:cNvSpPr>
            <a:spLocks noGrp="1"/>
          </p:cNvSpPr>
          <p:nvPr>
            <p:ph type="title"/>
          </p:nvPr>
        </p:nvSpPr>
        <p:spPr>
          <a:xfrm>
            <a:off x="4869545" y="548905"/>
            <a:ext cx="3581371" cy="1242924"/>
          </a:xfrm>
        </p:spPr>
        <p:txBody>
          <a:bodyPr>
            <a:normAutofit/>
          </a:bodyPr>
          <a:lstStyle/>
          <a:p>
            <a:pPr algn="ctr"/>
            <a:r>
              <a:rPr lang="en-US" sz="2800" dirty="0"/>
              <a:t>What You Should Know</a:t>
            </a:r>
          </a:p>
        </p:txBody>
      </p:sp>
      <p:sp>
        <p:nvSpPr>
          <p:cNvPr id="37" name="Rectangle 6">
            <a:extLst>
              <a:ext uri="{FF2B5EF4-FFF2-40B4-BE49-F238E27FC236}">
                <a16:creationId xmlns:a16="http://schemas.microsoft.com/office/drawing/2014/main" id="{F0C518C2-0AA4-470C-87B9-9CBF428FBA2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019825" y="399531"/>
            <a:ext cx="1280813" cy="428984"/>
          </a:xfrm>
          <a:custGeom>
            <a:avLst/>
            <a:gdLst>
              <a:gd name="connsiteX0" fmla="*/ 0 w 2142503"/>
              <a:gd name="connsiteY0" fmla="*/ 0 h 571500"/>
              <a:gd name="connsiteX1" fmla="*/ 2142503 w 2142503"/>
              <a:gd name="connsiteY1" fmla="*/ 0 h 571500"/>
              <a:gd name="connsiteX2" fmla="*/ 2142503 w 2142503"/>
              <a:gd name="connsiteY2" fmla="*/ 571500 h 571500"/>
              <a:gd name="connsiteX3" fmla="*/ 0 w 2142503"/>
              <a:gd name="connsiteY3" fmla="*/ 571500 h 571500"/>
              <a:gd name="connsiteX4" fmla="*/ 0 w 2142503"/>
              <a:gd name="connsiteY4" fmla="*/ 0 h 571500"/>
              <a:gd name="connsiteX0" fmla="*/ 0 w 2142503"/>
              <a:gd name="connsiteY0" fmla="*/ 0 h 582145"/>
              <a:gd name="connsiteX1" fmla="*/ 2142503 w 2142503"/>
              <a:gd name="connsiteY1" fmla="*/ 0 h 582145"/>
              <a:gd name="connsiteX2" fmla="*/ 2142503 w 2142503"/>
              <a:gd name="connsiteY2" fmla="*/ 571500 h 582145"/>
              <a:gd name="connsiteX3" fmla="*/ 2050917 w 2142503"/>
              <a:gd name="connsiteY3" fmla="*/ 582088 h 582145"/>
              <a:gd name="connsiteX4" fmla="*/ 0 w 2142503"/>
              <a:gd name="connsiteY4" fmla="*/ 571500 h 582145"/>
              <a:gd name="connsiteX5" fmla="*/ 0 w 2142503"/>
              <a:gd name="connsiteY5" fmla="*/ 0 h 582145"/>
              <a:gd name="connsiteX0" fmla="*/ 0 w 2159832"/>
              <a:gd name="connsiteY0" fmla="*/ 0 h 582145"/>
              <a:gd name="connsiteX1" fmla="*/ 2142503 w 2159832"/>
              <a:gd name="connsiteY1" fmla="*/ 0 h 582145"/>
              <a:gd name="connsiteX2" fmla="*/ 2159829 w 2159832"/>
              <a:gd name="connsiteY2" fmla="*/ 96526 h 582145"/>
              <a:gd name="connsiteX3" fmla="*/ 2142503 w 2159832"/>
              <a:gd name="connsiteY3" fmla="*/ 571500 h 582145"/>
              <a:gd name="connsiteX4" fmla="*/ 2050917 w 2159832"/>
              <a:gd name="connsiteY4" fmla="*/ 582088 h 582145"/>
              <a:gd name="connsiteX5" fmla="*/ 0 w 2159832"/>
              <a:gd name="connsiteY5" fmla="*/ 571500 h 582145"/>
              <a:gd name="connsiteX6" fmla="*/ 0 w 2159832"/>
              <a:gd name="connsiteY6" fmla="*/ 0 h 582145"/>
              <a:gd name="connsiteX0" fmla="*/ 0 w 2159832"/>
              <a:gd name="connsiteY0" fmla="*/ 12386 h 594531"/>
              <a:gd name="connsiteX1" fmla="*/ 67826 w 2159832"/>
              <a:gd name="connsiteY1" fmla="*/ 0 h 594531"/>
              <a:gd name="connsiteX2" fmla="*/ 2142503 w 2159832"/>
              <a:gd name="connsiteY2" fmla="*/ 12386 h 594531"/>
              <a:gd name="connsiteX3" fmla="*/ 2159829 w 2159832"/>
              <a:gd name="connsiteY3" fmla="*/ 108912 h 594531"/>
              <a:gd name="connsiteX4" fmla="*/ 2142503 w 2159832"/>
              <a:gd name="connsiteY4" fmla="*/ 583886 h 594531"/>
              <a:gd name="connsiteX5" fmla="*/ 2050917 w 2159832"/>
              <a:gd name="connsiteY5" fmla="*/ 594474 h 594531"/>
              <a:gd name="connsiteX6" fmla="*/ 0 w 2159832"/>
              <a:gd name="connsiteY6" fmla="*/ 583886 h 594531"/>
              <a:gd name="connsiteX7" fmla="*/ 0 w 2159832"/>
              <a:gd name="connsiteY7" fmla="*/ 12386 h 594531"/>
              <a:gd name="connsiteX0" fmla="*/ 0 w 2168908"/>
              <a:gd name="connsiteY0" fmla="*/ 26000 h 594531"/>
              <a:gd name="connsiteX1" fmla="*/ 76902 w 2168908"/>
              <a:gd name="connsiteY1" fmla="*/ 0 h 594531"/>
              <a:gd name="connsiteX2" fmla="*/ 2151579 w 2168908"/>
              <a:gd name="connsiteY2" fmla="*/ 12386 h 594531"/>
              <a:gd name="connsiteX3" fmla="*/ 2168905 w 2168908"/>
              <a:gd name="connsiteY3" fmla="*/ 108912 h 594531"/>
              <a:gd name="connsiteX4" fmla="*/ 2151579 w 2168908"/>
              <a:gd name="connsiteY4" fmla="*/ 583886 h 594531"/>
              <a:gd name="connsiteX5" fmla="*/ 2059993 w 2168908"/>
              <a:gd name="connsiteY5" fmla="*/ 594474 h 594531"/>
              <a:gd name="connsiteX6" fmla="*/ 9076 w 2168908"/>
              <a:gd name="connsiteY6" fmla="*/ 583886 h 594531"/>
              <a:gd name="connsiteX7" fmla="*/ 0 w 2168908"/>
              <a:gd name="connsiteY7" fmla="*/ 26000 h 594531"/>
              <a:gd name="connsiteX0" fmla="*/ 5393 w 2174301"/>
              <a:gd name="connsiteY0" fmla="*/ 26000 h 594531"/>
              <a:gd name="connsiteX1" fmla="*/ 82295 w 2174301"/>
              <a:gd name="connsiteY1" fmla="*/ 0 h 594531"/>
              <a:gd name="connsiteX2" fmla="*/ 2156972 w 2174301"/>
              <a:gd name="connsiteY2" fmla="*/ 12386 h 594531"/>
              <a:gd name="connsiteX3" fmla="*/ 2174298 w 2174301"/>
              <a:gd name="connsiteY3" fmla="*/ 108912 h 594531"/>
              <a:gd name="connsiteX4" fmla="*/ 2156972 w 2174301"/>
              <a:gd name="connsiteY4" fmla="*/ 583886 h 594531"/>
              <a:gd name="connsiteX5" fmla="*/ 2065386 w 2174301"/>
              <a:gd name="connsiteY5" fmla="*/ 594474 h 594531"/>
              <a:gd name="connsiteX6" fmla="*/ 14469 w 2174301"/>
              <a:gd name="connsiteY6" fmla="*/ 583886 h 594531"/>
              <a:gd name="connsiteX7" fmla="*/ 5393 w 2174301"/>
              <a:gd name="connsiteY7" fmla="*/ 26000 h 594531"/>
              <a:gd name="connsiteX0" fmla="*/ 5393 w 2174301"/>
              <a:gd name="connsiteY0" fmla="*/ 26000 h 594531"/>
              <a:gd name="connsiteX1" fmla="*/ 82295 w 2174301"/>
              <a:gd name="connsiteY1" fmla="*/ 0 h 594531"/>
              <a:gd name="connsiteX2" fmla="*/ 2156972 w 2174301"/>
              <a:gd name="connsiteY2" fmla="*/ 12386 h 594531"/>
              <a:gd name="connsiteX3" fmla="*/ 2174298 w 2174301"/>
              <a:gd name="connsiteY3" fmla="*/ 108912 h 594531"/>
              <a:gd name="connsiteX4" fmla="*/ 2156972 w 2174301"/>
              <a:gd name="connsiteY4" fmla="*/ 583886 h 594531"/>
              <a:gd name="connsiteX5" fmla="*/ 2065386 w 2174301"/>
              <a:gd name="connsiteY5" fmla="*/ 594474 h 594531"/>
              <a:gd name="connsiteX6" fmla="*/ 14469 w 2174301"/>
              <a:gd name="connsiteY6" fmla="*/ 583886 h 594531"/>
              <a:gd name="connsiteX7" fmla="*/ 5393 w 2174301"/>
              <a:gd name="connsiteY7" fmla="*/ 26000 h 594531"/>
              <a:gd name="connsiteX0" fmla="*/ 5393 w 2174301"/>
              <a:gd name="connsiteY0" fmla="*/ 26000 h 594531"/>
              <a:gd name="connsiteX1" fmla="*/ 82295 w 2174301"/>
              <a:gd name="connsiteY1" fmla="*/ 0 h 594531"/>
              <a:gd name="connsiteX2" fmla="*/ 2156972 w 2174301"/>
              <a:gd name="connsiteY2" fmla="*/ 12386 h 594531"/>
              <a:gd name="connsiteX3" fmla="*/ 2174298 w 2174301"/>
              <a:gd name="connsiteY3" fmla="*/ 108912 h 594531"/>
              <a:gd name="connsiteX4" fmla="*/ 2156972 w 2174301"/>
              <a:gd name="connsiteY4" fmla="*/ 583886 h 594531"/>
              <a:gd name="connsiteX5" fmla="*/ 2065386 w 2174301"/>
              <a:gd name="connsiteY5" fmla="*/ 594474 h 594531"/>
              <a:gd name="connsiteX6" fmla="*/ 14469 w 2174301"/>
              <a:gd name="connsiteY6" fmla="*/ 583886 h 594531"/>
              <a:gd name="connsiteX7" fmla="*/ 5393 w 2174301"/>
              <a:gd name="connsiteY7" fmla="*/ 26000 h 594531"/>
              <a:gd name="connsiteX0" fmla="*/ 5393 w 2174301"/>
              <a:gd name="connsiteY0" fmla="*/ 26000 h 594531"/>
              <a:gd name="connsiteX1" fmla="*/ 82295 w 2174301"/>
              <a:gd name="connsiteY1" fmla="*/ 0 h 594531"/>
              <a:gd name="connsiteX2" fmla="*/ 2156972 w 2174301"/>
              <a:gd name="connsiteY2" fmla="*/ 12386 h 594531"/>
              <a:gd name="connsiteX3" fmla="*/ 2174298 w 2174301"/>
              <a:gd name="connsiteY3" fmla="*/ 108912 h 594531"/>
              <a:gd name="connsiteX4" fmla="*/ 2156972 w 2174301"/>
              <a:gd name="connsiteY4" fmla="*/ 583886 h 594531"/>
              <a:gd name="connsiteX5" fmla="*/ 2065386 w 2174301"/>
              <a:gd name="connsiteY5" fmla="*/ 594474 h 594531"/>
              <a:gd name="connsiteX6" fmla="*/ 14469 w 2174301"/>
              <a:gd name="connsiteY6" fmla="*/ 583886 h 594531"/>
              <a:gd name="connsiteX7" fmla="*/ 5393 w 2174301"/>
              <a:gd name="connsiteY7" fmla="*/ 26000 h 594531"/>
              <a:gd name="connsiteX0" fmla="*/ 147197 w 2316105"/>
              <a:gd name="connsiteY0" fmla="*/ 26000 h 594531"/>
              <a:gd name="connsiteX1" fmla="*/ 224099 w 2316105"/>
              <a:gd name="connsiteY1" fmla="*/ 0 h 594531"/>
              <a:gd name="connsiteX2" fmla="*/ 2298776 w 2316105"/>
              <a:gd name="connsiteY2" fmla="*/ 12386 h 594531"/>
              <a:gd name="connsiteX3" fmla="*/ 2316102 w 2316105"/>
              <a:gd name="connsiteY3" fmla="*/ 108912 h 594531"/>
              <a:gd name="connsiteX4" fmla="*/ 2298776 w 2316105"/>
              <a:gd name="connsiteY4" fmla="*/ 583886 h 594531"/>
              <a:gd name="connsiteX5" fmla="*/ 2207190 w 2316105"/>
              <a:gd name="connsiteY5" fmla="*/ 594474 h 594531"/>
              <a:gd name="connsiteX6" fmla="*/ 156273 w 2316105"/>
              <a:gd name="connsiteY6" fmla="*/ 583886 h 594531"/>
              <a:gd name="connsiteX7" fmla="*/ 142416 w 2316105"/>
              <a:gd name="connsiteY7" fmla="*/ 235975 h 594531"/>
              <a:gd name="connsiteX8" fmla="*/ 147197 w 2316105"/>
              <a:gd name="connsiteY8" fmla="*/ 26000 h 594531"/>
              <a:gd name="connsiteX0" fmla="*/ 154684 w 2323592"/>
              <a:gd name="connsiteY0" fmla="*/ 26000 h 594531"/>
              <a:gd name="connsiteX1" fmla="*/ 231586 w 2323592"/>
              <a:gd name="connsiteY1" fmla="*/ 0 h 594531"/>
              <a:gd name="connsiteX2" fmla="*/ 2306263 w 2323592"/>
              <a:gd name="connsiteY2" fmla="*/ 12386 h 594531"/>
              <a:gd name="connsiteX3" fmla="*/ 2323589 w 2323592"/>
              <a:gd name="connsiteY3" fmla="*/ 108912 h 594531"/>
              <a:gd name="connsiteX4" fmla="*/ 2306263 w 2323592"/>
              <a:gd name="connsiteY4" fmla="*/ 583886 h 594531"/>
              <a:gd name="connsiteX5" fmla="*/ 2214677 w 2323592"/>
              <a:gd name="connsiteY5" fmla="*/ 594474 h 594531"/>
              <a:gd name="connsiteX6" fmla="*/ 163760 w 2323592"/>
              <a:gd name="connsiteY6" fmla="*/ 583886 h 594531"/>
              <a:gd name="connsiteX7" fmla="*/ 158979 w 2323592"/>
              <a:gd name="connsiteY7" fmla="*/ 403879 h 594531"/>
              <a:gd name="connsiteX8" fmla="*/ 149903 w 2323592"/>
              <a:gd name="connsiteY8" fmla="*/ 235975 h 594531"/>
              <a:gd name="connsiteX9" fmla="*/ 154684 w 2323592"/>
              <a:gd name="connsiteY9" fmla="*/ 26000 h 594531"/>
              <a:gd name="connsiteX0" fmla="*/ 13665 w 2182573"/>
              <a:gd name="connsiteY0" fmla="*/ 26000 h 594531"/>
              <a:gd name="connsiteX1" fmla="*/ 90567 w 2182573"/>
              <a:gd name="connsiteY1" fmla="*/ 0 h 594531"/>
              <a:gd name="connsiteX2" fmla="*/ 2165244 w 2182573"/>
              <a:gd name="connsiteY2" fmla="*/ 12386 h 594531"/>
              <a:gd name="connsiteX3" fmla="*/ 2182570 w 2182573"/>
              <a:gd name="connsiteY3" fmla="*/ 108912 h 594531"/>
              <a:gd name="connsiteX4" fmla="*/ 2165244 w 2182573"/>
              <a:gd name="connsiteY4" fmla="*/ 583886 h 594531"/>
              <a:gd name="connsiteX5" fmla="*/ 2073658 w 2182573"/>
              <a:gd name="connsiteY5" fmla="*/ 594474 h 594531"/>
              <a:gd name="connsiteX6" fmla="*/ 22741 w 2182573"/>
              <a:gd name="connsiteY6" fmla="*/ 583886 h 594531"/>
              <a:gd name="connsiteX7" fmla="*/ 17960 w 2182573"/>
              <a:gd name="connsiteY7" fmla="*/ 403879 h 594531"/>
              <a:gd name="connsiteX8" fmla="*/ 8884 w 2182573"/>
              <a:gd name="connsiteY8" fmla="*/ 235975 h 594531"/>
              <a:gd name="connsiteX9" fmla="*/ 13665 w 2182573"/>
              <a:gd name="connsiteY9" fmla="*/ 26000 h 594531"/>
              <a:gd name="connsiteX0" fmla="*/ 13665 w 2202120"/>
              <a:gd name="connsiteY0" fmla="*/ 26000 h 594531"/>
              <a:gd name="connsiteX1" fmla="*/ 90567 w 2202120"/>
              <a:gd name="connsiteY1" fmla="*/ 0 h 594531"/>
              <a:gd name="connsiteX2" fmla="*/ 2165244 w 2202120"/>
              <a:gd name="connsiteY2" fmla="*/ 12386 h 594531"/>
              <a:gd name="connsiteX3" fmla="*/ 2182570 w 2202120"/>
              <a:gd name="connsiteY3" fmla="*/ 108912 h 594531"/>
              <a:gd name="connsiteX4" fmla="*/ 2192471 w 2202120"/>
              <a:gd name="connsiteY4" fmla="*/ 583886 h 594531"/>
              <a:gd name="connsiteX5" fmla="*/ 2073658 w 2202120"/>
              <a:gd name="connsiteY5" fmla="*/ 594474 h 594531"/>
              <a:gd name="connsiteX6" fmla="*/ 22741 w 2202120"/>
              <a:gd name="connsiteY6" fmla="*/ 583886 h 594531"/>
              <a:gd name="connsiteX7" fmla="*/ 17960 w 2202120"/>
              <a:gd name="connsiteY7" fmla="*/ 403879 h 594531"/>
              <a:gd name="connsiteX8" fmla="*/ 8884 w 2202120"/>
              <a:gd name="connsiteY8" fmla="*/ 235975 h 594531"/>
              <a:gd name="connsiteX9" fmla="*/ 13665 w 2202120"/>
              <a:gd name="connsiteY9" fmla="*/ 26000 h 594531"/>
              <a:gd name="connsiteX0" fmla="*/ 13665 w 2202036"/>
              <a:gd name="connsiteY0" fmla="*/ 26000 h 594531"/>
              <a:gd name="connsiteX1" fmla="*/ 90567 w 2202036"/>
              <a:gd name="connsiteY1" fmla="*/ 0 h 594531"/>
              <a:gd name="connsiteX2" fmla="*/ 2165244 w 2202036"/>
              <a:gd name="connsiteY2" fmla="*/ 12386 h 594531"/>
              <a:gd name="connsiteX3" fmla="*/ 2182570 w 2202036"/>
              <a:gd name="connsiteY3" fmla="*/ 108912 h 594531"/>
              <a:gd name="connsiteX4" fmla="*/ 2191645 w 2202036"/>
              <a:gd name="connsiteY4" fmla="*/ 422031 h 594531"/>
              <a:gd name="connsiteX5" fmla="*/ 2192471 w 2202036"/>
              <a:gd name="connsiteY5" fmla="*/ 583886 h 594531"/>
              <a:gd name="connsiteX6" fmla="*/ 2073658 w 2202036"/>
              <a:gd name="connsiteY6" fmla="*/ 594474 h 594531"/>
              <a:gd name="connsiteX7" fmla="*/ 22741 w 2202036"/>
              <a:gd name="connsiteY7" fmla="*/ 583886 h 594531"/>
              <a:gd name="connsiteX8" fmla="*/ 17960 w 2202036"/>
              <a:gd name="connsiteY8" fmla="*/ 403879 h 594531"/>
              <a:gd name="connsiteX9" fmla="*/ 8884 w 2202036"/>
              <a:gd name="connsiteY9" fmla="*/ 235975 h 594531"/>
              <a:gd name="connsiteX10" fmla="*/ 13665 w 2202036"/>
              <a:gd name="connsiteY10" fmla="*/ 26000 h 594531"/>
              <a:gd name="connsiteX0" fmla="*/ 142254 w 2330625"/>
              <a:gd name="connsiteY0" fmla="*/ 26000 h 594531"/>
              <a:gd name="connsiteX1" fmla="*/ 219156 w 2330625"/>
              <a:gd name="connsiteY1" fmla="*/ 0 h 594531"/>
              <a:gd name="connsiteX2" fmla="*/ 2293833 w 2330625"/>
              <a:gd name="connsiteY2" fmla="*/ 12386 h 594531"/>
              <a:gd name="connsiteX3" fmla="*/ 2311159 w 2330625"/>
              <a:gd name="connsiteY3" fmla="*/ 108912 h 594531"/>
              <a:gd name="connsiteX4" fmla="*/ 2320234 w 2330625"/>
              <a:gd name="connsiteY4" fmla="*/ 422031 h 594531"/>
              <a:gd name="connsiteX5" fmla="*/ 2321060 w 2330625"/>
              <a:gd name="connsiteY5" fmla="*/ 583886 h 594531"/>
              <a:gd name="connsiteX6" fmla="*/ 2202247 w 2330625"/>
              <a:gd name="connsiteY6" fmla="*/ 594474 h 594531"/>
              <a:gd name="connsiteX7" fmla="*/ 151330 w 2330625"/>
              <a:gd name="connsiteY7" fmla="*/ 583886 h 594531"/>
              <a:gd name="connsiteX8" fmla="*/ 155624 w 2330625"/>
              <a:gd name="connsiteY8" fmla="*/ 512790 h 594531"/>
              <a:gd name="connsiteX9" fmla="*/ 146549 w 2330625"/>
              <a:gd name="connsiteY9" fmla="*/ 403879 h 594531"/>
              <a:gd name="connsiteX10" fmla="*/ 137473 w 2330625"/>
              <a:gd name="connsiteY10" fmla="*/ 235975 h 594531"/>
              <a:gd name="connsiteX11" fmla="*/ 142254 w 2330625"/>
              <a:gd name="connsiteY11" fmla="*/ 26000 h 594531"/>
              <a:gd name="connsiteX0" fmla="*/ 13413 w 2201784"/>
              <a:gd name="connsiteY0" fmla="*/ 26000 h 594531"/>
              <a:gd name="connsiteX1" fmla="*/ 90315 w 2201784"/>
              <a:gd name="connsiteY1" fmla="*/ 0 h 594531"/>
              <a:gd name="connsiteX2" fmla="*/ 2164992 w 2201784"/>
              <a:gd name="connsiteY2" fmla="*/ 12386 h 594531"/>
              <a:gd name="connsiteX3" fmla="*/ 2182318 w 2201784"/>
              <a:gd name="connsiteY3" fmla="*/ 108912 h 594531"/>
              <a:gd name="connsiteX4" fmla="*/ 2191393 w 2201784"/>
              <a:gd name="connsiteY4" fmla="*/ 422031 h 594531"/>
              <a:gd name="connsiteX5" fmla="*/ 2192219 w 2201784"/>
              <a:gd name="connsiteY5" fmla="*/ 583886 h 594531"/>
              <a:gd name="connsiteX6" fmla="*/ 2073406 w 2201784"/>
              <a:gd name="connsiteY6" fmla="*/ 594474 h 594531"/>
              <a:gd name="connsiteX7" fmla="*/ 22489 w 2201784"/>
              <a:gd name="connsiteY7" fmla="*/ 583886 h 594531"/>
              <a:gd name="connsiteX8" fmla="*/ 26783 w 2201784"/>
              <a:gd name="connsiteY8" fmla="*/ 512790 h 594531"/>
              <a:gd name="connsiteX9" fmla="*/ 17708 w 2201784"/>
              <a:gd name="connsiteY9" fmla="*/ 403879 h 594531"/>
              <a:gd name="connsiteX10" fmla="*/ 8632 w 2201784"/>
              <a:gd name="connsiteY10" fmla="*/ 235975 h 594531"/>
              <a:gd name="connsiteX11" fmla="*/ 13413 w 2201784"/>
              <a:gd name="connsiteY11" fmla="*/ 26000 h 59453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2201784" h="594531">
                <a:moveTo>
                  <a:pt x="13413" y="26000"/>
                </a:moveTo>
                <a:cubicBezTo>
                  <a:pt x="37534" y="24897"/>
                  <a:pt x="66194" y="1103"/>
                  <a:pt x="90315" y="0"/>
                </a:cubicBezTo>
                <a:lnTo>
                  <a:pt x="2164992" y="12386"/>
                </a:lnTo>
                <a:cubicBezTo>
                  <a:pt x="2164717" y="43049"/>
                  <a:pt x="2182593" y="78249"/>
                  <a:pt x="2182318" y="108912"/>
                </a:cubicBezTo>
                <a:cubicBezTo>
                  <a:pt x="2188231" y="177186"/>
                  <a:pt x="2189743" y="342869"/>
                  <a:pt x="2191393" y="422031"/>
                </a:cubicBezTo>
                <a:cubicBezTo>
                  <a:pt x="2193043" y="501193"/>
                  <a:pt x="2213396" y="555146"/>
                  <a:pt x="2192219" y="583886"/>
                </a:cubicBezTo>
                <a:cubicBezTo>
                  <a:pt x="2172279" y="582877"/>
                  <a:pt x="2093346" y="595483"/>
                  <a:pt x="2073406" y="594474"/>
                </a:cubicBezTo>
                <a:lnTo>
                  <a:pt x="22489" y="583886"/>
                </a:lnTo>
                <a:cubicBezTo>
                  <a:pt x="5849" y="592962"/>
                  <a:pt x="27580" y="542791"/>
                  <a:pt x="26783" y="512790"/>
                </a:cubicBezTo>
                <a:cubicBezTo>
                  <a:pt x="25986" y="482789"/>
                  <a:pt x="18464" y="450015"/>
                  <a:pt x="17708" y="403879"/>
                </a:cubicBezTo>
                <a:cubicBezTo>
                  <a:pt x="16952" y="357743"/>
                  <a:pt x="-14855" y="308787"/>
                  <a:pt x="8632" y="235975"/>
                </a:cubicBezTo>
                <a:cubicBezTo>
                  <a:pt x="7119" y="142994"/>
                  <a:pt x="-201" y="65329"/>
                  <a:pt x="13413" y="26000"/>
                </a:cubicBezTo>
                <a:close/>
              </a:path>
            </a:pathLst>
          </a:custGeom>
          <a:solidFill>
            <a:srgbClr val="D9D4D0">
              <a:alpha val="60000"/>
            </a:srgbClr>
          </a:solidFill>
          <a:ln>
            <a:noFill/>
          </a:ln>
          <a:effectLst>
            <a:softEdge rad="6350"/>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72739774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8">
                                            <p:txEl>
                                              <p:pRg st="1" end="1"/>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8">
                                            <p:txEl>
                                              <p:pRg st="2" end="2"/>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18">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8">
                                            <p:txEl>
                                              <p:pRg st="4" end="4"/>
                                            </p:txEl>
                                          </p:spTgt>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18">
                                            <p:txEl>
                                              <p:pRg st="5" end="5"/>
                                            </p:txEl>
                                          </p:spTgt>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18">
                                            <p:txEl>
                                              <p:pRg st="6" end="6"/>
                                            </p:txEl>
                                          </p:spTgt>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18">
                                            <p:txEl>
                                              <p:pRg st="7" end="7"/>
                                            </p:txEl>
                                          </p:spTgt>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nodeType="clickEffect">
                                  <p:stCondLst>
                                    <p:cond delay="0"/>
                                  </p:stCondLst>
                                  <p:childTnLst>
                                    <p:set>
                                      <p:cBhvr>
                                        <p:cTn id="24" dur="1" fill="hold">
                                          <p:stCondLst>
                                            <p:cond delay="0"/>
                                          </p:stCondLst>
                                        </p:cTn>
                                        <p:tgtEl>
                                          <p:spTgt spid="18">
                                            <p:txEl>
                                              <p:pRg st="8" end="8"/>
                                            </p:txEl>
                                          </p:spTgt>
                                        </p:tgtEl>
                                        <p:attrNameLst>
                                          <p:attrName>style.visibility</p:attrName>
                                        </p:attrNameLst>
                                      </p:cBhvr>
                                      <p:to>
                                        <p:strVal val="visible"/>
                                      </p:to>
                                    </p:set>
                                  </p:childTnLst>
                                </p:cTn>
                              </p:par>
                              <p:par>
                                <p:cTn id="25" presetID="1" presetClass="entr" presetSubtype="0" fill="hold" nodeType="withEffect">
                                  <p:stCondLst>
                                    <p:cond delay="0"/>
                                  </p:stCondLst>
                                  <p:childTnLst>
                                    <p:set>
                                      <p:cBhvr>
                                        <p:cTn id="26" dur="1" fill="hold">
                                          <p:stCondLst>
                                            <p:cond delay="0"/>
                                          </p:stCondLst>
                                        </p:cTn>
                                        <p:tgtEl>
                                          <p:spTgt spid="18">
                                            <p:txEl>
                                              <p:pRg st="9" end="9"/>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theme/theme1.xml><?xml version="1.0" encoding="utf-8"?>
<a:theme xmlns:a="http://schemas.openxmlformats.org/drawingml/2006/main" name="Office Theme">
  <a:themeElements>
    <a:clrScheme name="Office with darker green">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377620"/>
      </a:accent6>
      <a:hlink>
        <a:srgbClr val="467886"/>
      </a:hlink>
      <a:folHlink>
        <a:srgbClr val="96607D"/>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
      <a:dk1>
        <a:srgbClr val="000000"/>
      </a:dk1>
      <a:lt1>
        <a:srgbClr val="FFFFFF"/>
      </a:lt1>
      <a:dk2>
        <a:srgbClr val="000000"/>
      </a:dk2>
      <a:lt2>
        <a:srgbClr val="808080"/>
      </a:lt2>
      <a:accent1>
        <a:srgbClr val="BBE0E3"/>
      </a:accent1>
      <a:accent2>
        <a:srgbClr val="333399"/>
      </a:accent2>
      <a:accent3>
        <a:srgbClr val="FFFFFF"/>
      </a:accent3>
      <a:accent4>
        <a:srgbClr val="000000"/>
      </a:accent4>
      <a:accent5>
        <a:srgbClr val="DAEDEF"/>
      </a:accent5>
      <a:accent6>
        <a:srgbClr val="2D2D8A"/>
      </a:accent6>
      <a:hlink>
        <a:srgbClr val="009999"/>
      </a:hlink>
      <a:folHlink>
        <a:srgbClr val="99CC0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emplate>AI_theme</Template>
  <TotalTime>24762</TotalTime>
  <Words>7565</Words>
  <Application>Microsoft Office PowerPoint</Application>
  <PresentationFormat>On-screen Show (4:3)</PresentationFormat>
  <Paragraphs>1128</Paragraphs>
  <Slides>96</Slides>
  <Notes>63</Notes>
  <HiddenSlides>1</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96</vt:i4>
      </vt:variant>
    </vt:vector>
  </HeadingPairs>
  <TitlesOfParts>
    <vt:vector size="102" baseType="lpstr">
      <vt:lpstr>Arial</vt:lpstr>
      <vt:lpstr>Calibri</vt:lpstr>
      <vt:lpstr>Calibri Light</vt:lpstr>
      <vt:lpstr>Cambria Math</vt:lpstr>
      <vt:lpstr>Wingdings</vt:lpstr>
      <vt:lpstr>Office Theme</vt:lpstr>
      <vt:lpstr>CS 5/7320  Artificial Intelligence  Solving problems by searching AIMA Chapter 3</vt:lpstr>
      <vt:lpstr>Contents</vt:lpstr>
      <vt:lpstr>Search Problems</vt:lpstr>
      <vt:lpstr>What are Search Problems?</vt:lpstr>
      <vt:lpstr>Remember: Planning Agent (Goal-based)</vt:lpstr>
      <vt:lpstr>Planning for Search Problems</vt:lpstr>
      <vt:lpstr>Definition of a Search Problem</vt:lpstr>
      <vt:lpstr>Transition Function and Available Actions</vt:lpstr>
      <vt:lpstr>Example: Romania Vacation</vt:lpstr>
      <vt:lpstr>Example: Vacuum world</vt:lpstr>
      <vt:lpstr>Example: Sliding-tile Puzzle</vt:lpstr>
      <vt:lpstr>Example: Robot Motion Planning</vt:lpstr>
      <vt:lpstr>Tree Search</vt:lpstr>
      <vt:lpstr>Solving Search Problems</vt:lpstr>
      <vt:lpstr>Issue: Transition Model is a Graph             and Not a Tree!</vt:lpstr>
      <vt:lpstr>Creating a Search Tree</vt:lpstr>
      <vt:lpstr>Differences Between Typical Tree Search and AI Search</vt:lpstr>
      <vt:lpstr>Tree Search Algorithm Outline</vt:lpstr>
      <vt:lpstr>Tree Search Example</vt:lpstr>
      <vt:lpstr>Tree Search Example</vt:lpstr>
      <vt:lpstr>Tree Search Example</vt:lpstr>
      <vt:lpstr>Search Strategies: Properties</vt:lpstr>
      <vt:lpstr>Space and Time Complexity  State Space vs. Search Tree Size</vt:lpstr>
      <vt:lpstr>State Space vs. Search Tree Size</vt:lpstr>
      <vt:lpstr>State Space Size Estimation</vt:lpstr>
      <vt:lpstr>Reminder: Combinatorics - Permutations</vt:lpstr>
      <vt:lpstr>Reminder: Combinatorics - Combinations</vt:lpstr>
      <vt:lpstr>Example: What is the State Space Size?</vt:lpstr>
      <vt:lpstr>Examples: What is the State Space Size?</vt:lpstr>
      <vt:lpstr>Examples: What is the State Space Size?</vt:lpstr>
      <vt:lpstr>Estimating the Search Tree Size</vt:lpstr>
      <vt:lpstr>Example: What is the Search Complexity?</vt:lpstr>
      <vt:lpstr>Examples: What is the  Search Complexity?</vt:lpstr>
      <vt:lpstr>Examples: What is the  Search Complexity?</vt:lpstr>
      <vt:lpstr>Things to Remember</vt:lpstr>
      <vt:lpstr>Uninformed Search</vt:lpstr>
      <vt:lpstr>Uninformed Search Strategies</vt:lpstr>
      <vt:lpstr>Breadth-First Search (BFS)</vt:lpstr>
      <vt:lpstr>Implementation: Breadth-First Search </vt:lpstr>
      <vt:lpstr>Implementation: Expanding the Search Tree</vt:lpstr>
      <vt:lpstr>Time and Space Complexity  Breadth-First Search</vt:lpstr>
      <vt:lpstr>Properties of Breadth-First Search</vt:lpstr>
      <vt:lpstr>Uniform-cost Search  (= Dijkstra’s Shortest Path Algorithm)</vt:lpstr>
      <vt:lpstr>Implementation: Best-First Search Strategy</vt:lpstr>
      <vt:lpstr>Uninformed Search</vt:lpstr>
      <vt:lpstr>Depth-First Search (DFS)</vt:lpstr>
      <vt:lpstr>Implementation: DFS</vt:lpstr>
      <vt:lpstr>Time and Space Complexity Depth-First Search</vt:lpstr>
      <vt:lpstr>Properties of Depth-First Search</vt:lpstr>
      <vt:lpstr>Iterative Deepening Search (IDS)</vt:lpstr>
      <vt:lpstr>Iterative Deepening Search (IDS)</vt:lpstr>
      <vt:lpstr>Implementation: IDS</vt:lpstr>
      <vt:lpstr>Properties of Iterative Deepening Search</vt:lpstr>
      <vt:lpstr>Informed Search Introduction</vt:lpstr>
      <vt:lpstr>Informed Search</vt:lpstr>
      <vt:lpstr>Heuristic Function</vt:lpstr>
      <vt:lpstr>Heuristic for the Romania Problem</vt:lpstr>
      <vt:lpstr>Greedy Best-First Search Example</vt:lpstr>
      <vt:lpstr>Greedy Best-First Search Example</vt:lpstr>
      <vt:lpstr>Greedy Best-First Search Example</vt:lpstr>
      <vt:lpstr>Greedy Best-First Search Example</vt:lpstr>
      <vt:lpstr>Properties of Greedy Best-First Search</vt:lpstr>
      <vt:lpstr>Implementation of Greedy Best-First Search</vt:lpstr>
      <vt:lpstr>Properties of Greedy Best-First Search</vt:lpstr>
      <vt:lpstr>Informed Search A* Search</vt:lpstr>
      <vt:lpstr>The Optimality Problem of  Greedy Best-First search</vt:lpstr>
      <vt:lpstr>A* Search</vt:lpstr>
      <vt:lpstr>A* Search Example</vt:lpstr>
      <vt:lpstr>A* Search Example</vt:lpstr>
      <vt:lpstr>A* Search Example</vt:lpstr>
      <vt:lpstr>A* Search Example</vt:lpstr>
      <vt:lpstr>A* Search Example</vt:lpstr>
      <vt:lpstr>A* Search Example</vt:lpstr>
      <vt:lpstr>BFS vs. A* Search</vt:lpstr>
      <vt:lpstr>Implementation of A* Search</vt:lpstr>
      <vt:lpstr>Admissible Heuristics and Optimality</vt:lpstr>
      <vt:lpstr>Proof of Optimality of  A* Search</vt:lpstr>
      <vt:lpstr>Properties of A*Search</vt:lpstr>
      <vt:lpstr>Iterative-Deepening A* Search – IDA*</vt:lpstr>
      <vt:lpstr>Informed Search Designing Heuristics</vt:lpstr>
      <vt:lpstr>Designing Heuristic Functions</vt:lpstr>
      <vt:lpstr>Heuristics from Relaxed Problems</vt:lpstr>
      <vt:lpstr>Heuristics from Relaxed Problems</vt:lpstr>
      <vt:lpstr>Heuristics from Subproblems</vt:lpstr>
      <vt:lpstr>Dominance: What Heuristic is Better?</vt:lpstr>
      <vt:lpstr>Combining Heuristics</vt:lpstr>
      <vt:lpstr>Example: Effect of Information in Search</vt:lpstr>
      <vt:lpstr>Satisficing Search: Weighted A* Search</vt:lpstr>
      <vt:lpstr>Example of Weighted A* Search</vt:lpstr>
      <vt:lpstr>Summary  Planning Agents</vt:lpstr>
      <vt:lpstr>Remember: Planning Agent (Goal-based)</vt:lpstr>
      <vt:lpstr>A Planning Agent: Planning vs. Execution Phase</vt:lpstr>
      <vt:lpstr>Example: Complete Planning Agent to Solve a Maze</vt:lpstr>
      <vt:lpstr>Summary:  All Search Strategies</vt:lpstr>
      <vt:lpstr>Implementation as Best-First Search</vt:lpstr>
      <vt:lpstr>What You Should Know</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Solving problems by searching</dc:title>
  <dc:creator>michael</dc:creator>
  <cp:lastModifiedBy>Hahsler, Michael</cp:lastModifiedBy>
  <cp:revision>234</cp:revision>
  <dcterms:created xsi:type="dcterms:W3CDTF">2020-09-15T14:04:03Z</dcterms:created>
  <dcterms:modified xsi:type="dcterms:W3CDTF">2026-02-20T16:51:33Z</dcterms:modified>
</cp:coreProperties>
</file>