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3" r:id="rId1"/>
  </p:sldMasterIdLst>
  <p:notesMasterIdLst>
    <p:notesMasterId r:id="rId8"/>
  </p:notesMasterIdLst>
  <p:sldIdLst>
    <p:sldId id="746" r:id="rId2"/>
    <p:sldId id="747" r:id="rId3"/>
    <p:sldId id="749" r:id="rId4"/>
    <p:sldId id="748" r:id="rId5"/>
    <p:sldId id="750" r:id="rId6"/>
    <p:sldId id="751" r:id="rId7"/>
  </p:sldIdLst>
  <p:sldSz cx="9144000" cy="6858000" type="screen4x3"/>
  <p:notesSz cx="7315200" cy="96012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CC0D4"/>
    <a:srgbClr val="5B9BD5"/>
    <a:srgbClr val="0000FF"/>
    <a:srgbClr val="9900CC"/>
    <a:srgbClr val="009900"/>
    <a:srgbClr val="FF00FF"/>
    <a:srgbClr val="00FFFF"/>
    <a:srgbClr val="FFFF00"/>
    <a:srgbClr val="FF0000"/>
    <a:srgbClr val="11111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4606" autoAdjust="0"/>
    <p:restoredTop sz="86439" autoAdjust="0"/>
  </p:normalViewPr>
  <p:slideViewPr>
    <p:cSldViewPr>
      <p:cViewPr varScale="1">
        <p:scale>
          <a:sx n="83" d="100"/>
          <a:sy n="83" d="100"/>
        </p:scale>
        <p:origin x="1376" y="52"/>
      </p:cViewPr>
      <p:guideLst>
        <p:guide orient="horz" pos="2160"/>
        <p:guide pos="2880"/>
      </p:guideLst>
    </p:cSldViewPr>
  </p:slideViewPr>
  <p:outlineViewPr>
    <p:cViewPr>
      <p:scale>
        <a:sx n="25" d="100"/>
        <a:sy n="25" d="100"/>
      </p:scale>
      <p:origin x="0" y="-15132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88" d="100"/>
          <a:sy n="88" d="100"/>
        </p:scale>
        <p:origin x="2976" y="8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svg"/><Relationship Id="rId1" Type="http://schemas.openxmlformats.org/officeDocument/2006/relationships/image" Target="../media/image5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svg"/><Relationship Id="rId1" Type="http://schemas.openxmlformats.org/officeDocument/2006/relationships/image" Target="../media/image5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colored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2">
        <a:alpha val="0"/>
      </a:schemeClr>
    </dgm:fillClrLst>
    <dgm:linClrLst meth="repeat">
      <a:schemeClr val="accent2">
        <a:alpha val="0"/>
      </a:schemeClr>
    </dgm:linClrLst>
    <dgm:effectClrLst/>
    <dgm:txLinClrLst/>
    <dgm:txFillClrLst meth="repeat">
      <a:schemeClr val="accent2"/>
      <a:schemeClr val="accent3"/>
      <a:schemeClr val="accent4"/>
      <a:schemeClr val="accent5"/>
      <a:schemeClr val="accent6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7D2D9ED-F008-4B5F-9525-3D2B5EB9B0EC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coloredtext_colorful1" csCatId="colorful" phldr="1"/>
      <dgm:spPr/>
      <dgm:t>
        <a:bodyPr/>
        <a:lstStyle/>
        <a:p>
          <a:endParaRPr lang="en-US"/>
        </a:p>
      </dgm:t>
    </dgm:pt>
    <dgm:pt modelId="{85556EB6-77CF-499D-BB6E-2C5024EC1F11}">
      <dgm:prSet custT="1"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sz="1600" b="1" cap="none" dirty="0"/>
            <a:t>Lecture + Problem Sets</a:t>
          </a:r>
          <a:r>
            <a:rPr lang="en-US" sz="1600" cap="none" dirty="0"/>
            <a:t>: We will discuss algorithms appropriate for different tasks and types of environments. Problem sets will improve the understanding. </a:t>
          </a:r>
        </a:p>
      </dgm:t>
    </dgm:pt>
    <dgm:pt modelId="{A0502F33-FF3E-4CDA-BF79-BFD6A8042CB4}" type="parTrans" cxnId="{2D3F6008-DDCC-40AC-AE52-C234FBC376D5}">
      <dgm:prSet/>
      <dgm:spPr/>
      <dgm:t>
        <a:bodyPr/>
        <a:lstStyle/>
        <a:p>
          <a:endParaRPr lang="en-US"/>
        </a:p>
      </dgm:t>
    </dgm:pt>
    <dgm:pt modelId="{F3A3D373-011E-46F0-BFFD-E173B7E1F018}" type="sibTrans" cxnId="{2D3F6008-DDCC-40AC-AE52-C234FBC376D5}">
      <dgm:prSet/>
      <dgm:spPr/>
      <dgm:t>
        <a:bodyPr/>
        <a:lstStyle/>
        <a:p>
          <a:endParaRPr lang="en-US"/>
        </a:p>
      </dgm:t>
    </dgm:pt>
    <dgm:pt modelId="{FD37932E-AB41-4F9E-B178-8A6DF0D730CD}">
      <dgm:prSet custT="1"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sz="1600" b="1" cap="none" dirty="0"/>
            <a:t>Projects</a:t>
          </a:r>
          <a:r>
            <a:rPr lang="en-US" sz="1600" cap="none" dirty="0"/>
            <a:t>: You will implement algorithms to solve several tasks and conduct experiments to investigate how well the algorithms work and how they scale with problem size. </a:t>
          </a:r>
        </a:p>
      </dgm:t>
      <dgm:extLst>
        <a:ext uri="{E40237B7-FDA0-4F09-8148-C483321AD2D9}">
          <dgm14:cNvPr xmlns:dgm14="http://schemas.microsoft.com/office/drawing/2010/diagram" id="0" name="" descr="You will implement algorithms to solve several tasks and conduct experiments to investigate how well the algorithms work and how they scale with problem size. "/>
        </a:ext>
      </dgm:extLst>
    </dgm:pt>
    <dgm:pt modelId="{B268A2BD-0C9E-4DCF-91BA-E16A455E029C}" type="parTrans" cxnId="{47E824B7-3212-4E68-B17D-01C286CB2575}">
      <dgm:prSet/>
      <dgm:spPr/>
      <dgm:t>
        <a:bodyPr/>
        <a:lstStyle/>
        <a:p>
          <a:endParaRPr lang="en-US"/>
        </a:p>
      </dgm:t>
    </dgm:pt>
    <dgm:pt modelId="{E5EB9EE9-E9CD-4FDC-9F83-012E5F75DF28}" type="sibTrans" cxnId="{47E824B7-3212-4E68-B17D-01C286CB2575}">
      <dgm:prSet/>
      <dgm:spPr/>
      <dgm:t>
        <a:bodyPr/>
        <a:lstStyle/>
        <a:p>
          <a:endParaRPr lang="en-US"/>
        </a:p>
      </dgm:t>
    </dgm:pt>
    <dgm:pt modelId="{343D494A-2D2E-4876-BC06-03FE2CAE800A}">
      <dgm:prSet custT="1"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sz="1600" b="1" cap="none" dirty="0"/>
            <a:t>Exams: </a:t>
          </a:r>
          <a:r>
            <a:rPr lang="en-US" sz="1600" b="0" cap="none" dirty="0"/>
            <a:t>Checks knowledge of AI concepts and the ability to apply them.</a:t>
          </a:r>
          <a:endParaRPr lang="en-US" sz="1600" b="1" cap="none" dirty="0"/>
        </a:p>
      </dgm:t>
      <dgm:extLst>
        <a:ext uri="{E40237B7-FDA0-4F09-8148-C483321AD2D9}">
          <dgm14:cNvPr xmlns:dgm14="http://schemas.microsoft.com/office/drawing/2010/diagram" id="0" name="" descr="You will implement algorithms to solve several tasks and conduct experiments to investigate how well the algorithms work and how they scale with problem size. "/>
        </a:ext>
      </dgm:extLst>
    </dgm:pt>
    <dgm:pt modelId="{477F5A59-B38B-457D-A879-B8D83A751434}" type="parTrans" cxnId="{698395C8-DCEE-4D98-952C-CCFDAF0E21BB}">
      <dgm:prSet/>
      <dgm:spPr/>
      <dgm:t>
        <a:bodyPr/>
        <a:lstStyle/>
        <a:p>
          <a:endParaRPr lang="en-US"/>
        </a:p>
      </dgm:t>
    </dgm:pt>
    <dgm:pt modelId="{EA5533A2-E0A4-4FB3-82BC-2C084507BD7D}" type="sibTrans" cxnId="{698395C8-DCEE-4D98-952C-CCFDAF0E21BB}">
      <dgm:prSet/>
      <dgm:spPr/>
      <dgm:t>
        <a:bodyPr/>
        <a:lstStyle/>
        <a:p>
          <a:endParaRPr lang="en-US"/>
        </a:p>
      </dgm:t>
    </dgm:pt>
    <dgm:pt modelId="{691847A3-79DF-4D9A-862B-527494AC6810}" type="pres">
      <dgm:prSet presAssocID="{67D2D9ED-F008-4B5F-9525-3D2B5EB9B0EC}" presName="root" presStyleCnt="0">
        <dgm:presLayoutVars>
          <dgm:dir/>
          <dgm:resizeHandles val="exact"/>
        </dgm:presLayoutVars>
      </dgm:prSet>
      <dgm:spPr/>
    </dgm:pt>
    <dgm:pt modelId="{57AEA7ED-7400-46FB-B788-DC93A6CEA299}" type="pres">
      <dgm:prSet presAssocID="{85556EB6-77CF-499D-BB6E-2C5024EC1F11}" presName="compNode" presStyleCnt="0"/>
      <dgm:spPr/>
    </dgm:pt>
    <dgm:pt modelId="{08A12263-E4A9-4A00-88E6-3846A16416C1}" type="pres">
      <dgm:prSet presAssocID="{85556EB6-77CF-499D-BB6E-2C5024EC1F11}" presName="iconBgRect" presStyleLbl="bgShp" presStyleIdx="0" presStyleCnt="3"/>
      <dgm:spPr/>
    </dgm:pt>
    <dgm:pt modelId="{86982F10-A107-426F-B3DF-5C8430D602FE}" type="pres">
      <dgm:prSet presAssocID="{85556EB6-77CF-499D-BB6E-2C5024EC1F11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lassroom"/>
        </a:ext>
      </dgm:extLst>
    </dgm:pt>
    <dgm:pt modelId="{26F34AEE-C90C-490B-B05A-0CF8911036E6}" type="pres">
      <dgm:prSet presAssocID="{85556EB6-77CF-499D-BB6E-2C5024EC1F11}" presName="spaceRect" presStyleCnt="0"/>
      <dgm:spPr/>
    </dgm:pt>
    <dgm:pt modelId="{75CDBA54-D425-4D8F-91AD-9709476643B9}" type="pres">
      <dgm:prSet presAssocID="{85556EB6-77CF-499D-BB6E-2C5024EC1F11}" presName="textRect" presStyleLbl="revTx" presStyleIdx="0" presStyleCnt="3" custScaleX="180132">
        <dgm:presLayoutVars>
          <dgm:chMax val="1"/>
          <dgm:chPref val="1"/>
        </dgm:presLayoutVars>
      </dgm:prSet>
      <dgm:spPr/>
    </dgm:pt>
    <dgm:pt modelId="{07FA76DA-9D4B-45C4-AD2E-7CECAF062D28}" type="pres">
      <dgm:prSet presAssocID="{F3A3D373-011E-46F0-BFFD-E173B7E1F018}" presName="sibTrans" presStyleCnt="0"/>
      <dgm:spPr/>
    </dgm:pt>
    <dgm:pt modelId="{6C28C8B4-E0AA-4AA0-989D-A8BA14913931}" type="pres">
      <dgm:prSet presAssocID="{FD37932E-AB41-4F9E-B178-8A6DF0D730CD}" presName="compNode" presStyleCnt="0"/>
      <dgm:spPr/>
    </dgm:pt>
    <dgm:pt modelId="{38F2B982-E76D-43F8-875F-C9F7F87FB6F0}" type="pres">
      <dgm:prSet presAssocID="{FD37932E-AB41-4F9E-B178-8A6DF0D730CD}" presName="iconBgRect" presStyleLbl="bgShp" presStyleIdx="1" presStyleCnt="3"/>
      <dgm:spPr/>
    </dgm:pt>
    <dgm:pt modelId="{4DA6517A-86C8-4E8B-867A-3B85CA151A02}" type="pres">
      <dgm:prSet presAssocID="{FD37932E-AB41-4F9E-B178-8A6DF0D730CD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grammer"/>
        </a:ext>
      </dgm:extLst>
    </dgm:pt>
    <dgm:pt modelId="{3A6481FB-2447-4EBA-8327-1D3DCA8AF792}" type="pres">
      <dgm:prSet presAssocID="{FD37932E-AB41-4F9E-B178-8A6DF0D730CD}" presName="spaceRect" presStyleCnt="0"/>
      <dgm:spPr/>
    </dgm:pt>
    <dgm:pt modelId="{D299793F-65DD-49BB-939C-47011274A408}" type="pres">
      <dgm:prSet presAssocID="{FD37932E-AB41-4F9E-B178-8A6DF0D730CD}" presName="textRect" presStyleLbl="revTx" presStyleIdx="1" presStyleCnt="3" custScaleX="155608">
        <dgm:presLayoutVars>
          <dgm:chMax val="1"/>
          <dgm:chPref val="1"/>
        </dgm:presLayoutVars>
      </dgm:prSet>
      <dgm:spPr/>
    </dgm:pt>
    <dgm:pt modelId="{C86814F7-C00B-4719-A8C6-E88FDD196FE4}" type="pres">
      <dgm:prSet presAssocID="{E5EB9EE9-E9CD-4FDC-9F83-012E5F75DF28}" presName="sibTrans" presStyleCnt="0"/>
      <dgm:spPr/>
    </dgm:pt>
    <dgm:pt modelId="{070C5CC5-EF16-42B0-937B-4090C16771AF}" type="pres">
      <dgm:prSet presAssocID="{343D494A-2D2E-4876-BC06-03FE2CAE800A}" presName="compNode" presStyleCnt="0"/>
      <dgm:spPr/>
    </dgm:pt>
    <dgm:pt modelId="{0A2E255C-A31C-404C-87A9-40118ABC48AC}" type="pres">
      <dgm:prSet presAssocID="{343D494A-2D2E-4876-BC06-03FE2CAE800A}" presName="iconBgRect" presStyleLbl="bgShp" presStyleIdx="2" presStyleCnt="3"/>
      <dgm:spPr/>
    </dgm:pt>
    <dgm:pt modelId="{F968AA62-AAE0-4276-99CD-39211C3E5225}" type="pres">
      <dgm:prSet presAssocID="{343D494A-2D2E-4876-BC06-03FE2CAE800A}" presName="iconRect" presStyleLbl="node1" presStyleIdx="2" presStyleCnt="3"/>
      <dgm:spPr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lipboard Mixed with solid fill"/>
        </a:ext>
      </dgm:extLst>
    </dgm:pt>
    <dgm:pt modelId="{89E99985-C245-492C-BB2C-DD6CA619488C}" type="pres">
      <dgm:prSet presAssocID="{343D494A-2D2E-4876-BC06-03FE2CAE800A}" presName="spaceRect" presStyleCnt="0"/>
      <dgm:spPr/>
    </dgm:pt>
    <dgm:pt modelId="{3FA3308A-970F-4619-8880-75C0B3013189}" type="pres">
      <dgm:prSet presAssocID="{343D494A-2D2E-4876-BC06-03FE2CAE800A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2D3F6008-DDCC-40AC-AE52-C234FBC376D5}" srcId="{67D2D9ED-F008-4B5F-9525-3D2B5EB9B0EC}" destId="{85556EB6-77CF-499D-BB6E-2C5024EC1F11}" srcOrd="0" destOrd="0" parTransId="{A0502F33-FF3E-4CDA-BF79-BFD6A8042CB4}" sibTransId="{F3A3D373-011E-46F0-BFFD-E173B7E1F018}"/>
    <dgm:cxn modelId="{6DB08242-3BE2-4477-9F6B-13CA0CCB8688}" type="presOf" srcId="{85556EB6-77CF-499D-BB6E-2C5024EC1F11}" destId="{75CDBA54-D425-4D8F-91AD-9709476643B9}" srcOrd="0" destOrd="0" presId="urn:microsoft.com/office/officeart/2018/5/layout/IconCircleLabelList"/>
    <dgm:cxn modelId="{5279A052-2419-477D-8F9E-9BB1CFC24018}" type="presOf" srcId="{343D494A-2D2E-4876-BC06-03FE2CAE800A}" destId="{3FA3308A-970F-4619-8880-75C0B3013189}" srcOrd="0" destOrd="0" presId="urn:microsoft.com/office/officeart/2018/5/layout/IconCircleLabelList"/>
    <dgm:cxn modelId="{47E824B7-3212-4E68-B17D-01C286CB2575}" srcId="{67D2D9ED-F008-4B5F-9525-3D2B5EB9B0EC}" destId="{FD37932E-AB41-4F9E-B178-8A6DF0D730CD}" srcOrd="1" destOrd="0" parTransId="{B268A2BD-0C9E-4DCF-91BA-E16A455E029C}" sibTransId="{E5EB9EE9-E9CD-4FDC-9F83-012E5F75DF28}"/>
    <dgm:cxn modelId="{C5BBC8B9-D165-4CAD-B91D-9084CC61E1A0}" type="presOf" srcId="{67D2D9ED-F008-4B5F-9525-3D2B5EB9B0EC}" destId="{691847A3-79DF-4D9A-862B-527494AC6810}" srcOrd="0" destOrd="0" presId="urn:microsoft.com/office/officeart/2018/5/layout/IconCircleLabelList"/>
    <dgm:cxn modelId="{DC9067BD-BB72-4D12-86ED-168745D75E51}" type="presOf" srcId="{FD37932E-AB41-4F9E-B178-8A6DF0D730CD}" destId="{D299793F-65DD-49BB-939C-47011274A408}" srcOrd="0" destOrd="0" presId="urn:microsoft.com/office/officeart/2018/5/layout/IconCircleLabelList"/>
    <dgm:cxn modelId="{698395C8-DCEE-4D98-952C-CCFDAF0E21BB}" srcId="{67D2D9ED-F008-4B5F-9525-3D2B5EB9B0EC}" destId="{343D494A-2D2E-4876-BC06-03FE2CAE800A}" srcOrd="2" destOrd="0" parTransId="{477F5A59-B38B-457D-A879-B8D83A751434}" sibTransId="{EA5533A2-E0A4-4FB3-82BC-2C084507BD7D}"/>
    <dgm:cxn modelId="{CDDD1C15-C97D-4D9C-83CF-C609B3B839CD}" type="presParOf" srcId="{691847A3-79DF-4D9A-862B-527494AC6810}" destId="{57AEA7ED-7400-46FB-B788-DC93A6CEA299}" srcOrd="0" destOrd="0" presId="urn:microsoft.com/office/officeart/2018/5/layout/IconCircleLabelList"/>
    <dgm:cxn modelId="{E29AD60C-6AD7-42FB-854D-857090BE4F4D}" type="presParOf" srcId="{57AEA7ED-7400-46FB-B788-DC93A6CEA299}" destId="{08A12263-E4A9-4A00-88E6-3846A16416C1}" srcOrd="0" destOrd="0" presId="urn:microsoft.com/office/officeart/2018/5/layout/IconCircleLabelList"/>
    <dgm:cxn modelId="{E784C42F-9C15-4137-8499-407E43DB10E5}" type="presParOf" srcId="{57AEA7ED-7400-46FB-B788-DC93A6CEA299}" destId="{86982F10-A107-426F-B3DF-5C8430D602FE}" srcOrd="1" destOrd="0" presId="urn:microsoft.com/office/officeart/2018/5/layout/IconCircleLabelList"/>
    <dgm:cxn modelId="{53E7089E-E975-44E1-BC12-17CAADEE599A}" type="presParOf" srcId="{57AEA7ED-7400-46FB-B788-DC93A6CEA299}" destId="{26F34AEE-C90C-490B-B05A-0CF8911036E6}" srcOrd="2" destOrd="0" presId="urn:microsoft.com/office/officeart/2018/5/layout/IconCircleLabelList"/>
    <dgm:cxn modelId="{B575AF7A-F7B7-4D70-BA51-AF76149EABFA}" type="presParOf" srcId="{57AEA7ED-7400-46FB-B788-DC93A6CEA299}" destId="{75CDBA54-D425-4D8F-91AD-9709476643B9}" srcOrd="3" destOrd="0" presId="urn:microsoft.com/office/officeart/2018/5/layout/IconCircleLabelList"/>
    <dgm:cxn modelId="{E5322F20-EAC7-42A9-8F7C-56AAFF69C35D}" type="presParOf" srcId="{691847A3-79DF-4D9A-862B-527494AC6810}" destId="{07FA76DA-9D4B-45C4-AD2E-7CECAF062D28}" srcOrd="1" destOrd="0" presId="urn:microsoft.com/office/officeart/2018/5/layout/IconCircleLabelList"/>
    <dgm:cxn modelId="{0ABD7810-BDEB-475E-96DA-FDD6DD2F1A6B}" type="presParOf" srcId="{691847A3-79DF-4D9A-862B-527494AC6810}" destId="{6C28C8B4-E0AA-4AA0-989D-A8BA14913931}" srcOrd="2" destOrd="0" presId="urn:microsoft.com/office/officeart/2018/5/layout/IconCircleLabelList"/>
    <dgm:cxn modelId="{68E6A819-38B6-4A62-93FC-C798D8186577}" type="presParOf" srcId="{6C28C8B4-E0AA-4AA0-989D-A8BA14913931}" destId="{38F2B982-E76D-43F8-875F-C9F7F87FB6F0}" srcOrd="0" destOrd="0" presId="urn:microsoft.com/office/officeart/2018/5/layout/IconCircleLabelList"/>
    <dgm:cxn modelId="{5B887014-5565-4FB2-BAFA-03F47B1B293B}" type="presParOf" srcId="{6C28C8B4-E0AA-4AA0-989D-A8BA14913931}" destId="{4DA6517A-86C8-4E8B-867A-3B85CA151A02}" srcOrd="1" destOrd="0" presId="urn:microsoft.com/office/officeart/2018/5/layout/IconCircleLabelList"/>
    <dgm:cxn modelId="{54472C35-071B-4D03-B206-797914BEAC93}" type="presParOf" srcId="{6C28C8B4-E0AA-4AA0-989D-A8BA14913931}" destId="{3A6481FB-2447-4EBA-8327-1D3DCA8AF792}" srcOrd="2" destOrd="0" presId="urn:microsoft.com/office/officeart/2018/5/layout/IconCircleLabelList"/>
    <dgm:cxn modelId="{B669344F-C799-4CE4-AFE6-A42E7294783C}" type="presParOf" srcId="{6C28C8B4-E0AA-4AA0-989D-A8BA14913931}" destId="{D299793F-65DD-49BB-939C-47011274A408}" srcOrd="3" destOrd="0" presId="urn:microsoft.com/office/officeart/2018/5/layout/IconCircleLabelList"/>
    <dgm:cxn modelId="{B6F08270-C0D8-4CE1-B7EE-41800D3BB82E}" type="presParOf" srcId="{691847A3-79DF-4D9A-862B-527494AC6810}" destId="{C86814F7-C00B-4719-A8C6-E88FDD196FE4}" srcOrd="3" destOrd="0" presId="urn:microsoft.com/office/officeart/2018/5/layout/IconCircleLabelList"/>
    <dgm:cxn modelId="{1941B0D9-5FEC-4F5D-81E6-D6CE125C44A5}" type="presParOf" srcId="{691847A3-79DF-4D9A-862B-527494AC6810}" destId="{070C5CC5-EF16-42B0-937B-4090C16771AF}" srcOrd="4" destOrd="0" presId="urn:microsoft.com/office/officeart/2018/5/layout/IconCircleLabelList"/>
    <dgm:cxn modelId="{619AEDDB-5090-493A-AA4C-F125E029C333}" type="presParOf" srcId="{070C5CC5-EF16-42B0-937B-4090C16771AF}" destId="{0A2E255C-A31C-404C-87A9-40118ABC48AC}" srcOrd="0" destOrd="0" presId="urn:microsoft.com/office/officeart/2018/5/layout/IconCircleLabelList"/>
    <dgm:cxn modelId="{72403486-0129-4BC4-A05A-0E65667C33EC}" type="presParOf" srcId="{070C5CC5-EF16-42B0-937B-4090C16771AF}" destId="{F968AA62-AAE0-4276-99CD-39211C3E5225}" srcOrd="1" destOrd="0" presId="urn:microsoft.com/office/officeart/2018/5/layout/IconCircleLabelList"/>
    <dgm:cxn modelId="{71F521FA-AEF9-458C-9A0A-94A63CD24B3F}" type="presParOf" srcId="{070C5CC5-EF16-42B0-937B-4090C16771AF}" destId="{89E99985-C245-492C-BB2C-DD6CA619488C}" srcOrd="2" destOrd="0" presId="urn:microsoft.com/office/officeart/2018/5/layout/IconCircleLabelList"/>
    <dgm:cxn modelId="{0419BCA8-FD45-4529-9F12-0EBE8A2A546F}" type="presParOf" srcId="{070C5CC5-EF16-42B0-937B-4090C16771AF}" destId="{3FA3308A-970F-4619-8880-75C0B3013189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8A12263-E4A9-4A00-88E6-3846A16416C1}">
      <dsp:nvSpPr>
        <dsp:cNvPr id="0" name=""/>
        <dsp:cNvSpPr/>
      </dsp:nvSpPr>
      <dsp:spPr>
        <a:xfrm>
          <a:off x="1038533" y="731497"/>
          <a:ext cx="1061542" cy="1061542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6982F10-A107-426F-B3DF-5C8430D602FE}">
      <dsp:nvSpPr>
        <dsp:cNvPr id="0" name=""/>
        <dsp:cNvSpPr/>
      </dsp:nvSpPr>
      <dsp:spPr>
        <a:xfrm>
          <a:off x="1264764" y="957728"/>
          <a:ext cx="609082" cy="60908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5CDBA54-D425-4D8F-91AD-9709476643B9}">
      <dsp:nvSpPr>
        <dsp:cNvPr id="0" name=""/>
        <dsp:cNvSpPr/>
      </dsp:nvSpPr>
      <dsp:spPr>
        <a:xfrm>
          <a:off x="1945" y="2123685"/>
          <a:ext cx="3134718" cy="8234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600" b="1" kern="1200" cap="none" dirty="0"/>
            <a:t>Lecture + Problem Sets</a:t>
          </a:r>
          <a:r>
            <a:rPr lang="en-US" sz="1600" kern="1200" cap="none" dirty="0"/>
            <a:t>: We will discuss algorithms appropriate for different tasks and types of environments. Problem sets will improve the understanding. </a:t>
          </a:r>
        </a:p>
      </dsp:txBody>
      <dsp:txXfrm>
        <a:off x="1945" y="2123685"/>
        <a:ext cx="3134718" cy="823437"/>
      </dsp:txXfrm>
    </dsp:sp>
    <dsp:sp modelId="{38F2B982-E76D-43F8-875F-C9F7F87FB6F0}">
      <dsp:nvSpPr>
        <dsp:cNvPr id="0" name=""/>
        <dsp:cNvSpPr/>
      </dsp:nvSpPr>
      <dsp:spPr>
        <a:xfrm>
          <a:off x="4264406" y="731497"/>
          <a:ext cx="1061542" cy="1061542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DA6517A-86C8-4E8B-867A-3B85CA151A02}">
      <dsp:nvSpPr>
        <dsp:cNvPr id="0" name=""/>
        <dsp:cNvSpPr/>
      </dsp:nvSpPr>
      <dsp:spPr>
        <a:xfrm>
          <a:off x="4490636" y="957728"/>
          <a:ext cx="609082" cy="60908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299793F-65DD-49BB-939C-47011274A408}">
      <dsp:nvSpPr>
        <dsp:cNvPr id="0" name=""/>
        <dsp:cNvSpPr/>
      </dsp:nvSpPr>
      <dsp:spPr>
        <a:xfrm>
          <a:off x="3441205" y="2123685"/>
          <a:ext cx="2707943" cy="8234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600" b="1" kern="1200" cap="none" dirty="0"/>
            <a:t>Projects</a:t>
          </a:r>
          <a:r>
            <a:rPr lang="en-US" sz="1600" kern="1200" cap="none" dirty="0"/>
            <a:t>: You will implement algorithms to solve several tasks and conduct experiments to investigate how well the algorithms work and how they scale with problem size. </a:t>
          </a:r>
        </a:p>
      </dsp:txBody>
      <dsp:txXfrm>
        <a:off x="3441205" y="2123685"/>
        <a:ext cx="2707943" cy="823437"/>
      </dsp:txXfrm>
    </dsp:sp>
    <dsp:sp modelId="{0A2E255C-A31C-404C-87A9-40118ABC48AC}">
      <dsp:nvSpPr>
        <dsp:cNvPr id="0" name=""/>
        <dsp:cNvSpPr/>
      </dsp:nvSpPr>
      <dsp:spPr>
        <a:xfrm>
          <a:off x="6793036" y="731497"/>
          <a:ext cx="1061542" cy="1061542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968AA62-AAE0-4276-99CD-39211C3E5225}">
      <dsp:nvSpPr>
        <dsp:cNvPr id="0" name=""/>
        <dsp:cNvSpPr/>
      </dsp:nvSpPr>
      <dsp:spPr>
        <a:xfrm>
          <a:off x="7019266" y="957728"/>
          <a:ext cx="609082" cy="609082"/>
        </a:xfrm>
        <a:prstGeom prst="rect">
          <a:avLst/>
        </a:prstGeom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FA3308A-970F-4619-8880-75C0B3013189}">
      <dsp:nvSpPr>
        <dsp:cNvPr id="0" name=""/>
        <dsp:cNvSpPr/>
      </dsp:nvSpPr>
      <dsp:spPr>
        <a:xfrm>
          <a:off x="6453690" y="2123685"/>
          <a:ext cx="1740234" cy="8234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600" b="1" kern="1200" cap="none" dirty="0"/>
            <a:t>Exams: </a:t>
          </a:r>
          <a:r>
            <a:rPr lang="en-US" sz="1600" b="0" kern="1200" cap="none" dirty="0"/>
            <a:t>Checks knowledge of AI concepts and the ability to apply them.</a:t>
          </a:r>
          <a:endParaRPr lang="en-US" sz="1600" b="1" kern="1200" cap="none" dirty="0"/>
        </a:p>
      </dsp:txBody>
      <dsp:txXfrm>
        <a:off x="6453690" y="2123685"/>
        <a:ext cx="1740234" cy="82343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l" defTabSz="966788">
              <a:spcBef>
                <a:spcPct val="0"/>
              </a:spcBef>
              <a:defRPr sz="1300" b="0">
                <a:solidFill>
                  <a:schemeClr val="bg1"/>
                </a:solidFill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662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144963" y="0"/>
            <a:ext cx="3170237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r" defTabSz="966788">
              <a:spcBef>
                <a:spcPct val="0"/>
              </a:spcBef>
              <a:defRPr sz="1300" b="0">
                <a:solidFill>
                  <a:schemeClr val="bg1"/>
                </a:solidFill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86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57300" y="720725"/>
            <a:ext cx="4800600" cy="36004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662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74725" y="4560888"/>
            <a:ext cx="5365750" cy="43195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663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121775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l" defTabSz="966788">
              <a:spcBef>
                <a:spcPct val="0"/>
              </a:spcBef>
              <a:defRPr sz="1300" b="0">
                <a:solidFill>
                  <a:schemeClr val="bg1"/>
                </a:solidFill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663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44963" y="9121775"/>
            <a:ext cx="3170237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r" defTabSz="966788">
              <a:spcBef>
                <a:spcPct val="0"/>
              </a:spcBef>
              <a:defRPr sz="1300" b="0">
                <a:solidFill>
                  <a:schemeClr val="bg1"/>
                </a:solidFill>
                <a:latin typeface="Arial" charset="0"/>
              </a:defRPr>
            </a:lvl1pPr>
          </a:lstStyle>
          <a:p>
            <a:pPr>
              <a:defRPr/>
            </a:pPr>
            <a:fld id="{767FC3A7-0F7B-44C6-ACD4-A5FC741D946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ln/>
        </p:spPr>
      </p:sp>
      <p:sp>
        <p:nvSpPr>
          <p:cNvPr id="29699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dirty="0"/>
          </a:p>
        </p:txBody>
      </p:sp>
      <p:sp>
        <p:nvSpPr>
          <p:cNvPr id="2970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5AD7B03-BE14-45DB-B0F7-17EB6D027DC3}" type="slidenum">
              <a:rPr lang="en-US" smtClean="0">
                <a:latin typeface="Arial" pitchFamily="34" charset="0"/>
              </a:rPr>
              <a:pPr/>
              <a:t>1</a:t>
            </a:fld>
            <a:endParaRPr lang="en-US">
              <a:latin typeface="Arial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BAC3F58-2633-43B5-944D-9A29CA4A9EC1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392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0C49721-C3A1-4425-99EF-30C57743CC15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36685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876BB52-192B-4E7D-9E15-B5945998B30B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04666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9634D7A-5DE0-40F6-876D-D2AFBCA76471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60296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A733130-C1C8-4197-ACEE-A73DA10DD24F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53165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08389DD-3A77-4664-9585-0D0E9A5EB606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92905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B740A81-9E01-4FD9-8249-D9D456571D47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15621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306D5C0-30C3-4567-9087-D7285F18DEDD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31374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59245C4-C502-4096-92D6-EC376ED5F3D1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51251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DC7C65B-D709-43A0-BF27-CBEBE59D506B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76531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52BCF5F-F163-48A3-8709-B31AFB4E6F34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61505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9DE62156-1480-49ED-B33B-CE1D8F42A3CD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09277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4" r:id="rId1"/>
    <p:sldLayoutId id="2147483725" r:id="rId2"/>
    <p:sldLayoutId id="2147483726" r:id="rId3"/>
    <p:sldLayoutId id="2147483727" r:id="rId4"/>
    <p:sldLayoutId id="2147483728" r:id="rId5"/>
    <p:sldLayoutId id="2147483729" r:id="rId6"/>
    <p:sldLayoutId id="2147483730" r:id="rId7"/>
    <p:sldLayoutId id="2147483731" r:id="rId8"/>
    <p:sldLayoutId id="2147483732" r:id="rId9"/>
    <p:sldLayoutId id="2147483733" r:id="rId10"/>
    <p:sldLayoutId id="2147483734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hyperlink" Target="http://creativecommons.org/licenses/by-sa/4.0/" TargetMode="Externa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mhahsler.github.io/Introduction_to_Artificial_Intelligence/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mhahsler.github.io/Introduction_to_Artificial_Intelligence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55" name="Rectangle 2054">
            <a:extLst>
              <a:ext uri="{FF2B5EF4-FFF2-40B4-BE49-F238E27FC236}">
                <a16:creationId xmlns:a16="http://schemas.microsoft.com/office/drawing/2014/main" id="{E91DC736-0EF8-4F87-9146-EBF1D2EE4D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671EBC5-8F77-4D05-B52D-24E94DBD90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254" r="9089" b="5987"/>
          <a:stretch/>
        </p:blipFill>
        <p:spPr bwMode="auto">
          <a:xfrm>
            <a:off x="2642616" y="10"/>
            <a:ext cx="6501384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57" name="Rectangle 2056">
            <a:extLst>
              <a:ext uri="{FF2B5EF4-FFF2-40B4-BE49-F238E27FC236}">
                <a16:creationId xmlns:a16="http://schemas.microsoft.com/office/drawing/2014/main" id="{097CD68E-23E3-4007-8847-CD0944C4F7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7317450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5000">
                <a:schemeClr val="bg1">
                  <a:alpha val="79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50" name="Title 1"/>
          <p:cNvSpPr>
            <a:spLocks noGrp="1"/>
          </p:cNvSpPr>
          <p:nvPr>
            <p:ph type="ctrTitle"/>
          </p:nvPr>
        </p:nvSpPr>
        <p:spPr>
          <a:xfrm>
            <a:off x="358485" y="1122363"/>
            <a:ext cx="3017520" cy="3204134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 defTabSz="914400"/>
            <a:r>
              <a:rPr lang="en-US" sz="2600" b="1" dirty="0"/>
              <a:t>CS 5/7320 </a:t>
            </a:r>
            <a:br>
              <a:rPr lang="en-US" sz="2600" b="1" dirty="0"/>
            </a:br>
            <a:r>
              <a:rPr lang="en-US" sz="2600" b="1" dirty="0"/>
              <a:t>Artificial Intelligence</a:t>
            </a:r>
            <a:br>
              <a:rPr lang="en-US" sz="2600" b="1" dirty="0"/>
            </a:br>
            <a:br>
              <a:rPr lang="en-US" sz="2600" b="1" dirty="0"/>
            </a:br>
            <a:r>
              <a:rPr lang="en-US" sz="2600" b="1" dirty="0"/>
              <a:t>Course Introduction</a:t>
            </a:r>
            <a:br>
              <a:rPr lang="en-US" sz="2600" b="1" dirty="0"/>
            </a:br>
            <a:br>
              <a:rPr lang="en-US" sz="2600" b="1" dirty="0"/>
            </a:br>
            <a:endParaRPr lang="en-US" sz="2600" b="1" dirty="0"/>
          </a:p>
        </p:txBody>
      </p:sp>
      <p:sp>
        <p:nvSpPr>
          <p:cNvPr id="8" name="Subtitle 7">
            <a:extLst>
              <a:ext uri="{FF2B5EF4-FFF2-40B4-BE49-F238E27FC236}">
                <a16:creationId xmlns:a16="http://schemas.microsoft.com/office/drawing/2014/main" id="{71970712-7B6B-FF1B-6B47-BB7A9272623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8485" y="4872922"/>
            <a:ext cx="3017519" cy="1208141"/>
          </a:xfrm>
        </p:spPr>
        <p:txBody>
          <a:bodyPr>
            <a:normAutofit/>
          </a:bodyPr>
          <a:lstStyle/>
          <a:p>
            <a:pPr algn="l"/>
            <a:r>
              <a:rPr lang="en-US" sz="1700" dirty="0"/>
              <a:t>Slides by Michael Hahsler	</a:t>
            </a:r>
          </a:p>
          <a:p>
            <a:pPr algn="l"/>
            <a:endParaRPr lang="en-US" sz="1700" dirty="0"/>
          </a:p>
        </p:txBody>
      </p:sp>
      <p:sp>
        <p:nvSpPr>
          <p:cNvPr id="2059" name="Rectangle 2058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51653" y="434802"/>
            <a:ext cx="146304" cy="52806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061" name="Rectangle 2060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60771" y="4546920"/>
            <a:ext cx="298323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0" name="Picture 4">
            <a:extLst>
              <a:ext uri="{FF2B5EF4-FFF2-40B4-BE49-F238E27FC236}">
                <a16:creationId xmlns:a16="http://schemas.microsoft.com/office/drawing/2014/main" id="{BC730582-CB30-4505-AAF1-FC128A765F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8994" y="6433891"/>
            <a:ext cx="838200" cy="295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A10202BD-23F9-4699-B3FD-8AC22A4625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19202" y="6324602"/>
            <a:ext cx="3017521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US" sz="1100">
                <a:solidFill>
                  <a:schemeClr val="tx1">
                    <a:lumMod val="50000"/>
                  </a:schemeClr>
                </a:solidFill>
                <a:latin typeface="source sans pro" panose="020B0503030403020204" pitchFamily="34" charset="0"/>
              </a:rPr>
              <a:t>This work is licensed under a </a:t>
            </a:r>
            <a:r>
              <a:rPr lang="en-US" sz="1100">
                <a:solidFill>
                  <a:schemeClr val="tx1">
                    <a:lumMod val="50000"/>
                  </a:schemeClr>
                </a:solidFill>
                <a:latin typeface="source sans pro" panose="020B0503030403020204" pitchFamily="34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Creative Commons Attribution-ShareAlike 4.0 International License</a:t>
            </a:r>
            <a:r>
              <a:rPr lang="en-US" sz="1100">
                <a:solidFill>
                  <a:schemeClr val="tx1">
                    <a:lumMod val="50000"/>
                  </a:schemeClr>
                </a:solidFill>
                <a:latin typeface="source sans pro" panose="020B0503030403020204" pitchFamily="34" charset="0"/>
              </a:rPr>
              <a:t>.</a:t>
            </a:r>
            <a:endParaRPr lang="en-US" sz="1100">
              <a:solidFill>
                <a:schemeClr val="tx1">
                  <a:lumMod val="50000"/>
                </a:schemeClr>
              </a:solidFill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551EF9FF-12FF-4F03-4D90-E4991E9CAB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7171961" y="4716889"/>
            <a:ext cx="1676400" cy="1981200"/>
            <a:chOff x="7162800" y="4191000"/>
            <a:chExt cx="1676400" cy="1981200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B3C65A4B-B0A0-AF04-CE85-7D210DDDC3E8}"/>
                </a:ext>
              </a:extLst>
            </p:cNvPr>
            <p:cNvSpPr/>
            <p:nvPr/>
          </p:nvSpPr>
          <p:spPr>
            <a:xfrm>
              <a:off x="7162800" y="4191000"/>
              <a:ext cx="1676400" cy="19812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6" name="Picture 15" descr="A qr code with black dots&#10;&#10;Description automatically generated">
              <a:extLst>
                <a:ext uri="{FF2B5EF4-FFF2-40B4-BE49-F238E27FC236}">
                  <a16:creationId xmlns:a16="http://schemas.microsoft.com/office/drawing/2014/main" id="{475F2505-5B89-1F3A-7D7E-9847C40AACA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200900" y="4212771"/>
              <a:ext cx="1600200" cy="1600200"/>
            </a:xfrm>
            <a:prstGeom prst="rect">
              <a:avLst/>
            </a:prstGeom>
          </p:spPr>
        </p:pic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043842AC-2A2D-8FD0-3DA1-764F6B0C3100}"/>
                </a:ext>
              </a:extLst>
            </p:cNvPr>
            <p:cNvSpPr/>
            <p:nvPr/>
          </p:nvSpPr>
          <p:spPr>
            <a:xfrm>
              <a:off x="7162800" y="5812971"/>
              <a:ext cx="1676400" cy="359229"/>
            </a:xfrm>
            <a:prstGeom prst="rect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Online Material</a:t>
              </a:r>
            </a:p>
          </p:txBody>
        </p:sp>
      </p:grp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9F7D5CDA-D291-4307-BF55-1381FED296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BBB6B01-487F-6292-CB4D-621CA38851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350" y="762001"/>
            <a:ext cx="4000647" cy="1708242"/>
          </a:xfrm>
        </p:spPr>
        <p:txBody>
          <a:bodyPr anchor="ctr">
            <a:normAutofit/>
          </a:bodyPr>
          <a:lstStyle/>
          <a:p>
            <a:r>
              <a:rPr lang="en-US" sz="3500"/>
              <a:t>Course Goal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EDBA7D-9239-27DF-1B7F-39C8C9A8C0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1350" y="1981200"/>
            <a:ext cx="4000647" cy="4258879"/>
          </a:xfrm>
        </p:spPr>
        <p:txBody>
          <a:bodyPr anchor="ctr">
            <a:noAutofit/>
          </a:bodyPr>
          <a:lstStyle/>
          <a:p>
            <a:pPr marL="0" indent="0">
              <a:buNone/>
            </a:pPr>
            <a:r>
              <a:rPr lang="en-US" sz="1400" dirty="0"/>
              <a:t>This course will introduce AI from the viewpoint of </a:t>
            </a:r>
            <a:r>
              <a:rPr lang="en-US" sz="1400" b="1" dirty="0"/>
              <a:t>creating an autonomous intelligent agent </a:t>
            </a:r>
            <a:r>
              <a:rPr lang="en-US" sz="1400" dirty="0"/>
              <a:t>that acts rationally in its environment. </a:t>
            </a:r>
          </a:p>
          <a:p>
            <a:pPr marL="0" indent="0">
              <a:buNone/>
            </a:pPr>
            <a:r>
              <a:rPr lang="en-US" sz="1400" dirty="0"/>
              <a:t>For example, a self-driving car is an intelligent agent with the </a:t>
            </a:r>
            <a:r>
              <a:rPr lang="en-US" sz="1400" b="1" dirty="0"/>
              <a:t>objective</a:t>
            </a:r>
            <a:r>
              <a:rPr lang="en-US" sz="1400" dirty="0"/>
              <a:t> of delivering a passenger to a desired destination. The agent needs </a:t>
            </a:r>
            <a:r>
              <a:rPr lang="en-US" sz="1400" b="1" dirty="0"/>
              <a:t>to make decisions </a:t>
            </a:r>
            <a:r>
              <a:rPr lang="en-US" sz="1400" dirty="0"/>
              <a:t>about stopping, turning, and changing lanes by </a:t>
            </a:r>
            <a:r>
              <a:rPr lang="en-US" sz="1400" b="1" dirty="0"/>
              <a:t>observing its environment</a:t>
            </a:r>
            <a:r>
              <a:rPr lang="en-US" sz="1400" dirty="0"/>
              <a:t>, which consists of roads, other cars, pedestrians, and traffic signals. </a:t>
            </a:r>
          </a:p>
          <a:p>
            <a:pPr marL="0" indent="0">
              <a:buNone/>
            </a:pPr>
            <a:r>
              <a:rPr lang="en-US" sz="1400" dirty="0"/>
              <a:t>We will focus on the algorithms used by the agent to make decisions. We will survey the following important topics:</a:t>
            </a:r>
          </a:p>
          <a:p>
            <a:pPr lvl="1">
              <a:lnSpc>
                <a:spcPct val="110000"/>
              </a:lnSpc>
            </a:pPr>
            <a:r>
              <a:rPr lang="en-US" sz="1400" dirty="0"/>
              <a:t>Searching for a solution</a:t>
            </a:r>
          </a:p>
          <a:p>
            <a:pPr lvl="1">
              <a:lnSpc>
                <a:spcPct val="110000"/>
              </a:lnSpc>
            </a:pPr>
            <a:r>
              <a:rPr lang="en-US" sz="1400" dirty="0"/>
              <a:t>Using knowledge for decision making</a:t>
            </a:r>
          </a:p>
          <a:p>
            <a:pPr lvl="1">
              <a:lnSpc>
                <a:spcPct val="110000"/>
              </a:lnSpc>
            </a:pPr>
            <a:r>
              <a:rPr lang="en-US" sz="1400" dirty="0"/>
              <a:t>Decision-making under uncertainty</a:t>
            </a:r>
          </a:p>
          <a:p>
            <a:pPr lvl="1">
              <a:lnSpc>
                <a:spcPct val="110000"/>
              </a:lnSpc>
            </a:pPr>
            <a:r>
              <a:rPr lang="en-US" sz="1400" dirty="0"/>
              <a:t>Learning from examples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31C013EC-7097-1320-0351-DF3DF48ADB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147" r="53091" b="-1"/>
          <a:stretch/>
        </p:blipFill>
        <p:spPr bwMode="auto">
          <a:xfrm>
            <a:off x="5143347" y="-10886"/>
            <a:ext cx="4000653" cy="6868886"/>
          </a:xfrm>
          <a:prstGeom prst="rect">
            <a:avLst/>
          </a:prstGeom>
          <a:effectLst>
            <a:outerShdw blurRad="127000" dist="50800" dir="10800000" sx="99000" sy="99000" algn="r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426736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-1"/>
            <a:ext cx="9143997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" y="0"/>
            <a:ext cx="6086479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86474" y="-1"/>
            <a:ext cx="3057523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4512" y="-1"/>
            <a:ext cx="8799485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60C5A96-4B7A-E8F3-E069-EDD488A594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699" y="294538"/>
            <a:ext cx="7421963" cy="1033669"/>
          </a:xfrm>
        </p:spPr>
        <p:txBody>
          <a:bodyPr>
            <a:normAutofit/>
          </a:bodyPr>
          <a:lstStyle/>
          <a:p>
            <a:r>
              <a:rPr lang="en-US" sz="3500" dirty="0">
                <a:solidFill>
                  <a:srgbClr val="FFFFFF"/>
                </a:solidFill>
              </a:rPr>
              <a:t>Course Learning Outcomes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C2CDE2-EAC3-D86D-779E-D8D74B4B75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8699" y="2318197"/>
            <a:ext cx="7293023" cy="3683358"/>
          </a:xfrm>
        </p:spPr>
        <p:txBody>
          <a:bodyPr anchor="ctr">
            <a:normAutofit/>
          </a:bodyPr>
          <a:lstStyle/>
          <a:p>
            <a:r>
              <a:rPr lang="en-US" sz="1700" dirty="0"/>
              <a:t>CLO 1: </a:t>
            </a:r>
            <a:r>
              <a:rPr lang="en-US" sz="1700" b="1" dirty="0"/>
              <a:t>Define</a:t>
            </a:r>
            <a:r>
              <a:rPr lang="en-US" sz="1700" dirty="0"/>
              <a:t> what </a:t>
            </a:r>
            <a:r>
              <a:rPr lang="en-US" sz="1700" b="1" dirty="0"/>
              <a:t>artificial intelligence </a:t>
            </a:r>
            <a:r>
              <a:rPr lang="en-US" sz="1700" dirty="0"/>
              <a:t>(AI) is and explain how it is used.</a:t>
            </a:r>
          </a:p>
          <a:p>
            <a:r>
              <a:rPr lang="en-US" sz="1700" dirty="0"/>
              <a:t>CLO 2: Identify </a:t>
            </a:r>
            <a:r>
              <a:rPr lang="en-US" sz="1700" b="1" dirty="0"/>
              <a:t>ethical and security issues </a:t>
            </a:r>
            <a:r>
              <a:rPr lang="en-US" sz="1700" dirty="0"/>
              <a:t>with artificial intelligence applications.</a:t>
            </a:r>
          </a:p>
          <a:p>
            <a:r>
              <a:rPr lang="en-US" sz="1700" dirty="0"/>
              <a:t>CLO 3: Define </a:t>
            </a:r>
            <a:r>
              <a:rPr lang="en-US" sz="1700" b="1" dirty="0"/>
              <a:t>intelligent agents </a:t>
            </a:r>
            <a:r>
              <a:rPr lang="en-US" sz="1700" dirty="0"/>
              <a:t>and explain how they interact with their environment.</a:t>
            </a:r>
          </a:p>
          <a:p>
            <a:r>
              <a:rPr lang="en-US" sz="1700" dirty="0"/>
              <a:t>CLO 4: Apply </a:t>
            </a:r>
            <a:r>
              <a:rPr lang="en-US" sz="1700" b="1" dirty="0"/>
              <a:t>search</a:t>
            </a:r>
            <a:r>
              <a:rPr lang="en-US" sz="1700" dirty="0"/>
              <a:t> to create agents that can perform simple tasks.</a:t>
            </a:r>
          </a:p>
          <a:p>
            <a:r>
              <a:rPr lang="en-US" sz="1700" dirty="0"/>
              <a:t>CLO 5: Explain how </a:t>
            </a:r>
            <a:r>
              <a:rPr lang="en-US" sz="1700" b="1" dirty="0"/>
              <a:t>knowledge-based agents </a:t>
            </a:r>
            <a:r>
              <a:rPr lang="en-US" sz="1700" dirty="0"/>
              <a:t>make decisions.</a:t>
            </a:r>
          </a:p>
          <a:p>
            <a:r>
              <a:rPr lang="en-US" sz="1700" dirty="0"/>
              <a:t>CLO 6: Explain how </a:t>
            </a:r>
            <a:r>
              <a:rPr lang="en-US" sz="1700" b="1" dirty="0"/>
              <a:t>probabilistic reasoning </a:t>
            </a:r>
            <a:r>
              <a:rPr lang="en-US" sz="1700" dirty="0"/>
              <a:t>is used by agents to make decisions under uncertainty.</a:t>
            </a:r>
          </a:p>
          <a:p>
            <a:r>
              <a:rPr lang="en-US" sz="1700" dirty="0"/>
              <a:t>CLO 7: Apply </a:t>
            </a:r>
            <a:r>
              <a:rPr lang="en-US" sz="1700" b="1" dirty="0"/>
              <a:t>machine learning </a:t>
            </a:r>
            <a:r>
              <a:rPr lang="en-US" sz="1700" dirty="0"/>
              <a:t>to different components of an intelligent agent.</a:t>
            </a:r>
          </a:p>
        </p:txBody>
      </p:sp>
    </p:spTree>
    <p:extLst>
      <p:ext uri="{BB962C8B-B14F-4D97-AF65-F5344CB8AC3E}">
        <p14:creationId xmlns:p14="http://schemas.microsoft.com/office/powerpoint/2010/main" val="1056146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F773AEAF-622F-0793-2C47-3E68C72825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n-US" sz="3500">
                <a:solidFill>
                  <a:srgbClr val="FFFFFF"/>
                </a:solidFill>
              </a:rPr>
              <a:t>Learning Method</a:t>
            </a:r>
          </a:p>
        </p:txBody>
      </p:sp>
      <p:graphicFrame>
        <p:nvGraphicFramePr>
          <p:cNvPr id="7" name="Content Placeholder 4" descr="You will implement algorithms to solve several tasks and conduct experiments to investigate how well the algorithms work and how they scale with problem size. ">
            <a:extLst>
              <a:ext uri="{FF2B5EF4-FFF2-40B4-BE49-F238E27FC236}">
                <a16:creationId xmlns:a16="http://schemas.microsoft.com/office/drawing/2014/main" id="{4B09C3CD-93BB-274D-5084-A99FB06455E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00342713"/>
              </p:ext>
            </p:extLst>
          </p:nvPr>
        </p:nvGraphicFramePr>
        <p:xfrm>
          <a:off x="483042" y="2112579"/>
          <a:ext cx="8195871" cy="367862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6828952A-426A-0259-E969-21AB174FD8AD}"/>
              </a:ext>
            </a:extLst>
          </p:cNvPr>
          <p:cNvSpPr txBox="1"/>
          <p:nvPr/>
        </p:nvSpPr>
        <p:spPr>
          <a:xfrm>
            <a:off x="457200" y="6096000"/>
            <a:ext cx="822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Evaluation is based on problem sets, projects, and exams.</a:t>
            </a:r>
          </a:p>
        </p:txBody>
      </p:sp>
    </p:spTree>
    <p:extLst>
      <p:ext uri="{BB962C8B-B14F-4D97-AF65-F5344CB8AC3E}">
        <p14:creationId xmlns:p14="http://schemas.microsoft.com/office/powerpoint/2010/main" val="1933101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7A71C4C-2324-AB3D-B679-1F56AE7033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-1"/>
            <a:ext cx="9143997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" y="0"/>
            <a:ext cx="6086479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86474" y="-1"/>
            <a:ext cx="3057523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4512" y="-1"/>
            <a:ext cx="8799485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03B741C-4158-6F7F-5C3D-EF416E78A9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699" y="294538"/>
            <a:ext cx="7421963" cy="1033669"/>
          </a:xfrm>
        </p:spPr>
        <p:txBody>
          <a:bodyPr>
            <a:normAutofit/>
          </a:bodyPr>
          <a:lstStyle/>
          <a:p>
            <a:r>
              <a:rPr lang="en-US" sz="3500" dirty="0">
                <a:solidFill>
                  <a:srgbClr val="FFFFFF"/>
                </a:solidFill>
              </a:rPr>
              <a:t>Course Mechanics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3C8F96-FE6A-3011-92DF-7C65CE28F1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8699" y="2318197"/>
            <a:ext cx="7293023" cy="3683358"/>
          </a:xfrm>
        </p:spPr>
        <p:txBody>
          <a:bodyPr anchor="ctr">
            <a:normAutofit/>
          </a:bodyPr>
          <a:lstStyle/>
          <a:p>
            <a:r>
              <a:rPr lang="en-US" sz="1700" b="1" dirty="0"/>
              <a:t>Course material: </a:t>
            </a:r>
            <a:r>
              <a:rPr lang="en-US" sz="1700" dirty="0"/>
              <a:t>Canvas and the course GitHub page at: </a:t>
            </a:r>
            <a:r>
              <a:rPr lang="en-US" sz="1700" dirty="0">
                <a:hlinkClick r:id="rId2"/>
              </a:rPr>
              <a:t>https://mhahsler.github.io/Introduction_to_Artificial_Intelligence/</a:t>
            </a:r>
            <a:r>
              <a:rPr lang="en-US" sz="1700" dirty="0"/>
              <a:t> </a:t>
            </a:r>
            <a:endParaRPr lang="en-US" sz="1700" b="1" dirty="0"/>
          </a:p>
          <a:p>
            <a:r>
              <a:rPr lang="en-US" sz="1700" b="1" dirty="0"/>
              <a:t>Office hours</a:t>
            </a:r>
            <a:r>
              <a:rPr lang="en-US" sz="1700" dirty="0"/>
              <a:t>: </a:t>
            </a:r>
          </a:p>
          <a:p>
            <a:pPr lvl="1"/>
            <a:r>
              <a:rPr lang="en-US" sz="1300" dirty="0"/>
              <a:t>My office hours can be found on my home page.</a:t>
            </a:r>
          </a:p>
          <a:p>
            <a:pPr lvl="1"/>
            <a:r>
              <a:rPr lang="en-US" sz="1300" dirty="0"/>
              <a:t>Weekly TA office hours will be done using Zoom. The time and the link will be on Canvas soon.</a:t>
            </a:r>
          </a:p>
          <a:p>
            <a:r>
              <a:rPr lang="en-US" sz="1700" b="1" dirty="0"/>
              <a:t>Communication</a:t>
            </a:r>
            <a:r>
              <a:rPr lang="en-US" sz="1700" dirty="0"/>
              <a:t>: Use Canvas messages and leave comments for assignments.</a:t>
            </a:r>
          </a:p>
          <a:p>
            <a:r>
              <a:rPr lang="en-US" sz="1700" dirty="0"/>
              <a:t> </a:t>
            </a:r>
            <a:r>
              <a:rPr lang="en-US" sz="1700" b="1" dirty="0"/>
              <a:t>Assignment Grading</a:t>
            </a:r>
            <a:r>
              <a:rPr lang="en-US" sz="1700" dirty="0"/>
              <a:t>: The TA will grade assignments and problem sets. Please contact the TA (e.g., during office hours or by leaving a comment) to discuss your assignment and grade.</a:t>
            </a:r>
          </a:p>
          <a:p>
            <a:r>
              <a:rPr lang="en-US" sz="1700" b="1" dirty="0"/>
              <a:t>Final Grade</a:t>
            </a:r>
            <a:r>
              <a:rPr lang="en-US" sz="1700" dirty="0"/>
              <a:t>: The calculated grade on Canvas serves as a rough guide. I will assign your final grade at the end of the semester.</a:t>
            </a:r>
          </a:p>
        </p:txBody>
      </p:sp>
    </p:spTree>
    <p:extLst>
      <p:ext uri="{BB962C8B-B14F-4D97-AF65-F5344CB8AC3E}">
        <p14:creationId xmlns:p14="http://schemas.microsoft.com/office/powerpoint/2010/main" val="2115827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CB229DA-48F6-FBBE-3A7E-639C8CF6D5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-1"/>
            <a:ext cx="9143997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" y="0"/>
            <a:ext cx="6086479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86474" y="-1"/>
            <a:ext cx="3057523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4512" y="-1"/>
            <a:ext cx="8799485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9997A4A-88E4-B1ED-B8BC-BD51B93E5F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699" y="294538"/>
            <a:ext cx="7421963" cy="1033669"/>
          </a:xfrm>
        </p:spPr>
        <p:txBody>
          <a:bodyPr>
            <a:normAutofit/>
          </a:bodyPr>
          <a:lstStyle/>
          <a:p>
            <a:r>
              <a:rPr lang="en-US" sz="3500" dirty="0">
                <a:solidFill>
                  <a:srgbClr val="FFFFFF"/>
                </a:solidFill>
              </a:rPr>
              <a:t>To Be Successful you need…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A6DC1A-CAC5-C7FD-FC7E-89F42C75C3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8699" y="2318197"/>
            <a:ext cx="7293023" cy="3683358"/>
          </a:xfrm>
        </p:spPr>
        <p:txBody>
          <a:bodyPr anchor="ctr">
            <a:normAutofit/>
          </a:bodyPr>
          <a:lstStyle/>
          <a:p>
            <a:r>
              <a:rPr lang="en-US" sz="1700" dirty="0"/>
              <a:t>Course assignments require substantial advanced </a:t>
            </a:r>
            <a:r>
              <a:rPr lang="en-US" sz="1700" b="1" dirty="0"/>
              <a:t>Python</a:t>
            </a:r>
            <a:r>
              <a:rPr lang="en-US" sz="1700" dirty="0"/>
              <a:t> programming.</a:t>
            </a:r>
          </a:p>
          <a:p>
            <a:r>
              <a:rPr lang="en-US" sz="1700" dirty="0"/>
              <a:t>Students need practical knowledge of how to implement </a:t>
            </a:r>
            <a:r>
              <a:rPr lang="en-US" sz="1700" b="1" dirty="0"/>
              <a:t>data structures and algorithms</a:t>
            </a:r>
            <a:r>
              <a:rPr lang="en-US" sz="1700" dirty="0"/>
              <a:t> (Big-O notation, search trees).</a:t>
            </a:r>
          </a:p>
          <a:p>
            <a:r>
              <a:rPr lang="en-US" sz="1700" dirty="0"/>
              <a:t>Students must have a working knowledge of </a:t>
            </a:r>
            <a:r>
              <a:rPr lang="en-US" sz="1700" b="1" dirty="0"/>
              <a:t>probability theory and combinatorics. </a:t>
            </a:r>
          </a:p>
          <a:p>
            <a:endParaRPr lang="en-US" sz="1700" dirty="0"/>
          </a:p>
          <a:p>
            <a:r>
              <a:rPr lang="en-US" sz="1700" dirty="0"/>
              <a:t>Students are expected to obtain any missing knowledge independently.</a:t>
            </a:r>
            <a:br>
              <a:rPr lang="en-US" sz="1700" dirty="0"/>
            </a:br>
            <a:r>
              <a:rPr lang="en-US" sz="1700" dirty="0"/>
              <a:t>Links to learning material are available on the </a:t>
            </a:r>
            <a:r>
              <a:rPr lang="en-US" sz="1700" dirty="0">
                <a:hlinkClick r:id="rId2"/>
              </a:rPr>
              <a:t>course GitHub page</a:t>
            </a:r>
            <a:r>
              <a:rPr lang="en-US" sz="1700" dirty="0"/>
              <a:t>. </a:t>
            </a:r>
          </a:p>
        </p:txBody>
      </p:sp>
    </p:spTree>
    <p:extLst>
      <p:ext uri="{BB962C8B-B14F-4D97-AF65-F5344CB8AC3E}">
        <p14:creationId xmlns:p14="http://schemas.microsoft.com/office/powerpoint/2010/main" val="29424837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AI_high_contrast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BE4D14"/>
      </a:accent2>
      <a:accent3>
        <a:srgbClr val="196B24"/>
      </a:accent3>
      <a:accent4>
        <a:srgbClr val="0F9ED5"/>
      </a:accent4>
      <a:accent5>
        <a:srgbClr val="A02B93"/>
      </a:accent5>
      <a:accent6>
        <a:srgbClr val="377620"/>
      </a:accent6>
      <a:hlink>
        <a:srgbClr val="467886"/>
      </a:hlink>
      <a:folHlink>
        <a:srgbClr val="96607D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4687</TotalTime>
  <Words>540</Words>
  <Application>Microsoft Office PowerPoint</Application>
  <PresentationFormat>On-screen Show (4:3)</PresentationFormat>
  <Paragraphs>40</Paragraphs>
  <Slides>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Calibri Light</vt:lpstr>
      <vt:lpstr>source sans pro</vt:lpstr>
      <vt:lpstr>Times New Roman</vt:lpstr>
      <vt:lpstr>Office 2013 - 2022 Theme</vt:lpstr>
      <vt:lpstr>CS 5/7320  Artificial Intelligence  Course Introduction  </vt:lpstr>
      <vt:lpstr>Course Goal</vt:lpstr>
      <vt:lpstr>Course Learning Outcomes</vt:lpstr>
      <vt:lpstr>Learning Method</vt:lpstr>
      <vt:lpstr>Course Mechanics</vt:lpstr>
      <vt:lpstr>To Be Successful you need…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 5/7320  Artificial Intelligence  Introduction</dc:title>
  <dc:creator>michael</dc:creator>
  <cp:lastModifiedBy>Hahsler, Michael</cp:lastModifiedBy>
  <cp:revision>91</cp:revision>
  <dcterms:created xsi:type="dcterms:W3CDTF">2021-01-29T15:10:36Z</dcterms:created>
  <dcterms:modified xsi:type="dcterms:W3CDTF">2026-06-16T14:22:02Z</dcterms:modified>
</cp:coreProperties>
</file>