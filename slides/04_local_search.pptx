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7"/>
  </p:notesMasterIdLst>
  <p:sldIdLst>
    <p:sldId id="311" r:id="rId2"/>
    <p:sldId id="394" r:id="rId3"/>
    <p:sldId id="323" r:id="rId4"/>
    <p:sldId id="302" r:id="rId5"/>
    <p:sldId id="332" r:id="rId6"/>
    <p:sldId id="396" r:id="rId7"/>
    <p:sldId id="318" r:id="rId8"/>
    <p:sldId id="319" r:id="rId9"/>
    <p:sldId id="303" r:id="rId10"/>
    <p:sldId id="304" r:id="rId11"/>
    <p:sldId id="296" r:id="rId12"/>
    <p:sldId id="309" r:id="rId13"/>
    <p:sldId id="326" r:id="rId14"/>
    <p:sldId id="295" r:id="rId15"/>
    <p:sldId id="325" r:id="rId16"/>
    <p:sldId id="297" r:id="rId17"/>
    <p:sldId id="397" r:id="rId18"/>
    <p:sldId id="289" r:id="rId19"/>
    <p:sldId id="299" r:id="rId20"/>
    <p:sldId id="327" r:id="rId21"/>
    <p:sldId id="324" r:id="rId22"/>
    <p:sldId id="320" r:id="rId23"/>
    <p:sldId id="329" r:id="rId24"/>
    <p:sldId id="307" r:id="rId25"/>
    <p:sldId id="300" r:id="rId26"/>
    <p:sldId id="331" r:id="rId27"/>
    <p:sldId id="310" r:id="rId28"/>
    <p:sldId id="321" r:id="rId29"/>
    <p:sldId id="313" r:id="rId30"/>
    <p:sldId id="322" r:id="rId31"/>
    <p:sldId id="316" r:id="rId32"/>
    <p:sldId id="330" r:id="rId33"/>
    <p:sldId id="333" r:id="rId34"/>
    <p:sldId id="317" r:id="rId35"/>
    <p:sldId id="395" r:id="rId36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811594F-1CEC-41E4-8EE7-D4795917EF39}">
          <p14:sldIdLst>
            <p14:sldId id="311"/>
            <p14:sldId id="394"/>
            <p14:sldId id="323"/>
            <p14:sldId id="302"/>
            <p14:sldId id="332"/>
            <p14:sldId id="396"/>
            <p14:sldId id="318"/>
            <p14:sldId id="319"/>
            <p14:sldId id="303"/>
          </p14:sldIdLst>
        </p14:section>
        <p14:section name="Hill Climbing Search" id="{3AEC6051-A6C7-4F27-A616-ABF9A66EA65A}">
          <p14:sldIdLst>
            <p14:sldId id="304"/>
            <p14:sldId id="296"/>
            <p14:sldId id="309"/>
            <p14:sldId id="326"/>
            <p14:sldId id="295"/>
            <p14:sldId id="325"/>
            <p14:sldId id="297"/>
          </p14:sldIdLst>
        </p14:section>
        <p14:section name="Local Optima" id="{ED8E3F8E-7FA3-4E23-9B59-6B2992B2299E}">
          <p14:sldIdLst>
            <p14:sldId id="397"/>
            <p14:sldId id="289"/>
            <p14:sldId id="299"/>
            <p14:sldId id="327"/>
            <p14:sldId id="324"/>
          </p14:sldIdLst>
        </p14:section>
        <p14:section name="Simulated Annealing" id="{CF318AF0-5F1A-4123-BB81-5F192874B105}">
          <p14:sldIdLst>
            <p14:sldId id="320"/>
            <p14:sldId id="329"/>
            <p14:sldId id="307"/>
            <p14:sldId id="300"/>
            <p14:sldId id="331"/>
            <p14:sldId id="310"/>
          </p14:sldIdLst>
        </p14:section>
        <p14:section name="Evolutionary Algorithms" id="{C1DB9E0E-E8CD-4241-A97A-4A854AFEC432}">
          <p14:sldIdLst>
            <p14:sldId id="321"/>
            <p14:sldId id="313"/>
          </p14:sldIdLst>
        </p14:section>
        <p14:section name="Search in Continuous Spaces" id="{9920D5FC-3E98-4CF8-A880-0CC2C2E08E2E}">
          <p14:sldIdLst>
            <p14:sldId id="322"/>
            <p14:sldId id="316"/>
            <p14:sldId id="330"/>
            <p14:sldId id="333"/>
            <p14:sldId id="317"/>
          </p14:sldIdLst>
        </p14:section>
        <p14:section name="Wrapup" id="{F09551BD-4D44-4754-AD30-064144997958}">
          <p14:sldIdLst>
            <p14:sldId id="3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030A0"/>
    <a:srgbClr val="CC0099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 autoAdjust="0"/>
    <p:restoredTop sz="92701" autoAdjust="0"/>
  </p:normalViewPr>
  <p:slideViewPr>
    <p:cSldViewPr>
      <p:cViewPr varScale="1">
        <p:scale>
          <a:sx n="149" d="100"/>
          <a:sy n="149" d="100"/>
        </p:scale>
        <p:origin x="214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76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7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wsl.localhost\Ubuntu\home\mhahsler\github\Introduction_to_Artificial_Intelligence\Local_Search\Simulated_Annealing_Temperatur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063440486445913E-2"/>
          <c:y val="3.5200000000000002E-2"/>
          <c:w val="0.86871360849567514"/>
          <c:h val="0.822965417322834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Sheet1!$F$8</c:f>
              <c:strCache>
                <c:ptCount val="1"/>
                <c:pt idx="0">
                  <c:v>T = 100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Sheet1!$E$9:$E$60</c:f>
              <c:numCache>
                <c:formatCode>General</c:formatCode>
                <c:ptCount val="52"/>
                <c:pt idx="0">
                  <c:v>-50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8</c:v>
                </c:pt>
                <c:pt idx="10">
                  <c:v>9</c:v>
                </c:pt>
                <c:pt idx="11">
                  <c:v>10</c:v>
                </c:pt>
                <c:pt idx="12">
                  <c:v>11</c:v>
                </c:pt>
                <c:pt idx="13">
                  <c:v>12</c:v>
                </c:pt>
                <c:pt idx="14">
                  <c:v>13</c:v>
                </c:pt>
                <c:pt idx="15">
                  <c:v>14</c:v>
                </c:pt>
                <c:pt idx="16">
                  <c:v>15</c:v>
                </c:pt>
                <c:pt idx="17">
                  <c:v>16</c:v>
                </c:pt>
                <c:pt idx="18">
                  <c:v>17</c:v>
                </c:pt>
                <c:pt idx="19">
                  <c:v>18</c:v>
                </c:pt>
                <c:pt idx="20">
                  <c:v>19</c:v>
                </c:pt>
                <c:pt idx="21">
                  <c:v>20</c:v>
                </c:pt>
                <c:pt idx="22">
                  <c:v>21</c:v>
                </c:pt>
                <c:pt idx="23">
                  <c:v>22</c:v>
                </c:pt>
                <c:pt idx="24">
                  <c:v>23</c:v>
                </c:pt>
                <c:pt idx="25">
                  <c:v>24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28</c:v>
                </c:pt>
                <c:pt idx="30">
                  <c:v>29</c:v>
                </c:pt>
                <c:pt idx="31">
                  <c:v>30</c:v>
                </c:pt>
                <c:pt idx="32">
                  <c:v>31</c:v>
                </c:pt>
                <c:pt idx="33">
                  <c:v>32</c:v>
                </c:pt>
                <c:pt idx="34">
                  <c:v>33</c:v>
                </c:pt>
                <c:pt idx="35">
                  <c:v>34</c:v>
                </c:pt>
                <c:pt idx="36">
                  <c:v>35</c:v>
                </c:pt>
                <c:pt idx="37">
                  <c:v>36</c:v>
                </c:pt>
                <c:pt idx="38">
                  <c:v>37</c:v>
                </c:pt>
                <c:pt idx="39">
                  <c:v>38</c:v>
                </c:pt>
                <c:pt idx="40">
                  <c:v>39</c:v>
                </c:pt>
                <c:pt idx="41">
                  <c:v>40</c:v>
                </c:pt>
                <c:pt idx="42">
                  <c:v>41</c:v>
                </c:pt>
                <c:pt idx="43">
                  <c:v>42</c:v>
                </c:pt>
                <c:pt idx="44">
                  <c:v>43</c:v>
                </c:pt>
                <c:pt idx="45">
                  <c:v>44</c:v>
                </c:pt>
                <c:pt idx="46">
                  <c:v>45</c:v>
                </c:pt>
                <c:pt idx="47">
                  <c:v>46</c:v>
                </c:pt>
                <c:pt idx="48">
                  <c:v>47</c:v>
                </c:pt>
                <c:pt idx="49">
                  <c:v>48</c:v>
                </c:pt>
                <c:pt idx="50">
                  <c:v>49</c:v>
                </c:pt>
                <c:pt idx="51">
                  <c:v>50</c:v>
                </c:pt>
              </c:numCache>
            </c:numRef>
          </c:xVal>
          <c:yVal>
            <c:numRef>
              <c:f>Sheet1!$F$9:$F$60</c:f>
              <c:numCache>
                <c:formatCode>General</c:formatCode>
                <c:ptCount val="52"/>
                <c:pt idx="0">
                  <c:v>1</c:v>
                </c:pt>
                <c:pt idx="1">
                  <c:v>1</c:v>
                </c:pt>
                <c:pt idx="2">
                  <c:v>0.99004983374916811</c:v>
                </c:pt>
                <c:pt idx="3">
                  <c:v>0.98019867330675525</c:v>
                </c:pt>
                <c:pt idx="4">
                  <c:v>0.97044553354850815</c:v>
                </c:pt>
                <c:pt idx="5">
                  <c:v>0.96078943915232318</c:v>
                </c:pt>
                <c:pt idx="6">
                  <c:v>0.95122942450071402</c:v>
                </c:pt>
                <c:pt idx="7">
                  <c:v>0.94176453358424872</c:v>
                </c:pt>
                <c:pt idx="8">
                  <c:v>0.93239381990594827</c:v>
                </c:pt>
                <c:pt idx="9">
                  <c:v>0.92311634638663576</c:v>
                </c:pt>
                <c:pt idx="10">
                  <c:v>0.91393118527122819</c:v>
                </c:pt>
                <c:pt idx="11">
                  <c:v>0.90483741803595952</c:v>
                </c:pt>
                <c:pt idx="12">
                  <c:v>0.89583413529652822</c:v>
                </c:pt>
                <c:pt idx="13">
                  <c:v>0.88692043671715748</c:v>
                </c:pt>
                <c:pt idx="14">
                  <c:v>0.8780954309205613</c:v>
                </c:pt>
                <c:pt idx="15">
                  <c:v>0.86935823539880586</c:v>
                </c:pt>
                <c:pt idx="16">
                  <c:v>0.86070797642505781</c:v>
                </c:pt>
                <c:pt idx="17">
                  <c:v>0.85214378896621135</c:v>
                </c:pt>
                <c:pt idx="18">
                  <c:v>0.8436648165963837</c:v>
                </c:pt>
                <c:pt idx="19">
                  <c:v>0.835270211411272</c:v>
                </c:pt>
                <c:pt idx="20">
                  <c:v>0.82695913394336229</c:v>
                </c:pt>
                <c:pt idx="21">
                  <c:v>0.81873075307798182</c:v>
                </c:pt>
                <c:pt idx="22">
                  <c:v>0.81058424597018708</c:v>
                </c:pt>
                <c:pt idx="23">
                  <c:v>0.80251879796247849</c:v>
                </c:pt>
                <c:pt idx="24">
                  <c:v>0.79453360250333405</c:v>
                </c:pt>
                <c:pt idx="25">
                  <c:v>0.78662786106655347</c:v>
                </c:pt>
                <c:pt idx="26">
                  <c:v>0.77880078307140488</c:v>
                </c:pt>
                <c:pt idx="27">
                  <c:v>0.77105158580356625</c:v>
                </c:pt>
                <c:pt idx="28">
                  <c:v>0.76337949433685315</c:v>
                </c:pt>
                <c:pt idx="29">
                  <c:v>0.75578374145572547</c:v>
                </c:pt>
                <c:pt idx="30">
                  <c:v>0.74826356757856527</c:v>
                </c:pt>
                <c:pt idx="31">
                  <c:v>0.74081822068171788</c:v>
                </c:pt>
                <c:pt idx="32">
                  <c:v>0.73344695622428924</c:v>
                </c:pt>
                <c:pt idx="33">
                  <c:v>0.72614903707369094</c:v>
                </c:pt>
                <c:pt idx="34">
                  <c:v>0.71892373343192617</c:v>
                </c:pt>
                <c:pt idx="35">
                  <c:v>0.71177032276260965</c:v>
                </c:pt>
                <c:pt idx="36">
                  <c:v>0.70468808971871344</c:v>
                </c:pt>
                <c:pt idx="37">
                  <c:v>0.69767632607103103</c:v>
                </c:pt>
                <c:pt idx="38">
                  <c:v>0.69073433063735468</c:v>
                </c:pt>
                <c:pt idx="39">
                  <c:v>0.68386140921235583</c:v>
                </c:pt>
                <c:pt idx="40">
                  <c:v>0.67705687449816465</c:v>
                </c:pt>
                <c:pt idx="41">
                  <c:v>0.67032004603563933</c:v>
                </c:pt>
                <c:pt idx="42">
                  <c:v>0.6636502501363194</c:v>
                </c:pt>
                <c:pt idx="43">
                  <c:v>0.65704681981505675</c:v>
                </c:pt>
                <c:pt idx="44">
                  <c:v>0.65050909472331653</c:v>
                </c:pt>
                <c:pt idx="45">
                  <c:v>0.64403642108314141</c:v>
                </c:pt>
                <c:pt idx="46">
                  <c:v>0.63762815162177333</c:v>
                </c:pt>
                <c:pt idx="47">
                  <c:v>0.63128364550692595</c:v>
                </c:pt>
                <c:pt idx="48">
                  <c:v>0.62500226828270078</c:v>
                </c:pt>
                <c:pt idx="49">
                  <c:v>0.61878339180614084</c:v>
                </c:pt>
                <c:pt idx="50">
                  <c:v>0.61262639418441611</c:v>
                </c:pt>
                <c:pt idx="51">
                  <c:v>0.60653065971263342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0A6-4D49-90F6-23EF89A1F867}"/>
            </c:ext>
          </c:extLst>
        </c:ser>
        <c:ser>
          <c:idx val="1"/>
          <c:order val="1"/>
          <c:tx>
            <c:strRef>
              <c:f>Sheet1!$G$8</c:f>
              <c:strCache>
                <c:ptCount val="1"/>
                <c:pt idx="0">
                  <c:v>T = 50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Sheet1!$E$9:$E$60</c:f>
              <c:numCache>
                <c:formatCode>General</c:formatCode>
                <c:ptCount val="52"/>
                <c:pt idx="0">
                  <c:v>-50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8</c:v>
                </c:pt>
                <c:pt idx="10">
                  <c:v>9</c:v>
                </c:pt>
                <c:pt idx="11">
                  <c:v>10</c:v>
                </c:pt>
                <c:pt idx="12">
                  <c:v>11</c:v>
                </c:pt>
                <c:pt idx="13">
                  <c:v>12</c:v>
                </c:pt>
                <c:pt idx="14">
                  <c:v>13</c:v>
                </c:pt>
                <c:pt idx="15">
                  <c:v>14</c:v>
                </c:pt>
                <c:pt idx="16">
                  <c:v>15</c:v>
                </c:pt>
                <c:pt idx="17">
                  <c:v>16</c:v>
                </c:pt>
                <c:pt idx="18">
                  <c:v>17</c:v>
                </c:pt>
                <c:pt idx="19">
                  <c:v>18</c:v>
                </c:pt>
                <c:pt idx="20">
                  <c:v>19</c:v>
                </c:pt>
                <c:pt idx="21">
                  <c:v>20</c:v>
                </c:pt>
                <c:pt idx="22">
                  <c:v>21</c:v>
                </c:pt>
                <c:pt idx="23">
                  <c:v>22</c:v>
                </c:pt>
                <c:pt idx="24">
                  <c:v>23</c:v>
                </c:pt>
                <c:pt idx="25">
                  <c:v>24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28</c:v>
                </c:pt>
                <c:pt idx="30">
                  <c:v>29</c:v>
                </c:pt>
                <c:pt idx="31">
                  <c:v>30</c:v>
                </c:pt>
                <c:pt idx="32">
                  <c:v>31</c:v>
                </c:pt>
                <c:pt idx="33">
                  <c:v>32</c:v>
                </c:pt>
                <c:pt idx="34">
                  <c:v>33</c:v>
                </c:pt>
                <c:pt idx="35">
                  <c:v>34</c:v>
                </c:pt>
                <c:pt idx="36">
                  <c:v>35</c:v>
                </c:pt>
                <c:pt idx="37">
                  <c:v>36</c:v>
                </c:pt>
                <c:pt idx="38">
                  <c:v>37</c:v>
                </c:pt>
                <c:pt idx="39">
                  <c:v>38</c:v>
                </c:pt>
                <c:pt idx="40">
                  <c:v>39</c:v>
                </c:pt>
                <c:pt idx="41">
                  <c:v>40</c:v>
                </c:pt>
                <c:pt idx="42">
                  <c:v>41</c:v>
                </c:pt>
                <c:pt idx="43">
                  <c:v>42</c:v>
                </c:pt>
                <c:pt idx="44">
                  <c:v>43</c:v>
                </c:pt>
                <c:pt idx="45">
                  <c:v>44</c:v>
                </c:pt>
                <c:pt idx="46">
                  <c:v>45</c:v>
                </c:pt>
                <c:pt idx="47">
                  <c:v>46</c:v>
                </c:pt>
                <c:pt idx="48">
                  <c:v>47</c:v>
                </c:pt>
                <c:pt idx="49">
                  <c:v>48</c:v>
                </c:pt>
                <c:pt idx="50">
                  <c:v>49</c:v>
                </c:pt>
                <c:pt idx="51">
                  <c:v>50</c:v>
                </c:pt>
              </c:numCache>
            </c:numRef>
          </c:xVal>
          <c:yVal>
            <c:numRef>
              <c:f>Sheet1!$G$9:$G$60</c:f>
              <c:numCache>
                <c:formatCode>General</c:formatCode>
                <c:ptCount val="52"/>
                <c:pt idx="0">
                  <c:v>1</c:v>
                </c:pt>
                <c:pt idx="1">
                  <c:v>1</c:v>
                </c:pt>
                <c:pt idx="2">
                  <c:v>0.98019867330675525</c:v>
                </c:pt>
                <c:pt idx="3">
                  <c:v>0.96078943915232318</c:v>
                </c:pt>
                <c:pt idx="4">
                  <c:v>0.94176453358424872</c:v>
                </c:pt>
                <c:pt idx="5">
                  <c:v>0.92311634638663576</c:v>
                </c:pt>
                <c:pt idx="6">
                  <c:v>0.90483741803595952</c:v>
                </c:pt>
                <c:pt idx="7">
                  <c:v>0.88692043671715748</c:v>
                </c:pt>
                <c:pt idx="8">
                  <c:v>0.86935823539880586</c:v>
                </c:pt>
                <c:pt idx="9">
                  <c:v>0.85214378896621135</c:v>
                </c:pt>
                <c:pt idx="10">
                  <c:v>0.835270211411272</c:v>
                </c:pt>
                <c:pt idx="11">
                  <c:v>0.81873075307798182</c:v>
                </c:pt>
                <c:pt idx="12">
                  <c:v>0.80251879796247849</c:v>
                </c:pt>
                <c:pt idx="13">
                  <c:v>0.78662786106655347</c:v>
                </c:pt>
                <c:pt idx="14">
                  <c:v>0.77105158580356625</c:v>
                </c:pt>
                <c:pt idx="15">
                  <c:v>0.75578374145572547</c:v>
                </c:pt>
                <c:pt idx="16">
                  <c:v>0.74081822068171788</c:v>
                </c:pt>
                <c:pt idx="17">
                  <c:v>0.72614903707369094</c:v>
                </c:pt>
                <c:pt idx="18">
                  <c:v>0.71177032276260965</c:v>
                </c:pt>
                <c:pt idx="19">
                  <c:v>0.69767632607103103</c:v>
                </c:pt>
                <c:pt idx="20">
                  <c:v>0.68386140921235583</c:v>
                </c:pt>
                <c:pt idx="21">
                  <c:v>0.67032004603563933</c:v>
                </c:pt>
                <c:pt idx="22">
                  <c:v>0.65704681981505675</c:v>
                </c:pt>
                <c:pt idx="23">
                  <c:v>0.64403642108314141</c:v>
                </c:pt>
                <c:pt idx="24">
                  <c:v>0.63128364550692595</c:v>
                </c:pt>
                <c:pt idx="25">
                  <c:v>0.61878339180614084</c:v>
                </c:pt>
                <c:pt idx="26">
                  <c:v>0.60653065971263342</c:v>
                </c:pt>
                <c:pt idx="27">
                  <c:v>0.59452054797019438</c:v>
                </c:pt>
                <c:pt idx="28">
                  <c:v>0.58274825237398964</c:v>
                </c:pt>
                <c:pt idx="29">
                  <c:v>0.57120906384881487</c:v>
                </c:pt>
                <c:pt idx="30">
                  <c:v>0.55989836656540204</c:v>
                </c:pt>
                <c:pt idx="31">
                  <c:v>0.54881163609402639</c:v>
                </c:pt>
                <c:pt idx="32">
                  <c:v>0.53794443759467447</c:v>
                </c:pt>
                <c:pt idx="33">
                  <c:v>0.52729242404304855</c:v>
                </c:pt>
                <c:pt idx="34">
                  <c:v>0.51685133449169918</c:v>
                </c:pt>
                <c:pt idx="35">
                  <c:v>0.50661699236558955</c:v>
                </c:pt>
                <c:pt idx="36">
                  <c:v>0.49658530379140953</c:v>
                </c:pt>
                <c:pt idx="37">
                  <c:v>0.48675225595997168</c:v>
                </c:pt>
                <c:pt idx="38">
                  <c:v>0.47711391552103438</c:v>
                </c:pt>
                <c:pt idx="39">
                  <c:v>0.46766642700990924</c:v>
                </c:pt>
                <c:pt idx="40">
                  <c:v>0.45840601130522352</c:v>
                </c:pt>
                <c:pt idx="41">
                  <c:v>0.44932896411722156</c:v>
                </c:pt>
                <c:pt idx="42">
                  <c:v>0.4404316545059993</c:v>
                </c:pt>
                <c:pt idx="43">
                  <c:v>0.43171052342907973</c:v>
                </c:pt>
                <c:pt idx="44">
                  <c:v>0.42316208231774882</c:v>
                </c:pt>
                <c:pt idx="45">
                  <c:v>0.41478291168158138</c:v>
                </c:pt>
                <c:pt idx="46">
                  <c:v>0.40656965974059911</c:v>
                </c:pt>
                <c:pt idx="47">
                  <c:v>0.39851904108451414</c:v>
                </c:pt>
                <c:pt idx="48">
                  <c:v>0.39062783535852114</c:v>
                </c:pt>
                <c:pt idx="49">
                  <c:v>0.38289288597511206</c:v>
                </c:pt>
                <c:pt idx="50">
                  <c:v>0.37531109885139957</c:v>
                </c:pt>
                <c:pt idx="51">
                  <c:v>0.36787944117144233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0A6-4D49-90F6-23EF89A1F867}"/>
            </c:ext>
          </c:extLst>
        </c:ser>
        <c:ser>
          <c:idx val="2"/>
          <c:order val="2"/>
          <c:tx>
            <c:strRef>
              <c:f>Sheet1!$H$8</c:f>
              <c:strCache>
                <c:ptCount val="1"/>
                <c:pt idx="0">
                  <c:v>T = 10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Sheet1!$E$9:$E$60</c:f>
              <c:numCache>
                <c:formatCode>General</c:formatCode>
                <c:ptCount val="52"/>
                <c:pt idx="0">
                  <c:v>-50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8</c:v>
                </c:pt>
                <c:pt idx="10">
                  <c:v>9</c:v>
                </c:pt>
                <c:pt idx="11">
                  <c:v>10</c:v>
                </c:pt>
                <c:pt idx="12">
                  <c:v>11</c:v>
                </c:pt>
                <c:pt idx="13">
                  <c:v>12</c:v>
                </c:pt>
                <c:pt idx="14">
                  <c:v>13</c:v>
                </c:pt>
                <c:pt idx="15">
                  <c:v>14</c:v>
                </c:pt>
                <c:pt idx="16">
                  <c:v>15</c:v>
                </c:pt>
                <c:pt idx="17">
                  <c:v>16</c:v>
                </c:pt>
                <c:pt idx="18">
                  <c:v>17</c:v>
                </c:pt>
                <c:pt idx="19">
                  <c:v>18</c:v>
                </c:pt>
                <c:pt idx="20">
                  <c:v>19</c:v>
                </c:pt>
                <c:pt idx="21">
                  <c:v>20</c:v>
                </c:pt>
                <c:pt idx="22">
                  <c:v>21</c:v>
                </c:pt>
                <c:pt idx="23">
                  <c:v>22</c:v>
                </c:pt>
                <c:pt idx="24">
                  <c:v>23</c:v>
                </c:pt>
                <c:pt idx="25">
                  <c:v>24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28</c:v>
                </c:pt>
                <c:pt idx="30">
                  <c:v>29</c:v>
                </c:pt>
                <c:pt idx="31">
                  <c:v>30</c:v>
                </c:pt>
                <c:pt idx="32">
                  <c:v>31</c:v>
                </c:pt>
                <c:pt idx="33">
                  <c:v>32</c:v>
                </c:pt>
                <c:pt idx="34">
                  <c:v>33</c:v>
                </c:pt>
                <c:pt idx="35">
                  <c:v>34</c:v>
                </c:pt>
                <c:pt idx="36">
                  <c:v>35</c:v>
                </c:pt>
                <c:pt idx="37">
                  <c:v>36</c:v>
                </c:pt>
                <c:pt idx="38">
                  <c:v>37</c:v>
                </c:pt>
                <c:pt idx="39">
                  <c:v>38</c:v>
                </c:pt>
                <c:pt idx="40">
                  <c:v>39</c:v>
                </c:pt>
                <c:pt idx="41">
                  <c:v>40</c:v>
                </c:pt>
                <c:pt idx="42">
                  <c:v>41</c:v>
                </c:pt>
                <c:pt idx="43">
                  <c:v>42</c:v>
                </c:pt>
                <c:pt idx="44">
                  <c:v>43</c:v>
                </c:pt>
                <c:pt idx="45">
                  <c:v>44</c:v>
                </c:pt>
                <c:pt idx="46">
                  <c:v>45</c:v>
                </c:pt>
                <c:pt idx="47">
                  <c:v>46</c:v>
                </c:pt>
                <c:pt idx="48">
                  <c:v>47</c:v>
                </c:pt>
                <c:pt idx="49">
                  <c:v>48</c:v>
                </c:pt>
                <c:pt idx="50">
                  <c:v>49</c:v>
                </c:pt>
                <c:pt idx="51">
                  <c:v>50</c:v>
                </c:pt>
              </c:numCache>
            </c:numRef>
          </c:xVal>
          <c:yVal>
            <c:numRef>
              <c:f>Sheet1!$H$9:$H$60</c:f>
              <c:numCache>
                <c:formatCode>General</c:formatCode>
                <c:ptCount val="52"/>
                <c:pt idx="0">
                  <c:v>1</c:v>
                </c:pt>
                <c:pt idx="1">
                  <c:v>1</c:v>
                </c:pt>
                <c:pt idx="2">
                  <c:v>0.90483741803595952</c:v>
                </c:pt>
                <c:pt idx="3">
                  <c:v>0.81873075307798182</c:v>
                </c:pt>
                <c:pt idx="4">
                  <c:v>0.74081822068171788</c:v>
                </c:pt>
                <c:pt idx="5">
                  <c:v>0.67032004603563933</c:v>
                </c:pt>
                <c:pt idx="6">
                  <c:v>0.60653065971263342</c:v>
                </c:pt>
                <c:pt idx="7">
                  <c:v>0.54881163609402639</c:v>
                </c:pt>
                <c:pt idx="8">
                  <c:v>0.49658530379140953</c:v>
                </c:pt>
                <c:pt idx="9">
                  <c:v>0.44932896411722156</c:v>
                </c:pt>
                <c:pt idx="10">
                  <c:v>0.40656965974059911</c:v>
                </c:pt>
                <c:pt idx="11">
                  <c:v>0.36787944117144233</c:v>
                </c:pt>
                <c:pt idx="12">
                  <c:v>0.33287108369807955</c:v>
                </c:pt>
                <c:pt idx="13">
                  <c:v>0.30119421191220214</c:v>
                </c:pt>
                <c:pt idx="14">
                  <c:v>0.27253179303401259</c:v>
                </c:pt>
                <c:pt idx="15">
                  <c:v>0.24659696394160649</c:v>
                </c:pt>
                <c:pt idx="16">
                  <c:v>0.22313016014842982</c:v>
                </c:pt>
                <c:pt idx="17">
                  <c:v>0.20189651799465538</c:v>
                </c:pt>
                <c:pt idx="18">
                  <c:v>0.18268352405273466</c:v>
                </c:pt>
                <c:pt idx="19">
                  <c:v>0.16529888822158653</c:v>
                </c:pt>
                <c:pt idx="20">
                  <c:v>0.14956861922263506</c:v>
                </c:pt>
                <c:pt idx="21">
                  <c:v>0.1353352832366127</c:v>
                </c:pt>
                <c:pt idx="22">
                  <c:v>0.12245642825298191</c:v>
                </c:pt>
                <c:pt idx="23">
                  <c:v>0.11080315836233387</c:v>
                </c:pt>
                <c:pt idx="24">
                  <c:v>0.10025884372280375</c:v>
                </c:pt>
                <c:pt idx="25">
                  <c:v>9.0717953289412512E-2</c:v>
                </c:pt>
                <c:pt idx="26">
                  <c:v>8.20849986238988E-2</c:v>
                </c:pt>
                <c:pt idx="27">
                  <c:v>7.4273578214333877E-2</c:v>
                </c:pt>
                <c:pt idx="28">
                  <c:v>6.7205512739749756E-2</c:v>
                </c:pt>
                <c:pt idx="29">
                  <c:v>6.0810062625217973E-2</c:v>
                </c:pt>
                <c:pt idx="30">
                  <c:v>5.5023220056407231E-2</c:v>
                </c:pt>
                <c:pt idx="31">
                  <c:v>4.9787068367863944E-2</c:v>
                </c:pt>
                <c:pt idx="32">
                  <c:v>4.5049202393557801E-2</c:v>
                </c:pt>
                <c:pt idx="33">
                  <c:v>4.0762203978366211E-2</c:v>
                </c:pt>
                <c:pt idx="34">
                  <c:v>3.6883167401240015E-2</c:v>
                </c:pt>
                <c:pt idx="35">
                  <c:v>3.337326996032608E-2</c:v>
                </c:pt>
                <c:pt idx="36">
                  <c:v>3.0197383422318501E-2</c:v>
                </c:pt>
                <c:pt idx="37">
                  <c:v>2.7323722447292559E-2</c:v>
                </c:pt>
                <c:pt idx="38">
                  <c:v>2.4723526470339388E-2</c:v>
                </c:pt>
                <c:pt idx="39">
                  <c:v>2.2370771856165601E-2</c:v>
                </c:pt>
                <c:pt idx="40">
                  <c:v>2.0241911445804391E-2</c:v>
                </c:pt>
                <c:pt idx="41">
                  <c:v>1.8315638888734179E-2</c:v>
                </c:pt>
                <c:pt idx="42">
                  <c:v>1.6572675401761255E-2</c:v>
                </c:pt>
                <c:pt idx="43">
                  <c:v>1.4995576820477703E-2</c:v>
                </c:pt>
                <c:pt idx="44">
                  <c:v>1.3568559012200934E-2</c:v>
                </c:pt>
                <c:pt idx="45">
                  <c:v>1.2277339903068436E-2</c:v>
                </c:pt>
                <c:pt idx="46">
                  <c:v>1.1108996538242306E-2</c:v>
                </c:pt>
                <c:pt idx="47">
                  <c:v>1.0051835744633586E-2</c:v>
                </c:pt>
                <c:pt idx="48">
                  <c:v>9.0952771016958155E-3</c:v>
                </c:pt>
                <c:pt idx="49">
                  <c:v>8.2297470490200302E-3</c:v>
                </c:pt>
                <c:pt idx="50">
                  <c:v>7.4465830709243381E-3</c:v>
                </c:pt>
                <c:pt idx="51">
                  <c:v>6.737946999085467E-3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0A6-4D49-90F6-23EF89A1F867}"/>
            </c:ext>
          </c:extLst>
        </c:ser>
        <c:ser>
          <c:idx val="3"/>
          <c:order val="3"/>
          <c:tx>
            <c:strRef>
              <c:f>Sheet1!$I$8</c:f>
              <c:strCache>
                <c:ptCount val="1"/>
                <c:pt idx="0">
                  <c:v>T = 1</c:v>
                </c:pt>
              </c:strCache>
            </c:strRef>
          </c:tx>
          <c:spPr>
            <a:ln w="381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Sheet1!$E$9:$E$60</c:f>
              <c:numCache>
                <c:formatCode>General</c:formatCode>
                <c:ptCount val="52"/>
                <c:pt idx="0">
                  <c:v>-50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8</c:v>
                </c:pt>
                <c:pt idx="10">
                  <c:v>9</c:v>
                </c:pt>
                <c:pt idx="11">
                  <c:v>10</c:v>
                </c:pt>
                <c:pt idx="12">
                  <c:v>11</c:v>
                </c:pt>
                <c:pt idx="13">
                  <c:v>12</c:v>
                </c:pt>
                <c:pt idx="14">
                  <c:v>13</c:v>
                </c:pt>
                <c:pt idx="15">
                  <c:v>14</c:v>
                </c:pt>
                <c:pt idx="16">
                  <c:v>15</c:v>
                </c:pt>
                <c:pt idx="17">
                  <c:v>16</c:v>
                </c:pt>
                <c:pt idx="18">
                  <c:v>17</c:v>
                </c:pt>
                <c:pt idx="19">
                  <c:v>18</c:v>
                </c:pt>
                <c:pt idx="20">
                  <c:v>19</c:v>
                </c:pt>
                <c:pt idx="21">
                  <c:v>20</c:v>
                </c:pt>
                <c:pt idx="22">
                  <c:v>21</c:v>
                </c:pt>
                <c:pt idx="23">
                  <c:v>22</c:v>
                </c:pt>
                <c:pt idx="24">
                  <c:v>23</c:v>
                </c:pt>
                <c:pt idx="25">
                  <c:v>24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28</c:v>
                </c:pt>
                <c:pt idx="30">
                  <c:v>29</c:v>
                </c:pt>
                <c:pt idx="31">
                  <c:v>30</c:v>
                </c:pt>
                <c:pt idx="32">
                  <c:v>31</c:v>
                </c:pt>
                <c:pt idx="33">
                  <c:v>32</c:v>
                </c:pt>
                <c:pt idx="34">
                  <c:v>33</c:v>
                </c:pt>
                <c:pt idx="35">
                  <c:v>34</c:v>
                </c:pt>
                <c:pt idx="36">
                  <c:v>35</c:v>
                </c:pt>
                <c:pt idx="37">
                  <c:v>36</c:v>
                </c:pt>
                <c:pt idx="38">
                  <c:v>37</c:v>
                </c:pt>
                <c:pt idx="39">
                  <c:v>38</c:v>
                </c:pt>
                <c:pt idx="40">
                  <c:v>39</c:v>
                </c:pt>
                <c:pt idx="41">
                  <c:v>40</c:v>
                </c:pt>
                <c:pt idx="42">
                  <c:v>41</c:v>
                </c:pt>
                <c:pt idx="43">
                  <c:v>42</c:v>
                </c:pt>
                <c:pt idx="44">
                  <c:v>43</c:v>
                </c:pt>
                <c:pt idx="45">
                  <c:v>44</c:v>
                </c:pt>
                <c:pt idx="46">
                  <c:v>45</c:v>
                </c:pt>
                <c:pt idx="47">
                  <c:v>46</c:v>
                </c:pt>
                <c:pt idx="48">
                  <c:v>47</c:v>
                </c:pt>
                <c:pt idx="49">
                  <c:v>48</c:v>
                </c:pt>
                <c:pt idx="50">
                  <c:v>49</c:v>
                </c:pt>
                <c:pt idx="51">
                  <c:v>50</c:v>
                </c:pt>
              </c:numCache>
            </c:numRef>
          </c:xVal>
          <c:yVal>
            <c:numRef>
              <c:f>Sheet1!$I$9:$I$60</c:f>
              <c:numCache>
                <c:formatCode>General</c:formatCode>
                <c:ptCount val="52"/>
                <c:pt idx="0">
                  <c:v>1</c:v>
                </c:pt>
                <c:pt idx="1">
                  <c:v>1</c:v>
                </c:pt>
                <c:pt idx="2">
                  <c:v>0.36787944117144233</c:v>
                </c:pt>
                <c:pt idx="3">
                  <c:v>0.1353352832366127</c:v>
                </c:pt>
                <c:pt idx="4">
                  <c:v>4.9787068367863944E-2</c:v>
                </c:pt>
                <c:pt idx="5">
                  <c:v>1.8315638888734179E-2</c:v>
                </c:pt>
                <c:pt idx="6">
                  <c:v>6.737946999085467E-3</c:v>
                </c:pt>
                <c:pt idx="7">
                  <c:v>2.4787521766663585E-3</c:v>
                </c:pt>
                <c:pt idx="8">
                  <c:v>9.1188196555451624E-4</c:v>
                </c:pt>
                <c:pt idx="9">
                  <c:v>3.3546262790251185E-4</c:v>
                </c:pt>
                <c:pt idx="10">
                  <c:v>1.2340980408667956E-4</c:v>
                </c:pt>
                <c:pt idx="11">
                  <c:v>4.5399929762484854E-5</c:v>
                </c:pt>
                <c:pt idx="12">
                  <c:v>1.6701700790245659E-5</c:v>
                </c:pt>
                <c:pt idx="13">
                  <c:v>6.1442123533282098E-6</c:v>
                </c:pt>
                <c:pt idx="14">
                  <c:v>2.2603294069810542E-6</c:v>
                </c:pt>
                <c:pt idx="15">
                  <c:v>8.3152871910356788E-7</c:v>
                </c:pt>
                <c:pt idx="16">
                  <c:v>3.0590232050182579E-7</c:v>
                </c:pt>
                <c:pt idx="17">
                  <c:v>1.1253517471925912E-7</c:v>
                </c:pt>
                <c:pt idx="18">
                  <c:v>4.1399377187851668E-8</c:v>
                </c:pt>
                <c:pt idx="19">
                  <c:v>1.5229979744712629E-8</c:v>
                </c:pt>
                <c:pt idx="20">
                  <c:v>5.6027964375372678E-9</c:v>
                </c:pt>
                <c:pt idx="21">
                  <c:v>2.0611536224385579E-9</c:v>
                </c:pt>
                <c:pt idx="22">
                  <c:v>7.5825604279119066E-10</c:v>
                </c:pt>
                <c:pt idx="23">
                  <c:v>2.7894680928689246E-10</c:v>
                </c:pt>
                <c:pt idx="24">
                  <c:v>1.026187963170189E-10</c:v>
                </c:pt>
                <c:pt idx="25">
                  <c:v>3.7751345442790977E-11</c:v>
                </c:pt>
                <c:pt idx="26">
                  <c:v>1.3887943864964021E-11</c:v>
                </c:pt>
                <c:pt idx="27">
                  <c:v>5.1090890280633251E-12</c:v>
                </c:pt>
                <c:pt idx="28">
                  <c:v>1.8795288165390832E-12</c:v>
                </c:pt>
                <c:pt idx="29">
                  <c:v>6.914400106940203E-13</c:v>
                </c:pt>
                <c:pt idx="30">
                  <c:v>2.5436656473769228E-13</c:v>
                </c:pt>
                <c:pt idx="31">
                  <c:v>9.3576229688401748E-14</c:v>
                </c:pt>
                <c:pt idx="32">
                  <c:v>3.4424771084699768E-14</c:v>
                </c:pt>
                <c:pt idx="33">
                  <c:v>1.2664165549094176E-14</c:v>
                </c:pt>
                <c:pt idx="34">
                  <c:v>4.6588861451033977E-15</c:v>
                </c:pt>
                <c:pt idx="35">
                  <c:v>1.713908431542013E-15</c:v>
                </c:pt>
                <c:pt idx="36">
                  <c:v>6.3051167601469892E-16</c:v>
                </c:pt>
                <c:pt idx="37">
                  <c:v>2.3195228302435691E-16</c:v>
                </c:pt>
                <c:pt idx="38">
                  <c:v>8.5330476257440658E-17</c:v>
                </c:pt>
                <c:pt idx="39">
                  <c:v>3.1391327920480296E-17</c:v>
                </c:pt>
                <c:pt idx="40">
                  <c:v>1.1548224173015786E-17</c:v>
                </c:pt>
                <c:pt idx="41">
                  <c:v>4.2483542552915889E-18</c:v>
                </c:pt>
                <c:pt idx="42">
                  <c:v>1.5628821893349888E-18</c:v>
                </c:pt>
                <c:pt idx="43">
                  <c:v>5.7495222642935599E-19</c:v>
                </c:pt>
                <c:pt idx="44">
                  <c:v>2.1151310375910805E-19</c:v>
                </c:pt>
                <c:pt idx="45">
                  <c:v>7.7811322411337966E-20</c:v>
                </c:pt>
                <c:pt idx="46">
                  <c:v>2.8625185805493937E-20</c:v>
                </c:pt>
                <c:pt idx="47">
                  <c:v>1.0530617357553812E-20</c:v>
                </c:pt>
                <c:pt idx="48">
                  <c:v>3.8739976286871868E-21</c:v>
                </c:pt>
                <c:pt idx="49">
                  <c:v>1.4251640827409352E-21</c:v>
                </c:pt>
                <c:pt idx="50">
                  <c:v>5.2428856633634639E-22</c:v>
                </c:pt>
                <c:pt idx="51">
                  <c:v>1.9287498479639178E-22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C0A6-4D49-90F6-23EF89A1F8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2232975"/>
        <c:axId val="54430207"/>
      </c:scatterChart>
      <c:valAx>
        <c:axId val="372232975"/>
        <c:scaling>
          <c:orientation val="minMax"/>
          <c:max val="50"/>
          <c:min val="-5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delta</a:t>
                </a:r>
                <a:r>
                  <a:rPr lang="en-US" baseline="0"/>
                  <a:t> E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430207"/>
        <c:crosses val="autoZero"/>
        <c:crossBetween val="midCat"/>
      </c:valAx>
      <c:valAx>
        <c:axId val="54430207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dirty="0"/>
                  <a:t>Acceptance</a:t>
                </a:r>
                <a:r>
                  <a:rPr lang="en-US" sz="1600" baseline="0" dirty="0"/>
                  <a:t> Probability</a:t>
                </a:r>
                <a:endParaRPr lang="en-US" sz="16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232975"/>
        <c:crosses val="autoZero"/>
        <c:crossBetween val="midCat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2439489474441041"/>
          <c:y val="3.9999244094488191E-2"/>
          <c:w val="0.12293329963527663"/>
          <c:h val="0.2160015118110236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7C6803-CA4B-420D-A759-A0176716CDEC}" type="doc">
      <dgm:prSet loTypeId="urn:microsoft.com/office/officeart/2005/8/layout/hProcess9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0BB3CC82-3478-4D41-B047-5280D6218386}">
      <dgm:prSet/>
      <dgm:spPr/>
      <dgm:t>
        <a:bodyPr/>
        <a:lstStyle/>
        <a:p>
          <a:r>
            <a:rPr lang="en-US" dirty="0"/>
            <a:t>What is Local Search?</a:t>
          </a:r>
        </a:p>
      </dgm:t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0"/>
              </a:ext>
            </a:extLst>
          </dgm14:cNvPr>
        </a:ext>
      </dgm:extLst>
    </dgm:pt>
    <dgm:pt modelId="{EC9FA683-7C9F-4F3C-9D7B-F4134175B941}" type="parTrans" cxnId="{4D78158A-6127-4485-9228-4830BE8F9308}">
      <dgm:prSet/>
      <dgm:spPr/>
      <dgm:t>
        <a:bodyPr/>
        <a:lstStyle/>
        <a:p>
          <a:endParaRPr lang="en-US"/>
        </a:p>
      </dgm:t>
    </dgm:pt>
    <dgm:pt modelId="{4AA0B62A-EBAA-4094-BAAD-7D30DA2065F6}" type="sibTrans" cxnId="{4D78158A-6127-4485-9228-4830BE8F9308}">
      <dgm:prSet/>
      <dgm:spPr/>
      <dgm:t>
        <a:bodyPr/>
        <a:lstStyle/>
        <a:p>
          <a:endParaRPr lang="en-US"/>
        </a:p>
      </dgm:t>
    </dgm:pt>
    <dgm:pt modelId="{87E2C9DA-AF71-49BE-8463-230D4FAEACDF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dirty="0"/>
            <a:t>Hill-Climbing Search</a:t>
          </a:r>
        </a:p>
      </dgm:t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0"/>
              </a:ext>
            </a:extLst>
          </dgm14:cNvPr>
        </a:ext>
      </dgm:extLst>
    </dgm:pt>
    <dgm:pt modelId="{7ED67AEE-3EFA-42A3-9FB2-7E51CBD1AD0A}" type="parTrans" cxnId="{73BAC23A-4B06-47EF-832B-1E7F17048948}">
      <dgm:prSet/>
      <dgm:spPr/>
      <dgm:t>
        <a:bodyPr/>
        <a:lstStyle/>
        <a:p>
          <a:endParaRPr lang="en-US"/>
        </a:p>
      </dgm:t>
    </dgm:pt>
    <dgm:pt modelId="{4D78A9AF-DCE9-40A1-968E-8A84669BB17C}" type="sibTrans" cxnId="{73BAC23A-4B06-47EF-832B-1E7F17048948}">
      <dgm:prSet/>
      <dgm:spPr/>
      <dgm:t>
        <a:bodyPr/>
        <a:lstStyle/>
        <a:p>
          <a:endParaRPr lang="en-US"/>
        </a:p>
      </dgm:t>
    </dgm:pt>
    <dgm:pt modelId="{4A686FD9-F517-4034-849B-38895D14ED95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dirty="0"/>
            <a:t>Simulated Annealing</a:t>
          </a:r>
        </a:p>
      </dgm:t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0"/>
              </a:ext>
            </a:extLst>
          </dgm14:cNvPr>
        </a:ext>
      </dgm:extLst>
    </dgm:pt>
    <dgm:pt modelId="{B5AC7067-DFCC-4F66-B792-E6FD34576449}" type="parTrans" cxnId="{9F78771E-D83F-4FE3-A44B-F778098C046F}">
      <dgm:prSet/>
      <dgm:spPr/>
      <dgm:t>
        <a:bodyPr/>
        <a:lstStyle/>
        <a:p>
          <a:endParaRPr lang="en-US"/>
        </a:p>
      </dgm:t>
    </dgm:pt>
    <dgm:pt modelId="{C9797574-41BD-42CD-B50E-64C62694529C}" type="sibTrans" cxnId="{9F78771E-D83F-4FE3-A44B-F778098C046F}">
      <dgm:prSet/>
      <dgm:spPr/>
      <dgm:t>
        <a:bodyPr/>
        <a:lstStyle/>
        <a:p>
          <a:endParaRPr lang="en-US"/>
        </a:p>
      </dgm:t>
    </dgm:pt>
    <dgm:pt modelId="{74B4ED53-1771-488D-ABAD-21D1DA690E51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dirty="0"/>
            <a:t>Evolutionary Algorithms</a:t>
          </a:r>
        </a:p>
      </dgm:t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0"/>
              </a:ext>
            </a:extLst>
          </dgm14:cNvPr>
        </a:ext>
      </dgm:extLst>
    </dgm:pt>
    <dgm:pt modelId="{6EE8B661-5343-4B26-B6C6-894D5D8A7773}" type="parTrans" cxnId="{ABB642C9-CEA5-4E8F-847C-482E95851269}">
      <dgm:prSet/>
      <dgm:spPr/>
      <dgm:t>
        <a:bodyPr/>
        <a:lstStyle/>
        <a:p>
          <a:endParaRPr lang="en-US"/>
        </a:p>
      </dgm:t>
    </dgm:pt>
    <dgm:pt modelId="{877A99D1-B351-4E05-99E6-5FAD7B69E1C8}" type="sibTrans" cxnId="{ABB642C9-CEA5-4E8F-847C-482E95851269}">
      <dgm:prSet/>
      <dgm:spPr/>
      <dgm:t>
        <a:bodyPr/>
        <a:lstStyle/>
        <a:p>
          <a:endParaRPr lang="en-US"/>
        </a:p>
      </dgm:t>
    </dgm:pt>
    <dgm:pt modelId="{9227DA0E-23FC-4CFA-8C59-414EB0E01F6C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dirty="0"/>
            <a:t>Search in Continuous Spaces</a:t>
          </a:r>
        </a:p>
      </dgm:t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0"/>
              </a:ext>
            </a:extLst>
          </dgm14:cNvPr>
        </a:ext>
      </dgm:extLst>
    </dgm:pt>
    <dgm:pt modelId="{3DB6186E-4551-43E5-86B1-E1DD65E0DC9E}" type="parTrans" cxnId="{E42A713B-7206-49A5-9A6C-85CF3F2FC3FC}">
      <dgm:prSet/>
      <dgm:spPr/>
      <dgm:t>
        <a:bodyPr/>
        <a:lstStyle/>
        <a:p>
          <a:endParaRPr lang="en-US"/>
        </a:p>
      </dgm:t>
    </dgm:pt>
    <dgm:pt modelId="{5AFFAE01-E256-4EE8-9509-B262F1BD23CD}" type="sibTrans" cxnId="{E42A713B-7206-49A5-9A6C-85CF3F2FC3FC}">
      <dgm:prSet/>
      <dgm:spPr/>
      <dgm:t>
        <a:bodyPr/>
        <a:lstStyle/>
        <a:p>
          <a:endParaRPr lang="en-US"/>
        </a:p>
      </dgm:t>
    </dgm:pt>
    <dgm:pt modelId="{93623590-CF4A-4CD2-BB6E-ABC5C3F4BECF}" type="pres">
      <dgm:prSet presAssocID="{277C6803-CA4B-420D-A759-A0176716CDEC}" presName="CompostProcess" presStyleCnt="0">
        <dgm:presLayoutVars>
          <dgm:dir/>
          <dgm:resizeHandles val="exact"/>
        </dgm:presLayoutVars>
      </dgm:prSet>
      <dgm:spPr/>
    </dgm:pt>
    <dgm:pt modelId="{9754C195-A9F0-4F0D-A6D2-0DD1520FF8CB}" type="pres">
      <dgm:prSet presAssocID="{277C6803-CA4B-420D-A759-A0176716CDEC}" presName="arrow" presStyleLbl="bgShp" presStyleIdx="0" presStyleCnt="1"/>
      <dgm:spPr/>
    </dgm:pt>
    <dgm:pt modelId="{2940AEB7-E777-4807-BDF0-EF3FA0BEEEC2}" type="pres">
      <dgm:prSet presAssocID="{277C6803-CA4B-420D-A759-A0176716CDEC}" presName="linearProcess" presStyleCnt="0"/>
      <dgm:spPr/>
    </dgm:pt>
    <dgm:pt modelId="{C49C918E-2348-45D8-9BB6-36FC3910AEE6}" type="pres">
      <dgm:prSet presAssocID="{0BB3CC82-3478-4D41-B047-5280D6218386}" presName="textNode" presStyleLbl="node1" presStyleIdx="0" presStyleCnt="5">
        <dgm:presLayoutVars>
          <dgm:bulletEnabled val="1"/>
        </dgm:presLayoutVars>
      </dgm:prSet>
      <dgm:spPr/>
    </dgm:pt>
    <dgm:pt modelId="{C2900225-7812-4D77-ADCE-66E4758CD0CA}" type="pres">
      <dgm:prSet presAssocID="{4AA0B62A-EBAA-4094-BAAD-7D30DA2065F6}" presName="sibTrans" presStyleCnt="0"/>
      <dgm:spPr/>
    </dgm:pt>
    <dgm:pt modelId="{20161611-1CCB-49E5-BCD6-160E7AE8C6F1}" type="pres">
      <dgm:prSet presAssocID="{87E2C9DA-AF71-49BE-8463-230D4FAEACDF}" presName="textNode" presStyleLbl="node1" presStyleIdx="1" presStyleCnt="5">
        <dgm:presLayoutVars>
          <dgm:bulletEnabled val="1"/>
        </dgm:presLayoutVars>
      </dgm:prSet>
      <dgm:spPr/>
    </dgm:pt>
    <dgm:pt modelId="{86916C63-1FAF-43F8-B295-0A3F60413D66}" type="pres">
      <dgm:prSet presAssocID="{4D78A9AF-DCE9-40A1-968E-8A84669BB17C}" presName="sibTrans" presStyleCnt="0"/>
      <dgm:spPr/>
    </dgm:pt>
    <dgm:pt modelId="{FE566455-4387-4F3B-93FD-63039231E455}" type="pres">
      <dgm:prSet presAssocID="{4A686FD9-F517-4034-849B-38895D14ED95}" presName="textNode" presStyleLbl="node1" presStyleIdx="2" presStyleCnt="5">
        <dgm:presLayoutVars>
          <dgm:bulletEnabled val="1"/>
        </dgm:presLayoutVars>
      </dgm:prSet>
      <dgm:spPr/>
    </dgm:pt>
    <dgm:pt modelId="{7685ED58-3418-4846-9665-E14742C7BD0B}" type="pres">
      <dgm:prSet presAssocID="{C9797574-41BD-42CD-B50E-64C62694529C}" presName="sibTrans" presStyleCnt="0"/>
      <dgm:spPr/>
    </dgm:pt>
    <dgm:pt modelId="{FC3C55A0-84B2-4F6E-AB59-77725D722C40}" type="pres">
      <dgm:prSet presAssocID="{74B4ED53-1771-488D-ABAD-21D1DA690E51}" presName="textNode" presStyleLbl="node1" presStyleIdx="3" presStyleCnt="5">
        <dgm:presLayoutVars>
          <dgm:bulletEnabled val="1"/>
        </dgm:presLayoutVars>
      </dgm:prSet>
      <dgm:spPr/>
    </dgm:pt>
    <dgm:pt modelId="{7FE43F55-AB52-4260-A2ED-9324174B1544}" type="pres">
      <dgm:prSet presAssocID="{877A99D1-B351-4E05-99E6-5FAD7B69E1C8}" presName="sibTrans" presStyleCnt="0"/>
      <dgm:spPr/>
    </dgm:pt>
    <dgm:pt modelId="{06064AD5-8D7F-4BDF-925D-EFA8045701F9}" type="pres">
      <dgm:prSet presAssocID="{9227DA0E-23FC-4CFA-8C59-414EB0E01F6C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9F78771E-D83F-4FE3-A44B-F778098C046F}" srcId="{277C6803-CA4B-420D-A759-A0176716CDEC}" destId="{4A686FD9-F517-4034-849B-38895D14ED95}" srcOrd="2" destOrd="0" parTransId="{B5AC7067-DFCC-4F66-B792-E6FD34576449}" sibTransId="{C9797574-41BD-42CD-B50E-64C62694529C}"/>
    <dgm:cxn modelId="{C2500236-EA4A-468D-BB1C-6B3E83AB6481}" type="presOf" srcId="{4A686FD9-F517-4034-849B-38895D14ED95}" destId="{FE566455-4387-4F3B-93FD-63039231E455}" srcOrd="0" destOrd="0" presId="urn:microsoft.com/office/officeart/2005/8/layout/hProcess9"/>
    <dgm:cxn modelId="{73BAC23A-4B06-47EF-832B-1E7F17048948}" srcId="{277C6803-CA4B-420D-A759-A0176716CDEC}" destId="{87E2C9DA-AF71-49BE-8463-230D4FAEACDF}" srcOrd="1" destOrd="0" parTransId="{7ED67AEE-3EFA-42A3-9FB2-7E51CBD1AD0A}" sibTransId="{4D78A9AF-DCE9-40A1-968E-8A84669BB17C}"/>
    <dgm:cxn modelId="{E42A713B-7206-49A5-9A6C-85CF3F2FC3FC}" srcId="{277C6803-CA4B-420D-A759-A0176716CDEC}" destId="{9227DA0E-23FC-4CFA-8C59-414EB0E01F6C}" srcOrd="4" destOrd="0" parTransId="{3DB6186E-4551-43E5-86B1-E1DD65E0DC9E}" sibTransId="{5AFFAE01-E256-4EE8-9509-B262F1BD23CD}"/>
    <dgm:cxn modelId="{4D78158A-6127-4485-9228-4830BE8F9308}" srcId="{277C6803-CA4B-420D-A759-A0176716CDEC}" destId="{0BB3CC82-3478-4D41-B047-5280D6218386}" srcOrd="0" destOrd="0" parTransId="{EC9FA683-7C9F-4F3C-9D7B-F4134175B941}" sibTransId="{4AA0B62A-EBAA-4094-BAAD-7D30DA2065F6}"/>
    <dgm:cxn modelId="{98D54D8A-0966-471A-8A03-F463E3E4FD3D}" type="presOf" srcId="{0BB3CC82-3478-4D41-B047-5280D6218386}" destId="{C49C918E-2348-45D8-9BB6-36FC3910AEE6}" srcOrd="0" destOrd="0" presId="urn:microsoft.com/office/officeart/2005/8/layout/hProcess9"/>
    <dgm:cxn modelId="{0879C9B3-3FFE-43F3-8448-762C7FD9BC6F}" type="presOf" srcId="{74B4ED53-1771-488D-ABAD-21D1DA690E51}" destId="{FC3C55A0-84B2-4F6E-AB59-77725D722C40}" srcOrd="0" destOrd="0" presId="urn:microsoft.com/office/officeart/2005/8/layout/hProcess9"/>
    <dgm:cxn modelId="{ABB642C9-CEA5-4E8F-847C-482E95851269}" srcId="{277C6803-CA4B-420D-A759-A0176716CDEC}" destId="{74B4ED53-1771-488D-ABAD-21D1DA690E51}" srcOrd="3" destOrd="0" parTransId="{6EE8B661-5343-4B26-B6C6-894D5D8A7773}" sibTransId="{877A99D1-B351-4E05-99E6-5FAD7B69E1C8}"/>
    <dgm:cxn modelId="{20A242CC-255D-4EE4-BD4B-A2F5ED9DCAE9}" type="presOf" srcId="{9227DA0E-23FC-4CFA-8C59-414EB0E01F6C}" destId="{06064AD5-8D7F-4BDF-925D-EFA8045701F9}" srcOrd="0" destOrd="0" presId="urn:microsoft.com/office/officeart/2005/8/layout/hProcess9"/>
    <dgm:cxn modelId="{169141CD-0342-4B63-B721-5243A4C779D4}" type="presOf" srcId="{87E2C9DA-AF71-49BE-8463-230D4FAEACDF}" destId="{20161611-1CCB-49E5-BCD6-160E7AE8C6F1}" srcOrd="0" destOrd="0" presId="urn:microsoft.com/office/officeart/2005/8/layout/hProcess9"/>
    <dgm:cxn modelId="{AA7D7CDF-7AD0-4080-94E1-5E5B41B38130}" type="presOf" srcId="{277C6803-CA4B-420D-A759-A0176716CDEC}" destId="{93623590-CF4A-4CD2-BB6E-ABC5C3F4BECF}" srcOrd="0" destOrd="0" presId="urn:microsoft.com/office/officeart/2005/8/layout/hProcess9"/>
    <dgm:cxn modelId="{04508D0A-E7F3-4AA3-8620-DE44F159C331}" type="presParOf" srcId="{93623590-CF4A-4CD2-BB6E-ABC5C3F4BECF}" destId="{9754C195-A9F0-4F0D-A6D2-0DD1520FF8CB}" srcOrd="0" destOrd="0" presId="urn:microsoft.com/office/officeart/2005/8/layout/hProcess9"/>
    <dgm:cxn modelId="{A97CB21C-F932-44CD-819E-E60A00C0FBE8}" type="presParOf" srcId="{93623590-CF4A-4CD2-BB6E-ABC5C3F4BECF}" destId="{2940AEB7-E777-4807-BDF0-EF3FA0BEEEC2}" srcOrd="1" destOrd="0" presId="urn:microsoft.com/office/officeart/2005/8/layout/hProcess9"/>
    <dgm:cxn modelId="{9F985081-4E40-4F93-88C2-35AF4C953A4F}" type="presParOf" srcId="{2940AEB7-E777-4807-BDF0-EF3FA0BEEEC2}" destId="{C49C918E-2348-45D8-9BB6-36FC3910AEE6}" srcOrd="0" destOrd="0" presId="urn:microsoft.com/office/officeart/2005/8/layout/hProcess9"/>
    <dgm:cxn modelId="{E1E358F4-BD8A-484C-9D85-B88F8CB9FFD4}" type="presParOf" srcId="{2940AEB7-E777-4807-BDF0-EF3FA0BEEEC2}" destId="{C2900225-7812-4D77-ADCE-66E4758CD0CA}" srcOrd="1" destOrd="0" presId="urn:microsoft.com/office/officeart/2005/8/layout/hProcess9"/>
    <dgm:cxn modelId="{DCDC86E0-345B-4170-8F4C-A1A9BC75C0FC}" type="presParOf" srcId="{2940AEB7-E777-4807-BDF0-EF3FA0BEEEC2}" destId="{20161611-1CCB-49E5-BCD6-160E7AE8C6F1}" srcOrd="2" destOrd="0" presId="urn:microsoft.com/office/officeart/2005/8/layout/hProcess9"/>
    <dgm:cxn modelId="{CD089FAC-7D3F-4F18-9A53-AA6C7921B4E3}" type="presParOf" srcId="{2940AEB7-E777-4807-BDF0-EF3FA0BEEEC2}" destId="{86916C63-1FAF-43F8-B295-0A3F60413D66}" srcOrd="3" destOrd="0" presId="urn:microsoft.com/office/officeart/2005/8/layout/hProcess9"/>
    <dgm:cxn modelId="{2DC080EA-34FA-4231-9E1B-88EF50C76450}" type="presParOf" srcId="{2940AEB7-E777-4807-BDF0-EF3FA0BEEEC2}" destId="{FE566455-4387-4F3B-93FD-63039231E455}" srcOrd="4" destOrd="0" presId="urn:microsoft.com/office/officeart/2005/8/layout/hProcess9"/>
    <dgm:cxn modelId="{85238898-3046-480A-8E6E-7930658D5180}" type="presParOf" srcId="{2940AEB7-E777-4807-BDF0-EF3FA0BEEEC2}" destId="{7685ED58-3418-4846-9665-E14742C7BD0B}" srcOrd="5" destOrd="0" presId="urn:microsoft.com/office/officeart/2005/8/layout/hProcess9"/>
    <dgm:cxn modelId="{16A2F90B-22A4-4C2B-BB52-9B391B6CA0CC}" type="presParOf" srcId="{2940AEB7-E777-4807-BDF0-EF3FA0BEEEC2}" destId="{FC3C55A0-84B2-4F6E-AB59-77725D722C40}" srcOrd="6" destOrd="0" presId="urn:microsoft.com/office/officeart/2005/8/layout/hProcess9"/>
    <dgm:cxn modelId="{0899D7B3-468F-45E2-93F4-858C142C714C}" type="presParOf" srcId="{2940AEB7-E777-4807-BDF0-EF3FA0BEEEC2}" destId="{7FE43F55-AB52-4260-A2ED-9324174B1544}" srcOrd="7" destOrd="0" presId="urn:microsoft.com/office/officeart/2005/8/layout/hProcess9"/>
    <dgm:cxn modelId="{B3E9E043-F09A-4C38-BD91-AEB54C390C3D}" type="presParOf" srcId="{2940AEB7-E777-4807-BDF0-EF3FA0BEEEC2}" destId="{06064AD5-8D7F-4BDF-925D-EFA8045701F9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4C195-A9F0-4F0D-A6D2-0DD1520FF8CB}">
      <dsp:nvSpPr>
        <dsp:cNvPr id="0" name=""/>
        <dsp:cNvSpPr/>
      </dsp:nvSpPr>
      <dsp:spPr>
        <a:xfrm>
          <a:off x="591502" y="0"/>
          <a:ext cx="6703695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C918E-2348-45D8-9BB6-36FC3910AEE6}">
      <dsp:nvSpPr>
        <dsp:cNvPr id="0" name=""/>
        <dsp:cNvSpPr/>
      </dsp:nvSpPr>
      <dsp:spPr>
        <a:xfrm>
          <a:off x="3465" y="1305401"/>
          <a:ext cx="151534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What is Local Search?</a:t>
          </a:r>
        </a:p>
      </dsp:txBody>
      <dsp:txXfrm>
        <a:off x="77438" y="1379374"/>
        <a:ext cx="1367394" cy="1592589"/>
      </dsp:txXfrm>
    </dsp:sp>
    <dsp:sp modelId="{20161611-1CCB-49E5-BCD6-160E7AE8C6F1}">
      <dsp:nvSpPr>
        <dsp:cNvPr id="0" name=""/>
        <dsp:cNvSpPr/>
      </dsp:nvSpPr>
      <dsp:spPr>
        <a:xfrm>
          <a:off x="1594572" y="1305401"/>
          <a:ext cx="1515340" cy="1740535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Hill-Climbing Search</a:t>
          </a:r>
        </a:p>
      </dsp:txBody>
      <dsp:txXfrm>
        <a:off x="1668545" y="1379374"/>
        <a:ext cx="1367394" cy="1592589"/>
      </dsp:txXfrm>
    </dsp:sp>
    <dsp:sp modelId="{FE566455-4387-4F3B-93FD-63039231E455}">
      <dsp:nvSpPr>
        <dsp:cNvPr id="0" name=""/>
        <dsp:cNvSpPr/>
      </dsp:nvSpPr>
      <dsp:spPr>
        <a:xfrm>
          <a:off x="3185679" y="1305401"/>
          <a:ext cx="1515340" cy="1740535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Simulated Annealing</a:t>
          </a:r>
        </a:p>
      </dsp:txBody>
      <dsp:txXfrm>
        <a:off x="3259652" y="1379374"/>
        <a:ext cx="1367394" cy="1592589"/>
      </dsp:txXfrm>
    </dsp:sp>
    <dsp:sp modelId="{FC3C55A0-84B2-4F6E-AB59-77725D722C40}">
      <dsp:nvSpPr>
        <dsp:cNvPr id="0" name=""/>
        <dsp:cNvSpPr/>
      </dsp:nvSpPr>
      <dsp:spPr>
        <a:xfrm>
          <a:off x="4776787" y="1305401"/>
          <a:ext cx="1515340" cy="1740535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Evolutionary Algorithms</a:t>
          </a:r>
        </a:p>
      </dsp:txBody>
      <dsp:txXfrm>
        <a:off x="4850760" y="1379374"/>
        <a:ext cx="1367394" cy="1592589"/>
      </dsp:txXfrm>
    </dsp:sp>
    <dsp:sp modelId="{06064AD5-8D7F-4BDF-925D-EFA8045701F9}">
      <dsp:nvSpPr>
        <dsp:cNvPr id="0" name=""/>
        <dsp:cNvSpPr/>
      </dsp:nvSpPr>
      <dsp:spPr>
        <a:xfrm>
          <a:off x="6367894" y="1305401"/>
          <a:ext cx="1515340" cy="1740535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Search in Continuous Spaces</a:t>
          </a:r>
        </a:p>
      </dsp:txBody>
      <dsp:txXfrm>
        <a:off x="6441867" y="1379374"/>
        <a:ext cx="1367394" cy="1592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6E2045A-045A-4BC7-A4D3-1395440B1C3D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A8F1D18-9638-4932-8910-B6EDCB447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65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32BA5-DDE3-E5F5-235C-CEBD9D769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F5675-F680-29DA-B1D8-6B0C88BD9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8A164-8EB3-511F-4F41-488BAA8CD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04B25-2530-F25E-FBBD-09C5D9450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9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48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12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52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90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D9DA4-02CE-43F5-9CF0-D49D363C84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4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541FF-43FD-4C27-B2AB-C7A86A2D6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1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6D21-1181-4166-8079-A41C583EFA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78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A6A7-A8A8-444E-955C-ECC81D9EE3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39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F21B-BA12-430D-BE3E-273EE4A9C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84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AA154-AEC2-45BD-83B5-605C6AF79F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63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C9F4F-55B6-427D-981E-09CF38EE50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0B25-377E-4295-B49E-194E8FC687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44E4E-8BDE-4300-9999-9D2DCD00C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2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B250-A250-4885-A268-87B3538DFE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20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124F-E4DF-44CD-BFA1-9C4215F3C6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3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13C7E-08E5-4BBC-8983-6EE86B3B32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1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://creativecommons.org/licenses/by-sa/4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Relationship Id="rId9" Type="http://schemas.openxmlformats.org/officeDocument/2006/relationships/image" Target="../media/image28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chart" Target="../charts/chart1.xml"/><Relationship Id="rId4" Type="http://schemas.openxmlformats.org/officeDocument/2006/relationships/chart" Target="../charts/char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0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0.png"/><Relationship Id="rId7" Type="http://schemas.openxmlformats.org/officeDocument/2006/relationships/image" Target="../media/image46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480.png"/><Relationship Id="rId4" Type="http://schemas.openxmlformats.org/officeDocument/2006/relationships/image" Target="../media/image440.png"/><Relationship Id="rId9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8D72E84-B89E-4D86-8F6D-3D5C1F7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t="9091" r="35364"/>
          <a:stretch/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334531-89EB-4B5B-9C66-24A9E35E2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600" dirty="0"/>
              <a:t>CS 5/7320 </a:t>
            </a:r>
            <a:r>
              <a:rPr lang="en-US" sz="2700" dirty="0"/>
              <a:t>Artificial Intelligence</a:t>
            </a:r>
            <a:br>
              <a:rPr lang="en-US" sz="4200" dirty="0"/>
            </a:br>
            <a:br>
              <a:rPr lang="en-US" sz="4200" dirty="0"/>
            </a:br>
            <a:r>
              <a:rPr lang="en-US" sz="3600" dirty="0"/>
              <a:t>Local Search</a:t>
            </a:r>
            <a:br>
              <a:rPr lang="en-US" sz="4200" dirty="0"/>
            </a:br>
            <a:r>
              <a:rPr lang="en-US" sz="2200" dirty="0"/>
              <a:t>AIMA Chapters 4.1 &amp; 4.2</a:t>
            </a:r>
            <a:br>
              <a:rPr lang="en-US" sz="4400" dirty="0"/>
            </a:br>
            <a:endParaRPr lang="en-US" sz="42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21AF66-BFF7-4BB6-8A4E-810079689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Slides by Michael Hahsler</a:t>
            </a:r>
            <a:br>
              <a:rPr lang="en-US" sz="1800" dirty="0"/>
            </a:br>
            <a:r>
              <a:rPr lang="en-US" sz="1400" dirty="0"/>
              <a:t>based on slides by Svetlana </a:t>
            </a:r>
            <a:r>
              <a:rPr lang="en-US" sz="1400" dirty="0" err="1"/>
              <a:t>Lazepnik</a:t>
            </a:r>
            <a:br>
              <a:rPr lang="en-US" sz="1400" dirty="0"/>
            </a:br>
            <a:r>
              <a:rPr lang="en-US" sz="1400" dirty="0"/>
              <a:t>with figures from the AIMA textbook.</a:t>
            </a:r>
          </a:p>
          <a:p>
            <a:pPr algn="l"/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1F5956-4F07-D006-90D2-ADC535048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480955" y="5187199"/>
            <a:ext cx="1304561" cy="1440289"/>
            <a:chOff x="7162800" y="4191000"/>
            <a:chExt cx="1676400" cy="1981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14D2B11-4DA3-B2DC-697F-A573B02FEE1C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2EA60162-73F6-47C9-CEA7-FE9A33D17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684" y="4213372"/>
              <a:ext cx="1632631" cy="163263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08AB48-76AA-1A77-8AF3-8FFC8B2707D1}"/>
                </a:ext>
              </a:extLst>
            </p:cNvPr>
            <p:cNvSpPr/>
            <p:nvPr/>
          </p:nvSpPr>
          <p:spPr>
            <a:xfrm>
              <a:off x="7162800" y="5812970"/>
              <a:ext cx="1664629" cy="35923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Online Material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1CE87F-A647-B283-D1A6-D095EFC38CA6}"/>
              </a:ext>
            </a:extLst>
          </p:cNvPr>
          <p:cNvGrpSpPr/>
          <p:nvPr/>
        </p:nvGrpSpPr>
        <p:grpSpPr>
          <a:xfrm>
            <a:off x="339299" y="5823434"/>
            <a:ext cx="3017521" cy="810962"/>
            <a:chOff x="339299" y="5823434"/>
            <a:chExt cx="3017521" cy="81096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22313A-FBBF-0AA9-EA3C-D9B99DCAD580}"/>
                </a:ext>
              </a:extLst>
            </p:cNvPr>
            <p:cNvSpPr txBox="1"/>
            <p:nvPr/>
          </p:nvSpPr>
          <p:spPr>
            <a:xfrm>
              <a:off x="339299" y="6203509"/>
              <a:ext cx="30175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</a:rPr>
                <a:t>This work is licensed under a </a:t>
              </a:r>
              <a:r>
                <a:rPr lang="en-US" sz="11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Creative Commons Attribution-</a:t>
              </a:r>
              <a:r>
                <a:rPr lang="en-US" sz="1100" b="0" i="0" strike="noStrike" dirty="0" err="1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ShareAlike</a:t>
              </a:r>
              <a:r>
                <a:rPr lang="en-US" sz="11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4.0 International License</a:t>
              </a:r>
              <a:r>
                <a:rPr lang="en-US" sz="11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</a:rPr>
                <a:t>.</a:t>
              </a:r>
              <a:endParaRPr lang="en-US" sz="11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05AC8C84-56A5-E3D2-E7BF-CCA14C4863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21" y="5823434"/>
              <a:ext cx="894434" cy="312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7196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A84F-7178-4E19-A3E7-3440EE65C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238EBBB-C40E-49A2-AEE3-55232539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975765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043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A165C-97BD-4EEB-937C-A39FA6DE0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Recap: Uninformed and Informed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065CC-A541-4744-B3BB-47F67E5B4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12128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dirty="0"/>
              <a:t>Tries to </a:t>
            </a:r>
            <a:r>
              <a:rPr lang="en-US" sz="3600" b="1" dirty="0"/>
              <a:t>plan</a:t>
            </a:r>
            <a:r>
              <a:rPr lang="en-US" sz="3600" dirty="0"/>
              <a:t> the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best path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3600" dirty="0"/>
              <a:t>from a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given initial state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3600" dirty="0"/>
              <a:t>to a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given goal state.</a:t>
            </a:r>
          </a:p>
          <a:p>
            <a:pPr marL="0" indent="0" algn="ctr">
              <a:buNone/>
            </a:pPr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3600" dirty="0"/>
              <a:t>Often comes with completeness and optimality guarantees (BFS, A* Search, IDS).</a:t>
            </a:r>
          </a:p>
          <a:p>
            <a:r>
              <a:rPr lang="en-US" sz="3600" b="1" dirty="0"/>
              <a:t>Issue</a:t>
            </a:r>
            <a:r>
              <a:rPr lang="en-US" sz="3600" dirty="0"/>
              <a:t>: Typically have to search a large portion of the search space and therefore need a lot of time and memory.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grpSp>
        <p:nvGrpSpPr>
          <p:cNvPr id="12" name="Group 11" descr="A picture of a maze with the path from the initial state to the goal highlighted.">
            <a:extLst>
              <a:ext uri="{FF2B5EF4-FFF2-40B4-BE49-F238E27FC236}">
                <a16:creationId xmlns:a16="http://schemas.microsoft.com/office/drawing/2014/main" id="{79A33511-DBF6-4432-3C7A-E04E15A751FA}"/>
              </a:ext>
            </a:extLst>
          </p:cNvPr>
          <p:cNvGrpSpPr/>
          <p:nvPr/>
        </p:nvGrpSpPr>
        <p:grpSpPr>
          <a:xfrm>
            <a:off x="4506033" y="1793968"/>
            <a:ext cx="4333167" cy="3540032"/>
            <a:chOff x="4506033" y="1793968"/>
            <a:chExt cx="4333167" cy="3540032"/>
          </a:xfrm>
        </p:grpSpPr>
        <p:sp>
          <p:nvSpPr>
            <p:cNvPr id="4" name="Down Arrow 4">
              <a:extLst>
                <a:ext uri="{FF2B5EF4-FFF2-40B4-BE49-F238E27FC236}">
                  <a16:creationId xmlns:a16="http://schemas.microsoft.com/office/drawing/2014/main" id="{C6FF4BA4-F871-4A83-8A28-DAAA5DF99891}"/>
                </a:ext>
              </a:extLst>
            </p:cNvPr>
            <p:cNvSpPr/>
            <p:nvPr/>
          </p:nvSpPr>
          <p:spPr>
            <a:xfrm>
              <a:off x="5209896" y="2133600"/>
              <a:ext cx="228600" cy="3048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688422A-31D7-4170-80EE-46B4141E7DF5}"/>
                </a:ext>
              </a:extLst>
            </p:cNvPr>
            <p:cNvSpPr txBox="1"/>
            <p:nvPr/>
          </p:nvSpPr>
          <p:spPr>
            <a:xfrm>
              <a:off x="4506033" y="1793968"/>
              <a:ext cx="1483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Initial state</a:t>
              </a:r>
            </a:p>
          </p:txBody>
        </p:sp>
        <p:sp>
          <p:nvSpPr>
            <p:cNvPr id="6" name="Down Arrow 6">
              <a:extLst>
                <a:ext uri="{FF2B5EF4-FFF2-40B4-BE49-F238E27FC236}">
                  <a16:creationId xmlns:a16="http://schemas.microsoft.com/office/drawing/2014/main" id="{012CE22A-7EA3-4226-BA03-F15BA6EFCA00}"/>
                </a:ext>
              </a:extLst>
            </p:cNvPr>
            <p:cNvSpPr/>
            <p:nvPr/>
          </p:nvSpPr>
          <p:spPr>
            <a:xfrm rot="5400000">
              <a:off x="7897960" y="4838700"/>
              <a:ext cx="228600" cy="3048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4F05A65-D34F-4AC8-A4FF-7FA25D269424}"/>
                </a:ext>
              </a:extLst>
            </p:cNvPr>
            <p:cNvSpPr txBox="1"/>
            <p:nvPr/>
          </p:nvSpPr>
          <p:spPr>
            <a:xfrm>
              <a:off x="8170427" y="4687669"/>
              <a:ext cx="66877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Goal </a:t>
              </a:r>
              <a:br>
                <a:rPr lang="en-US" dirty="0">
                  <a:solidFill>
                    <a:srgbClr val="0070C0"/>
                  </a:solidFill>
                </a:rPr>
              </a:br>
              <a:r>
                <a:rPr lang="en-US" dirty="0">
                  <a:solidFill>
                    <a:srgbClr val="0070C0"/>
                  </a:solidFill>
                </a:rPr>
                <a:t>state</a:t>
              </a: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02DF080F-BD2E-4894-931D-1605BAD00B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encilSketch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6660" y="2475026"/>
              <a:ext cx="2667000" cy="2706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8D61D2-8702-47A7-97CC-04E0B38CD54B}"/>
                </a:ext>
              </a:extLst>
            </p:cNvPr>
            <p:cNvSpPr/>
            <p:nvPr/>
          </p:nvSpPr>
          <p:spPr>
            <a:xfrm>
              <a:off x="7646557" y="4876800"/>
              <a:ext cx="152400" cy="152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1567721-8D1B-4C28-ACD3-ECEB9EAFA179}"/>
                </a:ext>
              </a:extLst>
            </p:cNvPr>
            <p:cNvSpPr/>
            <p:nvPr/>
          </p:nvSpPr>
          <p:spPr>
            <a:xfrm>
              <a:off x="5253815" y="2474694"/>
              <a:ext cx="152400" cy="152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AE07DB4-C098-4EA6-9E59-3D5FEF00119A}"/>
                </a:ext>
              </a:extLst>
            </p:cNvPr>
            <p:cNvSpPr/>
            <p:nvPr/>
          </p:nvSpPr>
          <p:spPr>
            <a:xfrm>
              <a:off x="5291620" y="2667480"/>
              <a:ext cx="2365551" cy="2275128"/>
            </a:xfrm>
            <a:custGeom>
              <a:avLst/>
              <a:gdLst>
                <a:gd name="connsiteX0" fmla="*/ 23795 w 2365551"/>
                <a:gd name="connsiteY0" fmla="*/ 0 h 2275128"/>
                <a:gd name="connsiteX1" fmla="*/ 34946 w 2365551"/>
                <a:gd name="connsiteY1" fmla="*/ 312234 h 2275128"/>
                <a:gd name="connsiteX2" fmla="*/ 336029 w 2365551"/>
                <a:gd name="connsiteY2" fmla="*/ 66908 h 2275128"/>
                <a:gd name="connsiteX3" fmla="*/ 1150068 w 2365551"/>
                <a:gd name="connsiteY3" fmla="*/ 78059 h 2275128"/>
                <a:gd name="connsiteX4" fmla="*/ 1172370 w 2365551"/>
                <a:gd name="connsiteY4" fmla="*/ 323386 h 2275128"/>
                <a:gd name="connsiteX5" fmla="*/ 2242887 w 2365551"/>
                <a:gd name="connsiteY5" fmla="*/ 334537 h 2275128"/>
                <a:gd name="connsiteX6" fmla="*/ 1997560 w 2365551"/>
                <a:gd name="connsiteY6" fmla="*/ 914400 h 2275128"/>
                <a:gd name="connsiteX7" fmla="*/ 1975258 w 2365551"/>
                <a:gd name="connsiteY7" fmla="*/ 936703 h 2275128"/>
                <a:gd name="connsiteX8" fmla="*/ 1964107 w 2365551"/>
                <a:gd name="connsiteY8" fmla="*/ 1449659 h 2275128"/>
                <a:gd name="connsiteX9" fmla="*/ 1674175 w 2365551"/>
                <a:gd name="connsiteY9" fmla="*/ 1438508 h 2275128"/>
                <a:gd name="connsiteX10" fmla="*/ 1462302 w 2365551"/>
                <a:gd name="connsiteY10" fmla="*/ 613317 h 2275128"/>
                <a:gd name="connsiteX11" fmla="*/ 782078 w 2365551"/>
                <a:gd name="connsiteY11" fmla="*/ 635620 h 2275128"/>
                <a:gd name="connsiteX12" fmla="*/ 770926 w 2365551"/>
                <a:gd name="connsiteY12" fmla="*/ 869795 h 2275128"/>
                <a:gd name="connsiteX13" fmla="*/ 692868 w 2365551"/>
                <a:gd name="connsiteY13" fmla="*/ 880947 h 2275128"/>
                <a:gd name="connsiteX14" fmla="*/ 659414 w 2365551"/>
                <a:gd name="connsiteY14" fmla="*/ 892098 h 2275128"/>
                <a:gd name="connsiteX15" fmla="*/ 625960 w 2365551"/>
                <a:gd name="connsiteY15" fmla="*/ 1471961 h 2275128"/>
                <a:gd name="connsiteX16" fmla="*/ 871287 w 2365551"/>
                <a:gd name="connsiteY16" fmla="*/ 1460810 h 2275128"/>
                <a:gd name="connsiteX17" fmla="*/ 882439 w 2365551"/>
                <a:gd name="connsiteY17" fmla="*/ 1237786 h 2275128"/>
                <a:gd name="connsiteX18" fmla="*/ 1216975 w 2365551"/>
                <a:gd name="connsiteY18" fmla="*/ 1248937 h 2275128"/>
                <a:gd name="connsiteX19" fmla="*/ 1228126 w 2365551"/>
                <a:gd name="connsiteY19" fmla="*/ 2007220 h 2275128"/>
                <a:gd name="connsiteX20" fmla="*/ 1406546 w 2365551"/>
                <a:gd name="connsiteY20" fmla="*/ 1996068 h 2275128"/>
                <a:gd name="connsiteX21" fmla="*/ 1428848 w 2365551"/>
                <a:gd name="connsiteY21" fmla="*/ 1572322 h 2275128"/>
                <a:gd name="connsiteX22" fmla="*/ 1518058 w 2365551"/>
                <a:gd name="connsiteY22" fmla="*/ 1594625 h 2275128"/>
                <a:gd name="connsiteX23" fmla="*/ 1685326 w 2365551"/>
                <a:gd name="connsiteY23" fmla="*/ 1661532 h 2275128"/>
                <a:gd name="connsiteX24" fmla="*/ 2265190 w 2365551"/>
                <a:gd name="connsiteY24" fmla="*/ 1750742 h 2275128"/>
                <a:gd name="connsiteX25" fmla="*/ 2365551 w 2365551"/>
                <a:gd name="connsiteY25" fmla="*/ 2274849 h 227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365551" h="2275128">
                  <a:moveTo>
                    <a:pt x="23795" y="0"/>
                  </a:moveTo>
                  <a:cubicBezTo>
                    <a:pt x="27512" y="104078"/>
                    <a:pt x="-38695" y="238593"/>
                    <a:pt x="34946" y="312234"/>
                  </a:cubicBezTo>
                  <a:cubicBezTo>
                    <a:pt x="385596" y="662884"/>
                    <a:pt x="334314" y="102925"/>
                    <a:pt x="336029" y="66908"/>
                  </a:cubicBezTo>
                  <a:cubicBezTo>
                    <a:pt x="607375" y="70625"/>
                    <a:pt x="890622" y="-1505"/>
                    <a:pt x="1150068" y="78059"/>
                  </a:cubicBezTo>
                  <a:cubicBezTo>
                    <a:pt x="1228572" y="102134"/>
                    <a:pt x="1092429" y="304624"/>
                    <a:pt x="1172370" y="323386"/>
                  </a:cubicBezTo>
                  <a:cubicBezTo>
                    <a:pt x="1519788" y="404923"/>
                    <a:pt x="1886048" y="330820"/>
                    <a:pt x="2242887" y="334537"/>
                  </a:cubicBezTo>
                  <a:cubicBezTo>
                    <a:pt x="2228259" y="1139118"/>
                    <a:pt x="2434942" y="933416"/>
                    <a:pt x="1997560" y="914400"/>
                  </a:cubicBezTo>
                  <a:cubicBezTo>
                    <a:pt x="1987056" y="913943"/>
                    <a:pt x="1982692" y="929269"/>
                    <a:pt x="1975258" y="936703"/>
                  </a:cubicBezTo>
                  <a:cubicBezTo>
                    <a:pt x="1971541" y="1107688"/>
                    <a:pt x="2052099" y="1303006"/>
                    <a:pt x="1964107" y="1449659"/>
                  </a:cubicBezTo>
                  <a:cubicBezTo>
                    <a:pt x="1914347" y="1532592"/>
                    <a:pt x="1710542" y="1528126"/>
                    <a:pt x="1674175" y="1438508"/>
                  </a:cubicBezTo>
                  <a:cubicBezTo>
                    <a:pt x="1287360" y="485286"/>
                    <a:pt x="1986401" y="798295"/>
                    <a:pt x="1462302" y="613317"/>
                  </a:cubicBezTo>
                  <a:cubicBezTo>
                    <a:pt x="1235561" y="620751"/>
                    <a:pt x="994777" y="556715"/>
                    <a:pt x="782078" y="635620"/>
                  </a:cubicBezTo>
                  <a:cubicBezTo>
                    <a:pt x="708810" y="662800"/>
                    <a:pt x="797632" y="796353"/>
                    <a:pt x="770926" y="869795"/>
                  </a:cubicBezTo>
                  <a:cubicBezTo>
                    <a:pt x="761944" y="894496"/>
                    <a:pt x="718887" y="877230"/>
                    <a:pt x="692868" y="880947"/>
                  </a:cubicBezTo>
                  <a:cubicBezTo>
                    <a:pt x="681717" y="884664"/>
                    <a:pt x="670420" y="887971"/>
                    <a:pt x="659414" y="892098"/>
                  </a:cubicBezTo>
                  <a:cubicBezTo>
                    <a:pt x="430734" y="977851"/>
                    <a:pt x="604950" y="946689"/>
                    <a:pt x="625960" y="1471961"/>
                  </a:cubicBezTo>
                  <a:cubicBezTo>
                    <a:pt x="707736" y="1468244"/>
                    <a:pt x="810834" y="1516006"/>
                    <a:pt x="871287" y="1460810"/>
                  </a:cubicBezTo>
                  <a:cubicBezTo>
                    <a:pt x="926256" y="1410621"/>
                    <a:pt x="818976" y="1276682"/>
                    <a:pt x="882439" y="1237786"/>
                  </a:cubicBezTo>
                  <a:cubicBezTo>
                    <a:pt x="977567" y="1179482"/>
                    <a:pt x="1105463" y="1245220"/>
                    <a:pt x="1216975" y="1248937"/>
                  </a:cubicBezTo>
                  <a:cubicBezTo>
                    <a:pt x="1220692" y="1501698"/>
                    <a:pt x="1165956" y="1762196"/>
                    <a:pt x="1228126" y="2007220"/>
                  </a:cubicBezTo>
                  <a:cubicBezTo>
                    <a:pt x="1242781" y="2064979"/>
                    <a:pt x="1381575" y="2050173"/>
                    <a:pt x="1406546" y="1996068"/>
                  </a:cubicBezTo>
                  <a:cubicBezTo>
                    <a:pt x="1465819" y="1867642"/>
                    <a:pt x="1421414" y="1713571"/>
                    <a:pt x="1428848" y="1572322"/>
                  </a:cubicBezTo>
                  <a:cubicBezTo>
                    <a:pt x="1458585" y="1579756"/>
                    <a:pt x="1489449" y="1583622"/>
                    <a:pt x="1518058" y="1594625"/>
                  </a:cubicBezTo>
                  <a:cubicBezTo>
                    <a:pt x="1655933" y="1647654"/>
                    <a:pt x="1465602" y="1622549"/>
                    <a:pt x="1685326" y="1661532"/>
                  </a:cubicBezTo>
                  <a:cubicBezTo>
                    <a:pt x="1877881" y="1695695"/>
                    <a:pt x="2071902" y="1721005"/>
                    <a:pt x="2265190" y="1750742"/>
                  </a:cubicBezTo>
                  <a:cubicBezTo>
                    <a:pt x="2276974" y="2304579"/>
                    <a:pt x="2101599" y="2274849"/>
                    <a:pt x="2365551" y="2274849"/>
                  </a:cubicBezTo>
                </a:path>
              </a:pathLst>
            </a:cu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855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585216"/>
            <a:ext cx="78867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Local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310240" y="1632202"/>
                <a:ext cx="3300359" cy="3593612"/>
              </a:xfrm>
            </p:spPr>
            <p:txBody>
              <a:bodyPr wrap="square" anchor="ctr">
                <a:spAutoFit/>
              </a:bodyPr>
              <a:lstStyle/>
              <a:p>
                <a:r>
                  <a:rPr lang="en-US" sz="1600" dirty="0"/>
                  <a:t>Assume we know the utility of each possible state given by a utility function</a:t>
                </a:r>
                <a:br>
                  <a:rPr lang="en-US" sz="1600" dirty="0"/>
                </a:br>
                <a:r>
                  <a:rPr lang="en-US" sz="1600" dirty="0"/>
                  <a:t>	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We use a factored state description. Here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How can we identify the best or at least a “good” state?</a:t>
                </a:r>
              </a:p>
              <a:p>
                <a:r>
                  <a:rPr lang="en-US" sz="1600" dirty="0"/>
                  <a:t>This is the </a:t>
                </a:r>
                <a:r>
                  <a:rPr lang="en-US" sz="1600" b="1" dirty="0">
                    <a:solidFill>
                      <a:srgbClr val="FF0000"/>
                    </a:solidFill>
                  </a:rPr>
                  <a:t>optimization problem</a:t>
                </a:r>
                <a:r>
                  <a:rPr lang="en-US" sz="1600" dirty="0"/>
                  <a:t>:</a:t>
                </a:r>
                <a:br>
                  <a:rPr lang="en-US" sz="16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b="0" i="0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b="0" i="0" dirty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sz="1600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1600" dirty="0"/>
              </a:p>
              <a:p>
                <a:r>
                  <a:rPr lang="en-US" sz="1600" dirty="0"/>
                  <a:t>We need a fast and memory-efficient way to find the best/a good state. </a:t>
                </a:r>
              </a:p>
            </p:txBody>
          </p:sp>
        </mc:Choice>
        <mc:Fallback xmlns="">
          <p:sp>
            <p:nvSpPr>
              <p:cNvPr id="327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10240" y="1632202"/>
                <a:ext cx="3300359" cy="3593612"/>
              </a:xfrm>
              <a:blipFill>
                <a:blip r:embed="rId3"/>
                <a:stretch>
                  <a:fillRect l="-739" t="-679" r="-1109" b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99CF4E5-24B2-9CFC-57FF-E53DF950DE65}"/>
              </a:ext>
            </a:extLst>
          </p:cNvPr>
          <p:cNvGrpSpPr/>
          <p:nvPr/>
        </p:nvGrpSpPr>
        <p:grpSpPr>
          <a:xfrm>
            <a:off x="662320" y="1873561"/>
            <a:ext cx="4647921" cy="3733800"/>
            <a:chOff x="-1485947" y="1197356"/>
            <a:chExt cx="4654277" cy="4589946"/>
          </a:xfrm>
        </p:grpSpPr>
        <p:pic>
          <p:nvPicPr>
            <p:cNvPr id="6" name="Picture 2" descr="See the source image">
              <a:extLst>
                <a:ext uri="{FF2B5EF4-FFF2-40B4-BE49-F238E27FC236}">
                  <a16:creationId xmlns:a16="http://schemas.microsoft.com/office/drawing/2014/main" id="{45158B9A-1AF9-688F-763D-7197AF7A68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9" t="4954" r="14354"/>
            <a:stretch/>
          </p:blipFill>
          <p:spPr bwMode="auto">
            <a:xfrm>
              <a:off x="-1403670" y="1197356"/>
              <a:ext cx="4572000" cy="4589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314FFF-1AF8-B048-7867-79F21B32B55F}"/>
                </a:ext>
              </a:extLst>
            </p:cNvPr>
            <p:cNvSpPr txBox="1"/>
            <p:nvPr/>
          </p:nvSpPr>
          <p:spPr>
            <a:xfrm rot="4719605">
              <a:off x="-1775931" y="3154296"/>
              <a:ext cx="94929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Utility U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C01B686-C47F-A618-9B9B-A282DB50105C}"/>
                </a:ext>
              </a:extLst>
            </p:cNvPr>
            <p:cNvSpPr txBox="1"/>
            <p:nvPr/>
          </p:nvSpPr>
          <p:spPr>
            <a:xfrm rot="2217323">
              <a:off x="-459166" y="4926695"/>
              <a:ext cx="49564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x   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4ED089-8D90-446C-ABF8-7C64129DF8C1}"/>
                </a:ext>
              </a:extLst>
            </p:cNvPr>
            <p:cNvSpPr txBox="1"/>
            <p:nvPr/>
          </p:nvSpPr>
          <p:spPr>
            <a:xfrm rot="18588051">
              <a:off x="2200446" y="4683168"/>
              <a:ext cx="50045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y    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2D02142-27B2-D6E9-464E-98DCD68ECAFA}"/>
              </a:ext>
            </a:extLst>
          </p:cNvPr>
          <p:cNvGrpSpPr/>
          <p:nvPr/>
        </p:nvGrpSpPr>
        <p:grpSpPr>
          <a:xfrm>
            <a:off x="2411531" y="1658237"/>
            <a:ext cx="2454015" cy="1693681"/>
            <a:chOff x="2411531" y="1658237"/>
            <a:chExt cx="2454015" cy="169368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7501778-D679-4E0A-ABBC-F017700FBCAC}"/>
                </a:ext>
              </a:extLst>
            </p:cNvPr>
            <p:cNvSpPr txBox="1"/>
            <p:nvPr/>
          </p:nvSpPr>
          <p:spPr>
            <a:xfrm>
              <a:off x="2470341" y="2982586"/>
              <a:ext cx="290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E8E37F-36B6-4D65-9532-DC425BBBFF77}"/>
                </a:ext>
              </a:extLst>
            </p:cNvPr>
            <p:cNvSpPr txBox="1"/>
            <p:nvPr/>
          </p:nvSpPr>
          <p:spPr>
            <a:xfrm>
              <a:off x="2411531" y="2663194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2B01B5C-61A4-46D2-8695-89D19C2718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6763" y="2910482"/>
              <a:ext cx="34037" cy="2137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Speech Bubble: Rectangle 14">
              <a:extLst>
                <a:ext uri="{FF2B5EF4-FFF2-40B4-BE49-F238E27FC236}">
                  <a16:creationId xmlns:a16="http://schemas.microsoft.com/office/drawing/2014/main" id="{3906414B-792D-41EB-872C-668D777CF406}"/>
                </a:ext>
              </a:extLst>
            </p:cNvPr>
            <p:cNvSpPr/>
            <p:nvPr/>
          </p:nvSpPr>
          <p:spPr>
            <a:xfrm>
              <a:off x="3278833" y="1658237"/>
              <a:ext cx="1586713" cy="614798"/>
            </a:xfrm>
            <a:prstGeom prst="wedgeRectCallout">
              <a:avLst>
                <a:gd name="adj1" fmla="val -90977"/>
                <a:gd name="adj2" fmla="val 17038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Local improvement  move from state to state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6155767-D297-46D4-A366-7490BECA936C}"/>
              </a:ext>
            </a:extLst>
          </p:cNvPr>
          <p:cNvSpPr txBox="1"/>
          <p:nvPr/>
        </p:nvSpPr>
        <p:spPr>
          <a:xfrm>
            <a:off x="666296" y="5361076"/>
            <a:ext cx="79482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Idea</a:t>
            </a:r>
            <a:r>
              <a:rPr lang="en-US" sz="2000" dirty="0"/>
              <a:t>: </a:t>
            </a:r>
          </a:p>
          <a:p>
            <a:pPr lvl="1"/>
            <a:r>
              <a:rPr lang="en-US" sz="1600" dirty="0"/>
              <a:t>Start with a current solution (a state) and improve the solution by moving from the current state to a “neighboring” better state (a.k.a. performing a series of </a:t>
            </a:r>
            <a:r>
              <a:rPr lang="en-US" sz="1600" b="1" dirty="0">
                <a:solidFill>
                  <a:srgbClr val="FF0000"/>
                </a:solidFill>
              </a:rPr>
              <a:t>local moves</a:t>
            </a:r>
            <a:r>
              <a:rPr lang="en-US" sz="1600" dirty="0"/>
              <a:t>).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EC2D1C-4A09-CF4B-4ED0-684DF23E6ECC}"/>
              </a:ext>
            </a:extLst>
          </p:cNvPr>
          <p:cNvCxnSpPr/>
          <p:nvPr/>
        </p:nvCxnSpPr>
        <p:spPr>
          <a:xfrm flipH="1">
            <a:off x="2512166" y="1918123"/>
            <a:ext cx="204042" cy="362256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uiExpand="1" build="p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585216"/>
            <a:ext cx="78867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Main Differences to Tree Search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9C35D-6D24-460D-B6A3-69851B102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270376"/>
          </a:xfrm>
        </p:spPr>
        <p:txBody>
          <a:bodyPr>
            <a:normAutofit/>
          </a:bodyPr>
          <a:lstStyle/>
          <a:p>
            <a:pPr marL="800100" lvl="1" indent="-457200">
              <a:buFont typeface="+mj-lt"/>
              <a:buAutoNum type="alphaLcParenR"/>
            </a:pPr>
            <a:r>
              <a:rPr lang="en-US" sz="2200" b="1" dirty="0">
                <a:solidFill>
                  <a:srgbClr val="FF0000"/>
                </a:solidFill>
              </a:rPr>
              <a:t>The goal states are unknown, </a:t>
            </a:r>
            <a:r>
              <a:rPr lang="en-US" sz="2200" dirty="0"/>
              <a:t>but we know or can calculate the utility for each state. We want to identify a high-utility state.</a:t>
            </a:r>
            <a:endParaRPr lang="en-US" sz="2200" b="1" dirty="0">
              <a:solidFill>
                <a:srgbClr val="FF0000"/>
              </a:solidFill>
            </a:endParaRPr>
          </a:p>
          <a:p>
            <a:pPr marL="800100" lvl="1" indent="-457200">
              <a:buFont typeface="+mj-lt"/>
              <a:buAutoNum type="alphaLcParenR"/>
            </a:pPr>
            <a:endParaRPr lang="en-US" sz="2200" dirty="0"/>
          </a:p>
          <a:p>
            <a:pPr marL="800100" lvl="1" indent="-457200">
              <a:buFont typeface="+mj-lt"/>
              <a:buAutoNum type="alphaLcParenR"/>
            </a:pPr>
            <a:r>
              <a:rPr lang="en-US" sz="2200" dirty="0"/>
              <a:t>Often, no explicit initial state is given, and the </a:t>
            </a:r>
            <a:r>
              <a:rPr lang="en-US" sz="2200" b="1" dirty="0">
                <a:solidFill>
                  <a:srgbClr val="FF0000"/>
                </a:solidFill>
              </a:rPr>
              <a:t>path to the goal and the path cost are not important.</a:t>
            </a:r>
          </a:p>
          <a:p>
            <a:pPr marL="800100" lvl="1" indent="-457200">
              <a:buFont typeface="+mj-lt"/>
              <a:buAutoNum type="alphaLcParenR"/>
            </a:pPr>
            <a:endParaRPr lang="en-US" sz="2200" b="1" dirty="0">
              <a:solidFill>
                <a:srgbClr val="FF0000"/>
              </a:solidFill>
            </a:endParaRPr>
          </a:p>
          <a:p>
            <a:pPr marL="800100" lvl="1" indent="-457200">
              <a:buFont typeface="+mj-lt"/>
              <a:buAutoNum type="alphaLcParenR"/>
            </a:pPr>
            <a:r>
              <a:rPr lang="en-US" sz="2200" b="1" dirty="0">
                <a:solidFill>
                  <a:srgbClr val="FF0000"/>
                </a:solidFill>
              </a:rPr>
              <a:t>No search tree</a:t>
            </a:r>
            <a:r>
              <a:rPr lang="en-US" sz="2200" dirty="0"/>
              <a:t>. Just stores the current state and moves to a “better” state if possible. Needs little memory and only requires very simple code.</a:t>
            </a:r>
          </a:p>
        </p:txBody>
      </p:sp>
    </p:spTree>
    <p:extLst>
      <p:ext uri="{BB962C8B-B14F-4D97-AF65-F5344CB8AC3E}">
        <p14:creationId xmlns:p14="http://schemas.microsoft.com/office/powerpoint/2010/main" val="2412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AA75-7DA7-E3CF-A797-4D2D8BFA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50B679B-D76E-B5D2-CAEA-60C0DB355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5216"/>
            <a:ext cx="78867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Use of Local Search in AI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E8E6C51-5EA4-E53F-3F2C-32C0DDD777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27037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endParaRPr lang="en-US" sz="2300" b="1" dirty="0"/>
              </a:p>
              <a:p>
                <a:r>
                  <a:rPr lang="en-US" sz="2300" b="1" dirty="0"/>
                  <a:t>Goal-based agent</a:t>
                </a:r>
                <a:r>
                  <a:rPr lang="en-US" sz="2300" dirty="0"/>
                  <a:t>: Identify a good goal state with a good utility before planning a path to that state using a planning agent.</a:t>
                </a:r>
                <a:endParaRPr lang="en-US" sz="2300" b="1" dirty="0"/>
              </a:p>
              <a:p>
                <a:endParaRPr lang="en-US" sz="2300" b="1" dirty="0"/>
              </a:p>
              <a:p>
                <a:r>
                  <a:rPr lang="en-US" sz="2300" b="1" dirty="0"/>
                  <a:t>Utility-based agent</a:t>
                </a:r>
                <a:r>
                  <a:rPr lang="en-US" sz="2300" dirty="0"/>
                  <a:t>: Always move to a neighboring state with higher utility. A simple greedy method used for </a:t>
                </a:r>
              </a:p>
              <a:p>
                <a:pPr lvl="1"/>
                <a:r>
                  <a:rPr lang="en-US" sz="1900" dirty="0"/>
                  <a:t>complicated/large state spaces or </a:t>
                </a:r>
              </a:p>
              <a:p>
                <a:pPr lvl="1"/>
                <a:r>
                  <a:rPr lang="en-US" sz="1900" dirty="0"/>
                  <a:t>online search.</a:t>
                </a:r>
              </a:p>
              <a:p>
                <a:endParaRPr lang="en-US" sz="2300" b="1" dirty="0"/>
              </a:p>
              <a:p>
                <a:r>
                  <a:rPr lang="en-US" sz="2300" b="1" dirty="0"/>
                  <a:t>General optimization</a:t>
                </a:r>
                <a:r>
                  <a:rPr lang="en-US" sz="2300" dirty="0"/>
                  <a:t>: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 can be replaced by a general objective function. Local search is an effective heuristic to find good solutions</a:t>
                </a:r>
                <a:r>
                  <a:rPr lang="en-US" sz="2300" b="1" dirty="0"/>
                  <a:t> </a:t>
                </a:r>
                <a:r>
                  <a:rPr lang="en-US" sz="2300" dirty="0"/>
                  <a:t>in complicated search spaces. </a:t>
                </a:r>
                <a:br>
                  <a:rPr lang="en-US" sz="2300" dirty="0"/>
                </a:br>
                <a:r>
                  <a:rPr lang="en-US" sz="2300" dirty="0"/>
                  <a:t>E.g., stochastic gradient descent to train neural networks (minimize the prediction error)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E8E6C51-5EA4-E53F-3F2C-32C0DDD777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270376"/>
              </a:xfrm>
              <a:blipFill>
                <a:blip r:embed="rId3"/>
                <a:stretch>
                  <a:fillRect l="-773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803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A Local Search Problem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5467350" cy="4351338"/>
          </a:xfrm>
        </p:spPr>
        <p:txBody>
          <a:bodyPr>
            <a:normAutofit/>
          </a:bodyPr>
          <a:lstStyle/>
          <a:p>
            <a:endParaRPr lang="en-US" sz="1800" b="1" dirty="0"/>
          </a:p>
          <a:p>
            <a:r>
              <a:rPr lang="en-US" sz="1800" b="1" dirty="0"/>
              <a:t>State space: </a:t>
            </a:r>
            <a:r>
              <a:rPr lang="en-US" sz="1800" dirty="0"/>
              <a:t>How large is the state space?</a:t>
            </a:r>
          </a:p>
          <a:p>
            <a:r>
              <a:rPr lang="en-US" sz="1800" b="1" dirty="0"/>
              <a:t>State representation:</a:t>
            </a:r>
            <a:r>
              <a:rPr lang="en-US" sz="1800" dirty="0"/>
              <a:t> How do we define a factored state representation?</a:t>
            </a:r>
          </a:p>
          <a:p>
            <a:r>
              <a:rPr lang="en-US" sz="1800" b="1" dirty="0"/>
              <a:t>Objective function</a:t>
            </a:r>
            <a:r>
              <a:rPr lang="en-US" sz="1800" dirty="0"/>
              <a:t>: What is a possible utility function given the state representation?</a:t>
            </a:r>
          </a:p>
          <a:p>
            <a:r>
              <a:rPr lang="en-US" sz="1800" b="1" dirty="0"/>
              <a:t>Local neighborhood: </a:t>
            </a:r>
            <a:r>
              <a:rPr lang="en-US" sz="1800" dirty="0"/>
              <a:t>What states are close to each other?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7FFDB44-ACD0-F097-6550-0580E2B98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4909" y="4100511"/>
            <a:ext cx="1392106" cy="409926"/>
          </a:xfrm>
          <a:prstGeom prst="wedgeRectCallout">
            <a:avLst>
              <a:gd name="adj1" fmla="val -124629"/>
              <a:gd name="adj2" fmla="val -6916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Replaces the transition function.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67449F75-E0AA-F8C2-E189-8CD60D3CA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2895600"/>
            <a:ext cx="1032594" cy="409926"/>
          </a:xfrm>
          <a:prstGeom prst="wedgeRectCallout">
            <a:avLst>
              <a:gd name="adj1" fmla="val -127442"/>
              <a:gd name="adj2" fmla="val 59268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Replaces the goal state</a:t>
            </a:r>
          </a:p>
        </p:txBody>
      </p:sp>
    </p:spTree>
    <p:extLst>
      <p:ext uri="{BB962C8B-B14F-4D97-AF65-F5344CB8AC3E}">
        <p14:creationId xmlns:p14="http://schemas.microsoft.com/office/powerpoint/2010/main" val="905770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308F1441-649C-6E20-719E-5F5C1B03C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85800" y="1143000"/>
            <a:ext cx="2269997" cy="2376255"/>
          </a:xfrm>
          <a:prstGeom prst="rect">
            <a:avLst/>
          </a:prstGeom>
          <a:noFill/>
          <a:effectLst/>
        </p:spPr>
      </p:pic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526463" y="497371"/>
            <a:ext cx="4817137" cy="874229"/>
          </a:xfrm>
        </p:spPr>
        <p:txBody>
          <a:bodyPr>
            <a:normAutofit/>
          </a:bodyPr>
          <a:lstStyle/>
          <a:p>
            <a:r>
              <a:rPr lang="en-US" sz="3200" dirty="0"/>
              <a:t>Example: </a:t>
            </a:r>
            <a:r>
              <a:rPr lang="en-US" sz="3200" i="1" dirty="0"/>
              <a:t>n</a:t>
            </a:r>
            <a:r>
              <a:rPr lang="en-US" sz="3200" dirty="0"/>
              <a:t>-Queens Problem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9697228-0278-4139-8392-1B67742A9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423" y="181426"/>
            <a:ext cx="2811340" cy="263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79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538009" y="1371601"/>
                <a:ext cx="5142695" cy="4720884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Place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queens on 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chess board so no two queens are in the same row, column or diagonal.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Defining the search problem: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State space: </a:t>
                </a:r>
                <a:r>
                  <a:rPr lang="en-US" sz="2000" dirty="0"/>
                  <a:t>All possible </a:t>
                </a:r>
                <a:r>
                  <a:rPr lang="en-US" sz="2000" i="1" dirty="0"/>
                  <a:t>n</a:t>
                </a:r>
                <a:r>
                  <a:rPr lang="en-US" sz="2000" dirty="0"/>
                  <a:t>-queen configurations. How many are there?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4-queens problem: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=1820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State representation:</a:t>
                </a:r>
                <a:r>
                  <a:rPr lang="en-US" sz="2000" dirty="0"/>
                  <a:t> How do we define a factored representation?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E.g.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3, 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4, 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Objective function</a:t>
                </a:r>
                <a:r>
                  <a:rPr lang="en-US" sz="2000" dirty="0"/>
                  <a:t>: What is a possible utility function given the state representation?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Maximizing utility means minimize the number of pairwise conflicts based on the state representation.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Local neighborhood: </a:t>
                </a:r>
                <a:r>
                  <a:rPr lang="en-US" sz="2000" dirty="0"/>
                  <a:t>What states are close to each other?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Move a single queen.</a:t>
                </a:r>
              </a:p>
            </p:txBody>
          </p:sp>
        </mc:Choice>
        <mc:Fallback xmlns="">
          <p:sp>
            <p:nvSpPr>
              <p:cNvPr id="337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38009" y="1371601"/>
                <a:ext cx="5142695" cy="4720884"/>
              </a:xfrm>
              <a:blipFill>
                <a:blip r:embed="rId5"/>
                <a:stretch>
                  <a:fillRect l="-711" t="-1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 cstate="print"/>
          <a:stretch>
            <a:fillRect/>
          </a:stretch>
        </p:blipFill>
        <p:spPr bwMode="auto">
          <a:xfrm>
            <a:off x="685800" y="3716228"/>
            <a:ext cx="2269998" cy="2376256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C8693F-28D7-4E3C-BAC7-6D55CB84B445}"/>
              </a:ext>
            </a:extLst>
          </p:cNvPr>
          <p:cNvSpPr txBox="1"/>
          <p:nvPr/>
        </p:nvSpPr>
        <p:spPr>
          <a:xfrm>
            <a:off x="685800" y="5976405"/>
            <a:ext cx="2351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0 conflicts = utility of 0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88484E4-B438-06A2-DB3F-CFD46878401B}"/>
              </a:ext>
            </a:extLst>
          </p:cNvPr>
          <p:cNvGrpSpPr/>
          <p:nvPr/>
        </p:nvGrpSpPr>
        <p:grpSpPr>
          <a:xfrm>
            <a:off x="650748" y="735024"/>
            <a:ext cx="2421689" cy="2250882"/>
            <a:chOff x="650748" y="735024"/>
            <a:chExt cx="2421689" cy="225088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C8B8165-DAFB-4507-9B7D-87FA081E5FC3}"/>
                </a:ext>
              </a:extLst>
            </p:cNvPr>
            <p:cNvSpPr/>
            <p:nvPr/>
          </p:nvSpPr>
          <p:spPr>
            <a:xfrm>
              <a:off x="1225296" y="1143000"/>
              <a:ext cx="685800" cy="130818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D235F5F-13B2-44AF-A581-4EF2FE686016}"/>
                </a:ext>
              </a:extLst>
            </p:cNvPr>
            <p:cNvSpPr/>
            <p:nvPr/>
          </p:nvSpPr>
          <p:spPr>
            <a:xfrm rot="2455604">
              <a:off x="956827" y="1677722"/>
              <a:ext cx="685800" cy="130818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A290F7D-C942-4D81-A391-6F834D948001}"/>
                </a:ext>
              </a:extLst>
            </p:cNvPr>
            <p:cNvSpPr txBox="1"/>
            <p:nvPr/>
          </p:nvSpPr>
          <p:spPr>
            <a:xfrm>
              <a:off x="650748" y="735024"/>
              <a:ext cx="2421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2 conflicts = utility of -2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CCC4DA4-30AF-ED7C-7EC6-FA93CDD51093}"/>
              </a:ext>
            </a:extLst>
          </p:cNvPr>
          <p:cNvSpPr txBox="1"/>
          <p:nvPr/>
        </p:nvSpPr>
        <p:spPr>
          <a:xfrm>
            <a:off x="685800" y="338422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a       b       c         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49C6A7-FE9F-51C6-CD63-E431B84DDC65}"/>
              </a:ext>
            </a:extLst>
          </p:cNvPr>
          <p:cNvSpPr txBox="1"/>
          <p:nvPr/>
        </p:nvSpPr>
        <p:spPr>
          <a:xfrm>
            <a:off x="463296" y="1284315"/>
            <a:ext cx="3749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  <a:p>
            <a:endParaRPr lang="en-US" dirty="0"/>
          </a:p>
          <a:p>
            <a:r>
              <a:rPr lang="en-US" dirty="0"/>
              <a:t>3</a:t>
            </a:r>
          </a:p>
          <a:p>
            <a:endParaRPr lang="en-US" dirty="0"/>
          </a:p>
          <a:p>
            <a:r>
              <a:rPr lang="en-US" dirty="0"/>
              <a:t>2</a:t>
            </a:r>
          </a:p>
          <a:p>
            <a:endParaRPr lang="en-US" dirty="0"/>
          </a:p>
          <a:p>
            <a:r>
              <a:rPr lang="en-US" dirty="0"/>
              <a:t>1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BC18288-0D79-0115-5A00-BB37B8D10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00713" y="6156453"/>
            <a:ext cx="3546129" cy="513448"/>
          </a:xfrm>
          <a:prstGeom prst="wedgeRectCallout">
            <a:avLst>
              <a:gd name="adj1" fmla="val -74359"/>
              <a:gd name="adj2" fmla="val -4500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Has its optimum at the goal state. Similar to a heuristic in A* search. No need to be admissible.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4806B4-EB61-B5BD-F81E-267AE6945DBA}"/>
              </a:ext>
            </a:extLst>
          </p:cNvPr>
          <p:cNvGrpSpPr/>
          <p:nvPr/>
        </p:nvGrpSpPr>
        <p:grpSpPr>
          <a:xfrm>
            <a:off x="1752600" y="2057400"/>
            <a:ext cx="797270" cy="651835"/>
            <a:chOff x="1752600" y="2057400"/>
            <a:chExt cx="797270" cy="651835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1A8CA6-DA86-AF53-E131-A3F3BA3F4212}"/>
                </a:ext>
              </a:extLst>
            </p:cNvPr>
            <p:cNvCxnSpPr/>
            <p:nvPr/>
          </p:nvCxnSpPr>
          <p:spPr>
            <a:xfrm>
              <a:off x="1752600" y="2057400"/>
              <a:ext cx="76200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0FA5FA-20E4-6B31-2B71-C70A535C30D4}"/>
                </a:ext>
              </a:extLst>
            </p:cNvPr>
            <p:cNvSpPr txBox="1"/>
            <p:nvPr/>
          </p:nvSpPr>
          <p:spPr>
            <a:xfrm>
              <a:off x="1826339" y="2062904"/>
              <a:ext cx="7235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Local </a:t>
              </a:r>
              <a:br>
                <a:rPr lang="en-US" b="1" dirty="0">
                  <a:solidFill>
                    <a:srgbClr val="FF0000"/>
                  </a:solidFill>
                </a:rPr>
              </a:br>
              <a:r>
                <a:rPr lang="en-US" b="1" dirty="0">
                  <a:solidFill>
                    <a:srgbClr val="FF0000"/>
                  </a:solidFill>
                </a:rPr>
                <a:t>move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885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23424" r="4595"/>
          <a:stretch/>
        </p:blipFill>
        <p:spPr bwMode="auto">
          <a:xfrm>
            <a:off x="20" y="10"/>
            <a:ext cx="9141694" cy="6857990"/>
          </a:xfrm>
          <a:prstGeom prst="rect">
            <a:avLst/>
          </a:prstGeom>
          <a:noFill/>
        </p:spPr>
      </p:pic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5E8D2E83-FB3A-40E7-A9E5-7AB389D61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23809"/>
            <a:ext cx="8262707" cy="2262375"/>
          </a:xfrm>
          <a:custGeom>
            <a:avLst/>
            <a:gdLst>
              <a:gd name="connsiteX0" fmla="*/ 0 w 11016943"/>
              <a:gd name="connsiteY0" fmla="*/ 0 h 2262375"/>
              <a:gd name="connsiteX1" fmla="*/ 9969166 w 11016943"/>
              <a:gd name="connsiteY1" fmla="*/ 0 h 2262375"/>
              <a:gd name="connsiteX2" fmla="*/ 11016943 w 11016943"/>
              <a:gd name="connsiteY2" fmla="*/ 2262375 h 2262375"/>
              <a:gd name="connsiteX3" fmla="*/ 4942050 w 11016943"/>
              <a:gd name="connsiteY3" fmla="*/ 2262375 h 2262375"/>
              <a:gd name="connsiteX4" fmla="*/ 4582160 w 11016943"/>
              <a:gd name="connsiteY4" fmla="*/ 2262375 h 2262375"/>
              <a:gd name="connsiteX5" fmla="*/ 0 w 11016943"/>
              <a:gd name="connsiteY5" fmla="*/ 2262375 h 226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6943" h="2262375">
                <a:moveTo>
                  <a:pt x="0" y="0"/>
                </a:moveTo>
                <a:lnTo>
                  <a:pt x="9969166" y="0"/>
                </a:lnTo>
                <a:lnTo>
                  <a:pt x="11016943" y="2262375"/>
                </a:lnTo>
                <a:lnTo>
                  <a:pt x="4942050" y="2262375"/>
                </a:lnTo>
                <a:lnTo>
                  <a:pt x="4582160" y="2262375"/>
                </a:lnTo>
                <a:lnTo>
                  <a:pt x="0" y="2262375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547" y="4114800"/>
            <a:ext cx="6949328" cy="622836"/>
          </a:xfrm>
        </p:spPr>
        <p:txBody>
          <a:bodyPr>
            <a:normAutofit/>
          </a:bodyPr>
          <a:lstStyle/>
          <a:p>
            <a:r>
              <a:rPr lang="en-US" sz="3100" dirty="0"/>
              <a:t>Example: Traveling salesman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547" y="4648200"/>
            <a:ext cx="7173771" cy="163798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/>
              <a:t>Find the shortest tour connecting a given set of cities</a:t>
            </a:r>
          </a:p>
          <a:p>
            <a:r>
              <a:rPr lang="en-US" sz="1600" b="1" dirty="0"/>
              <a:t>State space: </a:t>
            </a:r>
            <a:r>
              <a:rPr lang="en-US" sz="1600" dirty="0"/>
              <a:t>all possible tours (states are not individual cities!)</a:t>
            </a:r>
          </a:p>
          <a:p>
            <a:r>
              <a:rPr lang="en-US" sz="1600" b="1" dirty="0"/>
              <a:t>State representation: </a:t>
            </a:r>
            <a:r>
              <a:rPr lang="en-US" sz="1600" dirty="0"/>
              <a:t>Order of cities in the tour.</a:t>
            </a:r>
          </a:p>
          <a:p>
            <a:r>
              <a:rPr lang="en-US" sz="1600" b="1" dirty="0"/>
              <a:t>Objective function: </a:t>
            </a:r>
            <a:r>
              <a:rPr lang="en-US" sz="1600" dirty="0"/>
              <a:t>minimize the length of the tour.</a:t>
            </a:r>
          </a:p>
          <a:p>
            <a:r>
              <a:rPr lang="en-US" sz="1600" b="1" dirty="0"/>
              <a:t>Local neighborhood: </a:t>
            </a:r>
            <a:r>
              <a:rPr lang="en-US" sz="1600" dirty="0"/>
              <a:t>Change the order of visiting a few cities.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Note: </a:t>
            </a:r>
            <a:r>
              <a:rPr lang="en-US" sz="1600" dirty="0"/>
              <a:t>We have solved a </a:t>
            </a:r>
            <a:r>
              <a:rPr lang="en-US" sz="1600" b="1" dirty="0"/>
              <a:t>different</a:t>
            </a:r>
            <a:r>
              <a:rPr lang="en-US" sz="1600" dirty="0"/>
              <a:t> problem with uninformed/informed search! Each city was defined as a state and the path was the solution.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 Dirt Bike Can Master This Impossible Hill Climb - The Drive">
            <a:extLst>
              <a:ext uri="{FF2B5EF4-FFF2-40B4-BE49-F238E27FC236}">
                <a16:creationId xmlns:a16="http://schemas.microsoft.com/office/drawing/2014/main" id="{A000EF0C-FEDF-49DF-9D73-9DF027F780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11" t="9091" r="13607"/>
          <a:stretch/>
        </p:blipFill>
        <p:spPr bwMode="auto">
          <a:xfrm>
            <a:off x="20" y="10"/>
            <a:ext cx="9143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3414" y="4114800"/>
            <a:ext cx="6021186" cy="1364728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400" b="1" dirty="0"/>
              <a:t>Hill-Climbing Search </a:t>
            </a:r>
            <a:br>
              <a:rPr lang="en-US" sz="4400" b="1" dirty="0"/>
            </a:br>
            <a:r>
              <a:rPr lang="en-US" sz="4400" b="1" dirty="0"/>
              <a:t>aka Greedy Local Search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414" y="5479529"/>
            <a:ext cx="6021186" cy="738392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sz="2000" b="1" dirty="0">
                <a:solidFill>
                  <a:schemeClr val="tx1"/>
                </a:solidFill>
              </a:rPr>
              <a:t>Idea: </a:t>
            </a:r>
            <a:r>
              <a:rPr lang="en-US" sz="2000" dirty="0">
                <a:solidFill>
                  <a:schemeClr val="tx1"/>
                </a:solidFill>
              </a:rPr>
              <a:t>keep a single “current” state and try to find better neighboring states.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F76187-6CA9-465D-A688-29571588EDDA}"/>
              </a:ext>
            </a:extLst>
          </p:cNvPr>
          <p:cNvSpPr txBox="1"/>
          <p:nvPr/>
        </p:nvSpPr>
        <p:spPr>
          <a:xfrm>
            <a:off x="6172200" y="6376737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MotorCycleUSA.com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Black Chess Queen Clip Art at Clker.com - vector clip art online, royalty  free &amp; public domain">
            <a:extLst>
              <a:ext uri="{FF2B5EF4-FFF2-40B4-BE49-F238E27FC236}">
                <a16:creationId xmlns:a16="http://schemas.microsoft.com/office/drawing/2014/main" id="{D3AB00B5-ED38-4A68-A344-CDD6864F4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423" y="181426"/>
            <a:ext cx="2811340" cy="263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i="1" dirty="0"/>
              <a:t>n</a:t>
            </a:r>
            <a:r>
              <a:rPr lang="en-US" dirty="0"/>
              <a:t>-Queens Problem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00200"/>
            <a:ext cx="7886700" cy="2637973"/>
          </a:xfrm>
        </p:spPr>
        <p:txBody>
          <a:bodyPr>
            <a:normAutofit fontScale="85000" lnSpcReduction="10000"/>
          </a:bodyPr>
          <a:lstStyle/>
          <a:p>
            <a:r>
              <a:rPr lang="en-US" sz="1800" b="1" dirty="0"/>
              <a:t>Goal: </a:t>
            </a:r>
            <a:r>
              <a:rPr lang="en-US" sz="1800" dirty="0"/>
              <a:t>Put </a:t>
            </a:r>
            <a:r>
              <a:rPr lang="en-US" sz="1800" i="1" dirty="0"/>
              <a:t>n</a:t>
            </a:r>
            <a:r>
              <a:rPr lang="en-US" sz="1800" dirty="0"/>
              <a:t> queens on an </a:t>
            </a:r>
            <a:r>
              <a:rPr lang="en-US" sz="1800" i="1" dirty="0"/>
              <a:t>n </a:t>
            </a:r>
            <a:r>
              <a:rPr lang="en-US" sz="1800" i="1" dirty="0">
                <a:cs typeface="Calibri" panose="020F0502020204030204" pitchFamily="34" charset="0"/>
              </a:rPr>
              <a:t>× </a:t>
            </a:r>
            <a:r>
              <a:rPr lang="en-US" sz="1800" i="1" dirty="0"/>
              <a:t>n</a:t>
            </a:r>
            <a:r>
              <a:rPr lang="en-US" sz="1800" dirty="0"/>
              <a:t> board with no two queens on the same row, column, or diagonal.
</a:t>
            </a:r>
            <a:r>
              <a:rPr lang="en-US" sz="1800" b="1" dirty="0"/>
              <a:t>State space: </a:t>
            </a:r>
            <a:r>
              <a:rPr lang="en-US" sz="1800" dirty="0"/>
              <a:t>all possible </a:t>
            </a:r>
            <a:r>
              <a:rPr lang="en-US" sz="1800" i="1" dirty="0"/>
              <a:t>n</a:t>
            </a:r>
            <a:r>
              <a:rPr lang="en-US" sz="1800" dirty="0"/>
              <a:t>-queen configurations. We can restrict the state space: Only one queen per column.</a:t>
            </a:r>
          </a:p>
          <a:p>
            <a:r>
              <a:rPr lang="en-US" sz="1800" b="1" dirty="0"/>
              <a:t>State representation: </a:t>
            </a:r>
            <a:r>
              <a:rPr lang="en-US" sz="1800" dirty="0"/>
              <a:t>row position of each queen in its column (e.g., 2, 3, 2, 3)</a:t>
            </a:r>
          </a:p>
          <a:p>
            <a:r>
              <a:rPr lang="en-US" sz="1800" b="1" dirty="0"/>
              <a:t>Objective function:</a:t>
            </a:r>
            <a:r>
              <a:rPr lang="en-US" sz="1800" dirty="0"/>
              <a:t> minimize the number of pairwise conflicts.</a:t>
            </a:r>
          </a:p>
          <a:p>
            <a:r>
              <a:rPr lang="en-US" sz="1800" b="1" dirty="0"/>
              <a:t>Local neighborhood: </a:t>
            </a:r>
            <a:r>
              <a:rPr lang="en-US" sz="1800" dirty="0"/>
              <a:t>Move one queen anywhere in its column.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Improvement strategy</a:t>
            </a:r>
          </a:p>
          <a:p>
            <a:pPr lvl="1"/>
            <a:r>
              <a:rPr lang="en-US" sz="1800" dirty="0"/>
              <a:t>Find a local neighboring state (move one queen within its column) to reduce conflicts.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Speech Bubble: Rectangle 1">
                <a:extLst>
                  <a:ext uri="{FF2B5EF4-FFF2-40B4-BE49-F238E27FC236}">
                    <a16:creationId xmlns:a16="http://schemas.microsoft.com/office/drawing/2014/main" id="{088CBF87-2968-4B93-A482-C4872646A856}"/>
                  </a:ext>
                </a:extLst>
              </p:cNvPr>
              <p:cNvSpPr/>
              <p:nvPr/>
            </p:nvSpPr>
            <p:spPr>
              <a:xfrm>
                <a:off x="7391400" y="2336800"/>
                <a:ext cx="1600194" cy="1418773"/>
              </a:xfrm>
              <a:prstGeom prst="wedgeRectCallout">
                <a:avLst>
                  <a:gd name="adj1" fmla="val -70195"/>
                  <a:gd name="adj2" fmla="val -61173"/>
                </a:avLst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4-queens problem: State space is reduced from 1820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" name="Speech Bubble: Rectangle 1">
                <a:extLst>
                  <a:ext uri="{FF2B5EF4-FFF2-40B4-BE49-F238E27FC236}">
                    <a16:creationId xmlns:a16="http://schemas.microsoft.com/office/drawing/2014/main" id="{088CBF87-2968-4B93-A482-C4872646A8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2336800"/>
                <a:ext cx="1600194" cy="1418773"/>
              </a:xfrm>
              <a:prstGeom prst="wedgeRectCallout">
                <a:avLst>
                  <a:gd name="adj1" fmla="val -70195"/>
                  <a:gd name="adj2" fmla="val -61173"/>
                </a:avLst>
              </a:prstGeom>
              <a:blipFill>
                <a:blip r:embed="rId4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Three chess boards showing how two local moves lead to the global optimum gotr the 4-queens problem.">
            <a:extLst>
              <a:ext uri="{FF2B5EF4-FFF2-40B4-BE49-F238E27FC236}">
                <a16:creationId xmlns:a16="http://schemas.microsoft.com/office/drawing/2014/main" id="{740CED50-5358-B1A8-739B-377942C3A521}"/>
              </a:ext>
            </a:extLst>
          </p:cNvPr>
          <p:cNvGrpSpPr/>
          <p:nvPr/>
        </p:nvGrpSpPr>
        <p:grpSpPr>
          <a:xfrm>
            <a:off x="338645" y="4191000"/>
            <a:ext cx="8279258" cy="2514600"/>
            <a:chOff x="338645" y="4191000"/>
            <a:chExt cx="8279258" cy="25146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09600" y="4191000"/>
              <a:ext cx="8008303" cy="2514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EBD50DC9-14B1-43FA-9A09-B0020404B22B}"/>
                </a:ext>
              </a:extLst>
            </p:cNvPr>
            <p:cNvCxnSpPr/>
            <p:nvPr/>
          </p:nvCxnSpPr>
          <p:spPr>
            <a:xfrm flipV="1">
              <a:off x="4419600" y="4648200"/>
              <a:ext cx="0" cy="38100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7758A79-43AA-4B6C-9B70-06F6787B8E0D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00" y="5410200"/>
              <a:ext cx="0" cy="38100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29818BF-19E7-57F1-793E-866C4FC27070}"/>
                </a:ext>
              </a:extLst>
            </p:cNvPr>
            <p:cNvSpPr txBox="1"/>
            <p:nvPr/>
          </p:nvSpPr>
          <p:spPr>
            <a:xfrm>
              <a:off x="338645" y="4349859"/>
              <a:ext cx="374904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4</a:t>
              </a:r>
            </a:p>
            <a:p>
              <a:endParaRPr lang="en-US" sz="1600" dirty="0"/>
            </a:p>
            <a:p>
              <a:r>
                <a:rPr lang="en-US" sz="1600" dirty="0"/>
                <a:t>3</a:t>
              </a:r>
            </a:p>
            <a:p>
              <a:endParaRPr lang="en-US" sz="1600" dirty="0"/>
            </a:p>
            <a:p>
              <a:r>
                <a:rPr lang="en-US" sz="1600" dirty="0"/>
                <a:t>2</a:t>
              </a:r>
            </a:p>
            <a:p>
              <a:endParaRPr lang="en-US" sz="1600" dirty="0"/>
            </a:p>
            <a:p>
              <a:r>
                <a:rPr lang="en-US" sz="1600" dirty="0"/>
                <a:t>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A940916C-193D-448B-9751-5B147ABA8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28600"/>
            <a:ext cx="2811340" cy="263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i="1" dirty="0"/>
              <a:t>n</a:t>
            </a:r>
            <a:r>
              <a:rPr lang="en-US" dirty="0"/>
              <a:t>-Queens Problem 2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B9D64AC-89F9-40A1-9909-DF1B5D88CB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391062"/>
            <a:ext cx="7886700" cy="7425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Find the best local move: </a:t>
            </a:r>
            <a:r>
              <a:rPr lang="en-US" sz="1800" b="1" dirty="0"/>
              <a:t>Evaluate the objective function for all local neighbors </a:t>
            </a:r>
            <a:r>
              <a:rPr lang="en-US" sz="1800" dirty="0"/>
              <a:t>(moving a single queen in its column while leaving the others in place).</a:t>
            </a:r>
          </a:p>
          <a:p>
            <a:pPr marL="0" indent="0">
              <a:buNone/>
            </a:pPr>
            <a:endParaRPr lang="en-US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91000" y="3302415"/>
                <a:ext cx="455295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Best local improvement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12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:r>
                  <a:rPr lang="en-US" b="1" dirty="0"/>
                  <a:t>Notes</a:t>
                </a:r>
                <a:r>
                  <a:rPr lang="en-US" dirty="0"/>
                  <a:t>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There are many options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12</m:t>
                    </m:r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r>
                  <a:rPr lang="en-US" dirty="0"/>
                  <a:t>We typically pick one randomly.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Calculating all the objective values may be expensive!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3302415"/>
                <a:ext cx="4552950" cy="2308324"/>
              </a:xfrm>
              <a:prstGeom prst="rect">
                <a:avLst/>
              </a:prstGeom>
              <a:blipFill>
                <a:blip r:embed="rId4"/>
                <a:stretch>
                  <a:fillRect l="-1206" t="-1587" r="-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B93A93FA-A2FC-9855-43CC-78A85894940B}"/>
              </a:ext>
            </a:extLst>
          </p:cNvPr>
          <p:cNvGrpSpPr/>
          <p:nvPr/>
        </p:nvGrpSpPr>
        <p:grpSpPr>
          <a:xfrm>
            <a:off x="628650" y="3129677"/>
            <a:ext cx="3429000" cy="3259455"/>
            <a:chOff x="628650" y="3129677"/>
            <a:chExt cx="3429000" cy="3259455"/>
          </a:xfrm>
        </p:grpSpPr>
        <p:pic>
          <p:nvPicPr>
            <p:cNvPr id="5" name="Pictur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916734" y="3129677"/>
              <a:ext cx="2789236" cy="2789236"/>
            </a:xfrm>
            <a:prstGeom prst="rect">
              <a:avLst/>
            </a:prstGeom>
            <a:noFill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637A78F-A85A-7C61-151B-D5FDB6AA06C9}"/>
                    </a:ext>
                  </a:extLst>
                </p:cNvPr>
                <p:cNvSpPr txBox="1"/>
                <p:nvPr/>
              </p:nvSpPr>
              <p:spPr>
                <a:xfrm>
                  <a:off x="628650" y="6019800"/>
                  <a:ext cx="3429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/>
                    <a:t>Current objective value: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17 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637A78F-A85A-7C61-151B-D5FDB6AA06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6019800"/>
                  <a:ext cx="3429000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421" t="-10000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B3CB1726-3248-812D-B9D3-8DB523BFC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49876" y="2305765"/>
            <a:ext cx="2331523" cy="457200"/>
          </a:xfrm>
          <a:prstGeom prst="wedgeRoundRectCallout">
            <a:avLst>
              <a:gd name="adj1" fmla="val -54263"/>
              <a:gd name="adj2" fmla="val 159456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Objective value after moving the queen in column 1 to this square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Black Chess Queen Clip Art at Clker.com - vector clip art online, royalty  free &amp; public domain">
            <a:extLst>
              <a:ext uri="{FF2B5EF4-FFF2-40B4-BE49-F238E27FC236}">
                <a16:creationId xmlns:a16="http://schemas.microsoft.com/office/drawing/2014/main" id="{A940916C-193D-448B-9751-5B147ABA8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423" y="181426"/>
            <a:ext cx="2811340" cy="263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i="1" dirty="0"/>
              <a:t>n</a:t>
            </a:r>
            <a:r>
              <a:rPr lang="en-US" dirty="0"/>
              <a:t>-Queens Problem 3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6496A3A4-B382-4590-BCD2-531E237CC10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28650" y="1676400"/>
                <a:ext cx="5772150" cy="23621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/>
                  <a:t>Formulation as an optimization problem: </a:t>
                </a:r>
                <a:br>
                  <a:rPr lang="en-US" sz="2000" dirty="0"/>
                </a:br>
                <a:r>
                  <a:rPr lang="en-US" sz="2000" dirty="0"/>
                  <a:t>Find the best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 representing an arrangement of queens.</a:t>
                </a:r>
              </a:p>
              <a:p>
                <a:pPr marL="0" indent="0">
                  <a:buNone/>
                </a:pPr>
                <a:endParaRPr lang="en-US" sz="2000" b="0" dirty="0"/>
              </a:p>
              <a:p>
                <a:pPr marL="0" indent="0">
                  <a:buNone/>
                </a:pPr>
                <a:r>
                  <a:rPr lang="en-US" sz="2000" b="0" dirty="0"/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argm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conflicts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br>
                  <a:rPr lang="en-US" sz="2000" dirty="0"/>
                </a:br>
                <a:r>
                  <a:rPr lang="en-US" sz="2000" dirty="0"/>
                  <a:t>     </a:t>
                </a:r>
                <a:br>
                  <a:rPr lang="en-US" sz="2000" dirty="0"/>
                </a:br>
                <a:r>
                  <a:rPr lang="en-US" sz="2000" dirty="0"/>
                  <a:t>     subject to: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has one queen per column</a:t>
                </a: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6496A3A4-B382-4590-BCD2-531E237CC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76400"/>
                <a:ext cx="5772150" cy="2362199"/>
              </a:xfrm>
              <a:prstGeom prst="rect">
                <a:avLst/>
              </a:prstGeom>
              <a:blipFill>
                <a:blip r:embed="rId4"/>
                <a:stretch>
                  <a:fillRect l="-1056" t="-2584" r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F491A92E-CD92-46F1-B618-EFD86556003A}"/>
              </a:ext>
            </a:extLst>
          </p:cNvPr>
          <p:cNvSpPr/>
          <p:nvPr/>
        </p:nvSpPr>
        <p:spPr>
          <a:xfrm>
            <a:off x="6400800" y="2986563"/>
            <a:ext cx="2590800" cy="838201"/>
          </a:xfrm>
          <a:prstGeom prst="wedgeRoundRectCallout">
            <a:avLst>
              <a:gd name="adj1" fmla="val -96531"/>
              <a:gd name="adj2" fmla="val 39873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Remember: This makes the problem a lot easier.</a:t>
            </a:r>
          </a:p>
        </p:txBody>
      </p:sp>
      <p:grpSp>
        <p:nvGrpSpPr>
          <p:cNvPr id="3" name="Group 2" descr="Three chess boards showing how two local moves lead to the global optimum gotr the 4-queens problem.">
            <a:extLst>
              <a:ext uri="{FF2B5EF4-FFF2-40B4-BE49-F238E27FC236}">
                <a16:creationId xmlns:a16="http://schemas.microsoft.com/office/drawing/2014/main" id="{0E0D1F7F-494B-9EC6-2BD8-F355AFA6E717}"/>
              </a:ext>
            </a:extLst>
          </p:cNvPr>
          <p:cNvGrpSpPr/>
          <p:nvPr/>
        </p:nvGrpSpPr>
        <p:grpSpPr>
          <a:xfrm>
            <a:off x="609600" y="4191000"/>
            <a:ext cx="8008303" cy="2514600"/>
            <a:chOff x="609600" y="4191000"/>
            <a:chExt cx="8008303" cy="2514600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88F5F962-B611-4D06-9D14-410A002A22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09600" y="4191000"/>
              <a:ext cx="8008303" cy="2514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A502DE8-9635-4E03-BE6D-82070B46F8A4}"/>
                </a:ext>
              </a:extLst>
            </p:cNvPr>
            <p:cNvCxnSpPr/>
            <p:nvPr/>
          </p:nvCxnSpPr>
          <p:spPr>
            <a:xfrm flipV="1">
              <a:off x="4419600" y="4648200"/>
              <a:ext cx="0" cy="38100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216AEBC-87B7-4029-BB06-6BA8641479B1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00" y="5410200"/>
              <a:ext cx="0" cy="38100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9562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7D76F2D-BBC9-4D1A-8A3E-5A4195063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304800"/>
            <a:ext cx="28575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Traveling Salesman Problem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0550" y="1612017"/>
                <a:ext cx="5505450" cy="1949096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400" b="1" dirty="0"/>
                  <a:t>Goal:</a:t>
                </a:r>
                <a:r>
                  <a:rPr lang="en-US" sz="2400" dirty="0"/>
                  <a:t> Find the shortest tour connecting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cities</a:t>
                </a:r>
              </a:p>
              <a:p>
                <a:r>
                  <a:rPr lang="en-US" sz="2400" b="1" dirty="0"/>
                  <a:t>State space: </a:t>
                </a:r>
                <a:r>
                  <a:rPr lang="en-US" sz="2400" dirty="0"/>
                  <a:t>all possible tours</a:t>
                </a:r>
              </a:p>
              <a:p>
                <a:r>
                  <a:rPr lang="en-US" sz="2400" b="1" dirty="0"/>
                  <a:t>State representation: </a:t>
                </a:r>
                <a:r>
                  <a:rPr lang="en-US" sz="2400" dirty="0"/>
                  <a:t>tour (order in which to visit the cities) = a permutation. There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2400" dirty="0"/>
                  <a:t> Many permutations.</a:t>
                </a:r>
              </a:p>
              <a:p>
                <a:r>
                  <a:rPr lang="en-US" sz="2400" b="1" dirty="0"/>
                  <a:t>Objective function:</a:t>
                </a:r>
                <a:r>
                  <a:rPr lang="en-US" sz="2400" dirty="0"/>
                  <a:t> length of tour</a:t>
                </a:r>
              </a:p>
              <a:p>
                <a:r>
                  <a:rPr lang="en-US" sz="2400" b="1" dirty="0"/>
                  <a:t>Local neighborhood: </a:t>
                </a:r>
                <a:r>
                  <a:rPr lang="en-US" sz="2400" dirty="0"/>
                  <a:t>reverse the order of visiting a few cities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550" y="1612017"/>
                <a:ext cx="5505450" cy="1949096"/>
              </a:xfrm>
              <a:blipFill>
                <a:blip r:embed="rId4"/>
                <a:stretch>
                  <a:fillRect l="-554" t="-4375" b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 descr="A figure showing a traveling salesman tour as a graph and the changes a local move that reverses the order of three cities has.">
            <a:extLst>
              <a:ext uri="{FF2B5EF4-FFF2-40B4-BE49-F238E27FC236}">
                <a16:creationId xmlns:a16="http://schemas.microsoft.com/office/drawing/2014/main" id="{FDD0D083-C155-4FE8-8DBC-542210BBA59B}"/>
              </a:ext>
            </a:extLst>
          </p:cNvPr>
          <p:cNvGrpSpPr/>
          <p:nvPr/>
        </p:nvGrpSpPr>
        <p:grpSpPr>
          <a:xfrm>
            <a:off x="576695" y="3561113"/>
            <a:ext cx="7271905" cy="3137873"/>
            <a:chOff x="576695" y="3561113"/>
            <a:chExt cx="7271905" cy="313787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968376" y="3886200"/>
              <a:ext cx="5715000" cy="2345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TextBox 4"/>
            <p:cNvSpPr txBox="1"/>
            <p:nvPr/>
          </p:nvSpPr>
          <p:spPr>
            <a:xfrm>
              <a:off x="1629822" y="396240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068222" y="396240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568576" y="481226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5976" y="541020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873376" y="541020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58822" y="396240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97222" y="396240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997576" y="481226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244976" y="541020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02376" y="541020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29479" y="6320928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AB</a:t>
              </a:r>
              <a:r>
                <a:rPr lang="en-US" b="1" dirty="0">
                  <a:solidFill>
                    <a:srgbClr val="FF0000"/>
                  </a:solidFill>
                </a:rPr>
                <a:t>D</a:t>
              </a:r>
              <a:r>
                <a:rPr lang="en-US" b="1" dirty="0"/>
                <a:t>E</a:t>
              </a:r>
              <a:r>
                <a:rPr lang="en-US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96000" y="6308208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AB</a:t>
              </a:r>
              <a:r>
                <a:rPr lang="en-US" b="1" dirty="0">
                  <a:solidFill>
                    <a:srgbClr val="FF0000"/>
                  </a:solidFill>
                </a:rPr>
                <a:t>C</a:t>
              </a:r>
              <a:r>
                <a:rPr lang="en-US" b="1" dirty="0"/>
                <a:t>E</a:t>
              </a:r>
              <a:r>
                <a:rPr lang="en-US" b="1" dirty="0">
                  <a:solidFill>
                    <a:srgbClr val="FF0000"/>
                  </a:solidFill>
                </a:rPr>
                <a:t>D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4DB345-4D4D-D10A-C3C1-948A283EA856}"/>
                </a:ext>
              </a:extLst>
            </p:cNvPr>
            <p:cNvSpPr txBox="1"/>
            <p:nvPr/>
          </p:nvSpPr>
          <p:spPr>
            <a:xfrm>
              <a:off x="576695" y="6114211"/>
              <a:ext cx="19389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State representation (permutation):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DB813A-0AF4-3C02-2DAD-796E03969EC8}"/>
                </a:ext>
              </a:extLst>
            </p:cNvPr>
            <p:cNvSpPr txBox="1"/>
            <p:nvPr/>
          </p:nvSpPr>
          <p:spPr>
            <a:xfrm>
              <a:off x="619476" y="3561113"/>
              <a:ext cx="4473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Local move to reverse the order of cities C, E and D: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46D46EB-17C9-1621-CFE1-1AFD1D610E03}"/>
                </a:ext>
              </a:extLst>
            </p:cNvPr>
            <p:cNvCxnSpPr>
              <a:cxnSpLocks/>
            </p:cNvCxnSpPr>
            <p:nvPr/>
          </p:nvCxnSpPr>
          <p:spPr>
            <a:xfrm>
              <a:off x="2302202" y="4045143"/>
              <a:ext cx="304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BA8A3AD-294E-D70F-630E-44509CE20710}"/>
                </a:ext>
              </a:extLst>
            </p:cNvPr>
            <p:cNvCxnSpPr>
              <a:cxnSpLocks/>
            </p:cNvCxnSpPr>
            <p:nvPr/>
          </p:nvCxnSpPr>
          <p:spPr>
            <a:xfrm>
              <a:off x="5731871" y="4031228"/>
              <a:ext cx="304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EC67FCE0-473E-0534-281E-296FA4C3B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45664"/>
            <a:ext cx="28575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DCC491-E198-4646-B2A6-E4B5A9820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Traveling Salesman Problem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B8800D-3A38-4C27-927F-8AD1A6674D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189927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Formulation as an optimization problem: </a:t>
                </a:r>
                <a:br>
                  <a:rPr lang="en-US" sz="2400" dirty="0"/>
                </a:br>
                <a:r>
                  <a:rPr lang="en-US" sz="2400" dirty="0"/>
                  <a:t>Find the best tour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i="1" dirty="0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argmin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tourLength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br>
                  <a:rPr lang="en-US" sz="1800" dirty="0"/>
                </a:br>
                <a:r>
                  <a:rPr lang="en-US" sz="1800" dirty="0"/>
                  <a:t>        </a:t>
                </a:r>
                <a:r>
                  <a:rPr lang="en-US" sz="1800" dirty="0" err="1"/>
                  <a:t>s.t.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/>
                  <a:t> is a valid permutation (i.e., sub-tour elimination)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B8800D-3A38-4C27-927F-8AD1A6674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1899279"/>
              </a:xfrm>
              <a:blipFill>
                <a:blip r:embed="rId3"/>
                <a:stretch>
                  <a:fillRect l="-1159" t="-4487"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DADCE7C-FFD7-7AE1-E6BA-03DA20856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4553" y="3705261"/>
            <a:ext cx="7204047" cy="2924139"/>
            <a:chOff x="644553" y="3705261"/>
            <a:chExt cx="7204047" cy="2924139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BCE71D8A-AE0D-BBCC-6711-C607AD61E9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68376" y="4032057"/>
              <a:ext cx="5715000" cy="2345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06C135-DF46-DFF6-E9EB-321F38921835}"/>
                </a:ext>
              </a:extLst>
            </p:cNvPr>
            <p:cNvSpPr txBox="1"/>
            <p:nvPr/>
          </p:nvSpPr>
          <p:spPr>
            <a:xfrm>
              <a:off x="1629822" y="410825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488E53-2710-22D4-75D4-601D308B0E41}"/>
                </a:ext>
              </a:extLst>
            </p:cNvPr>
            <p:cNvSpPr txBox="1"/>
            <p:nvPr/>
          </p:nvSpPr>
          <p:spPr>
            <a:xfrm>
              <a:off x="4068222" y="410825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B7A628-E911-C587-663D-4C5B592AD298}"/>
                </a:ext>
              </a:extLst>
            </p:cNvPr>
            <p:cNvSpPr txBox="1"/>
            <p:nvPr/>
          </p:nvSpPr>
          <p:spPr>
            <a:xfrm>
              <a:off x="3568576" y="495812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50998F6-69E4-E2B1-ABC3-22036162D616}"/>
                </a:ext>
              </a:extLst>
            </p:cNvPr>
            <p:cNvSpPr txBox="1"/>
            <p:nvPr/>
          </p:nvSpPr>
          <p:spPr>
            <a:xfrm>
              <a:off x="1815976" y="555605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0F89A74-8298-1730-11E9-26DE40B673D9}"/>
                </a:ext>
              </a:extLst>
            </p:cNvPr>
            <p:cNvSpPr txBox="1"/>
            <p:nvPr/>
          </p:nvSpPr>
          <p:spPr>
            <a:xfrm>
              <a:off x="3873376" y="555605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D45D02-1760-F6A7-8B0C-B224F60DFB19}"/>
                </a:ext>
              </a:extLst>
            </p:cNvPr>
            <p:cNvSpPr txBox="1"/>
            <p:nvPr/>
          </p:nvSpPr>
          <p:spPr>
            <a:xfrm>
              <a:off x="5058822" y="410825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DC48308-A984-A2BF-E6DF-B9A4DD6F3E5A}"/>
                </a:ext>
              </a:extLst>
            </p:cNvPr>
            <p:cNvSpPr txBox="1"/>
            <p:nvPr/>
          </p:nvSpPr>
          <p:spPr>
            <a:xfrm>
              <a:off x="7497222" y="410825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A813F5C-B6A9-EEA9-B3B6-1F41CD90A650}"/>
                </a:ext>
              </a:extLst>
            </p:cNvPr>
            <p:cNvSpPr txBox="1"/>
            <p:nvPr/>
          </p:nvSpPr>
          <p:spPr>
            <a:xfrm>
              <a:off x="6997576" y="495812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4C5492-B571-7AD1-AC63-8A9BF115B92E}"/>
                </a:ext>
              </a:extLst>
            </p:cNvPr>
            <p:cNvSpPr txBox="1"/>
            <p:nvPr/>
          </p:nvSpPr>
          <p:spPr>
            <a:xfrm>
              <a:off x="5244976" y="555605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592B7C3-08AF-EBC1-9998-734643B01994}"/>
                </a:ext>
              </a:extLst>
            </p:cNvPr>
            <p:cNvSpPr txBox="1"/>
            <p:nvPr/>
          </p:nvSpPr>
          <p:spPr>
            <a:xfrm>
              <a:off x="7302376" y="555605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BF179A5-BD65-A490-B19A-B1C490CCF628}"/>
                </a:ext>
              </a:extLst>
            </p:cNvPr>
            <p:cNvSpPr txBox="1"/>
            <p:nvPr/>
          </p:nvSpPr>
          <p:spPr>
            <a:xfrm>
              <a:off x="2600270" y="6260068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AB</a:t>
              </a:r>
              <a:r>
                <a:rPr lang="en-US" b="1" dirty="0">
                  <a:solidFill>
                    <a:srgbClr val="FF0000"/>
                  </a:solidFill>
                </a:rPr>
                <a:t>D</a:t>
              </a:r>
              <a:r>
                <a:rPr lang="en-US" b="1" dirty="0"/>
                <a:t>E</a:t>
              </a:r>
              <a:r>
                <a:rPr lang="en-US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3BD4C21-062C-3801-4DB8-F7AF95DDD440}"/>
                </a:ext>
              </a:extLst>
            </p:cNvPr>
            <p:cNvSpPr txBox="1"/>
            <p:nvPr/>
          </p:nvSpPr>
          <p:spPr>
            <a:xfrm>
              <a:off x="6036671" y="6243004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AB</a:t>
              </a:r>
              <a:r>
                <a:rPr lang="en-US" b="1" dirty="0">
                  <a:solidFill>
                    <a:srgbClr val="FF0000"/>
                  </a:solidFill>
                </a:rPr>
                <a:t>C</a:t>
              </a:r>
              <a:r>
                <a:rPr lang="en-US" b="1" dirty="0"/>
                <a:t>E</a:t>
              </a:r>
              <a:r>
                <a:rPr lang="en-US" b="1" dirty="0">
                  <a:solidFill>
                    <a:srgbClr val="FF0000"/>
                  </a:solidFill>
                </a:rPr>
                <a:t>D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5163951-A2E3-96A8-0070-A4AFBECB3AD5}"/>
                </a:ext>
              </a:extLst>
            </p:cNvPr>
            <p:cNvSpPr txBox="1"/>
            <p:nvPr/>
          </p:nvSpPr>
          <p:spPr>
            <a:xfrm>
              <a:off x="661341" y="6260716"/>
              <a:ext cx="19456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State representation: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4AF8B37-B2B4-C2BC-16A6-CF6BFDC92FDE}"/>
                </a:ext>
              </a:extLst>
            </p:cNvPr>
            <p:cNvSpPr txBox="1"/>
            <p:nvPr/>
          </p:nvSpPr>
          <p:spPr>
            <a:xfrm>
              <a:off x="644553" y="3705261"/>
              <a:ext cx="4473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Local move to reverse the order of cities C, E and D: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A00CCBD-5B6D-7EF9-E6B7-63B638EAF842}"/>
                </a:ext>
              </a:extLst>
            </p:cNvPr>
            <p:cNvCxnSpPr>
              <a:cxnSpLocks/>
            </p:cNvCxnSpPr>
            <p:nvPr/>
          </p:nvCxnSpPr>
          <p:spPr>
            <a:xfrm>
              <a:off x="2302202" y="4191000"/>
              <a:ext cx="304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453CFAD-1DDC-4F61-1E47-F97D71428FF0}"/>
                </a:ext>
              </a:extLst>
            </p:cNvPr>
            <p:cNvCxnSpPr>
              <a:cxnSpLocks/>
            </p:cNvCxnSpPr>
            <p:nvPr/>
          </p:nvCxnSpPr>
          <p:spPr>
            <a:xfrm>
              <a:off x="5731871" y="4177085"/>
              <a:ext cx="304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4653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Hill-Climbing Search (Greedy Local Search)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B05243-9E47-495A-B4DB-EA2AB3FF6C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577" y="3264059"/>
                <a:ext cx="5425283" cy="343704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Variants </a:t>
                </a:r>
                <a:r>
                  <a:rPr lang="en-US" sz="1400" dirty="0"/>
                  <a:t>(define what successor to choose)</a:t>
                </a:r>
                <a:endParaRPr lang="en-US" sz="2000" dirty="0"/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1800" b="1" dirty="0"/>
                  <a:t>Steepest ascent hill climbing: </a:t>
                </a:r>
                <a:r>
                  <a:rPr lang="en-US" sz="1800" dirty="0"/>
                  <a:t>Check all possible successors and choose </a:t>
                </a:r>
                <a:r>
                  <a:rPr lang="en-US" sz="1800" dirty="0">
                    <a:solidFill>
                      <a:srgbClr val="FF0000"/>
                    </a:solidFill>
                  </a:rPr>
                  <a:t>the highest-valued successor.</a:t>
                </a:r>
                <a:endParaRPr lang="en-US" sz="1800" b="1" dirty="0"/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1800" b="1" dirty="0"/>
                  <a:t>Stochastic hill climbing: </a:t>
                </a:r>
                <a:r>
                  <a:rPr lang="en-US" sz="1800" dirty="0">
                    <a:solidFill>
                      <a:srgbClr val="FF0000"/>
                    </a:solidFill>
                  </a:rPr>
                  <a:t>Choose randomly among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all</a:t>
                </a:r>
                <a:r>
                  <a:rPr lang="en-US" sz="1800" dirty="0">
                    <a:solidFill>
                      <a:srgbClr val="FF0000"/>
                    </a:solidFill>
                  </a:rPr>
                  <a:t> uphill (improvement) moves</a:t>
                </a:r>
                <a:r>
                  <a:rPr lang="en-US" sz="1800" dirty="0"/>
                  <a:t>.</a:t>
                </a: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1800" b="1" dirty="0"/>
                  <a:t>First-choice stochastic hill climbing</a:t>
                </a:r>
                <a:r>
                  <a:rPr lang="en-US" sz="1800" dirty="0"/>
                  <a:t>:  </a:t>
                </a:r>
                <a:r>
                  <a:rPr lang="en-US" sz="1800" dirty="0">
                    <a:solidFill>
                      <a:srgbClr val="FF0000"/>
                    </a:solidFill>
                  </a:rPr>
                  <a:t>Generate randomly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one</a:t>
                </a:r>
                <a:r>
                  <a:rPr lang="en-US" sz="1800" dirty="0">
                    <a:solidFill>
                      <a:srgbClr val="FF0000"/>
                    </a:solidFill>
                  </a:rPr>
                  <a:t> new successor at a time and only move to better ones. </a:t>
                </a:r>
                <a:r>
                  <a:rPr lang="en-US" sz="1800" dirty="0"/>
                  <a:t>This is what people often mean by “stochastic hill climbing.” It is equivalent to b, but computationally much cheaper (does not evaluate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sz="1800" dirty="0"/>
                  <a:t> for each neighbor).</a:t>
                </a:r>
                <a:endParaRPr lang="en-US" sz="1800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B05243-9E47-495A-B4DB-EA2AB3FF6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577" y="3264059"/>
                <a:ext cx="5425283" cy="3437042"/>
              </a:xfrm>
              <a:blipFill>
                <a:blip r:embed="rId3"/>
                <a:stretch>
                  <a:fillRect l="-1124" t="-1773" r="-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 descr="The hill climbing algorithm.">
            <a:extLst>
              <a:ext uri="{FF2B5EF4-FFF2-40B4-BE49-F238E27FC236}">
                <a16:creationId xmlns:a16="http://schemas.microsoft.com/office/drawing/2014/main" id="{566C3C05-5334-836D-A9DD-4B5AE9CEFD03}"/>
              </a:ext>
            </a:extLst>
          </p:cNvPr>
          <p:cNvGrpSpPr/>
          <p:nvPr/>
        </p:nvGrpSpPr>
        <p:grpSpPr>
          <a:xfrm>
            <a:off x="1143000" y="1256523"/>
            <a:ext cx="6858644" cy="1935834"/>
            <a:chOff x="685800" y="1234121"/>
            <a:chExt cx="7315887" cy="20388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624CD61-FB43-41D7-BE5E-6D6E17388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" y="1507387"/>
              <a:ext cx="6705600" cy="176556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CB08426-7BC5-4386-85F4-94612E52F291}"/>
                </a:ext>
              </a:extLst>
            </p:cNvPr>
            <p:cNvSpPr/>
            <p:nvPr/>
          </p:nvSpPr>
          <p:spPr>
            <a:xfrm>
              <a:off x="2286000" y="2369344"/>
              <a:ext cx="2590800" cy="22860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FE0FF18E-744F-EC8F-F9C7-A9F473543CEE}"/>
                </a:ext>
              </a:extLst>
            </p:cNvPr>
            <p:cNvSpPr/>
            <p:nvPr/>
          </p:nvSpPr>
          <p:spPr>
            <a:xfrm>
              <a:off x="4572000" y="1945735"/>
              <a:ext cx="3429000" cy="313921"/>
            </a:xfrm>
            <a:prstGeom prst="wedgeRoundRectCallout">
              <a:avLst>
                <a:gd name="adj1" fmla="val -82652"/>
                <a:gd name="adj2" fmla="val -25138"/>
                <a:gd name="adj3" fmla="val 16667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We often start with a random state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DAF884-9F48-712D-F1C4-2468C8C04060}"/>
                </a:ext>
              </a:extLst>
            </p:cNvPr>
            <p:cNvSpPr txBox="1"/>
            <p:nvPr/>
          </p:nvSpPr>
          <p:spPr>
            <a:xfrm>
              <a:off x="6455691" y="1234121"/>
              <a:ext cx="1545996" cy="38898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Maximization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83835D-1075-4BE6-BD61-D1EF11215F86}"/>
              </a:ext>
            </a:extLst>
          </p:cNvPr>
          <p:cNvGrpSpPr/>
          <p:nvPr/>
        </p:nvGrpSpPr>
        <p:grpSpPr>
          <a:xfrm>
            <a:off x="5996782" y="3339662"/>
            <a:ext cx="2963240" cy="3399753"/>
            <a:chOff x="5996782" y="3339662"/>
            <a:chExt cx="2963240" cy="339975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A95DDC0-F261-E15A-927B-835828A72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5996782" y="3339662"/>
              <a:ext cx="2963240" cy="3061138"/>
              <a:chOff x="5996782" y="3339662"/>
              <a:chExt cx="2963240" cy="3061138"/>
            </a:xfrm>
          </p:grpSpPr>
          <p:pic>
            <p:nvPicPr>
              <p:cNvPr id="7" name="Picture 5" descr="8queens-successors">
                <a:extLst>
                  <a:ext uri="{FF2B5EF4-FFF2-40B4-BE49-F238E27FC236}">
                    <a16:creationId xmlns:a16="http://schemas.microsoft.com/office/drawing/2014/main" id="{73D0EA30-76AC-57ED-60F6-88390B76D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5996782" y="3611564"/>
                <a:ext cx="2789236" cy="2789236"/>
              </a:xfrm>
              <a:prstGeom prst="rect">
                <a:avLst/>
              </a:prstGeom>
              <a:noFill/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F85ED8-4F6A-42FB-C284-CB398796FEAD}"/>
                  </a:ext>
                </a:extLst>
              </p:cNvPr>
              <p:cNvSpPr txBox="1"/>
              <p:nvPr/>
            </p:nvSpPr>
            <p:spPr>
              <a:xfrm>
                <a:off x="7543800" y="3339662"/>
                <a:ext cx="1416222" cy="36933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Minimization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B708FCA-0E49-E8CE-13B1-422B456B2BA6}"/>
                    </a:ext>
                  </a:extLst>
                </p:cNvPr>
                <p:cNvSpPr txBox="1"/>
                <p:nvPr/>
              </p:nvSpPr>
              <p:spPr>
                <a:xfrm>
                  <a:off x="6781800" y="6370083"/>
                  <a:ext cx="1524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= 17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B708FCA-0E49-E8CE-13B1-422B456B2B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800" y="6370083"/>
                  <a:ext cx="152400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A20B294D-59E9-5287-A6CB-A18147F7BFB8}"/>
                  </a:ext>
                </a:extLst>
              </p:cNvPr>
              <p:cNvSpPr/>
              <p:nvPr/>
            </p:nvSpPr>
            <p:spPr>
              <a:xfrm>
                <a:off x="3894656" y="2925947"/>
                <a:ext cx="4813388" cy="222141"/>
              </a:xfrm>
              <a:prstGeom prst="wedgeRoundRectCallout">
                <a:avLst>
                  <a:gd name="adj1" fmla="val -55239"/>
                  <a:gd name="adj2" fmla="val -102535"/>
                  <a:gd name="adj3" fmla="val 16667"/>
                </a:avLst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Use lowest-valued successor and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≥ </m:t>
                    </m:r>
                  </m:oMath>
                </a14:m>
                <a:r>
                  <a:rPr lang="en-US" sz="1600" dirty="0"/>
                  <a:t>for minimization</a:t>
                </a:r>
              </a:p>
            </p:txBody>
          </p:sp>
        </mc:Choice>
        <mc:Fallback xmlns=""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A20B294D-59E9-5287-A6CB-A18147F7BF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656" y="2925947"/>
                <a:ext cx="4813388" cy="222141"/>
              </a:xfrm>
              <a:prstGeom prst="wedgeRoundRectCallout">
                <a:avLst>
                  <a:gd name="adj1" fmla="val -55239"/>
                  <a:gd name="adj2" fmla="val -102535"/>
                  <a:gd name="adj3" fmla="val 16667"/>
                </a:avLst>
              </a:prstGeom>
              <a:blipFill>
                <a:blip r:embed="rId8"/>
                <a:stretch>
                  <a:fillRect b="-37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42FB5B-6030-BD81-8151-66A2AFDA0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 amt="50000"/>
          </a:blip>
          <a:srcRect/>
          <a:stretch>
            <a:fillRect/>
          </a:stretch>
        </p:blipFill>
        <p:spPr bwMode="auto">
          <a:xfrm>
            <a:off x="20" y="1"/>
            <a:ext cx="9143980" cy="6857999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4EFBE5E-0CD5-E3C7-75D5-A04367E6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22362"/>
            <a:ext cx="6858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Local Optima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142CCC-3DB0-B22C-7587-5CE58001D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159404"/>
            <a:ext cx="6858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410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Optima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00200"/>
            <a:ext cx="7886700" cy="1295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dirty="0"/>
              <a:t>Hill-climbing search is </a:t>
            </a:r>
            <a:r>
              <a:rPr lang="en-US" sz="2400" b="1" dirty="0"/>
              <a:t>greedy</a:t>
            </a:r>
            <a:r>
              <a:rPr lang="en-US" sz="2400" dirty="0"/>
              <a:t> (like greedy best-first search) with the objective function as a typically not admissible heuristic. </a:t>
            </a:r>
            <a:br>
              <a:rPr lang="en-US" sz="2400" dirty="0"/>
            </a:br>
            <a:r>
              <a:rPr lang="en-US" sz="2400" dirty="0"/>
              <a:t>It only stores the current state (has no frontier data structure) and </a:t>
            </a:r>
            <a:r>
              <a:rPr lang="en-US" sz="2400" b="1" dirty="0"/>
              <a:t>just stops at a dead end</a:t>
            </a:r>
            <a:r>
              <a:rPr lang="en-US" sz="2400" dirty="0"/>
              <a:t>. 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Is it complete/optimal?</a:t>
            </a:r>
          </a:p>
          <a:p>
            <a:pPr lvl="1"/>
            <a:r>
              <a:rPr lang="en-US" sz="2000" dirty="0"/>
              <a:t>For local search optimality and complete mean the same thing!</a:t>
            </a:r>
          </a:p>
          <a:p>
            <a:pPr lvl="1"/>
            <a:r>
              <a:rPr lang="en-US" sz="2000" dirty="0"/>
              <a:t>No – can get stuck in local optima.</a:t>
            </a:r>
          </a:p>
          <a:p>
            <a:endParaRPr lang="en-US" sz="2400" dirty="0"/>
          </a:p>
        </p:txBody>
      </p:sp>
      <p:grpSp>
        <p:nvGrpSpPr>
          <p:cNvPr id="4" name="Group 3" descr="Example of a local optimum for the 8-queens problem.">
            <a:extLst>
              <a:ext uri="{FF2B5EF4-FFF2-40B4-BE49-F238E27FC236}">
                <a16:creationId xmlns:a16="http://schemas.microsoft.com/office/drawing/2014/main" id="{94B939D2-8610-317E-E2A6-427F984CAF45}"/>
              </a:ext>
            </a:extLst>
          </p:cNvPr>
          <p:cNvGrpSpPr/>
          <p:nvPr/>
        </p:nvGrpSpPr>
        <p:grpSpPr>
          <a:xfrm>
            <a:off x="1981200" y="3048000"/>
            <a:ext cx="2018297" cy="2355363"/>
            <a:chOff x="1981200" y="3048000"/>
            <a:chExt cx="2018297" cy="2355363"/>
          </a:xfrm>
        </p:grpSpPr>
        <p:pic>
          <p:nvPicPr>
            <p:cNvPr id="5" name="Picture 4" descr="8queens-local-minimu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81200" y="3048000"/>
              <a:ext cx="2018297" cy="2018297"/>
            </a:xfrm>
            <a:prstGeom prst="rect">
              <a:avLst/>
            </a:prstGeom>
            <a:noFill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2539359" y="5034031"/>
                  <a:ext cx="9019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= 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9359" y="5034031"/>
                  <a:ext cx="90197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EDB6D02-2483-460C-B304-CF188FB2C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5600" y="3200400"/>
              <a:ext cx="661044" cy="72476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19CC51E-A478-4C05-AE45-6CFA9B540D81}"/>
              </a:ext>
            </a:extLst>
          </p:cNvPr>
          <p:cNvSpPr txBox="1"/>
          <p:nvPr/>
        </p:nvSpPr>
        <p:spPr>
          <a:xfrm>
            <a:off x="4260992" y="3048000"/>
            <a:ext cx="33439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local optimum for the 8-queens problem. No single queen can be moved within its column to improve the objective function.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1C3F5A-F544-CE10-72BB-7FCE8A2BF847}"/>
                  </a:ext>
                </a:extLst>
              </p:cNvPr>
              <p:cNvSpPr txBox="1"/>
              <p:nvPr/>
            </p:nvSpPr>
            <p:spPr>
              <a:xfrm>
                <a:off x="602146" y="5403363"/>
                <a:ext cx="7620000" cy="1169551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dirty="0"/>
                  <a:t>Simple approach that can help with local optima:</a:t>
                </a:r>
              </a:p>
              <a:p>
                <a:pPr lvl="1"/>
                <a:r>
                  <a:rPr lang="en-US" b="1" dirty="0"/>
                  <a:t>Random-restart hill climbing</a:t>
                </a:r>
                <a:r>
                  <a:rPr lang="en-US" sz="2000" b="1" dirty="0"/>
                  <a:t>: </a:t>
                </a:r>
                <a:r>
                  <a:rPr lang="en-US" sz="1600" dirty="0"/>
                  <a:t>Restart hill-climbing many times with random initial states and return the best solution. This strategy can be used for any stochastic (i.e., randomized) algorithm (randomized DFS,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-means, …).</a:t>
                </a:r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1C3F5A-F544-CE10-72BB-7FCE8A2BF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46" y="5403363"/>
                <a:ext cx="7620000" cy="1169551"/>
              </a:xfrm>
              <a:prstGeom prst="rect">
                <a:avLst/>
              </a:prstGeom>
              <a:blipFill>
                <a:blip r:embed="rId5"/>
                <a:stretch>
                  <a:fillRect l="-639" t="-2062" b="-5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uiExpand="1" build="p"/>
      <p:bldP spid="2" grpId="0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872"/>
            <a:ext cx="8229600" cy="1143000"/>
          </a:xfrm>
        </p:spPr>
        <p:txBody>
          <a:bodyPr/>
          <a:lstStyle/>
          <a:p>
            <a:r>
              <a:rPr lang="en-US" dirty="0"/>
              <a:t>The State Space “Landscape”</a:t>
            </a:r>
          </a:p>
        </p:txBody>
      </p:sp>
      <p:grpSp>
        <p:nvGrpSpPr>
          <p:cNvPr id="6" name="Group 5" descr="A line graph showing local and global maxima in an objective function.">
            <a:extLst>
              <a:ext uri="{FF2B5EF4-FFF2-40B4-BE49-F238E27FC236}">
                <a16:creationId xmlns:a16="http://schemas.microsoft.com/office/drawing/2014/main" id="{C546AFAC-61D3-C6C7-F194-875593BF97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1143000" y="1801744"/>
            <a:ext cx="6410877" cy="3532256"/>
            <a:chOff x="1285323" y="1301143"/>
            <a:chExt cx="7096676" cy="3755114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1388727"/>
              <a:ext cx="6410779" cy="3515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03514D4-9F24-415D-9593-4D65E2583BBF}"/>
                </a:ext>
              </a:extLst>
            </p:cNvPr>
            <p:cNvSpPr txBox="1"/>
            <p:nvPr/>
          </p:nvSpPr>
          <p:spPr>
            <a:xfrm>
              <a:off x="6643956" y="4533037"/>
              <a:ext cx="17380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Neighbors placed next to each other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0A3D2B4-CC27-A9A4-1F51-E62C80359A7C}"/>
                    </a:ext>
                  </a:extLst>
                </p:cNvPr>
                <p:cNvSpPr txBox="1"/>
                <p:nvPr/>
              </p:nvSpPr>
              <p:spPr>
                <a:xfrm>
                  <a:off x="1285323" y="1809440"/>
                  <a:ext cx="6858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0A3D2B4-CC27-A9A4-1F51-E62C80359A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5323" y="1809440"/>
                  <a:ext cx="68580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864C093-D0CC-96E4-B295-B48A3F7B16B5}"/>
                    </a:ext>
                  </a:extLst>
                </p:cNvPr>
                <p:cNvSpPr txBox="1"/>
                <p:nvPr/>
              </p:nvSpPr>
              <p:spPr>
                <a:xfrm>
                  <a:off x="4381500" y="4583524"/>
                  <a:ext cx="8382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864C093-D0CC-96E4-B295-B48A3F7B16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1500" y="4583524"/>
                  <a:ext cx="83820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5D2F43-8B7F-6651-2521-734EBA73EA88}"/>
                </a:ext>
              </a:extLst>
            </p:cNvPr>
            <p:cNvSpPr txBox="1"/>
            <p:nvPr/>
          </p:nvSpPr>
          <p:spPr>
            <a:xfrm>
              <a:off x="6499621" y="1301143"/>
              <a:ext cx="1738043" cy="39263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Maximization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453" y="5334000"/>
            <a:ext cx="8229600" cy="1376108"/>
          </a:xfr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How to escape local maxima?</a:t>
            </a:r>
          </a:p>
          <a:p>
            <a:pPr marL="342900" lvl="1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 Random restart hill-climbing can help.</a:t>
            </a:r>
          </a:p>
          <a:p>
            <a:pPr marL="0" indent="0">
              <a:buNone/>
            </a:pPr>
            <a:r>
              <a:rPr lang="en-US" sz="2000" dirty="0"/>
              <a:t>What about “shoulders” (called “ridges” in higher-dimensional spaces)?</a:t>
            </a:r>
          </a:p>
          <a:p>
            <a:pPr marL="342900" lvl="1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 Hill-climbing that allows sideways moves and uses momentum.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E459-1EC3-47A5-B67F-38FD5756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Minimization vs. Maximization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5D77A8-5A4E-4D5F-8EA2-46E0B61E16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52600"/>
                <a:ext cx="7886700" cy="2060575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sz="2800" dirty="0"/>
                  <a:t>The name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hill climbing </a:t>
                </a:r>
                <a:r>
                  <a:rPr lang="en-US" sz="2800" dirty="0"/>
                  <a:t>used in AI implies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maximizing a utility function</a:t>
                </a:r>
                <a:r>
                  <a:rPr lang="en-US" sz="2800" dirty="0"/>
                  <a:t>.</a:t>
                </a:r>
              </a:p>
              <a:p>
                <a:r>
                  <a:rPr lang="en-US" sz="2800" dirty="0"/>
                  <a:t>Optimizers often prefer to state problems as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minimization</a:t>
                </a:r>
                <a:r>
                  <a:rPr lang="en-US" sz="2800" dirty="0"/>
                  <a:t> problems to reduce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cost or loss </a:t>
                </a:r>
                <a:r>
                  <a:rPr lang="en-US" sz="2800" dirty="0"/>
                  <a:t>and refer to </a:t>
                </a:r>
                <a:r>
                  <a:rPr lang="en-US" dirty="0"/>
                  <a:t>the same type of algorithm</a:t>
                </a:r>
                <a:r>
                  <a:rPr lang="en-US" sz="2800" dirty="0"/>
                  <a:t> as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gradient descent</a:t>
                </a:r>
                <a:r>
                  <a:rPr lang="en-US" sz="2800" dirty="0"/>
                  <a:t>.</a:t>
                </a:r>
              </a:p>
              <a:p>
                <a:r>
                  <a:rPr lang="en-US" dirty="0"/>
                  <a:t>Minimization and maximization are equivalent</a:t>
                </a:r>
                <a:r>
                  <a:rPr lang="en-US" sz="2800" dirty="0"/>
                  <a:t> problems:</a:t>
                </a:r>
              </a:p>
              <a:p>
                <a:endParaRPr lang="en-US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3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ma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𝑥</m:t>
                        </m:r>
                      </m:fName>
                      <m:e>
                        <m:d>
                          <m:d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3600" dirty="0"/>
                  <a:t>                 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600" dirty="0"/>
                  <a:t> </a:t>
                </a:r>
                <a:r>
                  <a:rPr lang="en-US" sz="3600" dirty="0">
                    <a:sym typeface="Wingdings" panose="05000000000000000000" pitchFamily="2" charset="2"/>
                  </a:rPr>
                  <a:t>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3600" dirty="0">
                    <a:sym typeface="Wingdings" panose="05000000000000000000" pitchFamily="2" charset="2"/>
                  </a:rPr>
                  <a:t> </a:t>
                </a:r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5D77A8-5A4E-4D5F-8EA2-46E0B61E16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52600"/>
                <a:ext cx="7886700" cy="2060575"/>
              </a:xfrm>
              <a:blipFill>
                <a:blip r:embed="rId2"/>
                <a:stretch>
                  <a:fillRect l="-464" t="-5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1BD23812-605A-4010-80C7-49DECFCA5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28600" y="4007700"/>
            <a:ext cx="4225487" cy="231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EAD9F507-7CEC-48D7-B007-1E72634C6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 flipV="1">
            <a:off x="4474140" y="3900600"/>
            <a:ext cx="4225487" cy="231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2459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A5E6-24CD-4FB3-93C1-5114940F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703" y="151299"/>
            <a:ext cx="8276304" cy="1608328"/>
          </a:xfrm>
        </p:spPr>
        <p:txBody>
          <a:bodyPr>
            <a:normAutofit/>
          </a:bodyPr>
          <a:lstStyle/>
          <a:p>
            <a:r>
              <a:rPr lang="en-US" sz="3200" dirty="0"/>
              <a:t>Convex vs. Non-Convex Optimization Problems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F690CC-33C8-4C98-87F6-0DA45DF9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064" y="1618797"/>
            <a:ext cx="3730752" cy="3689205"/>
            <a:chOff x="480885" y="2559195"/>
            <a:chExt cx="3730752" cy="3689205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CA24316F-865D-4B9E-BF02-C8BB10DA45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3130" r="1035" b="3"/>
            <a:stretch/>
          </p:blipFill>
          <p:spPr bwMode="auto">
            <a:xfrm>
              <a:off x="480885" y="2928527"/>
              <a:ext cx="3730752" cy="2919580"/>
            </a:xfrm>
            <a:prstGeom prst="rect">
              <a:avLst/>
            </a:prstGeom>
            <a:noFill/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886B41-752A-4EB0-85A4-32DC46851AF4}"/>
                </a:ext>
              </a:extLst>
            </p:cNvPr>
            <p:cNvSpPr txBox="1"/>
            <p:nvPr/>
          </p:nvSpPr>
          <p:spPr>
            <a:xfrm>
              <a:off x="936561" y="2559195"/>
              <a:ext cx="2819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Non-convex Problem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9A8217-7829-4656-A293-7FBE7DC529E3}"/>
                </a:ext>
              </a:extLst>
            </p:cNvPr>
            <p:cNvSpPr txBox="1"/>
            <p:nvPr/>
          </p:nvSpPr>
          <p:spPr>
            <a:xfrm>
              <a:off x="936561" y="5879068"/>
              <a:ext cx="2819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Many local optima </a:t>
              </a:r>
              <a:r>
                <a:rPr lang="en-US" dirty="0">
                  <a:sym typeface="Wingdings" panose="05000000000000000000" pitchFamily="2" charset="2"/>
                </a:rPr>
                <a:t> hard</a:t>
              </a:r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3C8AF2F-CEFE-4484-854B-8E2650268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60248" y="1541675"/>
            <a:ext cx="3730752" cy="4440831"/>
            <a:chOff x="4932363" y="2539148"/>
            <a:chExt cx="3730752" cy="44408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BA5D3C-72AB-4F37-B219-560E69A553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1335" t="5707"/>
            <a:stretch/>
          </p:blipFill>
          <p:spPr>
            <a:xfrm>
              <a:off x="4932363" y="3024468"/>
              <a:ext cx="3730752" cy="272769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26502BB-F296-4EA1-973E-434C4D6A17C1}"/>
                    </a:ext>
                  </a:extLst>
                </p:cNvPr>
                <p:cNvSpPr txBox="1"/>
                <p:nvPr/>
              </p:nvSpPr>
              <p:spPr>
                <a:xfrm>
                  <a:off x="5257800" y="5779650"/>
                  <a:ext cx="302700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One global optimum + </a:t>
                  </a:r>
                  <a:br>
                    <a:rPr lang="en-US" dirty="0"/>
                  </a:br>
                  <a:r>
                    <a:rPr lang="en-US" dirty="0"/>
                    <a:t>continuous smooth function </a:t>
                  </a:r>
                  <a:r>
                    <a:rPr lang="en-US" dirty="0">
                      <a:sym typeface="Wingdings" panose="05000000000000000000" pitchFamily="2" charset="2"/>
                    </a:rPr>
                    <a:t> calculus makes it easy (solve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=0</m:t>
                      </m:r>
                    </m:oMath>
                  </a14:m>
                  <a:r>
                    <a:rPr lang="en-US" dirty="0">
                      <a:sym typeface="Wingdings" panose="05000000000000000000" pitchFamily="2" charset="2"/>
                    </a:rPr>
                    <a:t>)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26502BB-F296-4EA1-973E-434C4D6A1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800" y="5779650"/>
                  <a:ext cx="3027007" cy="1200329"/>
                </a:xfrm>
                <a:prstGeom prst="rect">
                  <a:avLst/>
                </a:prstGeom>
                <a:blipFill>
                  <a:blip r:embed="rId4"/>
                  <a:stretch>
                    <a:fillRect t="-2538" b="-71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08C3530-2B6D-40FD-A4FB-87A0D7DD5BA3}"/>
                </a:ext>
              </a:extLst>
            </p:cNvPr>
            <p:cNvSpPr txBox="1"/>
            <p:nvPr/>
          </p:nvSpPr>
          <p:spPr>
            <a:xfrm>
              <a:off x="5282645" y="2539148"/>
              <a:ext cx="30270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Convex Problem</a:t>
              </a:r>
            </a:p>
          </p:txBody>
        </p:sp>
      </p:grp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A71CE066-396A-4551-AC9D-6E6636CFA695}"/>
              </a:ext>
            </a:extLst>
          </p:cNvPr>
          <p:cNvSpPr/>
          <p:nvPr/>
        </p:nvSpPr>
        <p:spPr>
          <a:xfrm>
            <a:off x="4944369" y="5541569"/>
            <a:ext cx="3887638" cy="1011631"/>
          </a:xfrm>
          <a:prstGeom prst="wedgeRectCallout">
            <a:avLst>
              <a:gd name="adj1" fmla="val -11427"/>
              <a:gd name="adj2" fmla="val -74869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Many AI problems are in addition discrete (the objective function is not differentiable). We often have to settle for a local optimum.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6F264-AB07-0883-1CB6-70BE037282DB}"/>
              </a:ext>
            </a:extLst>
          </p:cNvPr>
          <p:cNvSpPr txBox="1"/>
          <p:nvPr/>
        </p:nvSpPr>
        <p:spPr>
          <a:xfrm>
            <a:off x="685800" y="1158601"/>
            <a:ext cx="1416222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Minimization</a:t>
            </a:r>
          </a:p>
        </p:txBody>
      </p:sp>
    </p:spTree>
    <p:extLst>
      <p:ext uri="{BB962C8B-B14F-4D97-AF65-F5344CB8AC3E}">
        <p14:creationId xmlns:p14="http://schemas.microsoft.com/office/powerpoint/2010/main" val="181500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chine Learning and Simulated Annealing | by Macromoltek, Inc. | Medium">
            <a:extLst>
              <a:ext uri="{FF2B5EF4-FFF2-40B4-BE49-F238E27FC236}">
                <a16:creationId xmlns:a16="http://schemas.microsoft.com/office/drawing/2014/main" id="{8304ABDF-4BD8-43D6-818B-C2B46304C1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9" t="9091" r="8302"/>
          <a:stretch/>
        </p:blipFill>
        <p:spPr bwMode="auto">
          <a:xfrm>
            <a:off x="20" y="10"/>
            <a:ext cx="9143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CFBFDB9-6C57-442F-8592-E732F1DA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414" y="5105400"/>
            <a:ext cx="6808922" cy="75512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/>
            <a:r>
              <a:rPr lang="en-US" sz="5700" dirty="0"/>
              <a:t>Simulated Annealing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4688D-8B78-4F4F-B597-DB26DB0E0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414" y="5624945"/>
            <a:ext cx="680892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sz="2400" dirty="0">
                <a:solidFill>
                  <a:schemeClr val="tx1"/>
                </a:solidFill>
              </a:rPr>
              <a:t>Using heat to escape local </a:t>
            </a:r>
            <a:r>
              <a:rPr lang="en-US" dirty="0"/>
              <a:t>optima</a:t>
            </a:r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76013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Idea of Simulated Annealing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467226" y="1124740"/>
            <a:ext cx="8229600" cy="1341046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Use first-choice stochastic hill climbing + escape local minima by </a:t>
            </a:r>
            <a:r>
              <a:rPr lang="en-US" sz="2400" b="1" dirty="0">
                <a:solidFill>
                  <a:srgbClr val="FF0000"/>
                </a:solidFill>
              </a:rPr>
              <a:t>allowing some “bad” moves.</a:t>
            </a:r>
            <a:r>
              <a:rPr lang="en-US" sz="2400" dirty="0"/>
              <a:t> </a:t>
            </a:r>
          </a:p>
          <a:p>
            <a:r>
              <a:rPr lang="en-US" sz="2400" dirty="0"/>
              <a:t>Gradually decrease the frequency of bad moves.</a:t>
            </a:r>
            <a:endParaRPr lang="en-US" sz="2400" i="1" dirty="0"/>
          </a:p>
          <a:p>
            <a:r>
              <a:rPr lang="en-US" sz="2400" dirty="0"/>
              <a:t>Inspired by the process of controlled cooling of glass or metals. Decreasing the temperature means decreasing the chance of accepting bad moves.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5" name="Group 4" descr="A line chart showing how simulated annealing uses local moves that hurt the objective function to escape local optima.">
            <a:extLst>
              <a:ext uri="{FF2B5EF4-FFF2-40B4-BE49-F238E27FC236}">
                <a16:creationId xmlns:a16="http://schemas.microsoft.com/office/drawing/2014/main" id="{A88D550F-617E-17A5-FC94-4D1AAA8D64B0}"/>
              </a:ext>
            </a:extLst>
          </p:cNvPr>
          <p:cNvGrpSpPr/>
          <p:nvPr/>
        </p:nvGrpSpPr>
        <p:grpSpPr>
          <a:xfrm>
            <a:off x="1141882" y="2629303"/>
            <a:ext cx="7011510" cy="3771497"/>
            <a:chOff x="837082" y="2476903"/>
            <a:chExt cx="7630065" cy="4217029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B88A498-4238-4F25-927A-B25A07FFD214}"/>
                </a:ext>
              </a:extLst>
            </p:cNvPr>
            <p:cNvSpPr/>
            <p:nvPr/>
          </p:nvSpPr>
          <p:spPr>
            <a:xfrm>
              <a:off x="2229852" y="3230843"/>
              <a:ext cx="4704348" cy="2725030"/>
            </a:xfrm>
            <a:custGeom>
              <a:avLst/>
              <a:gdLst>
                <a:gd name="connsiteX0" fmla="*/ 0 w 4704348"/>
                <a:gd name="connsiteY0" fmla="*/ 619262 h 2725030"/>
                <a:gd name="connsiteX1" fmla="*/ 517358 w 4704348"/>
                <a:gd name="connsiteY1" fmla="*/ 619262 h 2725030"/>
                <a:gd name="connsiteX2" fmla="*/ 1624263 w 4704348"/>
                <a:gd name="connsiteY2" fmla="*/ 2724789 h 2725030"/>
                <a:gd name="connsiteX3" fmla="*/ 1973179 w 4704348"/>
                <a:gd name="connsiteY3" fmla="*/ 474883 h 2725030"/>
                <a:gd name="connsiteX4" fmla="*/ 2863516 w 4704348"/>
                <a:gd name="connsiteY4" fmla="*/ 41746 h 2725030"/>
                <a:gd name="connsiteX5" fmla="*/ 3561348 w 4704348"/>
                <a:gd name="connsiteY5" fmla="*/ 1136620 h 2725030"/>
                <a:gd name="connsiteX6" fmla="*/ 3922295 w 4704348"/>
                <a:gd name="connsiteY6" fmla="*/ 366599 h 2725030"/>
                <a:gd name="connsiteX7" fmla="*/ 4704348 w 4704348"/>
                <a:gd name="connsiteY7" fmla="*/ 77841 h 2725030"/>
                <a:gd name="connsiteX8" fmla="*/ 4704348 w 4704348"/>
                <a:gd name="connsiteY8" fmla="*/ 77841 h 2725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04348" h="2725030">
                  <a:moveTo>
                    <a:pt x="0" y="619262"/>
                  </a:moveTo>
                  <a:cubicBezTo>
                    <a:pt x="123324" y="443801"/>
                    <a:pt x="246648" y="268341"/>
                    <a:pt x="517358" y="619262"/>
                  </a:cubicBezTo>
                  <a:cubicBezTo>
                    <a:pt x="788069" y="970183"/>
                    <a:pt x="1381626" y="2748852"/>
                    <a:pt x="1624263" y="2724789"/>
                  </a:cubicBezTo>
                  <a:cubicBezTo>
                    <a:pt x="1866900" y="2700726"/>
                    <a:pt x="1766637" y="922057"/>
                    <a:pt x="1973179" y="474883"/>
                  </a:cubicBezTo>
                  <a:cubicBezTo>
                    <a:pt x="2179721" y="27709"/>
                    <a:pt x="2598821" y="-68543"/>
                    <a:pt x="2863516" y="41746"/>
                  </a:cubicBezTo>
                  <a:cubicBezTo>
                    <a:pt x="3128211" y="152035"/>
                    <a:pt x="3384885" y="1082478"/>
                    <a:pt x="3561348" y="1136620"/>
                  </a:cubicBezTo>
                  <a:cubicBezTo>
                    <a:pt x="3737811" y="1190762"/>
                    <a:pt x="3731795" y="543062"/>
                    <a:pt x="3922295" y="366599"/>
                  </a:cubicBezTo>
                  <a:cubicBezTo>
                    <a:pt x="4112795" y="190136"/>
                    <a:pt x="4704348" y="77841"/>
                    <a:pt x="4704348" y="77841"/>
                  </a:cubicBezTo>
                  <a:lnTo>
                    <a:pt x="4704348" y="77841"/>
                  </a:ln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B738C4E-A95D-489D-9579-FD6EA674D243}"/>
                </a:ext>
              </a:extLst>
            </p:cNvPr>
            <p:cNvCxnSpPr/>
            <p:nvPr/>
          </p:nvCxnSpPr>
          <p:spPr>
            <a:xfrm flipV="1">
              <a:off x="1752600" y="2971801"/>
              <a:ext cx="0" cy="335279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4F3055B-35B4-4F24-B50E-AFEA83252DF1}"/>
                </a:ext>
              </a:extLst>
            </p:cNvPr>
            <p:cNvCxnSpPr/>
            <p:nvPr/>
          </p:nvCxnSpPr>
          <p:spPr>
            <a:xfrm>
              <a:off x="1752600" y="6324600"/>
              <a:ext cx="58674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FCF25BC-6DE7-4C7F-B463-C41C39C3D4FB}"/>
                </a:ext>
              </a:extLst>
            </p:cNvPr>
            <p:cNvSpPr/>
            <p:nvPr/>
          </p:nvSpPr>
          <p:spPr>
            <a:xfrm>
              <a:off x="3778879" y="5879073"/>
              <a:ext cx="164430" cy="152391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590B38D-363A-4750-9B90-379BC952981D}"/>
                </a:ext>
              </a:extLst>
            </p:cNvPr>
            <p:cNvSpPr/>
            <p:nvPr/>
          </p:nvSpPr>
          <p:spPr>
            <a:xfrm>
              <a:off x="5257800" y="3483526"/>
              <a:ext cx="164430" cy="152391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394592C-C5E3-4E49-AA57-DE1194BE7340}"/>
                </a:ext>
              </a:extLst>
            </p:cNvPr>
            <p:cNvSpPr txBox="1"/>
            <p:nvPr/>
          </p:nvSpPr>
          <p:spPr>
            <a:xfrm rot="16200000">
              <a:off x="509615" y="4460669"/>
              <a:ext cx="19649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Objective function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007E55B-C211-40A0-8CB5-98DD3DB595B9}"/>
                </a:ext>
              </a:extLst>
            </p:cNvPr>
            <p:cNvSpPr txBox="1"/>
            <p:nvPr/>
          </p:nvSpPr>
          <p:spPr>
            <a:xfrm>
              <a:off x="4419600" y="6324600"/>
              <a:ext cx="304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State space</a:t>
              </a:r>
            </a:p>
          </p:txBody>
        </p:sp>
        <p:sp>
          <p:nvSpPr>
            <p:cNvPr id="2" name="Speech Bubble: Rectangle 1">
              <a:extLst>
                <a:ext uri="{FF2B5EF4-FFF2-40B4-BE49-F238E27FC236}">
                  <a16:creationId xmlns:a16="http://schemas.microsoft.com/office/drawing/2014/main" id="{FEA9AAFB-F0EB-468F-A6B6-AEADBB6ACFA7}"/>
                </a:ext>
              </a:extLst>
            </p:cNvPr>
            <p:cNvSpPr/>
            <p:nvPr/>
          </p:nvSpPr>
          <p:spPr>
            <a:xfrm>
              <a:off x="5896564" y="2480521"/>
              <a:ext cx="2570583" cy="567487"/>
            </a:xfrm>
            <a:prstGeom prst="wedgeRectCallout">
              <a:avLst>
                <a:gd name="adj1" fmla="val -74904"/>
                <a:gd name="adj2" fmla="val 10828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Initial “bad” local move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018AF8A-3755-47F2-8DCA-44AEBD5C28BE}"/>
                </a:ext>
              </a:extLst>
            </p:cNvPr>
            <p:cNvSpPr/>
            <p:nvPr/>
          </p:nvSpPr>
          <p:spPr>
            <a:xfrm>
              <a:off x="4686300" y="3124636"/>
              <a:ext cx="164430" cy="152391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160C125-8151-450F-B950-4AF441121E06}"/>
                </a:ext>
              </a:extLst>
            </p:cNvPr>
            <p:cNvSpPr/>
            <p:nvPr/>
          </p:nvSpPr>
          <p:spPr>
            <a:xfrm>
              <a:off x="4046150" y="3743904"/>
              <a:ext cx="164430" cy="152391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F9820E1-19DE-4652-B094-FE5DC9034E6D}"/>
                </a:ext>
              </a:extLst>
            </p:cNvPr>
            <p:cNvSpPr/>
            <p:nvPr/>
          </p:nvSpPr>
          <p:spPr>
            <a:xfrm>
              <a:off x="3956385" y="5081196"/>
              <a:ext cx="164430" cy="152391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D8F8B6D-96F1-43A5-89C9-E0712A42F7C8}"/>
                </a:ext>
              </a:extLst>
            </p:cNvPr>
            <p:cNvCxnSpPr>
              <a:cxnSpLocks/>
              <a:stCxn id="16" idx="3"/>
              <a:endCxn id="18" idx="7"/>
            </p:cNvCxnSpPr>
            <p:nvPr/>
          </p:nvCxnSpPr>
          <p:spPr>
            <a:xfrm flipH="1">
              <a:off x="4186500" y="3254711"/>
              <a:ext cx="523880" cy="511509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A63618E-3997-44A4-BA2F-A4E689AB018A}"/>
                </a:ext>
              </a:extLst>
            </p:cNvPr>
            <p:cNvCxnSpPr>
              <a:cxnSpLocks/>
              <a:stCxn id="18" idx="4"/>
              <a:endCxn id="20" idx="0"/>
            </p:cNvCxnSpPr>
            <p:nvPr/>
          </p:nvCxnSpPr>
          <p:spPr>
            <a:xfrm flipH="1">
              <a:off x="4038600" y="3896295"/>
              <a:ext cx="89765" cy="1184902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581C6C6-0114-4CDF-8932-468CF2F249FA}"/>
                </a:ext>
              </a:extLst>
            </p:cNvPr>
            <p:cNvCxnSpPr>
              <a:cxnSpLocks/>
              <a:stCxn id="24" idx="1"/>
              <a:endCxn id="16" idx="6"/>
            </p:cNvCxnSpPr>
            <p:nvPr/>
          </p:nvCxnSpPr>
          <p:spPr>
            <a:xfrm flipH="1" flipV="1">
              <a:off x="4850730" y="3200832"/>
              <a:ext cx="431150" cy="305011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689285B-5362-4E22-8540-0C04B7AE626A}"/>
                </a:ext>
              </a:extLst>
            </p:cNvPr>
            <p:cNvCxnSpPr>
              <a:cxnSpLocks/>
              <a:stCxn id="20" idx="4"/>
              <a:endCxn id="23" idx="7"/>
            </p:cNvCxnSpPr>
            <p:nvPr/>
          </p:nvCxnSpPr>
          <p:spPr>
            <a:xfrm flipH="1">
              <a:off x="3919229" y="5233588"/>
              <a:ext cx="119371" cy="667802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804D84-59A2-46E1-F0D0-79D80C6F9B24}"/>
                </a:ext>
              </a:extLst>
            </p:cNvPr>
            <p:cNvSpPr txBox="1"/>
            <p:nvPr/>
          </p:nvSpPr>
          <p:spPr>
            <a:xfrm>
              <a:off x="837082" y="2476903"/>
              <a:ext cx="1576741" cy="41296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Minimization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3989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73364" y="364680"/>
            <a:ext cx="8229600" cy="1143000"/>
          </a:xfrm>
        </p:spPr>
        <p:txBody>
          <a:bodyPr/>
          <a:lstStyle/>
          <a:p>
            <a:r>
              <a:rPr lang="en-US" dirty="0"/>
              <a:t>Simulated Annealing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382783"/>
                <a:ext cx="8229600" cy="157172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400" dirty="0"/>
                  <a:t>Use first-choice stochastic hill climbing + escape local minima by allowing some “bad” moves but gradually decreasing their frequency as we get closer to the solution.</a:t>
                </a:r>
              </a:p>
              <a:p>
                <a:r>
                  <a:rPr lang="en-US" sz="2400" dirty="0"/>
                  <a:t>Annealing tries to reach a low energy state: A negative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 means the solution gets better.</a:t>
                </a:r>
              </a:p>
              <a:p>
                <a:r>
                  <a:rPr lang="en-US" sz="2400" dirty="0"/>
                  <a:t>The probability of accepting “bad” moves follows the annealing schedule, which reduces the temperature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over time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89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82783"/>
                <a:ext cx="8229600" cy="1571720"/>
              </a:xfrm>
              <a:blipFill>
                <a:blip r:embed="rId3"/>
                <a:stretch>
                  <a:fillRect l="-370" t="-5814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6DF12840-478B-E66F-518E-B14367B7DA11}"/>
              </a:ext>
            </a:extLst>
          </p:cNvPr>
          <p:cNvGrpSpPr/>
          <p:nvPr/>
        </p:nvGrpSpPr>
        <p:grpSpPr>
          <a:xfrm>
            <a:off x="760429" y="2991462"/>
            <a:ext cx="7327852" cy="3381825"/>
            <a:chOff x="760429" y="2991462"/>
            <a:chExt cx="7327852" cy="33818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9E4DA17-3F53-4822-B860-49A5B33E0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0429" y="3361434"/>
              <a:ext cx="7327852" cy="2540099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DCE432-FFCC-4847-B992-99ECD289E083}"/>
                </a:ext>
              </a:extLst>
            </p:cNvPr>
            <p:cNvSpPr/>
            <p:nvPr/>
          </p:nvSpPr>
          <p:spPr>
            <a:xfrm>
              <a:off x="2152650" y="4687052"/>
              <a:ext cx="3619500" cy="283744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D3D5211C-0F88-4E15-8C63-25B69B500F94}"/>
                    </a:ext>
                  </a:extLst>
                </p:cNvPr>
                <p:cNvSpPr txBox="1"/>
                <p:nvPr/>
              </p:nvSpPr>
              <p:spPr>
                <a:xfrm>
                  <a:off x="760429" y="6003955"/>
                  <a:ext cx="5499052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Note: Use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𝑉𝐴𝐿𝑈𝐸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𝑐𝑢𝑟𝑟𝑒𝑛𝑡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 – 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𝑉𝐴𝐿𝑈𝐸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𝑛𝑒𝑥𝑡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en-US" dirty="0"/>
                    <a:t>for maximization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D3D5211C-0F88-4E15-8C63-25B69B500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429" y="6003955"/>
                  <a:ext cx="5499052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7937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Speech Bubble: Rectangle with Corners Rounded 3">
              <a:extLst>
                <a:ext uri="{FF2B5EF4-FFF2-40B4-BE49-F238E27FC236}">
                  <a16:creationId xmlns:a16="http://schemas.microsoft.com/office/drawing/2014/main" id="{77583697-6487-245E-D2B9-962B3B723C25}"/>
                </a:ext>
              </a:extLst>
            </p:cNvPr>
            <p:cNvSpPr/>
            <p:nvPr/>
          </p:nvSpPr>
          <p:spPr>
            <a:xfrm>
              <a:off x="3962400" y="3747753"/>
              <a:ext cx="3886200" cy="313921"/>
            </a:xfrm>
            <a:prstGeom prst="wedgeRoundRectCallout">
              <a:avLst>
                <a:gd name="adj1" fmla="val -56299"/>
                <a:gd name="adj2" fmla="val -21711"/>
                <a:gd name="adj3" fmla="val 16667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Typically, we start with a random state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E2519B8-A295-E293-407D-C6C19B76DB00}"/>
                </a:ext>
              </a:extLst>
            </p:cNvPr>
            <p:cNvSpPr txBox="1"/>
            <p:nvPr/>
          </p:nvSpPr>
          <p:spPr>
            <a:xfrm>
              <a:off x="6672059" y="2991462"/>
              <a:ext cx="1416222" cy="36933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Minimization</a:t>
              </a:r>
            </a:p>
          </p:txBody>
        </p:sp>
      </p:grp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1A378652-AA0A-4C4A-BA6B-041F1F31EF29}"/>
              </a:ext>
            </a:extLst>
          </p:cNvPr>
          <p:cNvSpPr/>
          <p:nvPr/>
        </p:nvSpPr>
        <p:spPr>
          <a:xfrm>
            <a:off x="6291841" y="5061491"/>
            <a:ext cx="2514600" cy="1283293"/>
          </a:xfrm>
          <a:prstGeom prst="wedgeRectCallout">
            <a:avLst>
              <a:gd name="adj1" fmla="val -65769"/>
              <a:gd name="adj2" fmla="val -167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Accept “bad” moves using the Metropolis criterion (from MCMC algorithms for sampling from distributions).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D9A127-86B3-0E35-6D77-658EBE73E263}"/>
                  </a:ext>
                </a:extLst>
              </p:cNvPr>
              <p:cNvSpPr txBox="1"/>
              <p:nvPr/>
            </p:nvSpPr>
            <p:spPr>
              <a:xfrm>
                <a:off x="2152650" y="4970796"/>
                <a:ext cx="2952750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𝑉𝐴𝐿𝑈𝐸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𝑛𝑒𝑥𝑡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) – 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𝑉𝐴𝐿𝑈𝐸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𝑐𝑢𝑟𝑟𝑒𝑛𝑡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D9A127-86B3-0E35-6D77-658EBE73E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50" y="4970796"/>
                <a:ext cx="2952750" cy="246221"/>
              </a:xfrm>
              <a:prstGeom prst="rect">
                <a:avLst/>
              </a:prstGeom>
              <a:blipFill>
                <a:blip r:embed="rId6"/>
                <a:stretch>
                  <a:fillRect l="-2268" r="-3299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CBA8124E-6934-4A72-B73D-1A88B88D2D55}"/>
              </a:ext>
            </a:extLst>
          </p:cNvPr>
          <p:cNvSpPr/>
          <p:nvPr/>
        </p:nvSpPr>
        <p:spPr>
          <a:xfrm>
            <a:off x="6324600" y="4267200"/>
            <a:ext cx="2514600" cy="548949"/>
          </a:xfrm>
          <a:prstGeom prst="wedgeRectCallout">
            <a:avLst>
              <a:gd name="adj1" fmla="val -129345"/>
              <a:gd name="adj2" fmla="val 1479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Always accept good moves that reduce the energy.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D737EF-5486-9ED3-5056-C1CB5131EEA4}"/>
                  </a:ext>
                </a:extLst>
              </p:cNvPr>
              <p:cNvSpPr txBox="1"/>
              <p:nvPr/>
            </p:nvSpPr>
            <p:spPr>
              <a:xfrm>
                <a:off x="2057400" y="5200625"/>
                <a:ext cx="257604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D737EF-5486-9ED3-5056-C1CB5131E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200625"/>
                <a:ext cx="257604" cy="246221"/>
              </a:xfrm>
              <a:prstGeom prst="rect">
                <a:avLst/>
              </a:prstGeom>
              <a:blipFill>
                <a:blip r:embed="rId7"/>
                <a:stretch>
                  <a:fillRect l="-14286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Temperature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074B0-905C-9D6B-72DA-A555C3120245}"/>
              </a:ext>
            </a:extLst>
          </p:cNvPr>
          <p:cNvSpPr txBox="1"/>
          <p:nvPr/>
        </p:nvSpPr>
        <p:spPr>
          <a:xfrm>
            <a:off x="709814" y="1397333"/>
            <a:ext cx="8114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Convert the changes due to “bad” moves into an acceptance probability depending</a:t>
            </a:r>
            <a:br>
              <a:rPr lang="en-US" dirty="0"/>
            </a:br>
            <a:r>
              <a:rPr lang="en-US" dirty="0"/>
              <a:t>on the temperature. The criterion uses the negative part of the exponential function.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39E841-B94C-6428-44E8-A97A812115B4}"/>
              </a:ext>
            </a:extLst>
          </p:cNvPr>
          <p:cNvSpPr txBox="1"/>
          <p:nvPr/>
        </p:nvSpPr>
        <p:spPr>
          <a:xfrm>
            <a:off x="6896053" y="166421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always accept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A52813-0DF1-2F23-36AD-4F970D10E5DA}"/>
              </a:ext>
            </a:extLst>
          </p:cNvPr>
          <p:cNvGrpSpPr/>
          <p:nvPr/>
        </p:nvGrpSpPr>
        <p:grpSpPr>
          <a:xfrm>
            <a:off x="1689894" y="2353564"/>
            <a:ext cx="5764212" cy="4088760"/>
            <a:chOff x="1689894" y="2353564"/>
            <a:chExt cx="5764212" cy="40887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FFAD9-F08B-E77E-787E-0ED965945176}"/>
                    </a:ext>
                  </a:extLst>
                </p:cNvPr>
                <p:cNvSpPr txBox="1"/>
                <p:nvPr/>
              </p:nvSpPr>
              <p:spPr>
                <a:xfrm>
                  <a:off x="2438400" y="2353564"/>
                  <a:ext cx="17526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/>
                        </a:rPr>
                        <m:t>←</m:t>
                      </m:r>
                    </m:oMath>
                  </a14:m>
                  <a:r>
                    <a:rPr lang="en-US" dirty="0">
                      <a:sym typeface="Symbol"/>
                    </a:rPr>
                    <a:t> a</a:t>
                  </a:r>
                  <a:r>
                    <a:rPr lang="en-US" sz="1800" dirty="0">
                      <a:sym typeface="Symbol"/>
                    </a:rPr>
                    <a:t>lways accept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FFAD9-F08B-E77E-787E-0ED9659451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8400" y="2353564"/>
                  <a:ext cx="1752600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8197" r="-10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3" name="Chart 22">
                  <a:extLst>
                    <a:ext uri="{FF2B5EF4-FFF2-40B4-BE49-F238E27FC236}">
                      <a16:creationId xmlns:a16="http://schemas.microsoft.com/office/drawing/2014/main" id="{E52E57AE-5356-760F-1162-02AB96438E5E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911953294"/>
                    </p:ext>
                  </p:extLst>
                </p:nvPr>
              </p:nvGraphicFramePr>
              <p:xfrm>
                <a:off x="1689894" y="2613244"/>
                <a:ext cx="5764212" cy="3432175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Choice>
          <mc:Fallback xmlns="">
            <p:graphicFrame>
              <p:nvGraphicFramePr>
                <p:cNvPr id="23" name="Chart 22">
                  <a:extLst>
                    <a:ext uri="{FF2B5EF4-FFF2-40B4-BE49-F238E27FC236}">
                      <a16:creationId xmlns:a16="http://schemas.microsoft.com/office/drawing/2014/main" id="{E52E57AE-5356-760F-1162-02AB96438E5E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911953294"/>
                    </p:ext>
                  </p:extLst>
                </p:nvPr>
              </p:nvGraphicFramePr>
              <p:xfrm>
                <a:off x="1689894" y="2613244"/>
                <a:ext cx="5764212" cy="3432175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5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0F0D19A-BE63-50AE-78CF-442577471839}"/>
                    </a:ext>
                  </a:extLst>
                </p:cNvPr>
                <p:cNvSpPr txBox="1"/>
                <p:nvPr/>
              </p:nvSpPr>
              <p:spPr>
                <a:xfrm>
                  <a:off x="4952262" y="5795993"/>
                  <a:ext cx="2326599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>
                      <a:sym typeface="Symbol"/>
                    </a:rPr>
                    <a:t>solution gets worse </a:t>
                  </a:r>
                  <a14:m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  <a:sym typeface="Symbol"/>
                        </a:rPr>
                        <m:t>→</m:t>
                      </m:r>
                    </m:oMath>
                  </a14:m>
                  <a:endParaRPr lang="en-US" dirty="0">
                    <a:sym typeface="Symbol"/>
                  </a:endParaRPr>
                </a:p>
                <a:p>
                  <a:pPr algn="ctr"/>
                  <a:r>
                    <a:rPr lang="en-US" dirty="0"/>
                    <a:t>accept with </a:t>
                  </a:r>
                  <a:r>
                    <a:rPr lang="en-US" dirty="0">
                      <a:sym typeface="Symbol"/>
                    </a:rPr>
                    <a:t>exp(-E/</a:t>
                  </a:r>
                  <a:r>
                    <a:rPr lang="en-US" i="1" dirty="0">
                      <a:sym typeface="Symbol"/>
                    </a:rPr>
                    <a:t>T</a:t>
                  </a:r>
                  <a:r>
                    <a:rPr lang="en-US" dirty="0">
                      <a:sym typeface="Symbol"/>
                    </a:rPr>
                    <a:t>)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0F0D19A-BE63-50AE-78CF-4425774718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2262" y="5795993"/>
                  <a:ext cx="2326599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2094" t="-5660" r="-2094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2A4B3B-E3F0-3DE2-E4A3-A070682E9A12}"/>
                </a:ext>
              </a:extLst>
            </p:cNvPr>
            <p:cNvSpPr txBox="1"/>
            <p:nvPr/>
          </p:nvSpPr>
          <p:spPr>
            <a:xfrm>
              <a:off x="4324008" y="5786735"/>
              <a:ext cx="44303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800" dirty="0">
                  <a:sym typeface="Symbol"/>
                </a:rPr>
                <a:t>E</a:t>
              </a:r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823F0E-4C5B-9A37-2079-AF15E875B403}"/>
                </a:ext>
              </a:extLst>
            </p:cNvPr>
            <p:cNvSpPr txBox="1"/>
            <p:nvPr/>
          </p:nvSpPr>
          <p:spPr>
            <a:xfrm>
              <a:off x="5486400" y="441748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5D78-63EA-4A10-97DF-4B852383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Cooling Schedule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04CBB6-6246-44D5-9D03-9974A120C8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9862" y="1600200"/>
                <a:ext cx="7805487" cy="45767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The cooling schedule is very important. </a:t>
                </a:r>
                <a:br>
                  <a:rPr lang="en-US" sz="1800" dirty="0"/>
                </a:br>
                <a:r>
                  <a:rPr lang="en-US" sz="1800" dirty="0"/>
                  <a:t>Schedules for the temperature at time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r>
                  <a:rPr lang="en-US" sz="1800" b="1" dirty="0"/>
                  <a:t>Classic simulated annealing: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1800" dirty="0"/>
              </a:p>
              <a:p>
                <a:r>
                  <a:rPr lang="en-US" sz="1800" b="1" dirty="0"/>
                  <a:t>Exponential cooling  </a:t>
                </a:r>
                <a:r>
                  <a:rPr lang="en-US" sz="1800" dirty="0">
                    <a:solidFill>
                      <a:schemeClr val="bg1">
                        <a:lumMod val="50000"/>
                      </a:schemeClr>
                    </a:solidFill>
                  </a:rPr>
                  <a:t>(Kirkpatrick, </a:t>
                </a:r>
                <a:r>
                  <a:rPr lang="en-US" sz="1800" dirty="0" err="1">
                    <a:solidFill>
                      <a:schemeClr val="bg1">
                        <a:lumMod val="50000"/>
                      </a:schemeClr>
                    </a:solidFill>
                  </a:rPr>
                  <a:t>Gelatt</a:t>
                </a:r>
                <a:r>
                  <a:rPr lang="en-US" sz="1800" dirty="0">
                    <a:solidFill>
                      <a:schemeClr val="bg1">
                        <a:lumMod val="50000"/>
                      </a:schemeClr>
                    </a:solidFill>
                  </a:rPr>
                  <a:t> and </a:t>
                </a:r>
                <a:r>
                  <a:rPr lang="en-US" sz="1800" dirty="0" err="1">
                    <a:solidFill>
                      <a:schemeClr val="bg1">
                        <a:lumMod val="50000"/>
                      </a:schemeClr>
                    </a:solidFill>
                  </a:rPr>
                  <a:t>Vecchi</a:t>
                </a:r>
                <a:r>
                  <a:rPr lang="en-US" sz="1800" dirty="0">
                    <a:solidFill>
                      <a:schemeClr val="bg1">
                        <a:lumMod val="50000"/>
                      </a:schemeClr>
                    </a:solidFill>
                  </a:rPr>
                  <a:t>; 1983)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800" dirty="0"/>
                  <a:t>     for 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0.8&lt;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1800" dirty="0"/>
                  <a:t> </a:t>
                </a:r>
                <a:endParaRPr lang="en-US" sz="1800" b="1" dirty="0"/>
              </a:p>
              <a:p>
                <a:r>
                  <a:rPr lang="en-US" sz="1800" b="1" dirty="0"/>
                  <a:t>Fast simulated annealing </a:t>
                </a:r>
                <a:r>
                  <a:rPr lang="en-US" sz="1800" dirty="0">
                    <a:solidFill>
                      <a:schemeClr val="bg1">
                        <a:lumMod val="50000"/>
                      </a:schemeClr>
                    </a:solidFill>
                  </a:rPr>
                  <a:t>(</a:t>
                </a:r>
                <a:r>
                  <a:rPr lang="en-US" sz="1800" dirty="0" err="1">
                    <a:solidFill>
                      <a:schemeClr val="bg1">
                        <a:lumMod val="50000"/>
                      </a:schemeClr>
                    </a:solidFill>
                  </a:rPr>
                  <a:t>Szy</a:t>
                </a:r>
                <a:r>
                  <a:rPr lang="en-US" sz="1800" dirty="0">
                    <a:solidFill>
                      <a:schemeClr val="bg1">
                        <a:lumMod val="50000"/>
                      </a:schemeClr>
                    </a:solidFill>
                  </a:rPr>
                  <a:t> and Hartley; 1987)</a:t>
                </a:r>
                <a:r>
                  <a:rPr lang="en-US" sz="1800" dirty="0"/>
                  <a:t>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/>
                  <a:t>Notes:</a:t>
                </a:r>
                <a:endParaRPr lang="en-US" sz="16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1600" dirty="0"/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to provide a high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that an average move will be accepted at time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sz="1600" dirty="0"/>
                  <a:t>.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0.8 or 0.9 is often used. A conservative choice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is to use the worst possible move. This is a rule of thumb!</a:t>
                </a: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1600" dirty="0"/>
                  <a:t>Stopping rule: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/>
                  <a:t> will not become 0 but very small. Stop when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600" dirty="0"/>
                  <a:t> is a very small constant).</a:t>
                </a: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1600" dirty="0"/>
                  <a:t>The best schedule is typically determined by trial-and-error. The goal is to have a low chance of getting stuck in a local optima.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04CBB6-6246-44D5-9D03-9974A120C8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9862" y="1600200"/>
                <a:ext cx="7805487" cy="4576763"/>
              </a:xfrm>
              <a:blipFill>
                <a:blip r:embed="rId3"/>
                <a:stretch>
                  <a:fillRect l="-468" t="-1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3193E73-0B16-BD14-FBE9-1B2D490EB977}"/>
              </a:ext>
            </a:extLst>
          </p:cNvPr>
          <p:cNvSpPr/>
          <p:nvPr/>
        </p:nvSpPr>
        <p:spPr>
          <a:xfrm>
            <a:off x="7181850" y="3331369"/>
            <a:ext cx="1271338" cy="707231"/>
          </a:xfrm>
          <a:prstGeom prst="wedgeRoundRectCallout">
            <a:avLst>
              <a:gd name="adj1" fmla="val -142767"/>
              <a:gd name="adj2" fmla="val -9551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This is the most popular choice!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74F7ED-4597-6881-41D0-9D77FC07F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28600"/>
            <a:ext cx="3581400" cy="233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5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Annealing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/>
              <a:t>Guarantee</a:t>
            </a:r>
            <a:endParaRPr lang="en-US" b="1" dirty="0"/>
          </a:p>
          <a:p>
            <a:pPr marL="0" indent="0">
              <a:buNone/>
            </a:pPr>
            <a:r>
              <a:rPr lang="en-US" sz="2800" dirty="0"/>
              <a:t>If the temperature </a:t>
            </a:r>
            <a:r>
              <a:rPr lang="en-US" dirty="0"/>
              <a:t>is </a:t>
            </a:r>
            <a:r>
              <a:rPr lang="en-US" sz="2800" dirty="0"/>
              <a:t>decreased </a:t>
            </a:r>
            <a:r>
              <a:rPr lang="en-US" sz="2800" b="1" dirty="0"/>
              <a:t>slowly enough </a:t>
            </a:r>
            <a:r>
              <a:rPr lang="en-US" sz="2800" dirty="0"/>
              <a:t>(</a:t>
            </a:r>
            <a:r>
              <a:rPr lang="en-US" dirty="0"/>
              <a:t>using the classic cooling schedule</a:t>
            </a:r>
            <a:r>
              <a:rPr lang="en-US" sz="2800" dirty="0"/>
              <a:t>), then simulated annealing search will find a </a:t>
            </a:r>
            <a:r>
              <a:rPr lang="en-US" sz="2800" b="1" dirty="0"/>
              <a:t>global optimum</a:t>
            </a:r>
            <a:r>
              <a:rPr lang="en-US" sz="2800" dirty="0"/>
              <a:t> with a probability approaching one.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dirty="0"/>
              <a:t>However, this schedule takes too long and thus is </a:t>
            </a:r>
            <a:r>
              <a:rPr lang="en-US" b="1" dirty="0"/>
              <a:t>impractical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Practical solution</a:t>
            </a:r>
          </a:p>
          <a:p>
            <a:pPr lvl="1"/>
            <a:r>
              <a:rPr lang="en-US" dirty="0"/>
              <a:t>Accept suboptimal results and determine the best cooling schedule and local move need experimentally.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5BECA7-0183-48D3-8C11-FBB314842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2" y="4071597"/>
            <a:ext cx="7886700" cy="1286544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/>
              <a:t>Evolutionary Algorithms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741F3D-D946-4EFC-AE5A-5B7E09D30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601" y="5572126"/>
            <a:ext cx="7882041" cy="556964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spcBef>
                <a:spcPts val="1000"/>
              </a:spcBef>
            </a:pPr>
            <a:r>
              <a:rPr lang="en-US" sz="2400" dirty="0">
                <a:solidFill>
                  <a:schemeClr val="tx1"/>
                </a:solidFill>
              </a:rPr>
              <a:t>A Population-based Metaheuristics</a:t>
            </a:r>
          </a:p>
        </p:txBody>
      </p:sp>
      <p:pic>
        <p:nvPicPr>
          <p:cNvPr id="3074" name="Picture 2" descr="How Did Humans Evolve? - HISTORY">
            <a:extLst>
              <a:ext uri="{FF2B5EF4-FFF2-40B4-BE49-F238E27FC236}">
                <a16:creationId xmlns:a16="http://schemas.microsoft.com/office/drawing/2014/main" id="{2ECC42EE-47C5-42B1-BD6F-0F6918D168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50" b="4924"/>
          <a:stretch/>
        </p:blipFill>
        <p:spPr bwMode="auto">
          <a:xfrm>
            <a:off x="20" y="2"/>
            <a:ext cx="9143979" cy="390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508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FFFAE-EFDF-49BB-8F34-46D96EFC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Evolutionary Algorithms / Genetic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40006-CD6C-43E3-B5D6-AFE7D4019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3034504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A metaheuristic for </a:t>
            </a:r>
            <a:r>
              <a:rPr lang="en-US" sz="2600" b="1" dirty="0">
                <a:solidFill>
                  <a:srgbClr val="FF0000"/>
                </a:solidFill>
              </a:rPr>
              <a:t>population-</a:t>
            </a:r>
            <a:r>
              <a:rPr lang="en-US" sz="2600" dirty="0"/>
              <a:t>based optimization.  </a:t>
            </a:r>
          </a:p>
          <a:p>
            <a:r>
              <a:rPr lang="en-US" sz="2600" dirty="0"/>
              <a:t>Uses mechanisms inspired by biological evolution (genetics):</a:t>
            </a:r>
          </a:p>
          <a:p>
            <a:pPr lvl="1"/>
            <a:r>
              <a:rPr lang="en-US" dirty="0"/>
              <a:t>Reproduction: Random selection with probability based on a </a:t>
            </a:r>
            <a:r>
              <a:rPr lang="en-US" b="1" dirty="0">
                <a:solidFill>
                  <a:srgbClr val="FF0000"/>
                </a:solidFill>
              </a:rPr>
              <a:t>fitness</a:t>
            </a:r>
            <a:r>
              <a:rPr lang="en-US" dirty="0"/>
              <a:t> function.</a:t>
            </a:r>
          </a:p>
          <a:p>
            <a:pPr lvl="1"/>
            <a:r>
              <a:rPr lang="en-US" dirty="0"/>
              <a:t>Random recombination (crossover)</a:t>
            </a:r>
          </a:p>
          <a:p>
            <a:pPr lvl="1"/>
            <a:r>
              <a:rPr lang="en-US" dirty="0"/>
              <a:t>Random mutation</a:t>
            </a:r>
          </a:p>
          <a:p>
            <a:pPr lvl="1"/>
            <a:r>
              <a:rPr lang="en-US" dirty="0"/>
              <a:t>Repeated for many generations</a:t>
            </a:r>
          </a:p>
          <a:p>
            <a:pPr lvl="1"/>
            <a:endParaRPr lang="en-US" dirty="0"/>
          </a:p>
          <a:p>
            <a:r>
              <a:rPr lang="en-US" dirty="0"/>
              <a:t>Example: 8-queens problem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5D924B-3E08-F89D-B3B2-51221E352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5782" y="3247299"/>
            <a:ext cx="8450513" cy="3246063"/>
            <a:chOff x="425782" y="3247299"/>
            <a:chExt cx="8450513" cy="324606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C0B2814-F1F8-4D43-86FB-34844A1D7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275" y="4559221"/>
              <a:ext cx="5404128" cy="167013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2AA020C-914A-4738-A082-4CB0B2517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4146" y="3276600"/>
              <a:ext cx="3359647" cy="1018616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E8C26DE-8C8B-435B-8A08-B2B5B13D27E1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4140068" y="3771900"/>
              <a:ext cx="1117732" cy="9525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10548C8-9565-4B85-A54B-F8DCD640B030}"/>
                </a:ext>
              </a:extLst>
            </p:cNvPr>
            <p:cNvSpPr/>
            <p:nvPr/>
          </p:nvSpPr>
          <p:spPr>
            <a:xfrm>
              <a:off x="5257800" y="3276600"/>
              <a:ext cx="3460418" cy="990600"/>
            </a:xfrm>
            <a:prstGeom prst="roundRect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67621FA5-A37F-4235-B5EC-56DEACF5529C}"/>
                </a:ext>
              </a:extLst>
            </p:cNvPr>
            <p:cNvSpPr/>
            <p:nvPr/>
          </p:nvSpPr>
          <p:spPr>
            <a:xfrm>
              <a:off x="6019801" y="4511899"/>
              <a:ext cx="150321" cy="1386692"/>
            </a:xfrm>
            <a:prstGeom prst="righ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CF9C78B-B750-4717-9BB4-5DC26836BD64}"/>
                </a:ext>
              </a:extLst>
            </p:cNvPr>
            <p:cNvGrpSpPr/>
            <p:nvPr/>
          </p:nvGrpSpPr>
          <p:grpSpPr>
            <a:xfrm>
              <a:off x="425782" y="5255178"/>
              <a:ext cx="5898818" cy="1238184"/>
              <a:chOff x="425782" y="5407578"/>
              <a:chExt cx="5898818" cy="123818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D89B68D6-5980-475B-AA49-25096CC09CB2}"/>
                  </a:ext>
                </a:extLst>
              </p:cNvPr>
              <p:cNvCxnSpPr/>
              <p:nvPr/>
            </p:nvCxnSpPr>
            <p:spPr>
              <a:xfrm flipH="1" flipV="1">
                <a:off x="425782" y="6598440"/>
                <a:ext cx="5898818" cy="47322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9B7D367-5F94-44A6-B9B6-35E0F28EF273}"/>
                  </a:ext>
                </a:extLst>
              </p:cNvPr>
              <p:cNvCxnSpPr/>
              <p:nvPr/>
            </p:nvCxnSpPr>
            <p:spPr>
              <a:xfrm>
                <a:off x="6324600" y="5407578"/>
                <a:ext cx="0" cy="1238184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EF54276-09BB-4C23-A163-3D13FA000847}"/>
                  </a:ext>
                </a:extLst>
              </p:cNvPr>
              <p:cNvCxnSpPr/>
              <p:nvPr/>
            </p:nvCxnSpPr>
            <p:spPr>
              <a:xfrm flipV="1">
                <a:off x="425782" y="5407578"/>
                <a:ext cx="0" cy="1190862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0FC71E9F-3D02-48AE-BBF8-D7065F94109C}"/>
                  </a:ext>
                </a:extLst>
              </p:cNvPr>
              <p:cNvCxnSpPr/>
              <p:nvPr/>
            </p:nvCxnSpPr>
            <p:spPr>
              <a:xfrm>
                <a:off x="425782" y="5410200"/>
                <a:ext cx="2944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1A7E4B-27D6-4743-89C5-8CD17FBD5E1A}"/>
                </a:ext>
              </a:extLst>
            </p:cNvPr>
            <p:cNvSpPr txBox="1"/>
            <p:nvPr/>
          </p:nvSpPr>
          <p:spPr>
            <a:xfrm>
              <a:off x="2932296" y="6171357"/>
              <a:ext cx="13572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2"/>
                  </a:solidFill>
                </a:rPr>
                <a:t>next generation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C36D43F-437A-488E-BFE0-E87F6363C3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2714" y="6324600"/>
              <a:ext cx="3495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F4686822-ADF9-466B-ACEC-0CE426330DDD}"/>
                </a:ext>
              </a:extLst>
            </p:cNvPr>
            <p:cNvSpPr/>
            <p:nvPr/>
          </p:nvSpPr>
          <p:spPr>
            <a:xfrm>
              <a:off x="6716349" y="4558504"/>
              <a:ext cx="2159946" cy="1752600"/>
            </a:xfrm>
            <a:prstGeom prst="wedgeRoundRectCallout">
              <a:avLst>
                <a:gd name="adj1" fmla="val -29679"/>
                <a:gd name="adj2" fmla="val -72029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Individual = state</a:t>
              </a:r>
              <a:br>
                <a:rPr lang="en-US" dirty="0"/>
              </a:br>
              <a:r>
                <a:rPr lang="en-US" b="1" dirty="0"/>
                <a:t>representation</a:t>
              </a:r>
              <a:r>
                <a:rPr lang="en-US" dirty="0"/>
                <a:t> as a chromosome: row of the queen in each column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3D9B35-D890-4576-8782-BADB83F89341}"/>
                </a:ext>
              </a:extLst>
            </p:cNvPr>
            <p:cNvSpPr txBox="1"/>
            <p:nvPr/>
          </p:nvSpPr>
          <p:spPr>
            <a:xfrm>
              <a:off x="5320291" y="3247299"/>
              <a:ext cx="235962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8</a:t>
              </a:r>
            </a:p>
            <a:p>
              <a:r>
                <a:rPr lang="en-US" sz="800" dirty="0"/>
                <a:t>7</a:t>
              </a:r>
            </a:p>
            <a:p>
              <a:r>
                <a:rPr lang="en-US" sz="800" dirty="0"/>
                <a:t>6</a:t>
              </a:r>
            </a:p>
            <a:p>
              <a:r>
                <a:rPr lang="en-US" sz="800" dirty="0"/>
                <a:t>5</a:t>
              </a:r>
            </a:p>
            <a:p>
              <a:r>
                <a:rPr lang="en-US" sz="800" dirty="0"/>
                <a:t>4</a:t>
              </a:r>
            </a:p>
            <a:p>
              <a:r>
                <a:rPr lang="en-US" sz="800" dirty="0"/>
                <a:t>3</a:t>
              </a:r>
            </a:p>
            <a:p>
              <a:r>
                <a:rPr lang="en-US" sz="800" dirty="0"/>
                <a:t>2</a:t>
              </a:r>
            </a:p>
            <a:p>
              <a:r>
                <a:rPr lang="en-US" sz="800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55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3CF52F-7B91-4E3D-B499-FCD139183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90" y="5372802"/>
            <a:ext cx="5972610" cy="812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b="1" dirty="0"/>
              <a:t>Search in Continuous Spaces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9E7834-612A-D0DB-C9C5-95DEA7EDE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3130" r="1035" b="3"/>
          <a:stretch/>
        </p:blipFill>
        <p:spPr bwMode="auto">
          <a:xfrm>
            <a:off x="2667000" y="543072"/>
            <a:ext cx="6171616" cy="48297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9942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CB77-AB20-45FB-840D-C40141FF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Methods: Discretization of Continuous Space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EE21AE-4AA1-41EA-8900-1C974169C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24001"/>
                <a:ext cx="7886700" cy="4652962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Use atomic states and create a graph as the transition function.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Use a grid with spacing of size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2000" dirty="0"/>
              </a:p>
              <a:p>
                <a:pPr marL="342900" lvl="1" indent="0">
                  <a:buNone/>
                </a:pPr>
                <a:r>
                  <a:rPr lang="en-US" sz="2000" dirty="0"/>
                  <a:t>Note: You probably need a way</a:t>
                </a:r>
                <a:br>
                  <a:rPr lang="en-US" sz="2000" dirty="0"/>
                </a:br>
                <a:r>
                  <a:rPr lang="en-US" sz="2000" dirty="0"/>
                  <a:t>           finer grid!</a:t>
                </a:r>
                <a:br>
                  <a:rPr lang="en-US" sz="2000" dirty="0"/>
                </a:br>
                <a:r>
                  <a:rPr lang="en-US" sz="2000" dirty="0"/>
                  <a:t>      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EE21AE-4AA1-41EA-8900-1C974169C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24001"/>
                <a:ext cx="7886700" cy="4652962"/>
              </a:xfrm>
              <a:blipFill>
                <a:blip r:embed="rId2"/>
                <a:stretch>
                  <a:fillRect l="-696" t="-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 descr="Discretizing a map of Romania into a graph that connects the major cities. ">
            <a:extLst>
              <a:ext uri="{FF2B5EF4-FFF2-40B4-BE49-F238E27FC236}">
                <a16:creationId xmlns:a16="http://schemas.microsoft.com/office/drawing/2014/main" id="{2948FCF3-99ED-4EF4-B0F2-D5542D41CA18}"/>
              </a:ext>
            </a:extLst>
          </p:cNvPr>
          <p:cNvGrpSpPr/>
          <p:nvPr/>
        </p:nvGrpSpPr>
        <p:grpSpPr>
          <a:xfrm>
            <a:off x="1600200" y="2012672"/>
            <a:ext cx="5702450" cy="1934713"/>
            <a:chOff x="1536546" y="2256287"/>
            <a:chExt cx="5702450" cy="1934713"/>
          </a:xfrm>
        </p:grpSpPr>
        <p:pic>
          <p:nvPicPr>
            <p:cNvPr id="5" name="Picture 4" descr="romania-distances">
              <a:extLst>
                <a:ext uri="{FF2B5EF4-FFF2-40B4-BE49-F238E27FC236}">
                  <a16:creationId xmlns:a16="http://schemas.microsoft.com/office/drawing/2014/main" id="{EB4CC2F8-66AD-494E-B5AA-B5C220E7FC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114800" y="2313525"/>
              <a:ext cx="3124196" cy="1877475"/>
            </a:xfrm>
            <a:prstGeom prst="rect">
              <a:avLst/>
            </a:prstGeom>
            <a:noFill/>
            <a:ln/>
          </p:spPr>
        </p:pic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FC2BEE9E-7CC1-4623-87FF-A0641230D9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536546" y="2256287"/>
              <a:ext cx="2330604" cy="1828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D907417-1BCF-4FF6-B6B7-14C6765A0589}"/>
                </a:ext>
              </a:extLst>
            </p:cNvPr>
            <p:cNvSpPr/>
            <p:nvPr/>
          </p:nvSpPr>
          <p:spPr>
            <a:xfrm>
              <a:off x="3733800" y="3077643"/>
              <a:ext cx="533400" cy="457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 descr="Discretizing the map of Romania using a grid.">
            <a:extLst>
              <a:ext uri="{FF2B5EF4-FFF2-40B4-BE49-F238E27FC236}">
                <a16:creationId xmlns:a16="http://schemas.microsoft.com/office/drawing/2014/main" id="{3A977063-43B4-6CD3-EDE6-55ACF5FC1A2C}"/>
              </a:ext>
            </a:extLst>
          </p:cNvPr>
          <p:cNvGrpSpPr/>
          <p:nvPr/>
        </p:nvGrpSpPr>
        <p:grpSpPr>
          <a:xfrm>
            <a:off x="4648200" y="4025826"/>
            <a:ext cx="2849989" cy="2616346"/>
            <a:chOff x="4648200" y="4025826"/>
            <a:chExt cx="2849989" cy="261634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A6309FC-1A42-F62D-F3D7-1A3DE8E0AD79}"/>
                </a:ext>
              </a:extLst>
            </p:cNvPr>
            <p:cNvGrpSpPr/>
            <p:nvPr/>
          </p:nvGrpSpPr>
          <p:grpSpPr>
            <a:xfrm>
              <a:off x="4648200" y="4025826"/>
              <a:ext cx="2849989" cy="2616346"/>
              <a:chOff x="5608211" y="4172770"/>
              <a:chExt cx="2849989" cy="2616346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A6A21ECD-5CDE-4EC0-8491-CA71898D3C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4554" y="6492874"/>
                <a:ext cx="253364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0E185C9B-887E-4F8B-A7C7-589B558587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37984" y="4419600"/>
                <a:ext cx="1" cy="20732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1D32B6-7648-4FBA-A397-0523CE1D50BE}"/>
                  </a:ext>
                </a:extLst>
              </p:cNvPr>
              <p:cNvSpPr txBox="1"/>
              <p:nvPr/>
            </p:nvSpPr>
            <p:spPr>
              <a:xfrm>
                <a:off x="6935234" y="6419784"/>
                <a:ext cx="284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7DF480-052F-4119-827A-FCE6844F9578}"/>
                  </a:ext>
                </a:extLst>
              </p:cNvPr>
              <p:cNvSpPr txBox="1"/>
              <p:nvPr/>
            </p:nvSpPr>
            <p:spPr>
              <a:xfrm>
                <a:off x="5608211" y="5309671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  <p:pic>
            <p:nvPicPr>
              <p:cNvPr id="14" name="Picture 4">
                <a:extLst>
                  <a:ext uri="{FF2B5EF4-FFF2-40B4-BE49-F238E27FC236}">
                    <a16:creationId xmlns:a16="http://schemas.microsoft.com/office/drawing/2014/main" id="{AD23D120-FE88-4C11-BB33-E1E469D8A5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5943604" y="4648200"/>
                <a:ext cx="2330604" cy="1828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46EB43A-DA48-436E-A6B2-35F6F5E6540F}"/>
                  </a:ext>
                </a:extLst>
              </p:cNvPr>
              <p:cNvCxnSpPr/>
              <p:nvPr/>
            </p:nvCxnSpPr>
            <p:spPr>
              <a:xfrm>
                <a:off x="6248404" y="4419600"/>
                <a:ext cx="0" cy="20732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2338A24-64F3-4757-8EA2-5679B52A891F}"/>
                  </a:ext>
                </a:extLst>
              </p:cNvPr>
              <p:cNvCxnSpPr/>
              <p:nvPr/>
            </p:nvCxnSpPr>
            <p:spPr>
              <a:xfrm>
                <a:off x="6553204" y="4419600"/>
                <a:ext cx="0" cy="20732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B0BEAE6-5428-4E4F-9E1F-C49EFE62813D}"/>
                  </a:ext>
                </a:extLst>
              </p:cNvPr>
              <p:cNvCxnSpPr/>
              <p:nvPr/>
            </p:nvCxnSpPr>
            <p:spPr>
              <a:xfrm>
                <a:off x="6858004" y="4419600"/>
                <a:ext cx="0" cy="20732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CA98B25-F84C-490D-8FCA-697F380147B6}"/>
                  </a:ext>
                </a:extLst>
              </p:cNvPr>
              <p:cNvCxnSpPr/>
              <p:nvPr/>
            </p:nvCxnSpPr>
            <p:spPr>
              <a:xfrm>
                <a:off x="7162804" y="4419600"/>
                <a:ext cx="0" cy="20732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A80FADA-2B4A-4BCE-80A4-9177D219AEA4}"/>
                  </a:ext>
                </a:extLst>
              </p:cNvPr>
              <p:cNvCxnSpPr/>
              <p:nvPr/>
            </p:nvCxnSpPr>
            <p:spPr>
              <a:xfrm>
                <a:off x="7467604" y="4419600"/>
                <a:ext cx="0" cy="20732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12FA915-3344-4514-95DA-BB5C149D2A2F}"/>
                  </a:ext>
                </a:extLst>
              </p:cNvPr>
              <p:cNvCxnSpPr/>
              <p:nvPr/>
            </p:nvCxnSpPr>
            <p:spPr>
              <a:xfrm>
                <a:off x="7772404" y="4419600"/>
                <a:ext cx="0" cy="20732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3F864849-3C58-4C21-8B02-ABE85707CE67}"/>
                  </a:ext>
                </a:extLst>
              </p:cNvPr>
              <p:cNvCxnSpPr/>
              <p:nvPr/>
            </p:nvCxnSpPr>
            <p:spPr>
              <a:xfrm>
                <a:off x="8077204" y="4419600"/>
                <a:ext cx="0" cy="20732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BE081DDC-C4EE-4522-B73B-B42C786955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43604" y="6154639"/>
                <a:ext cx="2362200" cy="175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BCA3FC65-7464-431A-B6FF-6656C1E7A7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43604" y="5849839"/>
                <a:ext cx="2362200" cy="175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27126AA-ACC2-4AFE-A09B-E52660D92F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43604" y="5562600"/>
                <a:ext cx="2362200" cy="175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D70E09B-73A3-4135-BACE-7C620BBFB1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43604" y="5257800"/>
                <a:ext cx="2362200" cy="175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7FFF577-559A-483B-903B-495718F1E5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43604" y="4953000"/>
                <a:ext cx="2362200" cy="175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38096B7-AB02-47EB-83A2-3BDF9A6B2B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43604" y="4648200"/>
                <a:ext cx="2362200" cy="175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4542AF1-ED6E-4F7F-86FA-9C48794C3EB6}"/>
                  </a:ext>
                </a:extLst>
              </p:cNvPr>
              <p:cNvCxnSpPr/>
              <p:nvPr/>
            </p:nvCxnSpPr>
            <p:spPr>
              <a:xfrm>
                <a:off x="7772404" y="4495800"/>
                <a:ext cx="30480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B066E6B-51AC-44D8-9D12-54093C910B80}"/>
                      </a:ext>
                    </a:extLst>
                  </p:cNvPr>
                  <p:cNvSpPr txBox="1"/>
                  <p:nvPr/>
                </p:nvSpPr>
                <p:spPr>
                  <a:xfrm>
                    <a:off x="7772403" y="4172770"/>
                    <a:ext cx="24834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B066E6B-51AC-44D8-9D12-54093C910B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2403" y="4172770"/>
                    <a:ext cx="248348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2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9420CBF-1C0E-1471-A75B-C32BF128475E}"/>
                </a:ext>
              </a:extLst>
            </p:cNvPr>
            <p:cNvCxnSpPr/>
            <p:nvPr/>
          </p:nvCxnSpPr>
          <p:spPr>
            <a:xfrm>
              <a:off x="5486400" y="4953000"/>
              <a:ext cx="2541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D211C5-F91B-F060-A43F-9C9CF0427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31569" y="2583585"/>
            <a:ext cx="597631" cy="1891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89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CB77-AB20-45FB-840D-C40141FF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Discretization of Continuous Space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E21AE-4AA1-41EA-8900-1C974169C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0862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did we discretize this space?   </a:t>
            </a:r>
          </a:p>
          <a:p>
            <a:endParaRPr lang="en-US" dirty="0"/>
          </a:p>
        </p:txBody>
      </p:sp>
      <p:grpSp>
        <p:nvGrpSpPr>
          <p:cNvPr id="15" name="Group 14" descr="A picture of a maze.">
            <a:extLst>
              <a:ext uri="{FF2B5EF4-FFF2-40B4-BE49-F238E27FC236}">
                <a16:creationId xmlns:a16="http://schemas.microsoft.com/office/drawing/2014/main" id="{F55B8C66-B430-52B2-8FEC-5AFB8DE63312}"/>
              </a:ext>
            </a:extLst>
          </p:cNvPr>
          <p:cNvGrpSpPr/>
          <p:nvPr/>
        </p:nvGrpSpPr>
        <p:grpSpPr>
          <a:xfrm>
            <a:off x="2943933" y="2272712"/>
            <a:ext cx="4142667" cy="3756527"/>
            <a:chOff x="2943933" y="2272712"/>
            <a:chExt cx="4142667" cy="3756527"/>
          </a:xfrm>
        </p:grpSpPr>
        <p:sp>
          <p:nvSpPr>
            <p:cNvPr id="26" name="Down Arrow 4">
              <a:extLst>
                <a:ext uri="{FF2B5EF4-FFF2-40B4-BE49-F238E27FC236}">
                  <a16:creationId xmlns:a16="http://schemas.microsoft.com/office/drawing/2014/main" id="{BA21D0A7-663C-4EE8-A298-5C090BF3D6AF}"/>
                </a:ext>
              </a:extLst>
            </p:cNvPr>
            <p:cNvSpPr/>
            <p:nvPr/>
          </p:nvSpPr>
          <p:spPr>
            <a:xfrm>
              <a:off x="3457296" y="2662237"/>
              <a:ext cx="228600" cy="3048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9F513F-94BA-4C45-AC6A-355537B2A152}"/>
                </a:ext>
              </a:extLst>
            </p:cNvPr>
            <p:cNvSpPr txBox="1"/>
            <p:nvPr/>
          </p:nvSpPr>
          <p:spPr>
            <a:xfrm>
              <a:off x="2943933" y="2272712"/>
              <a:ext cx="1483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Initial state</a:t>
              </a:r>
            </a:p>
          </p:txBody>
        </p:sp>
        <p:sp>
          <p:nvSpPr>
            <p:cNvPr id="33" name="Down Arrow 6">
              <a:extLst>
                <a:ext uri="{FF2B5EF4-FFF2-40B4-BE49-F238E27FC236}">
                  <a16:creationId xmlns:a16="http://schemas.microsoft.com/office/drawing/2014/main" id="{D92D673D-A835-4C5C-A94A-54D710F0FF87}"/>
                </a:ext>
              </a:extLst>
            </p:cNvPr>
            <p:cNvSpPr/>
            <p:nvPr/>
          </p:nvSpPr>
          <p:spPr>
            <a:xfrm rot="5400000">
              <a:off x="6145360" y="5367337"/>
              <a:ext cx="228600" cy="3048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DD08D5D-E18D-4774-99E9-17089014AD3E}"/>
                </a:ext>
              </a:extLst>
            </p:cNvPr>
            <p:cNvSpPr txBox="1"/>
            <p:nvPr/>
          </p:nvSpPr>
          <p:spPr>
            <a:xfrm>
              <a:off x="6417827" y="5216306"/>
              <a:ext cx="66877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Goal </a:t>
              </a:r>
              <a:br>
                <a:rPr lang="en-US" dirty="0">
                  <a:solidFill>
                    <a:srgbClr val="0070C0"/>
                  </a:solidFill>
                </a:rPr>
              </a:br>
              <a:r>
                <a:rPr lang="en-US" dirty="0">
                  <a:solidFill>
                    <a:srgbClr val="0070C0"/>
                  </a:solidFill>
                </a:rPr>
                <a:t>state</a:t>
              </a:r>
            </a:p>
          </p:txBody>
        </p:sp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2D9B678F-99E4-403F-8390-467321317A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encilSketch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4060" y="3003663"/>
              <a:ext cx="2667000" cy="2706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42F982A-3EF2-47FC-9218-469F2FF10685}"/>
                </a:ext>
              </a:extLst>
            </p:cNvPr>
            <p:cNvSpPr/>
            <p:nvPr/>
          </p:nvSpPr>
          <p:spPr>
            <a:xfrm>
              <a:off x="5893957" y="5405437"/>
              <a:ext cx="152400" cy="152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0BBF683-FD53-4807-B4F7-D6A8C52E90C0}"/>
                </a:ext>
              </a:extLst>
            </p:cNvPr>
            <p:cNvSpPr/>
            <p:nvPr/>
          </p:nvSpPr>
          <p:spPr>
            <a:xfrm>
              <a:off x="3501215" y="3003331"/>
              <a:ext cx="152400" cy="152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8C36D08-5A69-464D-AA7E-806E695CAD64}"/>
                </a:ext>
              </a:extLst>
            </p:cNvPr>
            <p:cNvSpPr/>
            <p:nvPr/>
          </p:nvSpPr>
          <p:spPr>
            <a:xfrm>
              <a:off x="3539020" y="3196117"/>
              <a:ext cx="2365551" cy="2275128"/>
            </a:xfrm>
            <a:custGeom>
              <a:avLst/>
              <a:gdLst>
                <a:gd name="connsiteX0" fmla="*/ 23795 w 2365551"/>
                <a:gd name="connsiteY0" fmla="*/ 0 h 2275128"/>
                <a:gd name="connsiteX1" fmla="*/ 34946 w 2365551"/>
                <a:gd name="connsiteY1" fmla="*/ 312234 h 2275128"/>
                <a:gd name="connsiteX2" fmla="*/ 336029 w 2365551"/>
                <a:gd name="connsiteY2" fmla="*/ 66908 h 2275128"/>
                <a:gd name="connsiteX3" fmla="*/ 1150068 w 2365551"/>
                <a:gd name="connsiteY3" fmla="*/ 78059 h 2275128"/>
                <a:gd name="connsiteX4" fmla="*/ 1172370 w 2365551"/>
                <a:gd name="connsiteY4" fmla="*/ 323386 h 2275128"/>
                <a:gd name="connsiteX5" fmla="*/ 2242887 w 2365551"/>
                <a:gd name="connsiteY5" fmla="*/ 334537 h 2275128"/>
                <a:gd name="connsiteX6" fmla="*/ 1997560 w 2365551"/>
                <a:gd name="connsiteY6" fmla="*/ 914400 h 2275128"/>
                <a:gd name="connsiteX7" fmla="*/ 1975258 w 2365551"/>
                <a:gd name="connsiteY7" fmla="*/ 936703 h 2275128"/>
                <a:gd name="connsiteX8" fmla="*/ 1964107 w 2365551"/>
                <a:gd name="connsiteY8" fmla="*/ 1449659 h 2275128"/>
                <a:gd name="connsiteX9" fmla="*/ 1674175 w 2365551"/>
                <a:gd name="connsiteY9" fmla="*/ 1438508 h 2275128"/>
                <a:gd name="connsiteX10" fmla="*/ 1462302 w 2365551"/>
                <a:gd name="connsiteY10" fmla="*/ 613317 h 2275128"/>
                <a:gd name="connsiteX11" fmla="*/ 782078 w 2365551"/>
                <a:gd name="connsiteY11" fmla="*/ 635620 h 2275128"/>
                <a:gd name="connsiteX12" fmla="*/ 770926 w 2365551"/>
                <a:gd name="connsiteY12" fmla="*/ 869795 h 2275128"/>
                <a:gd name="connsiteX13" fmla="*/ 692868 w 2365551"/>
                <a:gd name="connsiteY13" fmla="*/ 880947 h 2275128"/>
                <a:gd name="connsiteX14" fmla="*/ 659414 w 2365551"/>
                <a:gd name="connsiteY14" fmla="*/ 892098 h 2275128"/>
                <a:gd name="connsiteX15" fmla="*/ 625960 w 2365551"/>
                <a:gd name="connsiteY15" fmla="*/ 1471961 h 2275128"/>
                <a:gd name="connsiteX16" fmla="*/ 871287 w 2365551"/>
                <a:gd name="connsiteY16" fmla="*/ 1460810 h 2275128"/>
                <a:gd name="connsiteX17" fmla="*/ 882439 w 2365551"/>
                <a:gd name="connsiteY17" fmla="*/ 1237786 h 2275128"/>
                <a:gd name="connsiteX18" fmla="*/ 1216975 w 2365551"/>
                <a:gd name="connsiteY18" fmla="*/ 1248937 h 2275128"/>
                <a:gd name="connsiteX19" fmla="*/ 1228126 w 2365551"/>
                <a:gd name="connsiteY19" fmla="*/ 2007220 h 2275128"/>
                <a:gd name="connsiteX20" fmla="*/ 1406546 w 2365551"/>
                <a:gd name="connsiteY20" fmla="*/ 1996068 h 2275128"/>
                <a:gd name="connsiteX21" fmla="*/ 1428848 w 2365551"/>
                <a:gd name="connsiteY21" fmla="*/ 1572322 h 2275128"/>
                <a:gd name="connsiteX22" fmla="*/ 1518058 w 2365551"/>
                <a:gd name="connsiteY22" fmla="*/ 1594625 h 2275128"/>
                <a:gd name="connsiteX23" fmla="*/ 1685326 w 2365551"/>
                <a:gd name="connsiteY23" fmla="*/ 1661532 h 2275128"/>
                <a:gd name="connsiteX24" fmla="*/ 2265190 w 2365551"/>
                <a:gd name="connsiteY24" fmla="*/ 1750742 h 2275128"/>
                <a:gd name="connsiteX25" fmla="*/ 2365551 w 2365551"/>
                <a:gd name="connsiteY25" fmla="*/ 2274849 h 227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365551" h="2275128">
                  <a:moveTo>
                    <a:pt x="23795" y="0"/>
                  </a:moveTo>
                  <a:cubicBezTo>
                    <a:pt x="27512" y="104078"/>
                    <a:pt x="-38695" y="238593"/>
                    <a:pt x="34946" y="312234"/>
                  </a:cubicBezTo>
                  <a:cubicBezTo>
                    <a:pt x="385596" y="662884"/>
                    <a:pt x="334314" y="102925"/>
                    <a:pt x="336029" y="66908"/>
                  </a:cubicBezTo>
                  <a:cubicBezTo>
                    <a:pt x="607375" y="70625"/>
                    <a:pt x="890622" y="-1505"/>
                    <a:pt x="1150068" y="78059"/>
                  </a:cubicBezTo>
                  <a:cubicBezTo>
                    <a:pt x="1228572" y="102134"/>
                    <a:pt x="1092429" y="304624"/>
                    <a:pt x="1172370" y="323386"/>
                  </a:cubicBezTo>
                  <a:cubicBezTo>
                    <a:pt x="1519788" y="404923"/>
                    <a:pt x="1886048" y="330820"/>
                    <a:pt x="2242887" y="334537"/>
                  </a:cubicBezTo>
                  <a:cubicBezTo>
                    <a:pt x="2228259" y="1139118"/>
                    <a:pt x="2434942" y="933416"/>
                    <a:pt x="1997560" y="914400"/>
                  </a:cubicBezTo>
                  <a:cubicBezTo>
                    <a:pt x="1987056" y="913943"/>
                    <a:pt x="1982692" y="929269"/>
                    <a:pt x="1975258" y="936703"/>
                  </a:cubicBezTo>
                  <a:cubicBezTo>
                    <a:pt x="1971541" y="1107688"/>
                    <a:pt x="2052099" y="1303006"/>
                    <a:pt x="1964107" y="1449659"/>
                  </a:cubicBezTo>
                  <a:cubicBezTo>
                    <a:pt x="1914347" y="1532592"/>
                    <a:pt x="1710542" y="1528126"/>
                    <a:pt x="1674175" y="1438508"/>
                  </a:cubicBezTo>
                  <a:cubicBezTo>
                    <a:pt x="1287360" y="485286"/>
                    <a:pt x="1986401" y="798295"/>
                    <a:pt x="1462302" y="613317"/>
                  </a:cubicBezTo>
                  <a:cubicBezTo>
                    <a:pt x="1235561" y="620751"/>
                    <a:pt x="994777" y="556715"/>
                    <a:pt x="782078" y="635620"/>
                  </a:cubicBezTo>
                  <a:cubicBezTo>
                    <a:pt x="708810" y="662800"/>
                    <a:pt x="797632" y="796353"/>
                    <a:pt x="770926" y="869795"/>
                  </a:cubicBezTo>
                  <a:cubicBezTo>
                    <a:pt x="761944" y="894496"/>
                    <a:pt x="718887" y="877230"/>
                    <a:pt x="692868" y="880947"/>
                  </a:cubicBezTo>
                  <a:cubicBezTo>
                    <a:pt x="681717" y="884664"/>
                    <a:pt x="670420" y="887971"/>
                    <a:pt x="659414" y="892098"/>
                  </a:cubicBezTo>
                  <a:cubicBezTo>
                    <a:pt x="430734" y="977851"/>
                    <a:pt x="604950" y="946689"/>
                    <a:pt x="625960" y="1471961"/>
                  </a:cubicBezTo>
                  <a:cubicBezTo>
                    <a:pt x="707736" y="1468244"/>
                    <a:pt x="810834" y="1516006"/>
                    <a:pt x="871287" y="1460810"/>
                  </a:cubicBezTo>
                  <a:cubicBezTo>
                    <a:pt x="926256" y="1410621"/>
                    <a:pt x="818976" y="1276682"/>
                    <a:pt x="882439" y="1237786"/>
                  </a:cubicBezTo>
                  <a:cubicBezTo>
                    <a:pt x="977567" y="1179482"/>
                    <a:pt x="1105463" y="1245220"/>
                    <a:pt x="1216975" y="1248937"/>
                  </a:cubicBezTo>
                  <a:cubicBezTo>
                    <a:pt x="1220692" y="1501698"/>
                    <a:pt x="1165956" y="1762196"/>
                    <a:pt x="1228126" y="2007220"/>
                  </a:cubicBezTo>
                  <a:cubicBezTo>
                    <a:pt x="1242781" y="2064979"/>
                    <a:pt x="1381575" y="2050173"/>
                    <a:pt x="1406546" y="1996068"/>
                  </a:cubicBezTo>
                  <a:cubicBezTo>
                    <a:pt x="1465819" y="1867642"/>
                    <a:pt x="1421414" y="1713571"/>
                    <a:pt x="1428848" y="1572322"/>
                  </a:cubicBezTo>
                  <a:cubicBezTo>
                    <a:pt x="1458585" y="1579756"/>
                    <a:pt x="1489449" y="1583622"/>
                    <a:pt x="1518058" y="1594625"/>
                  </a:cubicBezTo>
                  <a:cubicBezTo>
                    <a:pt x="1655933" y="1647654"/>
                    <a:pt x="1465602" y="1622549"/>
                    <a:pt x="1685326" y="1661532"/>
                  </a:cubicBezTo>
                  <a:cubicBezTo>
                    <a:pt x="1877881" y="1695695"/>
                    <a:pt x="2071902" y="1721005"/>
                    <a:pt x="2265190" y="1750742"/>
                  </a:cubicBezTo>
                  <a:cubicBezTo>
                    <a:pt x="2276974" y="2304579"/>
                    <a:pt x="2101599" y="2274849"/>
                    <a:pt x="2365551" y="2274849"/>
                  </a:cubicBezTo>
                </a:path>
              </a:pathLst>
            </a:cu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9B70850-24EB-0906-494F-F0B6F6E7075A}"/>
                </a:ext>
              </a:extLst>
            </p:cNvPr>
            <p:cNvGrpSpPr/>
            <p:nvPr/>
          </p:nvGrpSpPr>
          <p:grpSpPr>
            <a:xfrm>
              <a:off x="3322206" y="2965344"/>
              <a:ext cx="2708854" cy="3063895"/>
              <a:chOff x="954173" y="2804279"/>
              <a:chExt cx="2708854" cy="3063895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F03D0B79-7E9F-162D-73CE-E63E8567F7AC}"/>
                  </a:ext>
                </a:extLst>
              </p:cNvPr>
              <p:cNvCxnSpPr/>
              <p:nvPr/>
            </p:nvCxnSpPr>
            <p:spPr>
              <a:xfrm>
                <a:off x="980730" y="2970968"/>
                <a:ext cx="2682297" cy="0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61F29334-24F0-047C-269B-FECD1BDDF741}"/>
                  </a:ext>
                </a:extLst>
              </p:cNvPr>
              <p:cNvCxnSpPr/>
              <p:nvPr/>
            </p:nvCxnSpPr>
            <p:spPr>
              <a:xfrm>
                <a:off x="980730" y="3123368"/>
                <a:ext cx="2682297" cy="0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1AAE656-6026-432B-D860-D3E0FA7FE1B2}"/>
                  </a:ext>
                </a:extLst>
              </p:cNvPr>
              <p:cNvCxnSpPr/>
              <p:nvPr/>
            </p:nvCxnSpPr>
            <p:spPr>
              <a:xfrm>
                <a:off x="969470" y="3413879"/>
                <a:ext cx="2682297" cy="0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AE41F4E-7E2F-E1E7-8975-6AA2A642B6C7}"/>
                  </a:ext>
                </a:extLst>
              </p:cNvPr>
              <p:cNvCxnSpPr/>
              <p:nvPr/>
            </p:nvCxnSpPr>
            <p:spPr>
              <a:xfrm>
                <a:off x="969470" y="3566279"/>
                <a:ext cx="2682297" cy="0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E875328-9B22-C7B6-1105-06B9E38B00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066" y="2840573"/>
                <a:ext cx="0" cy="2722801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93B99BF-2C4D-07C0-6FBB-53B8A974E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4270" y="2824678"/>
                <a:ext cx="0" cy="2722801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7088393-649A-850E-0C15-520535B27A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2869" y="2824678"/>
                <a:ext cx="0" cy="2722801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B6AF8ED-0131-0714-91DE-BD0FC3AA00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5269" y="2804279"/>
                <a:ext cx="0" cy="2722801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06095FC-8DE4-CEFB-C612-64A2BA4A90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4173" y="5725279"/>
                <a:ext cx="260924" cy="0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1CE088-4BAE-0EEB-75AB-FB13DE47F531}"/>
                  </a:ext>
                </a:extLst>
              </p:cNvPr>
              <p:cNvSpPr txBox="1"/>
              <p:nvPr/>
            </p:nvSpPr>
            <p:spPr>
              <a:xfrm>
                <a:off x="1188266" y="5591175"/>
                <a:ext cx="13095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</a:rPr>
                  <a:t>Discretization grid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14518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EE21AE-4AA1-41EA-8900-1C974169C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903415"/>
                <a:ext cx="7886700" cy="4802185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sz="1600" b="1" dirty="0"/>
                  <a:t>State representation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/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sz="1600" b="1" dirty="0"/>
                  <a:t>State space size</a:t>
                </a:r>
                <a:r>
                  <a:rPr lang="en-US" sz="1600" dirty="0"/>
                  <a:t>: infinite</a:t>
                </a:r>
                <a:endParaRPr lang="en-US" sz="1600" b="1" dirty="0"/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sz="1600" b="1" dirty="0"/>
                  <a:t>Objective function</a:t>
                </a:r>
                <a:r>
                  <a:rPr lang="en-US" sz="1600" dirty="0"/>
                  <a:t>: min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sz="1600" b="1" dirty="0"/>
                  <a:t>Local neighborhood</a:t>
                </a:r>
                <a:r>
                  <a:rPr lang="en-US" sz="1600" dirty="0"/>
                  <a:t>: small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600" dirty="0"/>
                  <a:t>Gradient at point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600" dirty="0"/>
                  <a:t>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nor/>
                          </m:rPr>
                          <a:rPr lang="en-US" sz="1600" i="0" dirty="0"/>
                          <m:t>, …, 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br>
                  <a:rPr lang="en-US" sz="1600" dirty="0"/>
                </a:br>
                <a:r>
                  <a:rPr lang="en-US" sz="1600" dirty="0"/>
                  <a:t>           (=evaluation of the Jacobian matrix at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marL="0" indent="0">
                  <a:buNone/>
                </a:pPr>
                <a:r>
                  <a:rPr lang="en-US" sz="1600" dirty="0"/>
                  <a:t>Find optimum by solving: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b="0" dirty="0">
                  <a:ea typeface="Cambria Math" panose="02040503050406030204" pitchFamily="18" charset="0"/>
                </a:endParaRPr>
              </a:p>
              <a:p>
                <a:endParaRPr lang="en-US" sz="1600" dirty="0"/>
              </a:p>
              <a:p>
                <a:r>
                  <a:rPr lang="en-US" sz="1600" b="1" dirty="0"/>
                  <a:t>Gradient descent (= Steepest-ascend hill climbing for minimization)  </a:t>
                </a:r>
                <a:br>
                  <a:rPr lang="en-US" sz="1600" dirty="0"/>
                </a:br>
                <a:r>
                  <a:rPr lang="en-US" sz="1600" dirty="0"/>
                  <a:t>with step size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600" dirty="0"/>
                  <a:t> (typically reduced over time)</a:t>
                </a:r>
              </a:p>
              <a:p>
                <a:pPr marL="0" indent="0" algn="ctr">
                  <a:buNone/>
                </a:pPr>
                <a:r>
                  <a:rPr lang="en-US" sz="1600" dirty="0"/>
                  <a:t>Repeat: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m:rPr>
                        <m:sty m:val="p"/>
                      </m:rP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1600" dirty="0"/>
                  <a:t>  </a:t>
                </a:r>
                <a:endParaRPr lang="en-US" sz="1600" b="1" dirty="0"/>
              </a:p>
              <a:p>
                <a:pPr>
                  <a:lnSpc>
                    <a:spcPct val="120000"/>
                  </a:lnSpc>
                </a:pPr>
                <a:r>
                  <a:rPr lang="en-US" sz="1600" b="1" dirty="0"/>
                  <a:t>Newton-Raphson method</a:t>
                </a:r>
                <a:br>
                  <a:rPr lang="en-US" sz="1600" dirty="0"/>
                </a:br>
                <a:r>
                  <a:rPr lang="en-US" sz="1600" dirty="0"/>
                  <a:t>uses the inverse of the Hessian matrix (second-order partial derivative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1600" dirty="0"/>
                  <a:t>)</a:t>
                </a:r>
                <a:br>
                  <a:rPr lang="en-US" sz="1600" dirty="0"/>
                </a:b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/>
                  <a:t> as the optimal step size</a:t>
                </a:r>
              </a:p>
              <a:p>
                <a:pPr marL="0" indent="0" algn="ctr">
                  <a:buNone/>
                </a:pPr>
                <a:r>
                  <a:rPr lang="en-US" sz="1600" b="1" dirty="0"/>
                  <a:t> </a:t>
                </a:r>
                <a:r>
                  <a:rPr lang="en-US" sz="1600" dirty="0"/>
                  <a:t>Repeat: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Note: May get stuck in a local optimum if the search space is non-convex! Use simulated annealing, momentum or other methods to escape local optima.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EE21AE-4AA1-41EA-8900-1C974169C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903415"/>
                <a:ext cx="7886700" cy="4802185"/>
              </a:xfrm>
              <a:blipFill>
                <a:blip r:embed="rId2"/>
                <a:stretch>
                  <a:fillRect t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696503-F6D8-46BC-B66C-8C24521C4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0" y="3276600"/>
            <a:ext cx="2136648" cy="762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8F421B8-BDBC-34CF-42FA-2095AA004772}"/>
              </a:ext>
            </a:extLst>
          </p:cNvPr>
          <p:cNvGrpSpPr/>
          <p:nvPr/>
        </p:nvGrpSpPr>
        <p:grpSpPr>
          <a:xfrm>
            <a:off x="4971602" y="838200"/>
            <a:ext cx="4096198" cy="2743200"/>
            <a:chOff x="4971602" y="838200"/>
            <a:chExt cx="4096198" cy="27432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9BC7E4C-F11E-802C-4813-8829B2C9D6B5}"/>
                </a:ext>
              </a:extLst>
            </p:cNvPr>
            <p:cNvGrpSpPr/>
            <p:nvPr/>
          </p:nvGrpSpPr>
          <p:grpSpPr>
            <a:xfrm>
              <a:off x="4971602" y="838200"/>
              <a:ext cx="4096198" cy="2743200"/>
              <a:chOff x="4971602" y="838200"/>
              <a:chExt cx="4096198" cy="27432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E47571D-8E83-4518-8F37-124321FBED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1335" t="5706" b="-535"/>
              <a:stretch/>
            </p:blipFill>
            <p:spPr>
              <a:xfrm>
                <a:off x="5337048" y="838200"/>
                <a:ext cx="3730752" cy="27432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2DA414C7-B46B-44D9-8FD8-DCBC8E188145}"/>
                      </a:ext>
                    </a:extLst>
                  </p:cNvPr>
                  <p:cNvSpPr txBox="1"/>
                  <p:nvPr/>
                </p:nvSpPr>
                <p:spPr>
                  <a:xfrm>
                    <a:off x="4971602" y="1363475"/>
                    <a:ext cx="57849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2DA414C7-B46B-44D9-8FD8-DCBC8E1881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71602" y="1363475"/>
                    <a:ext cx="57849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4AC9360-E4F6-47C4-B3FE-88F561A54881}"/>
                      </a:ext>
                    </a:extLst>
                  </p:cNvPr>
                  <p:cNvSpPr txBox="1"/>
                  <p:nvPr/>
                </p:nvSpPr>
                <p:spPr>
                  <a:xfrm>
                    <a:off x="5944864" y="3118263"/>
                    <a:ext cx="39780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4AC9360-E4F6-47C4-B3FE-88F561A548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4864" y="3118263"/>
                    <a:ext cx="397801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1A622CE2-1729-4819-95E5-362252D9EB09}"/>
                      </a:ext>
                    </a:extLst>
                  </p:cNvPr>
                  <p:cNvSpPr txBox="1"/>
                  <p:nvPr/>
                </p:nvSpPr>
                <p:spPr>
                  <a:xfrm>
                    <a:off x="8160460" y="3101858"/>
                    <a:ext cx="40197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1A622CE2-1729-4819-95E5-362252D9EB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0460" y="3101858"/>
                    <a:ext cx="401970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Multiplication Sign 13">
              <a:extLst>
                <a:ext uri="{FF2B5EF4-FFF2-40B4-BE49-F238E27FC236}">
                  <a16:creationId xmlns:a16="http://schemas.microsoft.com/office/drawing/2014/main" id="{5F986F9B-272C-42A4-8421-C4F51EDACF68}"/>
                </a:ext>
              </a:extLst>
            </p:cNvPr>
            <p:cNvSpPr/>
            <p:nvPr/>
          </p:nvSpPr>
          <p:spPr>
            <a:xfrm>
              <a:off x="8023099" y="2201070"/>
              <a:ext cx="209549" cy="23733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88C16C8-6167-5A9E-7747-F8501885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3162" y="2395390"/>
              <a:ext cx="174499" cy="1524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138AF1-D9A6-4204-8DA9-3C74E869A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2667000" y="2133600"/>
            <a:ext cx="2743200" cy="3048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891CB77-AB20-45FB-840D-C40141FF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Search in Continuous Spaces: Gradient Descent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17CAA74-189D-A58A-D90E-FAA218F2AB77}"/>
              </a:ext>
            </a:extLst>
          </p:cNvPr>
          <p:cNvGrpSpPr/>
          <p:nvPr/>
        </p:nvGrpSpPr>
        <p:grpSpPr>
          <a:xfrm>
            <a:off x="6251448" y="2381399"/>
            <a:ext cx="2133600" cy="3562201"/>
            <a:chOff x="6251448" y="2381399"/>
            <a:chExt cx="2133600" cy="356220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EB77392-FE12-249F-FB78-D52821007DA3}"/>
                </a:ext>
              </a:extLst>
            </p:cNvPr>
            <p:cNvGrpSpPr/>
            <p:nvPr/>
          </p:nvGrpSpPr>
          <p:grpSpPr>
            <a:xfrm>
              <a:off x="6251448" y="2381399"/>
              <a:ext cx="2133600" cy="3562201"/>
              <a:chOff x="6251448" y="2381399"/>
              <a:chExt cx="2133600" cy="3562201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C58366AA-2056-4300-84DA-668DFFA94D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6" t="7383" r="55413" b="7025"/>
              <a:stretch/>
            </p:blipFill>
            <p:spPr bwMode="auto">
              <a:xfrm>
                <a:off x="6251448" y="3632816"/>
                <a:ext cx="2133600" cy="23107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Multiplication Sign 15">
                <a:extLst>
                  <a:ext uri="{FF2B5EF4-FFF2-40B4-BE49-F238E27FC236}">
                    <a16:creationId xmlns:a16="http://schemas.microsoft.com/office/drawing/2014/main" id="{082BC5DE-A2FC-4459-8D5E-4891CF84E8F6}"/>
                  </a:ext>
                </a:extLst>
              </p:cNvPr>
              <p:cNvSpPr/>
              <p:nvPr/>
            </p:nvSpPr>
            <p:spPr>
              <a:xfrm>
                <a:off x="8055686" y="4258470"/>
                <a:ext cx="209549" cy="237330"/>
              </a:xfrm>
              <a:prstGeom prst="mathMultiply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A360CD63-032B-11E0-B54F-3CC217D239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3861" y="2381399"/>
                <a:ext cx="32587" cy="1934072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0A44B8CC-2087-C783-1FF8-113D30561A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48600" y="4429050"/>
                <a:ext cx="199061" cy="6675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CB43587-D758-7A4E-8FFC-69AA4046A284}"/>
                    </a:ext>
                  </a:extLst>
                </p:cNvPr>
                <p:cNvSpPr txBox="1"/>
                <p:nvPr/>
              </p:nvSpPr>
              <p:spPr>
                <a:xfrm>
                  <a:off x="7546848" y="4200815"/>
                  <a:ext cx="685800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en-US" sz="11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CB43587-D758-7A4E-8FFC-69AA4046A2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6848" y="4200815"/>
                  <a:ext cx="685800" cy="261610"/>
                </a:xfrm>
                <a:prstGeom prst="rect">
                  <a:avLst/>
                </a:prstGeom>
                <a:blipFill>
                  <a:blip r:embed="rId10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7930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CB77-AB20-45FB-840D-C40141FF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4200" dirty="0"/>
              <a:t>Search in Continuous Spaces: 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E21AE-4AA1-41EA-8900-1C974169C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r>
              <a:rPr lang="en-US" sz="2000" b="1" dirty="0"/>
              <a:t>Issue</a:t>
            </a:r>
            <a:r>
              <a:rPr lang="en-US" sz="2000" dirty="0"/>
              <a:t>: What if the mathematical formulation of the objective function is not known? </a:t>
            </a:r>
            <a:r>
              <a:rPr lang="en-US" sz="2000" b="1" dirty="0"/>
              <a:t>We cannot find an equation for the gradient!</a:t>
            </a:r>
          </a:p>
          <a:p>
            <a:r>
              <a:rPr lang="en-US" sz="2000" b="1" dirty="0"/>
              <a:t>Idea</a:t>
            </a:r>
            <a:r>
              <a:rPr lang="en-US" sz="2000" dirty="0"/>
              <a:t>: We may have objective function values at fixed points, called the </a:t>
            </a:r>
            <a:r>
              <a:rPr lang="en-US" sz="2000" b="1" dirty="0"/>
              <a:t>training data</a:t>
            </a:r>
            <a:r>
              <a:rPr lang="en-US" sz="2000" dirty="0"/>
              <a:t>. Can we approximate the gradient?</a:t>
            </a:r>
          </a:p>
          <a:p>
            <a:r>
              <a:rPr lang="en-US" sz="2000" b="1" dirty="0"/>
              <a:t>Remember</a:t>
            </a:r>
            <a:r>
              <a:rPr lang="en-US" sz="2000" dirty="0"/>
              <a:t>: Stochastic hill climbing uses random local moves. If the training data are a </a:t>
            </a:r>
            <a:r>
              <a:rPr lang="en-US" sz="2000" b="1" dirty="0"/>
              <a:t>random sample</a:t>
            </a:r>
            <a:r>
              <a:rPr lang="en-US" sz="2000" dirty="0"/>
              <a:t>, then we can use some of them to </a:t>
            </a:r>
            <a:r>
              <a:rPr lang="en-US" sz="2000" b="1" dirty="0"/>
              <a:t>approximate the gradient</a:t>
            </a:r>
            <a:r>
              <a:rPr lang="en-US" sz="2000" dirty="0"/>
              <a:t>. Approximating the gradient </a:t>
            </a:r>
            <a:r>
              <a:rPr lang="en-US" sz="2000"/>
              <a:t>from sampled data </a:t>
            </a:r>
            <a:r>
              <a:rPr lang="en-US" sz="2000" dirty="0"/>
              <a:t>is called </a:t>
            </a:r>
            <a:r>
              <a:rPr lang="en-US" sz="2000" b="1" dirty="0"/>
              <a:t>numerical or automatic differentiation</a:t>
            </a:r>
            <a:r>
              <a:rPr lang="en-US" sz="2000" dirty="0"/>
              <a:t>?</a:t>
            </a:r>
          </a:p>
          <a:p>
            <a:endParaRPr lang="en-US" sz="2000" dirty="0"/>
          </a:p>
          <a:p>
            <a:r>
              <a:rPr lang="en-US" sz="2000" b="1" dirty="0"/>
              <a:t>Algorithm</a:t>
            </a:r>
            <a:r>
              <a:rPr lang="en-US" sz="2000" dirty="0"/>
              <a:t>: The resulting algorithm is called </a:t>
            </a:r>
            <a:r>
              <a:rPr lang="en-US" sz="2000" b="1" dirty="0"/>
              <a:t>stochastic gradient descent (SGD). </a:t>
            </a:r>
            <a:r>
              <a:rPr lang="en-US" sz="2000" dirty="0"/>
              <a:t>It is called stochastic because it uses a random sample (the training data) to decide on the next local move.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We will discuss search in continuous spaces with loss functions using gradient descent when we discuss </a:t>
            </a:r>
            <a:r>
              <a:rPr lang="en-US" sz="2000" b="1" dirty="0"/>
              <a:t>parameter learning for learning from examples (machine learning). </a:t>
            </a:r>
          </a:p>
        </p:txBody>
      </p:sp>
    </p:spTree>
    <p:extLst>
      <p:ext uri="{BB962C8B-B14F-4D97-AF65-F5344CB8AC3E}">
        <p14:creationId xmlns:p14="http://schemas.microsoft.com/office/powerpoint/2010/main" val="152095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0324-ABD9-A4EE-D007-363B62AC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 dirty="0"/>
              <a:t>Conclusion</a:t>
            </a:r>
          </a:p>
        </p:txBody>
      </p:sp>
      <p:pic>
        <p:nvPicPr>
          <p:cNvPr id="5" name="Picture 4" descr="Magnifying glass on clear background">
            <a:extLst>
              <a:ext uri="{FF2B5EF4-FFF2-40B4-BE49-F238E27FC236}">
                <a16:creationId xmlns:a16="http://schemas.microsoft.com/office/drawing/2014/main" id="{E34C0D74-FE1D-8427-BA2B-E4B94A2EBC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38" r="18058" b="-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76013-F7E4-FFCD-C244-969F488E0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US" sz="1700" dirty="0"/>
              <a:t>Local search provides a fast method to find good solutions to many difficult optimization problems.</a:t>
            </a:r>
          </a:p>
          <a:p>
            <a:endParaRPr lang="en-US" sz="1700" dirty="0"/>
          </a:p>
          <a:p>
            <a:r>
              <a:rPr lang="en-US" sz="1700" dirty="0"/>
              <a:t>Local optima are a big issue that can be addressed with random restarts and simulated annealing.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429987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I_high_contrast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BE4D14"/>
      </a:accent2>
      <a:accent3>
        <a:srgbClr val="196B24"/>
      </a:accent3>
      <a:accent4>
        <a:srgbClr val="0F9ED5"/>
      </a:accent4>
      <a:accent5>
        <a:srgbClr val="A02B93"/>
      </a:accent5>
      <a:accent6>
        <a:srgbClr val="377620"/>
      </a:accent6>
      <a:hlink>
        <a:srgbClr val="467886"/>
      </a:hlink>
      <a:folHlink>
        <a:srgbClr val="96607D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8664</TotalTime>
  <Words>2710</Words>
  <Application>Microsoft Office PowerPoint</Application>
  <PresentationFormat>On-screen Show (4:3)</PresentationFormat>
  <Paragraphs>343</Paragraphs>
  <Slides>35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Symbol</vt:lpstr>
      <vt:lpstr>Wingdings</vt:lpstr>
      <vt:lpstr>Office Theme</vt:lpstr>
      <vt:lpstr>CS 5/7320 Artificial Intelligence  Local Search AIMA Chapters 4.1 &amp; 4.2 </vt:lpstr>
      <vt:lpstr>Contents</vt:lpstr>
      <vt:lpstr>Recap: Uninformed and Informed Search</vt:lpstr>
      <vt:lpstr>Local Search</vt:lpstr>
      <vt:lpstr>Main Differences to Tree Search</vt:lpstr>
      <vt:lpstr>Use of Local Search in AI</vt:lpstr>
      <vt:lpstr>Defining A Local Search Problem</vt:lpstr>
      <vt:lpstr>Example: n-Queens Problem</vt:lpstr>
      <vt:lpstr>Example: Traveling salesman problem</vt:lpstr>
      <vt:lpstr>Hill-Climbing Search  aka Greedy Local Search</vt:lpstr>
      <vt:lpstr>Example: n-Queens Problem</vt:lpstr>
      <vt:lpstr>Example: n-Queens Problem 2</vt:lpstr>
      <vt:lpstr>Example: n-Queens Problem 3 </vt:lpstr>
      <vt:lpstr>Example: Traveling Salesman Problem 2</vt:lpstr>
      <vt:lpstr>Example: Traveling Salesman Problem 3</vt:lpstr>
      <vt:lpstr>Hill-Climbing Search (Greedy Local Search)</vt:lpstr>
      <vt:lpstr>Local Optima</vt:lpstr>
      <vt:lpstr>Local Optima</vt:lpstr>
      <vt:lpstr>The State Space “Landscape”</vt:lpstr>
      <vt:lpstr>Minimization vs. Maximization</vt:lpstr>
      <vt:lpstr>Convex vs. Non-Convex Optimization Problems</vt:lpstr>
      <vt:lpstr>Simulated Annealing</vt:lpstr>
      <vt:lpstr>Idea of Simulated Annealing</vt:lpstr>
      <vt:lpstr>Simulated Annealing Algorithm</vt:lpstr>
      <vt:lpstr>The Effect of Temperature</vt:lpstr>
      <vt:lpstr>Cooling Schedule</vt:lpstr>
      <vt:lpstr>Simulated Annealing Search</vt:lpstr>
      <vt:lpstr>Evolutionary Algorithms</vt:lpstr>
      <vt:lpstr>Evolutionary Algorithms / Genetic Algorithms</vt:lpstr>
      <vt:lpstr>Search in Continuous Spaces</vt:lpstr>
      <vt:lpstr>Methods: Discretization of Continuous Space </vt:lpstr>
      <vt:lpstr>Example: Discretization of Continuous Space </vt:lpstr>
      <vt:lpstr>Search in Continuous Spaces: Gradient Descent</vt:lpstr>
      <vt:lpstr>Search in Continuous Spaces: Stochastic Gradient Descent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5/7320 Artificial Intelligence  Local Search</dc:title>
  <dc:creator>michael</dc:creator>
  <cp:lastModifiedBy>Hahsler, Michael</cp:lastModifiedBy>
  <cp:revision>88</cp:revision>
  <dcterms:created xsi:type="dcterms:W3CDTF">2021-02-13T00:06:29Z</dcterms:created>
  <dcterms:modified xsi:type="dcterms:W3CDTF">2026-10-02T15:35:48Z</dcterms:modified>
</cp:coreProperties>
</file>