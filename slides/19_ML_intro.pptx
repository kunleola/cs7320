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tags/tag2.xml" ContentType="application/vnd.openxmlformats-officedocument.presentationml.tags+xml"/>
  <Override PartName="/ppt/tags/tag3.xml" ContentType="application/vnd.openxmlformats-officedocument.presentationml.tags+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1.xml" ContentType="application/vnd.openxmlformats-officedocument.drawingml.chartshapes+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drawings/drawing2.xml" ContentType="application/vnd.openxmlformats-officedocument.drawingml.chartshapes+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tags/tag4.xml" ContentType="application/vnd.openxmlformats-officedocument.presentationml.tags+xml"/>
  <Override PartName="/ppt/tags/tag5.xml" ContentType="application/vnd.openxmlformats-officedocument.presentationml.tags+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9" r:id="rId1"/>
  </p:sldMasterIdLst>
  <p:notesMasterIdLst>
    <p:notesMasterId r:id="rId35"/>
  </p:notesMasterIdLst>
  <p:handoutMasterIdLst>
    <p:handoutMasterId r:id="rId36"/>
  </p:handoutMasterIdLst>
  <p:sldIdLst>
    <p:sldId id="455" r:id="rId2"/>
    <p:sldId id="509" r:id="rId3"/>
    <p:sldId id="511" r:id="rId4"/>
    <p:sldId id="457" r:id="rId5"/>
    <p:sldId id="513" r:id="rId6"/>
    <p:sldId id="497" r:id="rId7"/>
    <p:sldId id="346" r:id="rId8"/>
    <p:sldId id="347" r:id="rId9"/>
    <p:sldId id="483" r:id="rId10"/>
    <p:sldId id="484" r:id="rId11"/>
    <p:sldId id="480" r:id="rId12"/>
    <p:sldId id="485" r:id="rId13"/>
    <p:sldId id="479" r:id="rId14"/>
    <p:sldId id="498" r:id="rId15"/>
    <p:sldId id="486" r:id="rId16"/>
    <p:sldId id="432" r:id="rId17"/>
    <p:sldId id="512" r:id="rId18"/>
    <p:sldId id="499" r:id="rId19"/>
    <p:sldId id="500" r:id="rId20"/>
    <p:sldId id="487" r:id="rId21"/>
    <p:sldId id="454" r:id="rId22"/>
    <p:sldId id="413" r:id="rId23"/>
    <p:sldId id="505" r:id="rId24"/>
    <p:sldId id="493" r:id="rId25"/>
    <p:sldId id="514" r:id="rId26"/>
    <p:sldId id="495" r:id="rId27"/>
    <p:sldId id="489" r:id="rId28"/>
    <p:sldId id="490" r:id="rId29"/>
    <p:sldId id="491" r:id="rId30"/>
    <p:sldId id="506" r:id="rId31"/>
    <p:sldId id="516" r:id="rId32"/>
    <p:sldId id="508" r:id="rId33"/>
    <p:sldId id="515" r:id="rId34"/>
  </p:sldIdLst>
  <p:sldSz cx="12192000" cy="6858000"/>
  <p:notesSz cx="7099300" cy="10234613"/>
  <p:custDataLst>
    <p:tags r:id="rId37"/>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71BB79B-38E9-4662-8ED5-3F2F225203CE}">
          <p14:sldIdLst>
            <p14:sldId id="455"/>
            <p14:sldId id="509"/>
            <p14:sldId id="511"/>
            <p14:sldId id="457"/>
            <p14:sldId id="513"/>
          </p14:sldIdLst>
        </p14:section>
        <p14:section name="Supervised Learning" id="{87DBC323-8EDA-4738-AF7F-5929ADB374DA}">
          <p14:sldIdLst>
            <p14:sldId id="497"/>
            <p14:sldId id="346"/>
            <p14:sldId id="347"/>
            <p14:sldId id="483"/>
            <p14:sldId id="484"/>
            <p14:sldId id="480"/>
            <p14:sldId id="485"/>
            <p14:sldId id="479"/>
          </p14:sldIdLst>
        </p14:section>
        <p14:section name="Data" id="{16F72C8D-4EB9-41F6-B741-77F6A0986143}">
          <p14:sldIdLst>
            <p14:sldId id="498"/>
            <p14:sldId id="486"/>
            <p14:sldId id="432"/>
            <p14:sldId id="512"/>
          </p14:sldIdLst>
        </p14:section>
        <p14:section name="Training and Testing" id="{C04CA568-4756-4F1A-A0CF-F0BB46D2F97A}">
          <p14:sldIdLst>
            <p14:sldId id="499"/>
            <p14:sldId id="500"/>
            <p14:sldId id="487"/>
            <p14:sldId id="454"/>
            <p14:sldId id="413"/>
          </p14:sldIdLst>
        </p14:section>
        <p14:section name="Types of ML Models" id="{17B4E910-6E8A-4FEE-A43D-B13D3E343326}">
          <p14:sldIdLst>
            <p14:sldId id="505"/>
            <p14:sldId id="493"/>
            <p14:sldId id="514"/>
            <p14:sldId id="495"/>
            <p14:sldId id="489"/>
            <p14:sldId id="490"/>
            <p14:sldId id="491"/>
            <p14:sldId id="506"/>
            <p14:sldId id="516"/>
          </p14:sldIdLst>
        </p14:section>
        <p14:section name="How are models used in AI" id="{C564B212-4CB4-4076-B86F-55C18B0F30DD}">
          <p14:sldIdLst>
            <p14:sldId id="508"/>
            <p14:sldId id="515"/>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0AD47"/>
    <a:srgbClr val="FEC0BE"/>
    <a:srgbClr val="8EEA9D"/>
    <a:srgbClr val="BDE6B2"/>
    <a:srgbClr val="FFCCCC"/>
    <a:srgbClr val="FFCCFF"/>
    <a:srgbClr val="FFFF00"/>
    <a:srgbClr val="3333FF"/>
    <a:srgbClr val="FF3300"/>
    <a:srgbClr val="CC00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571" autoAdjust="0"/>
    <p:restoredTop sz="88626" autoAdjust="0"/>
  </p:normalViewPr>
  <p:slideViewPr>
    <p:cSldViewPr>
      <p:cViewPr varScale="1">
        <p:scale>
          <a:sx n="143" d="100"/>
          <a:sy n="143" d="100"/>
        </p:scale>
        <p:origin x="492" y="84"/>
      </p:cViewPr>
      <p:guideLst>
        <p:guide orient="horz" pos="216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gs" Target="tags/tag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31329172\Documents\SMU\courses\CS7320\overfiting%20example.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31329172\Documents\SMU\courses\CS7320\overfiting%20example.xlsx" TargetMode="Externa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1.xml"/></Relationships>
</file>

<file path=ppt/charts/_rels/chart3.xml.rels><?xml version="1.0" encoding="UTF-8" standalone="yes"?>
<Relationships xmlns="http://schemas.openxmlformats.org/package/2006/relationships"><Relationship Id="rId3" Type="http://schemas.openxmlformats.org/officeDocument/2006/relationships/oleObject" Target="file:///C:\Users\31329172\Documents\SMU\courses\CS7320\overfiting%20example.xlsx" TargetMode="Externa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chartUserShapes" Target="../drawings/drawing2.xml"/></Relationships>
</file>

<file path=ppt/charts/_rels/chart4.xml.rels><?xml version="1.0" encoding="UTF-8" standalone="yes"?>
<Relationships xmlns="http://schemas.openxmlformats.org/package/2006/relationships"><Relationship Id="rId3" Type="http://schemas.openxmlformats.org/officeDocument/2006/relationships/oleObject" Target="file:///C:\Users\31329172\Documents\SMU\courses\CS7320\overfiting%20example.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31329172\Documents\SMU\courses\CS7320\overfiting%20example.xlsx" TargetMode="External"/><Relationship Id="rId2" Type="http://schemas.microsoft.com/office/2011/relationships/chartColorStyle" Target="colors5.xml"/><Relationship Id="rId1" Type="http://schemas.microsoft.com/office/2011/relationships/chartStyle" Target="style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Sheet1!$D$4</c:f>
              <c:strCache>
                <c:ptCount val="1"/>
                <c:pt idx="0">
                  <c:v>y</c:v>
                </c:pt>
              </c:strCache>
            </c:strRef>
          </c:tx>
          <c:spPr>
            <a:ln w="38100" cap="rnd">
              <a:noFill/>
              <a:round/>
            </a:ln>
            <a:effectLst/>
          </c:spPr>
          <c:marker>
            <c:symbol val="circle"/>
            <c:size val="5"/>
            <c:spPr>
              <a:solidFill>
                <a:schemeClr val="accent1"/>
              </a:solidFill>
              <a:ln w="9525">
                <a:solidFill>
                  <a:schemeClr val="accent1"/>
                </a:solidFill>
              </a:ln>
              <a:effectLst/>
            </c:spPr>
          </c:marker>
          <c:xVal>
            <c:numRef>
              <c:f>Sheet1!$C$5:$C$10</c:f>
              <c:numCache>
                <c:formatCode>General</c:formatCode>
                <c:ptCount val="6"/>
                <c:pt idx="0">
                  <c:v>1</c:v>
                </c:pt>
                <c:pt idx="1">
                  <c:v>2</c:v>
                </c:pt>
                <c:pt idx="2">
                  <c:v>3</c:v>
                </c:pt>
                <c:pt idx="3">
                  <c:v>4</c:v>
                </c:pt>
                <c:pt idx="4">
                  <c:v>5</c:v>
                </c:pt>
                <c:pt idx="5">
                  <c:v>6</c:v>
                </c:pt>
              </c:numCache>
            </c:numRef>
          </c:xVal>
          <c:yVal>
            <c:numRef>
              <c:f>Sheet1!$D$5:$D$10</c:f>
              <c:numCache>
                <c:formatCode>General</c:formatCode>
                <c:ptCount val="6"/>
                <c:pt idx="0">
                  <c:v>1</c:v>
                </c:pt>
                <c:pt idx="1">
                  <c:v>4</c:v>
                </c:pt>
                <c:pt idx="2">
                  <c:v>9</c:v>
                </c:pt>
                <c:pt idx="3">
                  <c:v>16</c:v>
                </c:pt>
                <c:pt idx="4">
                  <c:v>1</c:v>
                </c:pt>
                <c:pt idx="5">
                  <c:v>36</c:v>
                </c:pt>
              </c:numCache>
            </c:numRef>
          </c:yVal>
          <c:smooth val="0"/>
          <c:extLst>
            <c:ext xmlns:c16="http://schemas.microsoft.com/office/drawing/2014/chart" uri="{C3380CC4-5D6E-409C-BE32-E72D297353CC}">
              <c16:uniqueId val="{00000000-8C99-4ED8-BF5E-6B12EC16E18F}"/>
            </c:ext>
          </c:extLst>
        </c:ser>
        <c:dLbls>
          <c:showLegendKey val="0"/>
          <c:showVal val="0"/>
          <c:showCatName val="0"/>
          <c:showSerName val="0"/>
          <c:showPercent val="0"/>
          <c:showBubbleSize val="0"/>
        </c:dLbls>
        <c:axId val="1846336224"/>
        <c:axId val="1846337184"/>
      </c:scatterChart>
      <c:valAx>
        <c:axId val="1846336224"/>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x</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7184"/>
        <c:crosses val="autoZero"/>
        <c:crossBetween val="midCat"/>
      </c:valAx>
      <c:valAx>
        <c:axId val="1846337184"/>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y</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6224"/>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1"/>
          <c:order val="1"/>
          <c:tx>
            <c:v>mean</c:v>
          </c:tx>
          <c:spPr>
            <a:ln w="19050" cap="rnd">
              <a:solidFill>
                <a:schemeClr val="accent2"/>
              </a:solidFill>
              <a:round/>
            </a:ln>
            <a:effectLst/>
          </c:spPr>
          <c:marker>
            <c:symbol val="none"/>
          </c:marker>
          <c:cat>
            <c:numRef>
              <c:f>Sheet1!$C$5:$C$10</c:f>
              <c:numCache>
                <c:formatCode>General</c:formatCode>
                <c:ptCount val="6"/>
                <c:pt idx="0">
                  <c:v>1</c:v>
                </c:pt>
                <c:pt idx="1">
                  <c:v>2</c:v>
                </c:pt>
                <c:pt idx="2">
                  <c:v>3</c:v>
                </c:pt>
                <c:pt idx="3">
                  <c:v>4</c:v>
                </c:pt>
                <c:pt idx="4">
                  <c:v>5</c:v>
                </c:pt>
                <c:pt idx="5">
                  <c:v>6</c:v>
                </c:pt>
              </c:numCache>
            </c:numRef>
          </c:cat>
          <c:val>
            <c:numRef>
              <c:f>Sheet1!$F$5:$F$10</c:f>
              <c:numCache>
                <c:formatCode>General</c:formatCode>
                <c:ptCount val="6"/>
                <c:pt idx="0">
                  <c:v>11.166666666666666</c:v>
                </c:pt>
                <c:pt idx="1">
                  <c:v>11.166666666666666</c:v>
                </c:pt>
                <c:pt idx="2">
                  <c:v>11.166666666666666</c:v>
                </c:pt>
                <c:pt idx="3">
                  <c:v>11.166666666666666</c:v>
                </c:pt>
                <c:pt idx="4">
                  <c:v>11.166666666666666</c:v>
                </c:pt>
                <c:pt idx="5">
                  <c:v>11.166666666666666</c:v>
                </c:pt>
              </c:numCache>
            </c:numRef>
          </c:val>
          <c:smooth val="0"/>
          <c:extLst>
            <c:ext xmlns:c16="http://schemas.microsoft.com/office/drawing/2014/chart" uri="{C3380CC4-5D6E-409C-BE32-E72D297353CC}">
              <c16:uniqueId val="{00000000-ACF0-486E-946D-8F3CAF4C25B7}"/>
            </c:ext>
          </c:extLst>
        </c:ser>
        <c:dLbls>
          <c:showLegendKey val="0"/>
          <c:showVal val="0"/>
          <c:showCatName val="0"/>
          <c:showSerName val="0"/>
          <c:showPercent val="0"/>
          <c:showBubbleSize val="0"/>
        </c:dLbls>
        <c:marker val="1"/>
        <c:smooth val="0"/>
        <c:axId val="1846336224"/>
        <c:axId val="1846337184"/>
      </c:lineChart>
      <c:scatterChart>
        <c:scatterStyle val="lineMarker"/>
        <c:varyColors val="0"/>
        <c:ser>
          <c:idx val="0"/>
          <c:order val="0"/>
          <c:tx>
            <c:strRef>
              <c:f>Sheet1!$D$4</c:f>
              <c:strCache>
                <c:ptCount val="1"/>
                <c:pt idx="0">
                  <c:v>y</c:v>
                </c:pt>
              </c:strCache>
            </c:strRef>
          </c:tx>
          <c:spPr>
            <a:ln w="38100" cap="rnd">
              <a:noFill/>
              <a:round/>
            </a:ln>
            <a:effectLst/>
          </c:spPr>
          <c:marker>
            <c:symbol val="circle"/>
            <c:size val="5"/>
            <c:spPr>
              <a:solidFill>
                <a:schemeClr val="accent1"/>
              </a:solidFill>
              <a:ln w="9525">
                <a:solidFill>
                  <a:schemeClr val="accent1"/>
                </a:solidFill>
              </a:ln>
              <a:effectLst/>
            </c:spPr>
          </c:marker>
          <c:xVal>
            <c:numRef>
              <c:f>Sheet1!$C$5:$C$10</c:f>
              <c:numCache>
                <c:formatCode>General</c:formatCode>
                <c:ptCount val="6"/>
                <c:pt idx="0">
                  <c:v>1</c:v>
                </c:pt>
                <c:pt idx="1">
                  <c:v>2</c:v>
                </c:pt>
                <c:pt idx="2">
                  <c:v>3</c:v>
                </c:pt>
                <c:pt idx="3">
                  <c:v>4</c:v>
                </c:pt>
                <c:pt idx="4">
                  <c:v>5</c:v>
                </c:pt>
                <c:pt idx="5">
                  <c:v>6</c:v>
                </c:pt>
              </c:numCache>
            </c:numRef>
          </c:xVal>
          <c:yVal>
            <c:numRef>
              <c:f>Sheet1!$D$5:$D$10</c:f>
              <c:numCache>
                <c:formatCode>General</c:formatCode>
                <c:ptCount val="6"/>
                <c:pt idx="0">
                  <c:v>1</c:v>
                </c:pt>
                <c:pt idx="1">
                  <c:v>4</c:v>
                </c:pt>
                <c:pt idx="2">
                  <c:v>9</c:v>
                </c:pt>
                <c:pt idx="3">
                  <c:v>16</c:v>
                </c:pt>
                <c:pt idx="4">
                  <c:v>1</c:v>
                </c:pt>
                <c:pt idx="5">
                  <c:v>36</c:v>
                </c:pt>
              </c:numCache>
            </c:numRef>
          </c:yVal>
          <c:smooth val="0"/>
          <c:extLst>
            <c:ext xmlns:c16="http://schemas.microsoft.com/office/drawing/2014/chart" uri="{C3380CC4-5D6E-409C-BE32-E72D297353CC}">
              <c16:uniqueId val="{00000001-ACF0-486E-946D-8F3CAF4C25B7}"/>
            </c:ext>
          </c:extLst>
        </c:ser>
        <c:dLbls>
          <c:showLegendKey val="0"/>
          <c:showVal val="0"/>
          <c:showCatName val="0"/>
          <c:showSerName val="0"/>
          <c:showPercent val="0"/>
          <c:showBubbleSize val="0"/>
        </c:dLbls>
        <c:axId val="1846336224"/>
        <c:axId val="1846337184"/>
      </c:scatterChart>
      <c:catAx>
        <c:axId val="1846336224"/>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x</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7184"/>
        <c:crosses val="autoZero"/>
        <c:auto val="1"/>
        <c:lblAlgn val="ctr"/>
        <c:lblOffset val="100"/>
        <c:noMultiLvlLbl val="0"/>
      </c:catAx>
      <c:valAx>
        <c:axId val="1846337184"/>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y</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622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1"/>
          <c:order val="1"/>
          <c:tx>
            <c:strRef>
              <c:f>Sheet1!$E$4</c:f>
              <c:strCache>
                <c:ptCount val="1"/>
                <c:pt idx="0">
                  <c:v>exp</c:v>
                </c:pt>
              </c:strCache>
            </c:strRef>
          </c:tx>
          <c:spPr>
            <a:ln w="19050" cap="rnd">
              <a:solidFill>
                <a:schemeClr val="accent2"/>
              </a:solidFill>
              <a:round/>
            </a:ln>
            <a:effectLst/>
          </c:spPr>
          <c:marker>
            <c:symbol val="none"/>
          </c:marker>
          <c:cat>
            <c:numRef>
              <c:f>Sheet1!$C$5:$C$10</c:f>
              <c:numCache>
                <c:formatCode>General</c:formatCode>
                <c:ptCount val="6"/>
                <c:pt idx="0">
                  <c:v>1</c:v>
                </c:pt>
                <c:pt idx="1">
                  <c:v>2</c:v>
                </c:pt>
                <c:pt idx="2">
                  <c:v>3</c:v>
                </c:pt>
                <c:pt idx="3">
                  <c:v>4</c:v>
                </c:pt>
                <c:pt idx="4">
                  <c:v>5</c:v>
                </c:pt>
                <c:pt idx="5">
                  <c:v>6</c:v>
                </c:pt>
              </c:numCache>
            </c:numRef>
          </c:cat>
          <c:val>
            <c:numRef>
              <c:f>Sheet1!$E$5:$E$10</c:f>
              <c:numCache>
                <c:formatCode>General</c:formatCode>
                <c:ptCount val="6"/>
                <c:pt idx="0">
                  <c:v>1</c:v>
                </c:pt>
                <c:pt idx="1">
                  <c:v>4</c:v>
                </c:pt>
                <c:pt idx="2">
                  <c:v>9</c:v>
                </c:pt>
                <c:pt idx="3">
                  <c:v>16</c:v>
                </c:pt>
                <c:pt idx="4">
                  <c:v>25</c:v>
                </c:pt>
                <c:pt idx="5">
                  <c:v>36</c:v>
                </c:pt>
              </c:numCache>
            </c:numRef>
          </c:val>
          <c:smooth val="0"/>
          <c:extLst>
            <c:ext xmlns:c16="http://schemas.microsoft.com/office/drawing/2014/chart" uri="{C3380CC4-5D6E-409C-BE32-E72D297353CC}">
              <c16:uniqueId val="{00000000-5E6C-49BE-8576-EF65F1DA92C8}"/>
            </c:ext>
          </c:extLst>
        </c:ser>
        <c:dLbls>
          <c:showLegendKey val="0"/>
          <c:showVal val="0"/>
          <c:showCatName val="0"/>
          <c:showSerName val="0"/>
          <c:showPercent val="0"/>
          <c:showBubbleSize val="0"/>
        </c:dLbls>
        <c:marker val="1"/>
        <c:smooth val="0"/>
        <c:axId val="1846336224"/>
        <c:axId val="1846337184"/>
      </c:lineChart>
      <c:scatterChart>
        <c:scatterStyle val="lineMarker"/>
        <c:varyColors val="0"/>
        <c:ser>
          <c:idx val="0"/>
          <c:order val="0"/>
          <c:tx>
            <c:strRef>
              <c:f>Sheet1!$D$4</c:f>
              <c:strCache>
                <c:ptCount val="1"/>
                <c:pt idx="0">
                  <c:v>y</c:v>
                </c:pt>
              </c:strCache>
            </c:strRef>
          </c:tx>
          <c:spPr>
            <a:ln w="38100" cap="rnd">
              <a:noFill/>
              <a:round/>
            </a:ln>
            <a:effectLst/>
          </c:spPr>
          <c:marker>
            <c:symbol val="circle"/>
            <c:size val="5"/>
            <c:spPr>
              <a:solidFill>
                <a:schemeClr val="accent1"/>
              </a:solidFill>
              <a:ln w="9525">
                <a:solidFill>
                  <a:schemeClr val="accent1"/>
                </a:solidFill>
              </a:ln>
              <a:effectLst/>
            </c:spPr>
          </c:marker>
          <c:xVal>
            <c:numRef>
              <c:f>Sheet1!$C$5:$C$10</c:f>
              <c:numCache>
                <c:formatCode>General</c:formatCode>
                <c:ptCount val="6"/>
                <c:pt idx="0">
                  <c:v>1</c:v>
                </c:pt>
                <c:pt idx="1">
                  <c:v>2</c:v>
                </c:pt>
                <c:pt idx="2">
                  <c:v>3</c:v>
                </c:pt>
                <c:pt idx="3">
                  <c:v>4</c:v>
                </c:pt>
                <c:pt idx="4">
                  <c:v>5</c:v>
                </c:pt>
                <c:pt idx="5">
                  <c:v>6</c:v>
                </c:pt>
              </c:numCache>
            </c:numRef>
          </c:xVal>
          <c:yVal>
            <c:numRef>
              <c:f>Sheet1!$D$5:$D$10</c:f>
              <c:numCache>
                <c:formatCode>General</c:formatCode>
                <c:ptCount val="6"/>
                <c:pt idx="0">
                  <c:v>1</c:v>
                </c:pt>
                <c:pt idx="1">
                  <c:v>4</c:v>
                </c:pt>
                <c:pt idx="2">
                  <c:v>9</c:v>
                </c:pt>
                <c:pt idx="3">
                  <c:v>16</c:v>
                </c:pt>
                <c:pt idx="4">
                  <c:v>1</c:v>
                </c:pt>
                <c:pt idx="5">
                  <c:v>36</c:v>
                </c:pt>
              </c:numCache>
            </c:numRef>
          </c:yVal>
          <c:smooth val="0"/>
          <c:extLst>
            <c:ext xmlns:c16="http://schemas.microsoft.com/office/drawing/2014/chart" uri="{C3380CC4-5D6E-409C-BE32-E72D297353CC}">
              <c16:uniqueId val="{00000001-5E6C-49BE-8576-EF65F1DA92C8}"/>
            </c:ext>
          </c:extLst>
        </c:ser>
        <c:dLbls>
          <c:showLegendKey val="0"/>
          <c:showVal val="0"/>
          <c:showCatName val="0"/>
          <c:showSerName val="0"/>
          <c:showPercent val="0"/>
          <c:showBubbleSize val="0"/>
        </c:dLbls>
        <c:axId val="1846336224"/>
        <c:axId val="1846337184"/>
      </c:scatterChart>
      <c:catAx>
        <c:axId val="1846336224"/>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x</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7184"/>
        <c:crosses val="autoZero"/>
        <c:auto val="1"/>
        <c:lblAlgn val="ctr"/>
        <c:lblOffset val="100"/>
        <c:noMultiLvlLbl val="0"/>
      </c:catAx>
      <c:valAx>
        <c:axId val="1846337184"/>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y</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622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Sheet1!$D$4</c:f>
              <c:strCache>
                <c:ptCount val="1"/>
                <c:pt idx="0">
                  <c:v>y</c:v>
                </c:pt>
              </c:strCache>
            </c:strRef>
          </c:tx>
          <c:spPr>
            <a:ln w="381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2"/>
                </a:solidFill>
                <a:prstDash val="solid"/>
              </a:ln>
              <a:effectLst/>
            </c:spPr>
            <c:trendlineType val="linear"/>
            <c:dispRSqr val="0"/>
            <c:dispEq val="1"/>
            <c:trendlineLbl>
              <c:layout>
                <c:manualLayout>
                  <c:x val="2.4968722659667542E-2"/>
                  <c:y val="-8.628973461650627E-2"/>
                </c:manualLayout>
              </c:layout>
              <c:tx>
                <c:rich>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en-US" sz="1400" baseline="0" dirty="0"/>
                      <a:t>h(x) = 4.9429x - 6.1333</a:t>
                    </a:r>
                    <a:endParaRPr lang="en-US" sz="1400" dirty="0"/>
                  </a:p>
                </c:rich>
              </c:tx>
              <c:numFmt formatCode="General" sourceLinked="0"/>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trendlineLbl>
          </c:trendline>
          <c:xVal>
            <c:numRef>
              <c:f>Sheet1!$C$5:$C$10</c:f>
              <c:numCache>
                <c:formatCode>General</c:formatCode>
                <c:ptCount val="6"/>
                <c:pt idx="0">
                  <c:v>1</c:v>
                </c:pt>
                <c:pt idx="1">
                  <c:v>2</c:v>
                </c:pt>
                <c:pt idx="2">
                  <c:v>3</c:v>
                </c:pt>
                <c:pt idx="3">
                  <c:v>4</c:v>
                </c:pt>
                <c:pt idx="4">
                  <c:v>5</c:v>
                </c:pt>
                <c:pt idx="5">
                  <c:v>6</c:v>
                </c:pt>
              </c:numCache>
            </c:numRef>
          </c:xVal>
          <c:yVal>
            <c:numRef>
              <c:f>Sheet1!$D$5:$D$10</c:f>
              <c:numCache>
                <c:formatCode>General</c:formatCode>
                <c:ptCount val="6"/>
                <c:pt idx="0">
                  <c:v>1</c:v>
                </c:pt>
                <c:pt idx="1">
                  <c:v>4</c:v>
                </c:pt>
                <c:pt idx="2">
                  <c:v>9</c:v>
                </c:pt>
                <c:pt idx="3">
                  <c:v>16</c:v>
                </c:pt>
                <c:pt idx="4">
                  <c:v>1</c:v>
                </c:pt>
                <c:pt idx="5">
                  <c:v>36</c:v>
                </c:pt>
              </c:numCache>
            </c:numRef>
          </c:yVal>
          <c:smooth val="0"/>
          <c:extLst>
            <c:ext xmlns:c16="http://schemas.microsoft.com/office/drawing/2014/chart" uri="{C3380CC4-5D6E-409C-BE32-E72D297353CC}">
              <c16:uniqueId val="{00000001-659D-4D0A-855C-8AF70D3AD6B3}"/>
            </c:ext>
          </c:extLst>
        </c:ser>
        <c:dLbls>
          <c:showLegendKey val="0"/>
          <c:showVal val="0"/>
          <c:showCatName val="0"/>
          <c:showSerName val="0"/>
          <c:showPercent val="0"/>
          <c:showBubbleSize val="0"/>
        </c:dLbls>
        <c:axId val="1846336224"/>
        <c:axId val="1846337184"/>
      </c:scatterChart>
      <c:valAx>
        <c:axId val="1846336224"/>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x</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7184"/>
        <c:crosses val="autoZero"/>
        <c:crossBetween val="midCat"/>
      </c:valAx>
      <c:valAx>
        <c:axId val="1846337184"/>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y</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6224"/>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Sheet1!$D$4</c:f>
              <c:strCache>
                <c:ptCount val="1"/>
                <c:pt idx="0">
                  <c:v>y</c:v>
                </c:pt>
              </c:strCache>
            </c:strRef>
          </c:tx>
          <c:spPr>
            <a:ln w="381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2"/>
                </a:solidFill>
                <a:prstDash val="solid"/>
              </a:ln>
              <a:effectLst/>
            </c:spPr>
            <c:trendlineType val="poly"/>
            <c:order val="6"/>
            <c:dispRSqr val="0"/>
            <c:dispEq val="1"/>
            <c:trendlineLbl>
              <c:layout>
                <c:manualLayout>
                  <c:x val="0.19047619047619047"/>
                  <c:y val="-8.2070707070707072E-2"/>
                </c:manualLayout>
              </c:layout>
              <c:tx>
                <c:rich>
                  <a:bodyPr rot="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r>
                      <a:rPr lang="en-US" sz="1400" baseline="0" dirty="0"/>
                      <a:t>h(x) = 1x</a:t>
                    </a:r>
                    <a:r>
                      <a:rPr lang="en-US" sz="1400" baseline="30000" dirty="0"/>
                      <a:t>5</a:t>
                    </a:r>
                    <a:r>
                      <a:rPr lang="en-US" sz="1400" baseline="0" dirty="0"/>
                      <a:t> - 16x</a:t>
                    </a:r>
                    <a:r>
                      <a:rPr lang="en-US" sz="1400" baseline="30000" dirty="0"/>
                      <a:t>4</a:t>
                    </a:r>
                    <a:r>
                      <a:rPr lang="en-US" sz="1400" baseline="0" dirty="0"/>
                      <a:t> + 95x</a:t>
                    </a:r>
                    <a:r>
                      <a:rPr lang="en-US" sz="1400" baseline="30000" dirty="0"/>
                      <a:t>3</a:t>
                    </a:r>
                    <a:r>
                      <a:rPr lang="en-US" sz="1400" baseline="0" dirty="0"/>
                      <a:t> - 259x</a:t>
                    </a:r>
                    <a:r>
                      <a:rPr lang="en-US" sz="1400" baseline="30000" dirty="0"/>
                      <a:t>2</a:t>
                    </a:r>
                    <a:r>
                      <a:rPr lang="en-US" sz="1400" baseline="0" dirty="0"/>
                      <a:t> + 324x - 144</a:t>
                    </a:r>
                    <a:endParaRPr lang="en-US" sz="1400" dirty="0"/>
                  </a:p>
                </c:rich>
              </c:tx>
              <c:numFmt formatCode="General" sourceLinked="0"/>
              <c:spPr>
                <a:noFill/>
                <a:ln>
                  <a:noFill/>
                </a:ln>
                <a:effectLst/>
              </c:spPr>
              <c:txPr>
                <a:bodyPr rot="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en-US"/>
                </a:p>
              </c:txPr>
            </c:trendlineLbl>
          </c:trendline>
          <c:xVal>
            <c:numRef>
              <c:f>Sheet1!$C$5:$C$10</c:f>
              <c:numCache>
                <c:formatCode>General</c:formatCode>
                <c:ptCount val="6"/>
                <c:pt idx="0">
                  <c:v>1</c:v>
                </c:pt>
                <c:pt idx="1">
                  <c:v>2</c:v>
                </c:pt>
                <c:pt idx="2">
                  <c:v>3</c:v>
                </c:pt>
                <c:pt idx="3">
                  <c:v>4</c:v>
                </c:pt>
                <c:pt idx="4">
                  <c:v>5</c:v>
                </c:pt>
                <c:pt idx="5">
                  <c:v>6</c:v>
                </c:pt>
              </c:numCache>
            </c:numRef>
          </c:xVal>
          <c:yVal>
            <c:numRef>
              <c:f>Sheet1!$D$5:$D$10</c:f>
              <c:numCache>
                <c:formatCode>General</c:formatCode>
                <c:ptCount val="6"/>
                <c:pt idx="0">
                  <c:v>1</c:v>
                </c:pt>
                <c:pt idx="1">
                  <c:v>4</c:v>
                </c:pt>
                <c:pt idx="2">
                  <c:v>9</c:v>
                </c:pt>
                <c:pt idx="3">
                  <c:v>16</c:v>
                </c:pt>
                <c:pt idx="4">
                  <c:v>1</c:v>
                </c:pt>
                <c:pt idx="5">
                  <c:v>36</c:v>
                </c:pt>
              </c:numCache>
            </c:numRef>
          </c:yVal>
          <c:smooth val="0"/>
          <c:extLst>
            <c:ext xmlns:c16="http://schemas.microsoft.com/office/drawing/2014/chart" uri="{C3380CC4-5D6E-409C-BE32-E72D297353CC}">
              <c16:uniqueId val="{00000001-D6C9-48C0-95F5-BC439C79936F}"/>
            </c:ext>
          </c:extLst>
        </c:ser>
        <c:dLbls>
          <c:showLegendKey val="0"/>
          <c:showVal val="0"/>
          <c:showCatName val="0"/>
          <c:showSerName val="0"/>
          <c:showPercent val="0"/>
          <c:showBubbleSize val="0"/>
        </c:dLbls>
        <c:axId val="1846336224"/>
        <c:axId val="1846337184"/>
      </c:scatterChart>
      <c:valAx>
        <c:axId val="1846336224"/>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x</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7184"/>
        <c:crosses val="autoZero"/>
        <c:crossBetween val="midCat"/>
      </c:valAx>
      <c:valAx>
        <c:axId val="1846337184"/>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y</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6224"/>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1F56DAC-667B-4714-880C-603F24F05912}" type="doc">
      <dgm:prSet loTypeId="urn:microsoft.com/office/officeart/2005/8/layout/hProcess9" loCatId="process" qsTypeId="urn:microsoft.com/office/officeart/2005/8/quickstyle/simple1" qsCatId="simple" csTypeId="urn:microsoft.com/office/officeart/2005/8/colors/accent1_2" csCatId="accent1" phldr="1"/>
      <dgm:spPr/>
    </dgm:pt>
    <dgm:pt modelId="{B79D49AE-C4BC-4451-8B61-36344AC8A8CC}">
      <dgm:prSet phldrT="[Text]"/>
      <dgm:spPr/>
      <dgm:t>
        <a:bodyPr/>
        <a:lstStyle/>
        <a:p>
          <a:r>
            <a:rPr lang="en-US" dirty="0"/>
            <a:t>Supervised Learning</a:t>
          </a:r>
        </a:p>
      </dgm:t>
    </dgm:pt>
    <dgm:pt modelId="{6F7F5DD6-6DE9-47B1-9956-BB5CC5C2F674}" type="parTrans" cxnId="{BB44AAC3-B52D-4C06-BFD7-A642F302041C}">
      <dgm:prSet/>
      <dgm:spPr/>
      <dgm:t>
        <a:bodyPr/>
        <a:lstStyle/>
        <a:p>
          <a:endParaRPr lang="en-US"/>
        </a:p>
      </dgm:t>
    </dgm:pt>
    <dgm:pt modelId="{CAF0C5CC-FCA6-43DB-824D-925055DF913E}" type="sibTrans" cxnId="{BB44AAC3-B52D-4C06-BFD7-A642F302041C}">
      <dgm:prSet/>
      <dgm:spPr/>
      <dgm:t>
        <a:bodyPr/>
        <a:lstStyle/>
        <a:p>
          <a:endParaRPr lang="en-US"/>
        </a:p>
      </dgm:t>
    </dgm:pt>
    <dgm:pt modelId="{F56C4BC8-0ED4-400F-A75E-EF237D4F94B6}">
      <dgm:prSet phldrT="[Text]"/>
      <dgm:spPr/>
      <dgm:t>
        <a:bodyPr/>
        <a:lstStyle/>
        <a:p>
          <a:r>
            <a:rPr lang="en-US" dirty="0"/>
            <a:t>Training Data</a:t>
          </a:r>
        </a:p>
      </dgm:t>
    </dgm:pt>
    <dgm:pt modelId="{4293304B-5236-46D6-9083-D1E8E81B63BB}" type="parTrans" cxnId="{4B35E22E-3BF8-490E-B7B4-54CD143774CE}">
      <dgm:prSet/>
      <dgm:spPr/>
      <dgm:t>
        <a:bodyPr/>
        <a:lstStyle/>
        <a:p>
          <a:endParaRPr lang="en-US"/>
        </a:p>
      </dgm:t>
    </dgm:pt>
    <dgm:pt modelId="{B2D14E5B-C6D9-499E-9834-A7B65322007B}" type="sibTrans" cxnId="{4B35E22E-3BF8-490E-B7B4-54CD143774CE}">
      <dgm:prSet/>
      <dgm:spPr/>
      <dgm:t>
        <a:bodyPr/>
        <a:lstStyle/>
        <a:p>
          <a:endParaRPr lang="en-US"/>
        </a:p>
      </dgm:t>
    </dgm:pt>
    <dgm:pt modelId="{1F1F3557-D6AF-47CF-8C3D-D8351D586D3F}">
      <dgm:prSet phldrT="[Text]"/>
      <dgm:spPr/>
      <dgm:t>
        <a:bodyPr/>
        <a:lstStyle/>
        <a:p>
          <a:r>
            <a:rPr lang="en-US" dirty="0"/>
            <a:t>Training &amp; Testing</a:t>
          </a:r>
        </a:p>
      </dgm:t>
    </dgm:pt>
    <dgm:pt modelId="{E4334A6C-1385-4594-A085-BF177D0B5A2C}" type="parTrans" cxnId="{33BB2657-E490-4F1A-B796-5E0C2BADBBD7}">
      <dgm:prSet/>
      <dgm:spPr/>
      <dgm:t>
        <a:bodyPr/>
        <a:lstStyle/>
        <a:p>
          <a:endParaRPr lang="en-US"/>
        </a:p>
      </dgm:t>
    </dgm:pt>
    <dgm:pt modelId="{2D333EDA-78FE-4356-BF88-7C120261B098}" type="sibTrans" cxnId="{33BB2657-E490-4F1A-B796-5E0C2BADBBD7}">
      <dgm:prSet/>
      <dgm:spPr/>
      <dgm:t>
        <a:bodyPr/>
        <a:lstStyle/>
        <a:p>
          <a:endParaRPr lang="en-US"/>
        </a:p>
      </dgm:t>
    </dgm:pt>
    <dgm:pt modelId="{451AA810-5B15-4A81-BA5D-D4EA5D9B1831}">
      <dgm:prSet phldrT="[Text]"/>
      <dgm:spPr/>
      <dgm:t>
        <a:bodyPr/>
        <a:lstStyle/>
        <a:p>
          <a:r>
            <a:rPr lang="en-US" dirty="0"/>
            <a:t>Types of supervised ML Models</a:t>
          </a:r>
        </a:p>
      </dgm:t>
    </dgm:pt>
    <dgm:pt modelId="{1AD1F506-36C8-4DEB-80FD-AC22DFB23149}" type="parTrans" cxnId="{E5A0DC4B-9039-4EFF-B096-55D281F90705}">
      <dgm:prSet/>
      <dgm:spPr/>
      <dgm:t>
        <a:bodyPr/>
        <a:lstStyle/>
        <a:p>
          <a:endParaRPr lang="en-US"/>
        </a:p>
      </dgm:t>
    </dgm:pt>
    <dgm:pt modelId="{A332E490-9AC3-4DF1-AE94-0EED0AE5B1C2}" type="sibTrans" cxnId="{E5A0DC4B-9039-4EFF-B096-55D281F90705}">
      <dgm:prSet/>
      <dgm:spPr/>
      <dgm:t>
        <a:bodyPr/>
        <a:lstStyle/>
        <a:p>
          <a:endParaRPr lang="en-US"/>
        </a:p>
      </dgm:t>
    </dgm:pt>
    <dgm:pt modelId="{A162E7D4-7296-40E4-B5A0-41D2FAD1277E}">
      <dgm:prSet phldrT="[Text]"/>
      <dgm:spPr/>
      <dgm:t>
        <a:bodyPr/>
        <a:lstStyle/>
        <a:p>
          <a:r>
            <a:rPr lang="en-US" dirty="0"/>
            <a:t>Use in AI</a:t>
          </a:r>
        </a:p>
      </dgm:t>
    </dgm:pt>
    <dgm:pt modelId="{C4245560-DC20-46FA-AFAD-689EED375F1D}" type="parTrans" cxnId="{6359E31F-C4E6-4C29-AD30-FAD8EC9DFAED}">
      <dgm:prSet/>
      <dgm:spPr/>
      <dgm:t>
        <a:bodyPr/>
        <a:lstStyle/>
        <a:p>
          <a:endParaRPr lang="en-US"/>
        </a:p>
      </dgm:t>
    </dgm:pt>
    <dgm:pt modelId="{0FD7DD4D-9758-4BFF-A28C-3499268CD46E}" type="sibTrans" cxnId="{6359E31F-C4E6-4C29-AD30-FAD8EC9DFAED}">
      <dgm:prSet/>
      <dgm:spPr/>
      <dgm:t>
        <a:bodyPr/>
        <a:lstStyle/>
        <a:p>
          <a:endParaRPr lang="en-US"/>
        </a:p>
      </dgm:t>
    </dgm:pt>
    <dgm:pt modelId="{FB6BA4AC-366A-4DD7-9208-7CAECBC61ACD}">
      <dgm:prSet phldrT="[Text]"/>
      <dgm:spPr/>
      <dgm:t>
        <a:bodyPr/>
        <a:lstStyle/>
        <a:p>
          <a:r>
            <a:rPr lang="en-US" dirty="0"/>
            <a:t>Agents &amp; ML</a:t>
          </a:r>
        </a:p>
      </dgm:t>
    </dgm:pt>
    <dgm:pt modelId="{1BBE2391-B3F0-4D13-BE2F-3139F04AF03A}" type="parTrans" cxnId="{A9DD7A30-ED7B-4678-A229-1A08ECD58F0D}">
      <dgm:prSet/>
      <dgm:spPr/>
      <dgm:t>
        <a:bodyPr/>
        <a:lstStyle/>
        <a:p>
          <a:endParaRPr lang="en-US"/>
        </a:p>
      </dgm:t>
    </dgm:pt>
    <dgm:pt modelId="{82E406E3-D8B4-42F7-B8D8-955AAE0E8DC7}" type="sibTrans" cxnId="{A9DD7A30-ED7B-4678-A229-1A08ECD58F0D}">
      <dgm:prSet/>
      <dgm:spPr/>
      <dgm:t>
        <a:bodyPr/>
        <a:lstStyle/>
        <a:p>
          <a:endParaRPr lang="en-US"/>
        </a:p>
      </dgm:t>
    </dgm:pt>
    <dgm:pt modelId="{DE46D941-84A0-4CD6-8EB7-26AED89C8EDE}" type="pres">
      <dgm:prSet presAssocID="{B1F56DAC-667B-4714-880C-603F24F05912}" presName="CompostProcess" presStyleCnt="0">
        <dgm:presLayoutVars>
          <dgm:dir/>
          <dgm:resizeHandles val="exact"/>
        </dgm:presLayoutVars>
      </dgm:prSet>
      <dgm:spPr/>
    </dgm:pt>
    <dgm:pt modelId="{F52D2AE5-D223-4FD2-AE0F-78620D37C70E}" type="pres">
      <dgm:prSet presAssocID="{B1F56DAC-667B-4714-880C-603F24F05912}" presName="arrow" presStyleLbl="bgShp" presStyleIdx="0" presStyleCnt="1"/>
      <dgm:spPr/>
    </dgm:pt>
    <dgm:pt modelId="{A74280AD-9FFD-4AA9-9C0B-AE915AECE173}" type="pres">
      <dgm:prSet presAssocID="{B1F56DAC-667B-4714-880C-603F24F05912}" presName="linearProcess" presStyleCnt="0"/>
      <dgm:spPr/>
    </dgm:pt>
    <dgm:pt modelId="{53DC3ABF-67AF-4AE6-B5D8-01CDD9772369}" type="pres">
      <dgm:prSet presAssocID="{FB6BA4AC-366A-4DD7-9208-7CAECBC61ACD}" presName="textNode" presStyleLbl="node1" presStyleIdx="0" presStyleCnt="6">
        <dgm:presLayoutVars>
          <dgm:bulletEnabled val="1"/>
        </dgm:presLayoutVars>
      </dgm:prSet>
      <dgm:spPr/>
    </dgm:pt>
    <dgm:pt modelId="{CD05CC86-C5B3-489E-9300-99D83F82B9E0}" type="pres">
      <dgm:prSet presAssocID="{82E406E3-D8B4-42F7-B8D8-955AAE0E8DC7}" presName="sibTrans" presStyleCnt="0"/>
      <dgm:spPr/>
    </dgm:pt>
    <dgm:pt modelId="{0AB9704D-A203-4650-92A1-56E17AD50F58}" type="pres">
      <dgm:prSet presAssocID="{B79D49AE-C4BC-4451-8B61-36344AC8A8CC}" presName="textNode" presStyleLbl="node1" presStyleIdx="1" presStyleCnt="6">
        <dgm:presLayoutVars>
          <dgm:bulletEnabled val="1"/>
        </dgm:presLayoutVars>
      </dgm:prSet>
      <dgm:spPr/>
    </dgm:pt>
    <dgm:pt modelId="{F4D45C06-9090-431D-9BC9-391ED8FB0A5C}" type="pres">
      <dgm:prSet presAssocID="{CAF0C5CC-FCA6-43DB-824D-925055DF913E}" presName="sibTrans" presStyleCnt="0"/>
      <dgm:spPr/>
    </dgm:pt>
    <dgm:pt modelId="{5FE25C4C-2BC5-4F54-BE1F-F3BEC29E749D}" type="pres">
      <dgm:prSet presAssocID="{F56C4BC8-0ED4-400F-A75E-EF237D4F94B6}" presName="textNode" presStyleLbl="node1" presStyleIdx="2" presStyleCnt="6">
        <dgm:presLayoutVars>
          <dgm:bulletEnabled val="1"/>
        </dgm:presLayoutVars>
      </dgm:prSet>
      <dgm:spPr/>
    </dgm:pt>
    <dgm:pt modelId="{0EDCB13F-2541-4902-AB34-BAB340280A40}" type="pres">
      <dgm:prSet presAssocID="{B2D14E5B-C6D9-499E-9834-A7B65322007B}" presName="sibTrans" presStyleCnt="0"/>
      <dgm:spPr/>
    </dgm:pt>
    <dgm:pt modelId="{754C964E-78AB-4328-868B-C63F78DDBC38}" type="pres">
      <dgm:prSet presAssocID="{1F1F3557-D6AF-47CF-8C3D-D8351D586D3F}" presName="textNode" presStyleLbl="node1" presStyleIdx="3" presStyleCnt="6">
        <dgm:presLayoutVars>
          <dgm:bulletEnabled val="1"/>
        </dgm:presLayoutVars>
      </dgm:prSet>
      <dgm:spPr/>
    </dgm:pt>
    <dgm:pt modelId="{17FEA27C-B94C-4644-A856-9D9876CD3195}" type="pres">
      <dgm:prSet presAssocID="{2D333EDA-78FE-4356-BF88-7C120261B098}" presName="sibTrans" presStyleCnt="0"/>
      <dgm:spPr/>
    </dgm:pt>
    <dgm:pt modelId="{98799300-0DD4-4960-A025-4ADACB2CE7BB}" type="pres">
      <dgm:prSet presAssocID="{451AA810-5B15-4A81-BA5D-D4EA5D9B1831}" presName="textNode" presStyleLbl="node1" presStyleIdx="4" presStyleCnt="6">
        <dgm:presLayoutVars>
          <dgm:bulletEnabled val="1"/>
        </dgm:presLayoutVars>
      </dgm:prSet>
      <dgm:spPr/>
    </dgm:pt>
    <dgm:pt modelId="{A37AB7AD-E927-409A-97DA-5DD8DF66D021}" type="pres">
      <dgm:prSet presAssocID="{A332E490-9AC3-4DF1-AE94-0EED0AE5B1C2}" presName="sibTrans" presStyleCnt="0"/>
      <dgm:spPr/>
    </dgm:pt>
    <dgm:pt modelId="{054AE80D-D322-4C7E-8CAE-447DBCBB2AA6}" type="pres">
      <dgm:prSet presAssocID="{A162E7D4-7296-40E4-B5A0-41D2FAD1277E}" presName="textNode" presStyleLbl="node1" presStyleIdx="5" presStyleCnt="6">
        <dgm:presLayoutVars>
          <dgm:bulletEnabled val="1"/>
        </dgm:presLayoutVars>
      </dgm:prSet>
      <dgm:spPr/>
    </dgm:pt>
  </dgm:ptLst>
  <dgm:cxnLst>
    <dgm:cxn modelId="{6359E31F-C4E6-4C29-AD30-FAD8EC9DFAED}" srcId="{B1F56DAC-667B-4714-880C-603F24F05912}" destId="{A162E7D4-7296-40E4-B5A0-41D2FAD1277E}" srcOrd="5" destOrd="0" parTransId="{C4245560-DC20-46FA-AFAD-689EED375F1D}" sibTransId="{0FD7DD4D-9758-4BFF-A28C-3499268CD46E}"/>
    <dgm:cxn modelId="{C9019E29-62B0-4C86-84B0-A9D37B1CEB0D}" type="presOf" srcId="{B79D49AE-C4BC-4451-8B61-36344AC8A8CC}" destId="{0AB9704D-A203-4650-92A1-56E17AD50F58}" srcOrd="0" destOrd="0" presId="urn:microsoft.com/office/officeart/2005/8/layout/hProcess9"/>
    <dgm:cxn modelId="{45C4C729-75E0-431D-9CF1-307AAE101580}" type="presOf" srcId="{1F1F3557-D6AF-47CF-8C3D-D8351D586D3F}" destId="{754C964E-78AB-4328-868B-C63F78DDBC38}" srcOrd="0" destOrd="0" presId="urn:microsoft.com/office/officeart/2005/8/layout/hProcess9"/>
    <dgm:cxn modelId="{4B35E22E-3BF8-490E-B7B4-54CD143774CE}" srcId="{B1F56DAC-667B-4714-880C-603F24F05912}" destId="{F56C4BC8-0ED4-400F-A75E-EF237D4F94B6}" srcOrd="2" destOrd="0" parTransId="{4293304B-5236-46D6-9083-D1E8E81B63BB}" sibTransId="{B2D14E5B-C6D9-499E-9834-A7B65322007B}"/>
    <dgm:cxn modelId="{A9DD7A30-ED7B-4678-A229-1A08ECD58F0D}" srcId="{B1F56DAC-667B-4714-880C-603F24F05912}" destId="{FB6BA4AC-366A-4DD7-9208-7CAECBC61ACD}" srcOrd="0" destOrd="0" parTransId="{1BBE2391-B3F0-4D13-BE2F-3139F04AF03A}" sibTransId="{82E406E3-D8B4-42F7-B8D8-955AAE0E8DC7}"/>
    <dgm:cxn modelId="{E5A0DC4B-9039-4EFF-B096-55D281F90705}" srcId="{B1F56DAC-667B-4714-880C-603F24F05912}" destId="{451AA810-5B15-4A81-BA5D-D4EA5D9B1831}" srcOrd="4" destOrd="0" parTransId="{1AD1F506-36C8-4DEB-80FD-AC22DFB23149}" sibTransId="{A332E490-9AC3-4DF1-AE94-0EED0AE5B1C2}"/>
    <dgm:cxn modelId="{33BB2657-E490-4F1A-B796-5E0C2BADBBD7}" srcId="{B1F56DAC-667B-4714-880C-603F24F05912}" destId="{1F1F3557-D6AF-47CF-8C3D-D8351D586D3F}" srcOrd="3" destOrd="0" parTransId="{E4334A6C-1385-4594-A085-BF177D0B5A2C}" sibTransId="{2D333EDA-78FE-4356-BF88-7C120261B098}"/>
    <dgm:cxn modelId="{02B7229F-BE61-40CC-8A97-60FE610C9673}" type="presOf" srcId="{B1F56DAC-667B-4714-880C-603F24F05912}" destId="{DE46D941-84A0-4CD6-8EB7-26AED89C8EDE}" srcOrd="0" destOrd="0" presId="urn:microsoft.com/office/officeart/2005/8/layout/hProcess9"/>
    <dgm:cxn modelId="{C74790AF-3C74-4366-ADBB-B2C78FC7C8F2}" type="presOf" srcId="{FB6BA4AC-366A-4DD7-9208-7CAECBC61ACD}" destId="{53DC3ABF-67AF-4AE6-B5D8-01CDD9772369}" srcOrd="0" destOrd="0" presId="urn:microsoft.com/office/officeart/2005/8/layout/hProcess9"/>
    <dgm:cxn modelId="{DD47E2B2-ADFE-4CA3-9539-2CF918532CF9}" type="presOf" srcId="{451AA810-5B15-4A81-BA5D-D4EA5D9B1831}" destId="{98799300-0DD4-4960-A025-4ADACB2CE7BB}" srcOrd="0" destOrd="0" presId="urn:microsoft.com/office/officeart/2005/8/layout/hProcess9"/>
    <dgm:cxn modelId="{F079C2BD-CA5D-4C90-B667-584578C83E8C}" type="presOf" srcId="{A162E7D4-7296-40E4-B5A0-41D2FAD1277E}" destId="{054AE80D-D322-4C7E-8CAE-447DBCBB2AA6}" srcOrd="0" destOrd="0" presId="urn:microsoft.com/office/officeart/2005/8/layout/hProcess9"/>
    <dgm:cxn modelId="{BB44AAC3-B52D-4C06-BFD7-A642F302041C}" srcId="{B1F56DAC-667B-4714-880C-603F24F05912}" destId="{B79D49AE-C4BC-4451-8B61-36344AC8A8CC}" srcOrd="1" destOrd="0" parTransId="{6F7F5DD6-6DE9-47B1-9956-BB5CC5C2F674}" sibTransId="{CAF0C5CC-FCA6-43DB-824D-925055DF913E}"/>
    <dgm:cxn modelId="{404C62E0-031A-4B07-B13C-553C8BE8F2C0}" type="presOf" srcId="{F56C4BC8-0ED4-400F-A75E-EF237D4F94B6}" destId="{5FE25C4C-2BC5-4F54-BE1F-F3BEC29E749D}" srcOrd="0" destOrd="0" presId="urn:microsoft.com/office/officeart/2005/8/layout/hProcess9"/>
    <dgm:cxn modelId="{C23F2E25-141C-4D03-8F91-9C64A93670D7}" type="presParOf" srcId="{DE46D941-84A0-4CD6-8EB7-26AED89C8EDE}" destId="{F52D2AE5-D223-4FD2-AE0F-78620D37C70E}" srcOrd="0" destOrd="0" presId="urn:microsoft.com/office/officeart/2005/8/layout/hProcess9"/>
    <dgm:cxn modelId="{8F0079CE-23EC-451A-9C50-16CA9DB9548D}" type="presParOf" srcId="{DE46D941-84A0-4CD6-8EB7-26AED89C8EDE}" destId="{A74280AD-9FFD-4AA9-9C0B-AE915AECE173}" srcOrd="1" destOrd="0" presId="urn:microsoft.com/office/officeart/2005/8/layout/hProcess9"/>
    <dgm:cxn modelId="{3FAA2E6F-2D6A-422E-9B60-E7CC370A0D3E}" type="presParOf" srcId="{A74280AD-9FFD-4AA9-9C0B-AE915AECE173}" destId="{53DC3ABF-67AF-4AE6-B5D8-01CDD9772369}" srcOrd="0" destOrd="0" presId="urn:microsoft.com/office/officeart/2005/8/layout/hProcess9"/>
    <dgm:cxn modelId="{77078556-8206-402C-992C-585E484D40D2}" type="presParOf" srcId="{A74280AD-9FFD-4AA9-9C0B-AE915AECE173}" destId="{CD05CC86-C5B3-489E-9300-99D83F82B9E0}" srcOrd="1" destOrd="0" presId="urn:microsoft.com/office/officeart/2005/8/layout/hProcess9"/>
    <dgm:cxn modelId="{8724206F-2A0D-49D8-A1BC-97CA6A8CAEF6}" type="presParOf" srcId="{A74280AD-9FFD-4AA9-9C0B-AE915AECE173}" destId="{0AB9704D-A203-4650-92A1-56E17AD50F58}" srcOrd="2" destOrd="0" presId="urn:microsoft.com/office/officeart/2005/8/layout/hProcess9"/>
    <dgm:cxn modelId="{D52F45E2-E3EF-436A-9746-02E5BB338474}" type="presParOf" srcId="{A74280AD-9FFD-4AA9-9C0B-AE915AECE173}" destId="{F4D45C06-9090-431D-9BC9-391ED8FB0A5C}" srcOrd="3" destOrd="0" presId="urn:microsoft.com/office/officeart/2005/8/layout/hProcess9"/>
    <dgm:cxn modelId="{D0D8401F-EFA6-4902-9C0E-F95EA024577B}" type="presParOf" srcId="{A74280AD-9FFD-4AA9-9C0B-AE915AECE173}" destId="{5FE25C4C-2BC5-4F54-BE1F-F3BEC29E749D}" srcOrd="4" destOrd="0" presId="urn:microsoft.com/office/officeart/2005/8/layout/hProcess9"/>
    <dgm:cxn modelId="{43C09B57-5BCC-4BFD-AE0A-15BBA94D7B0E}" type="presParOf" srcId="{A74280AD-9FFD-4AA9-9C0B-AE915AECE173}" destId="{0EDCB13F-2541-4902-AB34-BAB340280A40}" srcOrd="5" destOrd="0" presId="urn:microsoft.com/office/officeart/2005/8/layout/hProcess9"/>
    <dgm:cxn modelId="{DC6EF464-186C-45A6-95C0-582BFA4C0970}" type="presParOf" srcId="{A74280AD-9FFD-4AA9-9C0B-AE915AECE173}" destId="{754C964E-78AB-4328-868B-C63F78DDBC38}" srcOrd="6" destOrd="0" presId="urn:microsoft.com/office/officeart/2005/8/layout/hProcess9"/>
    <dgm:cxn modelId="{A1E9AEF2-30C3-47D3-9252-D68FC2DD4980}" type="presParOf" srcId="{A74280AD-9FFD-4AA9-9C0B-AE915AECE173}" destId="{17FEA27C-B94C-4644-A856-9D9876CD3195}" srcOrd="7" destOrd="0" presId="urn:microsoft.com/office/officeart/2005/8/layout/hProcess9"/>
    <dgm:cxn modelId="{D6050178-2CF6-4FD5-867B-252793DDCBD2}" type="presParOf" srcId="{A74280AD-9FFD-4AA9-9C0B-AE915AECE173}" destId="{98799300-0DD4-4960-A025-4ADACB2CE7BB}" srcOrd="8" destOrd="0" presId="urn:microsoft.com/office/officeart/2005/8/layout/hProcess9"/>
    <dgm:cxn modelId="{228BD13C-2EF4-4593-AFA1-48A1C51F001F}" type="presParOf" srcId="{A74280AD-9FFD-4AA9-9C0B-AE915AECE173}" destId="{A37AB7AD-E927-409A-97DA-5DD8DF66D021}" srcOrd="9" destOrd="0" presId="urn:microsoft.com/office/officeart/2005/8/layout/hProcess9"/>
    <dgm:cxn modelId="{C420B259-13E5-4F4E-BA63-F21CB6DCA6D6}" type="presParOf" srcId="{A74280AD-9FFD-4AA9-9C0B-AE915AECE173}" destId="{054AE80D-D322-4C7E-8CAE-447DBCBB2AA6}" srcOrd="10" destOrd="0" presId="urn:microsoft.com/office/officeart/2005/8/layout/hProcess9"/>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52D2AE5-D223-4FD2-AE0F-78620D37C70E}">
      <dsp:nvSpPr>
        <dsp:cNvPr id="0" name=""/>
        <dsp:cNvSpPr/>
      </dsp:nvSpPr>
      <dsp:spPr>
        <a:xfrm>
          <a:off x="788669" y="0"/>
          <a:ext cx="8938260" cy="3505200"/>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3DC3ABF-67AF-4AE6-B5D8-01CDD9772369}">
      <dsp:nvSpPr>
        <dsp:cNvPr id="0" name=""/>
        <dsp:cNvSpPr/>
      </dsp:nvSpPr>
      <dsp:spPr>
        <a:xfrm>
          <a:off x="706" y="1051559"/>
          <a:ext cx="1679197" cy="1402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en-US" sz="2300" kern="1200" dirty="0"/>
            <a:t>Agents &amp; ML</a:t>
          </a:r>
        </a:p>
      </dsp:txBody>
      <dsp:txXfrm>
        <a:off x="69150" y="1120003"/>
        <a:ext cx="1542309" cy="1265192"/>
      </dsp:txXfrm>
    </dsp:sp>
    <dsp:sp modelId="{0AB9704D-A203-4650-92A1-56E17AD50F58}">
      <dsp:nvSpPr>
        <dsp:cNvPr id="0" name=""/>
        <dsp:cNvSpPr/>
      </dsp:nvSpPr>
      <dsp:spPr>
        <a:xfrm>
          <a:off x="1767704" y="1051559"/>
          <a:ext cx="1679197" cy="1402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en-US" sz="2300" kern="1200" dirty="0"/>
            <a:t>Supervised Learning</a:t>
          </a:r>
        </a:p>
      </dsp:txBody>
      <dsp:txXfrm>
        <a:off x="1836148" y="1120003"/>
        <a:ext cx="1542309" cy="1265192"/>
      </dsp:txXfrm>
    </dsp:sp>
    <dsp:sp modelId="{5FE25C4C-2BC5-4F54-BE1F-F3BEC29E749D}">
      <dsp:nvSpPr>
        <dsp:cNvPr id="0" name=""/>
        <dsp:cNvSpPr/>
      </dsp:nvSpPr>
      <dsp:spPr>
        <a:xfrm>
          <a:off x="3534702" y="1051559"/>
          <a:ext cx="1679197" cy="1402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en-US" sz="2300" kern="1200" dirty="0"/>
            <a:t>Training Data</a:t>
          </a:r>
        </a:p>
      </dsp:txBody>
      <dsp:txXfrm>
        <a:off x="3603146" y="1120003"/>
        <a:ext cx="1542309" cy="1265192"/>
      </dsp:txXfrm>
    </dsp:sp>
    <dsp:sp modelId="{754C964E-78AB-4328-868B-C63F78DDBC38}">
      <dsp:nvSpPr>
        <dsp:cNvPr id="0" name=""/>
        <dsp:cNvSpPr/>
      </dsp:nvSpPr>
      <dsp:spPr>
        <a:xfrm>
          <a:off x="5301700" y="1051559"/>
          <a:ext cx="1679197" cy="1402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en-US" sz="2300" kern="1200" dirty="0"/>
            <a:t>Training &amp; Testing</a:t>
          </a:r>
        </a:p>
      </dsp:txBody>
      <dsp:txXfrm>
        <a:off x="5370144" y="1120003"/>
        <a:ext cx="1542309" cy="1265192"/>
      </dsp:txXfrm>
    </dsp:sp>
    <dsp:sp modelId="{98799300-0DD4-4960-A025-4ADACB2CE7BB}">
      <dsp:nvSpPr>
        <dsp:cNvPr id="0" name=""/>
        <dsp:cNvSpPr/>
      </dsp:nvSpPr>
      <dsp:spPr>
        <a:xfrm>
          <a:off x="7068698" y="1051559"/>
          <a:ext cx="1679197" cy="1402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en-US" sz="2300" kern="1200" dirty="0"/>
            <a:t>Types of supervised ML Models</a:t>
          </a:r>
        </a:p>
      </dsp:txBody>
      <dsp:txXfrm>
        <a:off x="7137142" y="1120003"/>
        <a:ext cx="1542309" cy="1265192"/>
      </dsp:txXfrm>
    </dsp:sp>
    <dsp:sp modelId="{054AE80D-D322-4C7E-8CAE-447DBCBB2AA6}">
      <dsp:nvSpPr>
        <dsp:cNvPr id="0" name=""/>
        <dsp:cNvSpPr/>
      </dsp:nvSpPr>
      <dsp:spPr>
        <a:xfrm>
          <a:off x="8835696" y="1051559"/>
          <a:ext cx="1679197" cy="1402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en-US" sz="2300" kern="1200" dirty="0"/>
            <a:t>Use in AI</a:t>
          </a:r>
        </a:p>
      </dsp:txBody>
      <dsp:txXfrm>
        <a:off x="8904140" y="1120003"/>
        <a:ext cx="1542309" cy="1265192"/>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drawing1.xml><?xml version="1.0" encoding="utf-8"?>
<c:userShapes xmlns:c="http://schemas.openxmlformats.org/drawingml/2006/chart">
  <cdr:relSizeAnchor xmlns:cdr="http://schemas.openxmlformats.org/drawingml/2006/chartDrawing">
    <cdr:from>
      <cdr:x>0.22081</cdr:x>
      <cdr:y>0.09106</cdr:y>
    </cdr:from>
    <cdr:to>
      <cdr:x>0.81919</cdr:x>
      <cdr:y>0.24891</cdr:y>
    </cdr:to>
    <cdr:sp macro="" textlink="">
      <cdr:nvSpPr>
        <cdr:cNvPr id="2" name="TextBox 1">
          <a:extLst xmlns:a="http://schemas.openxmlformats.org/drawingml/2006/main">
            <a:ext uri="{FF2B5EF4-FFF2-40B4-BE49-F238E27FC236}">
              <a16:creationId xmlns:a16="http://schemas.microsoft.com/office/drawing/2014/main" id="{2A5F53AE-C029-DF6B-62F8-9E2C45999C65}"/>
            </a:ext>
          </a:extLst>
        </cdr:cNvPr>
        <cdr:cNvSpPr txBox="1"/>
      </cdr:nvSpPr>
      <cdr:spPr>
        <a:xfrm xmlns:a="http://schemas.openxmlformats.org/drawingml/2006/main">
          <a:off x="706681" y="183178"/>
          <a:ext cx="1915064" cy="317545"/>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sz="1400" b="0" i="0" kern="1200" dirty="0">
              <a:latin typeface="Cambria Math" panose="02040503050406030204" pitchFamily="18" charset="0"/>
            </a:rPr>
            <a:t>ℎ(𝑥)=𝑚𝑒𝑎𝑛(𝑦)=11.2</a:t>
          </a:r>
          <a:endParaRPr lang="en-US" sz="1400" kern="1200" dirty="0"/>
        </a:p>
      </cdr:txBody>
    </cdr:sp>
  </cdr:relSizeAnchor>
</c:userShapes>
</file>

<file path=ppt/drawings/drawing2.xml><?xml version="1.0" encoding="utf-8"?>
<c:userShapes xmlns:c="http://schemas.openxmlformats.org/drawingml/2006/chart">
  <cdr:relSizeAnchor xmlns:cdr="http://schemas.openxmlformats.org/drawingml/2006/chartDrawing">
    <cdr:from>
      <cdr:x>0.41207</cdr:x>
      <cdr:y>0.07611</cdr:y>
    </cdr:from>
    <cdr:to>
      <cdr:x>0.95463</cdr:x>
      <cdr:y>0.22194</cdr:y>
    </cdr:to>
    <cdr:sp macro="" textlink="">
      <cdr:nvSpPr>
        <cdr:cNvPr id="2" name="TextBox 1">
          <a:extLst xmlns:a="http://schemas.openxmlformats.org/drawingml/2006/main">
            <a:ext uri="{FF2B5EF4-FFF2-40B4-BE49-F238E27FC236}">
              <a16:creationId xmlns:a16="http://schemas.microsoft.com/office/drawing/2014/main" id="{3C8EAA00-18B7-58EE-A4FA-6C12C380F199}"/>
            </a:ext>
          </a:extLst>
        </cdr:cNvPr>
        <cdr:cNvSpPr txBox="1"/>
      </cdr:nvSpPr>
      <cdr:spPr>
        <a:xfrm xmlns:a="http://schemas.openxmlformats.org/drawingml/2006/main">
          <a:off x="1142999" y="208781"/>
          <a:ext cx="1504990" cy="400047"/>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400" b="0" i="0" kern="1200">
              <a:latin typeface="Cambria Math" panose="02040503050406030204" pitchFamily="18" charset="0"/>
            </a:rPr>
            <a:t>ℎ(𝑥)=𝑥^2</a:t>
          </a:r>
          <a:endParaRPr lang="en-US" sz="1050" kern="1200" dirty="0"/>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9378" name="Rectangle 2"/>
          <p:cNvSpPr>
            <a:spLocks noGrp="1" noChangeArrowheads="1"/>
          </p:cNvSpPr>
          <p:nvPr>
            <p:ph type="hdr" sz="quarter"/>
          </p:nvPr>
        </p:nvSpPr>
        <p:spPr bwMode="auto">
          <a:xfrm>
            <a:off x="0" y="0"/>
            <a:ext cx="3076575" cy="511175"/>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defTabSz="966788">
              <a:defRPr sz="1300">
                <a:latin typeface="Arial" charset="0"/>
              </a:defRPr>
            </a:lvl1pPr>
          </a:lstStyle>
          <a:p>
            <a:pPr>
              <a:defRPr/>
            </a:pPr>
            <a:endParaRPr lang="en-US" dirty="0">
              <a:latin typeface="Calibri" panose="020F0502020204030204" pitchFamily="34" charset="0"/>
            </a:endParaRPr>
          </a:p>
        </p:txBody>
      </p:sp>
      <p:sp>
        <p:nvSpPr>
          <p:cNvPr id="229379" name="Rectangle 3"/>
          <p:cNvSpPr>
            <a:spLocks noGrp="1" noChangeArrowheads="1"/>
          </p:cNvSpPr>
          <p:nvPr>
            <p:ph type="dt" sz="quarter" idx="1"/>
          </p:nvPr>
        </p:nvSpPr>
        <p:spPr bwMode="auto">
          <a:xfrm>
            <a:off x="4021138" y="0"/>
            <a:ext cx="3076575" cy="511175"/>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algn="r" defTabSz="966788">
              <a:defRPr sz="1300">
                <a:latin typeface="Arial" charset="0"/>
              </a:defRPr>
            </a:lvl1pPr>
          </a:lstStyle>
          <a:p>
            <a:pPr>
              <a:defRPr/>
            </a:pPr>
            <a:endParaRPr lang="en-US" dirty="0">
              <a:latin typeface="Calibri" panose="020F0502020204030204" pitchFamily="34" charset="0"/>
            </a:endParaRPr>
          </a:p>
        </p:txBody>
      </p:sp>
      <p:sp>
        <p:nvSpPr>
          <p:cNvPr id="229380" name="Rectangle 4"/>
          <p:cNvSpPr>
            <a:spLocks noGrp="1" noChangeArrowheads="1"/>
          </p:cNvSpPr>
          <p:nvPr>
            <p:ph type="ftr" sz="quarter" idx="2"/>
          </p:nvPr>
        </p:nvSpPr>
        <p:spPr bwMode="auto">
          <a:xfrm>
            <a:off x="0" y="9721850"/>
            <a:ext cx="3076575" cy="511175"/>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defTabSz="966788">
              <a:defRPr sz="1300">
                <a:latin typeface="Arial" charset="0"/>
              </a:defRPr>
            </a:lvl1pPr>
          </a:lstStyle>
          <a:p>
            <a:pPr>
              <a:defRPr/>
            </a:pPr>
            <a:endParaRPr lang="en-US" dirty="0">
              <a:latin typeface="Calibri" panose="020F0502020204030204" pitchFamily="34" charset="0"/>
            </a:endParaRPr>
          </a:p>
        </p:txBody>
      </p:sp>
      <p:sp>
        <p:nvSpPr>
          <p:cNvPr id="229381" name="Rectangle 5"/>
          <p:cNvSpPr>
            <a:spLocks noGrp="1" noChangeArrowheads="1"/>
          </p:cNvSpPr>
          <p:nvPr>
            <p:ph type="sldNum" sz="quarter" idx="3"/>
          </p:nvPr>
        </p:nvSpPr>
        <p:spPr bwMode="auto">
          <a:xfrm>
            <a:off x="4021138" y="9721850"/>
            <a:ext cx="3076575" cy="511175"/>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algn="r" defTabSz="966788">
              <a:defRPr sz="1300">
                <a:latin typeface="Arial" charset="0"/>
              </a:defRPr>
            </a:lvl1pPr>
          </a:lstStyle>
          <a:p>
            <a:pPr>
              <a:defRPr/>
            </a:pPr>
            <a:fld id="{0FF84380-B695-4AAA-BD6D-02A02864A80C}" type="slidenum">
              <a:rPr lang="en-US">
                <a:latin typeface="Calibri" panose="020F0502020204030204" pitchFamily="34" charset="0"/>
              </a:rPr>
              <a:pPr>
                <a:defRPr/>
              </a:pPr>
              <a:t>‹#›</a:t>
            </a:fld>
            <a:endParaRPr lang="en-US" dirty="0">
              <a:latin typeface="Calibri" panose="020F0502020204030204" pitchFamily="34" charset="0"/>
            </a:endParaRPr>
          </a:p>
        </p:txBody>
      </p:sp>
    </p:spTree>
    <p:extLst>
      <p:ext uri="{BB962C8B-B14F-4D97-AF65-F5344CB8AC3E}">
        <p14:creationId xmlns:p14="http://schemas.microsoft.com/office/powerpoint/2010/main" val="54946496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3058" name="Rectangle 2"/>
          <p:cNvSpPr>
            <a:spLocks noGrp="1" noChangeArrowheads="1"/>
          </p:cNvSpPr>
          <p:nvPr>
            <p:ph type="hdr" sz="quarter"/>
          </p:nvPr>
        </p:nvSpPr>
        <p:spPr bwMode="auto">
          <a:xfrm>
            <a:off x="0" y="0"/>
            <a:ext cx="3076575" cy="511175"/>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defTabSz="966788">
              <a:defRPr sz="1300">
                <a:latin typeface="Calibri" panose="020F0502020204030204" pitchFamily="34" charset="0"/>
              </a:defRPr>
            </a:lvl1pPr>
          </a:lstStyle>
          <a:p>
            <a:pPr>
              <a:defRPr/>
            </a:pPr>
            <a:endParaRPr lang="en-US" dirty="0"/>
          </a:p>
        </p:txBody>
      </p:sp>
      <p:sp>
        <p:nvSpPr>
          <p:cNvPr id="173059" name="Rectangle 3"/>
          <p:cNvSpPr>
            <a:spLocks noGrp="1" noChangeArrowheads="1"/>
          </p:cNvSpPr>
          <p:nvPr>
            <p:ph type="dt" idx="1"/>
          </p:nvPr>
        </p:nvSpPr>
        <p:spPr bwMode="auto">
          <a:xfrm>
            <a:off x="4021138" y="0"/>
            <a:ext cx="3076575" cy="511175"/>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algn="r" defTabSz="966788">
              <a:defRPr sz="1300">
                <a:latin typeface="Calibri" panose="020F0502020204030204" pitchFamily="34" charset="0"/>
              </a:defRPr>
            </a:lvl1pPr>
          </a:lstStyle>
          <a:p>
            <a:pPr>
              <a:defRPr/>
            </a:pPr>
            <a:endParaRPr lang="en-US" dirty="0"/>
          </a:p>
        </p:txBody>
      </p:sp>
      <p:sp>
        <p:nvSpPr>
          <p:cNvPr id="48132" name="Rectangle 4"/>
          <p:cNvSpPr>
            <a:spLocks noGrp="1" noRot="1" noChangeAspect="1" noChangeArrowheads="1" noTextEdit="1"/>
          </p:cNvSpPr>
          <p:nvPr>
            <p:ph type="sldImg" idx="2"/>
          </p:nvPr>
        </p:nvSpPr>
        <p:spPr bwMode="auto">
          <a:xfrm>
            <a:off x="990600" y="768350"/>
            <a:ext cx="5118100" cy="3838575"/>
          </a:xfrm>
          <a:prstGeom prst="rect">
            <a:avLst/>
          </a:prstGeom>
          <a:noFill/>
          <a:ln w="9525">
            <a:solidFill>
              <a:srgbClr val="000000"/>
            </a:solidFill>
            <a:miter lim="800000"/>
            <a:headEnd/>
            <a:tailEnd/>
          </a:ln>
        </p:spPr>
      </p:sp>
      <p:sp>
        <p:nvSpPr>
          <p:cNvPr id="173061" name="Rectangle 5"/>
          <p:cNvSpPr>
            <a:spLocks noGrp="1" noChangeArrowheads="1"/>
          </p:cNvSpPr>
          <p:nvPr>
            <p:ph type="body" sz="quarter" idx="3"/>
          </p:nvPr>
        </p:nvSpPr>
        <p:spPr bwMode="auto">
          <a:xfrm>
            <a:off x="709613" y="4862513"/>
            <a:ext cx="5680075" cy="4603750"/>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173062" name="Rectangle 6"/>
          <p:cNvSpPr>
            <a:spLocks noGrp="1" noChangeArrowheads="1"/>
          </p:cNvSpPr>
          <p:nvPr>
            <p:ph type="ftr" sz="quarter" idx="4"/>
          </p:nvPr>
        </p:nvSpPr>
        <p:spPr bwMode="auto">
          <a:xfrm>
            <a:off x="0" y="9721850"/>
            <a:ext cx="3076575" cy="511175"/>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defTabSz="966788">
              <a:defRPr sz="1300">
                <a:latin typeface="Calibri" panose="020F0502020204030204" pitchFamily="34" charset="0"/>
              </a:defRPr>
            </a:lvl1pPr>
          </a:lstStyle>
          <a:p>
            <a:pPr>
              <a:defRPr/>
            </a:pPr>
            <a:endParaRPr lang="en-US" dirty="0"/>
          </a:p>
        </p:txBody>
      </p:sp>
      <p:sp>
        <p:nvSpPr>
          <p:cNvPr id="173063" name="Rectangle 7"/>
          <p:cNvSpPr>
            <a:spLocks noGrp="1" noChangeArrowheads="1"/>
          </p:cNvSpPr>
          <p:nvPr>
            <p:ph type="sldNum" sz="quarter" idx="5"/>
          </p:nvPr>
        </p:nvSpPr>
        <p:spPr bwMode="auto">
          <a:xfrm>
            <a:off x="4021138" y="9721850"/>
            <a:ext cx="3076575" cy="511175"/>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algn="r" defTabSz="966788">
              <a:defRPr sz="1300">
                <a:latin typeface="Calibri" panose="020F0502020204030204" pitchFamily="34" charset="0"/>
              </a:defRPr>
            </a:lvl1pPr>
          </a:lstStyle>
          <a:p>
            <a:pPr>
              <a:defRPr/>
            </a:pPr>
            <a:fld id="{7BDF81BA-2724-47AE-8C5A-18C6541FAE5A}" type="slidenum">
              <a:rPr lang="en-US" smtClean="0"/>
              <a:pPr>
                <a:defRPr/>
              </a:pPr>
              <a:t>‹#›</a:t>
            </a:fld>
            <a:endParaRPr lang="en-US" dirty="0"/>
          </a:p>
        </p:txBody>
      </p:sp>
    </p:spTree>
    <p:extLst>
      <p:ext uri="{BB962C8B-B14F-4D97-AF65-F5344CB8AC3E}">
        <p14:creationId xmlns:p14="http://schemas.microsoft.com/office/powerpoint/2010/main" val="137291860"/>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8350"/>
            <a:ext cx="6823075" cy="3838575"/>
          </a:xfrm>
        </p:spPr>
      </p:sp>
      <p:sp>
        <p:nvSpPr>
          <p:cNvPr id="3" name="Notes Placeholder 2"/>
          <p:cNvSpPr>
            <a:spLocks noGrp="1"/>
          </p:cNvSpPr>
          <p:nvPr>
            <p:ph type="body" idx="1"/>
          </p:nvPr>
        </p:nvSpPr>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dirty="0"/>
              <a:t>Please retain proper</a:t>
            </a:r>
            <a:r>
              <a:rPr lang="en-US" baseline="0" dirty="0"/>
              <a:t> attribution, including the reference to </a:t>
            </a:r>
            <a:r>
              <a:rPr lang="en-US" baseline="0" dirty="0" err="1"/>
              <a:t>ai.berkeley.edu</a:t>
            </a:r>
            <a:r>
              <a:rPr lang="en-US" baseline="0" dirty="0"/>
              <a:t>.  Thanks!</a:t>
            </a:r>
            <a:endParaRPr lang="en-US" sz="1200" dirty="0">
              <a:latin typeface="Calibri"/>
              <a:cs typeface="Calibri"/>
            </a:endParaRPr>
          </a:p>
          <a:p>
            <a:endParaRPr lang="en-US" dirty="0"/>
          </a:p>
        </p:txBody>
      </p:sp>
      <p:sp>
        <p:nvSpPr>
          <p:cNvPr id="4" name="Slide Number Placeholder 3"/>
          <p:cNvSpPr>
            <a:spLocks noGrp="1"/>
          </p:cNvSpPr>
          <p:nvPr>
            <p:ph type="sldNum" sz="quarter" idx="10"/>
          </p:nvPr>
        </p:nvSpPr>
        <p:spPr/>
        <p:txBody>
          <a:bodyPr/>
          <a:lstStyle/>
          <a:p>
            <a:pPr>
              <a:defRPr/>
            </a:pPr>
            <a:fld id="{7BDF81BA-2724-47AE-8C5A-18C6541FAE5A}" type="slidenum">
              <a:rPr lang="en-US" smtClean="0"/>
              <a:pPr>
                <a:defRPr/>
              </a:pPr>
              <a:t>1</a:t>
            </a:fld>
            <a:endParaRPr lang="en-US"/>
          </a:p>
        </p:txBody>
      </p:sp>
    </p:spTree>
    <p:extLst>
      <p:ext uri="{BB962C8B-B14F-4D97-AF65-F5344CB8AC3E}">
        <p14:creationId xmlns:p14="http://schemas.microsoft.com/office/powerpoint/2010/main" val="33757977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8350"/>
            <a:ext cx="6823075" cy="3838575"/>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7BDF81BA-2724-47AE-8C5A-18C6541FAE5A}" type="slidenum">
              <a:rPr lang="en-US" smtClean="0"/>
              <a:pPr>
                <a:defRPr/>
              </a:pPr>
              <a:t>8</a:t>
            </a:fld>
            <a:endParaRPr lang="en-US"/>
          </a:p>
        </p:txBody>
      </p:sp>
    </p:spTree>
    <p:extLst>
      <p:ext uri="{BB962C8B-B14F-4D97-AF65-F5344CB8AC3E}">
        <p14:creationId xmlns:p14="http://schemas.microsoft.com/office/powerpoint/2010/main" val="19508126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8350"/>
            <a:ext cx="6823075" cy="3838575"/>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7BDF81BA-2724-47AE-8C5A-18C6541FAE5A}" type="slidenum">
              <a:rPr lang="en-US" smtClean="0"/>
              <a:pPr>
                <a:defRPr/>
              </a:pPr>
              <a:t>19</a:t>
            </a:fld>
            <a:endParaRPr lang="en-US"/>
          </a:p>
        </p:txBody>
      </p:sp>
    </p:spTree>
    <p:extLst>
      <p:ext uri="{BB962C8B-B14F-4D97-AF65-F5344CB8AC3E}">
        <p14:creationId xmlns:p14="http://schemas.microsoft.com/office/powerpoint/2010/main" val="30939696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B19420-F18F-4DA7-BE65-4F4E64957D2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2D7B303-7E9F-411F-8966-C27D639B644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EA2CF2C-7E1E-4ADA-AFE8-FC72FB457C27}"/>
              </a:ext>
            </a:extLst>
          </p:cNvPr>
          <p:cNvSpPr>
            <a:spLocks noGrp="1"/>
          </p:cNvSpPr>
          <p:nvPr>
            <p:ph type="dt" sz="half" idx="10"/>
          </p:nvPr>
        </p:nvSpPr>
        <p:spPr/>
        <p:txBody>
          <a:bodyPr/>
          <a:lstStyle/>
          <a:p>
            <a:pPr>
              <a:defRPr/>
            </a:pPr>
            <a:endParaRPr lang="en-US"/>
          </a:p>
        </p:txBody>
      </p:sp>
      <p:sp>
        <p:nvSpPr>
          <p:cNvPr id="5" name="Footer Placeholder 4">
            <a:extLst>
              <a:ext uri="{FF2B5EF4-FFF2-40B4-BE49-F238E27FC236}">
                <a16:creationId xmlns:a16="http://schemas.microsoft.com/office/drawing/2014/main" id="{E74410D0-F7A8-4F9E-8917-9A1B577C5745}"/>
              </a:ext>
            </a:extLst>
          </p:cNvPr>
          <p:cNvSpPr>
            <a:spLocks noGrp="1"/>
          </p:cNvSpPr>
          <p:nvPr>
            <p:ph type="ftr" sz="quarter" idx="11"/>
          </p:nvPr>
        </p:nvSpPr>
        <p:spPr/>
        <p:txBody>
          <a:bodyPr/>
          <a:lstStyle/>
          <a:p>
            <a:pPr>
              <a:defRPr/>
            </a:pPr>
            <a:endParaRPr lang="en-US"/>
          </a:p>
        </p:txBody>
      </p:sp>
      <p:sp>
        <p:nvSpPr>
          <p:cNvPr id="6" name="Slide Number Placeholder 5">
            <a:extLst>
              <a:ext uri="{FF2B5EF4-FFF2-40B4-BE49-F238E27FC236}">
                <a16:creationId xmlns:a16="http://schemas.microsoft.com/office/drawing/2014/main" id="{D585CEA1-D159-4444-B720-93C06285485A}"/>
              </a:ext>
            </a:extLst>
          </p:cNvPr>
          <p:cNvSpPr>
            <a:spLocks noGrp="1"/>
          </p:cNvSpPr>
          <p:nvPr>
            <p:ph type="sldNum" sz="quarter" idx="12"/>
          </p:nvPr>
        </p:nvSpPr>
        <p:spPr/>
        <p:txBody>
          <a:bodyPr/>
          <a:lstStyle/>
          <a:p>
            <a:pPr>
              <a:defRPr/>
            </a:pPr>
            <a:fld id="{30272DA2-3CE2-4D8F-8D36-0B4268137578}" type="slidenum">
              <a:rPr lang="en-US" smtClean="0"/>
              <a:pPr>
                <a:defRPr/>
              </a:pPr>
              <a:t>‹#›</a:t>
            </a:fld>
            <a:endParaRPr lang="en-US"/>
          </a:p>
        </p:txBody>
      </p:sp>
    </p:spTree>
    <p:extLst>
      <p:ext uri="{BB962C8B-B14F-4D97-AF65-F5344CB8AC3E}">
        <p14:creationId xmlns:p14="http://schemas.microsoft.com/office/powerpoint/2010/main" val="2597146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6E076-2ED9-4AC4-8DA1-19909951A11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6499775-2053-4692-92A0-6FB034CDC5D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FB1543-34B0-4CAE-93C7-21EBBAEE5557}"/>
              </a:ext>
            </a:extLst>
          </p:cNvPr>
          <p:cNvSpPr>
            <a:spLocks noGrp="1"/>
          </p:cNvSpPr>
          <p:nvPr>
            <p:ph type="dt" sz="half" idx="10"/>
          </p:nvPr>
        </p:nvSpPr>
        <p:spPr/>
        <p:txBody>
          <a:bodyPr/>
          <a:lstStyle/>
          <a:p>
            <a:pPr>
              <a:defRPr/>
            </a:pPr>
            <a:endParaRPr lang="en-US"/>
          </a:p>
        </p:txBody>
      </p:sp>
      <p:sp>
        <p:nvSpPr>
          <p:cNvPr id="5" name="Footer Placeholder 4">
            <a:extLst>
              <a:ext uri="{FF2B5EF4-FFF2-40B4-BE49-F238E27FC236}">
                <a16:creationId xmlns:a16="http://schemas.microsoft.com/office/drawing/2014/main" id="{ECE14DC8-29F6-4FF7-AC63-6B2FF98D4A7A}"/>
              </a:ext>
            </a:extLst>
          </p:cNvPr>
          <p:cNvSpPr>
            <a:spLocks noGrp="1"/>
          </p:cNvSpPr>
          <p:nvPr>
            <p:ph type="ftr" sz="quarter" idx="11"/>
          </p:nvPr>
        </p:nvSpPr>
        <p:spPr/>
        <p:txBody>
          <a:bodyPr/>
          <a:lstStyle/>
          <a:p>
            <a:pPr>
              <a:defRPr/>
            </a:pPr>
            <a:endParaRPr lang="en-US"/>
          </a:p>
        </p:txBody>
      </p:sp>
      <p:sp>
        <p:nvSpPr>
          <p:cNvPr id="6" name="Slide Number Placeholder 5">
            <a:extLst>
              <a:ext uri="{FF2B5EF4-FFF2-40B4-BE49-F238E27FC236}">
                <a16:creationId xmlns:a16="http://schemas.microsoft.com/office/drawing/2014/main" id="{A38F4AFE-E2D1-4C73-9381-F5093CE44A0B}"/>
              </a:ext>
            </a:extLst>
          </p:cNvPr>
          <p:cNvSpPr>
            <a:spLocks noGrp="1"/>
          </p:cNvSpPr>
          <p:nvPr>
            <p:ph type="sldNum" sz="quarter" idx="12"/>
          </p:nvPr>
        </p:nvSpPr>
        <p:spPr/>
        <p:txBody>
          <a:bodyPr/>
          <a:lstStyle/>
          <a:p>
            <a:pPr>
              <a:defRPr/>
            </a:pPr>
            <a:fld id="{3255F2DB-5E2F-43F9-868D-96E834BECC06}" type="slidenum">
              <a:rPr lang="en-US" smtClean="0"/>
              <a:pPr>
                <a:defRPr/>
              </a:pPr>
              <a:t>‹#›</a:t>
            </a:fld>
            <a:endParaRPr lang="en-US"/>
          </a:p>
        </p:txBody>
      </p:sp>
    </p:spTree>
    <p:extLst>
      <p:ext uri="{BB962C8B-B14F-4D97-AF65-F5344CB8AC3E}">
        <p14:creationId xmlns:p14="http://schemas.microsoft.com/office/powerpoint/2010/main" val="13330665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E468A-AB3D-49F4-9DE2-6FC14195646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8CB78B9-5803-400E-AD78-1FDAA85A58C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55F1584-9ABC-4C6A-BF87-89D5AA87E252}"/>
              </a:ext>
            </a:extLst>
          </p:cNvPr>
          <p:cNvSpPr>
            <a:spLocks noGrp="1"/>
          </p:cNvSpPr>
          <p:nvPr>
            <p:ph type="dt" sz="half" idx="10"/>
          </p:nvPr>
        </p:nvSpPr>
        <p:spPr/>
        <p:txBody>
          <a:bodyPr/>
          <a:lstStyle/>
          <a:p>
            <a:pPr>
              <a:defRPr/>
            </a:pPr>
            <a:endParaRPr lang="en-US"/>
          </a:p>
        </p:txBody>
      </p:sp>
      <p:sp>
        <p:nvSpPr>
          <p:cNvPr id="5" name="Footer Placeholder 4">
            <a:extLst>
              <a:ext uri="{FF2B5EF4-FFF2-40B4-BE49-F238E27FC236}">
                <a16:creationId xmlns:a16="http://schemas.microsoft.com/office/drawing/2014/main" id="{32D98EF8-B1BF-4FED-A109-10A6C8E2BDB6}"/>
              </a:ext>
            </a:extLst>
          </p:cNvPr>
          <p:cNvSpPr>
            <a:spLocks noGrp="1"/>
          </p:cNvSpPr>
          <p:nvPr>
            <p:ph type="ftr" sz="quarter" idx="11"/>
          </p:nvPr>
        </p:nvSpPr>
        <p:spPr/>
        <p:txBody>
          <a:bodyPr/>
          <a:lstStyle/>
          <a:p>
            <a:pPr>
              <a:defRPr/>
            </a:pPr>
            <a:endParaRPr lang="en-US"/>
          </a:p>
        </p:txBody>
      </p:sp>
      <p:sp>
        <p:nvSpPr>
          <p:cNvPr id="6" name="Slide Number Placeholder 5">
            <a:extLst>
              <a:ext uri="{FF2B5EF4-FFF2-40B4-BE49-F238E27FC236}">
                <a16:creationId xmlns:a16="http://schemas.microsoft.com/office/drawing/2014/main" id="{49BBE679-274A-4495-A115-ECCCB9B6E239}"/>
              </a:ext>
            </a:extLst>
          </p:cNvPr>
          <p:cNvSpPr>
            <a:spLocks noGrp="1"/>
          </p:cNvSpPr>
          <p:nvPr>
            <p:ph type="sldNum" sz="quarter" idx="12"/>
          </p:nvPr>
        </p:nvSpPr>
        <p:spPr/>
        <p:txBody>
          <a:bodyPr/>
          <a:lstStyle/>
          <a:p>
            <a:pPr>
              <a:defRPr/>
            </a:pPr>
            <a:fld id="{1D3B8590-D25A-427F-820A-B82C7A423285}" type="slidenum">
              <a:rPr lang="en-US" smtClean="0"/>
              <a:pPr>
                <a:defRPr/>
              </a:pPr>
              <a:t>‹#›</a:t>
            </a:fld>
            <a:endParaRPr lang="en-US"/>
          </a:p>
        </p:txBody>
      </p:sp>
    </p:spTree>
    <p:extLst>
      <p:ext uri="{BB962C8B-B14F-4D97-AF65-F5344CB8AC3E}">
        <p14:creationId xmlns:p14="http://schemas.microsoft.com/office/powerpoint/2010/main" val="33958347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084E3-F46B-4511-8F45-402F4442AC0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D632C99-93FA-4895-A139-A0FF4613FE1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126D938-8C53-4FC0-A9DE-5354708E934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C9CBC91-EB96-4955-BC73-9B80DCF9BF26}"/>
              </a:ext>
            </a:extLst>
          </p:cNvPr>
          <p:cNvSpPr>
            <a:spLocks noGrp="1"/>
          </p:cNvSpPr>
          <p:nvPr>
            <p:ph type="dt" sz="half" idx="10"/>
          </p:nvPr>
        </p:nvSpPr>
        <p:spPr/>
        <p:txBody>
          <a:bodyPr/>
          <a:lstStyle/>
          <a:p>
            <a:pPr>
              <a:defRPr/>
            </a:pPr>
            <a:endParaRPr lang="en-US"/>
          </a:p>
        </p:txBody>
      </p:sp>
      <p:sp>
        <p:nvSpPr>
          <p:cNvPr id="6" name="Footer Placeholder 5">
            <a:extLst>
              <a:ext uri="{FF2B5EF4-FFF2-40B4-BE49-F238E27FC236}">
                <a16:creationId xmlns:a16="http://schemas.microsoft.com/office/drawing/2014/main" id="{D6F2DDE6-5890-456A-A65D-7A8344ED8DFC}"/>
              </a:ext>
            </a:extLst>
          </p:cNvPr>
          <p:cNvSpPr>
            <a:spLocks noGrp="1"/>
          </p:cNvSpPr>
          <p:nvPr>
            <p:ph type="ftr" sz="quarter" idx="11"/>
          </p:nvPr>
        </p:nvSpPr>
        <p:spPr/>
        <p:txBody>
          <a:bodyPr/>
          <a:lstStyle/>
          <a:p>
            <a:pPr>
              <a:defRPr/>
            </a:pPr>
            <a:endParaRPr lang="en-US"/>
          </a:p>
        </p:txBody>
      </p:sp>
      <p:sp>
        <p:nvSpPr>
          <p:cNvPr id="7" name="Slide Number Placeholder 6">
            <a:extLst>
              <a:ext uri="{FF2B5EF4-FFF2-40B4-BE49-F238E27FC236}">
                <a16:creationId xmlns:a16="http://schemas.microsoft.com/office/drawing/2014/main" id="{F8086411-7FB3-4C92-A6B2-02296F4670C2}"/>
              </a:ext>
            </a:extLst>
          </p:cNvPr>
          <p:cNvSpPr>
            <a:spLocks noGrp="1"/>
          </p:cNvSpPr>
          <p:nvPr>
            <p:ph type="sldNum" sz="quarter" idx="12"/>
          </p:nvPr>
        </p:nvSpPr>
        <p:spPr/>
        <p:txBody>
          <a:bodyPr/>
          <a:lstStyle/>
          <a:p>
            <a:pPr>
              <a:defRPr/>
            </a:pPr>
            <a:fld id="{3D8C5193-1026-4794-8663-01E65A01DB78}" type="slidenum">
              <a:rPr lang="en-US" smtClean="0"/>
              <a:pPr>
                <a:defRPr/>
              </a:pPr>
              <a:t>‹#›</a:t>
            </a:fld>
            <a:endParaRPr lang="en-US"/>
          </a:p>
        </p:txBody>
      </p:sp>
    </p:spTree>
    <p:extLst>
      <p:ext uri="{BB962C8B-B14F-4D97-AF65-F5344CB8AC3E}">
        <p14:creationId xmlns:p14="http://schemas.microsoft.com/office/powerpoint/2010/main" val="33127047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EE6FA0-3416-4467-9A6B-064AD57C925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BEB0381-70E8-4616-B062-F81B7235E7B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D02849D-1775-4D8B-BE2F-AD4C5083335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21B4668-5351-4ADC-8F6C-CE2BADAF9A7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A4A446C-B56C-4215-BA99-A5963E06780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E127556-ABDC-44CB-BE8A-B9CB69EB63CC}"/>
              </a:ext>
            </a:extLst>
          </p:cNvPr>
          <p:cNvSpPr>
            <a:spLocks noGrp="1"/>
          </p:cNvSpPr>
          <p:nvPr>
            <p:ph type="dt" sz="half" idx="10"/>
          </p:nvPr>
        </p:nvSpPr>
        <p:spPr/>
        <p:txBody>
          <a:bodyPr/>
          <a:lstStyle/>
          <a:p>
            <a:pPr>
              <a:defRPr/>
            </a:pPr>
            <a:endParaRPr lang="en-US"/>
          </a:p>
        </p:txBody>
      </p:sp>
      <p:sp>
        <p:nvSpPr>
          <p:cNvPr id="8" name="Footer Placeholder 7">
            <a:extLst>
              <a:ext uri="{FF2B5EF4-FFF2-40B4-BE49-F238E27FC236}">
                <a16:creationId xmlns:a16="http://schemas.microsoft.com/office/drawing/2014/main" id="{1706F301-5824-4660-8D1F-0308EEB5EDC0}"/>
              </a:ext>
            </a:extLst>
          </p:cNvPr>
          <p:cNvSpPr>
            <a:spLocks noGrp="1"/>
          </p:cNvSpPr>
          <p:nvPr>
            <p:ph type="ftr" sz="quarter" idx="11"/>
          </p:nvPr>
        </p:nvSpPr>
        <p:spPr/>
        <p:txBody>
          <a:bodyPr/>
          <a:lstStyle/>
          <a:p>
            <a:pPr>
              <a:defRPr/>
            </a:pPr>
            <a:endParaRPr lang="en-US"/>
          </a:p>
        </p:txBody>
      </p:sp>
      <p:sp>
        <p:nvSpPr>
          <p:cNvPr id="9" name="Slide Number Placeholder 8">
            <a:extLst>
              <a:ext uri="{FF2B5EF4-FFF2-40B4-BE49-F238E27FC236}">
                <a16:creationId xmlns:a16="http://schemas.microsoft.com/office/drawing/2014/main" id="{DDF1FC6C-5E03-4AA2-A3FA-E2127C1D2319}"/>
              </a:ext>
            </a:extLst>
          </p:cNvPr>
          <p:cNvSpPr>
            <a:spLocks noGrp="1"/>
          </p:cNvSpPr>
          <p:nvPr>
            <p:ph type="sldNum" sz="quarter" idx="12"/>
          </p:nvPr>
        </p:nvSpPr>
        <p:spPr/>
        <p:txBody>
          <a:bodyPr/>
          <a:lstStyle/>
          <a:p>
            <a:pPr>
              <a:defRPr/>
            </a:pPr>
            <a:fld id="{A1CC84FA-3003-4F13-B610-A564542E3678}" type="slidenum">
              <a:rPr lang="en-US" smtClean="0"/>
              <a:pPr>
                <a:defRPr/>
              </a:pPr>
              <a:t>‹#›</a:t>
            </a:fld>
            <a:endParaRPr lang="en-US"/>
          </a:p>
        </p:txBody>
      </p:sp>
    </p:spTree>
    <p:extLst>
      <p:ext uri="{BB962C8B-B14F-4D97-AF65-F5344CB8AC3E}">
        <p14:creationId xmlns:p14="http://schemas.microsoft.com/office/powerpoint/2010/main" val="38569042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B49AF-1B56-410D-BD45-F623AD5EA1B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1018A89-675B-4B8C-AF13-93F49FA2EFAF}"/>
              </a:ext>
            </a:extLst>
          </p:cNvPr>
          <p:cNvSpPr>
            <a:spLocks noGrp="1"/>
          </p:cNvSpPr>
          <p:nvPr>
            <p:ph type="dt" sz="half" idx="10"/>
          </p:nvPr>
        </p:nvSpPr>
        <p:spPr/>
        <p:txBody>
          <a:bodyPr/>
          <a:lstStyle/>
          <a:p>
            <a:pPr>
              <a:defRPr/>
            </a:pPr>
            <a:endParaRPr lang="en-US"/>
          </a:p>
        </p:txBody>
      </p:sp>
      <p:sp>
        <p:nvSpPr>
          <p:cNvPr id="4" name="Footer Placeholder 3">
            <a:extLst>
              <a:ext uri="{FF2B5EF4-FFF2-40B4-BE49-F238E27FC236}">
                <a16:creationId xmlns:a16="http://schemas.microsoft.com/office/drawing/2014/main" id="{1D80AE80-8E6B-41CA-A8D1-B6A5A01DBDD5}"/>
              </a:ext>
            </a:extLst>
          </p:cNvPr>
          <p:cNvSpPr>
            <a:spLocks noGrp="1"/>
          </p:cNvSpPr>
          <p:nvPr>
            <p:ph type="ftr" sz="quarter" idx="11"/>
          </p:nvPr>
        </p:nvSpPr>
        <p:spPr/>
        <p:txBody>
          <a:bodyPr/>
          <a:lstStyle/>
          <a:p>
            <a:pPr>
              <a:defRPr/>
            </a:pPr>
            <a:endParaRPr lang="en-US"/>
          </a:p>
        </p:txBody>
      </p:sp>
      <p:sp>
        <p:nvSpPr>
          <p:cNvPr id="5" name="Slide Number Placeholder 4">
            <a:extLst>
              <a:ext uri="{FF2B5EF4-FFF2-40B4-BE49-F238E27FC236}">
                <a16:creationId xmlns:a16="http://schemas.microsoft.com/office/drawing/2014/main" id="{1947E162-83CC-4FF1-98BD-65F7C87EF361}"/>
              </a:ext>
            </a:extLst>
          </p:cNvPr>
          <p:cNvSpPr>
            <a:spLocks noGrp="1"/>
          </p:cNvSpPr>
          <p:nvPr>
            <p:ph type="sldNum" sz="quarter" idx="12"/>
          </p:nvPr>
        </p:nvSpPr>
        <p:spPr/>
        <p:txBody>
          <a:bodyPr/>
          <a:lstStyle/>
          <a:p>
            <a:pPr>
              <a:defRPr/>
            </a:pPr>
            <a:fld id="{0C2268BA-431C-4D9E-849E-30926F99764C}" type="slidenum">
              <a:rPr lang="en-US" smtClean="0"/>
              <a:pPr>
                <a:defRPr/>
              </a:pPr>
              <a:t>‹#›</a:t>
            </a:fld>
            <a:endParaRPr lang="en-US"/>
          </a:p>
        </p:txBody>
      </p:sp>
    </p:spTree>
    <p:extLst>
      <p:ext uri="{BB962C8B-B14F-4D97-AF65-F5344CB8AC3E}">
        <p14:creationId xmlns:p14="http://schemas.microsoft.com/office/powerpoint/2010/main" val="14386025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5F3FE3-0DA8-4EED-A371-D33228D87A50}"/>
              </a:ext>
            </a:extLst>
          </p:cNvPr>
          <p:cNvSpPr>
            <a:spLocks noGrp="1"/>
          </p:cNvSpPr>
          <p:nvPr>
            <p:ph type="dt" sz="half" idx="10"/>
          </p:nvPr>
        </p:nvSpPr>
        <p:spPr/>
        <p:txBody>
          <a:bodyPr/>
          <a:lstStyle/>
          <a:p>
            <a:pPr>
              <a:defRPr/>
            </a:pPr>
            <a:endParaRPr lang="en-US"/>
          </a:p>
        </p:txBody>
      </p:sp>
      <p:sp>
        <p:nvSpPr>
          <p:cNvPr id="3" name="Footer Placeholder 2">
            <a:extLst>
              <a:ext uri="{FF2B5EF4-FFF2-40B4-BE49-F238E27FC236}">
                <a16:creationId xmlns:a16="http://schemas.microsoft.com/office/drawing/2014/main" id="{88F9E16C-7198-4BDB-9524-77B28B5B888A}"/>
              </a:ext>
            </a:extLst>
          </p:cNvPr>
          <p:cNvSpPr>
            <a:spLocks noGrp="1"/>
          </p:cNvSpPr>
          <p:nvPr>
            <p:ph type="ftr" sz="quarter" idx="11"/>
          </p:nvPr>
        </p:nvSpPr>
        <p:spPr/>
        <p:txBody>
          <a:bodyPr/>
          <a:lstStyle/>
          <a:p>
            <a:pPr>
              <a:defRPr/>
            </a:pPr>
            <a:endParaRPr lang="en-US"/>
          </a:p>
        </p:txBody>
      </p:sp>
      <p:sp>
        <p:nvSpPr>
          <p:cNvPr id="4" name="Slide Number Placeholder 3">
            <a:extLst>
              <a:ext uri="{FF2B5EF4-FFF2-40B4-BE49-F238E27FC236}">
                <a16:creationId xmlns:a16="http://schemas.microsoft.com/office/drawing/2014/main" id="{C0C365C7-FCDF-43F7-B9AB-1DC5A8922E47}"/>
              </a:ext>
            </a:extLst>
          </p:cNvPr>
          <p:cNvSpPr>
            <a:spLocks noGrp="1"/>
          </p:cNvSpPr>
          <p:nvPr>
            <p:ph type="sldNum" sz="quarter" idx="12"/>
          </p:nvPr>
        </p:nvSpPr>
        <p:spPr/>
        <p:txBody>
          <a:bodyPr/>
          <a:lstStyle/>
          <a:p>
            <a:pPr>
              <a:defRPr/>
            </a:pPr>
            <a:fld id="{4F89A438-0B24-4EB8-B981-2260CC8E554D}" type="slidenum">
              <a:rPr lang="en-US" smtClean="0"/>
              <a:pPr>
                <a:defRPr/>
              </a:pPr>
              <a:t>‹#›</a:t>
            </a:fld>
            <a:endParaRPr lang="en-US"/>
          </a:p>
        </p:txBody>
      </p:sp>
    </p:spTree>
    <p:extLst>
      <p:ext uri="{BB962C8B-B14F-4D97-AF65-F5344CB8AC3E}">
        <p14:creationId xmlns:p14="http://schemas.microsoft.com/office/powerpoint/2010/main" val="18415096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262170-A36B-4B88-A15D-622E12B9BED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9169D5E-3D30-47D5-8060-99ECF83611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226C4C9-3223-4437-A604-91C4168F32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8D42238-2928-4B16-AEE3-4DF1153E9F90}"/>
              </a:ext>
            </a:extLst>
          </p:cNvPr>
          <p:cNvSpPr>
            <a:spLocks noGrp="1"/>
          </p:cNvSpPr>
          <p:nvPr>
            <p:ph type="dt" sz="half" idx="10"/>
          </p:nvPr>
        </p:nvSpPr>
        <p:spPr/>
        <p:txBody>
          <a:bodyPr/>
          <a:lstStyle/>
          <a:p>
            <a:pPr>
              <a:defRPr/>
            </a:pPr>
            <a:endParaRPr lang="en-US"/>
          </a:p>
        </p:txBody>
      </p:sp>
      <p:sp>
        <p:nvSpPr>
          <p:cNvPr id="6" name="Footer Placeholder 5">
            <a:extLst>
              <a:ext uri="{FF2B5EF4-FFF2-40B4-BE49-F238E27FC236}">
                <a16:creationId xmlns:a16="http://schemas.microsoft.com/office/drawing/2014/main" id="{B0BE7828-D4DD-4469-87CE-6A174FCD6B25}"/>
              </a:ext>
            </a:extLst>
          </p:cNvPr>
          <p:cNvSpPr>
            <a:spLocks noGrp="1"/>
          </p:cNvSpPr>
          <p:nvPr>
            <p:ph type="ftr" sz="quarter" idx="11"/>
          </p:nvPr>
        </p:nvSpPr>
        <p:spPr/>
        <p:txBody>
          <a:bodyPr/>
          <a:lstStyle/>
          <a:p>
            <a:pPr>
              <a:defRPr/>
            </a:pPr>
            <a:endParaRPr lang="en-US"/>
          </a:p>
        </p:txBody>
      </p:sp>
      <p:sp>
        <p:nvSpPr>
          <p:cNvPr id="7" name="Slide Number Placeholder 6">
            <a:extLst>
              <a:ext uri="{FF2B5EF4-FFF2-40B4-BE49-F238E27FC236}">
                <a16:creationId xmlns:a16="http://schemas.microsoft.com/office/drawing/2014/main" id="{1E94F65B-672B-457E-B01E-147E9A1432A0}"/>
              </a:ext>
            </a:extLst>
          </p:cNvPr>
          <p:cNvSpPr>
            <a:spLocks noGrp="1"/>
          </p:cNvSpPr>
          <p:nvPr>
            <p:ph type="sldNum" sz="quarter" idx="12"/>
          </p:nvPr>
        </p:nvSpPr>
        <p:spPr/>
        <p:txBody>
          <a:bodyPr/>
          <a:lstStyle/>
          <a:p>
            <a:pPr>
              <a:defRPr/>
            </a:pPr>
            <a:fld id="{B9699CB0-FC20-4D9A-A29C-89F5F9414B98}" type="slidenum">
              <a:rPr lang="en-US" smtClean="0"/>
              <a:pPr>
                <a:defRPr/>
              </a:pPr>
              <a:t>‹#›</a:t>
            </a:fld>
            <a:endParaRPr lang="en-US"/>
          </a:p>
        </p:txBody>
      </p:sp>
    </p:spTree>
    <p:extLst>
      <p:ext uri="{BB962C8B-B14F-4D97-AF65-F5344CB8AC3E}">
        <p14:creationId xmlns:p14="http://schemas.microsoft.com/office/powerpoint/2010/main" val="32995421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CCF01-90BC-4732-BD4E-FE32624AF0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552BBF-EF83-4A72-BFAF-1A672B8B17F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5C64472-3B6E-44E1-9506-2A46E9B010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F254D1-2714-4A42-938B-1756DE47ADAE}"/>
              </a:ext>
            </a:extLst>
          </p:cNvPr>
          <p:cNvSpPr>
            <a:spLocks noGrp="1"/>
          </p:cNvSpPr>
          <p:nvPr>
            <p:ph type="dt" sz="half" idx="10"/>
          </p:nvPr>
        </p:nvSpPr>
        <p:spPr/>
        <p:txBody>
          <a:bodyPr/>
          <a:lstStyle/>
          <a:p>
            <a:pPr>
              <a:defRPr/>
            </a:pPr>
            <a:endParaRPr lang="en-US"/>
          </a:p>
        </p:txBody>
      </p:sp>
      <p:sp>
        <p:nvSpPr>
          <p:cNvPr id="6" name="Footer Placeholder 5">
            <a:extLst>
              <a:ext uri="{FF2B5EF4-FFF2-40B4-BE49-F238E27FC236}">
                <a16:creationId xmlns:a16="http://schemas.microsoft.com/office/drawing/2014/main" id="{BB7F32DA-55E9-4BD8-8BC3-997E3D8E199E}"/>
              </a:ext>
            </a:extLst>
          </p:cNvPr>
          <p:cNvSpPr>
            <a:spLocks noGrp="1"/>
          </p:cNvSpPr>
          <p:nvPr>
            <p:ph type="ftr" sz="quarter" idx="11"/>
          </p:nvPr>
        </p:nvSpPr>
        <p:spPr/>
        <p:txBody>
          <a:bodyPr/>
          <a:lstStyle/>
          <a:p>
            <a:pPr>
              <a:defRPr/>
            </a:pPr>
            <a:endParaRPr lang="en-US"/>
          </a:p>
        </p:txBody>
      </p:sp>
      <p:sp>
        <p:nvSpPr>
          <p:cNvPr id="7" name="Slide Number Placeholder 6">
            <a:extLst>
              <a:ext uri="{FF2B5EF4-FFF2-40B4-BE49-F238E27FC236}">
                <a16:creationId xmlns:a16="http://schemas.microsoft.com/office/drawing/2014/main" id="{FC141CE5-CC69-40D9-86F7-88C7096F289D}"/>
              </a:ext>
            </a:extLst>
          </p:cNvPr>
          <p:cNvSpPr>
            <a:spLocks noGrp="1"/>
          </p:cNvSpPr>
          <p:nvPr>
            <p:ph type="sldNum" sz="quarter" idx="12"/>
          </p:nvPr>
        </p:nvSpPr>
        <p:spPr/>
        <p:txBody>
          <a:bodyPr/>
          <a:lstStyle/>
          <a:p>
            <a:pPr>
              <a:defRPr/>
            </a:pPr>
            <a:fld id="{96893E6A-B6F6-4BDF-AD15-C93DDC558204}" type="slidenum">
              <a:rPr lang="en-US" smtClean="0"/>
              <a:pPr>
                <a:defRPr/>
              </a:pPr>
              <a:t>‹#›</a:t>
            </a:fld>
            <a:endParaRPr lang="en-US"/>
          </a:p>
        </p:txBody>
      </p:sp>
    </p:spTree>
    <p:extLst>
      <p:ext uri="{BB962C8B-B14F-4D97-AF65-F5344CB8AC3E}">
        <p14:creationId xmlns:p14="http://schemas.microsoft.com/office/powerpoint/2010/main" val="16091765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2140FD-BA60-428C-8EF4-6306ABA43E1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E023CDF-705F-4ACD-A877-CF7F2E3FE96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538E331-6083-437D-B382-EA76EE349CAA}"/>
              </a:ext>
            </a:extLst>
          </p:cNvPr>
          <p:cNvSpPr>
            <a:spLocks noGrp="1"/>
          </p:cNvSpPr>
          <p:nvPr>
            <p:ph type="dt" sz="half" idx="10"/>
          </p:nvPr>
        </p:nvSpPr>
        <p:spPr/>
        <p:txBody>
          <a:bodyPr/>
          <a:lstStyle/>
          <a:p>
            <a:pPr>
              <a:defRPr/>
            </a:pPr>
            <a:endParaRPr lang="en-US"/>
          </a:p>
        </p:txBody>
      </p:sp>
      <p:sp>
        <p:nvSpPr>
          <p:cNvPr id="5" name="Footer Placeholder 4">
            <a:extLst>
              <a:ext uri="{FF2B5EF4-FFF2-40B4-BE49-F238E27FC236}">
                <a16:creationId xmlns:a16="http://schemas.microsoft.com/office/drawing/2014/main" id="{5902DA37-7775-4516-88D0-C10A22495E43}"/>
              </a:ext>
            </a:extLst>
          </p:cNvPr>
          <p:cNvSpPr>
            <a:spLocks noGrp="1"/>
          </p:cNvSpPr>
          <p:nvPr>
            <p:ph type="ftr" sz="quarter" idx="11"/>
          </p:nvPr>
        </p:nvSpPr>
        <p:spPr/>
        <p:txBody>
          <a:bodyPr/>
          <a:lstStyle/>
          <a:p>
            <a:pPr>
              <a:defRPr/>
            </a:pPr>
            <a:endParaRPr lang="en-US"/>
          </a:p>
        </p:txBody>
      </p:sp>
      <p:sp>
        <p:nvSpPr>
          <p:cNvPr id="6" name="Slide Number Placeholder 5">
            <a:extLst>
              <a:ext uri="{FF2B5EF4-FFF2-40B4-BE49-F238E27FC236}">
                <a16:creationId xmlns:a16="http://schemas.microsoft.com/office/drawing/2014/main" id="{D7056B8C-9ED4-4828-B22C-2F0B1E24B6E1}"/>
              </a:ext>
            </a:extLst>
          </p:cNvPr>
          <p:cNvSpPr>
            <a:spLocks noGrp="1"/>
          </p:cNvSpPr>
          <p:nvPr>
            <p:ph type="sldNum" sz="quarter" idx="12"/>
          </p:nvPr>
        </p:nvSpPr>
        <p:spPr/>
        <p:txBody>
          <a:bodyPr/>
          <a:lstStyle/>
          <a:p>
            <a:pPr>
              <a:defRPr/>
            </a:pPr>
            <a:fld id="{89216CB4-232B-44FE-B9B7-35A4219F0FD7}" type="slidenum">
              <a:rPr lang="en-US" smtClean="0"/>
              <a:pPr>
                <a:defRPr/>
              </a:pPr>
              <a:t>‹#›</a:t>
            </a:fld>
            <a:endParaRPr lang="en-US"/>
          </a:p>
        </p:txBody>
      </p:sp>
    </p:spTree>
    <p:extLst>
      <p:ext uri="{BB962C8B-B14F-4D97-AF65-F5344CB8AC3E}">
        <p14:creationId xmlns:p14="http://schemas.microsoft.com/office/powerpoint/2010/main" val="17452884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58BFE99-4A96-4DE5-89AF-4EC45E1B0DE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7969DFD-5FC6-4050-B332-8BCD32E4BBB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F394B4-48D3-4960-806C-F43156B9C322}"/>
              </a:ext>
            </a:extLst>
          </p:cNvPr>
          <p:cNvSpPr>
            <a:spLocks noGrp="1"/>
          </p:cNvSpPr>
          <p:nvPr>
            <p:ph type="dt" sz="half" idx="10"/>
          </p:nvPr>
        </p:nvSpPr>
        <p:spPr/>
        <p:txBody>
          <a:bodyPr/>
          <a:lstStyle/>
          <a:p>
            <a:pPr>
              <a:defRPr/>
            </a:pPr>
            <a:endParaRPr lang="en-US"/>
          </a:p>
        </p:txBody>
      </p:sp>
      <p:sp>
        <p:nvSpPr>
          <p:cNvPr id="5" name="Footer Placeholder 4">
            <a:extLst>
              <a:ext uri="{FF2B5EF4-FFF2-40B4-BE49-F238E27FC236}">
                <a16:creationId xmlns:a16="http://schemas.microsoft.com/office/drawing/2014/main" id="{45CC7B0F-2E46-4782-B203-41483BAADF63}"/>
              </a:ext>
            </a:extLst>
          </p:cNvPr>
          <p:cNvSpPr>
            <a:spLocks noGrp="1"/>
          </p:cNvSpPr>
          <p:nvPr>
            <p:ph type="ftr" sz="quarter" idx="11"/>
          </p:nvPr>
        </p:nvSpPr>
        <p:spPr/>
        <p:txBody>
          <a:bodyPr/>
          <a:lstStyle/>
          <a:p>
            <a:pPr>
              <a:defRPr/>
            </a:pPr>
            <a:endParaRPr lang="en-US"/>
          </a:p>
        </p:txBody>
      </p:sp>
      <p:sp>
        <p:nvSpPr>
          <p:cNvPr id="6" name="Slide Number Placeholder 5">
            <a:extLst>
              <a:ext uri="{FF2B5EF4-FFF2-40B4-BE49-F238E27FC236}">
                <a16:creationId xmlns:a16="http://schemas.microsoft.com/office/drawing/2014/main" id="{FE8497CA-A095-4609-9FDB-911FD5D7D0B7}"/>
              </a:ext>
            </a:extLst>
          </p:cNvPr>
          <p:cNvSpPr>
            <a:spLocks noGrp="1"/>
          </p:cNvSpPr>
          <p:nvPr>
            <p:ph type="sldNum" sz="quarter" idx="12"/>
          </p:nvPr>
        </p:nvSpPr>
        <p:spPr/>
        <p:txBody>
          <a:bodyPr/>
          <a:lstStyle/>
          <a:p>
            <a:pPr>
              <a:defRPr/>
            </a:pPr>
            <a:fld id="{40CE9712-67AD-4F8B-8E43-C0603CB0E680}" type="slidenum">
              <a:rPr lang="en-US" smtClean="0"/>
              <a:pPr>
                <a:defRPr/>
              </a:pPr>
              <a:t>‹#›</a:t>
            </a:fld>
            <a:endParaRPr lang="en-US"/>
          </a:p>
        </p:txBody>
      </p:sp>
    </p:spTree>
    <p:extLst>
      <p:ext uri="{BB962C8B-B14F-4D97-AF65-F5344CB8AC3E}">
        <p14:creationId xmlns:p14="http://schemas.microsoft.com/office/powerpoint/2010/main" val="13807904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3255F2DB-5E2F-43F9-868D-96E834BECC06}" type="slidenum">
              <a:rPr lang="en-US" smtClean="0"/>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E9CAF0D-655A-4426-8771-973204F839E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3ED05BD-C8DC-42E7-853A-48E628CF658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56A469-0259-4A8D-9AA6-6A78460251B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endParaRPr lang="en-US"/>
          </a:p>
        </p:txBody>
      </p:sp>
      <p:sp>
        <p:nvSpPr>
          <p:cNvPr id="5" name="Footer Placeholder 4">
            <a:extLst>
              <a:ext uri="{FF2B5EF4-FFF2-40B4-BE49-F238E27FC236}">
                <a16:creationId xmlns:a16="http://schemas.microsoft.com/office/drawing/2014/main" id="{C68DD5EB-5F91-4CB7-9AC7-7FD7BE2DB5F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a:extLst>
              <a:ext uri="{FF2B5EF4-FFF2-40B4-BE49-F238E27FC236}">
                <a16:creationId xmlns:a16="http://schemas.microsoft.com/office/drawing/2014/main" id="{48F96F92-7C89-4478-ABAA-E19E654E16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DBD443E1-4B43-4BA2-A59F-0DCD9251A842}" type="slidenum">
              <a:rPr lang="en-US" smtClean="0"/>
              <a:pPr>
                <a:defRPr/>
              </a:pPr>
              <a:t>‹#›</a:t>
            </a:fld>
            <a:endParaRPr lang="en-US"/>
          </a:p>
        </p:txBody>
      </p:sp>
    </p:spTree>
    <p:extLst>
      <p:ext uri="{BB962C8B-B14F-4D97-AF65-F5344CB8AC3E}">
        <p14:creationId xmlns:p14="http://schemas.microsoft.com/office/powerpoint/2010/main" val="3053879113"/>
      </p:ext>
    </p:extLst>
  </p:cSld>
  <p:clrMap bg1="lt1" tx1="dk1" bg2="lt2" tx2="dk2" accent1="accent1" accent2="accent2" accent3="accent3" accent4="accent4" accent5="accent5" accent6="accent6" hlink="hlink" folHlink="folHlink"/>
  <p:sldLayoutIdLst>
    <p:sldLayoutId id="2147483770" r:id="rId1"/>
    <p:sldLayoutId id="2147483771" r:id="rId2"/>
    <p:sldLayoutId id="2147483772" r:id="rId3"/>
    <p:sldLayoutId id="2147483773" r:id="rId4"/>
    <p:sldLayoutId id="2147483774" r:id="rId5"/>
    <p:sldLayoutId id="2147483775" r:id="rId6"/>
    <p:sldLayoutId id="2147483776" r:id="rId7"/>
    <p:sldLayoutId id="2147483777" r:id="rId8"/>
    <p:sldLayoutId id="2147483778" r:id="rId9"/>
    <p:sldLayoutId id="2147483779" r:id="rId10"/>
    <p:sldLayoutId id="2147483780" r:id="rId11"/>
    <p:sldLayoutId id="21474837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ai.berkeley.edu/"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http://creativecommons.org/licenses/by-sa/4.0/" TargetMode="External"/><Relationship Id="rId5"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70.png"/><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image" Target="../media/image14.png"/><Relationship Id="rId5" Type="http://schemas.openxmlformats.org/officeDocument/2006/relationships/image" Target="../media/image12.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8" Type="http://schemas.openxmlformats.org/officeDocument/2006/relationships/chart" Target="../charts/chart3.xml"/><Relationship Id="rId3" Type="http://schemas.openxmlformats.org/officeDocument/2006/relationships/image" Target="../media/image100.png"/><Relationship Id="rId7" Type="http://schemas.openxmlformats.org/officeDocument/2006/relationships/chart" Target="../charts/chart2.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chart" Target="../charts/chart1.xml"/><Relationship Id="rId5" Type="http://schemas.openxmlformats.org/officeDocument/2006/relationships/chart" Target="../charts/chart1.xml"/><Relationship Id="rId10" Type="http://schemas.openxmlformats.org/officeDocument/2006/relationships/chart" Target="../charts/chart5.xml"/><Relationship Id="rId4" Type="http://schemas.openxmlformats.org/officeDocument/2006/relationships/image" Target="../media/image111.png"/><Relationship Id="rId9" Type="http://schemas.openxmlformats.org/officeDocument/2006/relationships/chart" Target="../charts/chart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slideLayout" Target="../slideLayouts/slideLayout2.xml"/><Relationship Id="rId1" Type="http://schemas.openxmlformats.org/officeDocument/2006/relationships/tags" Target="../tags/tag4.xml"/><Relationship Id="rId6" Type="http://schemas.openxmlformats.org/officeDocument/2006/relationships/image" Target="../media/image131.png"/><Relationship Id="rId5" Type="http://schemas.openxmlformats.org/officeDocument/2006/relationships/image" Target="../media/image110.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130.png"/><Relationship Id="rId2" Type="http://schemas.openxmlformats.org/officeDocument/2006/relationships/slideLayout" Target="../slideLayouts/slideLayout2.xml"/><Relationship Id="rId1" Type="http://schemas.openxmlformats.org/officeDocument/2006/relationships/tags" Target="../tags/tag5.xml"/><Relationship Id="rId6" Type="http://schemas.openxmlformats.org/officeDocument/2006/relationships/image" Target="../media/image110.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5.svg"/></Relationships>
</file>

<file path=ppt/slides/_rels/slide2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31.png"/><Relationship Id="rId4" Type="http://schemas.openxmlformats.org/officeDocument/2006/relationships/image" Target="../media/image300.png"/></Relationships>
</file>

<file path=ppt/slides/_rels/slide2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28.sv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44.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30.png"/><Relationship Id="rId4" Type="http://schemas.openxmlformats.org/officeDocument/2006/relationships/image" Target="../media/image3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430.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46.png"/><Relationship Id="rId1" Type="http://schemas.openxmlformats.org/officeDocument/2006/relationships/slideLayout" Target="../slideLayouts/slideLayout2.xml"/><Relationship Id="rId6" Type="http://schemas.openxmlformats.org/officeDocument/2006/relationships/image" Target="../media/image461.png"/><Relationship Id="rId5" Type="http://schemas.openxmlformats.org/officeDocument/2006/relationships/image" Target="../media/image430.png"/><Relationship Id="rId4" Type="http://schemas.openxmlformats.org/officeDocument/2006/relationships/image" Target="../media/image21.png"/></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460.png"/><Relationship Id="rId1" Type="http://schemas.openxmlformats.org/officeDocument/2006/relationships/slideLayout" Target="../slideLayouts/slideLayout2.xml"/><Relationship Id="rId4" Type="http://schemas.openxmlformats.org/officeDocument/2006/relationships/image" Target="../media/image430.png"/></Relationships>
</file>

<file path=ppt/slides/_rels/slide2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38.png"/><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hyperlink" Target="https://robohub.org/artificial-general-intelligence-that-plays-atari-video-games-how-did-deepmind-do-it/" TargetMode="External"/><Relationship Id="rId2" Type="http://schemas.openxmlformats.org/officeDocument/2006/relationships/image" Target="../media/image45.png"/><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47.png"/><Relationship Id="rId4" Type="http://schemas.openxmlformats.org/officeDocument/2006/relationships/image" Target="../media/image46.jpeg"/></Relationships>
</file>

<file path=ppt/slides/_rels/slide3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9" name="Rectangle 5128">
            <a:extLst>
              <a:ext uri="{FF2B5EF4-FFF2-40B4-BE49-F238E27FC236}">
                <a16:creationId xmlns:a16="http://schemas.microsoft.com/office/drawing/2014/main" id="{17718681-A12E-49D6-9925-DD7C68176D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1" name="Freeform: Shape 5130">
            <a:extLst>
              <a:ext uri="{FF2B5EF4-FFF2-40B4-BE49-F238E27FC236}">
                <a16:creationId xmlns:a16="http://schemas.microsoft.com/office/drawing/2014/main" id="{FBD77573-9EF2-4C35-8285-A1CF6FBB0E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5511704" cy="6858000"/>
          </a:xfrm>
          <a:custGeom>
            <a:avLst/>
            <a:gdLst>
              <a:gd name="connsiteX0" fmla="*/ 5511704 w 5511704"/>
              <a:gd name="connsiteY0" fmla="*/ 0 h 6886576"/>
              <a:gd name="connsiteX1" fmla="*/ 1008599 w 5511704"/>
              <a:gd name="connsiteY1" fmla="*/ 0 h 6886576"/>
              <a:gd name="connsiteX2" fmla="*/ 1310975 w 5511704"/>
              <a:gd name="connsiteY2" fmla="*/ 110728 h 6886576"/>
              <a:gd name="connsiteX3" fmla="*/ 1267362 w 5511704"/>
              <a:gd name="connsiteY3" fmla="*/ 135731 h 6886576"/>
              <a:gd name="connsiteX4" fmla="*/ 1005692 w 5511704"/>
              <a:gd name="connsiteY4" fmla="*/ 71437 h 6886576"/>
              <a:gd name="connsiteX5" fmla="*/ 953358 w 5511704"/>
              <a:gd name="connsiteY5" fmla="*/ 89297 h 6886576"/>
              <a:gd name="connsiteX6" fmla="*/ 979525 w 5511704"/>
              <a:gd name="connsiteY6" fmla="*/ 164307 h 6886576"/>
              <a:gd name="connsiteX7" fmla="*/ 1092915 w 5511704"/>
              <a:gd name="connsiteY7" fmla="*/ 192882 h 6886576"/>
              <a:gd name="connsiteX8" fmla="*/ 1270270 w 5511704"/>
              <a:gd name="connsiteY8" fmla="*/ 375047 h 6886576"/>
              <a:gd name="connsiteX9" fmla="*/ 1002784 w 5511704"/>
              <a:gd name="connsiteY9" fmla="*/ 353615 h 6886576"/>
              <a:gd name="connsiteX10" fmla="*/ 956265 w 5511704"/>
              <a:gd name="connsiteY10" fmla="*/ 396479 h 6886576"/>
              <a:gd name="connsiteX11" fmla="*/ 938820 w 5511704"/>
              <a:gd name="connsiteY11" fmla="*/ 453629 h 6886576"/>
              <a:gd name="connsiteX12" fmla="*/ 860319 w 5511704"/>
              <a:gd name="connsiteY12" fmla="*/ 360759 h 6886576"/>
              <a:gd name="connsiteX13" fmla="*/ 793447 w 5511704"/>
              <a:gd name="connsiteY13" fmla="*/ 335757 h 6886576"/>
              <a:gd name="connsiteX14" fmla="*/ 773095 w 5511704"/>
              <a:gd name="connsiteY14" fmla="*/ 417910 h 6886576"/>
              <a:gd name="connsiteX15" fmla="*/ 834151 w 5511704"/>
              <a:gd name="connsiteY15" fmla="*/ 507206 h 6886576"/>
              <a:gd name="connsiteX16" fmla="*/ 996969 w 5511704"/>
              <a:gd name="connsiteY16" fmla="*/ 560785 h 6886576"/>
              <a:gd name="connsiteX17" fmla="*/ 822522 w 5511704"/>
              <a:gd name="connsiteY17" fmla="*/ 560785 h 6886576"/>
              <a:gd name="connsiteX18" fmla="*/ 621908 w 5511704"/>
              <a:gd name="connsiteY18" fmla="*/ 525066 h 6886576"/>
              <a:gd name="connsiteX19" fmla="*/ 409664 w 5511704"/>
              <a:gd name="connsiteY19" fmla="*/ 535781 h 6886576"/>
              <a:gd name="connsiteX20" fmla="*/ 209049 w 5511704"/>
              <a:gd name="connsiteY20" fmla="*/ 464344 h 6886576"/>
              <a:gd name="connsiteX21" fmla="*/ 5527 w 5511704"/>
              <a:gd name="connsiteY21" fmla="*/ 467916 h 6886576"/>
              <a:gd name="connsiteX22" fmla="*/ 906838 w 5511704"/>
              <a:gd name="connsiteY22" fmla="*/ 914400 h 6886576"/>
              <a:gd name="connsiteX23" fmla="*/ 863226 w 5511704"/>
              <a:gd name="connsiteY23" fmla="*/ 925116 h 6886576"/>
              <a:gd name="connsiteX24" fmla="*/ 805077 w 5511704"/>
              <a:gd name="connsiteY24" fmla="*/ 953691 h 6886576"/>
              <a:gd name="connsiteX25" fmla="*/ 848689 w 5511704"/>
              <a:gd name="connsiteY25" fmla="*/ 1010841 h 6886576"/>
              <a:gd name="connsiteX26" fmla="*/ 1084193 w 5511704"/>
              <a:gd name="connsiteY26" fmla="*/ 1117997 h 6886576"/>
              <a:gd name="connsiteX27" fmla="*/ 1142342 w 5511704"/>
              <a:gd name="connsiteY27" fmla="*/ 1225153 h 6886576"/>
              <a:gd name="connsiteX28" fmla="*/ 1069655 w 5511704"/>
              <a:gd name="connsiteY28" fmla="*/ 1214438 h 6886576"/>
              <a:gd name="connsiteX29" fmla="*/ 1005692 w 5511704"/>
              <a:gd name="connsiteY29" fmla="*/ 1235869 h 6886576"/>
              <a:gd name="connsiteX30" fmla="*/ 1031858 w 5511704"/>
              <a:gd name="connsiteY30" fmla="*/ 1371600 h 6886576"/>
              <a:gd name="connsiteX31" fmla="*/ 1366216 w 5511704"/>
              <a:gd name="connsiteY31" fmla="*/ 1546622 h 6886576"/>
              <a:gd name="connsiteX32" fmla="*/ 1395290 w 5511704"/>
              <a:gd name="connsiteY32" fmla="*/ 1603772 h 6886576"/>
              <a:gd name="connsiteX33" fmla="*/ 1354586 w 5511704"/>
              <a:gd name="connsiteY33" fmla="*/ 1643063 h 6886576"/>
              <a:gd name="connsiteX34" fmla="*/ 1247011 w 5511704"/>
              <a:gd name="connsiteY34" fmla="*/ 1664494 h 6886576"/>
              <a:gd name="connsiteX35" fmla="*/ 1398198 w 5511704"/>
              <a:gd name="connsiteY35" fmla="*/ 1857375 h 6886576"/>
              <a:gd name="connsiteX36" fmla="*/ 1453440 w 5511704"/>
              <a:gd name="connsiteY36" fmla="*/ 1910954 h 6886576"/>
              <a:gd name="connsiteX37" fmla="*/ 1549386 w 5511704"/>
              <a:gd name="connsiteY37" fmla="*/ 1993106 h 6886576"/>
              <a:gd name="connsiteX38" fmla="*/ 1549386 w 5511704"/>
              <a:gd name="connsiteY38" fmla="*/ 2021681 h 6886576"/>
              <a:gd name="connsiteX39" fmla="*/ 1421458 w 5511704"/>
              <a:gd name="connsiteY39" fmla="*/ 2110978 h 6886576"/>
              <a:gd name="connsiteX40" fmla="*/ 1188861 w 5511704"/>
              <a:gd name="connsiteY40" fmla="*/ 2085976 h 6886576"/>
              <a:gd name="connsiteX41" fmla="*/ 1531941 w 5511704"/>
              <a:gd name="connsiteY41" fmla="*/ 2218135 h 6886576"/>
              <a:gd name="connsiteX42" fmla="*/ 421293 w 5511704"/>
              <a:gd name="connsiteY42" fmla="*/ 1900238 h 6886576"/>
              <a:gd name="connsiteX43" fmla="*/ 491072 w 5511704"/>
              <a:gd name="connsiteY43" fmla="*/ 1982391 h 6886576"/>
              <a:gd name="connsiteX44" fmla="*/ 880671 w 5511704"/>
              <a:gd name="connsiteY44" fmla="*/ 2200276 h 6886576"/>
              <a:gd name="connsiteX45" fmla="*/ 991154 w 5511704"/>
              <a:gd name="connsiteY45" fmla="*/ 2336007 h 6886576"/>
              <a:gd name="connsiteX46" fmla="*/ 1107453 w 5511704"/>
              <a:gd name="connsiteY46" fmla="*/ 2411016 h 6886576"/>
              <a:gd name="connsiteX47" fmla="*/ 1270270 w 5511704"/>
              <a:gd name="connsiteY47" fmla="*/ 2411016 h 6886576"/>
              <a:gd name="connsiteX48" fmla="*/ 1386568 w 5511704"/>
              <a:gd name="connsiteY48" fmla="*/ 2528889 h 6886576"/>
              <a:gd name="connsiteX49" fmla="*/ 1267362 w 5511704"/>
              <a:gd name="connsiteY49" fmla="*/ 2553891 h 6886576"/>
              <a:gd name="connsiteX50" fmla="*/ 1127805 w 5511704"/>
              <a:gd name="connsiteY50" fmla="*/ 2536032 h 6886576"/>
              <a:gd name="connsiteX51" fmla="*/ 970802 w 5511704"/>
              <a:gd name="connsiteY51" fmla="*/ 2575322 h 6886576"/>
              <a:gd name="connsiteX52" fmla="*/ 825429 w 5511704"/>
              <a:gd name="connsiteY52" fmla="*/ 2543176 h 6886576"/>
              <a:gd name="connsiteX53" fmla="*/ 650982 w 5511704"/>
              <a:gd name="connsiteY53" fmla="*/ 2564607 h 6886576"/>
              <a:gd name="connsiteX54" fmla="*/ 595740 w 5511704"/>
              <a:gd name="connsiteY54" fmla="*/ 2703909 h 6886576"/>
              <a:gd name="connsiteX55" fmla="*/ 578296 w 5511704"/>
              <a:gd name="connsiteY55" fmla="*/ 2714626 h 6886576"/>
              <a:gd name="connsiteX56" fmla="*/ 255568 w 5511704"/>
              <a:gd name="connsiteY56" fmla="*/ 2936081 h 6886576"/>
              <a:gd name="connsiteX57" fmla="*/ 165437 w 5511704"/>
              <a:gd name="connsiteY57" fmla="*/ 2953941 h 6886576"/>
              <a:gd name="connsiteX58" fmla="*/ 697501 w 5511704"/>
              <a:gd name="connsiteY58" fmla="*/ 3343275 h 6886576"/>
              <a:gd name="connsiteX59" fmla="*/ 339884 w 5511704"/>
              <a:gd name="connsiteY59" fmla="*/ 3243263 h 6886576"/>
              <a:gd name="connsiteX60" fmla="*/ 290458 w 5511704"/>
              <a:gd name="connsiteY60" fmla="*/ 3407569 h 6886576"/>
              <a:gd name="connsiteX61" fmla="*/ 459090 w 5511704"/>
              <a:gd name="connsiteY61" fmla="*/ 3554016 h 6886576"/>
              <a:gd name="connsiteX62" fmla="*/ 520147 w 5511704"/>
              <a:gd name="connsiteY62" fmla="*/ 3843338 h 6886576"/>
              <a:gd name="connsiteX63" fmla="*/ 491072 w 5511704"/>
              <a:gd name="connsiteY63" fmla="*/ 4107657 h 6886576"/>
              <a:gd name="connsiteX64" fmla="*/ 418386 w 5511704"/>
              <a:gd name="connsiteY64" fmla="*/ 4189810 h 6886576"/>
              <a:gd name="connsiteX65" fmla="*/ 313718 w 5511704"/>
              <a:gd name="connsiteY65" fmla="*/ 4339829 h 6886576"/>
              <a:gd name="connsiteX66" fmla="*/ 249753 w 5511704"/>
              <a:gd name="connsiteY66" fmla="*/ 4432698 h 6886576"/>
              <a:gd name="connsiteX67" fmla="*/ 25879 w 5511704"/>
              <a:gd name="connsiteY67" fmla="*/ 4396979 h 6886576"/>
              <a:gd name="connsiteX68" fmla="*/ 325347 w 5511704"/>
              <a:gd name="connsiteY68" fmla="*/ 4632722 h 6886576"/>
              <a:gd name="connsiteX69" fmla="*/ 84029 w 5511704"/>
              <a:gd name="connsiteY69" fmla="*/ 4604147 h 6886576"/>
              <a:gd name="connsiteX70" fmla="*/ 5527 w 5511704"/>
              <a:gd name="connsiteY70" fmla="*/ 4622007 h 6886576"/>
              <a:gd name="connsiteX71" fmla="*/ 49139 w 5511704"/>
              <a:gd name="connsiteY71" fmla="*/ 4697016 h 6886576"/>
              <a:gd name="connsiteX72" fmla="*/ 226494 w 5511704"/>
              <a:gd name="connsiteY72" fmla="*/ 4825604 h 6886576"/>
              <a:gd name="connsiteX73" fmla="*/ 592833 w 5511704"/>
              <a:gd name="connsiteY73" fmla="*/ 5175647 h 6886576"/>
              <a:gd name="connsiteX74" fmla="*/ 238123 w 5511704"/>
              <a:gd name="connsiteY74" fmla="*/ 5014913 h 6886576"/>
              <a:gd name="connsiteX75" fmla="*/ 610278 w 5511704"/>
              <a:gd name="connsiteY75" fmla="*/ 5375673 h 6886576"/>
              <a:gd name="connsiteX76" fmla="*/ 691686 w 5511704"/>
              <a:gd name="connsiteY76" fmla="*/ 5497116 h 6886576"/>
              <a:gd name="connsiteX77" fmla="*/ 860319 w 5511704"/>
              <a:gd name="connsiteY77" fmla="*/ 5793582 h 6886576"/>
              <a:gd name="connsiteX78" fmla="*/ 851597 w 5511704"/>
              <a:gd name="connsiteY78" fmla="*/ 5825729 h 6886576"/>
              <a:gd name="connsiteX79" fmla="*/ 659704 w 5511704"/>
              <a:gd name="connsiteY79" fmla="*/ 5779295 h 6886576"/>
              <a:gd name="connsiteX80" fmla="*/ 909746 w 5511704"/>
              <a:gd name="connsiteY80" fmla="*/ 6029326 h 6886576"/>
              <a:gd name="connsiteX81" fmla="*/ 1168509 w 5511704"/>
              <a:gd name="connsiteY81" fmla="*/ 6222207 h 6886576"/>
              <a:gd name="connsiteX82" fmla="*/ 985339 w 5511704"/>
              <a:gd name="connsiteY82" fmla="*/ 6193632 h 6886576"/>
              <a:gd name="connsiteX83" fmla="*/ 732391 w 5511704"/>
              <a:gd name="connsiteY83" fmla="*/ 6082904 h 6886576"/>
              <a:gd name="connsiteX84" fmla="*/ 645167 w 5511704"/>
              <a:gd name="connsiteY84" fmla="*/ 6125766 h 6886576"/>
              <a:gd name="connsiteX85" fmla="*/ 883579 w 5511704"/>
              <a:gd name="connsiteY85" fmla="*/ 6307932 h 6886576"/>
              <a:gd name="connsiteX86" fmla="*/ 1020229 w 5511704"/>
              <a:gd name="connsiteY86" fmla="*/ 6393657 h 6886576"/>
              <a:gd name="connsiteX87" fmla="*/ 1075471 w 5511704"/>
              <a:gd name="connsiteY87" fmla="*/ 6457950 h 6886576"/>
              <a:gd name="connsiteX88" fmla="*/ 1232473 w 5511704"/>
              <a:gd name="connsiteY88" fmla="*/ 6686551 h 6886576"/>
              <a:gd name="connsiteX89" fmla="*/ 1592997 w 5511704"/>
              <a:gd name="connsiteY89" fmla="*/ 6886576 h 6886576"/>
              <a:gd name="connsiteX90" fmla="*/ 5511704 w 5511704"/>
              <a:gd name="connsiteY90" fmla="*/ 6886576 h 6886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5511704" h="6886576">
                <a:moveTo>
                  <a:pt x="5511704" y="0"/>
                </a:moveTo>
                <a:lnTo>
                  <a:pt x="1008599" y="0"/>
                </a:lnTo>
                <a:cubicBezTo>
                  <a:pt x="1110360" y="35719"/>
                  <a:pt x="1209214" y="78581"/>
                  <a:pt x="1310975" y="110728"/>
                </a:cubicBezTo>
                <a:cubicBezTo>
                  <a:pt x="1296437" y="146447"/>
                  <a:pt x="1281900" y="139303"/>
                  <a:pt x="1267362" y="135731"/>
                </a:cubicBezTo>
                <a:cubicBezTo>
                  <a:pt x="1180139" y="121445"/>
                  <a:pt x="1090008" y="110728"/>
                  <a:pt x="1005692" y="71437"/>
                </a:cubicBezTo>
                <a:cubicBezTo>
                  <a:pt x="985339" y="64294"/>
                  <a:pt x="962080" y="64294"/>
                  <a:pt x="953358" y="89297"/>
                </a:cubicBezTo>
                <a:cubicBezTo>
                  <a:pt x="938820" y="125016"/>
                  <a:pt x="959172" y="146447"/>
                  <a:pt x="979525" y="164307"/>
                </a:cubicBezTo>
                <a:cubicBezTo>
                  <a:pt x="1014414" y="196453"/>
                  <a:pt x="1055118" y="189310"/>
                  <a:pt x="1092915" y="192882"/>
                </a:cubicBezTo>
                <a:cubicBezTo>
                  <a:pt x="1197583" y="210741"/>
                  <a:pt x="1247011" y="260747"/>
                  <a:pt x="1270270" y="375047"/>
                </a:cubicBezTo>
                <a:cubicBezTo>
                  <a:pt x="1180139" y="328613"/>
                  <a:pt x="1090008" y="385763"/>
                  <a:pt x="1002784" y="353615"/>
                </a:cubicBezTo>
                <a:cubicBezTo>
                  <a:pt x="979525" y="346472"/>
                  <a:pt x="944635" y="357188"/>
                  <a:pt x="956265" y="396479"/>
                </a:cubicBezTo>
                <a:cubicBezTo>
                  <a:pt x="967894" y="432198"/>
                  <a:pt x="1005692" y="460772"/>
                  <a:pt x="938820" y="453629"/>
                </a:cubicBezTo>
                <a:cubicBezTo>
                  <a:pt x="889393" y="450056"/>
                  <a:pt x="874856" y="407194"/>
                  <a:pt x="860319" y="360759"/>
                </a:cubicBezTo>
                <a:cubicBezTo>
                  <a:pt x="848689" y="335757"/>
                  <a:pt x="816707" y="321469"/>
                  <a:pt x="793447" y="335757"/>
                </a:cubicBezTo>
                <a:cubicBezTo>
                  <a:pt x="764373" y="350044"/>
                  <a:pt x="773095" y="389335"/>
                  <a:pt x="773095" y="417910"/>
                </a:cubicBezTo>
                <a:cubicBezTo>
                  <a:pt x="770187" y="471488"/>
                  <a:pt x="793447" y="496491"/>
                  <a:pt x="834151" y="507206"/>
                </a:cubicBezTo>
                <a:cubicBezTo>
                  <a:pt x="883579" y="521494"/>
                  <a:pt x="933005" y="539354"/>
                  <a:pt x="996969" y="560785"/>
                </a:cubicBezTo>
                <a:cubicBezTo>
                  <a:pt x="927190" y="596503"/>
                  <a:pt x="874856" y="589360"/>
                  <a:pt x="822522" y="560785"/>
                </a:cubicBezTo>
                <a:cubicBezTo>
                  <a:pt x="758558" y="528637"/>
                  <a:pt x="674242" y="485775"/>
                  <a:pt x="621908" y="525066"/>
                </a:cubicBezTo>
                <a:cubicBezTo>
                  <a:pt x="543407" y="582216"/>
                  <a:pt x="479443" y="546497"/>
                  <a:pt x="409664" y="535781"/>
                </a:cubicBezTo>
                <a:cubicBezTo>
                  <a:pt x="264290" y="514350"/>
                  <a:pt x="354422" y="482204"/>
                  <a:pt x="209049" y="464344"/>
                </a:cubicBezTo>
                <a:cubicBezTo>
                  <a:pt x="150900" y="457200"/>
                  <a:pt x="89843" y="428625"/>
                  <a:pt x="5527" y="467916"/>
                </a:cubicBezTo>
                <a:cubicBezTo>
                  <a:pt x="386404" y="675085"/>
                  <a:pt x="566666" y="660797"/>
                  <a:pt x="906838" y="914400"/>
                </a:cubicBezTo>
                <a:cubicBezTo>
                  <a:pt x="892301" y="939404"/>
                  <a:pt x="877764" y="928688"/>
                  <a:pt x="863226" y="925116"/>
                </a:cubicBezTo>
                <a:cubicBezTo>
                  <a:pt x="839967" y="921544"/>
                  <a:pt x="810892" y="907256"/>
                  <a:pt x="805077" y="953691"/>
                </a:cubicBezTo>
                <a:cubicBezTo>
                  <a:pt x="802169" y="989410"/>
                  <a:pt x="819615" y="1007269"/>
                  <a:pt x="848689" y="1010841"/>
                </a:cubicBezTo>
                <a:cubicBezTo>
                  <a:pt x="933005" y="1025129"/>
                  <a:pt x="1008599" y="1075135"/>
                  <a:pt x="1084193" y="1117997"/>
                </a:cubicBezTo>
                <a:cubicBezTo>
                  <a:pt x="1119082" y="1135857"/>
                  <a:pt x="1156879" y="1160860"/>
                  <a:pt x="1142342" y="1225153"/>
                </a:cubicBezTo>
                <a:cubicBezTo>
                  <a:pt x="1113268" y="1243013"/>
                  <a:pt x="1092915" y="1218009"/>
                  <a:pt x="1069655" y="1214438"/>
                </a:cubicBezTo>
                <a:cubicBezTo>
                  <a:pt x="1046396" y="1210866"/>
                  <a:pt x="991154" y="1225153"/>
                  <a:pt x="1005692" y="1235869"/>
                </a:cubicBezTo>
                <a:cubicBezTo>
                  <a:pt x="1072563" y="1275159"/>
                  <a:pt x="950450" y="1371600"/>
                  <a:pt x="1031858" y="1371600"/>
                </a:cubicBezTo>
                <a:cubicBezTo>
                  <a:pt x="1165601" y="1371600"/>
                  <a:pt x="1238288" y="1543050"/>
                  <a:pt x="1366216" y="1546622"/>
                </a:cubicBezTo>
                <a:cubicBezTo>
                  <a:pt x="1386568" y="1546622"/>
                  <a:pt x="1395290" y="1578770"/>
                  <a:pt x="1395290" y="1603772"/>
                </a:cubicBezTo>
                <a:cubicBezTo>
                  <a:pt x="1395290" y="1635920"/>
                  <a:pt x="1374939" y="1639491"/>
                  <a:pt x="1354586" y="1643063"/>
                </a:cubicBezTo>
                <a:cubicBezTo>
                  <a:pt x="1322604" y="1646635"/>
                  <a:pt x="1287715" y="1603772"/>
                  <a:pt x="1247011" y="1664494"/>
                </a:cubicBezTo>
                <a:cubicBezTo>
                  <a:pt x="1322604" y="1700213"/>
                  <a:pt x="1401105" y="1735932"/>
                  <a:pt x="1398198" y="1857375"/>
                </a:cubicBezTo>
                <a:cubicBezTo>
                  <a:pt x="1398198" y="1889523"/>
                  <a:pt x="1430180" y="1903810"/>
                  <a:pt x="1453440" y="1910954"/>
                </a:cubicBezTo>
                <a:cubicBezTo>
                  <a:pt x="1494144" y="1925241"/>
                  <a:pt x="1526126" y="1946673"/>
                  <a:pt x="1549386" y="1993106"/>
                </a:cubicBezTo>
                <a:cubicBezTo>
                  <a:pt x="1549386" y="2003822"/>
                  <a:pt x="1549386" y="2010966"/>
                  <a:pt x="1549386" y="2021681"/>
                </a:cubicBezTo>
                <a:cubicBezTo>
                  <a:pt x="1543571" y="2132410"/>
                  <a:pt x="1485422" y="2128838"/>
                  <a:pt x="1421458" y="2110978"/>
                </a:cubicBezTo>
                <a:cubicBezTo>
                  <a:pt x="1345864" y="2089547"/>
                  <a:pt x="1270270" y="2046685"/>
                  <a:pt x="1188861" y="2085976"/>
                </a:cubicBezTo>
                <a:cubicBezTo>
                  <a:pt x="1302252" y="2139554"/>
                  <a:pt x="1427272" y="2143126"/>
                  <a:pt x="1531941" y="2218135"/>
                </a:cubicBezTo>
                <a:cubicBezTo>
                  <a:pt x="1142342" y="2232422"/>
                  <a:pt x="799262" y="1993106"/>
                  <a:pt x="421293" y="1900238"/>
                </a:cubicBezTo>
                <a:cubicBezTo>
                  <a:pt x="432923" y="1960960"/>
                  <a:pt x="464905" y="1975247"/>
                  <a:pt x="491072" y="1982391"/>
                </a:cubicBezTo>
                <a:cubicBezTo>
                  <a:pt x="630630" y="2028825"/>
                  <a:pt x="752743" y="2121695"/>
                  <a:pt x="880671" y="2200276"/>
                </a:cubicBezTo>
                <a:cubicBezTo>
                  <a:pt x="933005" y="2232422"/>
                  <a:pt x="970802" y="2268142"/>
                  <a:pt x="991154" y="2336007"/>
                </a:cubicBezTo>
                <a:cubicBezTo>
                  <a:pt x="1008599" y="2400300"/>
                  <a:pt x="1043489" y="2428875"/>
                  <a:pt x="1107453" y="2411016"/>
                </a:cubicBezTo>
                <a:cubicBezTo>
                  <a:pt x="1159787" y="2396729"/>
                  <a:pt x="1215029" y="2403873"/>
                  <a:pt x="1270270" y="2411016"/>
                </a:cubicBezTo>
                <a:cubicBezTo>
                  <a:pt x="1331326" y="2418160"/>
                  <a:pt x="1401105" y="2489597"/>
                  <a:pt x="1386568" y="2528889"/>
                </a:cubicBezTo>
                <a:cubicBezTo>
                  <a:pt x="1357494" y="2593182"/>
                  <a:pt x="1308067" y="2561035"/>
                  <a:pt x="1267362" y="2553891"/>
                </a:cubicBezTo>
                <a:cubicBezTo>
                  <a:pt x="1217936" y="2546748"/>
                  <a:pt x="1127805" y="2528889"/>
                  <a:pt x="1127805" y="2536032"/>
                </a:cubicBezTo>
                <a:cubicBezTo>
                  <a:pt x="1095822" y="2696766"/>
                  <a:pt x="1023136" y="2575322"/>
                  <a:pt x="970802" y="2575322"/>
                </a:cubicBezTo>
                <a:cubicBezTo>
                  <a:pt x="921375" y="2575322"/>
                  <a:pt x="871949" y="2557463"/>
                  <a:pt x="825429" y="2543176"/>
                </a:cubicBezTo>
                <a:cubicBezTo>
                  <a:pt x="764373" y="2525316"/>
                  <a:pt x="709132" y="2557463"/>
                  <a:pt x="650982" y="2564607"/>
                </a:cubicBezTo>
                <a:cubicBezTo>
                  <a:pt x="598648" y="2571751"/>
                  <a:pt x="627722" y="2664620"/>
                  <a:pt x="595740" y="2703909"/>
                </a:cubicBezTo>
                <a:cubicBezTo>
                  <a:pt x="589926" y="2714626"/>
                  <a:pt x="584111" y="2714626"/>
                  <a:pt x="578296" y="2714626"/>
                </a:cubicBezTo>
                <a:cubicBezTo>
                  <a:pt x="560851" y="2993232"/>
                  <a:pt x="255568" y="2925366"/>
                  <a:pt x="255568" y="2936081"/>
                </a:cubicBezTo>
                <a:cubicBezTo>
                  <a:pt x="229401" y="2953941"/>
                  <a:pt x="197419" y="2911079"/>
                  <a:pt x="165437" y="2953941"/>
                </a:cubicBezTo>
                <a:cubicBezTo>
                  <a:pt x="302087" y="3150394"/>
                  <a:pt x="511425" y="3196828"/>
                  <a:pt x="697501" y="3343275"/>
                </a:cubicBezTo>
                <a:cubicBezTo>
                  <a:pt x="543407" y="3393282"/>
                  <a:pt x="453275" y="3221832"/>
                  <a:pt x="339884" y="3243263"/>
                </a:cubicBezTo>
                <a:cubicBezTo>
                  <a:pt x="284643" y="3296842"/>
                  <a:pt x="450368" y="3382566"/>
                  <a:pt x="290458" y="3407569"/>
                </a:cubicBezTo>
                <a:cubicBezTo>
                  <a:pt x="360236" y="3454004"/>
                  <a:pt x="409664" y="3500439"/>
                  <a:pt x="459090" y="3554016"/>
                </a:cubicBezTo>
                <a:cubicBezTo>
                  <a:pt x="543407" y="3650457"/>
                  <a:pt x="560851" y="3714751"/>
                  <a:pt x="520147" y="3843338"/>
                </a:cubicBezTo>
                <a:cubicBezTo>
                  <a:pt x="493979" y="3929063"/>
                  <a:pt x="456183" y="4007645"/>
                  <a:pt x="491072" y="4107657"/>
                </a:cubicBezTo>
                <a:cubicBezTo>
                  <a:pt x="514332" y="4175522"/>
                  <a:pt x="505609" y="4221957"/>
                  <a:pt x="418386" y="4189810"/>
                </a:cubicBezTo>
                <a:cubicBezTo>
                  <a:pt x="325347" y="4157663"/>
                  <a:pt x="290458" y="4218386"/>
                  <a:pt x="313718" y="4339829"/>
                </a:cubicBezTo>
                <a:cubicBezTo>
                  <a:pt x="328254" y="4418410"/>
                  <a:pt x="313718" y="4443413"/>
                  <a:pt x="249753" y="4432698"/>
                </a:cubicBezTo>
                <a:cubicBezTo>
                  <a:pt x="179975" y="4421982"/>
                  <a:pt x="113103" y="4371976"/>
                  <a:pt x="25879" y="4396979"/>
                </a:cubicBezTo>
                <a:cubicBezTo>
                  <a:pt x="95658" y="4539854"/>
                  <a:pt x="243939" y="4496991"/>
                  <a:pt x="325347" y="4632722"/>
                </a:cubicBezTo>
                <a:cubicBezTo>
                  <a:pt x="229401" y="4632722"/>
                  <a:pt x="153807" y="4632722"/>
                  <a:pt x="84029" y="4604147"/>
                </a:cubicBezTo>
                <a:cubicBezTo>
                  <a:pt x="54954" y="4593433"/>
                  <a:pt x="22972" y="4579145"/>
                  <a:pt x="5527" y="4622007"/>
                </a:cubicBezTo>
                <a:cubicBezTo>
                  <a:pt x="-14826" y="4672014"/>
                  <a:pt x="25879" y="4689872"/>
                  <a:pt x="49139" y="4697016"/>
                </a:cubicBezTo>
                <a:cubicBezTo>
                  <a:pt x="116011" y="4722019"/>
                  <a:pt x="168344" y="4779170"/>
                  <a:pt x="226494" y="4825604"/>
                </a:cubicBezTo>
                <a:cubicBezTo>
                  <a:pt x="351514" y="4925616"/>
                  <a:pt x="488165" y="5011341"/>
                  <a:pt x="592833" y="5175647"/>
                </a:cubicBezTo>
                <a:cubicBezTo>
                  <a:pt x="461997" y="5132785"/>
                  <a:pt x="363144" y="5032772"/>
                  <a:pt x="238123" y="5014913"/>
                </a:cubicBezTo>
                <a:cubicBezTo>
                  <a:pt x="345700" y="5164932"/>
                  <a:pt x="482350" y="5264944"/>
                  <a:pt x="610278" y="5375673"/>
                </a:cubicBezTo>
                <a:cubicBezTo>
                  <a:pt x="648075" y="5407819"/>
                  <a:pt x="685872" y="5429250"/>
                  <a:pt x="691686" y="5497116"/>
                </a:cubicBezTo>
                <a:cubicBezTo>
                  <a:pt x="709132" y="5629276"/>
                  <a:pt x="755650" y="5736432"/>
                  <a:pt x="860319" y="5793582"/>
                </a:cubicBezTo>
                <a:cubicBezTo>
                  <a:pt x="860319" y="5793582"/>
                  <a:pt x="854504" y="5815013"/>
                  <a:pt x="851597" y="5825729"/>
                </a:cubicBezTo>
                <a:cubicBezTo>
                  <a:pt x="787632" y="5829301"/>
                  <a:pt x="738206" y="5750720"/>
                  <a:pt x="659704" y="5779295"/>
                </a:cubicBezTo>
                <a:cubicBezTo>
                  <a:pt x="738206" y="5886451"/>
                  <a:pt x="802169" y="5979319"/>
                  <a:pt x="909746" y="6029326"/>
                </a:cubicBezTo>
                <a:cubicBezTo>
                  <a:pt x="996969" y="6068616"/>
                  <a:pt x="1104545" y="6093620"/>
                  <a:pt x="1168509" y="6222207"/>
                </a:cubicBezTo>
                <a:cubicBezTo>
                  <a:pt x="1095822" y="6247210"/>
                  <a:pt x="1040581" y="6215063"/>
                  <a:pt x="985339" y="6193632"/>
                </a:cubicBezTo>
                <a:cubicBezTo>
                  <a:pt x="901023" y="6157913"/>
                  <a:pt x="816707" y="6118623"/>
                  <a:pt x="732391" y="6082904"/>
                </a:cubicBezTo>
                <a:cubicBezTo>
                  <a:pt x="700408" y="6068616"/>
                  <a:pt x="665519" y="6061472"/>
                  <a:pt x="645167" y="6125766"/>
                </a:cubicBezTo>
                <a:cubicBezTo>
                  <a:pt x="752743" y="6140053"/>
                  <a:pt x="816707" y="6225779"/>
                  <a:pt x="883579" y="6307932"/>
                </a:cubicBezTo>
                <a:cubicBezTo>
                  <a:pt x="921375" y="6354366"/>
                  <a:pt x="953358" y="6415088"/>
                  <a:pt x="1020229" y="6393657"/>
                </a:cubicBezTo>
                <a:cubicBezTo>
                  <a:pt x="1055118" y="6382942"/>
                  <a:pt x="1078378" y="6415088"/>
                  <a:pt x="1075471" y="6457950"/>
                </a:cubicBezTo>
                <a:cubicBezTo>
                  <a:pt x="1060933" y="6607970"/>
                  <a:pt x="1145250" y="6657976"/>
                  <a:pt x="1232473" y="6686551"/>
                </a:cubicBezTo>
                <a:cubicBezTo>
                  <a:pt x="1360401" y="6729413"/>
                  <a:pt x="1473792" y="6815138"/>
                  <a:pt x="1592997" y="6886576"/>
                </a:cubicBezTo>
                <a:lnTo>
                  <a:pt x="5511704" y="6886576"/>
                </a:lnTo>
                <a:close/>
              </a:path>
            </a:pathLst>
          </a:custGeom>
          <a:solidFill>
            <a:schemeClr val="bg2">
              <a:alpha val="50000"/>
            </a:schemeClr>
          </a:solidFill>
          <a:ln w="32707" cap="flat">
            <a:noFill/>
            <a:prstDash val="solid"/>
            <a:miter/>
          </a:ln>
        </p:spPr>
        <p:txBody>
          <a:bodyPr rtlCol="0" anchor="ctr"/>
          <a:lstStyle/>
          <a:p>
            <a:endParaRPr lang="en-US" dirty="0"/>
          </a:p>
        </p:txBody>
      </p:sp>
      <p:sp>
        <p:nvSpPr>
          <p:cNvPr id="5122" name="Rectangle 5"/>
          <p:cNvSpPr>
            <a:spLocks noGrp="1" noChangeArrowheads="1"/>
          </p:cNvSpPr>
          <p:nvPr>
            <p:ph type="ctrTitle"/>
          </p:nvPr>
        </p:nvSpPr>
        <p:spPr>
          <a:xfrm>
            <a:off x="838199" y="713312"/>
            <a:ext cx="4673506" cy="4392088"/>
          </a:xfrm>
        </p:spPr>
        <p:txBody>
          <a:bodyPr vert="horz" lIns="91440" tIns="45720" rIns="91440" bIns="45720" rtlCol="0" anchor="ctr">
            <a:normAutofit fontScale="90000"/>
          </a:bodyPr>
          <a:lstStyle/>
          <a:p>
            <a:pPr algn="l"/>
            <a:r>
              <a:rPr lang="en-US" sz="3200" b="1" kern="1200" dirty="0">
                <a:solidFill>
                  <a:schemeClr val="tx1"/>
                </a:solidFill>
                <a:latin typeface="+mj-lt"/>
                <a:ea typeface="+mj-ea"/>
                <a:cs typeface="+mj-cs"/>
              </a:rPr>
              <a:t>CS 5/7320 </a:t>
            </a:r>
            <a:br>
              <a:rPr lang="en-US" sz="3200" b="1" kern="1200" dirty="0">
                <a:solidFill>
                  <a:schemeClr val="tx1"/>
                </a:solidFill>
                <a:latin typeface="+mj-lt"/>
                <a:ea typeface="+mj-ea"/>
                <a:cs typeface="+mj-cs"/>
              </a:rPr>
            </a:br>
            <a:r>
              <a:rPr lang="en-US" sz="3200" b="1" kern="1200" dirty="0">
                <a:solidFill>
                  <a:schemeClr val="tx1"/>
                </a:solidFill>
                <a:latin typeface="+mj-lt"/>
                <a:ea typeface="+mj-ea"/>
                <a:cs typeface="+mj-cs"/>
              </a:rPr>
              <a:t>Artificial Intelligence</a:t>
            </a:r>
            <a:br>
              <a:rPr lang="en-US" sz="3200" b="1" kern="1200" dirty="0">
                <a:solidFill>
                  <a:schemeClr val="tx1"/>
                </a:solidFill>
                <a:latin typeface="+mj-lt"/>
                <a:ea typeface="+mj-ea"/>
                <a:cs typeface="+mj-cs"/>
              </a:rPr>
            </a:br>
            <a:br>
              <a:rPr lang="en-US" sz="3200" b="1" kern="1200" dirty="0">
                <a:solidFill>
                  <a:schemeClr val="tx1"/>
                </a:solidFill>
                <a:latin typeface="+mj-lt"/>
                <a:ea typeface="+mj-ea"/>
                <a:cs typeface="+mj-cs"/>
              </a:rPr>
            </a:br>
            <a:r>
              <a:rPr lang="en-US" sz="3200" b="1" kern="1200" dirty="0">
                <a:solidFill>
                  <a:schemeClr val="tx1"/>
                </a:solidFill>
                <a:latin typeface="+mj-lt"/>
                <a:ea typeface="+mj-ea"/>
                <a:cs typeface="+mj-cs"/>
              </a:rPr>
              <a:t>Machine Learning:</a:t>
            </a:r>
            <a:br>
              <a:rPr lang="en-US" sz="3200" b="1" kern="1200" dirty="0">
                <a:solidFill>
                  <a:schemeClr val="tx1"/>
                </a:solidFill>
                <a:latin typeface="+mj-lt"/>
                <a:ea typeface="+mj-ea"/>
                <a:cs typeface="+mj-cs"/>
              </a:rPr>
            </a:br>
            <a:r>
              <a:rPr lang="en-US" sz="3200" b="1" kern="1200" dirty="0">
                <a:solidFill>
                  <a:schemeClr val="tx1"/>
                </a:solidFill>
                <a:latin typeface="+mj-lt"/>
                <a:ea typeface="+mj-ea"/>
                <a:cs typeface="+mj-cs"/>
              </a:rPr>
              <a:t>Learning from Examples and Statistical Learning</a:t>
            </a:r>
            <a:br>
              <a:rPr lang="en-US" sz="3200" b="1" kern="1200" dirty="0">
                <a:solidFill>
                  <a:schemeClr val="tx1"/>
                </a:solidFill>
                <a:latin typeface="+mj-lt"/>
                <a:ea typeface="+mj-ea"/>
                <a:cs typeface="+mj-cs"/>
              </a:rPr>
            </a:br>
            <a:br>
              <a:rPr lang="en-US" sz="3200" b="1" kern="1200" dirty="0">
                <a:solidFill>
                  <a:schemeClr val="tx1"/>
                </a:solidFill>
                <a:latin typeface="+mj-lt"/>
                <a:ea typeface="+mj-ea"/>
                <a:cs typeface="+mj-cs"/>
              </a:rPr>
            </a:br>
            <a:r>
              <a:rPr lang="en-US" sz="3200" kern="1200" dirty="0">
                <a:solidFill>
                  <a:schemeClr val="tx1"/>
                </a:solidFill>
                <a:latin typeface="+mj-lt"/>
                <a:ea typeface="+mj-ea"/>
                <a:cs typeface="+mj-cs"/>
              </a:rPr>
              <a:t>AIMA Chapters 19-21</a:t>
            </a:r>
            <a:br>
              <a:rPr lang="en-US" sz="3200" kern="1200" dirty="0">
                <a:solidFill>
                  <a:schemeClr val="tx1"/>
                </a:solidFill>
                <a:latin typeface="+mj-lt"/>
                <a:ea typeface="+mj-ea"/>
                <a:cs typeface="+mj-cs"/>
              </a:rPr>
            </a:br>
            <a:br>
              <a:rPr lang="en-US" sz="3200" dirty="0"/>
            </a:br>
            <a:r>
              <a:rPr lang="en-US" sz="1800" dirty="0"/>
              <a:t>Slides by Michael Hahsler  </a:t>
            </a:r>
            <a:br>
              <a:rPr lang="en-US" sz="1800" dirty="0"/>
            </a:br>
            <a:br>
              <a:rPr lang="en-US" sz="1800" dirty="0"/>
            </a:br>
            <a:r>
              <a:rPr lang="en-US" sz="1600" dirty="0"/>
              <a:t>Some slides are based on Dan Klein’s slides (</a:t>
            </a:r>
            <a:r>
              <a:rPr lang="en-US" sz="1600" dirty="0">
                <a:hlinkClick r:id="rId3"/>
              </a:rPr>
              <a:t>http://ai.berkeley.edu</a:t>
            </a:r>
            <a:r>
              <a:rPr lang="en-US" sz="1600" dirty="0"/>
              <a:t>); with figures from the AIMA textbook.</a:t>
            </a:r>
            <a:endParaRPr lang="en-US" sz="3200" kern="1200" dirty="0">
              <a:solidFill>
                <a:schemeClr val="tx1"/>
              </a:solidFill>
              <a:latin typeface="+mj-lt"/>
              <a:ea typeface="+mj-ea"/>
              <a:cs typeface="+mj-cs"/>
            </a:endParaRPr>
          </a:p>
        </p:txBody>
      </p:sp>
      <p:pic>
        <p:nvPicPr>
          <p:cNvPr id="1030" name="Picture 6">
            <a:extLst>
              <a:ext uri="{FF2B5EF4-FFF2-40B4-BE49-F238E27FC236}">
                <a16:creationId xmlns:a16="http://schemas.microsoft.com/office/drawing/2014/main" id="{F730448B-7C7B-B1D7-2745-591D0BFC2701}"/>
              </a:ext>
              <a:ext uri="{C183D7F6-B498-43B3-948B-1728B52AA6E4}">
                <adec:decorative xmlns:adec="http://schemas.microsoft.com/office/drawing/2017/decorative" val="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38800" y="751729"/>
            <a:ext cx="6176568" cy="4411834"/>
          </a:xfrm>
          <a:prstGeom prst="rect">
            <a:avLst/>
          </a:prstGeom>
          <a:noFill/>
          <a:extLst>
            <a:ext uri="{909E8E84-426E-40DD-AFC4-6F175D3DCCD1}">
              <a14:hiddenFill xmlns:a14="http://schemas.microsoft.com/office/drawing/2010/main">
                <a:solidFill>
                  <a:srgbClr val="FFFFFF"/>
                </a:solidFill>
              </a14:hiddenFill>
            </a:ext>
          </a:extLst>
        </p:spPr>
      </p:pic>
      <p:grpSp>
        <p:nvGrpSpPr>
          <p:cNvPr id="2" name="Group 1">
            <a:extLst>
              <a:ext uri="{FF2B5EF4-FFF2-40B4-BE49-F238E27FC236}">
                <a16:creationId xmlns:a16="http://schemas.microsoft.com/office/drawing/2014/main" id="{669F715E-A19D-1F15-1CC4-5B6991C32D15}"/>
              </a:ext>
              <a:ext uri="{C183D7F6-B498-43B3-948B-1728B52AA6E4}">
                <adec:decorative xmlns:adec="http://schemas.microsoft.com/office/drawing/2017/decorative" val="1"/>
              </a:ext>
            </a:extLst>
          </p:cNvPr>
          <p:cNvGrpSpPr/>
          <p:nvPr/>
        </p:nvGrpSpPr>
        <p:grpSpPr>
          <a:xfrm>
            <a:off x="10677020" y="5181124"/>
            <a:ext cx="1209654" cy="1440289"/>
            <a:chOff x="7162798" y="4191000"/>
            <a:chExt cx="1676402" cy="1981200"/>
          </a:xfrm>
        </p:grpSpPr>
        <p:sp>
          <p:nvSpPr>
            <p:cNvPr id="3" name="Rectangle 2">
              <a:extLst>
                <a:ext uri="{FF2B5EF4-FFF2-40B4-BE49-F238E27FC236}">
                  <a16:creationId xmlns:a16="http://schemas.microsoft.com/office/drawing/2014/main" id="{9B0FE7C1-13AA-157F-0C36-B983BB601F40}"/>
                </a:ext>
              </a:extLst>
            </p:cNvPr>
            <p:cNvSpPr/>
            <p:nvPr/>
          </p:nvSpPr>
          <p:spPr>
            <a:xfrm>
              <a:off x="7162800" y="4191000"/>
              <a:ext cx="1676400" cy="1981200"/>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4" name="Picture 3" descr="A qr code with black dots&#10;&#10;Description automatically generated">
              <a:extLst>
                <a:ext uri="{FF2B5EF4-FFF2-40B4-BE49-F238E27FC236}">
                  <a16:creationId xmlns:a16="http://schemas.microsoft.com/office/drawing/2014/main" id="{CDAA75C3-76C6-338F-4D9B-D4F1DF20B7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184684" y="4213372"/>
              <a:ext cx="1632631" cy="1632630"/>
            </a:xfrm>
            <a:prstGeom prst="rect">
              <a:avLst/>
            </a:prstGeom>
          </p:spPr>
        </p:pic>
        <p:sp>
          <p:nvSpPr>
            <p:cNvPr id="5" name="Rectangle 4">
              <a:extLst>
                <a:ext uri="{FF2B5EF4-FFF2-40B4-BE49-F238E27FC236}">
                  <a16:creationId xmlns:a16="http://schemas.microsoft.com/office/drawing/2014/main" id="{926BF8BC-E191-90C8-F0C5-EAC7F6AD6D37}"/>
                </a:ext>
              </a:extLst>
            </p:cNvPr>
            <p:cNvSpPr/>
            <p:nvPr/>
          </p:nvSpPr>
          <p:spPr>
            <a:xfrm>
              <a:off x="7162798" y="5812970"/>
              <a:ext cx="1664630" cy="35923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1200" dirty="0"/>
                <a:t>Online Material</a:t>
              </a:r>
            </a:p>
          </p:txBody>
        </p:sp>
      </p:grpSp>
      <p:grpSp>
        <p:nvGrpSpPr>
          <p:cNvPr id="10" name="Group 9">
            <a:extLst>
              <a:ext uri="{FF2B5EF4-FFF2-40B4-BE49-F238E27FC236}">
                <a16:creationId xmlns:a16="http://schemas.microsoft.com/office/drawing/2014/main" id="{D4B78441-B04B-BAF7-8DBD-36857FFBB7BB}"/>
              </a:ext>
            </a:extLst>
          </p:cNvPr>
          <p:cNvGrpSpPr/>
          <p:nvPr/>
        </p:nvGrpSpPr>
        <p:grpSpPr>
          <a:xfrm>
            <a:off x="939962" y="6144688"/>
            <a:ext cx="3906359" cy="430887"/>
            <a:chOff x="939962" y="6144688"/>
            <a:chExt cx="3906359" cy="430887"/>
          </a:xfrm>
        </p:grpSpPr>
        <p:sp>
          <p:nvSpPr>
            <p:cNvPr id="8" name="TextBox 7">
              <a:extLst>
                <a:ext uri="{FF2B5EF4-FFF2-40B4-BE49-F238E27FC236}">
                  <a16:creationId xmlns:a16="http://schemas.microsoft.com/office/drawing/2014/main" id="{4D3A12E2-7847-4CB7-20B4-A01735B26DD0}"/>
                </a:ext>
              </a:extLst>
            </p:cNvPr>
            <p:cNvSpPr txBox="1"/>
            <p:nvPr/>
          </p:nvSpPr>
          <p:spPr>
            <a:xfrm>
              <a:off x="1828800" y="6144688"/>
              <a:ext cx="3017521" cy="430887"/>
            </a:xfrm>
            <a:prstGeom prst="rect">
              <a:avLst/>
            </a:prstGeom>
            <a:noFill/>
          </p:spPr>
          <p:txBody>
            <a:bodyPr wrap="square">
              <a:spAutoFit/>
            </a:bodyPr>
            <a:lstStyle/>
            <a:p>
              <a:r>
                <a:rPr lang="en-US" sz="1100" b="0" i="0" dirty="0">
                  <a:solidFill>
                    <a:schemeClr val="tx1">
                      <a:lumMod val="50000"/>
                    </a:schemeClr>
                  </a:solidFill>
                  <a:effectLst/>
                  <a:latin typeface="Calibri" panose="020F0502020204030204" pitchFamily="34" charset="0"/>
                </a:rPr>
                <a:t>This work is licensed under a </a:t>
              </a:r>
              <a:r>
                <a:rPr lang="en-US" sz="1100" b="0" i="0" strike="noStrike" dirty="0">
                  <a:solidFill>
                    <a:schemeClr val="tx1">
                      <a:lumMod val="50000"/>
                    </a:schemeClr>
                  </a:solidFill>
                  <a:effectLst/>
                  <a:latin typeface="Calibri" panose="020F0502020204030204" pitchFamily="34" charset="0"/>
                  <a:hlinkClick r:id="rId6">
                    <a:extLst>
                      <a:ext uri="{A12FA001-AC4F-418D-AE19-62706E023703}">
                        <ahyp:hlinkClr xmlns:ahyp="http://schemas.microsoft.com/office/drawing/2018/hyperlinkcolor" val="tx"/>
                      </a:ext>
                    </a:extLst>
                  </a:hlinkClick>
                </a:rPr>
                <a:t>Creative Commons Attribution-</a:t>
              </a:r>
              <a:r>
                <a:rPr lang="en-US" sz="1100" b="0" i="0" strike="noStrike" dirty="0" err="1">
                  <a:solidFill>
                    <a:schemeClr val="tx1">
                      <a:lumMod val="50000"/>
                    </a:schemeClr>
                  </a:solidFill>
                  <a:effectLst/>
                  <a:latin typeface="Calibri" panose="020F0502020204030204" pitchFamily="34" charset="0"/>
                  <a:hlinkClick r:id="rId6">
                    <a:extLst>
                      <a:ext uri="{A12FA001-AC4F-418D-AE19-62706E023703}">
                        <ahyp:hlinkClr xmlns:ahyp="http://schemas.microsoft.com/office/drawing/2018/hyperlinkcolor" val="tx"/>
                      </a:ext>
                    </a:extLst>
                  </a:hlinkClick>
                </a:rPr>
                <a:t>ShareAlike</a:t>
              </a:r>
              <a:r>
                <a:rPr lang="en-US" sz="1100" b="0" i="0" strike="noStrike" dirty="0">
                  <a:solidFill>
                    <a:schemeClr val="tx1">
                      <a:lumMod val="50000"/>
                    </a:schemeClr>
                  </a:solidFill>
                  <a:effectLst/>
                  <a:latin typeface="Calibri" panose="020F0502020204030204" pitchFamily="34" charset="0"/>
                  <a:hlinkClick r:id="rId6">
                    <a:extLst>
                      <a:ext uri="{A12FA001-AC4F-418D-AE19-62706E023703}">
                        <ahyp:hlinkClr xmlns:ahyp="http://schemas.microsoft.com/office/drawing/2018/hyperlinkcolor" val="tx"/>
                      </a:ext>
                    </a:extLst>
                  </a:hlinkClick>
                </a:rPr>
                <a:t> 4.0 International License</a:t>
              </a:r>
              <a:r>
                <a:rPr lang="en-US" sz="1100" b="0" i="0" dirty="0">
                  <a:solidFill>
                    <a:schemeClr val="tx1">
                      <a:lumMod val="50000"/>
                    </a:schemeClr>
                  </a:solidFill>
                  <a:effectLst/>
                  <a:latin typeface="Calibri" panose="020F0502020204030204" pitchFamily="34" charset="0"/>
                </a:rPr>
                <a:t>.</a:t>
              </a:r>
              <a:endParaRPr lang="en-US" sz="1100" dirty="0">
                <a:solidFill>
                  <a:schemeClr val="tx1">
                    <a:lumMod val="50000"/>
                  </a:schemeClr>
                </a:solidFill>
              </a:endParaRPr>
            </a:p>
          </p:txBody>
        </p:sp>
        <p:pic>
          <p:nvPicPr>
            <p:cNvPr id="6" name="Picture 2">
              <a:extLst>
                <a:ext uri="{FF2B5EF4-FFF2-40B4-BE49-F238E27FC236}">
                  <a16:creationId xmlns:a16="http://schemas.microsoft.com/office/drawing/2014/main" id="{6F541B74-782B-CAA5-A668-3C59116BF01A}"/>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939962" y="6206845"/>
              <a:ext cx="888838" cy="311093"/>
            </a:xfrm>
            <a:prstGeom prst="rect">
              <a:avLst/>
            </a:prstGeom>
            <a:noFill/>
            <a:extLst>
              <a:ext uri="{909E8E84-426E-40DD-AFC4-6F175D3DCCD1}">
                <a14:hiddenFill xmlns:a14="http://schemas.microsoft.com/office/drawing/2010/main">
                  <a:solidFill>
                    <a:srgbClr val="FFFFFF"/>
                  </a:solidFill>
                </a14:hiddenFill>
              </a:ext>
            </a:extLst>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5A484-066C-54DA-847A-5C586438DB12}"/>
              </a:ext>
            </a:extLst>
          </p:cNvPr>
          <p:cNvSpPr>
            <a:spLocks noGrp="1"/>
          </p:cNvSpPr>
          <p:nvPr>
            <p:ph type="title"/>
          </p:nvPr>
        </p:nvSpPr>
        <p:spPr/>
        <p:txBody>
          <a:bodyPr/>
          <a:lstStyle/>
          <a:p>
            <a:r>
              <a:rPr lang="en-US" dirty="0"/>
              <a:t>Topics</a:t>
            </a:r>
          </a:p>
        </p:txBody>
      </p:sp>
      <p:graphicFrame>
        <p:nvGraphicFramePr>
          <p:cNvPr id="4" name="Content Placeholder 3">
            <a:extLst>
              <a:ext uri="{FF2B5EF4-FFF2-40B4-BE49-F238E27FC236}">
                <a16:creationId xmlns:a16="http://schemas.microsoft.com/office/drawing/2014/main" id="{73D23D68-F6E6-53E0-60DB-00A39CD0D4DA}"/>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3710232999"/>
              </p:ext>
            </p:extLst>
          </p:nvPr>
        </p:nvGraphicFramePr>
        <p:xfrm>
          <a:off x="838200" y="1295400"/>
          <a:ext cx="10515600" cy="3505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518176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24A43D-93C1-ABD3-A2E5-40B73B6ECC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85A4B6-D7DC-5913-84F9-79DC02BD043E}"/>
              </a:ext>
            </a:extLst>
          </p:cNvPr>
          <p:cNvSpPr>
            <a:spLocks noGrp="1"/>
          </p:cNvSpPr>
          <p:nvPr>
            <p:ph type="title"/>
          </p:nvPr>
        </p:nvSpPr>
        <p:spPr>
          <a:xfrm>
            <a:off x="477980" y="1122363"/>
            <a:ext cx="4932220" cy="3204134"/>
          </a:xfrm>
        </p:spPr>
        <p:txBody>
          <a:bodyPr vert="horz" lIns="91440" tIns="45720" rIns="91440" bIns="45720" rtlCol="0" anchor="b">
            <a:normAutofit/>
          </a:bodyPr>
          <a:lstStyle/>
          <a:p>
            <a:r>
              <a:rPr lang="en-US" sz="4800" kern="1200" dirty="0">
                <a:solidFill>
                  <a:schemeClr val="tx1"/>
                </a:solidFill>
                <a:latin typeface="+mj-lt"/>
                <a:ea typeface="+mj-ea"/>
                <a:cs typeface="+mj-cs"/>
              </a:rPr>
              <a:t>Agents and Machine Learning</a:t>
            </a:r>
          </a:p>
        </p:txBody>
      </p:sp>
      <p:sp>
        <p:nvSpPr>
          <p:cNvPr id="7" name="TextBox 6">
            <a:extLst>
              <a:ext uri="{FF2B5EF4-FFF2-40B4-BE49-F238E27FC236}">
                <a16:creationId xmlns:a16="http://schemas.microsoft.com/office/drawing/2014/main" id="{192FDFC1-1E91-863C-60E8-089AC78538B5}"/>
              </a:ext>
            </a:extLst>
          </p:cNvPr>
          <p:cNvSpPr txBox="1"/>
          <p:nvPr/>
        </p:nvSpPr>
        <p:spPr>
          <a:xfrm>
            <a:off x="5715000" y="6081063"/>
            <a:ext cx="5562600" cy="523220"/>
          </a:xfrm>
          <a:prstGeom prst="rect">
            <a:avLst/>
          </a:prstGeom>
          <a:noFill/>
        </p:spPr>
        <p:txBody>
          <a:bodyPr wrap="square" rtlCol="0">
            <a:spAutoFit/>
          </a:bodyPr>
          <a:lstStyle/>
          <a:p>
            <a:pPr algn="ctr"/>
            <a:r>
              <a:rPr lang="en-US" sz="1400" dirty="0"/>
              <a:t>DeepAi.org with prompt: “A happy cartoon robot with an artificial neural network for a brain on white background learning to play chess”</a:t>
            </a:r>
          </a:p>
        </p:txBody>
      </p:sp>
      <p:pic>
        <p:nvPicPr>
          <p:cNvPr id="1034" name="Picture 10">
            <a:extLst>
              <a:ext uri="{FF2B5EF4-FFF2-40B4-BE49-F238E27FC236}">
                <a16:creationId xmlns:a16="http://schemas.microsoft.com/office/drawing/2014/main" id="{0B3B5D91-7A9D-DC31-1696-410760A5AF47}"/>
              </a:ex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24500" y="172099"/>
            <a:ext cx="5943600" cy="594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66917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pPr eaLnBrk="1" hangingPunct="1"/>
            <a:r>
              <a:rPr lang="en-US" dirty="0"/>
              <a:t>Learning from Examples</a:t>
            </a:r>
          </a:p>
        </p:txBody>
      </p:sp>
      <p:grpSp>
        <p:nvGrpSpPr>
          <p:cNvPr id="7" name="Group 6">
            <a:extLst>
              <a:ext uri="{FF2B5EF4-FFF2-40B4-BE49-F238E27FC236}">
                <a16:creationId xmlns:a16="http://schemas.microsoft.com/office/drawing/2014/main" id="{65453C24-9588-28CC-CD92-31C54DBEAE6E}"/>
              </a:ext>
            </a:extLst>
          </p:cNvPr>
          <p:cNvGrpSpPr/>
          <p:nvPr/>
        </p:nvGrpSpPr>
        <p:grpSpPr>
          <a:xfrm>
            <a:off x="7950350" y="4573036"/>
            <a:ext cx="3672986" cy="914400"/>
            <a:chOff x="8081692" y="1943098"/>
            <a:chExt cx="3672986" cy="914400"/>
          </a:xfrm>
        </p:grpSpPr>
        <p:sp>
          <p:nvSpPr>
            <p:cNvPr id="8" name="Rectangle 7">
              <a:extLst>
                <a:ext uri="{FF2B5EF4-FFF2-40B4-BE49-F238E27FC236}">
                  <a16:creationId xmlns:a16="http://schemas.microsoft.com/office/drawing/2014/main" id="{C4E4FCAC-9646-F8A7-AC99-6A0E5E553B54}"/>
                </a:ext>
              </a:extLst>
            </p:cNvPr>
            <p:cNvSpPr/>
            <p:nvPr/>
          </p:nvSpPr>
          <p:spPr>
            <a:xfrm>
              <a:off x="10383078" y="2110494"/>
              <a:ext cx="1371600" cy="5796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Model</a:t>
              </a:r>
              <a:br>
                <a:rPr lang="en-US" dirty="0"/>
              </a:br>
              <a:r>
                <a:rPr lang="en-US" sz="1400" dirty="0"/>
                <a:t>chooses actions</a:t>
              </a:r>
              <a:endParaRPr lang="en-US" dirty="0"/>
            </a:p>
          </p:txBody>
        </p:sp>
        <p:sp>
          <p:nvSpPr>
            <p:cNvPr id="9" name="Cylinder 8">
              <a:extLst>
                <a:ext uri="{FF2B5EF4-FFF2-40B4-BE49-F238E27FC236}">
                  <a16:creationId xmlns:a16="http://schemas.microsoft.com/office/drawing/2014/main" id="{5314D94F-AF9F-0B14-5BFC-257FF3540A9A}"/>
                </a:ext>
              </a:extLst>
            </p:cNvPr>
            <p:cNvSpPr/>
            <p:nvPr/>
          </p:nvSpPr>
          <p:spPr>
            <a:xfrm>
              <a:off x="8081692" y="1943098"/>
              <a:ext cx="1146791" cy="914400"/>
            </a:xfrm>
            <a:prstGeom prst="can">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Data</a:t>
              </a:r>
            </a:p>
            <a:p>
              <a:pPr algn="ctr"/>
              <a:r>
                <a:rPr lang="en-US" sz="1200" dirty="0"/>
                <a:t>(observations)</a:t>
              </a:r>
            </a:p>
          </p:txBody>
        </p:sp>
        <p:sp>
          <p:nvSpPr>
            <p:cNvPr id="10" name="Arrow: Right 9">
              <a:extLst>
                <a:ext uri="{FF2B5EF4-FFF2-40B4-BE49-F238E27FC236}">
                  <a16:creationId xmlns:a16="http://schemas.microsoft.com/office/drawing/2014/main" id="{ABE5AD2A-30F8-9DD1-5272-4FFC40E0AD16}"/>
                </a:ext>
              </a:extLst>
            </p:cNvPr>
            <p:cNvSpPr/>
            <p:nvPr/>
          </p:nvSpPr>
          <p:spPr>
            <a:xfrm>
              <a:off x="9396493" y="2209798"/>
              <a:ext cx="838200" cy="381000"/>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learn</a:t>
              </a:r>
            </a:p>
          </p:txBody>
        </p:sp>
      </p:grpSp>
      <p:sp>
        <p:nvSpPr>
          <p:cNvPr id="12" name="Content Placeholder 11">
            <a:extLst>
              <a:ext uri="{FF2B5EF4-FFF2-40B4-BE49-F238E27FC236}">
                <a16:creationId xmlns:a16="http://schemas.microsoft.com/office/drawing/2014/main" id="{AEADBF7D-CBD1-3ADC-506D-8A047248F1FF}"/>
              </a:ext>
            </a:extLst>
          </p:cNvPr>
          <p:cNvSpPr>
            <a:spLocks noGrp="1"/>
          </p:cNvSpPr>
          <p:nvPr>
            <p:ph idx="1"/>
          </p:nvPr>
        </p:nvSpPr>
        <p:spPr>
          <a:xfrm>
            <a:off x="871556" y="1643670"/>
            <a:ext cx="6553200" cy="4604729"/>
          </a:xfrm>
        </p:spPr>
        <p:txBody>
          <a:bodyPr>
            <a:normAutofit lnSpcReduction="10000"/>
          </a:bodyPr>
          <a:lstStyle/>
          <a:p>
            <a:pPr marL="0" indent="0">
              <a:buNone/>
            </a:pPr>
            <a:r>
              <a:rPr lang="en-US" sz="1600" b="1" dirty="0"/>
              <a:t>Up until now in this course:</a:t>
            </a:r>
          </a:p>
          <a:p>
            <a:pPr marL="742950" lvl="1" indent="-285750"/>
            <a:r>
              <a:rPr lang="en-US" sz="1600" b="1" dirty="0"/>
              <a:t>Hand-craft algorithms </a:t>
            </a:r>
            <a:r>
              <a:rPr lang="en-US" sz="1600" dirty="0"/>
              <a:t>to make rational/optimal or at least good decisions. </a:t>
            </a:r>
            <a:br>
              <a:rPr lang="en-US" sz="1600" dirty="0"/>
            </a:br>
            <a:r>
              <a:rPr lang="en-US" sz="1600" dirty="0"/>
              <a:t>Examples: Search strategies, heuristics, and constructing Bayesian networks.</a:t>
            </a:r>
          </a:p>
          <a:p>
            <a:endParaRPr lang="en-US" sz="1600" dirty="0"/>
          </a:p>
          <a:p>
            <a:pPr marL="0" indent="0">
              <a:buNone/>
            </a:pPr>
            <a:r>
              <a:rPr lang="en-US" sz="1600" b="1" dirty="0"/>
              <a:t>Issues</a:t>
            </a:r>
          </a:p>
          <a:p>
            <a:pPr marL="742950" lvl="1" indent="-285750"/>
            <a:r>
              <a:rPr lang="en-US" sz="1600" dirty="0"/>
              <a:t>We may not be able to anticipate all possible future scenarios.</a:t>
            </a:r>
          </a:p>
          <a:p>
            <a:pPr marL="742950" lvl="1" indent="-285750"/>
            <a:r>
              <a:rPr lang="en-US" sz="1600" dirty="0"/>
              <a:t>We may have examples, but we do not know how to implement a solution.</a:t>
            </a:r>
          </a:p>
          <a:p>
            <a:pPr marL="742950" lvl="1" indent="-285750"/>
            <a:endParaRPr lang="en-US" sz="1600" dirty="0"/>
          </a:p>
          <a:p>
            <a:pPr marL="0" indent="0">
              <a:buNone/>
            </a:pPr>
            <a:r>
              <a:rPr lang="en-US" sz="1600" b="1" dirty="0"/>
              <a:t>Supervised Machine Learning</a:t>
            </a:r>
          </a:p>
          <a:p>
            <a:pPr marL="742950" lvl="1" indent="-285750"/>
            <a:r>
              <a:rPr lang="en-US" sz="1600" dirty="0"/>
              <a:t>Uses observations: training data with the correct answers. </a:t>
            </a:r>
          </a:p>
          <a:p>
            <a:pPr marL="742950" lvl="1" indent="-285750"/>
            <a:r>
              <a:rPr lang="en-US" sz="1600" dirty="0"/>
              <a:t>Learn a function (model) to map an input (e.g., state) to an output (e.g., action) representing the desired behavior.</a:t>
            </a:r>
          </a:p>
          <a:p>
            <a:pPr marL="742950" lvl="1" indent="-285750"/>
            <a:r>
              <a:rPr lang="en-US" sz="1600" dirty="0"/>
              <a:t>Examples:</a:t>
            </a:r>
          </a:p>
          <a:p>
            <a:pPr lvl="2">
              <a:buFont typeface="Wingdings" panose="05000000000000000000" pitchFamily="2" charset="2"/>
              <a:buChar char="§"/>
            </a:pPr>
            <a:r>
              <a:rPr lang="en-US" sz="1400" dirty="0"/>
              <a:t>Use a naïve Bayesian classifier to distinguish between spam/non-spam.</a:t>
            </a:r>
          </a:p>
          <a:p>
            <a:pPr lvl="2">
              <a:buFont typeface="Wingdings" panose="05000000000000000000" pitchFamily="2" charset="2"/>
              <a:buChar char="§"/>
            </a:pPr>
            <a:r>
              <a:rPr lang="en-US" sz="1400" dirty="0"/>
              <a:t>Learn a playout policy to simulate games (current board -&gt; good move)</a:t>
            </a:r>
          </a:p>
        </p:txBody>
      </p:sp>
      <p:grpSp>
        <p:nvGrpSpPr>
          <p:cNvPr id="18" name="Group 17">
            <a:extLst>
              <a:ext uri="{FF2B5EF4-FFF2-40B4-BE49-F238E27FC236}">
                <a16:creationId xmlns:a16="http://schemas.microsoft.com/office/drawing/2014/main" id="{D2BFA770-D0B6-6645-0BDE-09D17F4CD1E3}"/>
              </a:ext>
            </a:extLst>
          </p:cNvPr>
          <p:cNvGrpSpPr/>
          <p:nvPr/>
        </p:nvGrpSpPr>
        <p:grpSpPr>
          <a:xfrm>
            <a:off x="7907055" y="1432085"/>
            <a:ext cx="3413389" cy="1662277"/>
            <a:chOff x="7907055" y="1766723"/>
            <a:chExt cx="3413389" cy="1662277"/>
          </a:xfrm>
        </p:grpSpPr>
        <p:grpSp>
          <p:nvGrpSpPr>
            <p:cNvPr id="6" name="Group 5">
              <a:extLst>
                <a:ext uri="{FF2B5EF4-FFF2-40B4-BE49-F238E27FC236}">
                  <a16:creationId xmlns:a16="http://schemas.microsoft.com/office/drawing/2014/main" id="{0BC73BE4-EDEB-CB56-22B8-EF0651C8CDB2}"/>
                </a:ext>
              </a:extLst>
            </p:cNvPr>
            <p:cNvGrpSpPr/>
            <p:nvPr/>
          </p:nvGrpSpPr>
          <p:grpSpPr>
            <a:xfrm>
              <a:off x="7907055" y="2514600"/>
              <a:ext cx="3413389" cy="914400"/>
              <a:chOff x="7861376" y="1943099"/>
              <a:chExt cx="3413389" cy="914400"/>
            </a:xfrm>
          </p:grpSpPr>
          <p:sp>
            <p:nvSpPr>
              <p:cNvPr id="3" name="Rectangle 2">
                <a:extLst>
                  <a:ext uri="{FF2B5EF4-FFF2-40B4-BE49-F238E27FC236}">
                    <a16:creationId xmlns:a16="http://schemas.microsoft.com/office/drawing/2014/main" id="{4FA6B835-1DD0-E48C-B41D-96A2FE19ABB3}"/>
                  </a:ext>
                </a:extLst>
              </p:cNvPr>
              <p:cNvSpPr/>
              <p:nvPr/>
            </p:nvSpPr>
            <p:spPr>
              <a:xfrm>
                <a:off x="7861376" y="2110495"/>
                <a:ext cx="1371600" cy="5796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Algorithm</a:t>
                </a:r>
                <a:br>
                  <a:rPr lang="en-US" dirty="0"/>
                </a:br>
                <a:r>
                  <a:rPr lang="en-US" sz="1400" dirty="0"/>
                  <a:t>chooses actions</a:t>
                </a:r>
                <a:endParaRPr lang="en-US" dirty="0"/>
              </a:p>
            </p:txBody>
          </p:sp>
          <p:sp>
            <p:nvSpPr>
              <p:cNvPr id="4" name="Cylinder 3">
                <a:extLst>
                  <a:ext uri="{FF2B5EF4-FFF2-40B4-BE49-F238E27FC236}">
                    <a16:creationId xmlns:a16="http://schemas.microsoft.com/office/drawing/2014/main" id="{8B52A23D-24B8-F245-3FDA-327AE50767EA}"/>
                  </a:ext>
                </a:extLst>
              </p:cNvPr>
              <p:cNvSpPr/>
              <p:nvPr/>
            </p:nvSpPr>
            <p:spPr>
              <a:xfrm>
                <a:off x="10284165" y="1943099"/>
                <a:ext cx="990600" cy="914400"/>
              </a:xfrm>
              <a:prstGeom prst="can">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Data</a:t>
                </a:r>
              </a:p>
              <a:p>
                <a:pPr algn="ctr"/>
                <a:r>
                  <a:rPr lang="en-US" sz="1400" dirty="0"/>
                  <a:t>(behavior)</a:t>
                </a:r>
              </a:p>
            </p:txBody>
          </p:sp>
          <p:sp>
            <p:nvSpPr>
              <p:cNvPr id="5" name="Arrow: Right 4">
                <a:extLst>
                  <a:ext uri="{FF2B5EF4-FFF2-40B4-BE49-F238E27FC236}">
                    <a16:creationId xmlns:a16="http://schemas.microsoft.com/office/drawing/2014/main" id="{B234D5C5-4C09-3E6E-2DBF-720EB41A74D9}"/>
                  </a:ext>
                </a:extLst>
              </p:cNvPr>
              <p:cNvSpPr/>
              <p:nvPr/>
            </p:nvSpPr>
            <p:spPr>
              <a:xfrm>
                <a:off x="9334501" y="2209799"/>
                <a:ext cx="838200" cy="381000"/>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creates</a:t>
                </a:r>
              </a:p>
            </p:txBody>
          </p:sp>
        </p:grpSp>
        <p:pic>
          <p:nvPicPr>
            <p:cNvPr id="17" name="Graphic 16" descr="Programmer female with solid fill">
              <a:extLst>
                <a:ext uri="{FF2B5EF4-FFF2-40B4-BE49-F238E27FC236}">
                  <a16:creationId xmlns:a16="http://schemas.microsoft.com/office/drawing/2014/main" id="{DE86EFC3-EF02-1C52-B3C2-A4D2399F5D8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173236" y="1766723"/>
              <a:ext cx="839238" cy="839238"/>
            </a:xfrm>
            <a:prstGeom prst="rect">
              <a:avLst/>
            </a:prstGeom>
          </p:spPr>
        </p:pic>
      </p:grpSp>
      <p:sp>
        <p:nvSpPr>
          <p:cNvPr id="19" name="Rectangle 18">
            <a:extLst>
              <a:ext uri="{FF2B5EF4-FFF2-40B4-BE49-F238E27FC236}">
                <a16:creationId xmlns:a16="http://schemas.microsoft.com/office/drawing/2014/main" id="{25DD7F7F-09DD-185A-DC5B-A246B707343B}"/>
              </a:ext>
            </a:extLst>
          </p:cNvPr>
          <p:cNvSpPr/>
          <p:nvPr/>
        </p:nvSpPr>
        <p:spPr>
          <a:xfrm>
            <a:off x="685800" y="4343400"/>
            <a:ext cx="11125200" cy="182880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2">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0EDD7D-B2B4-A974-60D4-3C87BC8A048D}"/>
              </a:ext>
            </a:extLst>
          </p:cNvPr>
          <p:cNvSpPr>
            <a:spLocks noGrp="1"/>
          </p:cNvSpPr>
          <p:nvPr>
            <p:ph type="title"/>
          </p:nvPr>
        </p:nvSpPr>
        <p:spPr/>
        <p:txBody>
          <a:bodyPr/>
          <a:lstStyle/>
          <a:p>
            <a:r>
              <a:rPr lang="en-US" dirty="0"/>
              <a:t>Learning Components of an Agent</a:t>
            </a:r>
          </a:p>
        </p:txBody>
      </p:sp>
      <p:sp>
        <p:nvSpPr>
          <p:cNvPr id="3" name="Content Placeholder 2">
            <a:extLst>
              <a:ext uri="{FF2B5EF4-FFF2-40B4-BE49-F238E27FC236}">
                <a16:creationId xmlns:a16="http://schemas.microsoft.com/office/drawing/2014/main" id="{12417218-FBD7-228B-26E1-893FD9EA532A}"/>
              </a:ext>
            </a:extLst>
          </p:cNvPr>
          <p:cNvSpPr>
            <a:spLocks noGrp="1"/>
          </p:cNvSpPr>
          <p:nvPr>
            <p:ph idx="1"/>
          </p:nvPr>
        </p:nvSpPr>
        <p:spPr>
          <a:xfrm>
            <a:off x="838200" y="1524001"/>
            <a:ext cx="10515600" cy="838200"/>
          </a:xfrm>
        </p:spPr>
        <p:txBody>
          <a:bodyPr>
            <a:normAutofit fontScale="92500" lnSpcReduction="20000"/>
          </a:bodyPr>
          <a:lstStyle/>
          <a:p>
            <a:r>
              <a:rPr lang="en-US" dirty="0"/>
              <a:t>We can learn many different components of an agent from examples</a:t>
            </a:r>
          </a:p>
          <a:p>
            <a:r>
              <a:rPr lang="en-US" b="1" dirty="0"/>
              <a:t>Example</a:t>
            </a:r>
            <a:r>
              <a:rPr lang="en-US" dirty="0"/>
              <a:t>: Learning components of a model-based reflex agent</a:t>
            </a:r>
          </a:p>
        </p:txBody>
      </p:sp>
      <p:grpSp>
        <p:nvGrpSpPr>
          <p:cNvPr id="19" name="Group 18">
            <a:extLst>
              <a:ext uri="{FF2B5EF4-FFF2-40B4-BE49-F238E27FC236}">
                <a16:creationId xmlns:a16="http://schemas.microsoft.com/office/drawing/2014/main" id="{615DB30F-A502-5246-0B36-376656271739}"/>
              </a:ext>
            </a:extLst>
          </p:cNvPr>
          <p:cNvGrpSpPr/>
          <p:nvPr/>
        </p:nvGrpSpPr>
        <p:grpSpPr>
          <a:xfrm>
            <a:off x="4343400" y="3521077"/>
            <a:ext cx="4673840" cy="2921150"/>
            <a:chOff x="4343400" y="3521077"/>
            <a:chExt cx="4673840" cy="2921150"/>
          </a:xfrm>
        </p:grpSpPr>
        <p:grpSp>
          <p:nvGrpSpPr>
            <p:cNvPr id="16" name="Group 15">
              <a:extLst>
                <a:ext uri="{FF2B5EF4-FFF2-40B4-BE49-F238E27FC236}">
                  <a16:creationId xmlns:a16="http://schemas.microsoft.com/office/drawing/2014/main" id="{58CC50AF-B354-ECB4-1A9C-2C165F322B5C}"/>
                </a:ext>
              </a:extLst>
            </p:cNvPr>
            <p:cNvGrpSpPr/>
            <p:nvPr/>
          </p:nvGrpSpPr>
          <p:grpSpPr>
            <a:xfrm>
              <a:off x="4343400" y="3521077"/>
              <a:ext cx="4673840" cy="2921150"/>
              <a:chOff x="4343400" y="3521077"/>
              <a:chExt cx="4673840" cy="2921150"/>
            </a:xfrm>
          </p:grpSpPr>
          <p:grpSp>
            <p:nvGrpSpPr>
              <p:cNvPr id="11" name="Group 10">
                <a:extLst>
                  <a:ext uri="{FF2B5EF4-FFF2-40B4-BE49-F238E27FC236}">
                    <a16:creationId xmlns:a16="http://schemas.microsoft.com/office/drawing/2014/main" id="{59F90D26-E185-2C89-B5E3-DF7916A9DB29}"/>
                  </a:ext>
                </a:extLst>
              </p:cNvPr>
              <p:cNvGrpSpPr/>
              <p:nvPr/>
            </p:nvGrpSpPr>
            <p:grpSpPr>
              <a:xfrm>
                <a:off x="4343400" y="3521077"/>
                <a:ext cx="4673840" cy="2921150"/>
                <a:chOff x="3886200" y="3340025"/>
                <a:chExt cx="4673840" cy="2921150"/>
              </a:xfrm>
            </p:grpSpPr>
            <p:grpSp>
              <p:nvGrpSpPr>
                <p:cNvPr id="7" name="Group 6">
                  <a:extLst>
                    <a:ext uri="{FF2B5EF4-FFF2-40B4-BE49-F238E27FC236}">
                      <a16:creationId xmlns:a16="http://schemas.microsoft.com/office/drawing/2014/main" id="{FD918DC2-4507-5D5F-5D31-CD1489C309C8}"/>
                    </a:ext>
                  </a:extLst>
                </p:cNvPr>
                <p:cNvGrpSpPr/>
                <p:nvPr/>
              </p:nvGrpSpPr>
              <p:grpSpPr>
                <a:xfrm>
                  <a:off x="3886200" y="3340025"/>
                  <a:ext cx="4673840" cy="2921150"/>
                  <a:chOff x="1981200" y="2717650"/>
                  <a:chExt cx="4673840" cy="2921150"/>
                </a:xfrm>
              </p:grpSpPr>
              <p:pic>
                <p:nvPicPr>
                  <p:cNvPr id="5" name="Picture 4" descr="A figure that shiws how the agent adds a state and a model that describes how the world envolves.">
                    <a:extLst>
                      <a:ext uri="{FF2B5EF4-FFF2-40B4-BE49-F238E27FC236}">
                        <a16:creationId xmlns:a16="http://schemas.microsoft.com/office/drawing/2014/main" id="{0A46FB38-27F4-285F-9030-7FD76C3E1F87}"/>
                      </a:ext>
                    </a:extLst>
                  </p:cNvPr>
                  <p:cNvPicPr>
                    <a:picLocks noChangeAspect="1"/>
                  </p:cNvPicPr>
                  <p:nvPr/>
                </p:nvPicPr>
                <p:blipFill>
                  <a:blip r:embed="rId2"/>
                  <a:stretch>
                    <a:fillRect/>
                  </a:stretch>
                </p:blipFill>
                <p:spPr>
                  <a:xfrm>
                    <a:off x="1981200" y="2717650"/>
                    <a:ext cx="4673840" cy="2921150"/>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252FD60-D610-C9F6-B0E7-0CA022B6089C}"/>
                          </a:ext>
                          <a:ext uri="{C183D7F6-B498-43B3-948B-1728B52AA6E4}">
                            <adec:decorative xmlns:adec="http://schemas.microsoft.com/office/drawing/2017/decorative" val="1"/>
                          </a:ext>
                        </a:extLst>
                      </p:cNvPr>
                      <p:cNvSpPr txBox="1"/>
                      <p:nvPr/>
                    </p:nvSpPr>
                    <p:spPr>
                      <a:xfrm>
                        <a:off x="2362200" y="4311134"/>
                        <a:ext cx="14478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𝑝</m:t>
                              </m:r>
                              <m:r>
                                <a:rPr lang="en-US" b="0" i="1" smtClean="0">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6" name="TextBox 5">
                        <a:extLst>
                          <a:ext uri="{FF2B5EF4-FFF2-40B4-BE49-F238E27FC236}">
                            <a16:creationId xmlns:a16="http://schemas.microsoft.com/office/drawing/2014/main" id="{B252FD60-D610-C9F6-B0E7-0CA022B6089C}"/>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2362200" y="4311134"/>
                        <a:ext cx="1447800" cy="369332"/>
                      </a:xfrm>
                      <a:prstGeom prst="rect">
                        <a:avLst/>
                      </a:prstGeom>
                      <a:blipFill>
                        <a:blip r:embed="rId3"/>
                        <a:stretch>
                          <a:fillRect b="-1311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1800A7A-4D28-36DC-2956-A712429935B9}"/>
                        </a:ext>
                        <a:ext uri="{C183D7F6-B498-43B3-948B-1728B52AA6E4}">
                          <adec:decorative xmlns:adec="http://schemas.microsoft.com/office/drawing/2017/decorative" val="1"/>
                        </a:ext>
                      </a:extLst>
                    </p:cNvPr>
                    <p:cNvSpPr txBox="1"/>
                    <p:nvPr/>
                  </p:nvSpPr>
                  <p:spPr>
                    <a:xfrm>
                      <a:off x="4419600" y="4191000"/>
                      <a:ext cx="1524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endParaRPr lang="en-US" dirty="0"/>
                    </a:p>
                  </p:txBody>
                </p:sp>
              </mc:Choice>
              <mc:Fallback xmlns="">
                <p:sp>
                  <p:nvSpPr>
                    <p:cNvPr id="10" name="TextBox 9">
                      <a:extLst>
                        <a:ext uri="{FF2B5EF4-FFF2-40B4-BE49-F238E27FC236}">
                          <a16:creationId xmlns:a16="http://schemas.microsoft.com/office/drawing/2014/main" id="{81800A7A-4D28-36DC-2956-A712429935B9}"/>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4419600" y="4191000"/>
                      <a:ext cx="1524000" cy="369332"/>
                    </a:xfrm>
                    <a:prstGeom prst="rect">
                      <a:avLst/>
                    </a:prstGeom>
                    <a:blipFill>
                      <a:blip r:embed="rId4"/>
                      <a:stretch>
                        <a:fillRect b="-1311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DEFADDC-E927-C6B2-A7B5-FFCED8108F35}"/>
                      </a:ext>
                    </a:extLst>
                  </p:cNvPr>
                  <p:cNvSpPr txBox="1"/>
                  <p:nvPr/>
                </p:nvSpPr>
                <p:spPr>
                  <a:xfrm>
                    <a:off x="7086600" y="3796344"/>
                    <a:ext cx="45806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oMath>
                      </m:oMathPara>
                    </a14:m>
                    <a:endParaRPr lang="en-US" dirty="0"/>
                  </a:p>
                </p:txBody>
              </p:sp>
            </mc:Choice>
            <mc:Fallback xmlns="">
              <p:sp>
                <p:nvSpPr>
                  <p:cNvPr id="15" name="TextBox 14">
                    <a:extLst>
                      <a:ext uri="{FF2B5EF4-FFF2-40B4-BE49-F238E27FC236}">
                        <a16:creationId xmlns:a16="http://schemas.microsoft.com/office/drawing/2014/main" id="{0DEFADDC-E927-C6B2-A7B5-FFCED8108F35}"/>
                      </a:ext>
                    </a:extLst>
                  </p:cNvPr>
                  <p:cNvSpPr txBox="1">
                    <a:spLocks noRot="1" noChangeAspect="1" noMove="1" noResize="1" noEditPoints="1" noAdjustHandles="1" noChangeArrowheads="1" noChangeShapeType="1" noTextEdit="1"/>
                  </p:cNvSpPr>
                  <p:nvPr/>
                </p:nvSpPr>
                <p:spPr>
                  <a:xfrm>
                    <a:off x="7086600" y="3796344"/>
                    <a:ext cx="458066" cy="369332"/>
                  </a:xfrm>
                  <a:prstGeom prst="rect">
                    <a:avLst/>
                  </a:prstGeom>
                  <a:blipFill>
                    <a:blip r:embed="rId5"/>
                    <a:stretch>
                      <a:fillRect b="-666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DFB810E-8E28-DE06-BB19-1126FEC9BDCF}"/>
                    </a:ext>
                  </a:extLst>
                </p:cNvPr>
                <p:cNvSpPr txBox="1"/>
                <p:nvPr/>
              </p:nvSpPr>
              <p:spPr>
                <a:xfrm>
                  <a:off x="7162800" y="5715000"/>
                  <a:ext cx="30566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oMath>
                    </m:oMathPara>
                  </a14:m>
                  <a:endParaRPr lang="en-US" dirty="0"/>
                </a:p>
              </p:txBody>
            </p:sp>
          </mc:Choice>
          <mc:Fallback xmlns="">
            <p:sp>
              <p:nvSpPr>
                <p:cNvPr id="18" name="TextBox 17">
                  <a:extLst>
                    <a:ext uri="{FF2B5EF4-FFF2-40B4-BE49-F238E27FC236}">
                      <a16:creationId xmlns:a16="http://schemas.microsoft.com/office/drawing/2014/main" id="{ADFB810E-8E28-DE06-BB19-1126FEC9BDCF}"/>
                    </a:ext>
                  </a:extLst>
                </p:cNvPr>
                <p:cNvSpPr txBox="1">
                  <a:spLocks noRot="1" noChangeAspect="1" noMove="1" noResize="1" noEditPoints="1" noAdjustHandles="1" noChangeArrowheads="1" noChangeShapeType="1" noTextEdit="1"/>
                </p:cNvSpPr>
                <p:nvPr/>
              </p:nvSpPr>
              <p:spPr>
                <a:xfrm>
                  <a:off x="7162800" y="5715000"/>
                  <a:ext cx="305666" cy="369332"/>
                </a:xfrm>
                <a:prstGeom prst="rect">
                  <a:avLst/>
                </a:prstGeom>
                <a:blipFill>
                  <a:blip r:embed="rId6"/>
                  <a:stretch>
                    <a:fillRect/>
                  </a:stretch>
                </a:blipFill>
              </p:spPr>
              <p:txBody>
                <a:bodyPr/>
                <a:lstStyle/>
                <a:p>
                  <a:r>
                    <a:rPr lang="en-US">
                      <a:noFill/>
                    </a:rPr>
                    <a:t> </a:t>
                  </a:r>
                </a:p>
              </p:txBody>
            </p:sp>
          </mc:Fallback>
        </mc:AlternateContent>
      </p:grpSp>
      <p:sp>
        <p:nvSpPr>
          <p:cNvPr id="8" name="Speech Bubble: Rectangle with Corners Rounded 7">
            <a:extLst>
              <a:ext uri="{FF2B5EF4-FFF2-40B4-BE49-F238E27FC236}">
                <a16:creationId xmlns:a16="http://schemas.microsoft.com/office/drawing/2014/main" id="{9F72E5C4-8BDA-6A63-66FC-74CC4F79E301}"/>
              </a:ext>
            </a:extLst>
          </p:cNvPr>
          <p:cNvSpPr/>
          <p:nvPr/>
        </p:nvSpPr>
        <p:spPr>
          <a:xfrm>
            <a:off x="2279815" y="5969152"/>
            <a:ext cx="1676400" cy="473075"/>
          </a:xfrm>
          <a:prstGeom prst="wedgeRoundRectCallout">
            <a:avLst>
              <a:gd name="adj1" fmla="val 106827"/>
              <a:gd name="adj2" fmla="val -130789"/>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rules</a:t>
            </a:r>
          </a:p>
        </p:txBody>
      </p:sp>
      <p:sp>
        <p:nvSpPr>
          <p:cNvPr id="9" name="Speech Bubble: Rectangle with Corners Rounded 8">
            <a:extLst>
              <a:ext uri="{FF2B5EF4-FFF2-40B4-BE49-F238E27FC236}">
                <a16:creationId xmlns:a16="http://schemas.microsoft.com/office/drawing/2014/main" id="{C2F2423F-7F67-06B8-D609-D6DA89CC3F80}"/>
              </a:ext>
            </a:extLst>
          </p:cNvPr>
          <p:cNvSpPr/>
          <p:nvPr/>
        </p:nvSpPr>
        <p:spPr>
          <a:xfrm>
            <a:off x="2279815" y="3588976"/>
            <a:ext cx="1676400" cy="838200"/>
          </a:xfrm>
          <a:prstGeom prst="wedgeRoundRectCallout">
            <a:avLst>
              <a:gd name="adj1" fmla="val 110308"/>
              <a:gd name="adj2" fmla="val 60444"/>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the transition model</a:t>
            </a:r>
          </a:p>
        </p:txBody>
      </p:sp>
      <p:sp>
        <p:nvSpPr>
          <p:cNvPr id="12" name="Speech Bubble: Rectangle with Corners Rounded 11">
            <a:extLst>
              <a:ext uri="{FF2B5EF4-FFF2-40B4-BE49-F238E27FC236}">
                <a16:creationId xmlns:a16="http://schemas.microsoft.com/office/drawing/2014/main" id="{18DDF1BC-D679-C3C6-54ED-262BA314407D}"/>
              </a:ext>
            </a:extLst>
          </p:cNvPr>
          <p:cNvSpPr/>
          <p:nvPr/>
        </p:nvSpPr>
        <p:spPr>
          <a:xfrm>
            <a:off x="3657600" y="2457375"/>
            <a:ext cx="1676400" cy="838200"/>
          </a:xfrm>
          <a:prstGeom prst="wedgeRoundRectCallout">
            <a:avLst>
              <a:gd name="adj1" fmla="val 54602"/>
              <a:gd name="adj2" fmla="val 124274"/>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the state representation</a:t>
            </a:r>
          </a:p>
        </p:txBody>
      </p:sp>
      <p:sp>
        <p:nvSpPr>
          <p:cNvPr id="13" name="Speech Bubble: Rectangle with Corners Rounded 12">
            <a:extLst>
              <a:ext uri="{FF2B5EF4-FFF2-40B4-BE49-F238E27FC236}">
                <a16:creationId xmlns:a16="http://schemas.microsoft.com/office/drawing/2014/main" id="{5D63C764-EA94-1B81-1349-50DAE8DC4724}"/>
              </a:ext>
            </a:extLst>
          </p:cNvPr>
          <p:cNvSpPr/>
          <p:nvPr/>
        </p:nvSpPr>
        <p:spPr>
          <a:xfrm>
            <a:off x="6117077" y="2362201"/>
            <a:ext cx="1676400" cy="838200"/>
          </a:xfrm>
          <a:prstGeom prst="wedgeRoundRectCallout">
            <a:avLst>
              <a:gd name="adj1" fmla="val -78280"/>
              <a:gd name="adj2" fmla="val 139361"/>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a utility function</a:t>
            </a:r>
          </a:p>
        </p:txBody>
      </p:sp>
    </p:spTree>
    <p:extLst>
      <p:ext uri="{BB962C8B-B14F-4D97-AF65-F5344CB8AC3E}">
        <p14:creationId xmlns:p14="http://schemas.microsoft.com/office/powerpoint/2010/main" val="1445778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2" grpId="0" animBg="1"/>
      <p:bldP spid="1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68AF5748-FED8-45BA-8631-26D1D10F32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AD07CB2-7CF0-4403-8DE4-B08CDAFC3C22}"/>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kern="1200" dirty="0">
                <a:solidFill>
                  <a:schemeClr val="tx1"/>
                </a:solidFill>
                <a:latin typeface="+mj-lt"/>
                <a:ea typeface="+mj-ea"/>
                <a:cs typeface="+mj-cs"/>
              </a:rPr>
              <a:t>Supervised Learning</a:t>
            </a:r>
          </a:p>
        </p:txBody>
      </p:sp>
      <p:sp>
        <p:nvSpPr>
          <p:cNvPr id="3" name="Text Placeholder 2">
            <a:extLst>
              <a:ext uri="{FF2B5EF4-FFF2-40B4-BE49-F238E27FC236}">
                <a16:creationId xmlns:a16="http://schemas.microsoft.com/office/drawing/2014/main" id="{3FC5F4E9-074B-4B26-960D-6EDAD144F356}"/>
              </a:ext>
            </a:extLst>
          </p:cNvPr>
          <p:cNvSpPr>
            <a:spLocks noGrp="1"/>
          </p:cNvSpPr>
          <p:nvPr>
            <p:ph type="body" idx="1"/>
          </p:nvPr>
        </p:nvSpPr>
        <p:spPr>
          <a:xfrm>
            <a:off x="477980" y="4872922"/>
            <a:ext cx="4023359" cy="1208141"/>
          </a:xfrm>
        </p:spPr>
        <p:txBody>
          <a:bodyPr vert="horz" lIns="91440" tIns="45720" rIns="91440" bIns="45720" rtlCol="0">
            <a:normAutofit/>
          </a:bodyPr>
          <a:lstStyle/>
          <a:p>
            <a:r>
              <a:rPr lang="en-US" sz="2000" kern="1200" dirty="0">
                <a:solidFill>
                  <a:schemeClr val="tx1"/>
                </a:solidFill>
                <a:latin typeface="+mn-lt"/>
                <a:ea typeface="+mn-ea"/>
                <a:cs typeface="+mn-cs"/>
              </a:rPr>
              <a:t>Teaching a model to answer correctly</a:t>
            </a:r>
          </a:p>
        </p:txBody>
      </p:sp>
      <p:sp>
        <p:nvSpPr>
          <p:cNvPr id="73" name="Rectangle 72">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5" name="Rectangle 74">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pSp>
        <p:nvGrpSpPr>
          <p:cNvPr id="5" name="Group 4">
            <a:extLst>
              <a:ext uri="{FF2B5EF4-FFF2-40B4-BE49-F238E27FC236}">
                <a16:creationId xmlns:a16="http://schemas.microsoft.com/office/drawing/2014/main" id="{BFAFFAD1-E36F-4190-8830-CD2F701B1EF0}"/>
              </a:ext>
              <a:ext uri="{C183D7F6-B498-43B3-948B-1728B52AA6E4}">
                <adec:decorative xmlns:adec="http://schemas.microsoft.com/office/drawing/2017/decorative" val="1"/>
              </a:ext>
            </a:extLst>
          </p:cNvPr>
          <p:cNvGrpSpPr/>
          <p:nvPr/>
        </p:nvGrpSpPr>
        <p:grpSpPr>
          <a:xfrm>
            <a:off x="4914414" y="625683"/>
            <a:ext cx="6746750" cy="5455380"/>
            <a:chOff x="4914414" y="625683"/>
            <a:chExt cx="6746750" cy="5455380"/>
          </a:xfrm>
        </p:grpSpPr>
        <p:pic>
          <p:nvPicPr>
            <p:cNvPr id="1026" name="Picture 2" descr="Presentation Learning icon PNG and SVG Vector Free Download">
              <a:extLst>
                <a:ext uri="{FF2B5EF4-FFF2-40B4-BE49-F238E27FC236}">
                  <a16:creationId xmlns:a16="http://schemas.microsoft.com/office/drawing/2014/main" id="{B24EBA15-BF9A-4676-A470-79F8E494611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914414" y="625683"/>
              <a:ext cx="6746750" cy="545538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87180C61-11EF-4A6D-A1C1-2AA0882C4199}"/>
                </a:ext>
              </a:extLst>
            </p:cNvPr>
            <p:cNvSpPr txBox="1"/>
            <p:nvPr/>
          </p:nvSpPr>
          <p:spPr>
            <a:xfrm>
              <a:off x="8497874" y="2370486"/>
              <a:ext cx="1865325" cy="830997"/>
            </a:xfrm>
            <a:prstGeom prst="rect">
              <a:avLst/>
            </a:prstGeom>
            <a:noFill/>
          </p:spPr>
          <p:txBody>
            <a:bodyPr wrap="square" rtlCol="0">
              <a:spAutoFit/>
            </a:bodyPr>
            <a:lstStyle/>
            <a:p>
              <a:r>
                <a:rPr lang="en-US" sz="4800" b="1" dirty="0">
                  <a:solidFill>
                    <a:srgbClr val="FF0000"/>
                  </a:solidFill>
                  <a:latin typeface="Calibri" panose="020F0502020204030204" pitchFamily="34" charset="0"/>
                </a:rPr>
                <a:t>1+1=2</a:t>
              </a:r>
            </a:p>
          </p:txBody>
        </p:sp>
      </p:grpSp>
    </p:spTree>
    <p:extLst>
      <p:ext uri="{BB962C8B-B14F-4D97-AF65-F5344CB8AC3E}">
        <p14:creationId xmlns:p14="http://schemas.microsoft.com/office/powerpoint/2010/main" val="21940634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4898" name="Rectangle 2"/>
          <p:cNvSpPr>
            <a:spLocks noGrp="1" noChangeArrowheads="1"/>
          </p:cNvSpPr>
          <p:nvPr>
            <p:ph type="title"/>
          </p:nvPr>
        </p:nvSpPr>
        <p:spPr>
          <a:xfrm>
            <a:off x="838200" y="365126"/>
            <a:ext cx="10515600" cy="912832"/>
          </a:xfrm>
        </p:spPr>
        <p:txBody>
          <a:bodyPr>
            <a:normAutofit fontScale="90000"/>
          </a:bodyPr>
          <a:lstStyle/>
          <a:p>
            <a:r>
              <a:rPr lang="en-US" dirty="0"/>
              <a:t>Supervised Learning As Function Approximation</a:t>
            </a:r>
          </a:p>
        </p:txBody>
      </p:sp>
      <mc:AlternateContent xmlns:mc="http://schemas.openxmlformats.org/markup-compatibility/2006" xmlns:a14="http://schemas.microsoft.com/office/drawing/2010/main">
        <mc:Choice Requires="a14">
          <p:sp>
            <p:nvSpPr>
              <p:cNvPr id="1104899" name="Rectangle 3"/>
              <p:cNvSpPr>
                <a:spLocks noGrp="1" noChangeArrowheads="1"/>
              </p:cNvSpPr>
              <p:nvPr>
                <p:ph idx="1"/>
              </p:nvPr>
            </p:nvSpPr>
            <p:spPr>
              <a:xfrm>
                <a:off x="1066800" y="1403053"/>
                <a:ext cx="10439400" cy="4724400"/>
              </a:xfrm>
            </p:spPr>
            <p:txBody>
              <a:bodyPr>
                <a:normAutofit fontScale="92500" lnSpcReduction="10000"/>
              </a:bodyPr>
              <a:lstStyle/>
              <a:p>
                <a:pPr marL="0" indent="0">
                  <a:lnSpc>
                    <a:spcPct val="80000"/>
                  </a:lnSpc>
                  <a:buNone/>
                </a:pPr>
                <a:r>
                  <a:rPr lang="en-US" b="1" dirty="0"/>
                  <a:t>Examples</a:t>
                </a:r>
                <a:r>
                  <a:rPr lang="en-US" dirty="0"/>
                  <a:t> </a:t>
                </a:r>
              </a:p>
              <a:p>
                <a:pPr lvl="1">
                  <a:lnSpc>
                    <a:spcPct val="80000"/>
                  </a:lnSpc>
                </a:pPr>
                <a:r>
                  <a:rPr lang="en-US" dirty="0"/>
                  <a:t>We assume there exists an unknown target function </a:t>
                </a:r>
                <a14:m>
                  <m:oMath xmlns:m="http://schemas.openxmlformats.org/officeDocument/2006/math">
                    <m:r>
                      <a:rPr lang="en-US" i="1">
                        <a:latin typeface="Cambria Math" panose="02040503050406030204" pitchFamily="18" charset="0"/>
                      </a:rPr>
                      <m:t>𝑦</m:t>
                    </m:r>
                    <m:r>
                      <a:rPr lang="en-US" i="1">
                        <a:latin typeface="Cambria Math" panose="02040503050406030204" pitchFamily="18" charset="0"/>
                      </a:rPr>
                      <m:t>=</m:t>
                    </m:r>
                    <m:r>
                      <a:rPr lang="en-US" i="1">
                        <a:latin typeface="Cambria Math" panose="02040503050406030204" pitchFamily="18" charset="0"/>
                      </a:rPr>
                      <m:t>𝑓</m:t>
                    </m:r>
                    <m:r>
                      <a:rPr lang="en-US" i="1">
                        <a:latin typeface="Cambria Math" panose="02040503050406030204" pitchFamily="18" charset="0"/>
                      </a:rPr>
                      <m:t>(</m:t>
                    </m:r>
                    <m:r>
                      <a:rPr lang="en-US" b="1" i="1">
                        <a:latin typeface="Cambria Math" panose="02040503050406030204" pitchFamily="18" charset="0"/>
                      </a:rPr>
                      <m:t>𝒙</m:t>
                    </m:r>
                    <m:r>
                      <a:rPr lang="en-US" i="1">
                        <a:latin typeface="Cambria Math" panose="02040503050406030204" pitchFamily="18" charset="0"/>
                      </a:rPr>
                      <m:t>)</m:t>
                    </m:r>
                  </m:oMath>
                </a14:m>
                <a:r>
                  <a:rPr lang="en-US" dirty="0"/>
                  <a:t> that produces </a:t>
                </a:r>
                <a:r>
                  <a:rPr lang="en-US" dirty="0" err="1"/>
                  <a:t>iid</a:t>
                </a:r>
                <a:r>
                  <a:rPr lang="en-US" dirty="0"/>
                  <a:t> (independent and identically distributed) examples, possibly with noise and errors.</a:t>
                </a:r>
              </a:p>
              <a:p>
                <a:pPr lvl="1">
                  <a:lnSpc>
                    <a:spcPct val="80000"/>
                  </a:lnSpc>
                </a:pPr>
                <a:r>
                  <a:rPr lang="en-US" dirty="0"/>
                  <a:t>Examples are observed input-output pairs </a:t>
                </a:r>
                <a14:m>
                  <m:oMath xmlns:m="http://schemas.openxmlformats.org/officeDocument/2006/math">
                    <m:r>
                      <m:rPr>
                        <m:sty m:val="p"/>
                      </m:rPr>
                      <a:rPr lang="en-US" b="0" i="0" dirty="0" smtClean="0">
                        <a:latin typeface="Cambria Math" panose="02040503050406030204" pitchFamily="18" charset="0"/>
                      </a:rPr>
                      <m:t>E</m:t>
                    </m:r>
                    <m:r>
                      <a:rPr lang="en-US" b="0" i="0" dirty="0" smtClean="0">
                        <a:latin typeface="Cambria Math" panose="02040503050406030204" pitchFamily="18" charset="0"/>
                      </a:rPr>
                      <m:t>= </m:t>
                    </m:r>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b="1" i="1" dirty="0" smtClean="0">
                                <a:latin typeface="Cambria Math" panose="02040503050406030204" pitchFamily="18" charset="0"/>
                              </a:rPr>
                              <m:t>𝒙</m:t>
                            </m:r>
                          </m:e>
                          <m:sub>
                            <m:r>
                              <a:rPr lang="en-US"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𝑦</m:t>
                            </m:r>
                          </m:e>
                          <m:sub>
                            <m:r>
                              <a:rPr lang="en-US" i="1" dirty="0" smtClean="0">
                                <a:latin typeface="Cambria Math" panose="02040503050406030204" pitchFamily="18" charset="0"/>
                              </a:rPr>
                              <m:t>1</m:t>
                            </m:r>
                          </m:sub>
                        </m:sSub>
                      </m:e>
                    </m:d>
                    <m:r>
                      <a:rPr lang="en-US" b="0" i="1" dirty="0" smtClean="0">
                        <a:latin typeface="Cambria Math" panose="02040503050406030204" pitchFamily="18" charset="0"/>
                      </a:rPr>
                      <m:t>,…, </m:t>
                    </m:r>
                    <m:d>
                      <m:dPr>
                        <m:ctrlPr>
                          <a:rPr lang="en-US" b="0" i="1" dirty="0" smtClean="0">
                            <a:latin typeface="Cambria Math" panose="02040503050406030204" pitchFamily="18" charset="0"/>
                          </a:rPr>
                        </m:ctrlPr>
                      </m:dPr>
                      <m:e>
                        <m:sSub>
                          <m:sSubPr>
                            <m:ctrlPr>
                              <a:rPr lang="en-US" b="0" i="1" dirty="0" smtClean="0">
                                <a:latin typeface="Cambria Math" panose="02040503050406030204" pitchFamily="18" charset="0"/>
                              </a:rPr>
                            </m:ctrlPr>
                          </m:sSubPr>
                          <m:e>
                            <m:r>
                              <a:rPr lang="en-US" b="1" i="1" dirty="0" smtClean="0">
                                <a:latin typeface="Cambria Math" panose="02040503050406030204" pitchFamily="18" charset="0"/>
                              </a:rPr>
                              <m:t>𝒙</m:t>
                            </m:r>
                          </m:e>
                          <m:sub>
                            <m:r>
                              <a:rPr lang="en-US" b="0" i="1" dirty="0" smtClean="0">
                                <a:latin typeface="Cambria Math" panose="02040503050406030204" pitchFamily="18" charset="0"/>
                              </a:rPr>
                              <m:t>𝑖</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𝑦</m:t>
                            </m:r>
                          </m:e>
                          <m:sub>
                            <m:r>
                              <a:rPr lang="en-US" b="0" i="1" dirty="0" smtClean="0">
                                <a:latin typeface="Cambria Math" panose="02040503050406030204" pitchFamily="18" charset="0"/>
                              </a:rPr>
                              <m:t>𝑖</m:t>
                            </m:r>
                          </m:sub>
                        </m:sSub>
                      </m:e>
                    </m:d>
                    <m:r>
                      <a:rPr lang="en-US" i="1" dirty="0" smtClean="0">
                        <a:latin typeface="Cambria Math" panose="02040503050406030204" pitchFamily="18" charset="0"/>
                      </a:rPr>
                      <m:t>,…,</m:t>
                    </m:r>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b="1" i="1" dirty="0" smtClean="0">
                                <a:latin typeface="Cambria Math" panose="02040503050406030204" pitchFamily="18" charset="0"/>
                              </a:rPr>
                              <m:t>𝒙</m:t>
                            </m:r>
                          </m:e>
                          <m:sub>
                            <m:r>
                              <a:rPr lang="en-US" i="1" dirty="0" smtClean="0">
                                <a:latin typeface="Cambria Math" panose="02040503050406030204" pitchFamily="18" charset="0"/>
                              </a:rPr>
                              <m:t>𝑁</m:t>
                            </m:r>
                          </m:sub>
                        </m:sSub>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𝑦</m:t>
                            </m:r>
                          </m:e>
                          <m:sub>
                            <m:r>
                              <a:rPr lang="en-US" i="1" dirty="0" smtClean="0">
                                <a:latin typeface="Cambria Math" panose="02040503050406030204" pitchFamily="18" charset="0"/>
                              </a:rPr>
                              <m:t>𝑁</m:t>
                            </m:r>
                          </m:sub>
                        </m:sSub>
                      </m:e>
                    </m:d>
                  </m:oMath>
                </a14:m>
                <a:r>
                  <a:rPr lang="en-US" b="0" dirty="0"/>
                  <a:t>, where </a:t>
                </a:r>
                <a14:m>
                  <m:oMath xmlns:m="http://schemas.openxmlformats.org/officeDocument/2006/math">
                    <m:sSub>
                      <m:sSubPr>
                        <m:ctrlPr>
                          <a:rPr lang="en-US" i="1" dirty="0" smtClean="0">
                            <a:latin typeface="Cambria Math" panose="02040503050406030204" pitchFamily="18" charset="0"/>
                          </a:rPr>
                        </m:ctrlPr>
                      </m:sSubPr>
                      <m:e>
                        <m:r>
                          <a:rPr lang="en-US" b="1" i="1" dirty="0" smtClean="0">
                            <a:latin typeface="Cambria Math" panose="02040503050406030204" pitchFamily="18" charset="0"/>
                          </a:rPr>
                          <m:t>𝒙</m:t>
                        </m:r>
                      </m:e>
                      <m:sub>
                        <m:r>
                          <a:rPr lang="en-US" b="0" i="1" dirty="0" smtClean="0">
                            <a:latin typeface="Cambria Math" panose="02040503050406030204" pitchFamily="18" charset="0"/>
                          </a:rPr>
                          <m:t>𝑖</m:t>
                        </m:r>
                      </m:sub>
                    </m:sSub>
                  </m:oMath>
                </a14:m>
                <a:r>
                  <a:rPr lang="en-US" dirty="0"/>
                  <a:t> </a:t>
                </a:r>
                <a:r>
                  <a:rPr lang="en-US" b="0" dirty="0"/>
                  <a:t>is a vectors called the feature vector.</a:t>
                </a:r>
              </a:p>
              <a:p>
                <a:pPr lvl="1">
                  <a:lnSpc>
                    <a:spcPct val="80000"/>
                  </a:lnSpc>
                </a:pPr>
                <a:endParaRPr lang="en-US" dirty="0"/>
              </a:p>
              <a:p>
                <a:pPr marL="0" indent="0">
                  <a:lnSpc>
                    <a:spcPct val="80000"/>
                  </a:lnSpc>
                  <a:buNone/>
                </a:pPr>
                <a:r>
                  <a:rPr lang="en-US" b="1" dirty="0"/>
                  <a:t>Learning problem</a:t>
                </a:r>
              </a:p>
              <a:p>
                <a:pPr lvl="1">
                  <a:lnSpc>
                    <a:spcPct val="80000"/>
                  </a:lnSpc>
                </a:pPr>
                <a:r>
                  <a:rPr lang="en-US" dirty="0"/>
                  <a:t>Given a hypothesis space </a:t>
                </a:r>
                <a:r>
                  <a:rPr lang="en-US" sz="2800" i="1" dirty="0">
                    <a:latin typeface="Calibri" panose="020F0502020204030204" pitchFamily="34" charset="0"/>
                  </a:rPr>
                  <a:t>H </a:t>
                </a:r>
                <a:r>
                  <a:rPr lang="en-US" dirty="0"/>
                  <a:t>of representable models.</a:t>
                </a:r>
              </a:p>
              <a:p>
                <a:pPr lvl="1">
                  <a:lnSpc>
                    <a:spcPct val="80000"/>
                  </a:lnSpc>
                </a:pPr>
                <a:r>
                  <a:rPr lang="en-US" dirty="0"/>
                  <a:t>Find a hypothesis </a:t>
                </a:r>
                <a14:m>
                  <m:oMath xmlns:m="http://schemas.openxmlformats.org/officeDocument/2006/math">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 </m:t>
                    </m:r>
                  </m:oMath>
                </a14:m>
                <a:r>
                  <a:rPr lang="en-US" dirty="0"/>
                  <a:t> such that </a:t>
                </a:r>
                <a14:m>
                  <m:oMath xmlns:m="http://schemas.openxmlformats.org/officeDocument/2006/math">
                    <m:sSub>
                      <m:sSubPr>
                        <m:ctrlPr>
                          <a:rPr lang="en-US" b="0" i="1" dirty="0" smtClean="0">
                            <a:latin typeface="Cambria Math" panose="02040503050406030204" pitchFamily="18" charset="0"/>
                          </a:rPr>
                        </m:ctrlPr>
                      </m:sSubPr>
                      <m:e>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𝑦</m:t>
                            </m:r>
                          </m:e>
                        </m:acc>
                      </m:e>
                      <m:sub>
                        <m:r>
                          <a:rPr lang="en-US" b="0" i="1" dirty="0" smtClean="0">
                            <a:latin typeface="Cambria Math" panose="02040503050406030204" pitchFamily="18" charset="0"/>
                          </a:rPr>
                          <m:t>𝑖</m:t>
                        </m:r>
                      </m:sub>
                    </m:sSub>
                    <m:r>
                      <a:rPr lang="en-US" b="0" i="1" dirty="0" smtClean="0">
                        <a:latin typeface="Cambria Math" panose="02040503050406030204" pitchFamily="18" charset="0"/>
                      </a:rPr>
                      <m:t>= </m:t>
                    </m:r>
                    <m:r>
                      <a:rPr lang="en-US" i="1" dirty="0" smtClean="0">
                        <a:latin typeface="Cambria Math" panose="02040503050406030204" pitchFamily="18" charset="0"/>
                      </a:rPr>
                      <m:t>h</m:t>
                    </m:r>
                    <m:d>
                      <m:dPr>
                        <m:ctrlPr>
                          <a:rPr lang="en-US" i="1" dirty="0" smtClean="0">
                            <a:latin typeface="Cambria Math" panose="02040503050406030204" pitchFamily="18" charset="0"/>
                          </a:rPr>
                        </m:ctrlPr>
                      </m:dPr>
                      <m:e>
                        <m:sSub>
                          <m:sSubPr>
                            <m:ctrlPr>
                              <a:rPr lang="en-US" i="1" dirty="0" err="1" smtClean="0">
                                <a:latin typeface="Cambria Math" panose="02040503050406030204" pitchFamily="18" charset="0"/>
                              </a:rPr>
                            </m:ctrlPr>
                          </m:sSubPr>
                          <m:e>
                            <m:r>
                              <a:rPr lang="en-US" b="1" i="1" dirty="0" err="1" smtClean="0">
                                <a:latin typeface="Cambria Math" panose="02040503050406030204" pitchFamily="18" charset="0"/>
                              </a:rPr>
                              <m:t>𝒙</m:t>
                            </m:r>
                          </m:e>
                          <m:sub>
                            <m:r>
                              <a:rPr lang="en-US" i="1" dirty="0" err="1" smtClean="0">
                                <a:latin typeface="Cambria Math" panose="02040503050406030204" pitchFamily="18" charset="0"/>
                              </a:rPr>
                              <m:t>𝑖</m:t>
                            </m:r>
                          </m:sub>
                        </m:sSub>
                      </m:e>
                    </m:d>
                    <m:r>
                      <a:rPr lang="en-US" i="1" dirty="0" smtClean="0">
                        <a:latin typeface="Cambria Math" panose="02040503050406030204" pitchFamily="18" charset="0"/>
                      </a:rPr>
                      <m:t> </m:t>
                    </m:r>
                    <m:r>
                      <a:rPr lang="en-US" i="1" dirty="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 </m:t>
                    </m:r>
                    <m:sSub>
                      <m:sSubPr>
                        <m:ctrlPr>
                          <a:rPr lang="en-US" i="1" dirty="0" err="1" smtClean="0">
                            <a:latin typeface="Cambria Math" panose="02040503050406030204" pitchFamily="18" charset="0"/>
                          </a:rPr>
                        </m:ctrlPr>
                      </m:sSubPr>
                      <m:e>
                        <m:r>
                          <a:rPr lang="en-US" i="1" dirty="0" err="1" smtClean="0">
                            <a:latin typeface="Cambria Math" panose="02040503050406030204" pitchFamily="18" charset="0"/>
                          </a:rPr>
                          <m:t>𝑦</m:t>
                        </m:r>
                      </m:e>
                      <m:sub>
                        <m:r>
                          <a:rPr lang="en-US" i="1" dirty="0" err="1" smtClean="0">
                            <a:latin typeface="Cambria Math" panose="02040503050406030204" pitchFamily="18" charset="0"/>
                          </a:rPr>
                          <m:t>𝑖</m:t>
                        </m:r>
                      </m:sub>
                    </m:sSub>
                    <m:r>
                      <a:rPr lang="en-US" b="0" i="1" dirty="0" smtClean="0">
                        <a:latin typeface="Cambria Math" panose="02040503050406030204" pitchFamily="18" charset="0"/>
                      </a:rPr>
                      <m:t> ∀</m:t>
                    </m:r>
                    <m:r>
                      <a:rPr lang="en-US" b="0" i="1" dirty="0" smtClean="0">
                        <a:latin typeface="Cambria Math" panose="02040503050406030204" pitchFamily="18" charset="0"/>
                      </a:rPr>
                      <m:t>𝑖</m:t>
                    </m:r>
                  </m:oMath>
                </a14:m>
                <a:endParaRPr lang="en-US" i="1" dirty="0">
                  <a:latin typeface="Calibri" panose="020F0502020204030204" pitchFamily="34" charset="0"/>
                </a:endParaRPr>
              </a:p>
              <a:p>
                <a:pPr lvl="1">
                  <a:lnSpc>
                    <a:spcPct val="80000"/>
                  </a:lnSpc>
                </a:pPr>
                <a:r>
                  <a:rPr lang="en-US" dirty="0"/>
                  <a:t>That is, we want to approximate </a:t>
                </a:r>
                <a14:m>
                  <m:oMath xmlns:m="http://schemas.openxmlformats.org/officeDocument/2006/math">
                    <m:r>
                      <a:rPr lang="en-US" i="1" dirty="0">
                        <a:latin typeface="Cambria Math" panose="02040503050406030204" pitchFamily="18" charset="0"/>
                      </a:rPr>
                      <m:t>𝑓</m:t>
                    </m:r>
                  </m:oMath>
                </a14:m>
                <a:r>
                  <a:rPr lang="en-US" dirty="0"/>
                  <a:t> by </a:t>
                </a:r>
                <a14:m>
                  <m:oMath xmlns:m="http://schemas.openxmlformats.org/officeDocument/2006/math">
                    <m:r>
                      <a:rPr lang="en-US" i="1" dirty="0">
                        <a:latin typeface="Cambria Math" panose="02040503050406030204" pitchFamily="18" charset="0"/>
                      </a:rPr>
                      <m:t>h</m:t>
                    </m:r>
                  </m:oMath>
                </a14:m>
                <a:r>
                  <a:rPr lang="en-US" dirty="0"/>
                  <a:t> using </a:t>
                </a:r>
                <a14:m>
                  <m:oMath xmlns:m="http://schemas.openxmlformats.org/officeDocument/2006/math">
                    <m:r>
                      <m:rPr>
                        <m:sty m:val="p"/>
                      </m:rPr>
                      <a:rPr lang="en-US" dirty="0">
                        <a:latin typeface="Cambria Math" panose="02040503050406030204" pitchFamily="18" charset="0"/>
                      </a:rPr>
                      <m:t>E</m:t>
                    </m:r>
                  </m:oMath>
                </a14:m>
                <a:r>
                  <a:rPr lang="en-US" dirty="0"/>
                  <a:t>. </a:t>
                </a:r>
              </a:p>
              <a:p>
                <a:pPr>
                  <a:lnSpc>
                    <a:spcPct val="80000"/>
                  </a:lnSpc>
                </a:pPr>
                <a:endParaRPr lang="en-US" dirty="0"/>
              </a:p>
              <a:p>
                <a:pPr marL="0" indent="0">
                  <a:lnSpc>
                    <a:spcPct val="80000"/>
                  </a:lnSpc>
                  <a:buNone/>
                </a:pPr>
                <a:r>
                  <a:rPr lang="en-US" b="1" dirty="0"/>
                  <a:t>Supervised learning includes</a:t>
                </a:r>
              </a:p>
              <a:p>
                <a:pPr lvl="1">
                  <a:lnSpc>
                    <a:spcPct val="80000"/>
                  </a:lnSpc>
                </a:pPr>
                <a:r>
                  <a:rPr lang="en-US" dirty="0"/>
                  <a:t>Classification: </a:t>
                </a:r>
                <a14:m>
                  <m:oMath xmlns:m="http://schemas.openxmlformats.org/officeDocument/2006/math">
                    <m:r>
                      <a:rPr lang="en-US" i="1">
                        <a:latin typeface="Cambria Math" panose="02040503050406030204" pitchFamily="18" charset="0"/>
                      </a:rPr>
                      <m:t>𝑦</m:t>
                    </m:r>
                    <m:r>
                      <a:rPr lang="en-US" i="1">
                        <a:latin typeface="Cambria Math" panose="02040503050406030204" pitchFamily="18" charset="0"/>
                      </a:rPr>
                      <m:t> </m:t>
                    </m:r>
                  </m:oMath>
                </a14:m>
                <a:r>
                  <a:rPr lang="en-US" dirty="0"/>
                  <a:t>is a class labels. E.g., </a:t>
                </a:r>
                <a14:m>
                  <m:oMath xmlns:m="http://schemas.openxmlformats.org/officeDocument/2006/math">
                    <m:r>
                      <a:rPr lang="en-US" b="1" i="1" smtClean="0">
                        <a:latin typeface="Cambria Math" panose="02040503050406030204" pitchFamily="18" charset="0"/>
                      </a:rPr>
                      <m:t>𝒙</m:t>
                    </m:r>
                  </m:oMath>
                </a14:m>
                <a:r>
                  <a:rPr lang="en-US" dirty="0"/>
                  <a:t> are percepts and </a:t>
                </a:r>
                <a14:m>
                  <m:oMath xmlns:m="http://schemas.openxmlformats.org/officeDocument/2006/math">
                    <m:r>
                      <a:rPr lang="en-US" i="1">
                        <a:latin typeface="Cambria Math" panose="02040503050406030204" pitchFamily="18" charset="0"/>
                      </a:rPr>
                      <m:t>𝑦</m:t>
                    </m:r>
                    <m:r>
                      <a:rPr lang="en-US" i="1">
                        <a:latin typeface="Cambria Math" panose="02040503050406030204" pitchFamily="18" charset="0"/>
                      </a:rPr>
                      <m:t> </m:t>
                    </m:r>
                  </m:oMath>
                </a14:m>
                <a:r>
                  <a:rPr lang="en-US" dirty="0"/>
                  <a:t>is the chosen action.</a:t>
                </a:r>
              </a:p>
              <a:p>
                <a:pPr lvl="1">
                  <a:lnSpc>
                    <a:spcPct val="80000"/>
                  </a:lnSpc>
                </a:pPr>
                <a:r>
                  <a:rPr lang="en-US" dirty="0"/>
                  <a:t>Regression: </a:t>
                </a:r>
                <a14:m>
                  <m:oMath xmlns:m="http://schemas.openxmlformats.org/officeDocument/2006/math">
                    <m:r>
                      <a:rPr lang="en-US" i="1" smtClean="0">
                        <a:latin typeface="Cambria Math" panose="02040503050406030204" pitchFamily="18" charset="0"/>
                      </a:rPr>
                      <m:t>𝑦</m:t>
                    </m:r>
                  </m:oMath>
                </a14:m>
                <a:r>
                  <a:rPr lang="en-US" dirty="0"/>
                  <a:t> is a real number. E.g., </a:t>
                </a:r>
                <a14:m>
                  <m:oMath xmlns:m="http://schemas.openxmlformats.org/officeDocument/2006/math">
                    <m:r>
                      <a:rPr lang="en-US" b="1" i="1" dirty="0">
                        <a:latin typeface="Cambria Math" panose="02040503050406030204" pitchFamily="18" charset="0"/>
                      </a:rPr>
                      <m:t>𝒙</m:t>
                    </m:r>
                  </m:oMath>
                </a14:m>
                <a:r>
                  <a:rPr lang="en-US" dirty="0"/>
                  <a:t> are state features and </a:t>
                </a:r>
                <a14:m>
                  <m:oMath xmlns:m="http://schemas.openxmlformats.org/officeDocument/2006/math">
                    <m:r>
                      <a:rPr lang="en-US" i="1">
                        <a:latin typeface="Cambria Math" panose="02040503050406030204" pitchFamily="18" charset="0"/>
                      </a:rPr>
                      <m:t>𝑦</m:t>
                    </m:r>
                    <m:r>
                      <a:rPr lang="en-US" i="1">
                        <a:latin typeface="Cambria Math" panose="02040503050406030204" pitchFamily="18" charset="0"/>
                      </a:rPr>
                      <m:t> </m:t>
                    </m:r>
                  </m:oMath>
                </a14:m>
                <a:r>
                  <a:rPr lang="en-US" dirty="0"/>
                  <a:t>is the state utility.</a:t>
                </a:r>
              </a:p>
            </p:txBody>
          </p:sp>
        </mc:Choice>
        <mc:Fallback xmlns="">
          <p:sp>
            <p:nvSpPr>
              <p:cNvPr id="1104899" name="Rectangle 3"/>
              <p:cNvSpPr>
                <a:spLocks noGrp="1" noRot="1" noChangeAspect="1" noMove="1" noResize="1" noEditPoints="1" noAdjustHandles="1" noChangeArrowheads="1" noChangeShapeType="1" noTextEdit="1"/>
              </p:cNvSpPr>
              <p:nvPr>
                <p:ph idx="1"/>
              </p:nvPr>
            </p:nvSpPr>
            <p:spPr>
              <a:xfrm>
                <a:off x="1066800" y="1403053"/>
                <a:ext cx="10439400" cy="4724400"/>
              </a:xfrm>
              <a:blipFill>
                <a:blip r:embed="rId4"/>
                <a:stretch>
                  <a:fillRect l="-1051" t="-3226"/>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33297291-B994-8026-8F56-ACEC1703708A}"/>
              </a:ext>
            </a:extLst>
          </p:cNvPr>
          <p:cNvGrpSpPr/>
          <p:nvPr/>
        </p:nvGrpSpPr>
        <p:grpSpPr>
          <a:xfrm>
            <a:off x="8798791" y="2895600"/>
            <a:ext cx="2679700" cy="2178347"/>
            <a:chOff x="8674100" y="3276599"/>
            <a:chExt cx="2679700" cy="2178347"/>
          </a:xfrm>
        </p:grpSpPr>
        <p:grpSp>
          <p:nvGrpSpPr>
            <p:cNvPr id="5" name="Group 4">
              <a:extLst>
                <a:ext uri="{FF2B5EF4-FFF2-40B4-BE49-F238E27FC236}">
                  <a16:creationId xmlns:a16="http://schemas.microsoft.com/office/drawing/2014/main" id="{BE27B559-43A9-46D3-A531-CDA612A73009}"/>
                </a:ext>
                <a:ext uri="{C183D7F6-B498-43B3-948B-1728B52AA6E4}">
                  <adec:decorative xmlns:adec="http://schemas.microsoft.com/office/drawing/2017/decorative" val="1"/>
                </a:ext>
              </a:extLst>
            </p:cNvPr>
            <p:cNvGrpSpPr/>
            <p:nvPr/>
          </p:nvGrpSpPr>
          <p:grpSpPr>
            <a:xfrm>
              <a:off x="8674100" y="3276599"/>
              <a:ext cx="2679700" cy="2178347"/>
              <a:chOff x="8674100" y="2590799"/>
              <a:chExt cx="3352800" cy="2831851"/>
            </a:xfrm>
          </p:grpSpPr>
          <p:sp>
            <p:nvSpPr>
              <p:cNvPr id="4" name="Oval 3">
                <a:extLst>
                  <a:ext uri="{FF2B5EF4-FFF2-40B4-BE49-F238E27FC236}">
                    <a16:creationId xmlns:a16="http://schemas.microsoft.com/office/drawing/2014/main" id="{400C7E3D-5406-4B36-8BEA-4977E9F815D7}"/>
                  </a:ext>
                </a:extLst>
              </p:cNvPr>
              <p:cNvSpPr/>
              <p:nvPr/>
            </p:nvSpPr>
            <p:spPr>
              <a:xfrm>
                <a:off x="8674100" y="2590799"/>
                <a:ext cx="3352800" cy="2831851"/>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1104901" name="Freeform 5"/>
              <p:cNvSpPr>
                <a:spLocks/>
              </p:cNvSpPr>
              <p:nvPr/>
            </p:nvSpPr>
            <p:spPr bwMode="auto">
              <a:xfrm>
                <a:off x="8910638" y="3369965"/>
                <a:ext cx="2947987" cy="1409700"/>
              </a:xfrm>
              <a:custGeom>
                <a:avLst/>
                <a:gdLst>
                  <a:gd name="T0" fmla="*/ 213 w 1857"/>
                  <a:gd name="T1" fmla="*/ 128 h 888"/>
                  <a:gd name="T2" fmla="*/ 80 w 1857"/>
                  <a:gd name="T3" fmla="*/ 475 h 888"/>
                  <a:gd name="T4" fmla="*/ 692 w 1857"/>
                  <a:gd name="T5" fmla="*/ 852 h 888"/>
                  <a:gd name="T6" fmla="*/ 1013 w 1857"/>
                  <a:gd name="T7" fmla="*/ 689 h 888"/>
                  <a:gd name="T8" fmla="*/ 1451 w 1857"/>
                  <a:gd name="T9" fmla="*/ 638 h 888"/>
                  <a:gd name="T10" fmla="*/ 1752 w 1857"/>
                  <a:gd name="T11" fmla="*/ 592 h 888"/>
                  <a:gd name="T12" fmla="*/ 1818 w 1857"/>
                  <a:gd name="T13" fmla="*/ 306 h 888"/>
                  <a:gd name="T14" fmla="*/ 1517 w 1857"/>
                  <a:gd name="T15" fmla="*/ 92 h 888"/>
                  <a:gd name="T16" fmla="*/ 998 w 1857"/>
                  <a:gd name="T17" fmla="*/ 6 h 888"/>
                  <a:gd name="T18" fmla="*/ 213 w 1857"/>
                  <a:gd name="T19" fmla="*/ 128 h 8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857" h="888">
                    <a:moveTo>
                      <a:pt x="213" y="128"/>
                    </a:moveTo>
                    <a:cubicBezTo>
                      <a:pt x="60" y="206"/>
                      <a:pt x="0" y="354"/>
                      <a:pt x="80" y="475"/>
                    </a:cubicBezTo>
                    <a:cubicBezTo>
                      <a:pt x="160" y="596"/>
                      <a:pt x="537" y="816"/>
                      <a:pt x="692" y="852"/>
                    </a:cubicBezTo>
                    <a:cubicBezTo>
                      <a:pt x="847" y="888"/>
                      <a:pt x="887" y="725"/>
                      <a:pt x="1013" y="689"/>
                    </a:cubicBezTo>
                    <a:cubicBezTo>
                      <a:pt x="1139" y="653"/>
                      <a:pt x="1328" y="654"/>
                      <a:pt x="1451" y="638"/>
                    </a:cubicBezTo>
                    <a:cubicBezTo>
                      <a:pt x="1574" y="622"/>
                      <a:pt x="1691" y="647"/>
                      <a:pt x="1752" y="592"/>
                    </a:cubicBezTo>
                    <a:cubicBezTo>
                      <a:pt x="1813" y="537"/>
                      <a:pt x="1857" y="389"/>
                      <a:pt x="1818" y="306"/>
                    </a:cubicBezTo>
                    <a:cubicBezTo>
                      <a:pt x="1779" y="223"/>
                      <a:pt x="1654" y="142"/>
                      <a:pt x="1517" y="92"/>
                    </a:cubicBezTo>
                    <a:cubicBezTo>
                      <a:pt x="1380" y="42"/>
                      <a:pt x="1215" y="0"/>
                      <a:pt x="998" y="6"/>
                    </a:cubicBezTo>
                    <a:cubicBezTo>
                      <a:pt x="781" y="12"/>
                      <a:pt x="366" y="50"/>
                      <a:pt x="213" y="128"/>
                    </a:cubicBezTo>
                    <a:close/>
                  </a:path>
                </a:pathLst>
              </a:custGeom>
              <a:ln>
                <a:headEnd/>
                <a:tailEn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1">
                <a:schemeClr val="accent5"/>
              </a:lnRef>
              <a:fillRef idx="2">
                <a:schemeClr val="accent5"/>
              </a:fillRef>
              <a:effectRef idx="1">
                <a:schemeClr val="accent5"/>
              </a:effectRef>
              <a:fontRef idx="minor">
                <a:schemeClr val="dk1"/>
              </a:fontRef>
            </p:style>
            <p:txBody>
              <a:bodyPr/>
              <a:lstStyle/>
              <a:p>
                <a:endParaRPr lang="en-US"/>
              </a:p>
            </p:txBody>
          </p:sp>
          <p:pic>
            <p:nvPicPr>
              <p:cNvPr id="1104904" name="Picture 8" descr="txp_fig"/>
              <p:cNvPicPr>
                <a:picLocks noChangeAspect="1" noChangeArrowheads="1"/>
              </p:cNvPicPr>
              <p:nvPr>
                <p:custDataLst>
                  <p:tags r:id="rId1"/>
                </p:custDataLst>
              </p:nvPr>
            </p:nvPicPr>
            <p:blipFill>
              <a:blip r:embed="rId5"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0312400" y="3523953"/>
                <a:ext cx="185738" cy="2540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p:sp>
            <p:nvSpPr>
              <p:cNvPr id="1104905" name="Oval 9"/>
              <p:cNvSpPr>
                <a:spLocks noChangeArrowheads="1"/>
              </p:cNvSpPr>
              <p:nvPr/>
            </p:nvSpPr>
            <p:spPr bwMode="auto">
              <a:xfrm>
                <a:off x="10328275" y="3330278"/>
                <a:ext cx="112713" cy="112712"/>
              </a:xfrm>
              <a:prstGeom prst="ellipse">
                <a:avLst/>
              </a:prstGeom>
              <a:solidFill>
                <a:srgbClr val="000000"/>
              </a:solidFill>
              <a:ln w="9525">
                <a:solidFill>
                  <a:schemeClr val="tx1"/>
                </a:solidFill>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104906" name="Oval 10"/>
              <p:cNvSpPr>
                <a:spLocks noChangeArrowheads="1"/>
              </p:cNvSpPr>
              <p:nvPr/>
            </p:nvSpPr>
            <p:spPr bwMode="auto">
              <a:xfrm>
                <a:off x="10328275" y="2876253"/>
                <a:ext cx="112713" cy="112712"/>
              </a:xfrm>
              <a:prstGeom prst="ellipse">
                <a:avLst/>
              </a:prstGeom>
              <a:solidFill>
                <a:srgbClr val="000000"/>
              </a:solidFill>
              <a:ln w="9525">
                <a:solidFill>
                  <a:schemeClr val="tx1"/>
                </a:solidFill>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pic>
            <p:nvPicPr>
              <p:cNvPr id="1104909" name="Picture 13" descr="txp_fig"/>
              <p:cNvPicPr>
                <a:picLocks noChangeAspect="1" noChangeArrowheads="1"/>
              </p:cNvPicPr>
              <p:nvPr>
                <p:custDataLst>
                  <p:tags r:id="rId2"/>
                </p:custDataLst>
              </p:nvPr>
            </p:nvPicPr>
            <p:blipFill>
              <a:blip r:embed="rId6"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9744075" y="4136728"/>
                <a:ext cx="303213" cy="23653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7DD4B3D-2CB0-4966-BB2B-CB641EA9EEE3}"/>
                      </a:ext>
                    </a:extLst>
                  </p:cNvPr>
                  <p:cNvSpPr txBox="1"/>
                  <p:nvPr/>
                </p:nvSpPr>
                <p:spPr>
                  <a:xfrm>
                    <a:off x="10388600" y="2657624"/>
                    <a:ext cx="27940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𝑓</m:t>
                          </m:r>
                        </m:oMath>
                      </m:oMathPara>
                    </a14:m>
                    <a:endParaRPr lang="en-US" sz="2400" i="1" dirty="0"/>
                  </a:p>
                </p:txBody>
              </p:sp>
            </mc:Choice>
            <mc:Fallback xmlns="">
              <p:sp>
                <p:nvSpPr>
                  <p:cNvPr id="3" name="TextBox 2">
                    <a:extLst>
                      <a:ext uri="{FF2B5EF4-FFF2-40B4-BE49-F238E27FC236}">
                        <a16:creationId xmlns:a16="http://schemas.microsoft.com/office/drawing/2014/main" id="{47DD4B3D-2CB0-4966-BB2B-CB641EA9EEE3}"/>
                      </a:ext>
                    </a:extLst>
                  </p:cNvPr>
                  <p:cNvSpPr txBox="1">
                    <a:spLocks noRot="1" noChangeAspect="1" noMove="1" noResize="1" noEditPoints="1" noAdjustHandles="1" noChangeArrowheads="1" noChangeShapeType="1" noTextEdit="1"/>
                  </p:cNvSpPr>
                  <p:nvPr/>
                </p:nvSpPr>
                <p:spPr>
                  <a:xfrm>
                    <a:off x="10388600" y="2657624"/>
                    <a:ext cx="279400" cy="461665"/>
                  </a:xfrm>
                  <a:prstGeom prst="rect">
                    <a:avLst/>
                  </a:prstGeom>
                  <a:blipFill>
                    <a:blip r:embed="rId7"/>
                    <a:stretch>
                      <a:fillRect l="-17391" r="-43478" b="-18667"/>
                    </a:stretch>
                  </a:blipFill>
                </p:spPr>
                <p:txBody>
                  <a:bodyPr/>
                  <a:lstStyle/>
                  <a:p>
                    <a:r>
                      <a:rPr lang="en-US">
                        <a:noFill/>
                      </a:rPr>
                      <a:t> </a:t>
                    </a:r>
                  </a:p>
                </p:txBody>
              </p:sp>
            </mc:Fallback>
          </mc:AlternateContent>
        </p:grpSp>
        <p:sp>
          <p:nvSpPr>
            <p:cNvPr id="2" name="TextBox 1">
              <a:extLst>
                <a:ext uri="{FF2B5EF4-FFF2-40B4-BE49-F238E27FC236}">
                  <a16:creationId xmlns:a16="http://schemas.microsoft.com/office/drawing/2014/main" id="{3061991E-4ADB-3258-6A99-6E16D1146186}"/>
                </a:ext>
              </a:extLst>
            </p:cNvPr>
            <p:cNvSpPr txBox="1"/>
            <p:nvPr/>
          </p:nvSpPr>
          <p:spPr>
            <a:xfrm>
              <a:off x="9869849" y="4737411"/>
              <a:ext cx="1141701" cy="523220"/>
            </a:xfrm>
            <a:prstGeom prst="rect">
              <a:avLst/>
            </a:prstGeom>
            <a:noFill/>
          </p:spPr>
          <p:txBody>
            <a:bodyPr wrap="square" rtlCol="0">
              <a:spAutoFit/>
            </a:bodyPr>
            <a:lstStyle/>
            <a:p>
              <a:pPr algn="ctr"/>
              <a:r>
                <a:rPr lang="en-US" sz="1400" dirty="0">
                  <a:solidFill>
                    <a:schemeClr val="bg1"/>
                  </a:solidFill>
                </a:rPr>
                <a:t>Set of all functions</a:t>
              </a:r>
            </a:p>
          </p:txBody>
        </p:sp>
      </p:grpSp>
    </p:spTree>
    <p:extLst>
      <p:ext uri="{BB962C8B-B14F-4D97-AF65-F5344CB8AC3E}">
        <p14:creationId xmlns:p14="http://schemas.microsoft.com/office/powerpoint/2010/main" val="9493737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0489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0489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0489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04899">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04899">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04899">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04899">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04899">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104899">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104899">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4899"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22" name="Rectangle 2"/>
          <p:cNvSpPr>
            <a:spLocks noGrp="1" noChangeArrowheads="1"/>
          </p:cNvSpPr>
          <p:nvPr>
            <p:ph type="title"/>
          </p:nvPr>
        </p:nvSpPr>
        <p:spPr>
          <a:xfrm>
            <a:off x="533400" y="304800"/>
            <a:ext cx="10515600" cy="1325563"/>
          </a:xfrm>
        </p:spPr>
        <p:txBody>
          <a:bodyPr/>
          <a:lstStyle/>
          <a:p>
            <a:r>
              <a:rPr lang="en-US" dirty="0"/>
              <a:t>Consistency vs. Simplicity</a:t>
            </a:r>
          </a:p>
        </p:txBody>
      </p:sp>
      <p:sp>
        <p:nvSpPr>
          <p:cNvPr id="1105923" name="Rectangle 3"/>
          <p:cNvSpPr>
            <a:spLocks noGrp="1" noChangeArrowheads="1"/>
          </p:cNvSpPr>
          <p:nvPr>
            <p:ph idx="1"/>
          </p:nvPr>
        </p:nvSpPr>
        <p:spPr>
          <a:xfrm>
            <a:off x="609600" y="1443036"/>
            <a:ext cx="11176000" cy="435816"/>
          </a:xfrm>
        </p:spPr>
        <p:txBody>
          <a:bodyPr>
            <a:normAutofit/>
          </a:bodyPr>
          <a:lstStyle/>
          <a:p>
            <a:pPr marL="0" indent="0">
              <a:lnSpc>
                <a:spcPct val="80000"/>
              </a:lnSpc>
              <a:buNone/>
            </a:pPr>
            <a:r>
              <a:rPr lang="en-US" sz="2000" dirty="0"/>
              <a:t>Example: Univariate curve fitting (regression, function approximation)</a:t>
            </a:r>
          </a:p>
        </p:txBody>
      </p:sp>
      <p:sp>
        <p:nvSpPr>
          <p:cNvPr id="5" name="TextBox 4">
            <a:extLst>
              <a:ext uri="{FF2B5EF4-FFF2-40B4-BE49-F238E27FC236}">
                <a16:creationId xmlns:a16="http://schemas.microsoft.com/office/drawing/2014/main" id="{FE19FE2A-1DB0-4405-63A3-E2082B4EBAC0}"/>
              </a:ext>
              <a:ext uri="{C183D7F6-B498-43B3-948B-1728B52AA6E4}">
                <adec:decorative xmlns:adec="http://schemas.microsoft.com/office/drawing/2017/decorative" val="1"/>
              </a:ext>
            </a:extLst>
          </p:cNvPr>
          <p:cNvSpPr txBox="1"/>
          <p:nvPr/>
        </p:nvSpPr>
        <p:spPr>
          <a:xfrm>
            <a:off x="7044121" y="1759138"/>
            <a:ext cx="3446795" cy="461665"/>
          </a:xfrm>
          <a:prstGeom prst="rect">
            <a:avLst/>
          </a:prstGeom>
          <a:noFill/>
        </p:spPr>
        <p:txBody>
          <a:bodyPr wrap="square" rtlCol="0">
            <a:spAutoFit/>
          </a:bodyPr>
          <a:lstStyle/>
          <a:p>
            <a:pPr algn="ctr"/>
            <a:r>
              <a:rPr lang="en-US" sz="2400" b="1" dirty="0"/>
              <a:t>Learned</a:t>
            </a:r>
            <a:r>
              <a:rPr lang="en-US" sz="2400" dirty="0"/>
              <a:t> </a:t>
            </a:r>
            <a:r>
              <a:rPr lang="en-US" sz="2400" b="1" dirty="0"/>
              <a:t>Models</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32553B3-7280-0537-EC51-B0829F7FA85E}"/>
                  </a:ext>
                </a:extLst>
              </p:cNvPr>
              <p:cNvSpPr txBox="1"/>
              <p:nvPr/>
            </p:nvSpPr>
            <p:spPr>
              <a:xfrm>
                <a:off x="685800" y="5715000"/>
                <a:ext cx="4677261" cy="646331"/>
              </a:xfrm>
              <a:prstGeom prst="rect">
                <a:avLst/>
              </a:prstGeom>
              <a:noFill/>
            </p:spPr>
            <p:txBody>
              <a:bodyPr wrap="square">
                <a:spAutoFit/>
              </a:bodyPr>
              <a:lstStyle/>
              <a:p>
                <a:r>
                  <a:rPr lang="en-US" b="1" dirty="0">
                    <a:solidFill>
                      <a:srgbClr val="CC0000"/>
                    </a:solidFill>
                  </a:rPr>
                  <a:t>Consistency:</a:t>
                </a:r>
                <a:r>
                  <a:rPr lang="en-US" dirty="0"/>
                  <a:t> </a:t>
                </a:r>
                <a14:m>
                  <m:oMath xmlns:m="http://schemas.openxmlformats.org/officeDocument/2006/math">
                    <m:r>
                      <a:rPr lang="en-US" i="1" dirty="0">
                        <a:latin typeface="Cambria Math" panose="02040503050406030204" pitchFamily="18" charset="0"/>
                      </a:rPr>
                      <m:t>h</m:t>
                    </m:r>
                    <m:d>
                      <m:dPr>
                        <m:ctrlPr>
                          <a:rPr lang="en-US" i="1" dirty="0">
                            <a:latin typeface="Cambria Math" panose="02040503050406030204" pitchFamily="18" charset="0"/>
                          </a:rPr>
                        </m:ctrlPr>
                      </m:dPr>
                      <m:e>
                        <m:sSub>
                          <m:sSubPr>
                            <m:ctrlPr>
                              <a:rPr lang="en-US" i="1" dirty="0" err="1">
                                <a:latin typeface="Cambria Math" panose="02040503050406030204" pitchFamily="18" charset="0"/>
                              </a:rPr>
                            </m:ctrlPr>
                          </m:sSubPr>
                          <m:e>
                            <m:r>
                              <a:rPr lang="en-US" i="1" dirty="0" err="1">
                                <a:latin typeface="Cambria Math" panose="02040503050406030204" pitchFamily="18" charset="0"/>
                              </a:rPr>
                              <m:t>𝑥</m:t>
                            </m:r>
                          </m:e>
                          <m:sub>
                            <m:r>
                              <a:rPr lang="en-US" i="1" dirty="0" err="1">
                                <a:latin typeface="Cambria Math" panose="02040503050406030204" pitchFamily="18" charset="0"/>
                              </a:rPr>
                              <m:t>𝑖</m:t>
                            </m:r>
                          </m:sub>
                        </m:sSub>
                      </m:e>
                    </m:d>
                    <m:r>
                      <a:rPr lang="en-US" i="1" dirty="0" smtClean="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 </m:t>
                    </m:r>
                    <m:sSub>
                      <m:sSubPr>
                        <m:ctrlPr>
                          <a:rPr lang="en-US" i="1" dirty="0" err="1">
                            <a:latin typeface="Cambria Math" panose="02040503050406030204" pitchFamily="18" charset="0"/>
                          </a:rPr>
                        </m:ctrlPr>
                      </m:sSubPr>
                      <m:e>
                        <m:r>
                          <a:rPr lang="en-US" i="1" dirty="0" err="1">
                            <a:latin typeface="Cambria Math" panose="02040503050406030204" pitchFamily="18" charset="0"/>
                          </a:rPr>
                          <m:t>𝑦</m:t>
                        </m:r>
                      </m:e>
                      <m:sub>
                        <m:r>
                          <a:rPr lang="en-US" i="1" dirty="0" err="1">
                            <a:latin typeface="Cambria Math" panose="02040503050406030204" pitchFamily="18" charset="0"/>
                          </a:rPr>
                          <m:t>𝑖</m:t>
                        </m:r>
                      </m:sub>
                    </m:sSub>
                  </m:oMath>
                </a14:m>
                <a:r>
                  <a:rPr lang="en-US" dirty="0"/>
                  <a:t> (minimize the error)</a:t>
                </a:r>
              </a:p>
              <a:p>
                <a:r>
                  <a:rPr lang="en-US" b="1" dirty="0">
                    <a:solidFill>
                      <a:srgbClr val="CC0000"/>
                    </a:solidFill>
                  </a:rPr>
                  <a:t>Simplicity: </a:t>
                </a:r>
                <a:r>
                  <a:rPr lang="en-US" dirty="0"/>
                  <a:t>small number of </a:t>
                </a:r>
                <a:r>
                  <a:rPr lang="en-US"/>
                  <a:t>model parameters.</a:t>
                </a:r>
                <a:endParaRPr lang="en-US" b="1" dirty="0"/>
              </a:p>
            </p:txBody>
          </p:sp>
        </mc:Choice>
        <mc:Fallback xmlns="">
          <p:sp>
            <p:nvSpPr>
              <p:cNvPr id="7" name="TextBox 6">
                <a:extLst>
                  <a:ext uri="{FF2B5EF4-FFF2-40B4-BE49-F238E27FC236}">
                    <a16:creationId xmlns:a16="http://schemas.microsoft.com/office/drawing/2014/main" id="{C32553B3-7280-0537-EC51-B0829F7FA85E}"/>
                  </a:ext>
                </a:extLst>
              </p:cNvPr>
              <p:cNvSpPr txBox="1">
                <a:spLocks noRot="1" noChangeAspect="1" noMove="1" noResize="1" noEditPoints="1" noAdjustHandles="1" noChangeArrowheads="1" noChangeShapeType="1" noTextEdit="1"/>
              </p:cNvSpPr>
              <p:nvPr/>
            </p:nvSpPr>
            <p:spPr>
              <a:xfrm>
                <a:off x="685800" y="5715000"/>
                <a:ext cx="4677261" cy="646331"/>
              </a:xfrm>
              <a:prstGeom prst="rect">
                <a:avLst/>
              </a:prstGeom>
              <a:blipFill>
                <a:blip r:embed="rId3"/>
                <a:stretch>
                  <a:fillRect l="-1173" t="-5660" b="-13208"/>
                </a:stretch>
              </a:blipFill>
            </p:spPr>
            <p:txBody>
              <a:bodyPr/>
              <a:lstStyle/>
              <a:p>
                <a:r>
                  <a:rPr lang="en-US">
                    <a:noFill/>
                  </a:rPr>
                  <a:t> </a:t>
                </a:r>
              </a:p>
            </p:txBody>
          </p:sp>
        </mc:Fallback>
      </mc:AlternateContent>
      <p:grpSp>
        <p:nvGrpSpPr>
          <p:cNvPr id="16" name="Group 15">
            <a:extLst>
              <a:ext uri="{FF2B5EF4-FFF2-40B4-BE49-F238E27FC236}">
                <a16:creationId xmlns:a16="http://schemas.microsoft.com/office/drawing/2014/main" id="{91C21A9A-D20B-D183-35F8-5F30D580A93B}"/>
              </a:ext>
            </a:extLst>
          </p:cNvPr>
          <p:cNvGrpSpPr/>
          <p:nvPr/>
        </p:nvGrpSpPr>
        <p:grpSpPr>
          <a:xfrm>
            <a:off x="671270" y="2334913"/>
            <a:ext cx="3200400" cy="2496167"/>
            <a:chOff x="671270" y="2334913"/>
            <a:chExt cx="3200400" cy="2496167"/>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79AFB5E-CD13-468E-8363-2A23CE0FB180}"/>
                    </a:ext>
                    <a:ext uri="{C183D7F6-B498-43B3-948B-1728B52AA6E4}">
                      <adec:decorative xmlns:adec="http://schemas.microsoft.com/office/drawing/2017/decorative" val="1"/>
                    </a:ext>
                  </a:extLst>
                </p:cNvPr>
                <p:cNvSpPr txBox="1"/>
                <p:nvPr/>
              </p:nvSpPr>
              <p:spPr>
                <a:xfrm>
                  <a:off x="1447800" y="2334913"/>
                  <a:ext cx="2211370" cy="461665"/>
                </a:xfrm>
                <a:prstGeom prst="rect">
                  <a:avLst/>
                </a:prstGeom>
                <a:noFill/>
              </p:spPr>
              <p:txBody>
                <a:bodyPr wrap="square" rtlCol="0">
                  <a:spAutoFit/>
                </a:bodyPr>
                <a:lstStyle/>
                <a:p>
                  <a:pPr algn="ctr"/>
                  <a:r>
                    <a:rPr lang="en-US" sz="2400" b="1" dirty="0"/>
                    <a:t>Examples </a:t>
                  </a:r>
                  <a14:m>
                    <m:oMath xmlns:m="http://schemas.openxmlformats.org/officeDocument/2006/math">
                      <m:r>
                        <a:rPr lang="en-US" sz="2400" b="0" i="1" smtClean="0">
                          <a:latin typeface="Cambria Math" panose="02040503050406030204" pitchFamily="18" charset="0"/>
                        </a:rPr>
                        <m:t>𝑓</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e>
                      </m:d>
                    </m:oMath>
                  </a14:m>
                  <a:endParaRPr lang="en-US" sz="2400" b="1" dirty="0"/>
                </a:p>
              </p:txBody>
            </p:sp>
          </mc:Choice>
          <mc:Fallback xmlns="">
            <p:sp>
              <p:nvSpPr>
                <p:cNvPr id="4" name="TextBox 3">
                  <a:extLst>
                    <a:ext uri="{FF2B5EF4-FFF2-40B4-BE49-F238E27FC236}">
                      <a16:creationId xmlns:a16="http://schemas.microsoft.com/office/drawing/2014/main" id="{F79AFB5E-CD13-468E-8363-2A23CE0FB180}"/>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447800" y="2334913"/>
                  <a:ext cx="2211370" cy="461665"/>
                </a:xfrm>
                <a:prstGeom prst="rect">
                  <a:avLst/>
                </a:prstGeom>
                <a:blipFill>
                  <a:blip r:embed="rId4"/>
                  <a:stretch>
                    <a:fillRect l="-829" t="-10526" b="-289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6" name="Chart 5">
                  <a:extLst>
                    <a:ext uri="{FF2B5EF4-FFF2-40B4-BE49-F238E27FC236}">
                      <a16:creationId xmlns:a16="http://schemas.microsoft.com/office/drawing/2014/main" id="{57023CE1-156E-25E3-3262-EE84649E0EB5}"/>
                    </a:ext>
                  </a:extLst>
                </p:cNvPr>
                <p:cNvGraphicFramePr>
                  <a:graphicFrameLocks/>
                </p:cNvGraphicFramePr>
                <p:nvPr>
                  <p:extLst>
                    <p:ext uri="{D42A27DB-BD31-4B8C-83A1-F6EECF244321}">
                      <p14:modId xmlns:p14="http://schemas.microsoft.com/office/powerpoint/2010/main" val="3339851366"/>
                    </p:ext>
                  </p:extLst>
                </p:nvPr>
              </p:nvGraphicFramePr>
              <p:xfrm>
                <a:off x="671270" y="2819400"/>
                <a:ext cx="3200400" cy="2011680"/>
              </p:xfrm>
              <a:graphic>
                <a:graphicData uri="http://schemas.openxmlformats.org/drawingml/2006/chart">
                  <c:chart xmlns:c="http://schemas.openxmlformats.org/drawingml/2006/chart" xmlns:r="http://schemas.openxmlformats.org/officeDocument/2006/relationships" r:id="rId5"/>
                </a:graphicData>
              </a:graphic>
            </p:graphicFrame>
          </mc:Choice>
          <mc:Fallback xmlns="">
            <p:graphicFrame>
              <p:nvGraphicFramePr>
                <p:cNvPr id="6" name="Chart 5">
                  <a:extLst>
                    <a:ext uri="{FF2B5EF4-FFF2-40B4-BE49-F238E27FC236}">
                      <a16:creationId xmlns:a16="http://schemas.microsoft.com/office/drawing/2014/main" id="{57023CE1-156E-25E3-3262-EE84649E0EB5}"/>
                    </a:ext>
                  </a:extLst>
                </p:cNvPr>
                <p:cNvGraphicFramePr>
                  <a:graphicFrameLocks/>
                </p:cNvGraphicFramePr>
                <p:nvPr>
                  <p:extLst>
                    <p:ext uri="{D42A27DB-BD31-4B8C-83A1-F6EECF244321}">
                      <p14:modId xmlns:p14="http://schemas.microsoft.com/office/powerpoint/2010/main" val="3339851366"/>
                    </p:ext>
                  </p:extLst>
                </p:nvPr>
              </p:nvGraphicFramePr>
              <p:xfrm>
                <a:off x="671270" y="2819400"/>
                <a:ext cx="3200400" cy="2011680"/>
              </p:xfrm>
              <a:graphic>
                <a:graphicData uri="http://schemas.openxmlformats.org/drawingml/2006/chart">
                  <c:chart xmlns:c="http://schemas.openxmlformats.org/drawingml/2006/chart" xmlns:r="http://schemas.openxmlformats.org/officeDocument/2006/relationships" r:id="rId6"/>
                </a:graphicData>
              </a:graphic>
            </p:graphicFrame>
          </mc:Fallback>
        </mc:AlternateContent>
      </p:grpSp>
      <p:graphicFrame>
        <p:nvGraphicFramePr>
          <p:cNvPr id="8" name="Chart 7">
            <a:extLst>
              <a:ext uri="{FF2B5EF4-FFF2-40B4-BE49-F238E27FC236}">
                <a16:creationId xmlns:a16="http://schemas.microsoft.com/office/drawing/2014/main" id="{3437EED3-4350-46F9-92FE-BB28F572C7E4}"/>
              </a:ext>
            </a:extLst>
          </p:cNvPr>
          <p:cNvGraphicFramePr>
            <a:graphicFrameLocks/>
          </p:cNvGraphicFramePr>
          <p:nvPr>
            <p:extLst>
              <p:ext uri="{D42A27DB-BD31-4B8C-83A1-F6EECF244321}">
                <p14:modId xmlns:p14="http://schemas.microsoft.com/office/powerpoint/2010/main" val="607132642"/>
              </p:ext>
            </p:extLst>
          </p:nvPr>
        </p:nvGraphicFramePr>
        <p:xfrm>
          <a:off x="5490919" y="2216343"/>
          <a:ext cx="3200400" cy="201168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9" name="Chart 8">
            <a:extLst>
              <a:ext uri="{FF2B5EF4-FFF2-40B4-BE49-F238E27FC236}">
                <a16:creationId xmlns:a16="http://schemas.microsoft.com/office/drawing/2014/main" id="{0BC1AD49-1820-47FA-85FF-044FF7898444}"/>
              </a:ext>
            </a:extLst>
          </p:cNvPr>
          <p:cNvGraphicFramePr>
            <a:graphicFrameLocks/>
          </p:cNvGraphicFramePr>
          <p:nvPr>
            <p:extLst>
              <p:ext uri="{D42A27DB-BD31-4B8C-83A1-F6EECF244321}">
                <p14:modId xmlns:p14="http://schemas.microsoft.com/office/powerpoint/2010/main" val="460348715"/>
              </p:ext>
            </p:extLst>
          </p:nvPr>
        </p:nvGraphicFramePr>
        <p:xfrm>
          <a:off x="8710369" y="2216343"/>
          <a:ext cx="3200400" cy="2011680"/>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13" name="Chart 12">
            <a:extLst>
              <a:ext uri="{FF2B5EF4-FFF2-40B4-BE49-F238E27FC236}">
                <a16:creationId xmlns:a16="http://schemas.microsoft.com/office/drawing/2014/main" id="{276FF3B2-62D6-4FB5-8725-7FF7F1024715}"/>
              </a:ext>
            </a:extLst>
          </p:cNvPr>
          <p:cNvGraphicFramePr>
            <a:graphicFrameLocks/>
          </p:cNvGraphicFramePr>
          <p:nvPr>
            <p:extLst>
              <p:ext uri="{D42A27DB-BD31-4B8C-83A1-F6EECF244321}">
                <p14:modId xmlns:p14="http://schemas.microsoft.com/office/powerpoint/2010/main" val="3430571812"/>
              </p:ext>
            </p:extLst>
          </p:nvPr>
        </p:nvGraphicFramePr>
        <p:xfrm>
          <a:off x="5490919" y="4240159"/>
          <a:ext cx="3200400" cy="2011680"/>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14" name="Chart 13">
            <a:extLst>
              <a:ext uri="{FF2B5EF4-FFF2-40B4-BE49-F238E27FC236}">
                <a16:creationId xmlns:a16="http://schemas.microsoft.com/office/drawing/2014/main" id="{99576951-4AD0-49AB-A1CA-7C4BF652AF30}"/>
              </a:ext>
            </a:extLst>
          </p:cNvPr>
          <p:cNvGraphicFramePr>
            <a:graphicFrameLocks/>
          </p:cNvGraphicFramePr>
          <p:nvPr>
            <p:extLst>
              <p:ext uri="{D42A27DB-BD31-4B8C-83A1-F6EECF244321}">
                <p14:modId xmlns:p14="http://schemas.microsoft.com/office/powerpoint/2010/main" val="1625978830"/>
              </p:ext>
            </p:extLst>
          </p:nvPr>
        </p:nvGraphicFramePr>
        <p:xfrm>
          <a:off x="8710369" y="4240159"/>
          <a:ext cx="3200400" cy="2011680"/>
        </p:xfrm>
        <a:graphic>
          <a:graphicData uri="http://schemas.openxmlformats.org/drawingml/2006/chart">
            <c:chart xmlns:c="http://schemas.openxmlformats.org/drawingml/2006/chart" xmlns:r="http://schemas.openxmlformats.org/officeDocument/2006/relationships" r:id="rId10"/>
          </a:graphicData>
        </a:graphic>
      </p:graphicFrame>
      <p:sp>
        <p:nvSpPr>
          <p:cNvPr id="15" name="Arrow: Right 14">
            <a:extLst>
              <a:ext uri="{FF2B5EF4-FFF2-40B4-BE49-F238E27FC236}">
                <a16:creationId xmlns:a16="http://schemas.microsoft.com/office/drawing/2014/main" id="{258BF375-5454-5892-433A-F2773D78BF44}"/>
              </a:ext>
            </a:extLst>
          </p:cNvPr>
          <p:cNvSpPr/>
          <p:nvPr/>
        </p:nvSpPr>
        <p:spPr>
          <a:xfrm>
            <a:off x="4267200" y="3276600"/>
            <a:ext cx="1066800" cy="7620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3710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Graphic spid="8" grpId="0">
        <p:bldAsOne/>
      </p:bldGraphic>
      <p:bldGraphic spid="9" grpId="0">
        <p:bldAsOne/>
      </p:bldGraphic>
      <p:bldGraphic spid="13" grpId="0">
        <p:bldAsOne/>
      </p:bldGraphic>
      <p:bldGraphic spid="14" grpId="0">
        <p:bldAsOne/>
      </p:bldGraphic>
      <p:bldP spid="1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935EFA-B760-4599-A4AE-897C90016681}"/>
              </a:ext>
            </a:extLst>
          </p:cNvPr>
          <p:cNvSpPr>
            <a:spLocks noGrp="1"/>
          </p:cNvSpPr>
          <p:nvPr>
            <p:ph type="title"/>
          </p:nvPr>
        </p:nvSpPr>
        <p:spPr/>
        <p:txBody>
          <a:bodyPr/>
          <a:lstStyle/>
          <a:p>
            <a:r>
              <a:rPr lang="en-US" dirty="0"/>
              <a:t>Measuring Consistency using Loss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E1CDDD-17A2-49AA-878D-47EFE49513D8}"/>
                  </a:ext>
                </a:extLst>
              </p:cNvPr>
              <p:cNvSpPr>
                <a:spLocks noGrp="1"/>
              </p:cNvSpPr>
              <p:nvPr>
                <p:ph idx="1"/>
              </p:nvPr>
            </p:nvSpPr>
            <p:spPr>
              <a:xfrm>
                <a:off x="838200" y="1447800"/>
                <a:ext cx="10515600" cy="3427413"/>
              </a:xfrm>
            </p:spPr>
            <p:txBody>
              <a:bodyPr>
                <a:noAutofit/>
              </a:bodyPr>
              <a:lstStyle/>
              <a:p>
                <a:pPr marL="0" indent="0">
                  <a:buNone/>
                </a:pPr>
                <a:r>
                  <a:rPr lang="en-US" sz="2400" b="1" dirty="0">
                    <a:solidFill>
                      <a:srgbClr val="FF0000"/>
                    </a:solidFill>
                  </a:rPr>
                  <a:t>Goal of learning</a:t>
                </a:r>
                <a:r>
                  <a:rPr lang="en-US" sz="2400" dirty="0"/>
                  <a:t>: Find a  hypothesis that makes predictions that are consistent with the examples </a:t>
                </a:r>
                <a14:m>
                  <m:oMath xmlns:m="http://schemas.openxmlformats.org/officeDocument/2006/math">
                    <m:r>
                      <m:rPr>
                        <m:sty m:val="p"/>
                      </m:rPr>
                      <a:rPr lang="en-US" sz="2400" dirty="0">
                        <a:latin typeface="Cambria Math" panose="02040503050406030204" pitchFamily="18" charset="0"/>
                      </a:rPr>
                      <m:t>E</m:t>
                    </m:r>
                    <m:r>
                      <a:rPr lang="en-US" sz="2400" dirty="0">
                        <a:latin typeface="Cambria Math" panose="02040503050406030204" pitchFamily="18" charset="0"/>
                      </a:rPr>
                      <m:t>= </m:t>
                    </m:r>
                    <m:d>
                      <m:dPr>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b="1" i="1" dirty="0">
                                <a:latin typeface="Cambria Math" panose="02040503050406030204" pitchFamily="18" charset="0"/>
                              </a:rPr>
                              <m:t>𝒙</m:t>
                            </m:r>
                          </m:e>
                          <m:sub>
                            <m:r>
                              <a:rPr lang="en-US" sz="2400" i="1" dirty="0">
                                <a:latin typeface="Cambria Math" panose="02040503050406030204" pitchFamily="18" charset="0"/>
                              </a:rPr>
                              <m:t>1</m:t>
                            </m:r>
                          </m:sub>
                        </m:sSub>
                        <m:r>
                          <a:rPr lang="en-US" sz="2400" i="1" dirty="0">
                            <a:latin typeface="Cambria Math" panose="02040503050406030204" pitchFamily="18" charset="0"/>
                          </a:rPr>
                          <m:t>,</m:t>
                        </m:r>
                        <m:sSub>
                          <m:sSubPr>
                            <m:ctrlPr>
                              <a:rPr lang="en-US" sz="2400" i="1" dirty="0">
                                <a:latin typeface="Cambria Math" panose="02040503050406030204" pitchFamily="18" charset="0"/>
                              </a:rPr>
                            </m:ctrlPr>
                          </m:sSubPr>
                          <m:e>
                            <m:r>
                              <a:rPr lang="en-US" sz="2400" i="1" dirty="0">
                                <a:latin typeface="Cambria Math" panose="02040503050406030204" pitchFamily="18" charset="0"/>
                              </a:rPr>
                              <m:t>𝑦</m:t>
                            </m:r>
                          </m:e>
                          <m:sub>
                            <m:r>
                              <a:rPr lang="en-US" sz="2400" i="1" dirty="0">
                                <a:latin typeface="Cambria Math" panose="02040503050406030204" pitchFamily="18" charset="0"/>
                              </a:rPr>
                              <m:t>1</m:t>
                            </m:r>
                          </m:sub>
                        </m:sSub>
                      </m:e>
                    </m:d>
                    <m:r>
                      <a:rPr lang="en-US" sz="2400" i="1" dirty="0">
                        <a:latin typeface="Cambria Math" panose="02040503050406030204" pitchFamily="18" charset="0"/>
                      </a:rPr>
                      <m:t>,…, </m:t>
                    </m:r>
                    <m:d>
                      <m:dPr>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b="1" i="1" dirty="0">
                                <a:latin typeface="Cambria Math" panose="02040503050406030204" pitchFamily="18" charset="0"/>
                              </a:rPr>
                              <m:t>𝒙</m:t>
                            </m:r>
                          </m:e>
                          <m:sub>
                            <m:r>
                              <a:rPr lang="en-US" sz="2400" i="1" dirty="0">
                                <a:latin typeface="Cambria Math" panose="02040503050406030204" pitchFamily="18" charset="0"/>
                              </a:rPr>
                              <m:t>𝑖</m:t>
                            </m:r>
                          </m:sub>
                        </m:sSub>
                        <m:r>
                          <a:rPr lang="en-US" sz="2400" i="1" dirty="0">
                            <a:latin typeface="Cambria Math" panose="02040503050406030204" pitchFamily="18" charset="0"/>
                          </a:rPr>
                          <m:t>, </m:t>
                        </m:r>
                        <m:sSub>
                          <m:sSubPr>
                            <m:ctrlPr>
                              <a:rPr lang="en-US" sz="2400" i="1" dirty="0">
                                <a:latin typeface="Cambria Math" panose="02040503050406030204" pitchFamily="18" charset="0"/>
                              </a:rPr>
                            </m:ctrlPr>
                          </m:sSubPr>
                          <m:e>
                            <m:r>
                              <a:rPr lang="en-US" sz="2400" i="1" dirty="0">
                                <a:latin typeface="Cambria Math" panose="02040503050406030204" pitchFamily="18" charset="0"/>
                              </a:rPr>
                              <m:t>𝑦</m:t>
                            </m:r>
                          </m:e>
                          <m:sub>
                            <m:r>
                              <a:rPr lang="en-US" sz="2400" i="1" dirty="0">
                                <a:latin typeface="Cambria Math" panose="02040503050406030204" pitchFamily="18" charset="0"/>
                              </a:rPr>
                              <m:t>𝑖</m:t>
                            </m:r>
                          </m:sub>
                        </m:sSub>
                      </m:e>
                    </m:d>
                    <m:r>
                      <a:rPr lang="en-US" sz="2400" i="1" dirty="0">
                        <a:latin typeface="Cambria Math" panose="02040503050406030204" pitchFamily="18" charset="0"/>
                      </a:rPr>
                      <m:t>,…,</m:t>
                    </m:r>
                    <m:d>
                      <m:dPr>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b="1" i="1" dirty="0">
                                <a:latin typeface="Cambria Math" panose="02040503050406030204" pitchFamily="18" charset="0"/>
                              </a:rPr>
                              <m:t>𝒙</m:t>
                            </m:r>
                          </m:e>
                          <m:sub>
                            <m:r>
                              <a:rPr lang="en-US" sz="2400" i="1" dirty="0">
                                <a:latin typeface="Cambria Math" panose="02040503050406030204" pitchFamily="18" charset="0"/>
                              </a:rPr>
                              <m:t>𝑁</m:t>
                            </m:r>
                          </m:sub>
                        </m:sSub>
                        <m:r>
                          <a:rPr lang="en-US" sz="2400" i="1" dirty="0">
                            <a:latin typeface="Cambria Math" panose="02040503050406030204" pitchFamily="18" charset="0"/>
                          </a:rPr>
                          <m:t>,</m:t>
                        </m:r>
                        <m:sSub>
                          <m:sSubPr>
                            <m:ctrlPr>
                              <a:rPr lang="en-US" sz="2400" i="1" dirty="0">
                                <a:latin typeface="Cambria Math" panose="02040503050406030204" pitchFamily="18" charset="0"/>
                              </a:rPr>
                            </m:ctrlPr>
                          </m:sSubPr>
                          <m:e>
                            <m:r>
                              <a:rPr lang="en-US" sz="2400" i="1" dirty="0">
                                <a:latin typeface="Cambria Math" panose="02040503050406030204" pitchFamily="18" charset="0"/>
                              </a:rPr>
                              <m:t>𝑦</m:t>
                            </m:r>
                          </m:e>
                          <m:sub>
                            <m:r>
                              <a:rPr lang="en-US" sz="2400" i="1" dirty="0">
                                <a:latin typeface="Cambria Math" panose="02040503050406030204" pitchFamily="18" charset="0"/>
                              </a:rPr>
                              <m:t>𝑁</m:t>
                            </m:r>
                          </m:sub>
                        </m:sSub>
                      </m:e>
                    </m:d>
                  </m:oMath>
                </a14:m>
                <a:r>
                  <a:rPr lang="en-US" sz="2400" dirty="0"/>
                  <a:t>.</a:t>
                </a:r>
              </a:p>
              <a:p>
                <a:pPr marL="0" indent="0">
                  <a:buNone/>
                </a:pPr>
                <a:r>
                  <a:rPr lang="en-US" sz="2400" dirty="0"/>
                  <a:t>That is, 			</a:t>
                </a:r>
                <a14:m>
                  <m:oMath xmlns:m="http://schemas.openxmlformats.org/officeDocument/2006/math">
                    <m:acc>
                      <m:accPr>
                        <m:chr m:val="̂"/>
                        <m:ctrlPr>
                          <a:rPr lang="en-US" sz="2400" b="0" i="1" dirty="0" smtClean="0">
                            <a:latin typeface="Cambria Math" panose="02040503050406030204" pitchFamily="18" charset="0"/>
                          </a:rPr>
                        </m:ctrlPr>
                      </m:accPr>
                      <m:e>
                        <m:r>
                          <a:rPr lang="en-US" sz="2400" b="0" i="1" dirty="0" smtClean="0">
                            <a:latin typeface="Cambria Math" panose="02040503050406030204" pitchFamily="18" charset="0"/>
                          </a:rPr>
                          <m:t>𝑦</m:t>
                        </m:r>
                      </m:e>
                    </m:acc>
                    <m:r>
                      <a:rPr lang="en-US" sz="2400" b="0" i="1" dirty="0" smtClean="0">
                        <a:latin typeface="Cambria Math" panose="02040503050406030204" pitchFamily="18" charset="0"/>
                      </a:rPr>
                      <m:t>=</m:t>
                    </m:r>
                    <m:r>
                      <a:rPr lang="en-US" sz="2400" i="1" dirty="0">
                        <a:latin typeface="Cambria Math" panose="02040503050406030204" pitchFamily="18" charset="0"/>
                      </a:rPr>
                      <m:t>h</m:t>
                    </m:r>
                    <m:d>
                      <m:dPr>
                        <m:ctrlPr>
                          <a:rPr lang="en-US" sz="2400" i="1" dirty="0">
                            <a:latin typeface="Cambria Math" panose="02040503050406030204" pitchFamily="18" charset="0"/>
                          </a:rPr>
                        </m:ctrlPr>
                      </m:dPr>
                      <m:e>
                        <m:r>
                          <a:rPr lang="en-US" sz="2400" b="1" i="1" dirty="0" smtClean="0">
                            <a:latin typeface="Cambria Math" panose="02040503050406030204" pitchFamily="18" charset="0"/>
                          </a:rPr>
                          <m:t>𝒙</m:t>
                        </m:r>
                      </m:e>
                    </m:d>
                    <m:r>
                      <a:rPr lang="en-US" sz="2400" i="1" dirty="0">
                        <a:latin typeface="Cambria Math" panose="02040503050406030204" pitchFamily="18" charset="0"/>
                        <a:ea typeface="Cambria Math" panose="02040503050406030204" pitchFamily="18" charset="0"/>
                      </a:rPr>
                      <m:t>≈</m:t>
                    </m:r>
                    <m:r>
                      <a:rPr lang="en-US" sz="2400" b="0" i="1" dirty="0" smtClean="0">
                        <a:latin typeface="Cambria Math" panose="02040503050406030204" pitchFamily="18" charset="0"/>
                      </a:rPr>
                      <m:t>𝑦</m:t>
                    </m:r>
                    <m:r>
                      <a:rPr lang="en-US" sz="2400" b="0" i="0" dirty="0" smtClean="0">
                        <a:latin typeface="Cambria Math" panose="02040503050406030204" pitchFamily="18" charset="0"/>
                      </a:rPr>
                      <m:t>.</m:t>
                    </m:r>
                  </m:oMath>
                </a14:m>
                <a:endParaRPr lang="en-US" sz="2400" dirty="0"/>
              </a:p>
              <a:p>
                <a:endParaRPr lang="en-US" sz="2400" b="1" dirty="0"/>
              </a:p>
              <a:p>
                <a:pPr marL="0" indent="0">
                  <a:buNone/>
                </a:pPr>
                <a:r>
                  <a:rPr lang="en-US" sz="2400" b="1" dirty="0"/>
                  <a:t>Measure mistakes: </a:t>
                </a:r>
                <a:r>
                  <a:rPr lang="en-US" sz="2400" dirty="0"/>
                  <a:t>Loss function </a:t>
                </a:r>
                <a14:m>
                  <m:oMath xmlns:m="http://schemas.openxmlformats.org/officeDocument/2006/math">
                    <m:r>
                      <a:rPr lang="en-US" sz="2400" b="0" i="1" smtClean="0">
                        <a:latin typeface="Cambria Math" panose="02040503050406030204" pitchFamily="18" charset="0"/>
                      </a:rPr>
                      <m:t>𝐿</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𝑦</m:t>
                        </m:r>
                        <m:r>
                          <a:rPr lang="en-US" sz="2400" b="0" i="1" smtClean="0">
                            <a:latin typeface="Cambria Math" panose="02040503050406030204" pitchFamily="18" charset="0"/>
                          </a:rPr>
                          <m:t>, </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𝑦</m:t>
                            </m:r>
                          </m:e>
                        </m:acc>
                      </m:e>
                    </m:d>
                    <m:r>
                      <a:rPr lang="en-US" sz="2400" b="0" i="0" smtClean="0">
                        <a:latin typeface="Cambria Math" panose="02040503050406030204" pitchFamily="18" charset="0"/>
                      </a:rPr>
                      <m:t>=</m:t>
                    </m:r>
                    <m:r>
                      <a:rPr lang="en-US" sz="2400" b="0" i="1" smtClean="0">
                        <a:latin typeface="Cambria Math" panose="02040503050406030204" pitchFamily="18" charset="0"/>
                      </a:rPr>
                      <m:t>𝐿</m:t>
                    </m:r>
                    <m:r>
                      <a:rPr lang="en-US" sz="2400" b="0" i="1" smtClean="0">
                        <a:latin typeface="Cambria Math" panose="02040503050406030204" pitchFamily="18" charset="0"/>
                      </a:rPr>
                      <m:t>(</m:t>
                    </m:r>
                    <m:r>
                      <a:rPr lang="en-US" sz="2400" b="0" i="1" smtClean="0">
                        <a:latin typeface="Cambria Math" panose="02040503050406030204" pitchFamily="18" charset="0"/>
                      </a:rPr>
                      <m:t>𝑓</m:t>
                    </m:r>
                    <m:r>
                      <a:rPr lang="en-US" sz="2400" b="0" i="1" smtClean="0">
                        <a:latin typeface="Cambria Math" panose="02040503050406030204" pitchFamily="18" charset="0"/>
                      </a:rPr>
                      <m:t>(</m:t>
                    </m:r>
                    <m:r>
                      <a:rPr lang="en-US" sz="2400" b="1" i="1" smtClean="0">
                        <a:latin typeface="Cambria Math" panose="02040503050406030204" pitchFamily="18" charset="0"/>
                      </a:rPr>
                      <m:t>𝒙</m:t>
                    </m:r>
                    <m:r>
                      <a:rPr lang="en-US" sz="2400" b="0" i="1" smtClean="0">
                        <a:latin typeface="Cambria Math" panose="02040503050406030204" pitchFamily="18" charset="0"/>
                      </a:rPr>
                      <m:t>), </m:t>
                    </m:r>
                    <m:r>
                      <a:rPr lang="en-US" sz="2400" b="0" i="1" smtClean="0">
                        <a:latin typeface="Cambria Math" panose="02040503050406030204" pitchFamily="18" charset="0"/>
                      </a:rPr>
                      <m:t>h</m:t>
                    </m:r>
                    <m:r>
                      <a:rPr lang="en-US" sz="2400" b="0" i="1" smtClean="0">
                        <a:latin typeface="Cambria Math" panose="02040503050406030204" pitchFamily="18" charset="0"/>
                      </a:rPr>
                      <m:t>(</m:t>
                    </m:r>
                    <m:r>
                      <a:rPr lang="en-US" sz="2400" b="1" i="1" smtClean="0">
                        <a:latin typeface="Cambria Math" panose="02040503050406030204" pitchFamily="18" charset="0"/>
                      </a:rPr>
                      <m:t>𝒙</m:t>
                    </m:r>
                    <m:r>
                      <a:rPr lang="en-US" sz="2400" b="0" i="1" smtClean="0">
                        <a:latin typeface="Cambria Math" panose="02040503050406030204" pitchFamily="18" charset="0"/>
                      </a:rPr>
                      <m:t>))</m:t>
                    </m:r>
                  </m:oMath>
                </a14:m>
                <a:endParaRPr lang="en-US" sz="2400" i="1" dirty="0"/>
              </a:p>
              <a:p>
                <a:pPr lvl="1"/>
                <a:r>
                  <a:rPr lang="en-US" sz="2000" dirty="0"/>
                  <a:t>Absolute-value loss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𝐿</m:t>
                        </m:r>
                      </m:e>
                      <m:sub>
                        <m:r>
                          <a:rPr lang="en-US" sz="2000" b="0" i="1" smtClean="0">
                            <a:latin typeface="Cambria Math" panose="02040503050406030204" pitchFamily="18" charset="0"/>
                          </a:rPr>
                          <m:t>1</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𝑦</m:t>
                        </m:r>
                        <m:r>
                          <a:rPr lang="en-US" sz="2000" b="0" i="1" smtClean="0">
                            <a:latin typeface="Cambria Math" panose="02040503050406030204" pitchFamily="18" charset="0"/>
                          </a:rPr>
                          <m:t>, </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e>
                    </m:d>
                    <m:r>
                      <a:rPr lang="en-US" sz="2000" b="0" i="1" smtClean="0">
                        <a:latin typeface="Cambria Math" panose="02040503050406030204" pitchFamily="18" charset="0"/>
                      </a:rPr>
                      <m:t>=|</m:t>
                    </m:r>
                    <m:r>
                      <a:rPr lang="en-US" sz="2000" b="0" i="1" smtClean="0">
                        <a:latin typeface="Cambria Math" panose="02040503050406030204" pitchFamily="18" charset="0"/>
                      </a:rPr>
                      <m:t>𝑦</m:t>
                    </m:r>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r>
                      <a:rPr lang="en-US" sz="2000" b="0" i="1" smtClean="0">
                        <a:latin typeface="Cambria Math" panose="02040503050406030204" pitchFamily="18" charset="0"/>
                      </a:rPr>
                      <m:t>|</m:t>
                    </m:r>
                  </m:oMath>
                </a14:m>
                <a:endParaRPr lang="en-US" sz="2000" dirty="0"/>
              </a:p>
              <a:p>
                <a:pPr lvl="1"/>
                <a:r>
                  <a:rPr lang="en-US" sz="2000" dirty="0"/>
                  <a:t>Squared-error loss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𝐿</m:t>
                        </m:r>
                      </m:e>
                      <m:sub>
                        <m:r>
                          <a:rPr lang="en-US" sz="2000" b="0" i="1" smtClean="0">
                            <a:latin typeface="Cambria Math" panose="02040503050406030204" pitchFamily="18" charset="0"/>
                          </a:rPr>
                          <m:t>2</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𝑦</m:t>
                        </m:r>
                        <m:r>
                          <a:rPr lang="en-US" sz="2000" b="0" i="1" smtClean="0">
                            <a:latin typeface="Cambria Math" panose="02040503050406030204" pitchFamily="18" charset="0"/>
                          </a:rPr>
                          <m:t>, </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e>
                    </m:d>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𝑦</m:t>
                            </m:r>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e>
                        </m:d>
                      </m:e>
                      <m:sup>
                        <m:r>
                          <a:rPr lang="en-US" sz="2000" b="0" i="1" smtClean="0">
                            <a:latin typeface="Cambria Math" panose="02040503050406030204" pitchFamily="18" charset="0"/>
                          </a:rPr>
                          <m:t>2</m:t>
                        </m:r>
                      </m:sup>
                    </m:sSup>
                  </m:oMath>
                </a14:m>
                <a:endParaRPr lang="en-US" sz="2000" dirty="0"/>
              </a:p>
              <a:p>
                <a:pPr lvl="1"/>
                <a:r>
                  <a:rPr lang="en-US" sz="2000" dirty="0"/>
                  <a:t>0/1 loss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𝐿</m:t>
                        </m:r>
                      </m:e>
                      <m:sub>
                        <m:r>
                          <a:rPr lang="en-US" sz="2000" b="0" i="1" smtClean="0">
                            <a:latin typeface="Cambria Math" panose="02040503050406030204" pitchFamily="18" charset="0"/>
                          </a:rPr>
                          <m:t>0/1</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𝑦</m:t>
                        </m:r>
                        <m:r>
                          <a:rPr lang="en-US" sz="2000" b="0" i="1" smtClean="0">
                            <a:latin typeface="Cambria Math" panose="02040503050406030204" pitchFamily="18" charset="0"/>
                          </a:rPr>
                          <m:t>, </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e>
                    </m:d>
                    <m:r>
                      <a:rPr lang="en-US" sz="2000" b="0" i="1" smtClean="0">
                        <a:latin typeface="Cambria Math" panose="02040503050406030204" pitchFamily="18" charset="0"/>
                      </a:rPr>
                      <m:t>=0 </m:t>
                    </m:r>
                    <m:r>
                      <m:rPr>
                        <m:sty m:val="p"/>
                      </m:rPr>
                      <a:rPr lang="en-US" sz="2000" b="0" i="0" smtClean="0">
                        <a:latin typeface="Cambria Math" panose="02040503050406030204" pitchFamily="18" charset="0"/>
                      </a:rPr>
                      <m:t>if</m:t>
                    </m:r>
                    <m:r>
                      <a:rPr lang="en-US" sz="2000" b="0" i="1" smtClean="0">
                        <a:latin typeface="Cambria Math" panose="02040503050406030204" pitchFamily="18" charset="0"/>
                      </a:rPr>
                      <m:t> </m:t>
                    </m:r>
                    <m:r>
                      <a:rPr lang="en-US" sz="2000" b="0" i="1" smtClean="0">
                        <a:latin typeface="Cambria Math" panose="02040503050406030204" pitchFamily="18" charset="0"/>
                      </a:rPr>
                      <m:t>𝑦</m:t>
                    </m:r>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r>
                      <a:rPr lang="en-US" sz="2000" b="0" i="1" smtClean="0">
                        <a:latin typeface="Cambria Math" panose="02040503050406030204" pitchFamily="18" charset="0"/>
                      </a:rPr>
                      <m:t>, </m:t>
                    </m:r>
                    <m:r>
                      <m:rPr>
                        <m:sty m:val="p"/>
                      </m:rPr>
                      <a:rPr lang="en-US" sz="2000" b="0" i="0" smtClean="0">
                        <a:latin typeface="Cambria Math" panose="02040503050406030204" pitchFamily="18" charset="0"/>
                      </a:rPr>
                      <m:t>else</m:t>
                    </m:r>
                    <m:r>
                      <a:rPr lang="en-US" sz="2000" b="0" i="1" smtClean="0">
                        <a:latin typeface="Cambria Math" panose="02040503050406030204" pitchFamily="18" charset="0"/>
                      </a:rPr>
                      <m:t> 1</m:t>
                    </m:r>
                  </m:oMath>
                </a14:m>
                <a:endParaRPr lang="en-US" sz="2000" dirty="0"/>
              </a:p>
              <a:p>
                <a:pPr lvl="1"/>
                <a:r>
                  <a:rPr lang="en-US" sz="2000" dirty="0"/>
                  <a:t>Cross-entropy loss and many others… </a:t>
                </a:r>
              </a:p>
            </p:txBody>
          </p:sp>
        </mc:Choice>
        <mc:Fallback xmlns="">
          <p:sp>
            <p:nvSpPr>
              <p:cNvPr id="3" name="Content Placeholder 2">
                <a:extLst>
                  <a:ext uri="{FF2B5EF4-FFF2-40B4-BE49-F238E27FC236}">
                    <a16:creationId xmlns:a16="http://schemas.microsoft.com/office/drawing/2014/main" id="{9BE1CDDD-17A2-49AA-878D-47EFE49513D8}"/>
                  </a:ext>
                </a:extLst>
              </p:cNvPr>
              <p:cNvSpPr>
                <a:spLocks noGrp="1" noRot="1" noChangeAspect="1" noMove="1" noResize="1" noEditPoints="1" noAdjustHandles="1" noChangeArrowheads="1" noChangeShapeType="1" noTextEdit="1"/>
              </p:cNvSpPr>
              <p:nvPr>
                <p:ph idx="1"/>
              </p:nvPr>
            </p:nvSpPr>
            <p:spPr>
              <a:xfrm>
                <a:off x="838200" y="1447800"/>
                <a:ext cx="10515600" cy="3427413"/>
              </a:xfrm>
              <a:blipFill>
                <a:blip r:embed="rId3"/>
                <a:stretch>
                  <a:fillRect l="-928" t="-2491" r="-754" b="-4982"/>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74E6BA6B-A1C4-CCB8-DDF4-2762DFBDCC96}"/>
              </a:ext>
            </a:extLst>
          </p:cNvPr>
          <p:cNvGrpSpPr/>
          <p:nvPr/>
        </p:nvGrpSpPr>
        <p:grpSpPr>
          <a:xfrm>
            <a:off x="6096000" y="3635075"/>
            <a:ext cx="1898119" cy="539234"/>
            <a:chOff x="8073674" y="3497305"/>
            <a:chExt cx="1898119" cy="539234"/>
          </a:xfrm>
        </p:grpSpPr>
        <p:sp>
          <p:nvSpPr>
            <p:cNvPr id="4" name="Right Brace 3">
              <a:extLst>
                <a:ext uri="{FF2B5EF4-FFF2-40B4-BE49-F238E27FC236}">
                  <a16:creationId xmlns:a16="http://schemas.microsoft.com/office/drawing/2014/main" id="{E0D52B33-9224-4EC5-B7DB-3A04C235E02F}"/>
                </a:ext>
                <a:ext uri="{C183D7F6-B498-43B3-948B-1728B52AA6E4}">
                  <adec:decorative xmlns:adec="http://schemas.microsoft.com/office/drawing/2017/decorative" val="1"/>
                </a:ext>
              </a:extLst>
            </p:cNvPr>
            <p:cNvSpPr/>
            <p:nvPr/>
          </p:nvSpPr>
          <p:spPr>
            <a:xfrm>
              <a:off x="8073674" y="3497305"/>
              <a:ext cx="228600" cy="53923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59B19F70-3FB9-4505-8B33-07D185D2B5D2}"/>
                </a:ext>
              </a:extLst>
            </p:cNvPr>
            <p:cNvSpPr txBox="1"/>
            <p:nvPr/>
          </p:nvSpPr>
          <p:spPr>
            <a:xfrm>
              <a:off x="8295393" y="3584317"/>
              <a:ext cx="1676400" cy="369332"/>
            </a:xfrm>
            <a:prstGeom prst="rect">
              <a:avLst/>
            </a:prstGeom>
            <a:noFill/>
          </p:spPr>
          <p:txBody>
            <a:bodyPr wrap="square" rtlCol="0">
              <a:spAutoFit/>
            </a:bodyPr>
            <a:lstStyle/>
            <a:p>
              <a:r>
                <a:rPr lang="en-US" dirty="0"/>
                <a:t>For Regression</a:t>
              </a:r>
            </a:p>
          </p:txBody>
        </p:sp>
      </p:grpSp>
      <p:grpSp>
        <p:nvGrpSpPr>
          <p:cNvPr id="19" name="Group 18">
            <a:extLst>
              <a:ext uri="{FF2B5EF4-FFF2-40B4-BE49-F238E27FC236}">
                <a16:creationId xmlns:a16="http://schemas.microsoft.com/office/drawing/2014/main" id="{23789CF1-77C0-665C-5D92-E972E89F1748}"/>
              </a:ext>
            </a:extLst>
          </p:cNvPr>
          <p:cNvGrpSpPr/>
          <p:nvPr/>
        </p:nvGrpSpPr>
        <p:grpSpPr>
          <a:xfrm>
            <a:off x="6974755" y="4192254"/>
            <a:ext cx="2366747" cy="369332"/>
            <a:chOff x="8204240" y="3934763"/>
            <a:chExt cx="2366747" cy="369332"/>
          </a:xfrm>
        </p:grpSpPr>
        <p:sp>
          <p:nvSpPr>
            <p:cNvPr id="6" name="TextBox 5">
              <a:extLst>
                <a:ext uri="{FF2B5EF4-FFF2-40B4-BE49-F238E27FC236}">
                  <a16:creationId xmlns:a16="http://schemas.microsoft.com/office/drawing/2014/main" id="{64D860C8-808B-41E1-AA5D-D2F08698D5FB}"/>
                </a:ext>
              </a:extLst>
            </p:cNvPr>
            <p:cNvSpPr txBox="1"/>
            <p:nvPr/>
          </p:nvSpPr>
          <p:spPr>
            <a:xfrm>
              <a:off x="8513587" y="3934763"/>
              <a:ext cx="2057400" cy="369332"/>
            </a:xfrm>
            <a:prstGeom prst="rect">
              <a:avLst/>
            </a:prstGeom>
            <a:noFill/>
          </p:spPr>
          <p:txBody>
            <a:bodyPr wrap="square" rtlCol="0">
              <a:spAutoFit/>
            </a:bodyPr>
            <a:lstStyle/>
            <a:p>
              <a:r>
                <a:rPr lang="en-US" dirty="0"/>
                <a:t>For Classification</a:t>
              </a:r>
            </a:p>
          </p:txBody>
        </p:sp>
        <p:cxnSp>
          <p:nvCxnSpPr>
            <p:cNvPr id="8" name="Straight Arrow Connector 7">
              <a:extLst>
                <a:ext uri="{FF2B5EF4-FFF2-40B4-BE49-F238E27FC236}">
                  <a16:creationId xmlns:a16="http://schemas.microsoft.com/office/drawing/2014/main" id="{0C115D7C-B830-4B0D-9A5B-1A84AC3255E4}"/>
                </a:ext>
                <a:ext uri="{C183D7F6-B498-43B3-948B-1728B52AA6E4}">
                  <adec:decorative xmlns:adec="http://schemas.microsoft.com/office/drawing/2017/decorative" val="1"/>
                </a:ext>
              </a:extLst>
            </p:cNvPr>
            <p:cNvCxnSpPr>
              <a:cxnSpLocks/>
            </p:cNvCxnSpPr>
            <p:nvPr/>
          </p:nvCxnSpPr>
          <p:spPr>
            <a:xfrm flipH="1">
              <a:off x="8204240" y="4119429"/>
              <a:ext cx="3093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a:extLst>
              <a:ext uri="{FF2B5EF4-FFF2-40B4-BE49-F238E27FC236}">
                <a16:creationId xmlns:a16="http://schemas.microsoft.com/office/drawing/2014/main" id="{29573D55-D5D4-4241-8344-90D913550C6B}"/>
              </a:ext>
              <a:ext uri="{C183D7F6-B498-43B3-948B-1728B52AA6E4}">
                <adec:decorative xmlns:adec="http://schemas.microsoft.com/office/drawing/2017/decorative" val="1"/>
              </a:ext>
            </a:extLst>
          </p:cNvPr>
          <p:cNvGrpSpPr/>
          <p:nvPr/>
        </p:nvGrpSpPr>
        <p:grpSpPr>
          <a:xfrm>
            <a:off x="8795657" y="4243315"/>
            <a:ext cx="3352800" cy="2514600"/>
            <a:chOff x="8795657" y="4243315"/>
            <a:chExt cx="3352800" cy="2514600"/>
          </a:xfrm>
        </p:grpSpPr>
        <p:sp>
          <p:nvSpPr>
            <p:cNvPr id="17" name="Oval 16">
              <a:extLst>
                <a:ext uri="{FF2B5EF4-FFF2-40B4-BE49-F238E27FC236}">
                  <a16:creationId xmlns:a16="http://schemas.microsoft.com/office/drawing/2014/main" id="{9644747C-723B-4A29-B453-B5B3DA7BF2C8}"/>
                </a:ext>
              </a:extLst>
            </p:cNvPr>
            <p:cNvSpPr/>
            <p:nvPr/>
          </p:nvSpPr>
          <p:spPr>
            <a:xfrm>
              <a:off x="8795657" y="4243315"/>
              <a:ext cx="3352800" cy="25146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9" name="Freeform 5">
              <a:extLst>
                <a:ext uri="{FF2B5EF4-FFF2-40B4-BE49-F238E27FC236}">
                  <a16:creationId xmlns:a16="http://schemas.microsoft.com/office/drawing/2014/main" id="{0A107679-EBBB-4822-93FB-7D94002C2E4A}"/>
                </a:ext>
              </a:extLst>
            </p:cNvPr>
            <p:cNvSpPr>
              <a:spLocks/>
            </p:cNvSpPr>
            <p:nvPr/>
          </p:nvSpPr>
          <p:spPr bwMode="auto">
            <a:xfrm>
              <a:off x="9090422" y="4914900"/>
              <a:ext cx="2947987" cy="1409700"/>
            </a:xfrm>
            <a:custGeom>
              <a:avLst/>
              <a:gdLst>
                <a:gd name="T0" fmla="*/ 213 w 1857"/>
                <a:gd name="T1" fmla="*/ 128 h 888"/>
                <a:gd name="T2" fmla="*/ 80 w 1857"/>
                <a:gd name="T3" fmla="*/ 475 h 888"/>
                <a:gd name="T4" fmla="*/ 692 w 1857"/>
                <a:gd name="T5" fmla="*/ 852 h 888"/>
                <a:gd name="T6" fmla="*/ 1013 w 1857"/>
                <a:gd name="T7" fmla="*/ 689 h 888"/>
                <a:gd name="T8" fmla="*/ 1451 w 1857"/>
                <a:gd name="T9" fmla="*/ 638 h 888"/>
                <a:gd name="T10" fmla="*/ 1752 w 1857"/>
                <a:gd name="T11" fmla="*/ 592 h 888"/>
                <a:gd name="T12" fmla="*/ 1818 w 1857"/>
                <a:gd name="T13" fmla="*/ 306 h 888"/>
                <a:gd name="T14" fmla="*/ 1517 w 1857"/>
                <a:gd name="T15" fmla="*/ 92 h 888"/>
                <a:gd name="T16" fmla="*/ 998 w 1857"/>
                <a:gd name="T17" fmla="*/ 6 h 888"/>
                <a:gd name="T18" fmla="*/ 213 w 1857"/>
                <a:gd name="T19" fmla="*/ 128 h 8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857" h="888">
                  <a:moveTo>
                    <a:pt x="213" y="128"/>
                  </a:moveTo>
                  <a:cubicBezTo>
                    <a:pt x="60" y="206"/>
                    <a:pt x="0" y="354"/>
                    <a:pt x="80" y="475"/>
                  </a:cubicBezTo>
                  <a:cubicBezTo>
                    <a:pt x="160" y="596"/>
                    <a:pt x="537" y="816"/>
                    <a:pt x="692" y="852"/>
                  </a:cubicBezTo>
                  <a:cubicBezTo>
                    <a:pt x="847" y="888"/>
                    <a:pt x="887" y="725"/>
                    <a:pt x="1013" y="689"/>
                  </a:cubicBezTo>
                  <a:cubicBezTo>
                    <a:pt x="1139" y="653"/>
                    <a:pt x="1328" y="654"/>
                    <a:pt x="1451" y="638"/>
                  </a:cubicBezTo>
                  <a:cubicBezTo>
                    <a:pt x="1574" y="622"/>
                    <a:pt x="1691" y="647"/>
                    <a:pt x="1752" y="592"/>
                  </a:cubicBezTo>
                  <a:cubicBezTo>
                    <a:pt x="1813" y="537"/>
                    <a:pt x="1857" y="389"/>
                    <a:pt x="1818" y="306"/>
                  </a:cubicBezTo>
                  <a:cubicBezTo>
                    <a:pt x="1779" y="223"/>
                    <a:pt x="1654" y="142"/>
                    <a:pt x="1517" y="92"/>
                  </a:cubicBezTo>
                  <a:cubicBezTo>
                    <a:pt x="1380" y="42"/>
                    <a:pt x="1215" y="0"/>
                    <a:pt x="998" y="6"/>
                  </a:cubicBezTo>
                  <a:cubicBezTo>
                    <a:pt x="781" y="12"/>
                    <a:pt x="366" y="50"/>
                    <a:pt x="213" y="128"/>
                  </a:cubicBezTo>
                  <a:close/>
                </a:path>
              </a:pathLst>
            </a:custGeom>
            <a:ln>
              <a:headEnd/>
              <a:tailEn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1">
              <a:schemeClr val="accent5"/>
            </a:lnRef>
            <a:fillRef idx="2">
              <a:schemeClr val="accent5"/>
            </a:fillRef>
            <a:effectRef idx="1">
              <a:schemeClr val="accent5"/>
            </a:effectRef>
            <a:fontRef idx="minor">
              <a:schemeClr val="dk1"/>
            </a:fontRef>
          </p:style>
          <p:txBody>
            <a:bodyPr/>
            <a:lstStyle/>
            <a:p>
              <a:endParaRPr lang="en-US"/>
            </a:p>
          </p:txBody>
        </p:sp>
        <p:sp>
          <p:nvSpPr>
            <p:cNvPr id="10" name="Oval 9">
              <a:extLst>
                <a:ext uri="{FF2B5EF4-FFF2-40B4-BE49-F238E27FC236}">
                  <a16:creationId xmlns:a16="http://schemas.microsoft.com/office/drawing/2014/main" id="{5EF0F589-D255-4E6D-9DDF-6F1DBE93ED47}"/>
                </a:ext>
              </a:extLst>
            </p:cNvPr>
            <p:cNvSpPr>
              <a:spLocks noChangeArrowheads="1"/>
            </p:cNvSpPr>
            <p:nvPr/>
          </p:nvSpPr>
          <p:spPr bwMode="auto">
            <a:xfrm>
              <a:off x="10479484" y="4875213"/>
              <a:ext cx="112713" cy="112712"/>
            </a:xfrm>
            <a:prstGeom prst="ellipse">
              <a:avLst/>
            </a:prstGeom>
            <a:solidFill>
              <a:srgbClr val="000000"/>
            </a:solidFill>
            <a:ln w="9525">
              <a:solidFill>
                <a:schemeClr val="tx1"/>
              </a:solidFill>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1" name="Oval 10">
              <a:extLst>
                <a:ext uri="{FF2B5EF4-FFF2-40B4-BE49-F238E27FC236}">
                  <a16:creationId xmlns:a16="http://schemas.microsoft.com/office/drawing/2014/main" id="{056A554F-D213-4E01-A5CD-02BE90E3DEAC}"/>
                </a:ext>
              </a:extLst>
            </p:cNvPr>
            <p:cNvSpPr>
              <a:spLocks noChangeArrowheads="1"/>
            </p:cNvSpPr>
            <p:nvPr/>
          </p:nvSpPr>
          <p:spPr bwMode="auto">
            <a:xfrm>
              <a:off x="10479484" y="4421188"/>
              <a:ext cx="112713" cy="112712"/>
            </a:xfrm>
            <a:prstGeom prst="ellipse">
              <a:avLst/>
            </a:prstGeom>
            <a:solidFill>
              <a:srgbClr val="000000"/>
            </a:solidFill>
            <a:ln w="9525">
              <a:solidFill>
                <a:schemeClr val="tx1"/>
              </a:solidFill>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2" name="Line 11">
              <a:extLst>
                <a:ext uri="{FF2B5EF4-FFF2-40B4-BE49-F238E27FC236}">
                  <a16:creationId xmlns:a16="http://schemas.microsoft.com/office/drawing/2014/main" id="{7C758A0F-1D8E-4754-BD9A-30C49C1DCA36}"/>
                </a:ext>
              </a:extLst>
            </p:cNvPr>
            <p:cNvSpPr>
              <a:spLocks noChangeShapeType="1"/>
            </p:cNvSpPr>
            <p:nvPr/>
          </p:nvSpPr>
          <p:spPr bwMode="auto">
            <a:xfrm>
              <a:off x="10536634" y="4470400"/>
              <a:ext cx="0" cy="428625"/>
            </a:xfrm>
            <a:prstGeom prst="line">
              <a:avLst/>
            </a:prstGeom>
            <a:noFill/>
            <a:ln w="25400">
              <a:solidFill>
                <a:schemeClr val="tx1"/>
              </a:solidFill>
              <a:prstDash val="dash"/>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13" name="Picture 13" descr="txp_fig">
              <a:extLst>
                <a:ext uri="{FF2B5EF4-FFF2-40B4-BE49-F238E27FC236}">
                  <a16:creationId xmlns:a16="http://schemas.microsoft.com/office/drawing/2014/main" id="{E418D104-EF6B-4179-833F-E1837595ED27}"/>
                </a:ext>
              </a:extLst>
            </p:cNvPr>
            <p:cNvPicPr>
              <a:picLocks noChangeAspect="1" noChangeArrowheads="1"/>
            </p:cNvPicPr>
            <p:nvPr>
              <p:custDataLst>
                <p:tags r:id="rId1"/>
              </p:custDataLst>
            </p:nvPr>
          </p:nvPicPr>
          <p:blipFill>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9895284" y="5681663"/>
              <a:ext cx="303213" cy="23653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ECEEA7E-D5AC-495C-BFC3-7C37EA3D2870}"/>
                    </a:ext>
                  </a:extLst>
                </p:cNvPr>
                <p:cNvSpPr txBox="1"/>
                <p:nvPr/>
              </p:nvSpPr>
              <p:spPr>
                <a:xfrm>
                  <a:off x="10211991" y="4243315"/>
                  <a:ext cx="27940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𝑓</m:t>
                        </m:r>
                      </m:oMath>
                    </m:oMathPara>
                  </a14:m>
                  <a:endParaRPr lang="en-US" sz="2400" i="1" dirty="0"/>
                </a:p>
              </p:txBody>
            </p:sp>
          </mc:Choice>
          <mc:Fallback xmlns="">
            <p:sp>
              <p:nvSpPr>
                <p:cNvPr id="14" name="TextBox 13">
                  <a:extLst>
                    <a:ext uri="{FF2B5EF4-FFF2-40B4-BE49-F238E27FC236}">
                      <a16:creationId xmlns:a16="http://schemas.microsoft.com/office/drawing/2014/main" id="{9ECEEA7E-D5AC-495C-BFC3-7C37EA3D2870}"/>
                    </a:ext>
                  </a:extLst>
                </p:cNvPr>
                <p:cNvSpPr txBox="1">
                  <a:spLocks noRot="1" noChangeAspect="1" noMove="1" noResize="1" noEditPoints="1" noAdjustHandles="1" noChangeArrowheads="1" noChangeShapeType="1" noTextEdit="1"/>
                </p:cNvSpPr>
                <p:nvPr/>
              </p:nvSpPr>
              <p:spPr>
                <a:xfrm>
                  <a:off x="10211991" y="4243315"/>
                  <a:ext cx="279400" cy="461665"/>
                </a:xfrm>
                <a:prstGeom prst="rect">
                  <a:avLst/>
                </a:prstGeom>
                <a:blipFill>
                  <a:blip r:embed="rId5"/>
                  <a:stretch>
                    <a:fillRect l="-17391" r="-43478" b="-17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9098043-4E65-42EF-A3FB-976D175A4FEB}"/>
                    </a:ext>
                  </a:extLst>
                </p:cNvPr>
                <p:cNvSpPr txBox="1"/>
                <p:nvPr/>
              </p:nvSpPr>
              <p:spPr>
                <a:xfrm>
                  <a:off x="10237390" y="4938712"/>
                  <a:ext cx="709613" cy="58477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sz="3200" b="0" i="1" smtClean="0">
                                <a:latin typeface="Cambria Math" panose="02040503050406030204" pitchFamily="18" charset="0"/>
                              </a:rPr>
                            </m:ctrlPr>
                          </m:sSupPr>
                          <m:e>
                            <m:r>
                              <a:rPr lang="en-US" sz="3200" b="0" i="1" smtClean="0">
                                <a:latin typeface="Cambria Math" panose="02040503050406030204" pitchFamily="18" charset="0"/>
                              </a:rPr>
                              <m:t>h</m:t>
                            </m:r>
                          </m:e>
                          <m:sup>
                            <m:r>
                              <a:rPr lang="en-US" sz="3200" b="0" i="1" smtClean="0">
                                <a:latin typeface="Cambria Math" panose="02040503050406030204" pitchFamily="18" charset="0"/>
                              </a:rPr>
                              <m:t>∗</m:t>
                            </m:r>
                          </m:sup>
                        </m:sSup>
                      </m:oMath>
                    </m:oMathPara>
                  </a14:m>
                  <a:endParaRPr lang="en-US" sz="3200" i="1" dirty="0"/>
                </a:p>
              </p:txBody>
            </p:sp>
          </mc:Choice>
          <mc:Fallback xmlns="">
            <p:sp>
              <p:nvSpPr>
                <p:cNvPr id="15" name="TextBox 14">
                  <a:extLst>
                    <a:ext uri="{FF2B5EF4-FFF2-40B4-BE49-F238E27FC236}">
                      <a16:creationId xmlns:a16="http://schemas.microsoft.com/office/drawing/2014/main" id="{C9098043-4E65-42EF-A3FB-976D175A4FEB}"/>
                    </a:ext>
                  </a:extLst>
                </p:cNvPr>
                <p:cNvSpPr txBox="1">
                  <a:spLocks noRot="1" noChangeAspect="1" noMove="1" noResize="1" noEditPoints="1" noAdjustHandles="1" noChangeArrowheads="1" noChangeShapeType="1" noTextEdit="1"/>
                </p:cNvSpPr>
                <p:nvPr/>
              </p:nvSpPr>
              <p:spPr>
                <a:xfrm>
                  <a:off x="10237390" y="4938712"/>
                  <a:ext cx="709613" cy="584775"/>
                </a:xfrm>
                <a:prstGeom prst="rect">
                  <a:avLst/>
                </a:prstGeom>
                <a:blipFill>
                  <a:blip r:embed="rId6"/>
                  <a:stretch>
                    <a:fillRect/>
                  </a:stretch>
                </a:blipFill>
              </p:spPr>
              <p:txBody>
                <a:bodyPr/>
                <a:lstStyle/>
                <a:p>
                  <a:r>
                    <a:rPr lang="en-US">
                      <a:noFill/>
                    </a:rPr>
                    <a:t> </a:t>
                  </a:r>
                </a:p>
              </p:txBody>
            </p:sp>
          </mc:Fallback>
        </mc:AlternateContent>
      </p:grpSp>
      <p:sp>
        <p:nvSpPr>
          <p:cNvPr id="20" name="Speech Bubble: Rectangle 19">
            <a:extLst>
              <a:ext uri="{FF2B5EF4-FFF2-40B4-BE49-F238E27FC236}">
                <a16:creationId xmlns:a16="http://schemas.microsoft.com/office/drawing/2014/main" id="{81C9D012-E038-4266-A28C-3B02C6C3C9AF}"/>
              </a:ext>
            </a:extLst>
          </p:cNvPr>
          <p:cNvSpPr/>
          <p:nvPr/>
        </p:nvSpPr>
        <p:spPr>
          <a:xfrm>
            <a:off x="10896600" y="4085927"/>
            <a:ext cx="1091406" cy="287635"/>
          </a:xfrm>
          <a:prstGeom prst="wedgeRectCallout">
            <a:avLst>
              <a:gd name="adj1" fmla="val -77851"/>
              <a:gd name="adj2" fmla="val 157777"/>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t>Loss</a:t>
            </a:r>
          </a:p>
        </p:txBody>
      </p:sp>
    </p:spTree>
    <p:extLst>
      <p:ext uri="{BB962C8B-B14F-4D97-AF65-F5344CB8AC3E}">
        <p14:creationId xmlns:p14="http://schemas.microsoft.com/office/powerpoint/2010/main" val="3323998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935EFA-B760-4599-A4AE-897C90016681}"/>
              </a:ext>
            </a:extLst>
          </p:cNvPr>
          <p:cNvSpPr>
            <a:spLocks noGrp="1"/>
          </p:cNvSpPr>
          <p:nvPr>
            <p:ph type="title"/>
          </p:nvPr>
        </p:nvSpPr>
        <p:spPr/>
        <p:txBody>
          <a:bodyPr/>
          <a:lstStyle/>
          <a:p>
            <a:r>
              <a:rPr lang="en-US" dirty="0"/>
              <a:t>Learning Consistent Approximations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E1CDDD-17A2-49AA-878D-47EFE49513D8}"/>
                  </a:ext>
                </a:extLst>
              </p:cNvPr>
              <p:cNvSpPr>
                <a:spLocks noGrp="1"/>
              </p:cNvSpPr>
              <p:nvPr>
                <p:ph idx="1"/>
              </p:nvPr>
            </p:nvSpPr>
            <p:spPr/>
            <p:txBody>
              <a:bodyPr>
                <a:normAutofit fontScale="92500" lnSpcReduction="20000"/>
              </a:bodyPr>
              <a:lstStyle/>
              <a:p>
                <a:r>
                  <a:rPr lang="en-US" dirty="0"/>
                  <a:t>Empirical loss</a:t>
                </a:r>
                <a:br>
                  <a:rPr lang="en-US" dirty="0"/>
                </a:br>
                <a14:m>
                  <m:oMath xmlns:m="http://schemas.openxmlformats.org/officeDocument/2006/math">
                    <m:r>
                      <a:rPr lang="en-US" b="0" i="1" smtClean="0">
                        <a:latin typeface="Cambria Math" panose="02040503050406030204" pitchFamily="18" charset="0"/>
                      </a:rPr>
                      <m:t>𝐸𝑚𝑝𝐿𝑜𝑠</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𝐿</m:t>
                        </m:r>
                        <m:r>
                          <a:rPr lang="en-US" b="0" i="1" smtClean="0">
                            <a:latin typeface="Cambria Math" panose="02040503050406030204" pitchFamily="18" charset="0"/>
                          </a:rPr>
                          <m:t>,</m:t>
                        </m:r>
                        <m:r>
                          <a:rPr lang="en-US" b="0" i="1" smtClean="0">
                            <a:latin typeface="Cambria Math" panose="02040503050406030204" pitchFamily="18" charset="0"/>
                          </a:rPr>
                          <m:t>𝐸</m:t>
                        </m:r>
                      </m:sub>
                    </m:sSub>
                    <m:r>
                      <a:rPr lang="en-US" b="0" i="1" smtClean="0">
                        <a:latin typeface="Cambria Math" panose="02040503050406030204" pitchFamily="18" charset="0"/>
                      </a:rPr>
                      <m:t>(</m:t>
                    </m:r>
                    <m:r>
                      <a:rPr lang="en-US" b="0" i="1" smtClean="0">
                        <a:latin typeface="Cambria Math" panose="02040503050406030204" pitchFamily="18" charset="0"/>
                      </a:rPr>
                      <m:t>h</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m:t>
                        </m:r>
                        <m:r>
                          <a:rPr lang="en-US" b="0" i="1" smtClean="0">
                            <a:latin typeface="Cambria Math" panose="02040503050406030204" pitchFamily="18" charset="0"/>
                          </a:rPr>
                          <m:t>𝐸</m:t>
                        </m:r>
                        <m:r>
                          <a:rPr lang="en-US" b="0" i="1" smtClean="0">
                            <a:latin typeface="Cambria Math" panose="02040503050406030204" pitchFamily="18" charset="0"/>
                          </a:rPr>
                          <m:t>|</m:t>
                        </m:r>
                      </m:den>
                    </m:f>
                    <m:nary>
                      <m:naryPr>
                        <m:chr m:val="∑"/>
                        <m:supHide m:val="on"/>
                        <m:ctrlPr>
                          <a:rPr lang="en-US" b="0" i="1" smtClean="0">
                            <a:latin typeface="Cambria Math" panose="02040503050406030204" pitchFamily="18" charset="0"/>
                          </a:rPr>
                        </m:ctrlPr>
                      </m:naryPr>
                      <m:sub>
                        <m:d>
                          <m:dPr>
                            <m:ctrlPr>
                              <a:rPr lang="en-US" b="0" i="1" smtClean="0">
                                <a:latin typeface="Cambria Math" panose="02040503050406030204" pitchFamily="18" charset="0"/>
                              </a:rPr>
                            </m:ctrlPr>
                          </m:dPr>
                          <m:e>
                            <m:r>
                              <m:rPr>
                                <m:brk m:alnAt="7"/>
                              </m:rPr>
                              <a:rPr lang="en-US" b="1" i="1" smtClean="0">
                                <a:latin typeface="Cambria Math" panose="02040503050406030204" pitchFamily="18" charset="0"/>
                              </a:rPr>
                              <m:t>𝒙</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r>
                          <a:rPr lang="en-US" b="0" i="1" smtClean="0">
                            <a:latin typeface="Cambria Math" panose="02040503050406030204" pitchFamily="18" charset="0"/>
                          </a:rPr>
                          <m:t>𝐸</m:t>
                        </m:r>
                      </m:sub>
                      <m:sup/>
                      <m:e>
                        <m:r>
                          <a:rPr lang="en-US" b="0" i="1" smtClean="0">
                            <a:latin typeface="Cambria Math" panose="02040503050406030204" pitchFamily="18" charset="0"/>
                          </a:rPr>
                          <m:t>𝐿</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 </m:t>
                        </m:r>
                        <m:r>
                          <a:rPr lang="en-US" b="0" i="1" smtClean="0">
                            <a:latin typeface="Cambria Math" panose="02040503050406030204" pitchFamily="18" charset="0"/>
                          </a:rPr>
                          <m:t>h</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e>
                    </m:nary>
                  </m:oMath>
                </a14:m>
                <a:endParaRPr lang="en-US" dirty="0"/>
              </a:p>
              <a:p>
                <a:endParaRPr lang="en-US" dirty="0"/>
              </a:p>
              <a:p>
                <a:r>
                  <a:rPr lang="en-US" dirty="0"/>
                  <a:t>Find the best hypothesis that minimizes the loss</a:t>
                </a:r>
              </a:p>
              <a:p>
                <a:pPr marL="0" indent="0">
                  <a:buNone/>
                </a:pPr>
                <a14:m>
                  <m:oMathPara xmlns:m="http://schemas.openxmlformats.org/officeDocument/2006/math">
                    <m:oMathParaPr>
                      <m:jc m:val="center"/>
                    </m:oMathParaPr>
                    <m:oMath xmlns:m="http://schemas.openxmlformats.org/officeDocument/2006/math">
                      <m:sSup>
                        <m:sSupPr>
                          <m:ctrlPr>
                            <a:rPr lang="en-US" b="0" i="1" dirty="0" smtClean="0">
                              <a:latin typeface="Cambria Math" panose="02040503050406030204" pitchFamily="18" charset="0"/>
                            </a:rPr>
                          </m:ctrlPr>
                        </m:sSupPr>
                        <m:e>
                          <m:r>
                            <a:rPr lang="en-US" b="0" i="1" smtClean="0">
                              <a:latin typeface="Cambria Math" panose="02040503050406030204" pitchFamily="18" charset="0"/>
                            </a:rPr>
                            <m:t>h</m:t>
                          </m:r>
                        </m:e>
                        <m:sup>
                          <m:r>
                            <a:rPr lang="en-US" b="0" i="1" dirty="0" smtClean="0">
                              <a:latin typeface="Cambria Math" panose="02040503050406030204" pitchFamily="18" charset="0"/>
                            </a:rPr>
                            <m:t>∗</m:t>
                          </m:r>
                        </m:sup>
                      </m:sSup>
                      <m:r>
                        <a:rPr lang="en-US" b="0" i="1" dirty="0" smtClean="0">
                          <a:latin typeface="Cambria Math" panose="02040503050406030204" pitchFamily="18" charset="0"/>
                        </a:rPr>
                        <m:t>=</m:t>
                      </m:r>
                      <m:func>
                        <m:funcPr>
                          <m:ctrlPr>
                            <a:rPr lang="en-US" b="0" i="1" dirty="0" smtClean="0">
                              <a:latin typeface="Cambria Math" panose="02040503050406030204" pitchFamily="18" charset="0"/>
                            </a:rPr>
                          </m:ctrlPr>
                        </m:funcPr>
                        <m:fName>
                          <m:limLow>
                            <m:limLowPr>
                              <m:ctrlPr>
                                <a:rPr lang="en-US" b="0" i="1" dirty="0" smtClean="0">
                                  <a:latin typeface="Cambria Math" panose="02040503050406030204" pitchFamily="18" charset="0"/>
                                </a:rPr>
                              </m:ctrlPr>
                            </m:limLowPr>
                            <m:e>
                              <m:r>
                                <m:rPr>
                                  <m:sty m:val="p"/>
                                </m:rPr>
                                <a:rPr lang="en-US" b="0" i="0" dirty="0" smtClean="0">
                                  <a:latin typeface="Cambria Math" panose="02040503050406030204" pitchFamily="18" charset="0"/>
                                </a:rPr>
                                <m:t>argmin</m:t>
                              </m:r>
                            </m:e>
                            <m:lim>
                              <m:r>
                                <a:rPr lang="en-US" b="0" i="1" dirty="0" smtClean="0">
                                  <a:latin typeface="Cambria Math" panose="02040503050406030204" pitchFamily="18" charset="0"/>
                                </a:rPr>
                                <m:t>h</m:t>
                              </m:r>
                              <m:r>
                                <a:rPr lang="en-US" b="0" i="1" dirty="0" smtClean="0">
                                  <a:latin typeface="Cambria Math" panose="02040503050406030204" pitchFamily="18" charset="0"/>
                                </a:rPr>
                                <m:t>∈ </m:t>
                              </m:r>
                              <m:r>
                                <a:rPr lang="en-US" b="0" i="1" dirty="0" smtClean="0">
                                  <a:latin typeface="Cambria Math" panose="02040503050406030204" pitchFamily="18" charset="0"/>
                                </a:rPr>
                                <m:t>𝐻</m:t>
                              </m:r>
                            </m:lim>
                          </m:limLow>
                        </m:fName>
                        <m:e>
                          <m:r>
                            <a:rPr lang="en-US" b="0" i="1" smtClean="0">
                              <a:latin typeface="Cambria Math" panose="02040503050406030204" pitchFamily="18" charset="0"/>
                            </a:rPr>
                            <m:t>𝐸𝑚𝑝𝐿𝑜𝑠</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𝐿</m:t>
                              </m:r>
                              <m:r>
                                <a:rPr lang="en-US" b="0" i="1" smtClean="0">
                                  <a:latin typeface="Cambria Math" panose="02040503050406030204" pitchFamily="18" charset="0"/>
                                </a:rPr>
                                <m:t>,</m:t>
                              </m:r>
                              <m:r>
                                <a:rPr lang="en-US" b="0" i="1" smtClean="0">
                                  <a:latin typeface="Cambria Math" panose="02040503050406030204" pitchFamily="18" charset="0"/>
                                </a:rPr>
                                <m:t>𝐸</m:t>
                              </m:r>
                            </m:sub>
                          </m:sSub>
                          <m:r>
                            <a:rPr lang="en-US" b="0" i="1" smtClean="0">
                              <a:latin typeface="Cambria Math" panose="02040503050406030204" pitchFamily="18" charset="0"/>
                            </a:rPr>
                            <m:t>(</m:t>
                          </m:r>
                          <m:r>
                            <a:rPr lang="en-US" b="0" i="1" smtClean="0">
                              <a:latin typeface="Cambria Math" panose="02040503050406030204" pitchFamily="18" charset="0"/>
                            </a:rPr>
                            <m:t>h</m:t>
                          </m:r>
                          <m:r>
                            <a:rPr lang="en-US" b="0" i="1" smtClean="0">
                              <a:latin typeface="Cambria Math" panose="02040503050406030204" pitchFamily="18" charset="0"/>
                            </a:rPr>
                            <m:t>)</m:t>
                          </m:r>
                        </m:e>
                      </m:func>
                    </m:oMath>
                  </m:oMathPara>
                </a14:m>
                <a:endParaRPr lang="en-US" dirty="0"/>
              </a:p>
              <a:p>
                <a:pPr marL="0" indent="0">
                  <a:buNone/>
                </a:pPr>
                <a:endParaRPr lang="en-US" dirty="0"/>
              </a:p>
              <a:p>
                <a:r>
                  <a:rPr lang="en-US" dirty="0"/>
                  <a:t>Reasons for </a:t>
                </a:r>
                <a14:m>
                  <m:oMath xmlns:m="http://schemas.openxmlformats.org/officeDocument/2006/math">
                    <m:sSup>
                      <m:sSupPr>
                        <m:ctrlPr>
                          <a:rPr lang="en-US" b="0" i="1" dirty="0" smtClean="0">
                            <a:latin typeface="Cambria Math" panose="02040503050406030204" pitchFamily="18" charset="0"/>
                          </a:rPr>
                        </m:ctrlPr>
                      </m:sSupPr>
                      <m:e>
                        <m:r>
                          <a:rPr lang="en-US" b="0" i="1" smtClean="0">
                            <a:latin typeface="Cambria Math" panose="02040503050406030204" pitchFamily="18" charset="0"/>
                          </a:rPr>
                          <m:t>h</m:t>
                        </m:r>
                      </m:e>
                      <m:sup>
                        <m:r>
                          <a:rPr lang="en-US" b="0" i="1" dirty="0" smtClean="0">
                            <a:latin typeface="Cambria Math" panose="02040503050406030204" pitchFamily="18" charset="0"/>
                          </a:rPr>
                          <m:t>∗</m:t>
                        </m:r>
                      </m:sup>
                    </m:sSup>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𝑓</m:t>
                    </m:r>
                  </m:oMath>
                </a14:m>
                <a:endParaRPr lang="en-US" b="0" dirty="0">
                  <a:ea typeface="Cambria Math" panose="02040503050406030204" pitchFamily="18" charset="0"/>
                </a:endParaRPr>
              </a:p>
              <a:p>
                <a:pPr marL="914400" lvl="1" indent="-457200">
                  <a:buFont typeface="+mj-lt"/>
                  <a:buAutoNum type="alphaLcParenR"/>
                </a:pPr>
                <a:r>
                  <a:rPr lang="en-US" dirty="0"/>
                  <a:t>Realizability: </a:t>
                </a:r>
                <a14:m>
                  <m:oMath xmlns:m="http://schemas.openxmlformats.org/officeDocument/2006/math">
                    <m:r>
                      <a:rPr lang="en-US" b="0" i="1" dirty="0" smtClean="0">
                        <a:latin typeface="Cambria Math" panose="02040503050406030204" pitchFamily="18" charset="0"/>
                      </a:rPr>
                      <m:t>𝑓</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𝐻</m:t>
                    </m:r>
                  </m:oMath>
                </a14:m>
                <a:endParaRPr lang="en-US" b="0" dirty="0">
                  <a:ea typeface="Cambria Math" panose="02040503050406030204" pitchFamily="18" charset="0"/>
                </a:endParaRPr>
              </a:p>
              <a:p>
                <a:pPr marL="914400" lvl="1" indent="-457200">
                  <a:buFont typeface="+mj-lt"/>
                  <a:buAutoNum type="alphaLcParenR"/>
                </a:pPr>
                <a:r>
                  <a:rPr lang="en-US" dirty="0">
                    <a:ea typeface="Cambria Math" panose="02040503050406030204" pitchFamily="18" charset="0"/>
                  </a:rPr>
                  <a:t> </a:t>
                </a:r>
                <a14:m>
                  <m:oMath xmlns:m="http://schemas.openxmlformats.org/officeDocument/2006/math">
                    <m:r>
                      <a:rPr lang="en-US" b="0" i="1" dirty="0" smtClean="0">
                        <a:latin typeface="Cambria Math" panose="02040503050406030204" pitchFamily="18" charset="0"/>
                        <a:ea typeface="Cambria Math" panose="02040503050406030204" pitchFamily="18" charset="0"/>
                      </a:rPr>
                      <m:t>𝑓</m:t>
                    </m:r>
                  </m:oMath>
                </a14:m>
                <a:r>
                  <a:rPr lang="en-US" dirty="0"/>
                  <a:t> is nondeterministic.</a:t>
                </a:r>
              </a:p>
              <a:p>
                <a:pPr marL="914400" lvl="1" indent="-457200">
                  <a:buFont typeface="+mj-lt"/>
                  <a:buAutoNum type="alphaLcParenR"/>
                </a:pPr>
                <a:r>
                  <a:rPr lang="en-US" dirty="0"/>
                  <a:t>It is computationally intractable to search all of </a:t>
                </a:r>
                <a14:m>
                  <m:oMath xmlns:m="http://schemas.openxmlformats.org/officeDocument/2006/math">
                    <m:r>
                      <a:rPr lang="en-US" b="0" i="1" dirty="0" smtClean="0">
                        <a:latin typeface="Cambria Math" panose="02040503050406030204" pitchFamily="18" charset="0"/>
                        <a:ea typeface="Cambria Math" panose="02040503050406030204" pitchFamily="18" charset="0"/>
                      </a:rPr>
                      <m:t>𝐻</m:t>
                    </m:r>
                  </m:oMath>
                </a14:m>
                <a:r>
                  <a:rPr lang="en-US" dirty="0"/>
                  <a:t>, </a:t>
                </a:r>
                <a:br>
                  <a:rPr lang="en-US" dirty="0"/>
                </a:br>
                <a:r>
                  <a:rPr lang="en-US" dirty="0"/>
                  <a:t>so we use a non-optimal heuristic like local search. </a:t>
                </a:r>
              </a:p>
              <a:p>
                <a:endParaRPr lang="en-US" dirty="0"/>
              </a:p>
            </p:txBody>
          </p:sp>
        </mc:Choice>
        <mc:Fallback xmlns="">
          <p:sp>
            <p:nvSpPr>
              <p:cNvPr id="3" name="Content Placeholder 2">
                <a:extLst>
                  <a:ext uri="{FF2B5EF4-FFF2-40B4-BE49-F238E27FC236}">
                    <a16:creationId xmlns:a16="http://schemas.microsoft.com/office/drawing/2014/main" id="{9BE1CDDD-17A2-49AA-878D-47EFE49513D8}"/>
                  </a:ext>
                </a:extLst>
              </p:cNvPr>
              <p:cNvSpPr>
                <a:spLocks noGrp="1" noRot="1" noChangeAspect="1" noMove="1" noResize="1" noEditPoints="1" noAdjustHandles="1" noChangeArrowheads="1" noChangeShapeType="1" noTextEdit="1"/>
              </p:cNvSpPr>
              <p:nvPr>
                <p:ph idx="1"/>
              </p:nvPr>
            </p:nvSpPr>
            <p:spPr>
              <a:blipFill>
                <a:blip r:embed="rId3"/>
                <a:stretch>
                  <a:fillRect l="-928" t="-30812" b="-3221"/>
                </a:stretch>
              </a:blipFill>
            </p:spPr>
            <p:txBody>
              <a:bodyPr/>
              <a:lstStyle/>
              <a:p>
                <a:r>
                  <a:rPr lang="en-US">
                    <a:noFill/>
                  </a:rPr>
                  <a:t> </a:t>
                </a:r>
              </a:p>
            </p:txBody>
          </p:sp>
        </mc:Fallback>
      </mc:AlternateContent>
      <p:grpSp>
        <p:nvGrpSpPr>
          <p:cNvPr id="22" name="Group 21">
            <a:extLst>
              <a:ext uri="{FF2B5EF4-FFF2-40B4-BE49-F238E27FC236}">
                <a16:creationId xmlns:a16="http://schemas.microsoft.com/office/drawing/2014/main" id="{69B2F9E5-A1AA-477E-A7A5-38ECCBCEE21B}"/>
              </a:ext>
              <a:ext uri="{C183D7F6-B498-43B3-948B-1728B52AA6E4}">
                <adec:decorative xmlns:adec="http://schemas.microsoft.com/office/drawing/2017/decorative" val="1"/>
              </a:ext>
            </a:extLst>
          </p:cNvPr>
          <p:cNvGrpSpPr/>
          <p:nvPr/>
        </p:nvGrpSpPr>
        <p:grpSpPr>
          <a:xfrm>
            <a:off x="8795657" y="4085927"/>
            <a:ext cx="3352800" cy="2671988"/>
            <a:chOff x="8795657" y="4085927"/>
            <a:chExt cx="3352800" cy="2671988"/>
          </a:xfrm>
        </p:grpSpPr>
        <p:sp>
          <p:nvSpPr>
            <p:cNvPr id="23" name="Oval 22">
              <a:extLst>
                <a:ext uri="{FF2B5EF4-FFF2-40B4-BE49-F238E27FC236}">
                  <a16:creationId xmlns:a16="http://schemas.microsoft.com/office/drawing/2014/main" id="{22116AE6-B46E-4695-A894-0CCFD699B218}"/>
                </a:ext>
              </a:extLst>
            </p:cNvPr>
            <p:cNvSpPr/>
            <p:nvPr/>
          </p:nvSpPr>
          <p:spPr>
            <a:xfrm>
              <a:off x="8795657" y="4243315"/>
              <a:ext cx="3352800" cy="25146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24" name="Freeform 5">
              <a:extLst>
                <a:ext uri="{FF2B5EF4-FFF2-40B4-BE49-F238E27FC236}">
                  <a16:creationId xmlns:a16="http://schemas.microsoft.com/office/drawing/2014/main" id="{B94E2309-F337-45D4-BF03-7E28296EC949}"/>
                </a:ext>
              </a:extLst>
            </p:cNvPr>
            <p:cNvSpPr>
              <a:spLocks/>
            </p:cNvSpPr>
            <p:nvPr/>
          </p:nvSpPr>
          <p:spPr bwMode="auto">
            <a:xfrm>
              <a:off x="9090422" y="4914900"/>
              <a:ext cx="2947987" cy="1409700"/>
            </a:xfrm>
            <a:custGeom>
              <a:avLst/>
              <a:gdLst>
                <a:gd name="T0" fmla="*/ 213 w 1857"/>
                <a:gd name="T1" fmla="*/ 128 h 888"/>
                <a:gd name="T2" fmla="*/ 80 w 1857"/>
                <a:gd name="T3" fmla="*/ 475 h 888"/>
                <a:gd name="T4" fmla="*/ 692 w 1857"/>
                <a:gd name="T5" fmla="*/ 852 h 888"/>
                <a:gd name="T6" fmla="*/ 1013 w 1857"/>
                <a:gd name="T7" fmla="*/ 689 h 888"/>
                <a:gd name="T8" fmla="*/ 1451 w 1857"/>
                <a:gd name="T9" fmla="*/ 638 h 888"/>
                <a:gd name="T10" fmla="*/ 1752 w 1857"/>
                <a:gd name="T11" fmla="*/ 592 h 888"/>
                <a:gd name="T12" fmla="*/ 1818 w 1857"/>
                <a:gd name="T13" fmla="*/ 306 h 888"/>
                <a:gd name="T14" fmla="*/ 1517 w 1857"/>
                <a:gd name="T15" fmla="*/ 92 h 888"/>
                <a:gd name="T16" fmla="*/ 998 w 1857"/>
                <a:gd name="T17" fmla="*/ 6 h 888"/>
                <a:gd name="T18" fmla="*/ 213 w 1857"/>
                <a:gd name="T19" fmla="*/ 128 h 8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857" h="888">
                  <a:moveTo>
                    <a:pt x="213" y="128"/>
                  </a:moveTo>
                  <a:cubicBezTo>
                    <a:pt x="60" y="206"/>
                    <a:pt x="0" y="354"/>
                    <a:pt x="80" y="475"/>
                  </a:cubicBezTo>
                  <a:cubicBezTo>
                    <a:pt x="160" y="596"/>
                    <a:pt x="537" y="816"/>
                    <a:pt x="692" y="852"/>
                  </a:cubicBezTo>
                  <a:cubicBezTo>
                    <a:pt x="847" y="888"/>
                    <a:pt x="887" y="725"/>
                    <a:pt x="1013" y="689"/>
                  </a:cubicBezTo>
                  <a:cubicBezTo>
                    <a:pt x="1139" y="653"/>
                    <a:pt x="1328" y="654"/>
                    <a:pt x="1451" y="638"/>
                  </a:cubicBezTo>
                  <a:cubicBezTo>
                    <a:pt x="1574" y="622"/>
                    <a:pt x="1691" y="647"/>
                    <a:pt x="1752" y="592"/>
                  </a:cubicBezTo>
                  <a:cubicBezTo>
                    <a:pt x="1813" y="537"/>
                    <a:pt x="1857" y="389"/>
                    <a:pt x="1818" y="306"/>
                  </a:cubicBezTo>
                  <a:cubicBezTo>
                    <a:pt x="1779" y="223"/>
                    <a:pt x="1654" y="142"/>
                    <a:pt x="1517" y="92"/>
                  </a:cubicBezTo>
                  <a:cubicBezTo>
                    <a:pt x="1380" y="42"/>
                    <a:pt x="1215" y="0"/>
                    <a:pt x="998" y="6"/>
                  </a:cubicBezTo>
                  <a:cubicBezTo>
                    <a:pt x="781" y="12"/>
                    <a:pt x="366" y="50"/>
                    <a:pt x="213" y="128"/>
                  </a:cubicBezTo>
                  <a:close/>
                </a:path>
              </a:pathLst>
            </a:custGeom>
            <a:ln>
              <a:headEnd/>
              <a:tailEn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1">
              <a:schemeClr val="accent5"/>
            </a:lnRef>
            <a:fillRef idx="2">
              <a:schemeClr val="accent5"/>
            </a:fillRef>
            <a:effectRef idx="1">
              <a:schemeClr val="accent5"/>
            </a:effectRef>
            <a:fontRef idx="minor">
              <a:schemeClr val="dk1"/>
            </a:fontRef>
          </p:style>
          <p:txBody>
            <a:bodyPr/>
            <a:lstStyle/>
            <a:p>
              <a:endParaRPr lang="en-US"/>
            </a:p>
          </p:txBody>
        </p:sp>
        <p:sp>
          <p:nvSpPr>
            <p:cNvPr id="25" name="Oval 24">
              <a:extLst>
                <a:ext uri="{FF2B5EF4-FFF2-40B4-BE49-F238E27FC236}">
                  <a16:creationId xmlns:a16="http://schemas.microsoft.com/office/drawing/2014/main" id="{94BAF3D2-D446-46FB-98F1-0B8EBE3E3F3B}"/>
                </a:ext>
              </a:extLst>
            </p:cNvPr>
            <p:cNvSpPr>
              <a:spLocks noChangeArrowheads="1"/>
            </p:cNvSpPr>
            <p:nvPr/>
          </p:nvSpPr>
          <p:spPr bwMode="auto">
            <a:xfrm>
              <a:off x="10479484" y="4875213"/>
              <a:ext cx="112713" cy="112712"/>
            </a:xfrm>
            <a:prstGeom prst="ellipse">
              <a:avLst/>
            </a:prstGeom>
            <a:solidFill>
              <a:srgbClr val="000000"/>
            </a:solidFill>
            <a:ln w="9525">
              <a:solidFill>
                <a:schemeClr val="tx1"/>
              </a:solidFill>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6" name="Oval 25">
              <a:extLst>
                <a:ext uri="{FF2B5EF4-FFF2-40B4-BE49-F238E27FC236}">
                  <a16:creationId xmlns:a16="http://schemas.microsoft.com/office/drawing/2014/main" id="{43C5540B-019A-4893-B64E-2EF3BC98C1EE}"/>
                </a:ext>
              </a:extLst>
            </p:cNvPr>
            <p:cNvSpPr>
              <a:spLocks noChangeArrowheads="1"/>
            </p:cNvSpPr>
            <p:nvPr/>
          </p:nvSpPr>
          <p:spPr bwMode="auto">
            <a:xfrm>
              <a:off x="10479484" y="4421188"/>
              <a:ext cx="112713" cy="112712"/>
            </a:xfrm>
            <a:prstGeom prst="ellipse">
              <a:avLst/>
            </a:prstGeom>
            <a:solidFill>
              <a:srgbClr val="000000"/>
            </a:solidFill>
            <a:ln w="9525">
              <a:solidFill>
                <a:schemeClr val="tx1"/>
              </a:solidFill>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7" name="Line 11">
              <a:extLst>
                <a:ext uri="{FF2B5EF4-FFF2-40B4-BE49-F238E27FC236}">
                  <a16:creationId xmlns:a16="http://schemas.microsoft.com/office/drawing/2014/main" id="{3F391002-205A-452C-865F-05E7F96E4587}"/>
                </a:ext>
              </a:extLst>
            </p:cNvPr>
            <p:cNvSpPr>
              <a:spLocks noChangeShapeType="1"/>
            </p:cNvSpPr>
            <p:nvPr/>
          </p:nvSpPr>
          <p:spPr bwMode="auto">
            <a:xfrm>
              <a:off x="10536634" y="4470400"/>
              <a:ext cx="0" cy="428625"/>
            </a:xfrm>
            <a:prstGeom prst="line">
              <a:avLst/>
            </a:prstGeom>
            <a:noFill/>
            <a:ln w="25400">
              <a:solidFill>
                <a:schemeClr val="tx1"/>
              </a:solidFill>
              <a:prstDash val="dash"/>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28" name="Picture 13" descr="txp_fig">
              <a:extLst>
                <a:ext uri="{FF2B5EF4-FFF2-40B4-BE49-F238E27FC236}">
                  <a16:creationId xmlns:a16="http://schemas.microsoft.com/office/drawing/2014/main" id="{8D571DFA-268A-42D3-9919-C561BF51B851}"/>
                </a:ext>
              </a:extLst>
            </p:cNvPr>
            <p:cNvPicPr>
              <a:picLocks noChangeAspect="1" noChangeArrowheads="1"/>
            </p:cNvPicPr>
            <p:nvPr>
              <p:custDataLst>
                <p:tags r:id="rId1"/>
              </p:custDataLst>
            </p:nvPr>
          </p:nvPicPr>
          <p:blipFill>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9895284" y="5681663"/>
              <a:ext cx="303213" cy="23653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DC806DC7-7620-4939-A62F-E35D53161F97}"/>
                    </a:ext>
                  </a:extLst>
                </p:cNvPr>
                <p:cNvSpPr txBox="1"/>
                <p:nvPr/>
              </p:nvSpPr>
              <p:spPr>
                <a:xfrm>
                  <a:off x="10211991" y="4243315"/>
                  <a:ext cx="27940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𝑓</m:t>
                        </m:r>
                      </m:oMath>
                    </m:oMathPara>
                  </a14:m>
                  <a:endParaRPr lang="en-US" sz="2400" i="1" dirty="0"/>
                </a:p>
              </p:txBody>
            </p:sp>
          </mc:Choice>
          <mc:Fallback xmlns="">
            <p:sp>
              <p:nvSpPr>
                <p:cNvPr id="29" name="TextBox 28">
                  <a:extLst>
                    <a:ext uri="{FF2B5EF4-FFF2-40B4-BE49-F238E27FC236}">
                      <a16:creationId xmlns:a16="http://schemas.microsoft.com/office/drawing/2014/main" id="{DC806DC7-7620-4939-A62F-E35D53161F97}"/>
                    </a:ext>
                  </a:extLst>
                </p:cNvPr>
                <p:cNvSpPr txBox="1">
                  <a:spLocks noRot="1" noChangeAspect="1" noMove="1" noResize="1" noEditPoints="1" noAdjustHandles="1" noChangeArrowheads="1" noChangeShapeType="1" noTextEdit="1"/>
                </p:cNvSpPr>
                <p:nvPr/>
              </p:nvSpPr>
              <p:spPr>
                <a:xfrm>
                  <a:off x="10211991" y="4243315"/>
                  <a:ext cx="279400" cy="461665"/>
                </a:xfrm>
                <a:prstGeom prst="rect">
                  <a:avLst/>
                </a:prstGeom>
                <a:blipFill>
                  <a:blip r:embed="rId6"/>
                  <a:stretch>
                    <a:fillRect l="-17391" r="-43478" b="-17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BBA70E4-203C-4ED3-B804-8F77A1C6E3DA}"/>
                    </a:ext>
                  </a:extLst>
                </p:cNvPr>
                <p:cNvSpPr txBox="1"/>
                <p:nvPr/>
              </p:nvSpPr>
              <p:spPr>
                <a:xfrm>
                  <a:off x="10237390" y="4938712"/>
                  <a:ext cx="709613" cy="58477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sz="3200" b="0" i="1" smtClean="0">
                                <a:latin typeface="Cambria Math" panose="02040503050406030204" pitchFamily="18" charset="0"/>
                              </a:rPr>
                            </m:ctrlPr>
                          </m:sSupPr>
                          <m:e>
                            <m:r>
                              <a:rPr lang="en-US" sz="3200" b="0" i="1" smtClean="0">
                                <a:latin typeface="Cambria Math" panose="02040503050406030204" pitchFamily="18" charset="0"/>
                              </a:rPr>
                              <m:t>h</m:t>
                            </m:r>
                          </m:e>
                          <m:sup>
                            <m:r>
                              <a:rPr lang="en-US" sz="3200" b="0" i="1" smtClean="0">
                                <a:latin typeface="Cambria Math" panose="02040503050406030204" pitchFamily="18" charset="0"/>
                              </a:rPr>
                              <m:t>∗</m:t>
                            </m:r>
                          </m:sup>
                        </m:sSup>
                      </m:oMath>
                    </m:oMathPara>
                  </a14:m>
                  <a:endParaRPr lang="en-US" sz="3200" i="1" dirty="0"/>
                </a:p>
              </p:txBody>
            </p:sp>
          </mc:Choice>
          <mc:Fallback xmlns="">
            <p:sp>
              <p:nvSpPr>
                <p:cNvPr id="30" name="TextBox 29">
                  <a:extLst>
                    <a:ext uri="{FF2B5EF4-FFF2-40B4-BE49-F238E27FC236}">
                      <a16:creationId xmlns:a16="http://schemas.microsoft.com/office/drawing/2014/main" id="{ABBA70E4-203C-4ED3-B804-8F77A1C6E3DA}"/>
                    </a:ext>
                  </a:extLst>
                </p:cNvPr>
                <p:cNvSpPr txBox="1">
                  <a:spLocks noRot="1" noChangeAspect="1" noMove="1" noResize="1" noEditPoints="1" noAdjustHandles="1" noChangeArrowheads="1" noChangeShapeType="1" noTextEdit="1"/>
                </p:cNvSpPr>
                <p:nvPr/>
              </p:nvSpPr>
              <p:spPr>
                <a:xfrm>
                  <a:off x="10237390" y="4938712"/>
                  <a:ext cx="709613" cy="584775"/>
                </a:xfrm>
                <a:prstGeom prst="rect">
                  <a:avLst/>
                </a:prstGeom>
                <a:blipFill>
                  <a:blip r:embed="rId7"/>
                  <a:stretch>
                    <a:fillRect/>
                  </a:stretch>
                </a:blipFill>
              </p:spPr>
              <p:txBody>
                <a:bodyPr/>
                <a:lstStyle/>
                <a:p>
                  <a:r>
                    <a:rPr lang="en-US">
                      <a:noFill/>
                    </a:rPr>
                    <a:t> </a:t>
                  </a:r>
                </a:p>
              </p:txBody>
            </p:sp>
          </mc:Fallback>
        </mc:AlternateContent>
        <p:sp>
          <p:nvSpPr>
            <p:cNvPr id="31" name="Speech Bubble: Rectangle 30">
              <a:extLst>
                <a:ext uri="{FF2B5EF4-FFF2-40B4-BE49-F238E27FC236}">
                  <a16:creationId xmlns:a16="http://schemas.microsoft.com/office/drawing/2014/main" id="{FD87FC05-37F8-4864-ABEA-86C4EAAA7AAD}"/>
                </a:ext>
              </a:extLst>
            </p:cNvPr>
            <p:cNvSpPr/>
            <p:nvPr/>
          </p:nvSpPr>
          <p:spPr>
            <a:xfrm>
              <a:off x="10896600" y="4085927"/>
              <a:ext cx="1091406" cy="287635"/>
            </a:xfrm>
            <a:prstGeom prst="wedgeRectCallout">
              <a:avLst>
                <a:gd name="adj1" fmla="val -77851"/>
                <a:gd name="adj2" fmla="val 157777"/>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t>Loss</a:t>
              </a:r>
            </a:p>
          </p:txBody>
        </p:sp>
      </p:grpSp>
    </p:spTree>
    <p:extLst>
      <p:ext uri="{BB962C8B-B14F-4D97-AF65-F5344CB8AC3E}">
        <p14:creationId xmlns:p14="http://schemas.microsoft.com/office/powerpoint/2010/main" val="3455679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68DAF-B65C-4B08-8613-534FAEAD9337}"/>
              </a:ext>
            </a:extLst>
          </p:cNvPr>
          <p:cNvSpPr>
            <a:spLocks noGrp="1"/>
          </p:cNvSpPr>
          <p:nvPr>
            <p:ph type="title"/>
          </p:nvPr>
        </p:nvSpPr>
        <p:spPr>
          <a:xfrm>
            <a:off x="838200" y="365125"/>
            <a:ext cx="10515600" cy="1325563"/>
          </a:xfrm>
        </p:spPr>
        <p:txBody>
          <a:bodyPr/>
          <a:lstStyle/>
          <a:p>
            <a:r>
              <a:rPr lang="en-US" dirty="0"/>
              <a:t>The Most Consistent Classifier</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C4E7412-75D7-4C7D-A4D5-05DDF77126E3}"/>
                  </a:ext>
                </a:extLst>
              </p:cNvPr>
              <p:cNvSpPr>
                <a:spLocks noGrp="1"/>
              </p:cNvSpPr>
              <p:nvPr>
                <p:ph idx="1"/>
              </p:nvPr>
            </p:nvSpPr>
            <p:spPr>
              <a:xfrm>
                <a:off x="858625" y="1690688"/>
                <a:ext cx="10744200" cy="4968875"/>
              </a:xfrm>
            </p:spPr>
            <p:txBody>
              <a:bodyPr>
                <a:normAutofit fontScale="62500" lnSpcReduction="20000"/>
              </a:bodyPr>
              <a:lstStyle/>
              <a:p>
                <a:pPr marL="0" indent="0">
                  <a:lnSpc>
                    <a:spcPct val="120000"/>
                  </a:lnSpc>
                  <a:buNone/>
                </a:pPr>
                <a:r>
                  <a:rPr lang="en-US" b="1" dirty="0"/>
                  <a:t>Statistical Learning: </a:t>
                </a:r>
                <a:r>
                  <a:rPr lang="en-US" b="1" dirty="0">
                    <a:solidFill>
                      <a:srgbClr val="FF0000"/>
                    </a:solidFill>
                  </a:rPr>
                  <a:t>For 0/1 loss</a:t>
                </a:r>
                <a:r>
                  <a:rPr lang="en-US" dirty="0"/>
                  <a:t>, the empirical loss is minimized by the model that predicts for each </a:t>
                </a:r>
                <a14:m>
                  <m:oMath xmlns:m="http://schemas.openxmlformats.org/officeDocument/2006/math">
                    <m:r>
                      <a:rPr lang="en-US" b="1" i="1" smtClean="0">
                        <a:latin typeface="Cambria Math" panose="02040503050406030204" pitchFamily="18" charset="0"/>
                      </a:rPr>
                      <m:t>𝒙</m:t>
                    </m:r>
                  </m:oMath>
                </a14:m>
                <a:r>
                  <a:rPr lang="en-US" dirty="0"/>
                  <a:t> the most likely class </a:t>
                </a:r>
                <a14:m>
                  <m:oMath xmlns:m="http://schemas.openxmlformats.org/officeDocument/2006/math">
                    <m:r>
                      <a:rPr lang="en-US" b="0" i="1" smtClean="0">
                        <a:latin typeface="Cambria Math" panose="02040503050406030204" pitchFamily="18" charset="0"/>
                      </a:rPr>
                      <m:t>𝑦</m:t>
                    </m:r>
                  </m:oMath>
                </a14:m>
                <a:r>
                  <a:rPr lang="en-US" dirty="0"/>
                  <a:t> using MAP (Maximum a posteriori) estimates.  This is called the Bayes classifier.</a:t>
                </a:r>
              </a:p>
              <a:p>
                <a:pPr marL="0" indent="0">
                  <a:lnSpc>
                    <a:spcPct val="120000"/>
                  </a:lnSpc>
                  <a:buNone/>
                </a:pPr>
                <a:br>
                  <a:rPr lang="en-US" dirty="0"/>
                </a:b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h</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r>
                        <a:rPr lang="en-US" b="0" i="1" smtClean="0">
                          <a:latin typeface="Cambria Math" panose="02040503050406030204" pitchFamily="18" charset="0"/>
                        </a:rPr>
                        <m:t> </m:t>
                      </m:r>
                      <m:r>
                        <a:rPr lang="en-US" b="0" i="1" smtClean="0">
                          <a:latin typeface="Cambria Math" panose="02040503050406030204" pitchFamily="18" charset="0"/>
                        </a:rPr>
                        <m:t>𝑃</m:t>
                      </m:r>
                      <m:d>
                        <m:dPr>
                          <m:endChr m:val="|"/>
                          <m:ctrlPr>
                            <a:rPr lang="en-US" b="0" i="1" smtClean="0">
                              <a:latin typeface="Cambria Math" panose="02040503050406030204" pitchFamily="18" charset="0"/>
                            </a:rPr>
                          </m:ctrlPr>
                        </m:dPr>
                        <m:e>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 </m:t>
                          </m:r>
                        </m:e>
                      </m:d>
                      <m:r>
                        <a:rPr lang="en-US" b="0" i="1" smtClean="0">
                          <a:latin typeface="Cambria Math" panose="02040503050406030204" pitchFamily="18" charset="0"/>
                        </a:rPr>
                        <m:t> </m:t>
                      </m:r>
                      <m:r>
                        <a:rPr lang="en-US" b="1" i="1" smtClean="0">
                          <a:latin typeface="Cambria Math" panose="02040503050406030204" pitchFamily="18" charset="0"/>
                        </a:rPr>
                        <m:t>𝑿</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 </m:t>
                      </m:r>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i="1">
                              <a:latin typeface="Cambria Math" panose="02040503050406030204" pitchFamily="18" charset="0"/>
                            </a:rPr>
                            <m:t>𝑃</m:t>
                          </m:r>
                          <m:d>
                            <m:dPr>
                              <m:endChr m:val="|"/>
                              <m:ctrlPr>
                                <a:rPr lang="en-US" i="1">
                                  <a:latin typeface="Cambria Math" panose="02040503050406030204" pitchFamily="18" charset="0"/>
                                </a:rPr>
                              </m:ctrlPr>
                            </m:dPr>
                            <m:e>
                              <m:r>
                                <a:rPr lang="en-US" b="1" i="1" smtClean="0">
                                  <a:latin typeface="Cambria Math" panose="02040503050406030204" pitchFamily="18" charset="0"/>
                                </a:rPr>
                                <m:t>𝒙</m:t>
                              </m:r>
                              <m:r>
                                <a:rPr lang="en-US" i="1">
                                  <a:latin typeface="Cambria Math" panose="02040503050406030204" pitchFamily="18" charset="0"/>
                                </a:rPr>
                                <m:t> </m:t>
                              </m:r>
                            </m:e>
                          </m:d>
                          <m:r>
                            <a:rPr lang="en-US" b="0" i="1" smtClean="0">
                              <a:latin typeface="Cambria Math" panose="02040503050406030204" pitchFamily="18" charset="0"/>
                            </a:rPr>
                            <m:t> </m:t>
                          </m:r>
                          <m:r>
                            <a:rPr lang="en-US" b="0" i="1" smtClean="0">
                              <a:latin typeface="Cambria Math" panose="02040503050406030204" pitchFamily="18" charset="0"/>
                            </a:rPr>
                            <m:t>𝑦</m:t>
                          </m:r>
                          <m:r>
                            <a:rPr lang="en-US" i="1">
                              <a:latin typeface="Cambria Math" panose="02040503050406030204" pitchFamily="18" charset="0"/>
                            </a:rPr>
                            <m:t>)</m:t>
                          </m:r>
                          <m:r>
                            <m:rPr>
                              <m:nor/>
                            </m:rPr>
                            <a:rPr lang="en-US" dirty="0"/>
                            <m:t> </m:t>
                          </m:r>
                          <m:r>
                            <a:rPr lang="en-US" i="1" dirty="0">
                              <a:latin typeface="Cambria Math" panose="02040503050406030204" pitchFamily="18" charset="0"/>
                            </a:rPr>
                            <m:t>𝑃</m:t>
                          </m:r>
                          <m:r>
                            <a:rPr lang="en-US" i="1" dirty="0">
                              <a:latin typeface="Cambria Math" panose="02040503050406030204" pitchFamily="18" charset="0"/>
                            </a:rPr>
                            <m:t>(</m:t>
                          </m:r>
                          <m:r>
                            <a:rPr lang="en-US" b="0" i="1" dirty="0" smtClean="0">
                              <a:latin typeface="Cambria Math" panose="02040503050406030204" pitchFamily="18" charset="0"/>
                            </a:rPr>
                            <m:t>𝑦</m:t>
                          </m:r>
                          <m:r>
                            <a:rPr lang="en-US" b="0" i="1" dirty="0" smtClean="0">
                              <a:latin typeface="Cambria Math" panose="02040503050406030204" pitchFamily="18" charset="0"/>
                            </a:rPr>
                            <m:t>)</m:t>
                          </m:r>
                        </m:num>
                        <m:den>
                          <m:r>
                            <a:rPr lang="en-US" b="0" i="1" smtClean="0">
                              <a:latin typeface="Cambria Math" panose="02040503050406030204" pitchFamily="18" charset="0"/>
                            </a:rPr>
                            <m:t>𝑃</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den>
                      </m:f>
                      <m:r>
                        <a:rPr lang="en-US" b="0" i="1" dirty="0" smtClean="0">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fName>
                        <m:e>
                          <m:r>
                            <a:rPr lang="en-US" i="1">
                              <a:latin typeface="Cambria Math" panose="02040503050406030204" pitchFamily="18" charset="0"/>
                            </a:rPr>
                            <m:t>𝑃</m:t>
                          </m:r>
                          <m:d>
                            <m:dPr>
                              <m:endChr m:val="|"/>
                              <m:ctrlPr>
                                <a:rPr lang="en-US" i="1">
                                  <a:latin typeface="Cambria Math" panose="02040503050406030204" pitchFamily="18" charset="0"/>
                                </a:rPr>
                              </m:ctrlPr>
                            </m:dPr>
                            <m:e>
                              <m:r>
                                <a:rPr lang="en-US" b="1" i="1" smtClean="0">
                                  <a:latin typeface="Cambria Math" panose="02040503050406030204" pitchFamily="18" charset="0"/>
                                </a:rPr>
                                <m:t>𝒙</m:t>
                              </m:r>
                              <m:r>
                                <a:rPr lang="en-US" i="1">
                                  <a:latin typeface="Cambria Math" panose="02040503050406030204" pitchFamily="18" charset="0"/>
                                </a:rPr>
                                <m:t> </m:t>
                              </m:r>
                            </m:e>
                          </m:d>
                          <m:r>
                            <a:rPr lang="en-US" b="0" i="1" smtClean="0">
                              <a:latin typeface="Cambria Math" panose="02040503050406030204" pitchFamily="18" charset="0"/>
                            </a:rPr>
                            <m:t> </m:t>
                          </m:r>
                          <m:r>
                            <a:rPr lang="en-US" b="0" i="1" smtClean="0">
                              <a:latin typeface="Cambria Math" panose="02040503050406030204" pitchFamily="18" charset="0"/>
                            </a:rPr>
                            <m:t>𝑦</m:t>
                          </m:r>
                          <m:r>
                            <a:rPr lang="en-US" i="1">
                              <a:latin typeface="Cambria Math" panose="02040503050406030204" pitchFamily="18" charset="0"/>
                            </a:rPr>
                            <m:t>)</m:t>
                          </m:r>
                          <m:r>
                            <m:rPr>
                              <m:nor/>
                            </m:rPr>
                            <a:rPr lang="en-US" dirty="0"/>
                            <m:t> </m:t>
                          </m:r>
                          <m:r>
                            <a:rPr lang="en-US" i="1" dirty="0">
                              <a:latin typeface="Cambria Math" panose="02040503050406030204" pitchFamily="18" charset="0"/>
                            </a:rPr>
                            <m:t>𝑃</m:t>
                          </m:r>
                          <m:r>
                            <a:rPr lang="en-US" i="1" dirty="0">
                              <a:latin typeface="Cambria Math" panose="02040503050406030204" pitchFamily="18" charset="0"/>
                            </a:rPr>
                            <m:t>(</m:t>
                          </m:r>
                          <m:r>
                            <a:rPr lang="en-US" b="0" i="1" dirty="0" smtClean="0">
                              <a:latin typeface="Cambria Math" panose="02040503050406030204" pitchFamily="18" charset="0"/>
                            </a:rPr>
                            <m:t>𝑦</m:t>
                          </m:r>
                          <m:r>
                            <a:rPr lang="en-US" i="1" dirty="0">
                              <a:latin typeface="Cambria Math" panose="02040503050406030204" pitchFamily="18" charset="0"/>
                            </a:rPr>
                            <m:t>)</m:t>
                          </m:r>
                        </m:e>
                      </m:func>
                    </m:oMath>
                  </m:oMathPara>
                </a14:m>
                <a:endParaRPr lang="en-US" dirty="0"/>
              </a:p>
              <a:p>
                <a:pPr marL="0" indent="0">
                  <a:lnSpc>
                    <a:spcPct val="120000"/>
                  </a:lnSpc>
                  <a:buNone/>
                </a:pPr>
                <a:endParaRPr lang="en-US" dirty="0"/>
              </a:p>
              <a:p>
                <a:pPr marL="0" indent="0">
                  <a:lnSpc>
                    <a:spcPct val="120000"/>
                  </a:lnSpc>
                  <a:buNone/>
                </a:pPr>
                <a:r>
                  <a:rPr lang="en-US" b="1" dirty="0"/>
                  <a:t>Optimality</a:t>
                </a:r>
                <a:r>
                  <a:rPr lang="en-US" dirty="0"/>
                  <a:t>: The </a:t>
                </a:r>
                <a:r>
                  <a:rPr lang="en-US" b="1" dirty="0">
                    <a:solidFill>
                      <a:srgbClr val="FF0000"/>
                    </a:solidFill>
                  </a:rPr>
                  <a:t>Bayes classifier is optimal for 0/1 loss.</a:t>
                </a:r>
                <a:r>
                  <a:rPr lang="en-US" dirty="0"/>
                  <a:t> It is the most consistent classifier possible with the lowest possible error called the </a:t>
                </a:r>
                <a:r>
                  <a:rPr lang="en-US" b="1" dirty="0">
                    <a:solidFill>
                      <a:srgbClr val="FF0000"/>
                    </a:solidFill>
                  </a:rPr>
                  <a:t>Bayes error rate</a:t>
                </a:r>
                <a:r>
                  <a:rPr lang="en-US" dirty="0"/>
                  <a:t>. No better classifier exists for 0/1 loss!</a:t>
                </a:r>
              </a:p>
              <a:p>
                <a:pPr marL="0" indent="0">
                  <a:lnSpc>
                    <a:spcPct val="120000"/>
                  </a:lnSpc>
                  <a:buNone/>
                </a:pPr>
                <a:endParaRPr lang="en-US" b="1" dirty="0"/>
              </a:p>
              <a:p>
                <a:pPr marL="0" indent="0">
                  <a:lnSpc>
                    <a:spcPct val="120000"/>
                  </a:lnSpc>
                  <a:buNone/>
                </a:pPr>
                <a:r>
                  <a:rPr lang="en-US" b="1" dirty="0"/>
                  <a:t>Issue</a:t>
                </a:r>
                <a:r>
                  <a:rPr lang="en-US" dirty="0"/>
                  <a:t>: The classifier requires to learn </a:t>
                </a:r>
                <a14:m>
                  <m:oMath xmlns:m="http://schemas.openxmlformats.org/officeDocument/2006/math">
                    <m:r>
                      <a:rPr lang="en-US" i="1" smtClean="0">
                        <a:latin typeface="Cambria Math" panose="02040503050406030204" pitchFamily="18" charset="0"/>
                      </a:rPr>
                      <m:t>𝑃</m:t>
                    </m:r>
                    <m:d>
                      <m:dPr>
                        <m:endChr m:val="|"/>
                        <m:ctrlPr>
                          <a:rPr lang="en-US" i="1">
                            <a:latin typeface="Cambria Math" panose="02040503050406030204" pitchFamily="18" charset="0"/>
                          </a:rPr>
                        </m:ctrlPr>
                      </m:dPr>
                      <m:e>
                        <m:r>
                          <a:rPr lang="en-US" b="1" i="1" smtClean="0">
                            <a:latin typeface="Cambria Math" panose="02040503050406030204" pitchFamily="18" charset="0"/>
                          </a:rPr>
                          <m:t>𝒙</m:t>
                        </m:r>
                        <m:r>
                          <a:rPr lang="en-US" i="1">
                            <a:latin typeface="Cambria Math" panose="02040503050406030204" pitchFamily="18" charset="0"/>
                          </a:rPr>
                          <m:t> </m:t>
                        </m:r>
                      </m:e>
                    </m:d>
                    <m:r>
                      <a:rPr lang="en-US" i="1">
                        <a:latin typeface="Cambria Math" panose="02040503050406030204" pitchFamily="18" charset="0"/>
                      </a:rPr>
                      <m:t> </m:t>
                    </m:r>
                    <m:r>
                      <a:rPr lang="en-US" b="0" i="1" smtClean="0">
                        <a:latin typeface="Cambria Math" panose="02040503050406030204" pitchFamily="18" charset="0"/>
                      </a:rPr>
                      <m:t>𝑦</m:t>
                    </m:r>
                    <m:r>
                      <a:rPr lang="en-US" i="1">
                        <a:latin typeface="Cambria Math" panose="02040503050406030204" pitchFamily="18" charset="0"/>
                      </a:rPr>
                      <m:t>)</m:t>
                    </m:r>
                    <m:r>
                      <m:rPr>
                        <m:nor/>
                      </m:rPr>
                      <a:rPr lang="en-US" dirty="0"/>
                      <m:t> </m:t>
                    </m:r>
                    <m:r>
                      <a:rPr lang="en-US" i="1" dirty="0">
                        <a:latin typeface="Cambria Math" panose="02040503050406030204" pitchFamily="18" charset="0"/>
                      </a:rPr>
                      <m:t>𝑃</m:t>
                    </m:r>
                    <m:d>
                      <m:dPr>
                        <m:ctrlPr>
                          <a:rPr lang="en-US" i="1" dirty="0">
                            <a:latin typeface="Cambria Math" panose="02040503050406030204" pitchFamily="18" charset="0"/>
                          </a:rPr>
                        </m:ctrlPr>
                      </m:dPr>
                      <m:e>
                        <m:r>
                          <a:rPr lang="en-US" b="0" i="1" dirty="0" smtClean="0">
                            <a:latin typeface="Cambria Math" panose="02040503050406030204" pitchFamily="18" charset="0"/>
                          </a:rPr>
                          <m:t>𝑦</m:t>
                        </m:r>
                      </m:e>
                    </m:d>
                    <m:r>
                      <a:rPr lang="en-US" b="0" i="1" dirty="0" smtClean="0">
                        <a:latin typeface="Cambria Math" panose="02040503050406030204" pitchFamily="18" charset="0"/>
                      </a:rPr>
                      <m:t>=</m:t>
                    </m:r>
                    <m:r>
                      <a:rPr lang="en-US" b="0" i="1" dirty="0" smtClean="0">
                        <a:latin typeface="Cambria Math" panose="02040503050406030204" pitchFamily="18" charset="0"/>
                      </a:rPr>
                      <m:t>𝑃</m:t>
                    </m:r>
                    <m:r>
                      <a:rPr lang="en-US" b="0" i="1" dirty="0" smtClean="0">
                        <a:latin typeface="Cambria Math" panose="02040503050406030204" pitchFamily="18" charset="0"/>
                      </a:rPr>
                      <m:t>(</m:t>
                    </m:r>
                    <m:r>
                      <a:rPr lang="en-US" b="1" i="1" dirty="0" smtClean="0">
                        <a:latin typeface="Cambria Math" panose="02040503050406030204" pitchFamily="18" charset="0"/>
                      </a:rPr>
                      <m:t>𝒙</m:t>
                    </m:r>
                    <m:r>
                      <a:rPr lang="en-US" b="0" i="1" dirty="0" smtClean="0">
                        <a:latin typeface="Cambria Math" panose="02040503050406030204" pitchFamily="18" charset="0"/>
                      </a:rPr>
                      <m:t>,</m:t>
                    </m:r>
                    <m:r>
                      <a:rPr lang="en-US" b="0" i="1" dirty="0" smtClean="0">
                        <a:latin typeface="Cambria Math" panose="02040503050406030204" pitchFamily="18" charset="0"/>
                      </a:rPr>
                      <m:t>𝑦</m:t>
                    </m:r>
                    <m:r>
                      <a:rPr lang="en-US" b="0" i="1" dirty="0" smtClean="0">
                        <a:latin typeface="Cambria Math" panose="02040503050406030204" pitchFamily="18" charset="0"/>
                      </a:rPr>
                      <m:t>)</m:t>
                    </m:r>
                  </m:oMath>
                </a14:m>
                <a:r>
                  <a:rPr lang="en-US" dirty="0"/>
                  <a:t> from the examples.</a:t>
                </a:r>
              </a:p>
              <a:p>
                <a:pPr>
                  <a:lnSpc>
                    <a:spcPct val="120000"/>
                  </a:lnSpc>
                </a:pPr>
                <a:r>
                  <a:rPr lang="en-US" dirty="0"/>
                  <a:t>It </a:t>
                </a:r>
                <a:r>
                  <a:rPr lang="en-US" b="1" dirty="0">
                    <a:solidFill>
                      <a:srgbClr val="FF0000"/>
                    </a:solidFill>
                  </a:rPr>
                  <a:t>needs the complete joint probability </a:t>
                </a:r>
                <a:r>
                  <a:rPr lang="en-US" dirty="0"/>
                  <a:t>which requires in the general case a probability table with one entry for each possible feature combination in vector </a:t>
                </a:r>
                <a14:m>
                  <m:oMath xmlns:m="http://schemas.openxmlformats.org/officeDocument/2006/math">
                    <m:r>
                      <a:rPr lang="en-US" b="1" i="1" smtClean="0">
                        <a:latin typeface="Cambria Math" panose="02040503050406030204" pitchFamily="18" charset="0"/>
                      </a:rPr>
                      <m:t>𝒙</m:t>
                    </m:r>
                  </m:oMath>
                </a14:m>
                <a:r>
                  <a:rPr lang="en-US" i="1" dirty="0"/>
                  <a:t>. </a:t>
                </a:r>
              </a:p>
              <a:p>
                <a:pPr>
                  <a:lnSpc>
                    <a:spcPct val="120000"/>
                  </a:lnSpc>
                </a:pPr>
                <a:r>
                  <a:rPr lang="en-US" dirty="0"/>
                  <a:t>This is impractical (unless a simple Bayesian network exists). </a:t>
                </a:r>
                <a:br>
                  <a:rPr lang="en-US" dirty="0"/>
                </a:br>
                <a:r>
                  <a:rPr lang="en-US" dirty="0"/>
                  <a:t>Most classifiers try to approximate the Bayes classifier using a </a:t>
                </a:r>
                <a:r>
                  <a:rPr lang="en-US" b="1" dirty="0">
                    <a:solidFill>
                      <a:srgbClr val="FF0000"/>
                    </a:solidFill>
                  </a:rPr>
                  <a:t>simpler model </a:t>
                </a:r>
                <a:r>
                  <a:rPr lang="en-US" dirty="0"/>
                  <a:t>with fewer parameters.</a:t>
                </a:r>
                <a:endParaRPr lang="en-US" i="1" dirty="0"/>
              </a:p>
            </p:txBody>
          </p:sp>
        </mc:Choice>
        <mc:Fallback>
          <p:sp>
            <p:nvSpPr>
              <p:cNvPr id="3" name="Content Placeholder 2">
                <a:extLst>
                  <a:ext uri="{FF2B5EF4-FFF2-40B4-BE49-F238E27FC236}">
                    <a16:creationId xmlns:a16="http://schemas.microsoft.com/office/drawing/2014/main" id="{0C4E7412-75D7-4C7D-A4D5-05DDF77126E3}"/>
                  </a:ext>
                </a:extLst>
              </p:cNvPr>
              <p:cNvSpPr>
                <a:spLocks noGrp="1" noRot="1" noChangeAspect="1" noMove="1" noResize="1" noEditPoints="1" noAdjustHandles="1" noChangeArrowheads="1" noChangeShapeType="1" noTextEdit="1"/>
              </p:cNvSpPr>
              <p:nvPr>
                <p:ph idx="1"/>
              </p:nvPr>
            </p:nvSpPr>
            <p:spPr>
              <a:xfrm>
                <a:off x="858625" y="1690688"/>
                <a:ext cx="10744200" cy="4968875"/>
              </a:xfrm>
              <a:blipFill>
                <a:blip r:embed="rId2"/>
                <a:stretch>
                  <a:fillRect l="-511" t="-613" r="-908"/>
                </a:stretch>
              </a:blipFill>
            </p:spPr>
            <p:txBody>
              <a:bodyPr/>
              <a:lstStyle/>
              <a:p>
                <a:r>
                  <a:rPr lang="en-US">
                    <a:noFill/>
                  </a:rPr>
                  <a:t> </a:t>
                </a:r>
              </a:p>
            </p:txBody>
          </p:sp>
        </mc:Fallback>
      </mc:AlternateContent>
    </p:spTree>
    <p:extLst>
      <p:ext uri="{BB962C8B-B14F-4D97-AF65-F5344CB8AC3E}">
        <p14:creationId xmlns:p14="http://schemas.microsoft.com/office/powerpoint/2010/main" val="41366078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C92284-CB62-42D7-AF29-F961826CEA13}"/>
              </a:ext>
            </a:extLst>
          </p:cNvPr>
          <p:cNvSpPr>
            <a:spLocks noGrp="1"/>
          </p:cNvSpPr>
          <p:nvPr>
            <p:ph type="title"/>
          </p:nvPr>
        </p:nvSpPr>
        <p:spPr/>
        <p:txBody>
          <a:bodyPr/>
          <a:lstStyle/>
          <a:p>
            <a:r>
              <a:rPr lang="en-US" dirty="0"/>
              <a:t>Simplicity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254F98F-BF64-48BE-80C6-A0373656C0B8}"/>
                  </a:ext>
                </a:extLst>
              </p:cNvPr>
              <p:cNvSpPr>
                <a:spLocks noGrp="1"/>
              </p:cNvSpPr>
              <p:nvPr>
                <p:ph idx="1"/>
              </p:nvPr>
            </p:nvSpPr>
            <p:spPr>
              <a:xfrm>
                <a:off x="838200" y="1447800"/>
                <a:ext cx="10515600" cy="4876800"/>
              </a:xfrm>
            </p:spPr>
            <p:txBody>
              <a:bodyPr>
                <a:normAutofit fontScale="85000" lnSpcReduction="20000"/>
              </a:bodyPr>
              <a:lstStyle/>
              <a:p>
                <a:pPr marL="0" indent="0">
                  <a:buNone/>
                </a:pPr>
                <a:r>
                  <a:rPr lang="en-US" b="1" dirty="0"/>
                  <a:t>Ease of use</a:t>
                </a:r>
                <a:endParaRPr lang="en-US" dirty="0"/>
              </a:p>
              <a:p>
                <a:pPr lvl="1"/>
                <a:r>
                  <a:rPr lang="en-US" dirty="0"/>
                  <a:t>Simpler hypotheses have fewer model parameters to estimate and store. Also makes prediction faster.</a:t>
                </a:r>
              </a:p>
              <a:p>
                <a:endParaRPr lang="en-US" b="1" dirty="0"/>
              </a:p>
              <a:p>
                <a:pPr marL="0" indent="0">
                  <a:buNone/>
                </a:pPr>
                <a:r>
                  <a:rPr lang="en-US" b="1" dirty="0"/>
                  <a:t>Generalization</a:t>
                </a:r>
                <a:r>
                  <a:rPr lang="en-US" dirty="0"/>
                  <a:t>: How well does the hypothesis perform on new data?</a:t>
                </a:r>
              </a:p>
              <a:p>
                <a:pPr lvl="1"/>
                <a:r>
                  <a:rPr lang="en-US" dirty="0"/>
                  <a:t>We do not want the model to be too specific to the training examples (an issue called </a:t>
                </a:r>
                <a:r>
                  <a:rPr lang="en-US" b="1" dirty="0">
                    <a:solidFill>
                      <a:srgbClr val="FF0000"/>
                    </a:solidFill>
                  </a:rPr>
                  <a:t>overfitting</a:t>
                </a:r>
                <a:r>
                  <a:rPr lang="en-US" dirty="0"/>
                  <a:t>).</a:t>
                </a:r>
              </a:p>
              <a:p>
                <a:pPr lvl="1"/>
                <a:r>
                  <a:rPr lang="en-US" dirty="0"/>
                  <a:t>Simpler models typically generalize better to new examples.</a:t>
                </a:r>
              </a:p>
              <a:p>
                <a:pPr marL="0" indent="0">
                  <a:buNone/>
                </a:pPr>
                <a:endParaRPr lang="en-US" dirty="0"/>
              </a:p>
              <a:p>
                <a:pPr marL="0" indent="0">
                  <a:buNone/>
                </a:pPr>
                <a:r>
                  <a:rPr lang="en-US" b="1" dirty="0"/>
                  <a:t>How to achieve simplicity?</a:t>
                </a:r>
              </a:p>
              <a:p>
                <a:pPr marL="914400" lvl="1" indent="-457200">
                  <a:buFont typeface="+mj-lt"/>
                  <a:buAutoNum type="alphaLcParenR"/>
                </a:pPr>
                <a:r>
                  <a:rPr lang="en-US" b="1" dirty="0">
                    <a:solidFill>
                      <a:srgbClr val="FF0000"/>
                    </a:solidFill>
                  </a:rPr>
                  <a:t>Model bias: </a:t>
                </a:r>
                <a:r>
                  <a:rPr lang="en-US" dirty="0"/>
                  <a:t>Restrict </a:t>
                </a:r>
                <a14:m>
                  <m:oMath xmlns:m="http://schemas.openxmlformats.org/officeDocument/2006/math">
                    <m:r>
                      <a:rPr lang="en-US" i="1" dirty="0" smtClean="0">
                        <a:latin typeface="Cambria Math" panose="02040503050406030204" pitchFamily="18" charset="0"/>
                      </a:rPr>
                      <m:t>𝐻</m:t>
                    </m:r>
                  </m:oMath>
                </a14:m>
                <a:r>
                  <a:rPr lang="en-US" dirty="0"/>
                  <a:t> to simpler models (e.g., assumptions like independence, or only consider linear models). </a:t>
                </a:r>
              </a:p>
              <a:p>
                <a:pPr marL="914400" lvl="1" indent="-457200">
                  <a:buFont typeface="+mj-lt"/>
                  <a:buAutoNum type="alphaLcParenR"/>
                </a:pPr>
                <a:r>
                  <a:rPr lang="en-US" b="1" dirty="0">
                    <a:solidFill>
                      <a:srgbClr val="FF0000"/>
                    </a:solidFill>
                  </a:rPr>
                  <a:t>Feature selection: </a:t>
                </a:r>
                <a:r>
                  <a:rPr lang="en-US" dirty="0"/>
                  <a:t>use fewer variables from the feature vector </a:t>
                </a:r>
                <a14:m>
                  <m:oMath xmlns:m="http://schemas.openxmlformats.org/officeDocument/2006/math">
                    <m:r>
                      <a:rPr lang="en-US" b="1" i="1" dirty="0" smtClean="0">
                        <a:latin typeface="Cambria Math" panose="02040503050406030204" pitchFamily="18" charset="0"/>
                      </a:rPr>
                      <m:t>𝒙</m:t>
                    </m:r>
                  </m:oMath>
                </a14:m>
                <a:r>
                  <a:rPr lang="en-US" dirty="0"/>
                  <a:t>.</a:t>
                </a:r>
                <a:endParaRPr lang="en-US" b="1" dirty="0"/>
              </a:p>
              <a:p>
                <a:pPr marL="914400" lvl="1" indent="-457200">
                  <a:buFont typeface="+mj-lt"/>
                  <a:buAutoNum type="alphaLcParenR"/>
                </a:pPr>
                <a:r>
                  <a:rPr lang="en-US" b="1" dirty="0">
                    <a:solidFill>
                      <a:srgbClr val="FF0000"/>
                    </a:solidFill>
                  </a:rPr>
                  <a:t>Regularization:</a:t>
                </a:r>
                <a:r>
                  <a:rPr lang="en-US" dirty="0"/>
                  <a:t> directly penalize the model for its complexity (e.g., number of parameters)</a:t>
                </a:r>
                <a:br>
                  <a:rPr lang="en-US" dirty="0"/>
                </a:br>
                <a:br>
                  <a:rPr lang="en-US" dirty="0"/>
                </a:br>
                <a14:m>
                  <m:oMath xmlns:m="http://schemas.openxmlformats.org/officeDocument/2006/math">
                    <m:sSup>
                      <m:sSupPr>
                        <m:ctrlPr>
                          <a:rPr lang="en-US" b="0" i="1" dirty="0" smtClean="0">
                            <a:latin typeface="Cambria Math" panose="02040503050406030204" pitchFamily="18" charset="0"/>
                          </a:rPr>
                        </m:ctrlPr>
                      </m:sSupPr>
                      <m:e>
                        <m:r>
                          <a:rPr lang="en-US" b="0" i="1" smtClean="0">
                            <a:latin typeface="Cambria Math" panose="02040503050406030204" pitchFamily="18" charset="0"/>
                          </a:rPr>
                          <m:t>h</m:t>
                        </m:r>
                      </m:e>
                      <m:sup>
                        <m:r>
                          <a:rPr lang="en-US" b="0" i="1" dirty="0" smtClean="0">
                            <a:latin typeface="Cambria Math" panose="02040503050406030204" pitchFamily="18" charset="0"/>
                          </a:rPr>
                          <m:t>∗</m:t>
                        </m:r>
                      </m:sup>
                    </m:sSup>
                    <m:r>
                      <a:rPr lang="en-US" b="0" i="1" dirty="0" smtClean="0">
                        <a:latin typeface="Cambria Math" panose="02040503050406030204" pitchFamily="18" charset="0"/>
                      </a:rPr>
                      <m:t>=</m:t>
                    </m:r>
                    <m:func>
                      <m:funcPr>
                        <m:ctrlPr>
                          <a:rPr lang="en-US" b="0" i="1" dirty="0" smtClean="0">
                            <a:latin typeface="Cambria Math" panose="02040503050406030204" pitchFamily="18" charset="0"/>
                          </a:rPr>
                        </m:ctrlPr>
                      </m:funcPr>
                      <m:fName>
                        <m:limLow>
                          <m:limLowPr>
                            <m:ctrlPr>
                              <a:rPr lang="en-US" b="0" i="1" dirty="0" smtClean="0">
                                <a:latin typeface="Cambria Math" panose="02040503050406030204" pitchFamily="18" charset="0"/>
                              </a:rPr>
                            </m:ctrlPr>
                          </m:limLowPr>
                          <m:e>
                            <m:r>
                              <m:rPr>
                                <m:sty m:val="p"/>
                              </m:rPr>
                              <a:rPr lang="en-US" b="0" i="0" dirty="0" smtClean="0">
                                <a:latin typeface="Cambria Math" panose="02040503050406030204" pitchFamily="18" charset="0"/>
                              </a:rPr>
                              <m:t>argmin</m:t>
                            </m:r>
                          </m:e>
                          <m:lim>
                            <m:r>
                              <a:rPr lang="en-US" b="0" i="1" dirty="0" smtClean="0">
                                <a:latin typeface="Cambria Math" panose="02040503050406030204" pitchFamily="18" charset="0"/>
                              </a:rPr>
                              <m:t>h</m:t>
                            </m:r>
                            <m:r>
                              <a:rPr lang="en-US" b="0" i="1" dirty="0" smtClean="0">
                                <a:latin typeface="Cambria Math" panose="02040503050406030204" pitchFamily="18" charset="0"/>
                              </a:rPr>
                              <m:t>∈ </m:t>
                            </m:r>
                            <m:r>
                              <a:rPr lang="en-US" b="0" i="1" dirty="0" smtClean="0">
                                <a:latin typeface="Cambria Math" panose="02040503050406030204" pitchFamily="18" charset="0"/>
                              </a:rPr>
                              <m:t>𝐻</m:t>
                            </m:r>
                          </m:lim>
                        </m:limLow>
                        <m:r>
                          <a:rPr lang="en-US" b="0" i="1" dirty="0" smtClean="0">
                            <a:latin typeface="Cambria Math" panose="02040503050406030204" pitchFamily="18" charset="0"/>
                          </a:rPr>
                          <m:t> </m:t>
                        </m:r>
                      </m:fName>
                      <m:e>
                        <m:d>
                          <m:dPr>
                            <m:begChr m:val="["/>
                            <m:endChr m:val="]"/>
                            <m:ctrlPr>
                              <a:rPr lang="en-US" b="0" i="1" dirty="0" smtClean="0">
                                <a:latin typeface="Cambria Math" panose="02040503050406030204" pitchFamily="18" charset="0"/>
                              </a:rPr>
                            </m:ctrlPr>
                          </m:dPr>
                          <m:e>
                            <m:r>
                              <a:rPr lang="en-US" i="1">
                                <a:latin typeface="Cambria Math" panose="02040503050406030204" pitchFamily="18" charset="0"/>
                              </a:rPr>
                              <m:t>𝐸𝑚𝑝𝐿𝑜𝑠</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𝐿</m:t>
                                </m:r>
                                <m:r>
                                  <a:rPr lang="en-US" i="1">
                                    <a:latin typeface="Cambria Math" panose="02040503050406030204" pitchFamily="18" charset="0"/>
                                  </a:rPr>
                                  <m:t>,</m:t>
                                </m:r>
                                <m:r>
                                  <a:rPr lang="en-US" i="1">
                                    <a:latin typeface="Cambria Math" panose="02040503050406030204" pitchFamily="18" charset="0"/>
                                  </a:rPr>
                                  <m:t>𝐸</m:t>
                                </m:r>
                              </m:sub>
                            </m:sSub>
                            <m:r>
                              <a:rPr lang="en-US" i="1">
                                <a:latin typeface="Cambria Math" panose="02040503050406030204" pitchFamily="18" charset="0"/>
                              </a:rPr>
                              <m:t>(</m:t>
                            </m:r>
                            <m:r>
                              <a:rPr lang="en-US" i="1">
                                <a:latin typeface="Cambria Math" panose="02040503050406030204" pitchFamily="18" charset="0"/>
                              </a:rPr>
                              <m:t>h</m:t>
                            </m:r>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𝜆</m:t>
                            </m:r>
                            <m:r>
                              <a:rPr lang="en-US" i="1">
                                <a:latin typeface="Cambria Math" panose="02040503050406030204" pitchFamily="18" charset="0"/>
                              </a:rPr>
                              <m:t> </m:t>
                            </m:r>
                            <m:r>
                              <a:rPr lang="en-US" i="1">
                                <a:latin typeface="Cambria Math" panose="02040503050406030204" pitchFamily="18" charset="0"/>
                              </a:rPr>
                              <m:t>𝐶𝑜𝑚𝑝𝑙𝑒𝑥𝑖𝑡𝑦</m:t>
                            </m:r>
                            <m:r>
                              <a:rPr lang="en-US" i="1">
                                <a:latin typeface="Cambria Math" panose="02040503050406030204" pitchFamily="18" charset="0"/>
                              </a:rPr>
                              <m:t>(</m:t>
                            </m:r>
                            <m:r>
                              <a:rPr lang="en-US" i="1">
                                <a:latin typeface="Cambria Math" panose="02040503050406030204" pitchFamily="18" charset="0"/>
                              </a:rPr>
                              <m:t>h</m:t>
                            </m:r>
                            <m:r>
                              <a:rPr lang="en-US" b="0" i="1" smtClean="0">
                                <a:latin typeface="Cambria Math" panose="02040503050406030204" pitchFamily="18" charset="0"/>
                              </a:rPr>
                              <m:t>)</m:t>
                            </m:r>
                          </m:e>
                        </m:d>
                      </m:e>
                    </m:func>
                  </m:oMath>
                </a14:m>
                <a:endParaRPr lang="en-US" dirty="0"/>
              </a:p>
            </p:txBody>
          </p:sp>
        </mc:Choice>
        <mc:Fallback xmlns="">
          <p:sp>
            <p:nvSpPr>
              <p:cNvPr id="3" name="Content Placeholder 2">
                <a:extLst>
                  <a:ext uri="{FF2B5EF4-FFF2-40B4-BE49-F238E27FC236}">
                    <a16:creationId xmlns:a16="http://schemas.microsoft.com/office/drawing/2014/main" id="{1254F98F-BF64-48BE-80C6-A0373656C0B8}"/>
                  </a:ext>
                </a:extLst>
              </p:cNvPr>
              <p:cNvSpPr>
                <a:spLocks noGrp="1" noRot="1" noChangeAspect="1" noMove="1" noResize="1" noEditPoints="1" noAdjustHandles="1" noChangeArrowheads="1" noChangeShapeType="1" noTextEdit="1"/>
              </p:cNvSpPr>
              <p:nvPr>
                <p:ph idx="1"/>
              </p:nvPr>
            </p:nvSpPr>
            <p:spPr>
              <a:xfrm>
                <a:off x="838200" y="1447800"/>
                <a:ext cx="10515600" cy="4876800"/>
              </a:xfrm>
              <a:blipFill>
                <a:blip r:embed="rId2"/>
                <a:stretch>
                  <a:fillRect l="-928" t="-2875"/>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id="{12C0113F-FD2C-74FA-604A-8CD7A3322502}"/>
              </a:ext>
            </a:extLst>
          </p:cNvPr>
          <p:cNvGrpSpPr/>
          <p:nvPr/>
        </p:nvGrpSpPr>
        <p:grpSpPr>
          <a:xfrm>
            <a:off x="6553200" y="6055796"/>
            <a:ext cx="1768816" cy="537607"/>
            <a:chOff x="6705600" y="5955268"/>
            <a:chExt cx="1768816" cy="537607"/>
          </a:xfrm>
        </p:grpSpPr>
        <p:sp>
          <p:nvSpPr>
            <p:cNvPr id="4" name="Right Brace 3">
              <a:extLst>
                <a:ext uri="{FF2B5EF4-FFF2-40B4-BE49-F238E27FC236}">
                  <a16:creationId xmlns:a16="http://schemas.microsoft.com/office/drawing/2014/main" id="{8FEE3F7E-F368-4C1C-B955-0B273B4BAE77}"/>
                </a:ext>
                <a:ext uri="{C183D7F6-B498-43B3-948B-1728B52AA6E4}">
                  <adec:decorative xmlns:adec="http://schemas.microsoft.com/office/drawing/2017/decorative" val="1"/>
                </a:ext>
              </a:extLst>
            </p:cNvPr>
            <p:cNvSpPr/>
            <p:nvPr/>
          </p:nvSpPr>
          <p:spPr>
            <a:xfrm rot="5400000">
              <a:off x="7481541" y="5179327"/>
              <a:ext cx="216933" cy="1768816"/>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 name="TextBox 5">
              <a:extLst>
                <a:ext uri="{FF2B5EF4-FFF2-40B4-BE49-F238E27FC236}">
                  <a16:creationId xmlns:a16="http://schemas.microsoft.com/office/drawing/2014/main" id="{5601D348-C5FF-46FB-90E1-7CAD1DCB8668}"/>
                </a:ext>
              </a:extLst>
            </p:cNvPr>
            <p:cNvSpPr txBox="1"/>
            <p:nvPr/>
          </p:nvSpPr>
          <p:spPr>
            <a:xfrm>
              <a:off x="6949960" y="6154321"/>
              <a:ext cx="1280094" cy="338554"/>
            </a:xfrm>
            <a:prstGeom prst="rect">
              <a:avLst/>
            </a:prstGeom>
            <a:noFill/>
          </p:spPr>
          <p:txBody>
            <a:bodyPr wrap="none" rtlCol="0">
              <a:spAutoFit/>
            </a:bodyPr>
            <a:lstStyle/>
            <a:p>
              <a:r>
                <a:rPr lang="en-US" sz="1600" b="1" dirty="0">
                  <a:solidFill>
                    <a:schemeClr val="accent1"/>
                  </a:solidFill>
                </a:rPr>
                <a:t>Penalty term</a:t>
              </a:r>
            </a:p>
          </p:txBody>
        </p:sp>
      </p:grpSp>
    </p:spTree>
    <p:extLst>
      <p:ext uri="{BB962C8B-B14F-4D97-AF65-F5344CB8AC3E}">
        <p14:creationId xmlns:p14="http://schemas.microsoft.com/office/powerpoint/2010/main" val="2779129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2F815-730C-4EEE-B25F-C6D782A92ABB}"/>
              </a:ext>
            </a:extLst>
          </p:cNvPr>
          <p:cNvSpPr>
            <a:spLocks noGrp="1"/>
          </p:cNvSpPr>
          <p:nvPr>
            <p:ph type="title"/>
          </p:nvPr>
        </p:nvSpPr>
        <p:spPr/>
        <p:txBody>
          <a:bodyPr/>
          <a:lstStyle/>
          <a:p>
            <a:r>
              <a:rPr lang="en-US" dirty="0"/>
              <a:t>Model Selection: Bias vs. Variance</a:t>
            </a:r>
          </a:p>
        </p:txBody>
      </p:sp>
      <p:pic>
        <p:nvPicPr>
          <p:cNvPr id="4" name="Content Placeholder 3" descr="A figure with semveral models fitted to two sets of data points sampled from the same generating process. The models gor from simple with high bias and loe variance to more consistent with low bias and high variance.">
            <a:extLst>
              <a:ext uri="{FF2B5EF4-FFF2-40B4-BE49-F238E27FC236}">
                <a16:creationId xmlns:a16="http://schemas.microsoft.com/office/drawing/2014/main" id="{440669D3-C76F-4860-919B-1C91EB0687A7}"/>
              </a:ext>
            </a:extLst>
          </p:cNvPr>
          <p:cNvPicPr>
            <a:picLocks noGrp="1" noChangeAspect="1"/>
          </p:cNvPicPr>
          <p:nvPr>
            <p:ph idx="1"/>
          </p:nvPr>
        </p:nvPicPr>
        <p:blipFill rotWithShape="1">
          <a:blip r:embed="rId2"/>
          <a:srcRect r="1786" b="21972"/>
          <a:stretch/>
        </p:blipFill>
        <p:spPr>
          <a:xfrm>
            <a:off x="625643" y="1695967"/>
            <a:ext cx="8382000" cy="3790433"/>
          </a:xfrm>
          <a:prstGeom prst="rect">
            <a:avLst/>
          </a:prstGeom>
        </p:spPr>
      </p:pic>
      <p:sp>
        <p:nvSpPr>
          <p:cNvPr id="13" name="Arrow: Right 12">
            <a:extLst>
              <a:ext uri="{FF2B5EF4-FFF2-40B4-BE49-F238E27FC236}">
                <a16:creationId xmlns:a16="http://schemas.microsoft.com/office/drawing/2014/main" id="{48F71785-A232-4094-8F22-F6A37EA274B4}"/>
              </a:ext>
              <a:ext uri="{C183D7F6-B498-43B3-948B-1728B52AA6E4}">
                <adec:decorative xmlns:adec="http://schemas.microsoft.com/office/drawing/2017/decorative" val="1"/>
              </a:ext>
            </a:extLst>
          </p:cNvPr>
          <p:cNvSpPr/>
          <p:nvPr/>
        </p:nvSpPr>
        <p:spPr>
          <a:xfrm>
            <a:off x="990600" y="5867400"/>
            <a:ext cx="8381999" cy="762000"/>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dirty="0"/>
              <a:t>Low    </a:t>
            </a:r>
            <a:r>
              <a:rPr lang="en-US" b="1" dirty="0"/>
              <a:t>Variance</a:t>
            </a:r>
            <a:r>
              <a:rPr lang="en-US" dirty="0"/>
              <a:t>: difference in the model due to slightly different data.   high</a:t>
            </a:r>
          </a:p>
        </p:txBody>
      </p:sp>
      <p:sp>
        <p:nvSpPr>
          <p:cNvPr id="14" name="Arrow: Left 13">
            <a:extLst>
              <a:ext uri="{FF2B5EF4-FFF2-40B4-BE49-F238E27FC236}">
                <a16:creationId xmlns:a16="http://schemas.microsoft.com/office/drawing/2014/main" id="{27137B17-72F3-4A79-AFD5-FED3B56484F5}"/>
              </a:ext>
              <a:ext uri="{C183D7F6-B498-43B3-948B-1728B52AA6E4}">
                <adec:decorative xmlns:adec="http://schemas.microsoft.com/office/drawing/2017/decorative" val="1"/>
              </a:ext>
            </a:extLst>
          </p:cNvPr>
          <p:cNvSpPr/>
          <p:nvPr/>
        </p:nvSpPr>
        <p:spPr>
          <a:xfrm>
            <a:off x="320844" y="5257800"/>
            <a:ext cx="8686799" cy="762000"/>
          </a:xfrm>
          <a:prstGeom prst="leftArrow">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t>High                 </a:t>
            </a:r>
            <a:r>
              <a:rPr lang="en-US" b="1" dirty="0"/>
              <a:t>Bias</a:t>
            </a:r>
            <a:r>
              <a:rPr lang="en-US" dirty="0"/>
              <a:t>: restrictions by the model class                     Low</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252EF071-26BC-4AA4-88BA-1079C43A0085}"/>
                  </a:ext>
                  <a:ext uri="{C183D7F6-B498-43B3-948B-1728B52AA6E4}">
                    <adec:decorative xmlns:adec="http://schemas.microsoft.com/office/drawing/2017/decorative" val="1"/>
                  </a:ext>
                </a:extLst>
              </p:cNvPr>
              <p:cNvSpPr txBox="1"/>
              <p:nvPr/>
            </p:nvSpPr>
            <p:spPr>
              <a:xfrm>
                <a:off x="9688284" y="2897236"/>
                <a:ext cx="2046515" cy="2031325"/>
              </a:xfrm>
              <a:prstGeom prst="rect">
                <a:avLst/>
              </a:prstGeom>
            </p:spPr>
            <p:style>
              <a:lnRef idx="3">
                <a:schemeClr val="lt1"/>
              </a:lnRef>
              <a:fillRef idx="1">
                <a:schemeClr val="accent3"/>
              </a:fillRef>
              <a:effectRef idx="1">
                <a:schemeClr val="accent3"/>
              </a:effectRef>
              <a:fontRef idx="minor">
                <a:schemeClr val="lt1"/>
              </a:fontRef>
            </p:style>
            <p:txBody>
              <a:bodyPr wrap="square" rtlCol="0">
                <a:spAutoFit/>
              </a:bodyPr>
              <a:lstStyle/>
              <a:p>
                <a:r>
                  <a:rPr lang="en-US" dirty="0"/>
                  <a:t>Points: Two samples from the same generating function </a:t>
                </a:r>
                <a14:m>
                  <m:oMath xmlns:m="http://schemas.openxmlformats.org/officeDocument/2006/math">
                    <m:r>
                      <a:rPr lang="en-US" i="1" dirty="0" smtClean="0">
                        <a:latin typeface="Cambria Math" panose="02040503050406030204" pitchFamily="18" charset="0"/>
                      </a:rPr>
                      <m:t>𝑓</m:t>
                    </m:r>
                  </m:oMath>
                </a14:m>
                <a:r>
                  <a:rPr lang="en-US" dirty="0"/>
                  <a:t>.</a:t>
                </a:r>
                <a:br>
                  <a:rPr lang="en-US" dirty="0"/>
                </a:br>
                <a:endParaRPr lang="en-US" dirty="0"/>
              </a:p>
              <a:p>
                <a:r>
                  <a:rPr lang="en-US" dirty="0"/>
                  <a:t>Lines: the learned model function </a:t>
                </a:r>
                <a14:m>
                  <m:oMath xmlns:m="http://schemas.openxmlformats.org/officeDocument/2006/math">
                    <m:sSup>
                      <m:sSupPr>
                        <m:ctrlPr>
                          <a:rPr lang="en-US" b="0" i="1" dirty="0" smtClean="0">
                            <a:latin typeface="Cambria Math" panose="02040503050406030204" pitchFamily="18" charset="0"/>
                          </a:rPr>
                        </m:ctrlPr>
                      </m:sSupPr>
                      <m:e>
                        <m:r>
                          <a:rPr lang="en-US" i="1" dirty="0" smtClean="0">
                            <a:latin typeface="Cambria Math" panose="02040503050406030204" pitchFamily="18" charset="0"/>
                          </a:rPr>
                          <m:t>h</m:t>
                        </m:r>
                      </m:e>
                      <m:sup>
                        <m:r>
                          <a:rPr lang="en-US" b="0" i="1" dirty="0" smtClean="0">
                            <a:latin typeface="Cambria Math" panose="02040503050406030204" pitchFamily="18" charset="0"/>
                          </a:rPr>
                          <m:t>∗</m:t>
                        </m:r>
                      </m:sup>
                    </m:sSup>
                  </m:oMath>
                </a14:m>
                <a:r>
                  <a:rPr lang="en-US" dirty="0"/>
                  <a:t>.</a:t>
                </a:r>
              </a:p>
            </p:txBody>
          </p:sp>
        </mc:Choice>
        <mc:Fallback xmlns="">
          <p:sp>
            <p:nvSpPr>
              <p:cNvPr id="15" name="TextBox 14">
                <a:extLst>
                  <a:ext uri="{FF2B5EF4-FFF2-40B4-BE49-F238E27FC236}">
                    <a16:creationId xmlns:a16="http://schemas.microsoft.com/office/drawing/2014/main" id="{252EF071-26BC-4AA4-88BA-1079C43A0085}"/>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9688284" y="2897236"/>
                <a:ext cx="2046515" cy="2031325"/>
              </a:xfrm>
              <a:prstGeom prst="rect">
                <a:avLst/>
              </a:prstGeom>
              <a:blipFill>
                <a:blip r:embed="rId3"/>
                <a:stretch>
                  <a:fillRect l="-2065" t="-1190" b="-3274"/>
                </a:stretch>
              </a:blipFill>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EE30E26D-136D-4B2C-A7FC-940D927BB765}"/>
              </a:ext>
              <a:ext uri="{C183D7F6-B498-43B3-948B-1728B52AA6E4}">
                <adec:decorative xmlns:adec="http://schemas.microsoft.com/office/drawing/2017/decorative" val="1"/>
              </a:ext>
            </a:extLst>
          </p:cNvPr>
          <p:cNvCxnSpPr/>
          <p:nvPr/>
        </p:nvCxnSpPr>
        <p:spPr>
          <a:xfrm flipH="1" flipV="1">
            <a:off x="8763000" y="3124200"/>
            <a:ext cx="762000" cy="466983"/>
          </a:xfrm>
          <a:prstGeom prst="straightConnector1">
            <a:avLst/>
          </a:prstGeom>
          <a:ln>
            <a:tailEnd type="triangle"/>
          </a:ln>
        </p:spPr>
        <p:style>
          <a:lnRef idx="3">
            <a:schemeClr val="accent3"/>
          </a:lnRef>
          <a:fillRef idx="0">
            <a:schemeClr val="accent3"/>
          </a:fillRef>
          <a:effectRef idx="2">
            <a:schemeClr val="accent3"/>
          </a:effectRef>
          <a:fontRef idx="minor">
            <a:schemeClr val="tx1"/>
          </a:fontRef>
        </p:style>
      </p:cxnSp>
      <p:cxnSp>
        <p:nvCxnSpPr>
          <p:cNvPr id="18" name="Straight Arrow Connector 17">
            <a:extLst>
              <a:ext uri="{FF2B5EF4-FFF2-40B4-BE49-F238E27FC236}">
                <a16:creationId xmlns:a16="http://schemas.microsoft.com/office/drawing/2014/main" id="{0A877BD8-590A-4BD1-87B0-76CC1440E03B}"/>
              </a:ext>
              <a:ext uri="{C183D7F6-B498-43B3-948B-1728B52AA6E4}">
                <adec:decorative xmlns:adec="http://schemas.microsoft.com/office/drawing/2017/decorative" val="1"/>
              </a:ext>
            </a:extLst>
          </p:cNvPr>
          <p:cNvCxnSpPr>
            <a:cxnSpLocks/>
          </p:cNvCxnSpPr>
          <p:nvPr/>
        </p:nvCxnSpPr>
        <p:spPr>
          <a:xfrm flipH="1">
            <a:off x="8885322" y="3962400"/>
            <a:ext cx="639678" cy="454162"/>
          </a:xfrm>
          <a:prstGeom prst="straightConnector1">
            <a:avLst/>
          </a:prstGeom>
          <a:ln>
            <a:tailEnd type="triangle"/>
          </a:ln>
        </p:spPr>
        <p:style>
          <a:lnRef idx="3">
            <a:schemeClr val="accent3"/>
          </a:lnRef>
          <a:fillRef idx="0">
            <a:schemeClr val="accent3"/>
          </a:fillRef>
          <a:effectRef idx="2">
            <a:schemeClr val="accent3"/>
          </a:effectRef>
          <a:fontRef idx="minor">
            <a:schemeClr val="tx1"/>
          </a:fontRef>
        </p:style>
      </p:cxnSp>
      <p:sp>
        <p:nvSpPr>
          <p:cNvPr id="6" name="Arrow: Right 5">
            <a:extLst>
              <a:ext uri="{FF2B5EF4-FFF2-40B4-BE49-F238E27FC236}">
                <a16:creationId xmlns:a16="http://schemas.microsoft.com/office/drawing/2014/main" id="{2EA726A7-CAEF-4BA5-9F79-EDE918FF2949}"/>
              </a:ext>
              <a:ext uri="{C183D7F6-B498-43B3-948B-1728B52AA6E4}">
                <adec:decorative xmlns:adec="http://schemas.microsoft.com/office/drawing/2017/decorative" val="1"/>
              </a:ext>
            </a:extLst>
          </p:cNvPr>
          <p:cNvSpPr/>
          <p:nvPr/>
        </p:nvSpPr>
        <p:spPr>
          <a:xfrm>
            <a:off x="5029200" y="1314967"/>
            <a:ext cx="3124200" cy="513833"/>
          </a:xfrm>
          <a:prstGeom prst="rightArrow">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dirty="0"/>
              <a:t>More consistent</a:t>
            </a:r>
          </a:p>
        </p:txBody>
      </p:sp>
      <p:sp>
        <p:nvSpPr>
          <p:cNvPr id="7" name="Arrow: Right 6">
            <a:extLst>
              <a:ext uri="{FF2B5EF4-FFF2-40B4-BE49-F238E27FC236}">
                <a16:creationId xmlns:a16="http://schemas.microsoft.com/office/drawing/2014/main" id="{2E70ADEB-6869-4A05-B975-69B8828E9EEF}"/>
              </a:ext>
              <a:ext uri="{C183D7F6-B498-43B3-948B-1728B52AA6E4}">
                <adec:decorative xmlns:adec="http://schemas.microsoft.com/office/drawing/2017/decorative" val="1"/>
              </a:ext>
            </a:extLst>
          </p:cNvPr>
          <p:cNvSpPr/>
          <p:nvPr/>
        </p:nvSpPr>
        <p:spPr>
          <a:xfrm flipH="1">
            <a:off x="1796714" y="1314967"/>
            <a:ext cx="3080086" cy="513833"/>
          </a:xfrm>
          <a:prstGeom prst="rightArrow">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dirty="0"/>
              <a:t>Simpler</a:t>
            </a:r>
          </a:p>
        </p:txBody>
      </p:sp>
      <p:cxnSp>
        <p:nvCxnSpPr>
          <p:cNvPr id="5" name="Straight Arrow Connector 4">
            <a:extLst>
              <a:ext uri="{FF2B5EF4-FFF2-40B4-BE49-F238E27FC236}">
                <a16:creationId xmlns:a16="http://schemas.microsoft.com/office/drawing/2014/main" id="{3838B87B-FD8F-4D40-9442-C6D2BF9E9732}"/>
              </a:ext>
              <a:ext uri="{C183D7F6-B498-43B3-948B-1728B52AA6E4}">
                <adec:decorative xmlns:adec="http://schemas.microsoft.com/office/drawing/2017/decorative" val="1"/>
              </a:ext>
            </a:extLst>
          </p:cNvPr>
          <p:cNvCxnSpPr>
            <a:cxnSpLocks/>
          </p:cNvCxnSpPr>
          <p:nvPr/>
        </p:nvCxnSpPr>
        <p:spPr>
          <a:xfrm flipH="1">
            <a:off x="8915400" y="762000"/>
            <a:ext cx="1371600" cy="10105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DDB9680-B52C-4396-9715-604840BFAA82}"/>
              </a:ext>
              <a:ext uri="{C183D7F6-B498-43B3-948B-1728B52AA6E4}">
                <adec:decorative xmlns:adec="http://schemas.microsoft.com/office/drawing/2017/decorative" val="1"/>
              </a:ext>
            </a:extLst>
          </p:cNvPr>
          <p:cNvSpPr txBox="1"/>
          <p:nvPr/>
        </p:nvSpPr>
        <p:spPr>
          <a:xfrm>
            <a:off x="10439400" y="457200"/>
            <a:ext cx="1219200" cy="3693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spAutoFit/>
          </a:bodyPr>
          <a:lstStyle/>
          <a:p>
            <a:r>
              <a:rPr lang="en-US" dirty="0"/>
              <a:t>Overfitting</a:t>
            </a:r>
          </a:p>
        </p:txBody>
      </p:sp>
      <p:sp>
        <p:nvSpPr>
          <p:cNvPr id="3" name="Right Brace 2">
            <a:extLst>
              <a:ext uri="{FF2B5EF4-FFF2-40B4-BE49-F238E27FC236}">
                <a16:creationId xmlns:a16="http://schemas.microsoft.com/office/drawing/2014/main" id="{32500030-7835-4CC6-A0B9-86E7FD32D4AB}"/>
              </a:ext>
              <a:ext uri="{C183D7F6-B498-43B3-948B-1728B52AA6E4}">
                <adec:decorative xmlns:adec="http://schemas.microsoft.com/office/drawing/2017/decorative" val="1"/>
              </a:ext>
            </a:extLst>
          </p:cNvPr>
          <p:cNvSpPr/>
          <p:nvPr/>
        </p:nvSpPr>
        <p:spPr>
          <a:xfrm>
            <a:off x="9475730" y="5257800"/>
            <a:ext cx="212555" cy="13716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3CD755E4-BCB2-4D99-9A3B-B42494B33ECD}"/>
              </a:ext>
              <a:ext uri="{C183D7F6-B498-43B3-948B-1728B52AA6E4}">
                <adec:decorative xmlns:adec="http://schemas.microsoft.com/office/drawing/2017/decorative" val="1"/>
              </a:ext>
            </a:extLst>
          </p:cNvPr>
          <p:cNvSpPr txBox="1"/>
          <p:nvPr/>
        </p:nvSpPr>
        <p:spPr>
          <a:xfrm>
            <a:off x="9842008" y="5403028"/>
            <a:ext cx="1739066" cy="1200329"/>
          </a:xfrm>
          <a:prstGeom prst="rect">
            <a:avLst/>
          </a:prstGeom>
          <a:noFill/>
        </p:spPr>
        <p:txBody>
          <a:bodyPr wrap="none" rtlCol="0">
            <a:spAutoFit/>
          </a:bodyPr>
          <a:lstStyle/>
          <a:p>
            <a:r>
              <a:rPr lang="en-US" dirty="0"/>
              <a:t>This is a tradeoff</a:t>
            </a:r>
            <a:br>
              <a:rPr lang="en-US" dirty="0"/>
            </a:br>
            <a:r>
              <a:rPr lang="en-US" dirty="0"/>
              <a:t>The right choice </a:t>
            </a:r>
            <a:br>
              <a:rPr lang="en-US" dirty="0"/>
            </a:br>
            <a:r>
              <a:rPr lang="en-US" dirty="0"/>
              <a:t>depends on the </a:t>
            </a:r>
            <a:br>
              <a:rPr lang="en-US" dirty="0"/>
            </a:br>
            <a:r>
              <a:rPr lang="en-US" dirty="0"/>
              <a:t>application.</a:t>
            </a:r>
          </a:p>
        </p:txBody>
      </p:sp>
      <p:sp>
        <p:nvSpPr>
          <p:cNvPr id="10" name="Rectangle 9">
            <a:extLst>
              <a:ext uri="{FF2B5EF4-FFF2-40B4-BE49-F238E27FC236}">
                <a16:creationId xmlns:a16="http://schemas.microsoft.com/office/drawing/2014/main" id="{951F0CE0-2BFD-3D6B-D38D-3FBE798CD0B5}"/>
              </a:ext>
              <a:ext uri="{C183D7F6-B498-43B3-948B-1728B52AA6E4}">
                <adec:decorative xmlns:adec="http://schemas.microsoft.com/office/drawing/2017/decorative" val="1"/>
              </a:ext>
            </a:extLst>
          </p:cNvPr>
          <p:cNvSpPr/>
          <p:nvPr/>
        </p:nvSpPr>
        <p:spPr>
          <a:xfrm>
            <a:off x="4876800" y="1828800"/>
            <a:ext cx="4130843" cy="3657600"/>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90183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6" grpId="0" animBg="1"/>
      <p:bldP spid="7" grpId="0" animBg="1"/>
      <p:bldP spid="8" grpId="0" animBg="1"/>
      <p:bldP spid="3" grpId="0" animBg="1"/>
      <p:bldP spid="9" grpId="0"/>
      <p:bldP spid="1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2" name="Rectangle 134">
            <a:extLst>
              <a:ext uri="{FF2B5EF4-FFF2-40B4-BE49-F238E27FC236}">
                <a16:creationId xmlns:a16="http://schemas.microsoft.com/office/drawing/2014/main" id="{E91DC736-0EF8-4F87-9146-EBF1D2EE4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Free Icon | Data management interface symbol with gears and binary code  numbers">
            <a:extLst>
              <a:ext uri="{FF2B5EF4-FFF2-40B4-BE49-F238E27FC236}">
                <a16:creationId xmlns:a16="http://schemas.microsoft.com/office/drawing/2014/main" id="{134C3786-8518-4A6C-A377-1E9FAD1D0AF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0486" r="9092" b="7594"/>
          <a:stretch/>
        </p:blipFill>
        <p:spPr bwMode="auto">
          <a:xfrm>
            <a:off x="3523488"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37" name="Rectangle 136">
            <a:extLst>
              <a:ext uri="{FF2B5EF4-FFF2-40B4-BE49-F238E27FC236}">
                <a16:creationId xmlns:a16="http://schemas.microsoft.com/office/drawing/2014/main" id="{097CD68E-23E3-4007-8847-CD0944C4F7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756601" cy="6858000"/>
          </a:xfrm>
          <a:prstGeom prst="rect">
            <a:avLst/>
          </a:prstGeom>
          <a:gradFill>
            <a:gsLst>
              <a:gs pos="58000">
                <a:schemeClr val="bg1"/>
              </a:gs>
              <a:gs pos="35000">
                <a:schemeClr val="bg1">
                  <a:alpha val="79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AD07CB2-7CF0-4403-8DE4-B08CDAFC3C22}"/>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dirty="0"/>
              <a:t>Training Data</a:t>
            </a:r>
          </a:p>
        </p:txBody>
      </p:sp>
      <p:sp>
        <p:nvSpPr>
          <p:cNvPr id="3" name="Text Placeholder 2">
            <a:extLst>
              <a:ext uri="{FF2B5EF4-FFF2-40B4-BE49-F238E27FC236}">
                <a16:creationId xmlns:a16="http://schemas.microsoft.com/office/drawing/2014/main" id="{3FC5F4E9-074B-4B26-960D-6EDAD144F356}"/>
              </a:ext>
            </a:extLst>
          </p:cNvPr>
          <p:cNvSpPr>
            <a:spLocks noGrp="1"/>
          </p:cNvSpPr>
          <p:nvPr>
            <p:ph type="body" idx="1"/>
          </p:nvPr>
        </p:nvSpPr>
        <p:spPr>
          <a:xfrm>
            <a:off x="477980" y="4872922"/>
            <a:ext cx="4023359" cy="1208141"/>
          </a:xfrm>
        </p:spPr>
        <p:txBody>
          <a:bodyPr vert="horz" lIns="91440" tIns="45720" rIns="91440" bIns="45720" rtlCol="0">
            <a:normAutofit/>
          </a:bodyPr>
          <a:lstStyle/>
          <a:p>
            <a:endParaRPr lang="en-US" sz="2000">
              <a:solidFill>
                <a:schemeClr val="tx1"/>
              </a:solidFill>
            </a:endParaRPr>
          </a:p>
        </p:txBody>
      </p:sp>
      <p:sp>
        <p:nvSpPr>
          <p:cNvPr id="139" name="Rectangle 138">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41" name="Rectangle 140">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094436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D2A878-0C30-4A91-992D-3E63BFE94134}"/>
              </a:ext>
            </a:extLst>
          </p:cNvPr>
          <p:cNvSpPr>
            <a:spLocks noGrp="1"/>
          </p:cNvSpPr>
          <p:nvPr>
            <p:ph type="title"/>
          </p:nvPr>
        </p:nvSpPr>
        <p:spPr>
          <a:xfrm>
            <a:off x="838200" y="212725"/>
            <a:ext cx="10515600" cy="1325563"/>
          </a:xfrm>
        </p:spPr>
        <p:txBody>
          <a:bodyPr/>
          <a:lstStyle/>
          <a:p>
            <a:r>
              <a:rPr lang="en-US" dirty="0"/>
              <a:t>The Dataset</a:t>
            </a:r>
          </a:p>
        </p:txBody>
      </p:sp>
      <p:sp>
        <p:nvSpPr>
          <p:cNvPr id="3" name="Content Placeholder 2">
            <a:extLst>
              <a:ext uri="{FF2B5EF4-FFF2-40B4-BE49-F238E27FC236}">
                <a16:creationId xmlns:a16="http://schemas.microsoft.com/office/drawing/2014/main" id="{8C3FFB7F-12BF-46A8-8177-DDADA13F4C88}"/>
              </a:ext>
            </a:extLst>
          </p:cNvPr>
          <p:cNvSpPr>
            <a:spLocks noGrp="1"/>
          </p:cNvSpPr>
          <p:nvPr>
            <p:ph idx="1"/>
          </p:nvPr>
        </p:nvSpPr>
        <p:spPr>
          <a:xfrm>
            <a:off x="990600" y="6019800"/>
            <a:ext cx="10515600" cy="614771"/>
          </a:xfrm>
        </p:spPr>
        <p:txBody>
          <a:bodyPr>
            <a:normAutofit fontScale="85000" lnSpcReduction="10000"/>
          </a:bodyPr>
          <a:lstStyle/>
          <a:p>
            <a:pPr marL="0" indent="0">
              <a:buNone/>
            </a:pPr>
            <a:r>
              <a:rPr lang="en-US" dirty="0"/>
              <a:t>Task: Find a hypothesis (called “model”) to predict the class given the features.</a:t>
            </a:r>
          </a:p>
        </p:txBody>
      </p:sp>
      <p:grpSp>
        <p:nvGrpSpPr>
          <p:cNvPr id="5" name="Group 4" descr="Data sets are tables with examples as rows and features as columns. One colum contains the class label.">
            <a:extLst>
              <a:ext uri="{FF2B5EF4-FFF2-40B4-BE49-F238E27FC236}">
                <a16:creationId xmlns:a16="http://schemas.microsoft.com/office/drawing/2014/main" id="{ED419B29-0F27-89BE-DAF3-568E7E306965}"/>
              </a:ext>
            </a:extLst>
          </p:cNvPr>
          <p:cNvGrpSpPr/>
          <p:nvPr/>
        </p:nvGrpSpPr>
        <p:grpSpPr>
          <a:xfrm>
            <a:off x="918108" y="400398"/>
            <a:ext cx="10435692" cy="5730963"/>
            <a:chOff x="918108" y="400398"/>
            <a:chExt cx="10435692" cy="5730963"/>
          </a:xfrm>
        </p:grpSpPr>
        <p:pic>
          <p:nvPicPr>
            <p:cNvPr id="4" name="Picture 3" descr="Data sets are tables with examples as rows and features describing the examples as columns">
              <a:extLst>
                <a:ext uri="{FF2B5EF4-FFF2-40B4-BE49-F238E27FC236}">
                  <a16:creationId xmlns:a16="http://schemas.microsoft.com/office/drawing/2014/main" id="{F63B35E1-0C03-453F-939A-D44091257FBD}"/>
                </a:ext>
              </a:extLst>
            </p:cNvPr>
            <p:cNvPicPr>
              <a:picLocks noChangeAspect="1"/>
            </p:cNvPicPr>
            <p:nvPr/>
          </p:nvPicPr>
          <p:blipFill>
            <a:blip r:embed="rId2"/>
            <a:stretch>
              <a:fillRect/>
            </a:stretch>
          </p:blipFill>
          <p:spPr>
            <a:xfrm>
              <a:off x="3429000" y="1295400"/>
              <a:ext cx="7819492" cy="3838659"/>
            </a:xfrm>
            <a:prstGeom prst="rect">
              <a:avLst/>
            </a:prstGeom>
          </p:spPr>
        </p:pic>
        <p:cxnSp>
          <p:nvCxnSpPr>
            <p:cNvPr id="6" name="Straight Arrow Connector 5">
              <a:extLst>
                <a:ext uri="{FF2B5EF4-FFF2-40B4-BE49-F238E27FC236}">
                  <a16:creationId xmlns:a16="http://schemas.microsoft.com/office/drawing/2014/main" id="{65C3DF64-1305-4C5C-AF35-4F6B961BAE79}"/>
                </a:ext>
              </a:extLst>
            </p:cNvPr>
            <p:cNvCxnSpPr/>
            <p:nvPr/>
          </p:nvCxnSpPr>
          <p:spPr>
            <a:xfrm>
              <a:off x="2133600" y="2819400"/>
              <a:ext cx="11430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7" name="TextBox 6">
              <a:extLst>
                <a:ext uri="{FF2B5EF4-FFF2-40B4-BE49-F238E27FC236}">
                  <a16:creationId xmlns:a16="http://schemas.microsoft.com/office/drawing/2014/main" id="{2327ECBC-D330-423A-A98F-A6C0659CB714}"/>
                </a:ext>
              </a:extLst>
            </p:cNvPr>
            <p:cNvSpPr txBox="1"/>
            <p:nvPr/>
          </p:nvSpPr>
          <p:spPr>
            <a:xfrm>
              <a:off x="918108" y="2357735"/>
              <a:ext cx="1447800" cy="923330"/>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rtlCol="0">
              <a:spAutoFit/>
            </a:bodyPr>
            <a:lstStyle/>
            <a:p>
              <a:pPr algn="ctr"/>
              <a:r>
                <a:rPr lang="en-US" dirty="0"/>
                <a:t>Examples</a:t>
              </a:r>
            </a:p>
            <a:p>
              <a:pPr algn="ctr"/>
              <a:r>
                <a:rPr lang="en-US" dirty="0"/>
                <a:t>(Instances,</a:t>
              </a:r>
            </a:p>
            <a:p>
              <a:pPr algn="ctr"/>
              <a:r>
                <a:rPr lang="en-US" dirty="0"/>
                <a:t>Observation)</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5010D10-2FFE-43DA-BCE5-1174B149FD98}"/>
                    </a:ext>
                  </a:extLst>
                </p:cNvPr>
                <p:cNvSpPr txBox="1"/>
                <p:nvPr/>
              </p:nvSpPr>
              <p:spPr>
                <a:xfrm>
                  <a:off x="5257800" y="400398"/>
                  <a:ext cx="3200399" cy="64633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rtlCol="0">
                  <a:spAutoFit/>
                </a:bodyPr>
                <a:lstStyle/>
                <a:p>
                  <a:pPr algn="ctr"/>
                  <a:r>
                    <a:rPr lang="en-US" dirty="0"/>
                    <a:t>Feature vector </a:t>
                  </a:r>
                  <a14:m>
                    <m:oMath xmlns:m="http://schemas.openxmlformats.org/officeDocument/2006/math">
                      <m:r>
                        <a:rPr lang="en-US" b="1" i="1" dirty="0" smtClean="0">
                          <a:latin typeface="Cambria Math" panose="02040503050406030204" pitchFamily="18" charset="0"/>
                        </a:rPr>
                        <m:t>𝒙</m:t>
                      </m:r>
                    </m:oMath>
                  </a14:m>
                  <a:r>
                    <a:rPr lang="en-US" dirty="0"/>
                    <a:t> </a:t>
                  </a:r>
                </a:p>
                <a:p>
                  <a:pPr algn="ctr"/>
                  <a:r>
                    <a:rPr lang="en-US" dirty="0"/>
                    <a:t>(Features, Variables, Attributes)</a:t>
                  </a:r>
                </a:p>
              </p:txBody>
            </p:sp>
          </mc:Choice>
          <mc:Fallback xmlns="">
            <p:sp>
              <p:nvSpPr>
                <p:cNvPr id="8" name="TextBox 7">
                  <a:extLst>
                    <a:ext uri="{FF2B5EF4-FFF2-40B4-BE49-F238E27FC236}">
                      <a16:creationId xmlns:a16="http://schemas.microsoft.com/office/drawing/2014/main" id="{25010D10-2FFE-43DA-BCE5-1174B149FD98}"/>
                    </a:ext>
                  </a:extLst>
                </p:cNvPr>
                <p:cNvSpPr txBox="1">
                  <a:spLocks noRot="1" noChangeAspect="1" noMove="1" noResize="1" noEditPoints="1" noAdjustHandles="1" noChangeArrowheads="1" noChangeShapeType="1" noTextEdit="1"/>
                </p:cNvSpPr>
                <p:nvPr/>
              </p:nvSpPr>
              <p:spPr>
                <a:xfrm>
                  <a:off x="5257800" y="400398"/>
                  <a:ext cx="3200399" cy="646331"/>
                </a:xfrm>
                <a:prstGeom prst="rect">
                  <a:avLst/>
                </a:prstGeom>
                <a:blipFill>
                  <a:blip r:embed="rId3"/>
                  <a:stretch>
                    <a:fillRect l="-380" t="-4630" r="-380" b="-12963"/>
                  </a:stretch>
                </a:blipFill>
              </p:spPr>
              <p:txBody>
                <a:bodyPr/>
                <a:lstStyle/>
                <a:p>
                  <a:r>
                    <a:rPr lang="en-US">
                      <a:noFill/>
                    </a:rPr>
                    <a:t> </a:t>
                  </a:r>
                </a:p>
              </p:txBody>
            </p:sp>
          </mc:Fallback>
        </mc:AlternateContent>
        <p:cxnSp>
          <p:nvCxnSpPr>
            <p:cNvPr id="10" name="Straight Arrow Connector 9">
              <a:extLst>
                <a:ext uri="{FF2B5EF4-FFF2-40B4-BE49-F238E27FC236}">
                  <a16:creationId xmlns:a16="http://schemas.microsoft.com/office/drawing/2014/main" id="{AAFA4C1F-E498-49F8-93A7-AB399CC561B5}"/>
                </a:ext>
              </a:extLst>
            </p:cNvPr>
            <p:cNvCxnSpPr/>
            <p:nvPr/>
          </p:nvCxnSpPr>
          <p:spPr>
            <a:xfrm>
              <a:off x="6858000" y="1110159"/>
              <a:ext cx="0" cy="366712"/>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67D6135-CCFC-443A-A8C9-2246FE099512}"/>
                    </a:ext>
                  </a:extLst>
                </p:cNvPr>
                <p:cNvSpPr txBox="1"/>
                <p:nvPr/>
              </p:nvSpPr>
              <p:spPr>
                <a:xfrm>
                  <a:off x="9906000" y="424359"/>
                  <a:ext cx="1447800" cy="64633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rtlCol="0">
                  <a:spAutoFit/>
                </a:bodyPr>
                <a:lstStyle/>
                <a:p>
                  <a:pPr algn="ctr"/>
                  <a:r>
                    <a:rPr lang="en-US" dirty="0"/>
                    <a:t>Class</a:t>
                  </a:r>
                </a:p>
                <a:p>
                  <a:pPr algn="ctr"/>
                  <a:r>
                    <a:rPr lang="en-US" dirty="0"/>
                    <a:t>Label </a:t>
                  </a:r>
                  <a14:m>
                    <m:oMath xmlns:m="http://schemas.openxmlformats.org/officeDocument/2006/math">
                      <m:r>
                        <a:rPr lang="en-US" i="1" dirty="0" smtClean="0">
                          <a:latin typeface="Cambria Math" panose="02040503050406030204" pitchFamily="18" charset="0"/>
                        </a:rPr>
                        <m:t>𝑦</m:t>
                      </m:r>
                    </m:oMath>
                  </a14:m>
                  <a:endParaRPr lang="en-US" dirty="0"/>
                </a:p>
              </p:txBody>
            </p:sp>
          </mc:Choice>
          <mc:Fallback xmlns="">
            <p:sp>
              <p:nvSpPr>
                <p:cNvPr id="11" name="TextBox 10">
                  <a:extLst>
                    <a:ext uri="{FF2B5EF4-FFF2-40B4-BE49-F238E27FC236}">
                      <a16:creationId xmlns:a16="http://schemas.microsoft.com/office/drawing/2014/main" id="{C67D6135-CCFC-443A-A8C9-2246FE099512}"/>
                    </a:ext>
                  </a:extLst>
                </p:cNvPr>
                <p:cNvSpPr txBox="1">
                  <a:spLocks noRot="1" noChangeAspect="1" noMove="1" noResize="1" noEditPoints="1" noAdjustHandles="1" noChangeArrowheads="1" noChangeShapeType="1" noTextEdit="1"/>
                </p:cNvSpPr>
                <p:nvPr/>
              </p:nvSpPr>
              <p:spPr>
                <a:xfrm>
                  <a:off x="9906000" y="424359"/>
                  <a:ext cx="1447800" cy="646331"/>
                </a:xfrm>
                <a:prstGeom prst="rect">
                  <a:avLst/>
                </a:prstGeom>
                <a:blipFill>
                  <a:blip r:embed="rId4"/>
                  <a:stretch>
                    <a:fillRect t="-4630" b="-12963"/>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8B20A9DD-D7AB-4D1F-8931-77413EBF7385}"/>
                </a:ext>
              </a:extLst>
            </p:cNvPr>
            <p:cNvCxnSpPr/>
            <p:nvPr/>
          </p:nvCxnSpPr>
          <p:spPr>
            <a:xfrm>
              <a:off x="10591800" y="1110159"/>
              <a:ext cx="0" cy="366712"/>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13" name="TextBox 12">
              <a:extLst>
                <a:ext uri="{FF2B5EF4-FFF2-40B4-BE49-F238E27FC236}">
                  <a16:creationId xmlns:a16="http://schemas.microsoft.com/office/drawing/2014/main" id="{E68E3471-CB09-4270-B769-EBFDC5C259F3}"/>
                </a:ext>
              </a:extLst>
            </p:cNvPr>
            <p:cNvSpPr txBox="1"/>
            <p:nvPr/>
          </p:nvSpPr>
          <p:spPr>
            <a:xfrm rot="18654352">
              <a:off x="5662451" y="5259682"/>
              <a:ext cx="867097" cy="369332"/>
            </a:xfrm>
            <a:prstGeom prst="rect">
              <a:avLst/>
            </a:prstGeom>
            <a:noFill/>
          </p:spPr>
          <p:txBody>
            <a:bodyPr wrap="none" rtlCol="0">
              <a:spAutoFit/>
            </a:bodyPr>
            <a:lstStyle/>
            <a:p>
              <a:r>
                <a:rPr lang="en-US" dirty="0"/>
                <a:t>Hungry</a:t>
              </a:r>
            </a:p>
          </p:txBody>
        </p:sp>
        <p:sp>
          <p:nvSpPr>
            <p:cNvPr id="14" name="TextBox 13">
              <a:extLst>
                <a:ext uri="{FF2B5EF4-FFF2-40B4-BE49-F238E27FC236}">
                  <a16:creationId xmlns:a16="http://schemas.microsoft.com/office/drawing/2014/main" id="{C6AA29AF-5904-46C2-9C9E-640C8E478D34}"/>
                </a:ext>
              </a:extLst>
            </p:cNvPr>
            <p:cNvSpPr txBox="1"/>
            <p:nvPr/>
          </p:nvSpPr>
          <p:spPr>
            <a:xfrm rot="18654352">
              <a:off x="3929189" y="5311069"/>
              <a:ext cx="1218154" cy="369332"/>
            </a:xfrm>
            <a:prstGeom prst="rect">
              <a:avLst/>
            </a:prstGeom>
            <a:noFill/>
          </p:spPr>
          <p:txBody>
            <a:bodyPr wrap="none" rtlCol="0">
              <a:spAutoFit/>
            </a:bodyPr>
            <a:lstStyle/>
            <a:p>
              <a:r>
                <a:rPr lang="en-US" dirty="0"/>
                <a:t>Alternative</a:t>
              </a:r>
            </a:p>
          </p:txBody>
        </p:sp>
        <p:sp>
          <p:nvSpPr>
            <p:cNvPr id="15" name="TextBox 14">
              <a:extLst>
                <a:ext uri="{FF2B5EF4-FFF2-40B4-BE49-F238E27FC236}">
                  <a16:creationId xmlns:a16="http://schemas.microsoft.com/office/drawing/2014/main" id="{95622870-7496-484C-BC16-47B7AEB46DAF}"/>
                </a:ext>
              </a:extLst>
            </p:cNvPr>
            <p:cNvSpPr txBox="1"/>
            <p:nvPr/>
          </p:nvSpPr>
          <p:spPr>
            <a:xfrm rot="18654352">
              <a:off x="6101377" y="5274117"/>
              <a:ext cx="893643" cy="369332"/>
            </a:xfrm>
            <a:prstGeom prst="rect">
              <a:avLst/>
            </a:prstGeom>
            <a:noFill/>
          </p:spPr>
          <p:txBody>
            <a:bodyPr wrap="none" rtlCol="0">
              <a:spAutoFit/>
            </a:bodyPr>
            <a:lstStyle/>
            <a:p>
              <a:r>
                <a:rPr lang="en-US" dirty="0"/>
                <a:t>Patrons</a:t>
              </a:r>
            </a:p>
          </p:txBody>
        </p:sp>
        <p:sp>
          <p:nvSpPr>
            <p:cNvPr id="16" name="TextBox 15">
              <a:extLst>
                <a:ext uri="{FF2B5EF4-FFF2-40B4-BE49-F238E27FC236}">
                  <a16:creationId xmlns:a16="http://schemas.microsoft.com/office/drawing/2014/main" id="{3DFF64F8-111F-4F1C-9784-E787E31763DE}"/>
                </a:ext>
              </a:extLst>
            </p:cNvPr>
            <p:cNvSpPr txBox="1"/>
            <p:nvPr/>
          </p:nvSpPr>
          <p:spPr>
            <a:xfrm rot="18654352">
              <a:off x="7558900" y="5301037"/>
              <a:ext cx="1291316" cy="369332"/>
            </a:xfrm>
            <a:prstGeom prst="rect">
              <a:avLst/>
            </a:prstGeom>
            <a:noFill/>
          </p:spPr>
          <p:txBody>
            <a:bodyPr wrap="none" rtlCol="0">
              <a:spAutoFit/>
            </a:bodyPr>
            <a:lstStyle/>
            <a:p>
              <a:r>
                <a:rPr lang="en-US" dirty="0"/>
                <a:t>Reservation</a:t>
              </a:r>
            </a:p>
          </p:txBody>
        </p:sp>
        <p:sp>
          <p:nvSpPr>
            <p:cNvPr id="17" name="TextBox 16">
              <a:extLst>
                <a:ext uri="{FF2B5EF4-FFF2-40B4-BE49-F238E27FC236}">
                  <a16:creationId xmlns:a16="http://schemas.microsoft.com/office/drawing/2014/main" id="{F14C8EE0-0051-4095-96B9-246143DC9C20}"/>
                </a:ext>
              </a:extLst>
            </p:cNvPr>
            <p:cNvSpPr txBox="1"/>
            <p:nvPr/>
          </p:nvSpPr>
          <p:spPr>
            <a:xfrm rot="18654352">
              <a:off x="9021807" y="5338717"/>
              <a:ext cx="1104790" cy="369332"/>
            </a:xfrm>
            <a:prstGeom prst="rect">
              <a:avLst/>
            </a:prstGeom>
            <a:noFill/>
          </p:spPr>
          <p:txBody>
            <a:bodyPr wrap="none" rtlCol="0">
              <a:spAutoFit/>
            </a:bodyPr>
            <a:lstStyle/>
            <a:p>
              <a:r>
                <a:rPr lang="en-US" dirty="0"/>
                <a:t>Wait time</a:t>
              </a:r>
            </a:p>
          </p:txBody>
        </p:sp>
      </p:grpSp>
    </p:spTree>
    <p:extLst>
      <p:ext uri="{BB962C8B-B14F-4D97-AF65-F5344CB8AC3E}">
        <p14:creationId xmlns:p14="http://schemas.microsoft.com/office/powerpoint/2010/main" val="16771921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800" name="Rectangle 33799">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94" name="Rectangle 2"/>
          <p:cNvSpPr>
            <a:spLocks noGrp="1" noChangeArrowheads="1"/>
          </p:cNvSpPr>
          <p:nvPr>
            <p:ph type="title"/>
          </p:nvPr>
        </p:nvSpPr>
        <p:spPr>
          <a:xfrm>
            <a:off x="4654296" y="329184"/>
            <a:ext cx="6894576" cy="1783080"/>
          </a:xfrm>
        </p:spPr>
        <p:txBody>
          <a:bodyPr anchor="b">
            <a:normAutofit/>
          </a:bodyPr>
          <a:lstStyle/>
          <a:p>
            <a:pPr eaLnBrk="1" hangingPunct="1"/>
            <a:r>
              <a:rPr lang="en-US" sz="5400" dirty="0"/>
              <a:t>Feature Engineering</a:t>
            </a:r>
          </a:p>
        </p:txBody>
      </p:sp>
      <p:pic>
        <p:nvPicPr>
          <p:cNvPr id="4" name="Picture 2">
            <a:extLs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7714" r="8467"/>
          <a:stretch/>
        </p:blipFill>
        <p:spPr bwMode="auto">
          <a:xfrm>
            <a:off x="20" y="1"/>
            <a:ext cx="4052522" cy="6858000"/>
          </a:xfrm>
          <a:custGeom>
            <a:avLst/>
            <a:gdLst/>
            <a:ahLst/>
            <a:cxnLst/>
            <a:rect l="l" t="t" r="r" b="b"/>
            <a:pathLst>
              <a:path w="4052542" h="6858000">
                <a:moveTo>
                  <a:pt x="0" y="0"/>
                </a:moveTo>
                <a:lnTo>
                  <a:pt x="4020923" y="0"/>
                </a:lnTo>
                <a:lnTo>
                  <a:pt x="4022656" y="14697"/>
                </a:lnTo>
                <a:cubicBezTo>
                  <a:pt x="4037606" y="98462"/>
                  <a:pt x="4035072" y="183369"/>
                  <a:pt x="4039126" y="267642"/>
                </a:cubicBezTo>
                <a:cubicBezTo>
                  <a:pt x="4043941" y="370699"/>
                  <a:pt x="4037860" y="474136"/>
                  <a:pt x="4035579" y="577446"/>
                </a:cubicBezTo>
                <a:cubicBezTo>
                  <a:pt x="4033805" y="665399"/>
                  <a:pt x="4025063" y="753226"/>
                  <a:pt x="4027724" y="841306"/>
                </a:cubicBezTo>
                <a:cubicBezTo>
                  <a:pt x="4027914" y="844352"/>
                  <a:pt x="4027914" y="847398"/>
                  <a:pt x="4027724" y="850444"/>
                </a:cubicBezTo>
                <a:cubicBezTo>
                  <a:pt x="4019615" y="947281"/>
                  <a:pt x="4019615" y="1044626"/>
                  <a:pt x="4027724" y="1141464"/>
                </a:cubicBezTo>
                <a:cubicBezTo>
                  <a:pt x="4030296" y="1181772"/>
                  <a:pt x="4029574" y="1222221"/>
                  <a:pt x="4025570" y="1262415"/>
                </a:cubicBezTo>
                <a:cubicBezTo>
                  <a:pt x="4021769" y="1313563"/>
                  <a:pt x="4009606" y="1365472"/>
                  <a:pt x="4018348" y="1416238"/>
                </a:cubicBezTo>
                <a:cubicBezTo>
                  <a:pt x="4024037" y="1458058"/>
                  <a:pt x="4027166" y="1500194"/>
                  <a:pt x="4027724" y="1542394"/>
                </a:cubicBezTo>
                <a:cubicBezTo>
                  <a:pt x="4032158" y="1636820"/>
                  <a:pt x="4027977" y="1731753"/>
                  <a:pt x="4026330" y="1826433"/>
                </a:cubicBezTo>
                <a:cubicBezTo>
                  <a:pt x="4024556" y="1936724"/>
                  <a:pt x="4027344" y="2047015"/>
                  <a:pt x="4018475" y="2157432"/>
                </a:cubicBezTo>
                <a:cubicBezTo>
                  <a:pt x="4013597" y="2246629"/>
                  <a:pt x="4013597" y="2336029"/>
                  <a:pt x="4018475" y="2425226"/>
                </a:cubicBezTo>
                <a:cubicBezTo>
                  <a:pt x="4020882" y="2506961"/>
                  <a:pt x="4033172" y="2587934"/>
                  <a:pt x="4031145" y="2670557"/>
                </a:cubicBezTo>
                <a:cubicBezTo>
                  <a:pt x="4028737" y="2766886"/>
                  <a:pt x="4017335" y="2862962"/>
                  <a:pt x="4020882" y="2959546"/>
                </a:cubicBezTo>
                <a:cubicBezTo>
                  <a:pt x="4022529" y="3005617"/>
                  <a:pt x="4022656" y="3051688"/>
                  <a:pt x="4023543" y="3097758"/>
                </a:cubicBezTo>
                <a:cubicBezTo>
                  <a:pt x="4024683" y="3153221"/>
                  <a:pt x="4034692" y="3208556"/>
                  <a:pt x="4029117" y="3263892"/>
                </a:cubicBezTo>
                <a:cubicBezTo>
                  <a:pt x="4019869" y="3356161"/>
                  <a:pt x="3995923" y="3446906"/>
                  <a:pt x="4010873" y="3541459"/>
                </a:cubicBezTo>
                <a:cubicBezTo>
                  <a:pt x="4019108" y="3593495"/>
                  <a:pt x="4028357" y="3645658"/>
                  <a:pt x="4033172" y="3698201"/>
                </a:cubicBezTo>
                <a:cubicBezTo>
                  <a:pt x="4037353" y="3745160"/>
                  <a:pt x="4047868" y="3792881"/>
                  <a:pt x="4039886" y="3839586"/>
                </a:cubicBezTo>
                <a:cubicBezTo>
                  <a:pt x="4033045" y="3879565"/>
                  <a:pt x="4036592" y="3919544"/>
                  <a:pt x="4031271" y="3959523"/>
                </a:cubicBezTo>
                <a:cubicBezTo>
                  <a:pt x="4024303" y="4011939"/>
                  <a:pt x="4020629" y="4065244"/>
                  <a:pt x="4015308" y="4118042"/>
                </a:cubicBezTo>
                <a:cubicBezTo>
                  <a:pt x="4010620" y="4165889"/>
                  <a:pt x="4006946" y="4213610"/>
                  <a:pt x="4019615" y="4258539"/>
                </a:cubicBezTo>
                <a:cubicBezTo>
                  <a:pt x="4050656" y="4371622"/>
                  <a:pt x="4033679" y="4484070"/>
                  <a:pt x="4022023" y="4596391"/>
                </a:cubicBezTo>
                <a:cubicBezTo>
                  <a:pt x="4016321" y="4650965"/>
                  <a:pt x="4007959" y="4708712"/>
                  <a:pt x="4020629" y="4758718"/>
                </a:cubicBezTo>
                <a:cubicBezTo>
                  <a:pt x="4043941" y="4847432"/>
                  <a:pt x="4025697" y="4931705"/>
                  <a:pt x="4015561" y="5016866"/>
                </a:cubicBezTo>
                <a:cubicBezTo>
                  <a:pt x="4003335" y="5100174"/>
                  <a:pt x="4005096" y="5184929"/>
                  <a:pt x="4020756" y="5267654"/>
                </a:cubicBezTo>
                <a:cubicBezTo>
                  <a:pt x="4033172" y="5326035"/>
                  <a:pt x="4033172" y="5385432"/>
                  <a:pt x="4034692" y="5444194"/>
                </a:cubicBezTo>
                <a:cubicBezTo>
                  <a:pt x="4035579" y="5481001"/>
                  <a:pt x="4022023" y="5518441"/>
                  <a:pt x="4013027" y="5555120"/>
                </a:cubicBezTo>
                <a:cubicBezTo>
                  <a:pt x="3996937" y="5621371"/>
                  <a:pt x="3991109" y="5688636"/>
                  <a:pt x="4013027" y="5753237"/>
                </a:cubicBezTo>
                <a:cubicBezTo>
                  <a:pt x="4043561" y="5842713"/>
                  <a:pt x="4061045" y="5932189"/>
                  <a:pt x="4048375" y="6026870"/>
                </a:cubicBezTo>
                <a:cubicBezTo>
                  <a:pt x="4041027" y="6085251"/>
                  <a:pt x="4039380" y="6144902"/>
                  <a:pt x="4028357" y="6202522"/>
                </a:cubicBezTo>
                <a:cubicBezTo>
                  <a:pt x="4010240" y="6298091"/>
                  <a:pt x="4016701" y="6393024"/>
                  <a:pt x="4031145" y="6487196"/>
                </a:cubicBezTo>
                <a:cubicBezTo>
                  <a:pt x="4041293" y="6565885"/>
                  <a:pt x="4042395" y="6645474"/>
                  <a:pt x="4034439" y="6724403"/>
                </a:cubicBezTo>
                <a:lnTo>
                  <a:pt x="4025206" y="6858000"/>
                </a:lnTo>
                <a:lnTo>
                  <a:pt x="0" y="6858000"/>
                </a:lnTo>
                <a:close/>
              </a:path>
            </a:pathLst>
          </a:custGeom>
          <a:noFill/>
        </p:spPr>
      </p:pic>
      <p:sp>
        <p:nvSpPr>
          <p:cNvPr id="33802" name="sketchy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54296" y="2395728"/>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3795" name="Rectangle 3"/>
              <p:cNvSpPr>
                <a:spLocks noGrp="1" noChangeArrowheads="1"/>
              </p:cNvSpPr>
              <p:nvPr>
                <p:ph idx="1"/>
              </p:nvPr>
            </p:nvSpPr>
            <p:spPr>
              <a:xfrm>
                <a:off x="4654296" y="2532888"/>
                <a:ext cx="6894576" cy="3959352"/>
              </a:xfrm>
            </p:spPr>
            <p:txBody>
              <a:bodyPr>
                <a:normAutofit fontScale="85000" lnSpcReduction="10000"/>
              </a:bodyPr>
              <a:lstStyle/>
              <a:p>
                <a:r>
                  <a:rPr lang="en-US" sz="1800" b="1" dirty="0"/>
                  <a:t>Information fusion</a:t>
                </a:r>
                <a:r>
                  <a:rPr lang="en-US" sz="1800" dirty="0"/>
                  <a:t>: Combine information sources to add new variables to the model.</a:t>
                </a:r>
              </a:p>
              <a:p>
                <a:r>
                  <a:rPr lang="en-US" sz="1800" b="1" dirty="0"/>
                  <a:t>Derived features</a:t>
                </a:r>
                <a:r>
                  <a:rPr lang="en-US" sz="1800" dirty="0"/>
                  <a:t>: Manipulate the features to help the model learn (e.g., </a:t>
                </a:r>
                <a14:m>
                  <m:oMath xmlns:m="http://schemas.openxmlformats.org/officeDocument/2006/math">
                    <m:sSub>
                      <m:sSubPr>
                        <m:ctrlPr>
                          <a:rPr lang="en-US" sz="1800" b="0" i="1">
                            <a:latin typeface="Cambria Math" panose="02040503050406030204" pitchFamily="18" charset="0"/>
                          </a:rPr>
                        </m:ctrlPr>
                      </m:sSubPr>
                      <m:e>
                        <m:r>
                          <a:rPr lang="en-US" sz="1800" b="0" i="1">
                            <a:latin typeface="Cambria Math" panose="02040503050406030204" pitchFamily="18" charset="0"/>
                          </a:rPr>
                          <m:t>𝑥</m:t>
                        </m:r>
                      </m:e>
                      <m:sub>
                        <m:r>
                          <a:rPr lang="en-US" sz="1800" b="0" i="1">
                            <a:latin typeface="Cambria Math" panose="02040503050406030204" pitchFamily="18" charset="0"/>
                          </a:rPr>
                          <m:t>1</m:t>
                        </m:r>
                      </m:sub>
                    </m:sSub>
                    <m:sSub>
                      <m:sSubPr>
                        <m:ctrlPr>
                          <a:rPr lang="en-US" sz="1800" b="0" i="1">
                            <a:latin typeface="Cambria Math" panose="02040503050406030204" pitchFamily="18" charset="0"/>
                          </a:rPr>
                        </m:ctrlPr>
                      </m:sSubPr>
                      <m:e>
                        <m:r>
                          <a:rPr lang="en-US" sz="1800" b="0" i="1">
                            <a:latin typeface="Cambria Math" panose="02040503050406030204" pitchFamily="18" charset="0"/>
                          </a:rPr>
                          <m:t>𝑥</m:t>
                        </m:r>
                      </m:e>
                      <m:sub>
                        <m:r>
                          <a:rPr lang="en-US" sz="1800" b="0" i="1">
                            <a:latin typeface="Cambria Math" panose="02040503050406030204" pitchFamily="18" charset="0"/>
                          </a:rPr>
                          <m:t>2</m:t>
                        </m:r>
                      </m:sub>
                    </m:sSub>
                  </m:oMath>
                </a14:m>
                <a:r>
                  <a:rPr lang="en-US" sz="1800" dirty="0"/>
                  <a:t>, </a:t>
                </a:r>
                <a14:m>
                  <m:oMath xmlns:m="http://schemas.openxmlformats.org/officeDocument/2006/math">
                    <m:sSubSup>
                      <m:sSubSupPr>
                        <m:ctrlPr>
                          <a:rPr lang="en-US" sz="1800" b="0" i="1">
                            <a:latin typeface="Cambria Math" panose="02040503050406030204" pitchFamily="18" charset="0"/>
                          </a:rPr>
                        </m:ctrlPr>
                      </m:sSubSupPr>
                      <m:e>
                        <m:r>
                          <a:rPr lang="en-US" sz="1800" b="0" i="1">
                            <a:latin typeface="Cambria Math" panose="02040503050406030204" pitchFamily="18" charset="0"/>
                          </a:rPr>
                          <m:t>𝑥</m:t>
                        </m:r>
                      </m:e>
                      <m:sub>
                        <m:r>
                          <a:rPr lang="en-US" sz="1800" b="0" i="1">
                            <a:latin typeface="Cambria Math" panose="02040503050406030204" pitchFamily="18" charset="0"/>
                          </a:rPr>
                          <m:t>1</m:t>
                        </m:r>
                      </m:sub>
                      <m:sup>
                        <m:r>
                          <a:rPr lang="en-US" sz="1800" b="0" i="1">
                            <a:latin typeface="Cambria Math" panose="02040503050406030204" pitchFamily="18" charset="0"/>
                          </a:rPr>
                          <m:t>2</m:t>
                        </m:r>
                      </m:sup>
                    </m:sSubSup>
                    <m:r>
                      <a:rPr lang="en-US" sz="1800" b="0" i="1" smtClean="0">
                        <a:latin typeface="Cambria Math" panose="02040503050406030204" pitchFamily="18" charset="0"/>
                      </a:rPr>
                      <m:t>, </m:t>
                    </m:r>
                    <m:r>
                      <m:rPr>
                        <m:sty m:val="p"/>
                      </m:rPr>
                      <a:rPr lang="en-US" sz="1800" b="0" i="0" smtClean="0">
                        <a:latin typeface="Cambria Math" panose="02040503050406030204" pitchFamily="18" charset="0"/>
                      </a:rPr>
                      <m:t>ln</m:t>
                    </m:r>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𝑥</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m:t>
                    </m:r>
                  </m:oMath>
                </a14:m>
                <a:r>
                  <a:rPr lang="en-US" sz="1800" dirty="0"/>
                  <a:t>).</a:t>
                </a:r>
              </a:p>
              <a:p>
                <a:r>
                  <a:rPr lang="en-US" sz="1800" b="1" dirty="0"/>
                  <a:t>Embedding</a:t>
                </a:r>
                <a:r>
                  <a:rPr lang="en-US" sz="1800" dirty="0"/>
                  <a:t>: Unsupervised/self-supervised learning of features. E.g., convert words to vectors where vector similarity between vectors reflects semantic similarity. </a:t>
                </a:r>
                <a:endParaRPr lang="en-US" sz="1800" b="1" dirty="0"/>
              </a:p>
              <a:p>
                <a:pPr eaLnBrk="1" hangingPunct="1"/>
                <a:r>
                  <a:rPr lang="en-US" sz="1800" b="1" dirty="0"/>
                  <a:t>Feature Selection</a:t>
                </a:r>
                <a:r>
                  <a:rPr lang="en-US" sz="1800" dirty="0"/>
                  <a:t>: Which features should be used in the model is a model selection problem (choose between models with different features).</a:t>
                </a:r>
              </a:p>
              <a:p>
                <a:r>
                  <a:rPr lang="en-US" sz="1800" b="1" dirty="0"/>
                  <a:t>End-to-end machine learning: </a:t>
                </a:r>
                <a:r>
                  <a:rPr lang="en-US" sz="1800" dirty="0"/>
                  <a:t>Deep learning with neural networks can perform “automatic” feature engineering.</a:t>
                </a:r>
              </a:p>
              <a:p>
                <a:endParaRPr lang="en-US" sz="1800" dirty="0"/>
              </a:p>
              <a:p>
                <a:r>
                  <a:rPr lang="en-US" sz="1800" dirty="0"/>
                  <a:t>Example for Spam detection: In addition to words, add features for:</a:t>
                </a:r>
              </a:p>
              <a:p>
                <a:pPr lvl="1" eaLnBrk="1" hangingPunct="1"/>
                <a:r>
                  <a:rPr lang="en-US" sz="1800" dirty="0"/>
                  <a:t>Have you emailed the sender before?</a:t>
                </a:r>
              </a:p>
              <a:p>
                <a:pPr lvl="1" eaLnBrk="1" hangingPunct="1"/>
                <a:r>
                  <a:rPr lang="en-US" sz="1800" dirty="0"/>
                  <a:t>Have 1,000+ other people received the same email?</a:t>
                </a:r>
              </a:p>
              <a:p>
                <a:pPr lvl="1" eaLnBrk="1" hangingPunct="1"/>
                <a:r>
                  <a:rPr lang="en-US" sz="1800" dirty="0"/>
                  <a:t>Is the email in ALL CAPS?</a:t>
                </a:r>
              </a:p>
            </p:txBody>
          </p:sp>
        </mc:Choice>
        <mc:Fallback xmlns="">
          <p:sp>
            <p:nvSpPr>
              <p:cNvPr id="33795" name="Rectangle 3"/>
              <p:cNvSpPr>
                <a:spLocks noGrp="1" noRot="1" noChangeAspect="1" noMove="1" noResize="1" noEditPoints="1" noAdjustHandles="1" noChangeArrowheads="1" noChangeShapeType="1" noTextEdit="1"/>
              </p:cNvSpPr>
              <p:nvPr>
                <p:ph idx="1"/>
              </p:nvPr>
            </p:nvSpPr>
            <p:spPr>
              <a:xfrm>
                <a:off x="4654296" y="2532888"/>
                <a:ext cx="6894576" cy="3959352"/>
              </a:xfrm>
              <a:blipFill>
                <a:blip r:embed="rId3"/>
                <a:stretch>
                  <a:fillRect l="-265" t="-1387" r="-354"/>
                </a:stretch>
              </a:blipFill>
            </p:spPr>
            <p:txBody>
              <a:bodyPr/>
              <a:lstStyle/>
              <a:p>
                <a:r>
                  <a:rPr lang="en-US">
                    <a:noFill/>
                  </a:rPr>
                  <a:t> </a:t>
                </a:r>
              </a:p>
            </p:txBody>
          </p:sp>
        </mc:Fallback>
      </mc:AlternateContent>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9ECC4B4-B349-0940-ED3F-4F1162E4E4B8}"/>
              </a:ext>
            </a:extLst>
          </p:cNvPr>
          <p:cNvSpPr>
            <a:spLocks noGrp="1"/>
          </p:cNvSpPr>
          <p:nvPr>
            <p:ph type="title"/>
          </p:nvPr>
        </p:nvSpPr>
        <p:spPr>
          <a:xfrm>
            <a:off x="5297762" y="329184"/>
            <a:ext cx="6251110" cy="1783080"/>
          </a:xfrm>
        </p:spPr>
        <p:txBody>
          <a:bodyPr anchor="b">
            <a:normAutofit/>
          </a:bodyPr>
          <a:lstStyle/>
          <a:p>
            <a:r>
              <a:rPr lang="en-US" sz="5400" dirty="0"/>
              <a:t>Training Data in AI</a:t>
            </a:r>
          </a:p>
        </p:txBody>
      </p:sp>
      <p:pic>
        <p:nvPicPr>
          <p:cNvPr id="5" name="Picture 4">
            <a:extLst>
              <a:ext uri="{FF2B5EF4-FFF2-40B4-BE49-F238E27FC236}">
                <a16:creationId xmlns:a16="http://schemas.microsoft.com/office/drawing/2014/main" id="{ABAF83C4-D9A0-8275-81E7-14DF099D6D1E}"/>
              </a:ext>
              <a:ext uri="{C183D7F6-B498-43B3-948B-1728B52AA6E4}">
                <adec:decorative xmlns:adec="http://schemas.microsoft.com/office/drawing/2017/decorative" val="1"/>
              </a:ext>
            </a:extLst>
          </p:cNvPr>
          <p:cNvPicPr>
            <a:picLocks noChangeAspect="1"/>
          </p:cNvPicPr>
          <p:nvPr/>
        </p:nvPicPr>
        <p:blipFill>
          <a:blip r:embed="rId2"/>
          <a:srcRect l="14335" r="47465"/>
          <a:stretch/>
        </p:blipFill>
        <p:spPr>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11" name="sketchy line">
            <a:extLst>
              <a:ext uri="{FF2B5EF4-FFF2-40B4-BE49-F238E27FC236}">
                <a16:creationId xmlns:a16="http://schemas.microsoft.com/office/drawing/2014/main" id="{21540236-BFD5-4A9D-8840-4703E7F768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97762" y="2374947"/>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21627FF9-F1F5-F20E-2166-F2493FEEC0D0}"/>
              </a:ext>
            </a:extLst>
          </p:cNvPr>
          <p:cNvSpPr>
            <a:spLocks noGrp="1"/>
          </p:cNvSpPr>
          <p:nvPr>
            <p:ph idx="1"/>
          </p:nvPr>
        </p:nvSpPr>
        <p:spPr>
          <a:xfrm>
            <a:off x="5297762" y="2706624"/>
            <a:ext cx="6251110" cy="3483864"/>
          </a:xfrm>
        </p:spPr>
        <p:txBody>
          <a:bodyPr>
            <a:normAutofit lnSpcReduction="10000"/>
          </a:bodyPr>
          <a:lstStyle/>
          <a:p>
            <a:r>
              <a:rPr lang="en-US" sz="2200" dirty="0"/>
              <a:t>Training Data in AI can come from many sources</a:t>
            </a:r>
          </a:p>
          <a:p>
            <a:endParaRPr lang="en-US" sz="2200" dirty="0"/>
          </a:p>
          <a:p>
            <a:pPr lvl="1"/>
            <a:r>
              <a:rPr lang="en-US" sz="2200" b="1" dirty="0"/>
              <a:t>Existing Data</a:t>
            </a:r>
            <a:r>
              <a:rPr lang="en-US" sz="2200" dirty="0"/>
              <a:t>: Download documents from the internet to train Large Language Models.</a:t>
            </a:r>
            <a:endParaRPr lang="en-US" sz="2200" b="1" dirty="0"/>
          </a:p>
          <a:p>
            <a:pPr lvl="1"/>
            <a:r>
              <a:rPr lang="en-US" sz="2200" b="1" dirty="0"/>
              <a:t>Observation</a:t>
            </a:r>
            <a:r>
              <a:rPr lang="en-US" sz="2200" dirty="0"/>
              <a:t>: Record video of a task being performed (e.g., for self-driving cars).</a:t>
            </a:r>
          </a:p>
          <a:p>
            <a:pPr lvl="1"/>
            <a:r>
              <a:rPr lang="en-US" sz="2200" b="1" dirty="0"/>
              <a:t>Simulation</a:t>
            </a:r>
            <a:r>
              <a:rPr lang="en-US" sz="2200" dirty="0"/>
              <a:t>: E.g., simulated games using a playout strategy.</a:t>
            </a:r>
          </a:p>
          <a:p>
            <a:pPr lvl="1"/>
            <a:r>
              <a:rPr lang="en-US" sz="2200" b="1" dirty="0"/>
              <a:t>Expert feedback </a:t>
            </a:r>
            <a:r>
              <a:rPr lang="en-US" sz="2200" dirty="0"/>
              <a:t>on how well a task was performed.</a:t>
            </a:r>
          </a:p>
        </p:txBody>
      </p:sp>
    </p:spTree>
    <p:extLst>
      <p:ext uri="{BB962C8B-B14F-4D97-AF65-F5344CB8AC3E}">
        <p14:creationId xmlns:p14="http://schemas.microsoft.com/office/powerpoint/2010/main" val="9717902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5" name="Rectangle 134">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AD07CB2-7CF0-4403-8DE4-B08CDAFC3C22}"/>
              </a:ext>
            </a:extLst>
          </p:cNvPr>
          <p:cNvSpPr>
            <a:spLocks noGrp="1"/>
          </p:cNvSpPr>
          <p:nvPr>
            <p:ph type="title"/>
          </p:nvPr>
        </p:nvSpPr>
        <p:spPr>
          <a:xfrm>
            <a:off x="1113810" y="2960716"/>
            <a:ext cx="4036334" cy="2387600"/>
          </a:xfrm>
        </p:spPr>
        <p:txBody>
          <a:bodyPr vert="horz" lIns="91440" tIns="45720" rIns="91440" bIns="45720" rtlCol="0" anchor="t">
            <a:normAutofit/>
          </a:bodyPr>
          <a:lstStyle/>
          <a:p>
            <a:pPr algn="ctr"/>
            <a:r>
              <a:rPr lang="en-US" sz="5400" kern="1200" dirty="0">
                <a:solidFill>
                  <a:schemeClr val="tx1"/>
                </a:solidFill>
                <a:latin typeface="+mj-lt"/>
                <a:ea typeface="+mj-ea"/>
                <a:cs typeface="+mj-cs"/>
              </a:rPr>
              <a:t>Training </a:t>
            </a:r>
            <a:br>
              <a:rPr lang="en-US" sz="5400" kern="1200" dirty="0">
                <a:solidFill>
                  <a:schemeClr val="tx1"/>
                </a:solidFill>
                <a:latin typeface="+mj-lt"/>
                <a:ea typeface="+mj-ea"/>
                <a:cs typeface="+mj-cs"/>
              </a:rPr>
            </a:br>
            <a:r>
              <a:rPr lang="en-US" sz="5400" kern="1200" dirty="0">
                <a:solidFill>
                  <a:schemeClr val="tx1"/>
                </a:solidFill>
                <a:latin typeface="+mj-lt"/>
                <a:ea typeface="+mj-ea"/>
                <a:cs typeface="+mj-cs"/>
              </a:rPr>
              <a:t>and </a:t>
            </a:r>
            <a:br>
              <a:rPr lang="en-US" sz="5400" kern="1200" dirty="0">
                <a:solidFill>
                  <a:schemeClr val="tx1"/>
                </a:solidFill>
                <a:latin typeface="+mj-lt"/>
                <a:ea typeface="+mj-ea"/>
                <a:cs typeface="+mj-cs"/>
              </a:rPr>
            </a:br>
            <a:r>
              <a:rPr lang="en-US" sz="5400" kern="1200" dirty="0">
                <a:solidFill>
                  <a:schemeClr val="tx1"/>
                </a:solidFill>
                <a:latin typeface="+mj-lt"/>
                <a:ea typeface="+mj-ea"/>
                <a:cs typeface="+mj-cs"/>
              </a:rPr>
              <a:t>Testing</a:t>
            </a:r>
          </a:p>
        </p:txBody>
      </p:sp>
      <p:grpSp>
        <p:nvGrpSpPr>
          <p:cNvPr id="137" name="Group 136">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38" name="Rectangle 137">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Rectangle 13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Rectangle 13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2" name="Rectangle 141">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Rectangle 14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Manual Testing Icons - Download Free Vector Icons | Noun Project">
            <a:extLst>
              <a:ext uri="{FF2B5EF4-FFF2-40B4-BE49-F238E27FC236}">
                <a16:creationId xmlns:a16="http://schemas.microsoft.com/office/drawing/2014/main" id="{36BC554C-0171-4D49-90ED-F13BC05B5AB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957597" y="666728"/>
            <a:ext cx="5465791" cy="54657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29652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a:xfrm>
            <a:off x="457200" y="240684"/>
            <a:ext cx="10515600" cy="1325563"/>
          </a:xfrm>
        </p:spPr>
        <p:txBody>
          <a:bodyPr>
            <a:normAutofit/>
          </a:bodyPr>
          <a:lstStyle/>
          <a:p>
            <a:pPr eaLnBrk="1" hangingPunct="1"/>
            <a:r>
              <a:rPr lang="en-US" dirty="0"/>
              <a:t>Training a ML Model for AI</a:t>
            </a:r>
          </a:p>
        </p:txBody>
      </p:sp>
      <mc:AlternateContent xmlns:mc="http://schemas.openxmlformats.org/markup-compatibility/2006" xmlns:a14="http://schemas.microsoft.com/office/drawing/2010/main">
        <mc:Choice Requires="a14">
          <p:sp>
            <p:nvSpPr>
              <p:cNvPr id="1283075" name="Rectangle 3"/>
              <p:cNvSpPr>
                <a:spLocks noGrp="1" noChangeArrowheads="1"/>
              </p:cNvSpPr>
              <p:nvPr>
                <p:ph idx="1"/>
              </p:nvPr>
            </p:nvSpPr>
            <p:spPr>
              <a:xfrm>
                <a:off x="457200" y="1308744"/>
                <a:ext cx="7239000" cy="4939656"/>
              </a:xfrm>
            </p:spPr>
            <p:txBody>
              <a:bodyPr>
                <a:normAutofit/>
              </a:bodyPr>
              <a:lstStyle/>
              <a:p>
                <a:pPr marL="514350" indent="-514350">
                  <a:lnSpc>
                    <a:spcPct val="100000"/>
                  </a:lnSpc>
                  <a:buFont typeface="+mj-lt"/>
                  <a:buAutoNum type="arabicPeriod"/>
                </a:pPr>
                <a:r>
                  <a:rPr lang="en-US" sz="1400" dirty="0"/>
                  <a:t>Hold a </a:t>
                </a:r>
                <a:r>
                  <a:rPr lang="en-US" sz="1400" b="1" dirty="0"/>
                  <a:t>test set </a:t>
                </a:r>
                <a:r>
                  <a:rPr lang="en-US" sz="1400" dirty="0"/>
                  <a:t>back to estimate the </a:t>
                </a:r>
                <a:r>
                  <a:rPr lang="en-US" sz="1400" b="1" dirty="0">
                    <a:solidFill>
                      <a:srgbClr val="FF0000"/>
                    </a:solidFill>
                  </a:rPr>
                  <a:t>generalization error </a:t>
                </a:r>
                <a:r>
                  <a:rPr lang="en-US" sz="1400" dirty="0"/>
                  <a:t>of the final model.</a:t>
                </a:r>
              </a:p>
              <a:p>
                <a:pPr marL="514350" indent="-514350">
                  <a:lnSpc>
                    <a:spcPct val="100000"/>
                  </a:lnSpc>
                  <a:buFont typeface="+mj-lt"/>
                  <a:buAutoNum type="arabicPeriod"/>
                </a:pPr>
                <a:r>
                  <a:rPr lang="en-US" sz="1400" dirty="0"/>
                  <a:t>Hold a </a:t>
                </a:r>
                <a:r>
                  <a:rPr lang="en-US" sz="1400" b="1" dirty="0"/>
                  <a:t>validation data </a:t>
                </a:r>
                <a:r>
                  <a:rPr lang="en-US" sz="1400" dirty="0"/>
                  <a:t>set back from the training data for </a:t>
                </a:r>
                <a:r>
                  <a:rPr lang="en-US" sz="1400" b="1" dirty="0">
                    <a:solidFill>
                      <a:srgbClr val="FF0000"/>
                    </a:solidFill>
                  </a:rPr>
                  <a:t>model selection</a:t>
                </a:r>
                <a:r>
                  <a:rPr lang="en-US" sz="1400" dirty="0"/>
                  <a:t>.</a:t>
                </a:r>
              </a:p>
              <a:p>
                <a:pPr marL="514350" indent="-514350">
                  <a:lnSpc>
                    <a:spcPct val="100000"/>
                  </a:lnSpc>
                  <a:buFont typeface="+mj-lt"/>
                  <a:buAutoNum type="arabicPeriod"/>
                </a:pPr>
                <a:r>
                  <a:rPr lang="en-US" sz="1400" b="1" dirty="0"/>
                  <a:t>Learn different models </a:t>
                </a:r>
                <a:r>
                  <a:rPr lang="en-US" sz="1400" dirty="0"/>
                  <a:t>using the training set with different </a:t>
                </a:r>
                <a:r>
                  <a:rPr lang="en-US" sz="1400" b="1" dirty="0"/>
                  <a:t>hyperparameters</a:t>
                </a:r>
                <a:r>
                  <a:rPr lang="en-US" sz="1400" dirty="0"/>
                  <a:t> (learning rate, regularization </a:t>
                </a:r>
                <a14:m>
                  <m:oMath xmlns:m="http://schemas.openxmlformats.org/officeDocument/2006/math">
                    <m:r>
                      <a:rPr lang="en-US" sz="1400" b="0" i="1">
                        <a:latin typeface="Cambria Math" panose="02040503050406030204" pitchFamily="18" charset="0"/>
                      </a:rPr>
                      <m:t>𝜆</m:t>
                    </m:r>
                  </m:oMath>
                </a14:m>
                <a:r>
                  <a:rPr lang="en-US" sz="1400" dirty="0"/>
                  <a:t>, maximal decision tree depth, selected features,… ). A grid search over possible hyperparameter combinations, greedy search, or other experimental designs can be used.</a:t>
                </a:r>
              </a:p>
              <a:p>
                <a:pPr marL="514350" indent="-514350">
                  <a:lnSpc>
                    <a:spcPct val="100000"/>
                  </a:lnSpc>
                  <a:buFont typeface="+mj-lt"/>
                  <a:buAutoNum type="arabicPeriod"/>
                </a:pPr>
                <a:r>
                  <a:rPr lang="en-US" sz="1400" b="1" dirty="0"/>
                  <a:t>Evaluate the trained models </a:t>
                </a:r>
                <a:r>
                  <a:rPr lang="en-US" sz="1400" dirty="0"/>
                  <a:t>using the validation data and choose the model with the </a:t>
                </a:r>
                <a:r>
                  <a:rPr lang="en-US" sz="1400" b="1" dirty="0">
                    <a:solidFill>
                      <a:srgbClr val="FF0000"/>
                    </a:solidFill>
                  </a:rPr>
                  <a:t>best performance for the AI agent</a:t>
                </a:r>
                <a:r>
                  <a:rPr lang="en-US" sz="1400" dirty="0"/>
                  <a:t> (this is not necessarily accuracy). Selecting the right type of model, hyperparameters, and features is called </a:t>
                </a:r>
                <a:r>
                  <a:rPr lang="en-US" sz="1400" b="1" dirty="0"/>
                  <a:t>model selection/hyperparameter tuning</a:t>
                </a:r>
                <a:r>
                  <a:rPr lang="en-US" sz="1400" dirty="0"/>
                  <a:t>.</a:t>
                </a:r>
              </a:p>
              <a:p>
                <a:pPr marL="514350" indent="-514350">
                  <a:lnSpc>
                    <a:spcPct val="100000"/>
                  </a:lnSpc>
                  <a:buFont typeface="+mj-lt"/>
                  <a:buAutoNum type="arabicPeriod"/>
                </a:pPr>
                <a:r>
                  <a:rPr lang="en-US" sz="1400" b="1" dirty="0"/>
                  <a:t>Learn the final model </a:t>
                </a:r>
                <a:r>
                  <a:rPr lang="en-US" sz="1400" dirty="0"/>
                  <a:t>with the chosen hyperparameters using all training data (including the validation data). Use the test data to estimate the </a:t>
                </a:r>
                <a:r>
                  <a:rPr lang="en-US" sz="1400" b="1" dirty="0"/>
                  <a:t>generalization error. </a:t>
                </a:r>
                <a:r>
                  <a:rPr lang="en-US" sz="1400" dirty="0"/>
                  <a:t>This will show the agent’s performance on new, unseen data.</a:t>
                </a:r>
              </a:p>
              <a:p>
                <a:pPr>
                  <a:lnSpc>
                    <a:spcPct val="100000"/>
                  </a:lnSpc>
                </a:pPr>
                <a:endParaRPr lang="en-US" sz="1400" dirty="0"/>
              </a:p>
              <a:p>
                <a:pPr>
                  <a:lnSpc>
                    <a:spcPct val="100000"/>
                  </a:lnSpc>
                </a:pPr>
                <a:r>
                  <a:rPr lang="en-US" sz="1400" dirty="0"/>
                  <a:t>Notes: </a:t>
                </a:r>
              </a:p>
              <a:p>
                <a:pPr lvl="1">
                  <a:lnSpc>
                    <a:spcPct val="100000"/>
                  </a:lnSpc>
                </a:pPr>
                <a:r>
                  <a:rPr lang="en-US" sz="1400" dirty="0"/>
                  <a:t>The validation set was not used for training with different hyperparameters, so we get an estimate of the generalization error for comparing different hyperparameter settings.</a:t>
                </a:r>
              </a:p>
              <a:p>
                <a:pPr lvl="1">
                  <a:lnSpc>
                    <a:spcPct val="100000"/>
                  </a:lnSpc>
                </a:pPr>
                <a:r>
                  <a:rPr lang="en-US" sz="1400" dirty="0"/>
                  <a:t>If no model selection is necessary, then no validation set is necessary.</a:t>
                </a:r>
              </a:p>
            </p:txBody>
          </p:sp>
        </mc:Choice>
        <mc:Fallback xmlns="">
          <p:sp>
            <p:nvSpPr>
              <p:cNvPr id="1283075" name="Rectangle 3"/>
              <p:cNvSpPr>
                <a:spLocks noGrp="1" noRot="1" noChangeAspect="1" noMove="1" noResize="1" noEditPoints="1" noAdjustHandles="1" noChangeArrowheads="1" noChangeShapeType="1" noTextEdit="1"/>
              </p:cNvSpPr>
              <p:nvPr>
                <p:ph idx="1"/>
              </p:nvPr>
            </p:nvSpPr>
            <p:spPr>
              <a:xfrm>
                <a:off x="457200" y="1308744"/>
                <a:ext cx="7239000" cy="4939656"/>
              </a:xfrm>
              <a:blipFill>
                <a:blip r:embed="rId3"/>
                <a:stretch>
                  <a:fillRect l="-253" t="-370" r="-673"/>
                </a:stretch>
              </a:blipFill>
            </p:spPr>
            <p:txBody>
              <a:bodyPr/>
              <a:lstStyle/>
              <a:p>
                <a:r>
                  <a:rPr lang="en-US">
                    <a:noFill/>
                  </a:rPr>
                  <a:t> </a:t>
                </a:r>
              </a:p>
            </p:txBody>
          </p:sp>
        </mc:Fallback>
      </mc:AlternateContent>
      <p:sp>
        <p:nvSpPr>
          <p:cNvPr id="17412" name="Rectangle 4">
            <a:extLst>
              <a:ext uri="{C183D7F6-B498-43B3-948B-1728B52AA6E4}">
                <adec:decorative xmlns:adec="http://schemas.microsoft.com/office/drawing/2017/decorative" val="1"/>
              </a:ext>
            </a:extLst>
          </p:cNvPr>
          <p:cNvSpPr>
            <a:spLocks noChangeArrowheads="1"/>
          </p:cNvSpPr>
          <p:nvPr/>
        </p:nvSpPr>
        <p:spPr bwMode="auto">
          <a:xfrm>
            <a:off x="8475518" y="1219200"/>
            <a:ext cx="1676400" cy="2590800"/>
          </a:xfrm>
          <a:prstGeom prst="rect">
            <a:avLst/>
          </a:prstGeom>
          <a:ln>
            <a:headEnd/>
            <a:tailEnd/>
          </a:ln>
        </p:spPr>
        <p:style>
          <a:lnRef idx="3">
            <a:schemeClr val="lt1"/>
          </a:lnRef>
          <a:fillRef idx="1">
            <a:schemeClr val="accent3"/>
          </a:fillRef>
          <a:effectRef idx="1">
            <a:schemeClr val="accent3"/>
          </a:effectRef>
          <a:fontRef idx="minor">
            <a:schemeClr val="lt1"/>
          </a:fontRef>
        </p:style>
        <p:txBody>
          <a:bodyPr wrap="none" anchor="ctr"/>
          <a:lstStyle/>
          <a:p>
            <a:pPr algn="ctr"/>
            <a:r>
              <a:rPr lang="en-US">
                <a:latin typeface="Calibri"/>
                <a:cs typeface="Calibri"/>
              </a:rPr>
              <a:t>Training</a:t>
            </a:r>
          </a:p>
          <a:p>
            <a:pPr algn="ctr"/>
            <a:r>
              <a:rPr lang="en-US">
                <a:latin typeface="Calibri"/>
                <a:cs typeface="Calibri"/>
              </a:rPr>
              <a:t>Data</a:t>
            </a:r>
          </a:p>
        </p:txBody>
      </p:sp>
      <p:sp>
        <p:nvSpPr>
          <p:cNvPr id="17414" name="Rectangle 6">
            <a:extLst>
              <a:ext uri="{C183D7F6-B498-43B3-948B-1728B52AA6E4}">
                <adec:decorative xmlns:adec="http://schemas.microsoft.com/office/drawing/2017/decorative" val="1"/>
              </a:ext>
            </a:extLst>
          </p:cNvPr>
          <p:cNvSpPr>
            <a:spLocks noChangeArrowheads="1"/>
          </p:cNvSpPr>
          <p:nvPr/>
        </p:nvSpPr>
        <p:spPr bwMode="auto">
          <a:xfrm>
            <a:off x="8475518" y="4953000"/>
            <a:ext cx="1676400" cy="914400"/>
          </a:xfrm>
          <a:prstGeom prst="rect">
            <a:avLst/>
          </a:prstGeom>
          <a:ln>
            <a:headEnd/>
            <a:tailEnd/>
          </a:ln>
        </p:spPr>
        <p:style>
          <a:lnRef idx="3">
            <a:schemeClr val="lt1"/>
          </a:lnRef>
          <a:fillRef idx="1">
            <a:schemeClr val="accent2"/>
          </a:fillRef>
          <a:effectRef idx="1">
            <a:schemeClr val="accent2"/>
          </a:effectRef>
          <a:fontRef idx="minor">
            <a:schemeClr val="lt1"/>
          </a:fontRef>
        </p:style>
        <p:txBody>
          <a:bodyPr wrap="none" anchor="ctr"/>
          <a:lstStyle/>
          <a:p>
            <a:pPr algn="ctr"/>
            <a:r>
              <a:rPr lang="en-US" dirty="0">
                <a:latin typeface="Calibri"/>
                <a:cs typeface="Calibri"/>
              </a:rPr>
              <a:t>Test     </a:t>
            </a:r>
          </a:p>
          <a:p>
            <a:pPr algn="ctr"/>
            <a:r>
              <a:rPr lang="en-US" dirty="0">
                <a:latin typeface="Calibri"/>
                <a:cs typeface="Calibri"/>
              </a:rPr>
              <a:t>Data    </a:t>
            </a:r>
          </a:p>
        </p:txBody>
      </p:sp>
      <p:sp>
        <p:nvSpPr>
          <p:cNvPr id="4" name="Rectangle 3">
            <a:extLst>
              <a:ext uri="{FF2B5EF4-FFF2-40B4-BE49-F238E27FC236}">
                <a16:creationId xmlns:a16="http://schemas.microsoft.com/office/drawing/2014/main" id="{AC7EC834-138C-41AE-87CB-FE5BD6F87D5E}"/>
              </a:ext>
              <a:ext uri="{C183D7F6-B498-43B3-948B-1728B52AA6E4}">
                <adec:decorative xmlns:adec="http://schemas.microsoft.com/office/drawing/2017/decorative" val="1"/>
              </a:ext>
            </a:extLst>
          </p:cNvPr>
          <p:cNvSpPr/>
          <p:nvPr/>
        </p:nvSpPr>
        <p:spPr>
          <a:xfrm>
            <a:off x="8399318" y="4883150"/>
            <a:ext cx="1828800" cy="1054100"/>
          </a:xfrm>
          <a:prstGeom prst="rect">
            <a:avLst/>
          </a:prstGeom>
          <a:noFill/>
          <a:ln w="381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4">
            <a:extLst>
              <a:ext uri="{FF2B5EF4-FFF2-40B4-BE49-F238E27FC236}">
                <a16:creationId xmlns:a16="http://schemas.microsoft.com/office/drawing/2014/main" id="{A25EF86C-DB82-4BE3-A64E-0A220C3C5580}"/>
              </a:ext>
              <a:ext uri="{C183D7F6-B498-43B3-948B-1728B52AA6E4}">
                <adec:decorative xmlns:adec="http://schemas.microsoft.com/office/drawing/2017/decorative" val="1"/>
              </a:ext>
            </a:extLst>
          </p:cNvPr>
          <p:cNvSpPr>
            <a:spLocks noChangeArrowheads="1"/>
          </p:cNvSpPr>
          <p:nvPr/>
        </p:nvSpPr>
        <p:spPr bwMode="auto">
          <a:xfrm>
            <a:off x="8475518" y="1219200"/>
            <a:ext cx="1676400" cy="3505200"/>
          </a:xfrm>
          <a:prstGeom prst="rect">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wrap="none" anchor="ctr"/>
          <a:lstStyle/>
          <a:p>
            <a:pPr algn="ctr"/>
            <a:r>
              <a:rPr lang="en-US" dirty="0">
                <a:latin typeface="Calibri"/>
                <a:cs typeface="Calibri"/>
              </a:rPr>
              <a:t>Training</a:t>
            </a:r>
          </a:p>
          <a:p>
            <a:pPr algn="ctr"/>
            <a:r>
              <a:rPr lang="en-US" dirty="0">
                <a:latin typeface="Calibri"/>
                <a:cs typeface="Calibri"/>
              </a:rPr>
              <a:t>Data</a:t>
            </a:r>
          </a:p>
        </p:txBody>
      </p:sp>
      <p:sp>
        <p:nvSpPr>
          <p:cNvPr id="17413" name="Rectangle 5">
            <a:extLst>
              <a:ext uri="{C183D7F6-B498-43B3-948B-1728B52AA6E4}">
                <adec:decorative xmlns:adec="http://schemas.microsoft.com/office/drawing/2017/decorative" val="1"/>
              </a:ext>
            </a:extLst>
          </p:cNvPr>
          <p:cNvSpPr>
            <a:spLocks noChangeArrowheads="1"/>
          </p:cNvSpPr>
          <p:nvPr/>
        </p:nvSpPr>
        <p:spPr bwMode="auto">
          <a:xfrm>
            <a:off x="8551718" y="3581400"/>
            <a:ext cx="1524000" cy="1066800"/>
          </a:xfrm>
          <a:prstGeom prst="rect">
            <a:avLst/>
          </a:prstGeom>
          <a:ln>
            <a:headEnd/>
            <a:tailEnd/>
          </a:ln>
        </p:spPr>
        <p:style>
          <a:lnRef idx="3">
            <a:schemeClr val="lt1"/>
          </a:lnRef>
          <a:fillRef idx="1">
            <a:schemeClr val="accent6"/>
          </a:fillRef>
          <a:effectRef idx="1">
            <a:schemeClr val="accent6"/>
          </a:effectRef>
          <a:fontRef idx="minor">
            <a:schemeClr val="lt1"/>
          </a:fontRef>
        </p:style>
        <p:txBody>
          <a:bodyPr wrap="none" anchor="ctr"/>
          <a:lstStyle/>
          <a:p>
            <a:pPr algn="ctr"/>
            <a:r>
              <a:rPr lang="en-US" dirty="0">
                <a:latin typeface="Calibri"/>
                <a:cs typeface="Calibri"/>
              </a:rPr>
              <a:t>Validation</a:t>
            </a:r>
          </a:p>
          <a:p>
            <a:pPr algn="ctr"/>
            <a:r>
              <a:rPr lang="en-US" dirty="0">
                <a:latin typeface="Calibri"/>
                <a:cs typeface="Calibri"/>
              </a:rPr>
              <a:t>Data</a:t>
            </a:r>
          </a:p>
        </p:txBody>
      </p:sp>
      <p:pic>
        <p:nvPicPr>
          <p:cNvPr id="3" name="Graphic 2">
            <a:extLst>
              <a:ext uri="{FF2B5EF4-FFF2-40B4-BE49-F238E27FC236}">
                <a16:creationId xmlns:a16="http://schemas.microsoft.com/office/drawing/2014/main" id="{E42E714F-C096-F70B-B437-032F326007C4}"/>
              </a:ext>
              <a:ext uri="{C183D7F6-B498-43B3-948B-1728B52AA6E4}">
                <adec:decorative xmlns:adec="http://schemas.microsoft.com/office/drawing/2017/decorative" val="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313718" y="4953000"/>
            <a:ext cx="914400" cy="914400"/>
          </a:xfrm>
          <a:prstGeom prst="rect">
            <a:avLst/>
          </a:prstGeom>
        </p:spPr>
      </p:pic>
      <p:sp>
        <p:nvSpPr>
          <p:cNvPr id="2" name="Right Brace 1">
            <a:extLst>
              <a:ext uri="{FF2B5EF4-FFF2-40B4-BE49-F238E27FC236}">
                <a16:creationId xmlns:a16="http://schemas.microsoft.com/office/drawing/2014/main" id="{A64F06D4-9CDE-8D5D-F137-9EE47F391DC0}"/>
              </a:ext>
            </a:extLst>
          </p:cNvPr>
          <p:cNvSpPr/>
          <p:nvPr/>
        </p:nvSpPr>
        <p:spPr>
          <a:xfrm>
            <a:off x="10439400" y="4953000"/>
            <a:ext cx="152400" cy="990600"/>
          </a:xfrm>
          <a:prstGeom prst="rightBrace">
            <a:avLst/>
          </a:prstGeom>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DC3BDC9E-DA0E-2F16-EBCA-C437796886F7}"/>
              </a:ext>
            </a:extLst>
          </p:cNvPr>
          <p:cNvSpPr txBox="1"/>
          <p:nvPr/>
        </p:nvSpPr>
        <p:spPr>
          <a:xfrm>
            <a:off x="10591800" y="5155912"/>
            <a:ext cx="1165674" cy="584775"/>
          </a:xfrm>
          <a:prstGeom prst="rect">
            <a:avLst/>
          </a:prstGeom>
          <a:noFill/>
        </p:spPr>
        <p:txBody>
          <a:bodyPr wrap="square" rtlCol="0">
            <a:spAutoFit/>
          </a:bodyPr>
          <a:lstStyle/>
          <a:p>
            <a:r>
              <a:rPr lang="en-US" sz="1600" dirty="0"/>
              <a:t>Often 20% of the data</a:t>
            </a:r>
          </a:p>
        </p:txBody>
      </p:sp>
      <p:sp>
        <p:nvSpPr>
          <p:cNvPr id="6" name="Right Brace 5">
            <a:extLst>
              <a:ext uri="{FF2B5EF4-FFF2-40B4-BE49-F238E27FC236}">
                <a16:creationId xmlns:a16="http://schemas.microsoft.com/office/drawing/2014/main" id="{7A011E6B-73AB-1176-6DA0-F9F6716E3077}"/>
              </a:ext>
            </a:extLst>
          </p:cNvPr>
          <p:cNvSpPr/>
          <p:nvPr/>
        </p:nvSpPr>
        <p:spPr>
          <a:xfrm>
            <a:off x="10409959" y="3657600"/>
            <a:ext cx="152400" cy="990600"/>
          </a:xfrm>
          <a:prstGeom prst="rightBrace">
            <a:avLst/>
          </a:prstGeom>
        </p:spPr>
        <p:style>
          <a:lnRef idx="3">
            <a:schemeClr val="accent3"/>
          </a:lnRef>
          <a:fillRef idx="0">
            <a:schemeClr val="accent3"/>
          </a:fillRef>
          <a:effectRef idx="2">
            <a:schemeClr val="accent3"/>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87EECCFD-701E-6D37-7DE2-F1498D782FC0}"/>
              </a:ext>
            </a:extLst>
          </p:cNvPr>
          <p:cNvSpPr txBox="1"/>
          <p:nvPr/>
        </p:nvSpPr>
        <p:spPr>
          <a:xfrm>
            <a:off x="10623395" y="3745468"/>
            <a:ext cx="1515079" cy="738664"/>
          </a:xfrm>
          <a:prstGeom prst="rect">
            <a:avLst/>
          </a:prstGeom>
          <a:noFill/>
        </p:spPr>
        <p:txBody>
          <a:bodyPr wrap="square" rtlCol="0">
            <a:spAutoFit/>
          </a:bodyPr>
          <a:lstStyle/>
          <a:p>
            <a:r>
              <a:rPr lang="en-US" sz="1400" dirty="0"/>
              <a:t>Often 10% of the training data or cross-validation.</a:t>
            </a:r>
          </a:p>
        </p:txBody>
      </p:sp>
    </p:spTree>
    <p:extLst>
      <p:ext uri="{BB962C8B-B14F-4D97-AF65-F5344CB8AC3E}">
        <p14:creationId xmlns:p14="http://schemas.microsoft.com/office/powerpoint/2010/main" val="99534926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8307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8307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8307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8307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8307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83075">
                                            <p:txEl>
                                              <p:pRg st="6" end="6"/>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83075">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8307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3075"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3F62-37C6-40A0-ADC2-FC460ED00A41}"/>
              </a:ext>
            </a:extLst>
          </p:cNvPr>
          <p:cNvSpPr>
            <a:spLocks noGrp="1"/>
          </p:cNvSpPr>
          <p:nvPr>
            <p:ph type="title"/>
          </p:nvPr>
        </p:nvSpPr>
        <p:spPr/>
        <p:txBody>
          <a:bodyPr/>
          <a:lstStyle/>
          <a:p>
            <a:r>
              <a:rPr lang="en-US" dirty="0"/>
              <a:t>Testing: Evaluating the Final Model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263A696-816F-47D3-BA81-F4BDA9C353CC}"/>
                  </a:ext>
                </a:extLst>
              </p:cNvPr>
              <p:cNvSpPr>
                <a:spLocks noGrp="1"/>
              </p:cNvSpPr>
              <p:nvPr>
                <p:ph idx="1"/>
              </p:nvPr>
            </p:nvSpPr>
            <p:spPr>
              <a:xfrm>
                <a:off x="838200" y="1825625"/>
                <a:ext cx="8229600" cy="4667250"/>
              </a:xfrm>
            </p:spPr>
            <p:txBody>
              <a:bodyPr>
                <a:normAutofit fontScale="70000" lnSpcReduction="20000"/>
              </a:bodyPr>
              <a:lstStyle/>
              <a:p>
                <a:pPr marL="0" indent="0">
                  <a:buNone/>
                </a:pPr>
                <a:r>
                  <a:rPr lang="en-US" dirty="0"/>
                  <a:t>The final model was trained on the training examples </a:t>
                </a:r>
                <a14:m>
                  <m:oMath xmlns:m="http://schemas.openxmlformats.org/officeDocument/2006/math">
                    <m:r>
                      <a:rPr lang="en-US" b="0" i="1" smtClean="0">
                        <a:latin typeface="Cambria Math" panose="02040503050406030204" pitchFamily="18" charset="0"/>
                      </a:rPr>
                      <m:t>𝐸</m:t>
                    </m:r>
                  </m:oMath>
                </a14:m>
                <a:r>
                  <a:rPr lang="en-US" dirty="0"/>
                  <a:t>. We want to test how well the model will perform on new examples </a:t>
                </a:r>
                <a14:m>
                  <m:oMath xmlns:m="http://schemas.openxmlformats.org/officeDocument/2006/math">
                    <m:r>
                      <a:rPr lang="en-US" i="1" dirty="0" smtClean="0">
                        <a:latin typeface="Cambria Math" panose="02040503050406030204" pitchFamily="18" charset="0"/>
                      </a:rPr>
                      <m:t>𝑇</m:t>
                    </m:r>
                  </m:oMath>
                </a14:m>
                <a:r>
                  <a:rPr lang="en-US" dirty="0"/>
                  <a:t> (i.e., how well it </a:t>
                </a:r>
                <a:r>
                  <a:rPr lang="en-US" b="1" dirty="0">
                    <a:solidFill>
                      <a:srgbClr val="FF0000"/>
                    </a:solidFill>
                  </a:rPr>
                  <a:t>generalizes to new data</a:t>
                </a:r>
                <a:r>
                  <a:rPr lang="en-US" dirty="0"/>
                  <a:t>). We use the held-back test data.</a:t>
                </a:r>
              </a:p>
              <a:p>
                <a:endParaRPr lang="en-US" b="1" dirty="0">
                  <a:solidFill>
                    <a:srgbClr val="FF0000"/>
                  </a:solidFill>
                </a:endParaRPr>
              </a:p>
              <a:p>
                <a:r>
                  <a:rPr lang="en-US" b="1" dirty="0">
                    <a:solidFill>
                      <a:srgbClr val="FF0000"/>
                    </a:solidFill>
                  </a:rPr>
                  <a:t>Testing loss</a:t>
                </a:r>
                <a:r>
                  <a:rPr lang="en-US" dirty="0"/>
                  <a:t>: Calculate the empirical loss for predictions on a testing data set </a:t>
                </a:r>
                <a14:m>
                  <m:oMath xmlns:m="http://schemas.openxmlformats.org/officeDocument/2006/math">
                    <m:r>
                      <a:rPr lang="en-US" i="1" dirty="0" smtClean="0">
                        <a:latin typeface="Cambria Math" panose="02040503050406030204" pitchFamily="18" charset="0"/>
                      </a:rPr>
                      <m:t>𝑇</m:t>
                    </m:r>
                  </m:oMath>
                </a14:m>
                <a:r>
                  <a:rPr lang="en-US" dirty="0"/>
                  <a:t> that is different from the data used for training.</a:t>
                </a:r>
                <a:br>
                  <a:rPr lang="en-US" dirty="0"/>
                </a:br>
                <a:br>
                  <a:rPr lang="en-US" dirty="0"/>
                </a:br>
                <a14:m>
                  <m:oMath xmlns:m="http://schemas.openxmlformats.org/officeDocument/2006/math">
                    <m:r>
                      <a:rPr lang="en-US" i="1">
                        <a:latin typeface="Cambria Math" panose="02040503050406030204" pitchFamily="18" charset="0"/>
                      </a:rPr>
                      <m:t>𝐸𝑚𝑝𝐿𝑜𝑠</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𝐿</m:t>
                        </m:r>
                        <m:r>
                          <a:rPr lang="en-US" i="1">
                            <a:latin typeface="Cambria Math" panose="02040503050406030204" pitchFamily="18" charset="0"/>
                          </a:rPr>
                          <m:t>,</m:t>
                        </m:r>
                        <m:r>
                          <a:rPr lang="en-US" b="0" i="1" smtClean="0">
                            <a:latin typeface="Cambria Math" panose="02040503050406030204" pitchFamily="18" charset="0"/>
                          </a:rPr>
                          <m:t>𝑇</m:t>
                        </m:r>
                      </m:sub>
                    </m:sSub>
                    <m:r>
                      <a:rPr lang="en-US" i="1">
                        <a:latin typeface="Cambria Math" panose="02040503050406030204" pitchFamily="18" charset="0"/>
                      </a:rPr>
                      <m:t>(</m:t>
                    </m:r>
                    <m:r>
                      <a:rPr lang="en-US" i="1">
                        <a:latin typeface="Cambria Math" panose="02040503050406030204" pitchFamily="18" charset="0"/>
                      </a:rPr>
                      <m:t>h</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b="0" i="1" smtClean="0">
                            <a:latin typeface="Cambria Math" panose="02040503050406030204" pitchFamily="18" charset="0"/>
                          </a:rPr>
                          <m:t>|</m:t>
                        </m:r>
                        <m:r>
                          <a:rPr lang="en-US" b="0" i="1" smtClean="0">
                            <a:latin typeface="Cambria Math" panose="02040503050406030204" pitchFamily="18" charset="0"/>
                          </a:rPr>
                          <m:t>𝑇</m:t>
                        </m:r>
                        <m:r>
                          <a:rPr lang="en-US" b="0" i="1" smtClean="0">
                            <a:latin typeface="Cambria Math" panose="02040503050406030204" pitchFamily="18" charset="0"/>
                          </a:rPr>
                          <m:t>|</m:t>
                        </m:r>
                      </m:den>
                    </m:f>
                    <m:nary>
                      <m:naryPr>
                        <m:chr m:val="∑"/>
                        <m:supHide m:val="on"/>
                        <m:ctrlPr>
                          <a:rPr lang="en-US" i="1">
                            <a:latin typeface="Cambria Math" panose="02040503050406030204" pitchFamily="18" charset="0"/>
                          </a:rPr>
                        </m:ctrlPr>
                      </m:naryPr>
                      <m:sub>
                        <m:d>
                          <m:dPr>
                            <m:ctrlPr>
                              <a:rPr lang="en-US" i="1">
                                <a:latin typeface="Cambria Math" panose="02040503050406030204" pitchFamily="18" charset="0"/>
                              </a:rPr>
                            </m:ctrlPr>
                          </m:dPr>
                          <m:e>
                            <m:r>
                              <m:rPr>
                                <m:brk m:alnAt="7"/>
                              </m:rPr>
                              <a:rPr lang="en-US" b="1" i="1">
                                <a:latin typeface="Cambria Math" panose="02040503050406030204" pitchFamily="18" charset="0"/>
                              </a:rPr>
                              <m:t>𝒙</m:t>
                            </m:r>
                            <m:r>
                              <a:rPr lang="en-US" i="1">
                                <a:latin typeface="Cambria Math" panose="02040503050406030204" pitchFamily="18" charset="0"/>
                              </a:rPr>
                              <m:t>,</m:t>
                            </m:r>
                            <m:r>
                              <a:rPr lang="en-US" i="1">
                                <a:latin typeface="Cambria Math" panose="02040503050406030204" pitchFamily="18" charset="0"/>
                              </a:rPr>
                              <m:t>𝑦</m:t>
                            </m:r>
                          </m:e>
                        </m:d>
                        <m:r>
                          <a:rPr lang="en-US" i="1">
                            <a:latin typeface="Cambria Math" panose="02040503050406030204" pitchFamily="18" charset="0"/>
                          </a:rPr>
                          <m:t>∈</m:t>
                        </m:r>
                        <m:r>
                          <a:rPr lang="en-US" b="0" i="1" smtClean="0">
                            <a:latin typeface="Cambria Math" panose="02040503050406030204" pitchFamily="18" charset="0"/>
                          </a:rPr>
                          <m:t>𝑇</m:t>
                        </m:r>
                      </m:sub>
                      <m:sup/>
                      <m:e>
                        <m:r>
                          <a:rPr lang="en-US" i="1">
                            <a:latin typeface="Cambria Math" panose="02040503050406030204" pitchFamily="18" charset="0"/>
                          </a:rPr>
                          <m:t>𝐿</m:t>
                        </m:r>
                        <m:r>
                          <a:rPr lang="en-US" i="1">
                            <a:latin typeface="Cambria Math" panose="02040503050406030204" pitchFamily="18" charset="0"/>
                          </a:rPr>
                          <m:t>(</m:t>
                        </m:r>
                        <m:r>
                          <a:rPr lang="en-US" i="1">
                            <a:latin typeface="Cambria Math" panose="02040503050406030204" pitchFamily="18" charset="0"/>
                          </a:rPr>
                          <m:t>𝑦</m:t>
                        </m:r>
                        <m:r>
                          <a:rPr lang="en-US" i="1">
                            <a:latin typeface="Cambria Math" panose="02040503050406030204" pitchFamily="18" charset="0"/>
                          </a:rPr>
                          <m:t>, </m:t>
                        </m:r>
                        <m:r>
                          <a:rPr lang="en-US" i="1">
                            <a:latin typeface="Cambria Math" panose="02040503050406030204" pitchFamily="18" charset="0"/>
                          </a:rPr>
                          <m:t>h</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r>
                          <a:rPr lang="en-US" i="1">
                            <a:latin typeface="Cambria Math" panose="02040503050406030204" pitchFamily="18" charset="0"/>
                          </a:rPr>
                          <m:t>)</m:t>
                        </m:r>
                      </m:e>
                    </m:nary>
                  </m:oMath>
                </a14:m>
                <a:endParaRPr lang="en-US" dirty="0"/>
              </a:p>
              <a:p>
                <a:endParaRPr lang="en-US" dirty="0"/>
              </a:p>
              <a:p>
                <a:r>
                  <a:rPr lang="en-US" dirty="0"/>
                  <a:t>For classification we often use the </a:t>
                </a:r>
                <a:r>
                  <a:rPr lang="en-US" b="1" dirty="0">
                    <a:solidFill>
                      <a:srgbClr val="FF0000"/>
                    </a:solidFill>
                  </a:rPr>
                  <a:t>accuracy </a:t>
                </a:r>
                <a:r>
                  <a:rPr lang="en-US" dirty="0"/>
                  <a:t>measure, the proportion of correctly classified test examples.  </a:t>
                </a:r>
                <a:br>
                  <a:rPr lang="en-US" dirty="0"/>
                </a:br>
                <a:br>
                  <a:rPr lang="en-US" dirty="0"/>
                </a:br>
                <a14:m>
                  <m:oMath xmlns:m="http://schemas.openxmlformats.org/officeDocument/2006/math">
                    <m:r>
                      <a:rPr lang="en-US" sz="2400" i="1">
                        <a:latin typeface="Cambria Math" panose="02040503050406030204" pitchFamily="18" charset="0"/>
                      </a:rPr>
                      <m:t>𝑎𝑐𝑐𝑢𝑟𝑎𝑐𝑦</m:t>
                    </m:r>
                    <m:d>
                      <m:dPr>
                        <m:ctrlPr>
                          <a:rPr lang="en-US" sz="2400" i="1">
                            <a:latin typeface="Cambria Math" panose="02040503050406030204" pitchFamily="18" charset="0"/>
                          </a:rPr>
                        </m:ctrlPr>
                      </m:dPr>
                      <m:e>
                        <m:r>
                          <a:rPr lang="en-US" sz="2400" i="1">
                            <a:latin typeface="Cambria Math" panose="02040503050406030204" pitchFamily="18" charset="0"/>
                          </a:rPr>
                          <m:t>h</m:t>
                        </m:r>
                        <m:r>
                          <a:rPr lang="en-US" sz="2400" i="1">
                            <a:latin typeface="Cambria Math" panose="02040503050406030204" pitchFamily="18" charset="0"/>
                          </a:rPr>
                          <m:t>, </m:t>
                        </m:r>
                        <m:r>
                          <a:rPr lang="en-US" sz="2400" i="1">
                            <a:latin typeface="Cambria Math" panose="02040503050406030204" pitchFamily="18" charset="0"/>
                          </a:rPr>
                          <m:t>𝑇</m:t>
                        </m:r>
                      </m:e>
                    </m:d>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𝑇</m:t>
                            </m:r>
                          </m:e>
                        </m:d>
                      </m:den>
                    </m:f>
                    <m:nary>
                      <m:naryPr>
                        <m:chr m:val="∑"/>
                        <m:supHide m:val="on"/>
                        <m:ctrlPr>
                          <a:rPr lang="en-US" sz="2400" i="1">
                            <a:latin typeface="Cambria Math" panose="02040503050406030204" pitchFamily="18" charset="0"/>
                          </a:rPr>
                        </m:ctrlPr>
                      </m:naryPr>
                      <m:sub>
                        <m:r>
                          <m:rPr>
                            <m:brk m:alnAt="7"/>
                          </m:rPr>
                          <a:rPr lang="en-US" sz="2400" i="1">
                            <a:latin typeface="Cambria Math" panose="02040503050406030204" pitchFamily="18" charset="0"/>
                          </a:rPr>
                          <m:t>(</m:t>
                        </m:r>
                        <m:r>
                          <a:rPr lang="en-US" sz="2400" b="1" i="1">
                            <a:latin typeface="Cambria Math" panose="02040503050406030204" pitchFamily="18" charset="0"/>
                          </a:rPr>
                          <m:t>𝒙</m:t>
                        </m:r>
                        <m:r>
                          <a:rPr lang="en-US" sz="2400" i="1">
                            <a:latin typeface="Cambria Math" panose="02040503050406030204" pitchFamily="18" charset="0"/>
                          </a:rPr>
                          <m:t>,</m:t>
                        </m:r>
                        <m:r>
                          <a:rPr lang="en-US" sz="2400" i="1">
                            <a:latin typeface="Cambria Math" panose="02040503050406030204" pitchFamily="18" charset="0"/>
                          </a:rPr>
                          <m:t>𝑦</m:t>
                        </m:r>
                        <m:r>
                          <a:rPr lang="en-US" sz="2400" i="1">
                            <a:latin typeface="Cambria Math" panose="02040503050406030204" pitchFamily="18" charset="0"/>
                          </a:rPr>
                          <m:t>)∈</m:t>
                        </m:r>
                        <m:r>
                          <a:rPr lang="en-US" sz="2400" i="1">
                            <a:latin typeface="Cambria Math" panose="02040503050406030204" pitchFamily="18" charset="0"/>
                          </a:rPr>
                          <m:t>𝑇</m:t>
                        </m:r>
                        <m:r>
                          <a:rPr lang="en-US" sz="2400" i="1">
                            <a:latin typeface="Cambria Math" panose="02040503050406030204" pitchFamily="18" charset="0"/>
                          </a:rPr>
                          <m:t> </m:t>
                        </m:r>
                      </m:sub>
                      <m:sup/>
                      <m:e>
                        <m:r>
                          <a:rPr lang="en-US" sz="2400" i="1">
                            <a:latin typeface="Cambria Math" panose="02040503050406030204" pitchFamily="18" charset="0"/>
                          </a:rPr>
                          <m:t>[</m:t>
                        </m:r>
                        <m:r>
                          <a:rPr lang="en-US" sz="2400" i="1">
                            <a:latin typeface="Cambria Math" panose="02040503050406030204" pitchFamily="18" charset="0"/>
                          </a:rPr>
                          <m:t>h</m:t>
                        </m:r>
                        <m:r>
                          <a:rPr lang="en-US" sz="2400" b="0" i="1" smtClean="0">
                            <a:latin typeface="Cambria Math" panose="02040503050406030204" pitchFamily="18" charset="0"/>
                          </a:rPr>
                          <m:t>(</m:t>
                        </m:r>
                        <m:r>
                          <a:rPr lang="en-US" sz="2400" b="1" i="1" smtClean="0">
                            <a:latin typeface="Cambria Math" panose="02040503050406030204" pitchFamily="18" charset="0"/>
                          </a:rPr>
                          <m:t>𝒙</m:t>
                        </m:r>
                        <m:r>
                          <a:rPr lang="en-US" sz="2400" b="0" i="1" smtClean="0">
                            <a:latin typeface="Cambria Math" panose="02040503050406030204" pitchFamily="18" charset="0"/>
                          </a:rPr>
                          <m:t>)</m:t>
                        </m:r>
                        <m:r>
                          <a:rPr lang="en-US" sz="2400" i="1">
                            <a:latin typeface="Cambria Math" panose="02040503050406030204" pitchFamily="18" charset="0"/>
                          </a:rPr>
                          <m:t>=</m:t>
                        </m:r>
                        <m:r>
                          <a:rPr lang="en-US" sz="2400" i="1">
                            <a:latin typeface="Cambria Math" panose="02040503050406030204" pitchFamily="18" charset="0"/>
                          </a:rPr>
                          <m:t>𝑦</m:t>
                        </m:r>
                        <m:r>
                          <a:rPr lang="en-US" sz="2400" i="1">
                            <a:latin typeface="Cambria Math" panose="02040503050406030204" pitchFamily="18" charset="0"/>
                          </a:rPr>
                          <m:t>]</m:t>
                        </m:r>
                      </m:e>
                    </m:nary>
                    <m:r>
                      <a:rPr lang="en-US" sz="2400" i="1">
                        <a:latin typeface="Cambria Math" panose="02040503050406030204" pitchFamily="18" charset="0"/>
                      </a:rPr>
                      <m:t>=1− </m:t>
                    </m:r>
                    <m:r>
                      <a:rPr lang="en-US" sz="2400" i="1">
                        <a:latin typeface="Cambria Math" panose="02040503050406030204" pitchFamily="18" charset="0"/>
                      </a:rPr>
                      <m:t>𝐸𝑚𝑝𝐿𝑜𝑠</m:t>
                    </m:r>
                    <m:sSub>
                      <m:sSubPr>
                        <m:ctrlPr>
                          <a:rPr lang="en-US" sz="2400" i="1">
                            <a:latin typeface="Cambria Math" panose="02040503050406030204" pitchFamily="18" charset="0"/>
                          </a:rPr>
                        </m:ctrlPr>
                      </m:sSubPr>
                      <m:e>
                        <m:r>
                          <a:rPr lang="en-US" sz="2400" i="1">
                            <a:latin typeface="Cambria Math" panose="02040503050406030204" pitchFamily="18" charset="0"/>
                          </a:rPr>
                          <m:t>𝑠</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𝐿</m:t>
                            </m:r>
                          </m:e>
                          <m:sub>
                            <m:r>
                              <a:rPr lang="en-US" sz="2400" b="0" i="1" smtClean="0">
                                <a:latin typeface="Cambria Math" panose="02040503050406030204" pitchFamily="18" charset="0"/>
                              </a:rPr>
                              <m:t>0/1</m:t>
                            </m:r>
                          </m:sub>
                        </m:sSub>
                        <m:r>
                          <a:rPr lang="en-US" sz="2400" i="1">
                            <a:latin typeface="Cambria Math" panose="02040503050406030204" pitchFamily="18" charset="0"/>
                          </a:rPr>
                          <m:t>,</m:t>
                        </m:r>
                        <m:r>
                          <a:rPr lang="en-US" sz="2400" i="1">
                            <a:latin typeface="Cambria Math" panose="02040503050406030204" pitchFamily="18" charset="0"/>
                          </a:rPr>
                          <m:t>𝑇</m:t>
                        </m:r>
                      </m:sub>
                    </m:sSub>
                    <m:d>
                      <m:dPr>
                        <m:ctrlPr>
                          <a:rPr lang="en-US" sz="2400" i="1">
                            <a:latin typeface="Cambria Math" panose="02040503050406030204" pitchFamily="18" charset="0"/>
                          </a:rPr>
                        </m:ctrlPr>
                      </m:dPr>
                      <m:e>
                        <m:r>
                          <a:rPr lang="en-US" sz="2400" i="1">
                            <a:latin typeface="Cambria Math" panose="02040503050406030204" pitchFamily="18" charset="0"/>
                          </a:rPr>
                          <m:t>h</m:t>
                        </m:r>
                      </m:e>
                    </m:d>
                  </m:oMath>
                </a14:m>
                <a:br>
                  <a:rPr lang="en-US" dirty="0"/>
                </a:br>
                <a:endParaRPr lang="en-US" dirty="0"/>
              </a:p>
              <a:p>
                <a:pPr marL="0" indent="0" algn="r">
                  <a:buNone/>
                </a:pPr>
                <a:br>
                  <a:rPr lang="en-US" sz="1800" i="1" dirty="0">
                    <a:latin typeface="Cambria Math" panose="02040503050406030204" pitchFamily="18" charset="0"/>
                  </a:rPr>
                </a:br>
                <a14:m>
                  <m:oMath xmlns:m="http://schemas.openxmlformats.org/officeDocument/2006/math">
                    <m:d>
                      <m:dPr>
                        <m:begChr m:val="["/>
                        <m:endChr m:val="]"/>
                        <m:ctrlPr>
                          <a:rPr lang="en-US" sz="1800" i="1">
                            <a:latin typeface="Cambria Math" panose="02040503050406030204" pitchFamily="18" charset="0"/>
                          </a:rPr>
                        </m:ctrlPr>
                      </m:dPr>
                      <m:e>
                        <m:r>
                          <a:rPr lang="en-US" sz="1800" i="1">
                            <a:latin typeface="Cambria Math" panose="02040503050406030204" pitchFamily="18" charset="0"/>
                          </a:rPr>
                          <m:t>𝑐</m:t>
                        </m:r>
                      </m:e>
                    </m:d>
                  </m:oMath>
                </a14:m>
                <a:r>
                  <a:rPr lang="en-US" sz="1800" dirty="0"/>
                  <a:t> is an indicator function returning 1 if </a:t>
                </a:r>
                <a14:m>
                  <m:oMath xmlns:m="http://schemas.openxmlformats.org/officeDocument/2006/math">
                    <m:r>
                      <a:rPr lang="en-US" sz="1800" i="1" dirty="0">
                        <a:latin typeface="Cambria Math" panose="02040503050406030204" pitchFamily="18" charset="0"/>
                      </a:rPr>
                      <m:t>𝑐</m:t>
                    </m:r>
                    <m:r>
                      <a:rPr lang="en-US" sz="1800" i="1" dirty="0">
                        <a:latin typeface="Cambria Math" panose="02040503050406030204" pitchFamily="18" charset="0"/>
                      </a:rPr>
                      <m:t> = </m:t>
                    </m:r>
                    <m:r>
                      <a:rPr lang="en-US" sz="1800" i="1" dirty="0">
                        <a:latin typeface="Cambria Math" panose="02040503050406030204" pitchFamily="18" charset="0"/>
                      </a:rPr>
                      <m:t>𝑇𝑟𝑢𝑒</m:t>
                    </m:r>
                    <m:r>
                      <a:rPr lang="en-US" sz="1800" i="1" dirty="0">
                        <a:latin typeface="Cambria Math" panose="02040503050406030204" pitchFamily="18" charset="0"/>
                      </a:rPr>
                      <m:t> </m:t>
                    </m:r>
                  </m:oMath>
                </a14:m>
                <a:r>
                  <a:rPr lang="en-US" sz="1800" dirty="0"/>
                  <a:t>and otherwise 0 </a:t>
                </a:r>
                <a:br>
                  <a:rPr lang="en-US" sz="1800" dirty="0"/>
                </a:br>
                <a:endParaRPr lang="en-US" sz="1800" dirty="0"/>
              </a:p>
            </p:txBody>
          </p:sp>
        </mc:Choice>
        <mc:Fallback xmlns="">
          <p:sp>
            <p:nvSpPr>
              <p:cNvPr id="3" name="Content Placeholder 2">
                <a:extLst>
                  <a:ext uri="{FF2B5EF4-FFF2-40B4-BE49-F238E27FC236}">
                    <a16:creationId xmlns:a16="http://schemas.microsoft.com/office/drawing/2014/main" id="{E263A696-816F-47D3-BA81-F4BDA9C353CC}"/>
                  </a:ext>
                </a:extLst>
              </p:cNvPr>
              <p:cNvSpPr>
                <a:spLocks noGrp="1" noRot="1" noChangeAspect="1" noMove="1" noResize="1" noEditPoints="1" noAdjustHandles="1" noChangeArrowheads="1" noChangeShapeType="1" noTextEdit="1"/>
              </p:cNvSpPr>
              <p:nvPr>
                <p:ph idx="1"/>
              </p:nvPr>
            </p:nvSpPr>
            <p:spPr>
              <a:xfrm>
                <a:off x="838200" y="1825625"/>
                <a:ext cx="8229600" cy="4667250"/>
              </a:xfrm>
              <a:blipFill>
                <a:blip r:embed="rId2"/>
                <a:stretch>
                  <a:fillRect l="-815" t="-2350" r="-519" b="-113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4">
                <a:extLst>
                  <a:ext uri="{FF2B5EF4-FFF2-40B4-BE49-F238E27FC236}">
                    <a16:creationId xmlns:a16="http://schemas.microsoft.com/office/drawing/2014/main" id="{2CFE8C07-2A24-C975-43FB-99D39641346B}"/>
                  </a:ext>
                </a:extLst>
              </p:cNvPr>
              <p:cNvSpPr>
                <a:spLocks noChangeArrowheads="1"/>
              </p:cNvSpPr>
              <p:nvPr/>
            </p:nvSpPr>
            <p:spPr bwMode="auto">
              <a:xfrm>
                <a:off x="9753600" y="1676400"/>
                <a:ext cx="1676400" cy="3594100"/>
              </a:xfrm>
              <a:prstGeom prst="rect">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wrap="none" anchor="ctr"/>
              <a:lstStyle/>
              <a:p>
                <a:pPr algn="ctr"/>
                <a:r>
                  <a:rPr lang="en-US" dirty="0">
                    <a:latin typeface="Calibri"/>
                    <a:cs typeface="Calibri"/>
                  </a:rPr>
                  <a:t>Training</a:t>
                </a:r>
              </a:p>
              <a:p>
                <a:pPr algn="ctr"/>
                <a:r>
                  <a:rPr lang="en-US" dirty="0">
                    <a:latin typeface="Calibri"/>
                    <a:cs typeface="Calibri"/>
                  </a:rPr>
                  <a:t>Data</a:t>
                </a:r>
                <a:br>
                  <a:rPr lang="en-US" dirty="0">
                    <a:latin typeface="Calibri"/>
                    <a:cs typeface="Calibri"/>
                  </a:rPr>
                </a:b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𝐸</m:t>
                      </m:r>
                    </m:oMath>
                  </m:oMathPara>
                </a14:m>
                <a:endParaRPr lang="en-US" dirty="0">
                  <a:latin typeface="Calibri"/>
                  <a:cs typeface="Calibri"/>
                </a:endParaRPr>
              </a:p>
            </p:txBody>
          </p:sp>
        </mc:Choice>
        <mc:Fallback xmlns="">
          <p:sp>
            <p:nvSpPr>
              <p:cNvPr id="4" name="Rectangle 4">
                <a:extLst>
                  <a:ext uri="{FF2B5EF4-FFF2-40B4-BE49-F238E27FC236}">
                    <a16:creationId xmlns:a16="http://schemas.microsoft.com/office/drawing/2014/main" id="{2CFE8C07-2A24-C975-43FB-99D39641346B}"/>
                  </a:ext>
                </a:extLst>
              </p:cNvPr>
              <p:cNvSpPr>
                <a:spLocks noRot="1" noChangeAspect="1" noMove="1" noResize="1" noEditPoints="1" noAdjustHandles="1" noChangeArrowheads="1" noChangeShapeType="1" noTextEdit="1"/>
              </p:cNvSpPr>
              <p:nvPr/>
            </p:nvSpPr>
            <p:spPr bwMode="auto">
              <a:xfrm>
                <a:off x="9753600" y="1676400"/>
                <a:ext cx="1676400" cy="3594100"/>
              </a:xfrm>
              <a:prstGeom prst="rect">
                <a:avLst/>
              </a:prstGeom>
              <a:blipFill>
                <a:blip r:embed="rId4"/>
                <a:stretch>
                  <a:fillRect/>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Rectangle 6">
                <a:extLst>
                  <a:ext uri="{FF2B5EF4-FFF2-40B4-BE49-F238E27FC236}">
                    <a16:creationId xmlns:a16="http://schemas.microsoft.com/office/drawing/2014/main" id="{9537EEEA-4B43-7A4F-00EC-E7412EDC1627}"/>
                  </a:ext>
                </a:extLst>
              </p:cNvPr>
              <p:cNvSpPr>
                <a:spLocks noChangeArrowheads="1"/>
              </p:cNvSpPr>
              <p:nvPr/>
            </p:nvSpPr>
            <p:spPr bwMode="auto">
              <a:xfrm>
                <a:off x="9753600" y="5410200"/>
                <a:ext cx="1676400" cy="914400"/>
              </a:xfrm>
              <a:prstGeom prst="rect">
                <a:avLst/>
              </a:prstGeom>
              <a:ln>
                <a:headEnd/>
                <a:tailEnd/>
              </a:ln>
            </p:spPr>
            <p:style>
              <a:lnRef idx="3">
                <a:schemeClr val="lt1"/>
              </a:lnRef>
              <a:fillRef idx="1">
                <a:schemeClr val="accent2"/>
              </a:fillRef>
              <a:effectRef idx="1">
                <a:schemeClr val="accent2"/>
              </a:effectRef>
              <a:fontRef idx="minor">
                <a:schemeClr val="lt1"/>
              </a:fontRef>
            </p:style>
            <p:txBody>
              <a:bodyPr wrap="none" anchor="ctr"/>
              <a:lstStyle/>
              <a:p>
                <a:pPr algn="ctr"/>
                <a:r>
                  <a:rPr lang="en-US" dirty="0">
                    <a:latin typeface="Calibri"/>
                    <a:cs typeface="Calibri"/>
                  </a:rPr>
                  <a:t>Test   </a:t>
                </a:r>
              </a:p>
              <a:p>
                <a:pPr algn="ctr"/>
                <a:r>
                  <a:rPr lang="en-US" dirty="0">
                    <a:latin typeface="Calibri"/>
                    <a:cs typeface="Calibri"/>
                  </a:rPr>
                  <a:t>Data </a:t>
                </a:r>
                <a14:m>
                  <m:oMath xmlns:m="http://schemas.openxmlformats.org/officeDocument/2006/math">
                    <m:r>
                      <a:rPr lang="en-US" b="0" i="1" smtClean="0">
                        <a:latin typeface="Cambria Math" panose="02040503050406030204" pitchFamily="18" charset="0"/>
                        <a:cs typeface="Calibri"/>
                      </a:rPr>
                      <m:t>𝑇</m:t>
                    </m:r>
                    <m:r>
                      <a:rPr lang="en-US" b="0" i="1" smtClean="0">
                        <a:latin typeface="Cambria Math" panose="02040503050406030204" pitchFamily="18" charset="0"/>
                        <a:cs typeface="Calibri"/>
                      </a:rPr>
                      <m:t>    </m:t>
                    </m:r>
                  </m:oMath>
                </a14:m>
                <a:r>
                  <a:rPr lang="en-US" dirty="0">
                    <a:latin typeface="Calibri"/>
                    <a:cs typeface="Calibri"/>
                  </a:rPr>
                  <a:t>   </a:t>
                </a:r>
              </a:p>
            </p:txBody>
          </p:sp>
        </mc:Choice>
        <mc:Fallback xmlns="">
          <p:sp>
            <p:nvSpPr>
              <p:cNvPr id="5" name="Rectangle 6">
                <a:extLst>
                  <a:ext uri="{FF2B5EF4-FFF2-40B4-BE49-F238E27FC236}">
                    <a16:creationId xmlns:a16="http://schemas.microsoft.com/office/drawing/2014/main" id="{9537EEEA-4B43-7A4F-00EC-E7412EDC1627}"/>
                  </a:ext>
                </a:extLst>
              </p:cNvPr>
              <p:cNvSpPr>
                <a:spLocks noRot="1" noChangeAspect="1" noMove="1" noResize="1" noEditPoints="1" noAdjustHandles="1" noChangeArrowheads="1" noChangeShapeType="1" noTextEdit="1"/>
              </p:cNvSpPr>
              <p:nvPr/>
            </p:nvSpPr>
            <p:spPr bwMode="auto">
              <a:xfrm>
                <a:off x="9753600" y="5410200"/>
                <a:ext cx="1676400" cy="914400"/>
              </a:xfrm>
              <a:prstGeom prst="rect">
                <a:avLst/>
              </a:prstGeom>
              <a:blipFill>
                <a:blip r:embed="rId5"/>
                <a:stretch>
                  <a:fillRect/>
                </a:stretch>
              </a:blipFill>
              <a:ln>
                <a:headEnd/>
                <a:tailEnd/>
              </a:ln>
            </p:spPr>
            <p:txBody>
              <a:bodyPr/>
              <a:lstStyle/>
              <a:p>
                <a:r>
                  <a:rPr lang="en-US">
                    <a:noFill/>
                  </a:rPr>
                  <a:t> </a:t>
                </a:r>
              </a:p>
            </p:txBody>
          </p:sp>
        </mc:Fallback>
      </mc:AlternateContent>
      <p:pic>
        <p:nvPicPr>
          <p:cNvPr id="8" name="Graphic 7" descr="Unlock with solid fill">
            <a:extLst>
              <a:ext uri="{FF2B5EF4-FFF2-40B4-BE49-F238E27FC236}">
                <a16:creationId xmlns:a16="http://schemas.microsoft.com/office/drawing/2014/main" id="{F8BF9C43-12F8-7B12-0540-81AAFB0F1E7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629900" y="5410200"/>
            <a:ext cx="914400" cy="914400"/>
          </a:xfrm>
          <a:prstGeom prst="rect">
            <a:avLst/>
          </a:prstGeom>
        </p:spPr>
      </p:pic>
    </p:spTree>
    <p:extLst>
      <p:ext uri="{BB962C8B-B14F-4D97-AF65-F5344CB8AC3E}">
        <p14:creationId xmlns:p14="http://schemas.microsoft.com/office/powerpoint/2010/main" val="22603366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a:spLocks noGrp="1" noChangeArrowheads="1"/>
          </p:cNvSpPr>
          <p:nvPr>
            <p:ph type="title"/>
          </p:nvPr>
        </p:nvSpPr>
        <p:spPr/>
        <p:txBody>
          <a:bodyPr/>
          <a:lstStyle/>
          <a:p>
            <a:r>
              <a:rPr lang="en-US" dirty="0"/>
              <a:t>Learning Curve: </a:t>
            </a:r>
            <a:br>
              <a:rPr lang="en-US" dirty="0"/>
            </a:br>
            <a:r>
              <a:rPr lang="en-US" dirty="0"/>
              <a:t>The Effect the Training Data Size</a:t>
            </a:r>
          </a:p>
        </p:txBody>
      </p:sp>
      <p:sp>
        <p:nvSpPr>
          <p:cNvPr id="5" name="TextBox 4">
            <a:extLst>
              <a:ext uri="{FF2B5EF4-FFF2-40B4-BE49-F238E27FC236}">
                <a16:creationId xmlns:a16="http://schemas.microsoft.com/office/drawing/2014/main" id="{7B893CB7-1CE6-489E-AA25-529992299290}"/>
              </a:ext>
            </a:extLst>
          </p:cNvPr>
          <p:cNvSpPr txBox="1"/>
          <p:nvPr/>
        </p:nvSpPr>
        <p:spPr>
          <a:xfrm>
            <a:off x="7924800" y="2249652"/>
            <a:ext cx="3200400" cy="3231654"/>
          </a:xfrm>
          <a:prstGeom prst="rect">
            <a:avLst/>
          </a:prstGeom>
          <a:noFill/>
        </p:spPr>
        <p:txBody>
          <a:bodyPr wrap="square" rtlCol="0">
            <a:spAutoFit/>
          </a:bodyPr>
          <a:lstStyle/>
          <a:p>
            <a:r>
              <a:rPr lang="en-US" sz="2000" dirty="0"/>
              <a:t>Accuracy increases when the amount of available training data increases.</a:t>
            </a:r>
          </a:p>
          <a:p>
            <a:endParaRPr lang="en-US" sz="2000" dirty="0"/>
          </a:p>
          <a:p>
            <a:r>
              <a:rPr lang="en-US" sz="2400" b="1" dirty="0">
                <a:solidFill>
                  <a:srgbClr val="FF0000"/>
                </a:solidFill>
              </a:rPr>
              <a:t>More data is better!</a:t>
            </a:r>
          </a:p>
          <a:p>
            <a:endParaRPr lang="en-US" sz="2000" b="1" dirty="0">
              <a:solidFill>
                <a:srgbClr val="FF0000"/>
              </a:solidFill>
            </a:endParaRPr>
          </a:p>
          <a:p>
            <a:r>
              <a:rPr lang="en-US" sz="2000" dirty="0"/>
              <a:t>At some point, the learning curve flattens out, and more data does not contribute much!</a:t>
            </a:r>
          </a:p>
        </p:txBody>
      </p:sp>
      <p:grpSp>
        <p:nvGrpSpPr>
          <p:cNvPr id="6" name="Group 5" descr="A line chart showing how the accuracy increases when the training set size increases.">
            <a:extLst>
              <a:ext uri="{FF2B5EF4-FFF2-40B4-BE49-F238E27FC236}">
                <a16:creationId xmlns:a16="http://schemas.microsoft.com/office/drawing/2014/main" id="{EDE81B4A-876C-0019-74DE-F09196F7152E}"/>
              </a:ext>
            </a:extLst>
          </p:cNvPr>
          <p:cNvGrpSpPr/>
          <p:nvPr/>
        </p:nvGrpSpPr>
        <p:grpSpPr>
          <a:xfrm>
            <a:off x="619689" y="2019219"/>
            <a:ext cx="6886011" cy="4473656"/>
            <a:chOff x="685800" y="1774744"/>
            <a:chExt cx="6886011" cy="4473656"/>
          </a:xfrm>
        </p:grpSpPr>
        <p:pic>
          <p:nvPicPr>
            <p:cNvPr id="4" name="Picture 3" descr="A line chart showing how the accuracy increases when the training set size increases.">
              <a:extLst>
                <a:ext uri="{FF2B5EF4-FFF2-40B4-BE49-F238E27FC236}">
                  <a16:creationId xmlns:a16="http://schemas.microsoft.com/office/drawing/2014/main" id="{FCC41F1E-A882-4090-9BBF-C2012DFBB54D}"/>
                </a:ext>
              </a:extLst>
            </p:cNvPr>
            <p:cNvPicPr>
              <a:picLocks noChangeAspect="1"/>
            </p:cNvPicPr>
            <p:nvPr/>
          </p:nvPicPr>
          <p:blipFill>
            <a:blip r:embed="rId2"/>
            <a:stretch>
              <a:fillRect/>
            </a:stretch>
          </p:blipFill>
          <p:spPr>
            <a:xfrm>
              <a:off x="685800" y="1774744"/>
              <a:ext cx="6886011" cy="4473656"/>
            </a:xfrm>
            <a:prstGeom prst="rect">
              <a:avLst/>
            </a:prstGeom>
          </p:spPr>
        </p:pic>
        <p:sp>
          <p:nvSpPr>
            <p:cNvPr id="3" name="TextBox 2">
              <a:extLst>
                <a:ext uri="{FF2B5EF4-FFF2-40B4-BE49-F238E27FC236}">
                  <a16:creationId xmlns:a16="http://schemas.microsoft.com/office/drawing/2014/main" id="{6976109A-3269-41BF-A9E5-CF03732F4016}"/>
                </a:ext>
                <a:ext uri="{C183D7F6-B498-43B3-948B-1728B52AA6E4}">
                  <adec:decorative xmlns:adec="http://schemas.microsoft.com/office/drawing/2017/decorative" val="1"/>
                </a:ext>
              </a:extLst>
            </p:cNvPr>
            <p:cNvSpPr txBox="1"/>
            <p:nvPr/>
          </p:nvSpPr>
          <p:spPr>
            <a:xfrm rot="16200000">
              <a:off x="675383" y="3603485"/>
              <a:ext cx="1023101" cy="369332"/>
            </a:xfrm>
            <a:prstGeom prst="rect">
              <a:avLst/>
            </a:prstGeom>
            <a:noFill/>
          </p:spPr>
          <p:txBody>
            <a:bodyPr wrap="none" rtlCol="0">
              <a:spAutoFit/>
            </a:bodyPr>
            <a:lstStyle/>
            <a:p>
              <a:r>
                <a:rPr lang="en-US" dirty="0"/>
                <a:t>Accuracy</a:t>
              </a:r>
            </a:p>
          </p:txBody>
        </p:sp>
      </p:grpSp>
      <p:sp>
        <p:nvSpPr>
          <p:cNvPr id="10" name="Speech Bubble: Oval 9">
            <a:extLst>
              <a:ext uri="{FF2B5EF4-FFF2-40B4-BE49-F238E27FC236}">
                <a16:creationId xmlns:a16="http://schemas.microsoft.com/office/drawing/2014/main" id="{950477E8-3A99-82B3-DE3B-3B1F1FBE1FB7}"/>
              </a:ext>
            </a:extLst>
          </p:cNvPr>
          <p:cNvSpPr/>
          <p:nvPr/>
        </p:nvSpPr>
        <p:spPr>
          <a:xfrm>
            <a:off x="3581400" y="1600206"/>
            <a:ext cx="2362200" cy="649446"/>
          </a:xfrm>
          <a:prstGeom prst="wedgeEllipseCallout">
            <a:avLst>
              <a:gd name="adj1" fmla="val 63607"/>
              <a:gd name="adj2" fmla="val 8793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No classifier can get consistently better than the Bayesian error rate</a:t>
            </a:r>
          </a:p>
        </p:txBody>
      </p:sp>
      <p:cxnSp>
        <p:nvCxnSpPr>
          <p:cNvPr id="12" name="Straight Connector 11">
            <a:extLst>
              <a:ext uri="{FF2B5EF4-FFF2-40B4-BE49-F238E27FC236}">
                <a16:creationId xmlns:a16="http://schemas.microsoft.com/office/drawing/2014/main" id="{756F0791-53D0-2340-C98D-6EFE1BE2E569}"/>
              </a:ext>
            </a:extLst>
          </p:cNvPr>
          <p:cNvCxnSpPr>
            <a:cxnSpLocks/>
          </p:cNvCxnSpPr>
          <p:nvPr/>
        </p:nvCxnSpPr>
        <p:spPr>
          <a:xfrm>
            <a:off x="2209800" y="2514600"/>
            <a:ext cx="4648200" cy="0"/>
          </a:xfrm>
          <a:prstGeom prst="line">
            <a:avLst/>
          </a:prstGeom>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268676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nvPr>
        </p:nvSpPr>
        <p:spPr/>
        <p:txBody>
          <a:bodyPr/>
          <a:lstStyle/>
          <a:p>
            <a:pPr eaLnBrk="1" hangingPunct="1"/>
            <a:r>
              <a:rPr lang="en-US" dirty="0"/>
              <a:t>Comparing to a Baselines</a:t>
            </a:r>
          </a:p>
        </p:txBody>
      </p:sp>
      <p:sp>
        <p:nvSpPr>
          <p:cNvPr id="35843" name="Rectangle 3"/>
          <p:cNvSpPr>
            <a:spLocks noGrp="1" noChangeArrowheads="1"/>
          </p:cNvSpPr>
          <p:nvPr>
            <p:ph idx="1"/>
          </p:nvPr>
        </p:nvSpPr>
        <p:spPr/>
        <p:txBody>
          <a:bodyPr>
            <a:normAutofit fontScale="92500" lnSpcReduction="10000"/>
          </a:bodyPr>
          <a:lstStyle/>
          <a:p>
            <a:pPr eaLnBrk="1" hangingPunct="1">
              <a:lnSpc>
                <a:spcPct val="80000"/>
              </a:lnSpc>
            </a:pPr>
            <a:r>
              <a:rPr lang="en-US" sz="2400" dirty="0"/>
              <a:t>First step: get a </a:t>
            </a:r>
            <a:r>
              <a:rPr lang="en-US" sz="2400" b="1" dirty="0">
                <a:solidFill>
                  <a:srgbClr val="FF0000"/>
                </a:solidFill>
              </a:rPr>
              <a:t>baseline</a:t>
            </a:r>
          </a:p>
          <a:p>
            <a:pPr lvl="1" eaLnBrk="1" hangingPunct="1">
              <a:lnSpc>
                <a:spcPct val="80000"/>
              </a:lnSpc>
            </a:pPr>
            <a:r>
              <a:rPr lang="en-US" sz="2000" dirty="0"/>
              <a:t>The baseline is often a simple model.</a:t>
            </a:r>
          </a:p>
          <a:p>
            <a:pPr lvl="1" eaLnBrk="1" hangingPunct="1">
              <a:lnSpc>
                <a:spcPct val="80000"/>
              </a:lnSpc>
            </a:pPr>
            <a:r>
              <a:rPr lang="en-US" sz="2000" dirty="0"/>
              <a:t>Helps to determine how hard the task is.</a:t>
            </a:r>
          </a:p>
          <a:p>
            <a:pPr lvl="1" eaLnBrk="1" hangingPunct="1">
              <a:lnSpc>
                <a:spcPct val="80000"/>
              </a:lnSpc>
            </a:pPr>
            <a:r>
              <a:rPr lang="en-US" sz="2000" dirty="0"/>
              <a:t>Helps determine what a good accuracy is.</a:t>
            </a:r>
          </a:p>
          <a:p>
            <a:pPr eaLnBrk="1" hangingPunct="1">
              <a:lnSpc>
                <a:spcPct val="80000"/>
              </a:lnSpc>
            </a:pPr>
            <a:endParaRPr lang="en-US" sz="2400" dirty="0"/>
          </a:p>
          <a:p>
            <a:pPr eaLnBrk="1" hangingPunct="1">
              <a:lnSpc>
                <a:spcPct val="80000"/>
              </a:lnSpc>
            </a:pPr>
            <a:r>
              <a:rPr lang="en-US" sz="2400" b="1" dirty="0">
                <a:solidFill>
                  <a:srgbClr val="FF0000"/>
                </a:solidFill>
              </a:rPr>
              <a:t>Weak baseline</a:t>
            </a:r>
            <a:r>
              <a:rPr lang="en-US" sz="2400" dirty="0"/>
              <a:t>: E.g., </a:t>
            </a:r>
          </a:p>
          <a:p>
            <a:pPr lvl="1">
              <a:lnSpc>
                <a:spcPct val="80000"/>
              </a:lnSpc>
            </a:pPr>
            <a:r>
              <a:rPr lang="en-US" sz="2000" dirty="0"/>
              <a:t>Random choice: Choose a random answer.</a:t>
            </a:r>
          </a:p>
          <a:p>
            <a:pPr lvl="2">
              <a:lnSpc>
                <a:spcPct val="80000"/>
              </a:lnSpc>
            </a:pPr>
            <a:r>
              <a:rPr lang="en-US" sz="1600" dirty="0"/>
              <a:t>Example: Choose a random valid action for an agent playing Connect-4.</a:t>
            </a:r>
          </a:p>
          <a:p>
            <a:pPr lvl="1">
              <a:lnSpc>
                <a:spcPct val="80000"/>
              </a:lnSpc>
            </a:pPr>
            <a:r>
              <a:rPr lang="en-US" sz="2000" dirty="0"/>
              <a:t>Most frequent label classifier: Gives all test instances the same label, which is the most common label in the training set.</a:t>
            </a:r>
          </a:p>
          <a:p>
            <a:pPr lvl="2">
              <a:lnSpc>
                <a:spcPct val="80000"/>
              </a:lnSpc>
            </a:pPr>
            <a:r>
              <a:rPr lang="en-US" sz="1600" dirty="0"/>
              <a:t>Example: For spam filtering, give every message the label “ham” since most messages are ham.</a:t>
            </a:r>
          </a:p>
          <a:p>
            <a:pPr lvl="2">
              <a:lnSpc>
                <a:spcPct val="80000"/>
              </a:lnSpc>
            </a:pPr>
            <a:r>
              <a:rPr lang="en-US" sz="1600" dirty="0"/>
              <a:t>Note: Accuracy might be very high if the problem is skewed. This is called class imbalance.</a:t>
            </a:r>
            <a:br>
              <a:rPr lang="en-US" sz="1600" dirty="0"/>
            </a:br>
            <a:r>
              <a:rPr lang="en-US" sz="1600" dirty="0"/>
              <a:t>Example: If calling everything “ham” gets already 66% right, then a classifier that gets 68% isn’t a big improvement!</a:t>
            </a:r>
          </a:p>
          <a:p>
            <a:pPr lvl="1" eaLnBrk="1" hangingPunct="1">
              <a:lnSpc>
                <a:spcPct val="80000"/>
              </a:lnSpc>
            </a:pPr>
            <a:endParaRPr lang="en-US" sz="2000" dirty="0"/>
          </a:p>
          <a:p>
            <a:pPr>
              <a:lnSpc>
                <a:spcPct val="80000"/>
              </a:lnSpc>
            </a:pPr>
            <a:r>
              <a:rPr lang="en-US" sz="2400" b="1" dirty="0">
                <a:solidFill>
                  <a:srgbClr val="FF0000"/>
                </a:solidFill>
              </a:rPr>
              <a:t> Strong baseline: </a:t>
            </a:r>
            <a:r>
              <a:rPr lang="en-US" sz="2400" dirty="0"/>
              <a:t>For research, we typically compare our model with the performance of previously published state-of-the-art methods.</a:t>
            </a:r>
          </a:p>
          <a:p>
            <a:pPr lvl="1" eaLnBrk="1" hangingPunct="1">
              <a:lnSpc>
                <a:spcPct val="80000"/>
              </a:lnSpc>
            </a:pPr>
            <a:endParaRPr lang="en-US" sz="2000" dirty="0"/>
          </a:p>
        </p:txBody>
      </p:sp>
      <p:pic>
        <p:nvPicPr>
          <p:cNvPr id="3" name="Graphic 2" descr="Scales of justice with solid fill">
            <a:extLst>
              <a:ext uri="{FF2B5EF4-FFF2-40B4-BE49-F238E27FC236}">
                <a16:creationId xmlns:a16="http://schemas.microsoft.com/office/drawing/2014/main" id="{D1268937-A758-4CE9-B5AD-0B9E9E8D5D5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229600" y="495300"/>
            <a:ext cx="2908300" cy="29083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84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84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584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584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584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584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584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00" name="Rectangle 70">
            <a:extLst>
              <a:ext uri="{FF2B5EF4-FFF2-40B4-BE49-F238E27FC236}">
                <a16:creationId xmlns:a16="http://schemas.microsoft.com/office/drawing/2014/main" id="{F0AED851-54B9-4765-92D2-F0BE443BE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935ED6E1-FA3E-4DAF-9B55-1139AEDB98BC}"/>
              </a:ext>
            </a:extLst>
          </p:cNvPr>
          <p:cNvSpPr>
            <a:spLocks noGrp="1"/>
          </p:cNvSpPr>
          <p:nvPr>
            <p:ph type="title"/>
          </p:nvPr>
        </p:nvSpPr>
        <p:spPr>
          <a:xfrm>
            <a:off x="7003014" y="666728"/>
            <a:ext cx="4036334" cy="1709849"/>
          </a:xfrm>
        </p:spPr>
        <p:txBody>
          <a:bodyPr vert="horz" lIns="91440" tIns="45720" rIns="91440" bIns="45720" rtlCol="0" anchor="t">
            <a:normAutofit fontScale="90000"/>
          </a:bodyPr>
          <a:lstStyle/>
          <a:p>
            <a:r>
              <a:rPr lang="en-US" sz="5400" kern="1200" dirty="0">
                <a:solidFill>
                  <a:schemeClr val="tx1"/>
                </a:solidFill>
                <a:latin typeface="+mj-lt"/>
                <a:ea typeface="+mj-ea"/>
                <a:cs typeface="+mj-cs"/>
              </a:rPr>
              <a:t>Types of </a:t>
            </a:r>
            <a:br>
              <a:rPr lang="en-US" sz="5400" kern="1200" dirty="0">
                <a:solidFill>
                  <a:schemeClr val="tx1"/>
                </a:solidFill>
                <a:latin typeface="+mj-lt"/>
                <a:ea typeface="+mj-ea"/>
                <a:cs typeface="+mj-cs"/>
              </a:rPr>
            </a:br>
            <a:r>
              <a:rPr lang="en-US" sz="5400" kern="1200" dirty="0">
                <a:solidFill>
                  <a:schemeClr val="tx1"/>
                </a:solidFill>
                <a:latin typeface="+mj-lt"/>
                <a:ea typeface="+mj-ea"/>
                <a:cs typeface="+mj-cs"/>
              </a:rPr>
              <a:t>Supervised</a:t>
            </a:r>
            <a:br>
              <a:rPr lang="en-US" sz="5400" kern="1200" dirty="0">
                <a:solidFill>
                  <a:schemeClr val="tx1"/>
                </a:solidFill>
                <a:latin typeface="+mj-lt"/>
                <a:ea typeface="+mj-ea"/>
                <a:cs typeface="+mj-cs"/>
              </a:rPr>
            </a:br>
            <a:r>
              <a:rPr lang="en-US" sz="5400" kern="1200" dirty="0">
                <a:solidFill>
                  <a:schemeClr val="tx1"/>
                </a:solidFill>
                <a:latin typeface="+mj-lt"/>
                <a:ea typeface="+mj-ea"/>
                <a:cs typeface="+mj-cs"/>
              </a:rPr>
              <a:t>ML Models</a:t>
            </a:r>
          </a:p>
        </p:txBody>
      </p:sp>
      <p:sp>
        <p:nvSpPr>
          <p:cNvPr id="7" name="Text Placeholder 6">
            <a:extLst>
              <a:ext uri="{FF2B5EF4-FFF2-40B4-BE49-F238E27FC236}">
                <a16:creationId xmlns:a16="http://schemas.microsoft.com/office/drawing/2014/main" id="{749DC278-9D3E-40A3-A06E-86E24B87C6AC}"/>
              </a:ext>
            </a:extLst>
          </p:cNvPr>
          <p:cNvSpPr>
            <a:spLocks noGrp="1"/>
          </p:cNvSpPr>
          <p:nvPr>
            <p:ph type="body" idx="1"/>
          </p:nvPr>
        </p:nvSpPr>
        <p:spPr>
          <a:xfrm>
            <a:off x="7003014" y="4876800"/>
            <a:ext cx="4036333" cy="1709849"/>
          </a:xfrm>
        </p:spPr>
        <p:txBody>
          <a:bodyPr vert="horz" lIns="91440" tIns="45720" rIns="91440" bIns="45720" rtlCol="0" anchor="b">
            <a:normAutofit/>
          </a:bodyPr>
          <a:lstStyle/>
          <a:p>
            <a:r>
              <a:rPr lang="en-US" sz="2000" kern="1200" dirty="0">
                <a:solidFill>
                  <a:schemeClr val="tx1"/>
                </a:solidFill>
                <a:latin typeface="+mn-lt"/>
                <a:ea typeface="+mn-ea"/>
                <a:cs typeface="+mn-cs"/>
              </a:rPr>
              <a:t>Regression: Predict a number</a:t>
            </a:r>
          </a:p>
          <a:p>
            <a:r>
              <a:rPr lang="en-US" sz="2000" kern="1200" dirty="0">
                <a:solidFill>
                  <a:schemeClr val="tx1"/>
                </a:solidFill>
                <a:latin typeface="+mn-lt"/>
                <a:ea typeface="+mn-ea"/>
                <a:cs typeface="+mn-cs"/>
              </a:rPr>
              <a:t>Classification: Predict a label</a:t>
            </a:r>
          </a:p>
          <a:p>
            <a:endParaRPr lang="en-US" sz="2000" kern="1200" dirty="0">
              <a:solidFill>
                <a:schemeClr val="tx1"/>
              </a:solidFill>
              <a:latin typeface="+mn-lt"/>
              <a:ea typeface="+mn-ea"/>
              <a:cs typeface="+mn-cs"/>
            </a:endParaRPr>
          </a:p>
        </p:txBody>
      </p:sp>
      <p:sp>
        <p:nvSpPr>
          <p:cNvPr id="4101" name="Rectangle 72">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ectangle 7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6824"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98" name="Picture 2">
            <a:extLst>
              <a:ext uri="{FF2B5EF4-FFF2-40B4-BE49-F238E27FC236}">
                <a16:creationId xmlns:a16="http://schemas.microsoft.com/office/drawing/2014/main" id="{3B9EF21E-AB9E-45F4-96D1-5505071AABDE}"/>
              </a:ex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68612" y="666728"/>
            <a:ext cx="5465791" cy="546579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up 76">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60480" y="2984992"/>
            <a:ext cx="731521" cy="673460"/>
            <a:chOff x="3940602" y="308034"/>
            <a:chExt cx="2116791" cy="3428999"/>
          </a:xfrm>
          <a:solidFill>
            <a:schemeClr val="accent4"/>
          </a:solidFill>
        </p:grpSpPr>
        <p:sp>
          <p:nvSpPr>
            <p:cNvPr id="78" name="Rectangle 77">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1545553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D88DA-0611-48E7-9A3A-1FA64D85673F}"/>
              </a:ext>
            </a:extLst>
          </p:cNvPr>
          <p:cNvSpPr>
            <a:spLocks noGrp="1"/>
          </p:cNvSpPr>
          <p:nvPr>
            <p:ph type="title"/>
          </p:nvPr>
        </p:nvSpPr>
        <p:spPr>
          <a:xfrm>
            <a:off x="685800" y="251735"/>
            <a:ext cx="10515600" cy="1325563"/>
          </a:xfrm>
        </p:spPr>
        <p:txBody>
          <a:bodyPr/>
          <a:lstStyle/>
          <a:p>
            <a:r>
              <a:rPr lang="en-US" dirty="0"/>
              <a:t>Regression: Linear Regression</a:t>
            </a:r>
          </a:p>
        </p:txBody>
      </p:sp>
      <mc:AlternateContent xmlns:mc="http://schemas.openxmlformats.org/markup-compatibility/2006" xmlns:a14="http://schemas.microsoft.com/office/drawing/2010/main">
        <mc:Choice Requires="a14">
          <p:sp>
            <p:nvSpPr>
              <p:cNvPr id="10" name="Content Placeholder 9">
                <a:extLst>
                  <a:ext uri="{FF2B5EF4-FFF2-40B4-BE49-F238E27FC236}">
                    <a16:creationId xmlns:a16="http://schemas.microsoft.com/office/drawing/2014/main" id="{07B10872-8BD1-5418-BBBC-C7C9889EA209}"/>
                  </a:ext>
                </a:extLst>
              </p:cNvPr>
              <p:cNvSpPr>
                <a:spLocks noGrp="1"/>
              </p:cNvSpPr>
              <p:nvPr>
                <p:ph idx="1"/>
              </p:nvPr>
            </p:nvSpPr>
            <p:spPr>
              <a:xfrm>
                <a:off x="685799" y="1598469"/>
                <a:ext cx="9283701" cy="4268931"/>
              </a:xfrm>
            </p:spPr>
            <p:txBody>
              <a:bodyPr>
                <a:normAutofit fontScale="70000" lnSpcReduction="20000"/>
              </a:bodyPr>
              <a:lstStyle/>
              <a:p>
                <a:r>
                  <a:rPr lang="en-US" dirty="0"/>
                  <a:t>Model: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h</m:t>
                        </m:r>
                      </m:e>
                      <m:sub>
                        <m:r>
                          <a:rPr lang="en-US" b="1" i="1">
                            <a:latin typeface="Cambria Math" panose="02040503050406030204" pitchFamily="18" charset="0"/>
                          </a:rPr>
                          <m:t>𝒘</m:t>
                        </m:r>
                      </m:sub>
                    </m:sSub>
                    <m:d>
                      <m:dPr>
                        <m:ctrlPr>
                          <a:rPr lang="en-US" b="1" i="1">
                            <a:latin typeface="Cambria Math" panose="02040503050406030204" pitchFamily="18" charset="0"/>
                          </a:rPr>
                        </m:ctrlPr>
                      </m:dPr>
                      <m:e>
                        <m:r>
                          <a:rPr lang="en-US" b="1" i="1" smtClean="0">
                            <a:latin typeface="Cambria Math" panose="02040503050406030204" pitchFamily="18" charset="0"/>
                          </a:rPr>
                          <m:t>𝒙</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𝑜</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𝑛</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𝑛</m:t>
                        </m:r>
                      </m:sub>
                    </m:sSub>
                    <m:r>
                      <a:rPr lang="en-US" i="1">
                        <a:latin typeface="Cambria Math" panose="02040503050406030204" pitchFamily="18" charset="0"/>
                      </a:rPr>
                      <m:t>=</m:t>
                    </m:r>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sub>
                      <m:sup/>
                      <m:e>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e>
                    </m:nary>
                    <m:r>
                      <a:rPr lang="en-US" i="1">
                        <a:latin typeface="Cambria Math" panose="02040503050406030204" pitchFamily="18" charset="0"/>
                      </a:rPr>
                      <m:t>=</m:t>
                    </m:r>
                    <m:sSup>
                      <m:sSupPr>
                        <m:ctrlPr>
                          <a:rPr lang="en-US" i="1">
                            <a:latin typeface="Cambria Math" panose="02040503050406030204" pitchFamily="18" charset="0"/>
                          </a:rPr>
                        </m:ctrlPr>
                      </m:sSupPr>
                      <m:e>
                        <m:r>
                          <a:rPr lang="en-US" b="1" i="1">
                            <a:latin typeface="Cambria Math" panose="02040503050406030204" pitchFamily="18" charset="0"/>
                          </a:rPr>
                          <m:t>𝒘</m:t>
                        </m:r>
                      </m:e>
                      <m:sup>
                        <m:r>
                          <a:rPr lang="en-US" b="0" i="1" smtClean="0">
                            <a:latin typeface="Cambria Math" panose="02040503050406030204" pitchFamily="18" charset="0"/>
                          </a:rPr>
                          <m:t>⊤</m:t>
                        </m:r>
                      </m:sup>
                    </m:sSup>
                    <m:r>
                      <a:rPr lang="en-US" b="1" i="1" smtClean="0">
                        <a:latin typeface="Cambria Math" panose="02040503050406030204" pitchFamily="18" charset="0"/>
                      </a:rPr>
                      <m:t>𝒙</m:t>
                    </m:r>
                    <m:r>
                      <a:rPr lang="en-US" i="1">
                        <a:latin typeface="Cambria Math" panose="02040503050406030204" pitchFamily="18" charset="0"/>
                      </a:rPr>
                      <m:t> </m:t>
                    </m:r>
                  </m:oMath>
                </a14:m>
                <a:endParaRPr lang="en-US" dirty="0"/>
              </a:p>
              <a:p>
                <a:r>
                  <a:rPr lang="en-US" dirty="0"/>
                  <a:t>Empirical loss: 	</a:t>
                </a:r>
                <a14:m>
                  <m:oMath xmlns:m="http://schemas.openxmlformats.org/officeDocument/2006/math">
                    <m:r>
                      <a:rPr lang="en-US" i="1">
                        <a:latin typeface="Cambria Math" panose="02040503050406030204" pitchFamily="18" charset="0"/>
                      </a:rPr>
                      <m:t>𝐿</m:t>
                    </m:r>
                    <m:d>
                      <m:dPr>
                        <m:ctrlPr>
                          <a:rPr lang="en-US" b="1" i="1">
                            <a:latin typeface="Cambria Math" panose="02040503050406030204" pitchFamily="18" charset="0"/>
                          </a:rPr>
                        </m:ctrlPr>
                      </m:dPr>
                      <m:e>
                        <m:r>
                          <a:rPr lang="en-US" b="1" i="1">
                            <a:latin typeface="Cambria Math" panose="02040503050406030204" pitchFamily="18" charset="0"/>
                          </a:rPr>
                          <m:t>𝒘</m:t>
                        </m:r>
                      </m:e>
                    </m:d>
                    <m:r>
                      <a:rPr lang="en-US" i="1">
                        <a:latin typeface="Cambria Math" panose="02040503050406030204" pitchFamily="18" charset="0"/>
                      </a:rPr>
                      <m:t>=</m:t>
                    </m:r>
                    <m:sSup>
                      <m:sSupPr>
                        <m:ctrlPr>
                          <a:rPr lang="en-US" b="1" i="1">
                            <a:latin typeface="Cambria Math" panose="02040503050406030204" pitchFamily="18" charset="0"/>
                          </a:rPr>
                        </m:ctrlPr>
                      </m:sSupPr>
                      <m:e>
                        <m:d>
                          <m:dPr>
                            <m:begChr m:val="‖"/>
                            <m:endChr m:val="‖"/>
                            <m:ctrlPr>
                              <a:rPr lang="en-US" b="1" i="1">
                                <a:latin typeface="Cambria Math" panose="02040503050406030204" pitchFamily="18" charset="0"/>
                              </a:rPr>
                            </m:ctrlPr>
                          </m:dPr>
                          <m:e>
                            <m:r>
                              <a:rPr lang="en-US" b="1" i="1">
                                <a:latin typeface="Cambria Math" panose="02040503050406030204" pitchFamily="18" charset="0"/>
                              </a:rPr>
                              <m:t>𝑿𝒘</m:t>
                            </m:r>
                            <m:r>
                              <a:rPr lang="en-US" b="1" i="1">
                                <a:latin typeface="Cambria Math" panose="02040503050406030204" pitchFamily="18" charset="0"/>
                              </a:rPr>
                              <m:t>−</m:t>
                            </m:r>
                            <m:r>
                              <a:rPr lang="en-US" b="1" i="1">
                                <a:latin typeface="Cambria Math" panose="02040503050406030204" pitchFamily="18" charset="0"/>
                              </a:rPr>
                              <m:t>𝒚</m:t>
                            </m:r>
                          </m:e>
                        </m:d>
                      </m:e>
                      <m:sup>
                        <m:r>
                          <a:rPr lang="en-US" b="1" i="1">
                            <a:latin typeface="Cambria Math" panose="02040503050406030204" pitchFamily="18" charset="0"/>
                          </a:rPr>
                          <m:t>𝟐</m:t>
                        </m:r>
                      </m:sup>
                    </m:sSup>
                  </m:oMath>
                </a14:m>
                <a:endParaRPr lang="en-US" dirty="0"/>
              </a:p>
              <a:p>
                <a:r>
                  <a:rPr lang="en-US" dirty="0"/>
                  <a:t>Gradient: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rPr>
                      <m:t>𝐿</m:t>
                    </m:r>
                    <m:d>
                      <m:dPr>
                        <m:ctrlPr>
                          <a:rPr lang="en-US" b="1" i="1">
                            <a:latin typeface="Cambria Math" panose="02040503050406030204" pitchFamily="18" charset="0"/>
                          </a:rPr>
                        </m:ctrlPr>
                      </m:dPr>
                      <m:e>
                        <m:r>
                          <a:rPr lang="en-US" b="1" i="1">
                            <a:latin typeface="Cambria Math" panose="02040503050406030204" pitchFamily="18" charset="0"/>
                          </a:rPr>
                          <m:t>𝒘</m:t>
                        </m:r>
                      </m:e>
                    </m:d>
                    <m:r>
                      <a:rPr lang="en-US" i="1">
                        <a:latin typeface="Cambria Math" panose="02040503050406030204" pitchFamily="18" charset="0"/>
                      </a:rPr>
                      <m:t>=2</m:t>
                    </m:r>
                    <m:sSup>
                      <m:sSupPr>
                        <m:ctrlPr>
                          <a:rPr lang="en-US" b="1" i="1">
                            <a:latin typeface="Cambria Math" panose="02040503050406030204" pitchFamily="18" charset="0"/>
                          </a:rPr>
                        </m:ctrlPr>
                      </m:sSupPr>
                      <m:e>
                        <m:r>
                          <a:rPr lang="en-US" b="1" i="1">
                            <a:latin typeface="Cambria Math" panose="02040503050406030204" pitchFamily="18" charset="0"/>
                          </a:rPr>
                          <m:t>𝑿</m:t>
                        </m:r>
                      </m:e>
                      <m:sup>
                        <m:r>
                          <a:rPr lang="en-US" b="1" i="1" smtClean="0">
                            <a:latin typeface="Cambria Math" panose="02040503050406030204" pitchFamily="18" charset="0"/>
                          </a:rPr>
                          <m:t>⊤</m:t>
                        </m:r>
                      </m:sup>
                    </m:sSup>
                    <m:d>
                      <m:dPr>
                        <m:ctrlPr>
                          <a:rPr lang="en-US" b="1" i="1">
                            <a:latin typeface="Cambria Math" panose="02040503050406030204" pitchFamily="18" charset="0"/>
                          </a:rPr>
                        </m:ctrlPr>
                      </m:dPr>
                      <m:e>
                        <m:r>
                          <a:rPr lang="en-US" b="1" i="1">
                            <a:latin typeface="Cambria Math" panose="02040503050406030204" pitchFamily="18" charset="0"/>
                          </a:rPr>
                          <m:t>𝑿𝒘</m:t>
                        </m:r>
                        <m:r>
                          <a:rPr lang="en-US" b="1" i="1">
                            <a:latin typeface="Cambria Math" panose="02040503050406030204" pitchFamily="18" charset="0"/>
                          </a:rPr>
                          <m:t>−</m:t>
                        </m:r>
                        <m:r>
                          <a:rPr lang="en-US" b="1" i="1">
                            <a:latin typeface="Cambria Math" panose="02040503050406030204" pitchFamily="18" charset="0"/>
                          </a:rPr>
                          <m:t>𝒚</m:t>
                        </m:r>
                      </m:e>
                    </m:d>
                  </m:oMath>
                </a14:m>
                <a:endParaRPr lang="en-US" dirty="0"/>
              </a:p>
              <a:p>
                <a:r>
                  <a:rPr lang="en-US" dirty="0"/>
                  <a:t>Minimum loss: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rPr>
                      <m:t>𝐿</m:t>
                    </m:r>
                    <m:d>
                      <m:dPr>
                        <m:ctrlPr>
                          <a:rPr lang="en-US" b="1" i="1">
                            <a:latin typeface="Cambria Math" panose="02040503050406030204" pitchFamily="18" charset="0"/>
                          </a:rPr>
                        </m:ctrlPr>
                      </m:dPr>
                      <m:e>
                        <m:r>
                          <a:rPr lang="en-US" b="1" i="1">
                            <a:latin typeface="Cambria Math" panose="02040503050406030204" pitchFamily="18" charset="0"/>
                          </a:rPr>
                          <m:t>𝒘</m:t>
                        </m:r>
                      </m:e>
                    </m:d>
                    <m:r>
                      <a:rPr lang="en-US" i="1">
                        <a:latin typeface="Cambria Math" panose="02040503050406030204" pitchFamily="18" charset="0"/>
                      </a:rPr>
                      <m:t>=</m:t>
                    </m:r>
                  </m:oMath>
                </a14:m>
                <a:r>
                  <a:rPr lang="en-US" dirty="0"/>
                  <a:t> 0	</a:t>
                </a:r>
              </a:p>
              <a:p>
                <a:endParaRPr lang="en-US" b="1" dirty="0"/>
              </a:p>
              <a:p>
                <a:r>
                  <a:rPr lang="en-US" b="1" dirty="0"/>
                  <a:t>Solution</a:t>
                </a:r>
                <a:r>
                  <a:rPr lang="en-US" dirty="0"/>
                  <a:t>: Gradient descent (local search)</a:t>
                </a:r>
                <a:br>
                  <a:rPr lang="en-US" dirty="0"/>
                </a:br>
                <a:br>
                  <a:rPr lang="en-US" dirty="0"/>
                </a:br>
                <a:r>
                  <a:rPr lang="en-US" dirty="0"/>
                  <a:t> </a:t>
                </a:r>
                <a14:m>
                  <m:oMath xmlns:m="http://schemas.openxmlformats.org/officeDocument/2006/math">
                    <m:r>
                      <a:rPr lang="en-US" b="1" i="1">
                        <a:latin typeface="Cambria Math" panose="02040503050406030204" pitchFamily="18" charset="0"/>
                      </a:rPr>
                      <m:t>𝒘</m:t>
                    </m:r>
                    <m:r>
                      <a:rPr lang="en-US" b="0" i="1" smtClean="0">
                        <a:latin typeface="Cambria Math" panose="02040503050406030204" pitchFamily="18" charset="0"/>
                      </a:rPr>
                      <m:t>←</m:t>
                    </m:r>
                    <m:r>
                      <a:rPr lang="en-US" b="1" i="1">
                        <a:latin typeface="Cambria Math" panose="02040503050406030204" pitchFamily="18" charset="0"/>
                      </a:rPr>
                      <m:t>𝒘</m:t>
                    </m:r>
                    <m:r>
                      <a:rPr lang="en-US" i="1">
                        <a:latin typeface="Cambria Math" panose="02040503050406030204" pitchFamily="18" charset="0"/>
                      </a:rPr>
                      <m:t>−</m:t>
                    </m:r>
                    <m:r>
                      <a:rPr lang="en-US" i="1">
                        <a:latin typeface="Cambria Math" panose="02040503050406030204" pitchFamily="18" charset="0"/>
                      </a:rPr>
                      <m:t>𝛼</m:t>
                    </m:r>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rPr>
                      <m:t>𝐿</m:t>
                    </m:r>
                    <m:d>
                      <m:dPr>
                        <m:ctrlPr>
                          <a:rPr lang="en-US" b="1" i="1">
                            <a:latin typeface="Cambria Math" panose="02040503050406030204" pitchFamily="18" charset="0"/>
                          </a:rPr>
                        </m:ctrlPr>
                      </m:dPr>
                      <m:e>
                        <m:r>
                          <a:rPr lang="en-US" b="1" i="1">
                            <a:latin typeface="Cambria Math" panose="02040503050406030204" pitchFamily="18" charset="0"/>
                          </a:rPr>
                          <m:t>𝒘</m:t>
                        </m:r>
                      </m:e>
                    </m:d>
                  </m:oMath>
                </a14:m>
                <a:endParaRPr lang="en-US" i="1" dirty="0">
                  <a:latin typeface="Cambria Math" panose="02040503050406030204" pitchFamily="18" charset="0"/>
                </a:endParaRPr>
              </a:p>
              <a:p>
                <a:endParaRPr lang="en-US" dirty="0"/>
              </a:p>
              <a:p>
                <a:r>
                  <a:rPr lang="en-US" b="1" dirty="0"/>
                  <a:t>Alternative</a:t>
                </a:r>
                <a:r>
                  <a:rPr lang="en-US" dirty="0"/>
                  <a:t>: Analytical solution</a:t>
                </a:r>
                <a:br>
                  <a:rPr lang="en-US" dirty="0"/>
                </a:br>
                <a:br>
                  <a:rPr lang="en-US" dirty="0"/>
                </a:br>
                <a14:m>
                  <m:oMath xmlns:m="http://schemas.openxmlformats.org/officeDocument/2006/math">
                    <m:r>
                      <a:rPr lang="en-US" i="1">
                        <a:latin typeface="Cambria Math" panose="02040503050406030204" pitchFamily="18" charset="0"/>
                      </a:rPr>
                      <m:t>2</m:t>
                    </m:r>
                    <m:sSup>
                      <m:sSupPr>
                        <m:ctrlPr>
                          <a:rPr lang="en-US" b="1" i="1">
                            <a:latin typeface="Cambria Math" panose="02040503050406030204" pitchFamily="18" charset="0"/>
                          </a:rPr>
                        </m:ctrlPr>
                      </m:sSupPr>
                      <m:e>
                        <m:r>
                          <a:rPr lang="en-US" b="1" i="1">
                            <a:latin typeface="Cambria Math" panose="02040503050406030204" pitchFamily="18" charset="0"/>
                          </a:rPr>
                          <m:t>𝑿</m:t>
                        </m:r>
                      </m:e>
                      <m:sup>
                        <m:r>
                          <a:rPr lang="en-US" b="1" i="1" smtClean="0">
                            <a:latin typeface="Cambria Math" panose="02040503050406030204" pitchFamily="18" charset="0"/>
                          </a:rPr>
                          <m:t>⊤</m:t>
                        </m:r>
                      </m:sup>
                    </m:sSup>
                    <m:d>
                      <m:dPr>
                        <m:ctrlPr>
                          <a:rPr lang="en-US" b="1" i="1">
                            <a:latin typeface="Cambria Math" panose="02040503050406030204" pitchFamily="18" charset="0"/>
                          </a:rPr>
                        </m:ctrlPr>
                      </m:dPr>
                      <m:e>
                        <m:r>
                          <a:rPr lang="en-US" b="1" i="1">
                            <a:latin typeface="Cambria Math" panose="02040503050406030204" pitchFamily="18" charset="0"/>
                          </a:rPr>
                          <m:t>𝑿𝒘</m:t>
                        </m:r>
                        <m:r>
                          <a:rPr lang="en-US" b="1" i="1">
                            <a:latin typeface="Cambria Math" panose="02040503050406030204" pitchFamily="18" charset="0"/>
                          </a:rPr>
                          <m:t>−</m:t>
                        </m:r>
                        <m:r>
                          <a:rPr lang="en-US" b="1" i="1">
                            <a:latin typeface="Cambria Math" panose="02040503050406030204" pitchFamily="18" charset="0"/>
                          </a:rPr>
                          <m:t>𝒚</m:t>
                        </m:r>
                      </m:e>
                    </m:d>
                    <m:r>
                      <a:rPr lang="en-US" b="1" i="1" smtClean="0">
                        <a:latin typeface="Cambria Math" panose="02040503050406030204" pitchFamily="18" charset="0"/>
                      </a:rPr>
                      <m:t>=</m:t>
                    </m:r>
                    <m:r>
                      <a:rPr lang="en-US" b="1" i="1" smtClean="0">
                        <a:latin typeface="Cambria Math" panose="02040503050406030204" pitchFamily="18" charset="0"/>
                      </a:rPr>
                      <m:t>𝟎</m:t>
                    </m:r>
                  </m:oMath>
                </a14:m>
                <a:r>
                  <a:rPr lang="en-US" dirty="0"/>
                  <a:t>   (solve for </a:t>
                </a:r>
                <a14:m>
                  <m:oMath xmlns:m="http://schemas.openxmlformats.org/officeDocument/2006/math">
                    <m:r>
                      <a:rPr lang="en-US" i="1" dirty="0" smtClean="0">
                        <a:latin typeface="Cambria Math" panose="02040503050406030204" pitchFamily="18" charset="0"/>
                      </a:rPr>
                      <m:t>𝑤</m:t>
                    </m:r>
                  </m:oMath>
                </a14:m>
                <a:r>
                  <a:rPr lang="en-US" dirty="0"/>
                  <a:t>)</a:t>
                </a:r>
                <a:br>
                  <a:rPr lang="en-US" dirty="0"/>
                </a:br>
                <a:br>
                  <a:rPr lang="en-US" dirty="0"/>
                </a:br>
                <a14:m>
                  <m:oMath xmlns:m="http://schemas.openxmlformats.org/officeDocument/2006/math">
                    <m:sSup>
                      <m:sSupPr>
                        <m:ctrlPr>
                          <a:rPr lang="en-US" i="1" smtClean="0">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r>
                      <a:rPr lang="en-US" i="1">
                        <a:latin typeface="Cambria Math" panose="02040503050406030204" pitchFamily="18" charset="0"/>
                      </a:rPr>
                      <m:t>=</m:t>
                    </m:r>
                    <m:sSup>
                      <m:sSupPr>
                        <m:ctrlPr>
                          <a:rPr lang="en-US" b="1" i="1">
                            <a:latin typeface="Cambria Math" panose="02040503050406030204" pitchFamily="18" charset="0"/>
                          </a:rPr>
                        </m:ctrlPr>
                      </m:sSupPr>
                      <m:e>
                        <m:d>
                          <m:dPr>
                            <m:ctrlPr>
                              <a:rPr lang="en-US" b="1" i="1">
                                <a:latin typeface="Cambria Math" panose="02040503050406030204" pitchFamily="18" charset="0"/>
                              </a:rPr>
                            </m:ctrlPr>
                          </m:dPr>
                          <m:e>
                            <m:sSup>
                              <m:sSupPr>
                                <m:ctrlPr>
                                  <a:rPr lang="en-US" b="1" i="1">
                                    <a:latin typeface="Cambria Math" panose="02040503050406030204" pitchFamily="18" charset="0"/>
                                  </a:rPr>
                                </m:ctrlPr>
                              </m:sSupPr>
                              <m:e>
                                <m:r>
                                  <a:rPr lang="en-US" b="1" i="1">
                                    <a:latin typeface="Cambria Math" panose="02040503050406030204" pitchFamily="18" charset="0"/>
                                  </a:rPr>
                                  <m:t>𝑿</m:t>
                                </m:r>
                              </m:e>
                              <m:sup>
                                <m:r>
                                  <a:rPr lang="en-US" b="1" i="1" smtClean="0">
                                    <a:latin typeface="Cambria Math" panose="02040503050406030204" pitchFamily="18" charset="0"/>
                                  </a:rPr>
                                  <m:t>⊤</m:t>
                                </m:r>
                              </m:sup>
                            </m:sSup>
                            <m:r>
                              <a:rPr lang="en-US" b="1" i="1">
                                <a:latin typeface="Cambria Math" panose="02040503050406030204" pitchFamily="18" charset="0"/>
                              </a:rPr>
                              <m:t>𝑿</m:t>
                            </m:r>
                          </m:e>
                        </m:d>
                      </m:e>
                      <m:sup>
                        <m:r>
                          <a:rPr lang="en-US" i="1">
                            <a:latin typeface="Cambria Math" panose="02040503050406030204" pitchFamily="18" charset="0"/>
                          </a:rPr>
                          <m:t>−1</m:t>
                        </m:r>
                      </m:sup>
                    </m:sSup>
                    <m:sSup>
                      <m:sSupPr>
                        <m:ctrlPr>
                          <a:rPr lang="en-US" b="1" i="1">
                            <a:latin typeface="Cambria Math" panose="02040503050406030204" pitchFamily="18" charset="0"/>
                          </a:rPr>
                        </m:ctrlPr>
                      </m:sSupPr>
                      <m:e>
                        <m:r>
                          <a:rPr lang="en-US" b="1" i="1">
                            <a:latin typeface="Cambria Math" panose="02040503050406030204" pitchFamily="18" charset="0"/>
                          </a:rPr>
                          <m:t>𝑿</m:t>
                        </m:r>
                      </m:e>
                      <m:sup>
                        <m:r>
                          <a:rPr lang="en-US" b="1" i="1" smtClean="0">
                            <a:latin typeface="Cambria Math" panose="02040503050406030204" pitchFamily="18" charset="0"/>
                          </a:rPr>
                          <m:t>⊤</m:t>
                        </m:r>
                      </m:sup>
                    </m:sSup>
                    <m:r>
                      <a:rPr lang="en-US" b="1" i="1">
                        <a:latin typeface="Cambria Math" panose="02040503050406030204" pitchFamily="18" charset="0"/>
                      </a:rPr>
                      <m:t>𝒚</m:t>
                    </m:r>
                  </m:oMath>
                </a14:m>
                <a:endParaRPr lang="en-US" b="1" dirty="0"/>
              </a:p>
              <a:p>
                <a:endParaRPr lang="en-US" dirty="0"/>
              </a:p>
            </p:txBody>
          </p:sp>
        </mc:Choice>
        <mc:Fallback xmlns="">
          <p:sp>
            <p:nvSpPr>
              <p:cNvPr id="10" name="Content Placeholder 9">
                <a:extLst>
                  <a:ext uri="{FF2B5EF4-FFF2-40B4-BE49-F238E27FC236}">
                    <a16:creationId xmlns:a16="http://schemas.microsoft.com/office/drawing/2014/main" id="{07B10872-8BD1-5418-BBBC-C7C9889EA209}"/>
                  </a:ext>
                </a:extLst>
              </p:cNvPr>
              <p:cNvSpPr>
                <a:spLocks noGrp="1" noRot="1" noChangeAspect="1" noMove="1" noResize="1" noEditPoints="1" noAdjustHandles="1" noChangeArrowheads="1" noChangeShapeType="1" noTextEdit="1"/>
              </p:cNvSpPr>
              <p:nvPr>
                <p:ph idx="1"/>
              </p:nvPr>
            </p:nvSpPr>
            <p:spPr>
              <a:xfrm>
                <a:off x="685799" y="1598469"/>
                <a:ext cx="9283701" cy="4268931"/>
              </a:xfrm>
              <a:blipFill>
                <a:blip r:embed="rId2"/>
                <a:stretch>
                  <a:fillRect l="-525" t="-132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Speech Bubble: Rectangle 15">
                <a:extLst>
                  <a:ext uri="{FF2B5EF4-FFF2-40B4-BE49-F238E27FC236}">
                    <a16:creationId xmlns:a16="http://schemas.microsoft.com/office/drawing/2014/main" id="{DFB638AC-1DFC-E43D-0210-4F06FB7832AB}"/>
                  </a:ext>
                </a:extLst>
              </p:cNvPr>
              <p:cNvSpPr/>
              <p:nvPr/>
            </p:nvSpPr>
            <p:spPr>
              <a:xfrm>
                <a:off x="6358553" y="2003891"/>
                <a:ext cx="4800600" cy="369332"/>
              </a:xfrm>
              <a:prstGeom prst="wedgeRectCallout">
                <a:avLst>
                  <a:gd name="adj1" fmla="val -81607"/>
                  <a:gd name="adj2" fmla="val -26315"/>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r>
                  <a:rPr lang="en-US" dirty="0"/>
                  <a:t>Squared error loss over the whole data matrix </a:t>
                </a:r>
                <a14:m>
                  <m:oMath xmlns:m="http://schemas.openxmlformats.org/officeDocument/2006/math">
                    <m:r>
                      <a:rPr lang="en-US" b="1" i="1" dirty="0" smtClean="0">
                        <a:latin typeface="Cambria Math" panose="02040503050406030204" pitchFamily="18" charset="0"/>
                      </a:rPr>
                      <m:t>𝑿</m:t>
                    </m:r>
                  </m:oMath>
                </a14:m>
                <a:endParaRPr lang="en-US" b="1" dirty="0"/>
              </a:p>
            </p:txBody>
          </p:sp>
        </mc:Choice>
        <mc:Fallback xmlns="">
          <p:sp>
            <p:nvSpPr>
              <p:cNvPr id="16" name="Speech Bubble: Rectangle 15">
                <a:extLst>
                  <a:ext uri="{FF2B5EF4-FFF2-40B4-BE49-F238E27FC236}">
                    <a16:creationId xmlns:a16="http://schemas.microsoft.com/office/drawing/2014/main" id="{DFB638AC-1DFC-E43D-0210-4F06FB7832AB}"/>
                  </a:ext>
                </a:extLst>
              </p:cNvPr>
              <p:cNvSpPr>
                <a:spLocks noRot="1" noChangeAspect="1" noMove="1" noResize="1" noEditPoints="1" noAdjustHandles="1" noChangeArrowheads="1" noChangeShapeType="1" noTextEdit="1"/>
              </p:cNvSpPr>
              <p:nvPr/>
            </p:nvSpPr>
            <p:spPr>
              <a:xfrm>
                <a:off x="6358553" y="2003891"/>
                <a:ext cx="4800600" cy="369332"/>
              </a:xfrm>
              <a:prstGeom prst="wedgeRectCallout">
                <a:avLst>
                  <a:gd name="adj1" fmla="val -81607"/>
                  <a:gd name="adj2" fmla="val -26315"/>
                </a:avLst>
              </a:prstGeom>
              <a:blipFill>
                <a:blip r:embed="rId3"/>
                <a:stretch>
                  <a:fillRect t="-6452" b="-2419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Speech Bubble: Rectangle 16">
                <a:extLst>
                  <a:ext uri="{FF2B5EF4-FFF2-40B4-BE49-F238E27FC236}">
                    <a16:creationId xmlns:a16="http://schemas.microsoft.com/office/drawing/2014/main" id="{29DD3E20-C638-3E44-FDB7-E0E11F259913}"/>
                  </a:ext>
                </a:extLst>
              </p:cNvPr>
              <p:cNvSpPr/>
              <p:nvPr/>
            </p:nvSpPr>
            <p:spPr>
              <a:xfrm>
                <a:off x="6361978" y="2508347"/>
                <a:ext cx="4815772" cy="1184479"/>
              </a:xfrm>
              <a:prstGeom prst="wedgeRectCallout">
                <a:avLst>
                  <a:gd name="adj1" fmla="val -74156"/>
                  <a:gd name="adj2" fmla="val -56604"/>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r>
                  <a:rPr lang="en-US" dirty="0"/>
                  <a:t>The gradient is a vector of partial derivatives </a:t>
                </a:r>
                <a:br>
                  <a:rPr lang="en-US" i="1" dirty="0">
                    <a:latin typeface="Cambria Math" panose="02040503050406030204" pitchFamily="18" charset="0"/>
                    <a:ea typeface="Cambria Math" panose="02040503050406030204" pitchFamily="18" charset="0"/>
                  </a:rPr>
                </a:br>
                <a14:m>
                  <m:oMathPara xmlns:m="http://schemas.openxmlformats.org/officeDocument/2006/math">
                    <m:oMathParaPr>
                      <m:jc m:val="centerGroup"/>
                    </m:oMathParaPr>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rPr>
                        <m:t>𝐿</m:t>
                      </m:r>
                      <m:d>
                        <m:dPr>
                          <m:ctrlPr>
                            <a:rPr lang="en-US" b="1" i="1">
                              <a:latin typeface="Cambria Math" panose="02040503050406030204" pitchFamily="18" charset="0"/>
                            </a:rPr>
                          </m:ctrlPr>
                        </m:dPr>
                        <m:e>
                          <m:r>
                            <a:rPr lang="en-US" b="1" i="1">
                              <a:latin typeface="Cambria Math" panose="02040503050406030204" pitchFamily="18" charset="0"/>
                            </a:rPr>
                            <m:t>𝒘</m:t>
                          </m:r>
                        </m:e>
                      </m:d>
                      <m:r>
                        <a:rPr lang="en-US" b="0" i="1" smtClean="0">
                          <a:latin typeface="Cambria Math" panose="02040503050406030204" pitchFamily="18" charset="0"/>
                          <a:ea typeface="Cambria Math" panose="02040503050406030204" pitchFamily="18" charset="0"/>
                        </a:rPr>
                        <m:t>=</m:t>
                      </m:r>
                      <m:sSup>
                        <m:sSupPr>
                          <m:ctrlPr>
                            <a:rPr lang="en-US" i="1" smtClean="0">
                              <a:latin typeface="Cambria Math" panose="02040503050406030204" pitchFamily="18" charset="0"/>
                            </a:rPr>
                          </m:ctrlPr>
                        </m:sSupPr>
                        <m:e>
                          <m:d>
                            <m:dPr>
                              <m:begChr m:val="["/>
                              <m:endChr m:val="]"/>
                              <m:ctrlPr>
                                <a:rPr lang="en-US" i="1">
                                  <a:latin typeface="Cambria Math" panose="02040503050406030204" pitchFamily="18" charset="0"/>
                                </a:rPr>
                              </m:ctrlPr>
                            </m:dPr>
                            <m:e>
                              <m:f>
                                <m:fPr>
                                  <m:ctrlPr>
                                    <a:rPr lang="en-US" i="1">
                                      <a:latin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𝐿</m:t>
                                  </m:r>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𝒘</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𝐿</m:t>
                                  </m:r>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b="0" i="1" smtClean="0">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𝒘</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rPr>
                                <m:t>,</m:t>
                              </m:r>
                              <m:r>
                                <a:rPr lang="en-US">
                                  <a:latin typeface="Cambria Math" panose="02040503050406030204" pitchFamily="18" charset="0"/>
                                  <a:ea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𝐿</m:t>
                                  </m:r>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𝑛</m:t>
                                      </m:r>
                                    </m:sub>
                                  </m:sSub>
                                </m:den>
                              </m:f>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𝒘</m:t>
                              </m:r>
                              <m:r>
                                <a:rPr lang="en-US" i="1">
                                  <a:latin typeface="Cambria Math" panose="02040503050406030204" pitchFamily="18" charset="0"/>
                                  <a:ea typeface="Cambria Math" panose="02040503050406030204" pitchFamily="18" charset="0"/>
                                </a:rPr>
                                <m:t>)</m:t>
                              </m:r>
                            </m:e>
                          </m:d>
                        </m:e>
                        <m:sup>
                          <m:r>
                            <a:rPr lang="en-US" b="0" i="1" smtClean="0">
                              <a:latin typeface="Cambria Math" panose="02040503050406030204" pitchFamily="18" charset="0"/>
                              <a:ea typeface="Cambria Math" panose="02040503050406030204" pitchFamily="18" charset="0"/>
                            </a:rPr>
                            <m:t>⊤</m:t>
                          </m:r>
                        </m:sup>
                      </m:sSup>
                    </m:oMath>
                  </m:oMathPara>
                </a14:m>
                <a:br>
                  <a:rPr lang="en-US" dirty="0"/>
                </a:br>
                <a:r>
                  <a:rPr lang="en-US" dirty="0"/>
                  <a:t>estimated from training data.</a:t>
                </a:r>
              </a:p>
            </p:txBody>
          </p:sp>
        </mc:Choice>
        <mc:Fallback xmlns="">
          <p:sp>
            <p:nvSpPr>
              <p:cNvPr id="17" name="Speech Bubble: Rectangle 16">
                <a:extLst>
                  <a:ext uri="{FF2B5EF4-FFF2-40B4-BE49-F238E27FC236}">
                    <a16:creationId xmlns:a16="http://schemas.microsoft.com/office/drawing/2014/main" id="{29DD3E20-C638-3E44-FDB7-E0E11F259913}"/>
                  </a:ext>
                </a:extLst>
              </p:cNvPr>
              <p:cNvSpPr>
                <a:spLocks noRot="1" noChangeAspect="1" noMove="1" noResize="1" noEditPoints="1" noAdjustHandles="1" noChangeArrowheads="1" noChangeShapeType="1" noTextEdit="1"/>
              </p:cNvSpPr>
              <p:nvPr/>
            </p:nvSpPr>
            <p:spPr>
              <a:xfrm>
                <a:off x="6361978" y="2508347"/>
                <a:ext cx="4815772" cy="1184479"/>
              </a:xfrm>
              <a:prstGeom prst="wedgeRectCallout">
                <a:avLst>
                  <a:gd name="adj1" fmla="val -74156"/>
                  <a:gd name="adj2" fmla="val -56604"/>
                </a:avLst>
              </a:prstGeom>
              <a:blipFill>
                <a:blip r:embed="rId4"/>
                <a:stretch>
                  <a:fillRect b="-11792"/>
                </a:stretch>
              </a:blipFill>
            </p:spPr>
            <p:txBody>
              <a:bodyPr/>
              <a:lstStyle/>
              <a:p>
                <a:r>
                  <a:rPr lang="en-US">
                    <a:noFill/>
                  </a:rPr>
                  <a:t> </a:t>
                </a:r>
              </a:p>
            </p:txBody>
          </p:sp>
        </mc:Fallback>
      </mc:AlternateContent>
      <p:grpSp>
        <p:nvGrpSpPr>
          <p:cNvPr id="30" name="Group 29">
            <a:extLst>
              <a:ext uri="{FF2B5EF4-FFF2-40B4-BE49-F238E27FC236}">
                <a16:creationId xmlns:a16="http://schemas.microsoft.com/office/drawing/2014/main" id="{00E9625A-8069-5855-150F-643DED609AEB}"/>
              </a:ext>
            </a:extLst>
          </p:cNvPr>
          <p:cNvGrpSpPr/>
          <p:nvPr/>
        </p:nvGrpSpPr>
        <p:grpSpPr>
          <a:xfrm>
            <a:off x="1426064" y="5613333"/>
            <a:ext cx="1592872" cy="467363"/>
            <a:chOff x="2240040" y="6055837"/>
            <a:chExt cx="1592872" cy="467363"/>
          </a:xfrm>
        </p:grpSpPr>
        <p:sp>
          <p:nvSpPr>
            <p:cNvPr id="7" name="Right Brace 6">
              <a:extLst>
                <a:ext uri="{FF2B5EF4-FFF2-40B4-BE49-F238E27FC236}">
                  <a16:creationId xmlns:a16="http://schemas.microsoft.com/office/drawing/2014/main" id="{26028FCA-75D7-48F0-984B-627053B948B7}"/>
                </a:ext>
                <a:ext uri="{C183D7F6-B498-43B3-948B-1728B52AA6E4}">
                  <adec:decorative xmlns:adec="http://schemas.microsoft.com/office/drawing/2017/decorative" val="1"/>
                </a:ext>
              </a:extLst>
            </p:cNvPr>
            <p:cNvSpPr/>
            <p:nvPr/>
          </p:nvSpPr>
          <p:spPr>
            <a:xfrm rot="5400000">
              <a:off x="2842970" y="5693684"/>
              <a:ext cx="147677" cy="87198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600"/>
            </a:p>
          </p:txBody>
        </p:sp>
        <p:sp>
          <p:nvSpPr>
            <p:cNvPr id="8" name="TextBox 7">
              <a:extLst>
                <a:ext uri="{FF2B5EF4-FFF2-40B4-BE49-F238E27FC236}">
                  <a16:creationId xmlns:a16="http://schemas.microsoft.com/office/drawing/2014/main" id="{70B36EB7-6DC1-4754-A830-80502B5D3AEC}"/>
                </a:ext>
                <a:ext uri="{C183D7F6-B498-43B3-948B-1728B52AA6E4}">
                  <adec:decorative xmlns:adec="http://schemas.microsoft.com/office/drawing/2017/decorative" val="1"/>
                </a:ext>
              </a:extLst>
            </p:cNvPr>
            <p:cNvSpPr txBox="1"/>
            <p:nvPr/>
          </p:nvSpPr>
          <p:spPr>
            <a:xfrm>
              <a:off x="2240040" y="6203514"/>
              <a:ext cx="1592872" cy="319686"/>
            </a:xfrm>
            <a:prstGeom prst="rect">
              <a:avLst/>
            </a:prstGeom>
            <a:noFill/>
          </p:spPr>
          <p:txBody>
            <a:bodyPr wrap="none" rtlCol="0">
              <a:spAutoFit/>
            </a:bodyPr>
            <a:lstStyle/>
            <a:p>
              <a:r>
                <a:rPr lang="en-US" dirty="0"/>
                <a:t>Pseudo inverse</a:t>
              </a:r>
            </a:p>
          </p:txBody>
        </p:sp>
      </p:grpSp>
      <p:grpSp>
        <p:nvGrpSpPr>
          <p:cNvPr id="29" name="Group 28">
            <a:extLst>
              <a:ext uri="{FF2B5EF4-FFF2-40B4-BE49-F238E27FC236}">
                <a16:creationId xmlns:a16="http://schemas.microsoft.com/office/drawing/2014/main" id="{74A7ACE2-C313-AFB6-7A9A-68177F116E37}"/>
              </a:ext>
            </a:extLst>
          </p:cNvPr>
          <p:cNvGrpSpPr/>
          <p:nvPr/>
        </p:nvGrpSpPr>
        <p:grpSpPr>
          <a:xfrm>
            <a:off x="5029201" y="4007464"/>
            <a:ext cx="7101460" cy="2850536"/>
            <a:chOff x="5029201" y="4007464"/>
            <a:chExt cx="7101460" cy="2850536"/>
          </a:xfrm>
        </p:grpSpPr>
        <p:pic>
          <p:nvPicPr>
            <p:cNvPr id="12" name="Picture 11">
              <a:extLst>
                <a:ext uri="{FF2B5EF4-FFF2-40B4-BE49-F238E27FC236}">
                  <a16:creationId xmlns:a16="http://schemas.microsoft.com/office/drawing/2014/main" id="{ED8E7DF2-9E31-4110-B801-E0645520AC46}"/>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029201" y="4007464"/>
              <a:ext cx="7101460" cy="2850536"/>
            </a:xfrm>
            <a:prstGeom prst="rect">
              <a:avLst/>
            </a:prstGeom>
          </p:spPr>
        </p:pic>
        <p:sp>
          <p:nvSpPr>
            <p:cNvPr id="26" name="TextBox 25">
              <a:extLst>
                <a:ext uri="{FF2B5EF4-FFF2-40B4-BE49-F238E27FC236}">
                  <a16:creationId xmlns:a16="http://schemas.microsoft.com/office/drawing/2014/main" id="{D713A4B0-C0C9-93A1-C216-3E45873C274B}"/>
                </a:ext>
              </a:extLst>
            </p:cNvPr>
            <p:cNvSpPr txBox="1"/>
            <p:nvPr/>
          </p:nvSpPr>
          <p:spPr>
            <a:xfrm>
              <a:off x="9862041" y="6293993"/>
              <a:ext cx="1592872" cy="261610"/>
            </a:xfrm>
            <a:prstGeom prst="rect">
              <a:avLst/>
            </a:prstGeom>
            <a:noFill/>
          </p:spPr>
          <p:txBody>
            <a:bodyPr wrap="square" rtlCol="0">
              <a:spAutoFit/>
            </a:bodyPr>
            <a:lstStyle/>
            <a:p>
              <a:pPr algn="ctr"/>
              <a:r>
                <a:rPr lang="en-US" sz="1050" dirty="0"/>
                <a:t>Convex loss function</a:t>
              </a:r>
            </a:p>
          </p:txBody>
        </p:sp>
      </p:grpSp>
      <p:grpSp>
        <p:nvGrpSpPr>
          <p:cNvPr id="25" name="Group 24">
            <a:extLst>
              <a:ext uri="{FF2B5EF4-FFF2-40B4-BE49-F238E27FC236}">
                <a16:creationId xmlns:a16="http://schemas.microsoft.com/office/drawing/2014/main" id="{AC004E8A-7DE4-F5B6-472B-FF029161C05F}"/>
              </a:ext>
            </a:extLst>
          </p:cNvPr>
          <p:cNvGrpSpPr/>
          <p:nvPr/>
        </p:nvGrpSpPr>
        <p:grpSpPr>
          <a:xfrm>
            <a:off x="9275557" y="4380955"/>
            <a:ext cx="1883596" cy="878576"/>
            <a:chOff x="9317804" y="4380954"/>
            <a:chExt cx="1883596" cy="878576"/>
          </a:xfrm>
        </p:grpSpPr>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74510E1-A93D-4A3A-94C9-F1A0DD6A0845}"/>
                    </a:ext>
                  </a:extLst>
                </p:cNvPr>
                <p:cNvSpPr txBox="1"/>
                <p:nvPr/>
              </p:nvSpPr>
              <p:spPr>
                <a:xfrm>
                  <a:off x="9969500" y="4380954"/>
                  <a:ext cx="12319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r>
                          <a:rPr lang="en-US" i="1">
                            <a:latin typeface="Cambria Math" panose="02040503050406030204" pitchFamily="18" charset="0"/>
                          </a:rPr>
                          <m:t>𝐿</m:t>
                        </m:r>
                        <m:d>
                          <m:dPr>
                            <m:ctrlPr>
                              <a:rPr lang="en-US" b="1" i="1">
                                <a:latin typeface="Cambria Math" panose="02040503050406030204" pitchFamily="18" charset="0"/>
                              </a:rPr>
                            </m:ctrlPr>
                          </m:dPr>
                          <m:e>
                            <m:r>
                              <a:rPr lang="en-US" b="1" i="1">
                                <a:latin typeface="Cambria Math" panose="02040503050406030204" pitchFamily="18" charset="0"/>
                              </a:rPr>
                              <m:t>𝒘</m:t>
                            </m:r>
                          </m:e>
                        </m:d>
                      </m:oMath>
                    </m:oMathPara>
                  </a14:m>
                  <a:endParaRPr lang="en-US" dirty="0"/>
                </a:p>
              </p:txBody>
            </p:sp>
          </mc:Choice>
          <mc:Fallback xmlns="">
            <p:sp>
              <p:nvSpPr>
                <p:cNvPr id="13" name="TextBox 12">
                  <a:extLst>
                    <a:ext uri="{FF2B5EF4-FFF2-40B4-BE49-F238E27FC236}">
                      <a16:creationId xmlns:a16="http://schemas.microsoft.com/office/drawing/2014/main" id="{674510E1-A93D-4A3A-94C9-F1A0DD6A0845}"/>
                    </a:ext>
                  </a:extLst>
                </p:cNvPr>
                <p:cNvSpPr txBox="1">
                  <a:spLocks noRot="1" noChangeAspect="1" noMove="1" noResize="1" noEditPoints="1" noAdjustHandles="1" noChangeArrowheads="1" noChangeShapeType="1" noTextEdit="1"/>
                </p:cNvSpPr>
                <p:nvPr/>
              </p:nvSpPr>
              <p:spPr>
                <a:xfrm>
                  <a:off x="9969500" y="4380954"/>
                  <a:ext cx="1231900" cy="369332"/>
                </a:xfrm>
                <a:prstGeom prst="rect">
                  <a:avLst/>
                </a:prstGeom>
                <a:blipFill>
                  <a:blip r:embed="rId6"/>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43E9140F-8A35-41C8-BAA3-86891CBF5B38}"/>
                </a:ext>
                <a:ext uri="{C183D7F6-B498-43B3-948B-1728B52AA6E4}">
                  <adec:decorative xmlns:adec="http://schemas.microsoft.com/office/drawing/2017/decorative" val="1"/>
                </a:ext>
              </a:extLst>
            </p:cNvPr>
            <p:cNvCxnSpPr>
              <a:cxnSpLocks/>
            </p:cNvCxnSpPr>
            <p:nvPr/>
          </p:nvCxnSpPr>
          <p:spPr>
            <a:xfrm>
              <a:off x="9753600" y="4876800"/>
              <a:ext cx="121284" cy="382730"/>
            </a:xfrm>
            <a:prstGeom prst="straightConnector1">
              <a:avLst/>
            </a:prstGeom>
            <a:ln>
              <a:tailEnd type="triangle" w="lg" len="lg"/>
            </a:ln>
          </p:spPr>
          <p:style>
            <a:lnRef idx="3">
              <a:schemeClr val="accent2"/>
            </a:lnRef>
            <a:fillRef idx="0">
              <a:schemeClr val="accent2"/>
            </a:fillRef>
            <a:effectRef idx="2">
              <a:schemeClr val="accent2"/>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A4845CDE-4E80-4AFF-96A8-82E8D266E357}"/>
                    </a:ext>
                  </a:extLst>
                </p:cNvPr>
                <p:cNvSpPr txBox="1"/>
                <p:nvPr/>
              </p:nvSpPr>
              <p:spPr>
                <a:xfrm>
                  <a:off x="9317804" y="4586221"/>
                  <a:ext cx="6096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𝒘</m:t>
                        </m:r>
                      </m:oMath>
                    </m:oMathPara>
                  </a14:m>
                  <a:endParaRPr lang="en-US" dirty="0"/>
                </a:p>
              </p:txBody>
            </p:sp>
          </mc:Choice>
          <mc:Fallback xmlns="">
            <p:sp>
              <p:nvSpPr>
                <p:cNvPr id="22" name="TextBox 21">
                  <a:extLst>
                    <a:ext uri="{FF2B5EF4-FFF2-40B4-BE49-F238E27FC236}">
                      <a16:creationId xmlns:a16="http://schemas.microsoft.com/office/drawing/2014/main" id="{A4845CDE-4E80-4AFF-96A8-82E8D266E357}"/>
                    </a:ext>
                  </a:extLst>
                </p:cNvPr>
                <p:cNvSpPr txBox="1">
                  <a:spLocks noRot="1" noChangeAspect="1" noMove="1" noResize="1" noEditPoints="1" noAdjustHandles="1" noChangeArrowheads="1" noChangeShapeType="1" noTextEdit="1"/>
                </p:cNvSpPr>
                <p:nvPr/>
              </p:nvSpPr>
              <p:spPr>
                <a:xfrm>
                  <a:off x="9317804" y="4586221"/>
                  <a:ext cx="609600" cy="369332"/>
                </a:xfrm>
                <a:prstGeom prst="rect">
                  <a:avLst/>
                </a:prstGeom>
                <a:blipFill>
                  <a:blip r:embed="rId7"/>
                  <a:stretch>
                    <a:fillRect/>
                  </a:stretch>
                </a:blipFill>
              </p:spPr>
              <p:txBody>
                <a:bodyPr/>
                <a:lstStyle/>
                <a:p>
                  <a:r>
                    <a:rPr lang="en-US">
                      <a:noFill/>
                    </a:rPr>
                    <a:t> </a:t>
                  </a:r>
                </a:p>
              </p:txBody>
            </p:sp>
          </mc:Fallback>
        </mc:AlternateContent>
        <p:cxnSp>
          <p:nvCxnSpPr>
            <p:cNvPr id="23" name="Straight Connector 22">
              <a:extLst>
                <a:ext uri="{FF2B5EF4-FFF2-40B4-BE49-F238E27FC236}">
                  <a16:creationId xmlns:a16="http://schemas.microsoft.com/office/drawing/2014/main" id="{EB15E0E4-DDA3-48B5-A02F-888000E1036E}"/>
                </a:ext>
              </a:extLst>
            </p:cNvPr>
            <p:cNvCxnSpPr>
              <a:cxnSpLocks/>
            </p:cNvCxnSpPr>
            <p:nvPr/>
          </p:nvCxnSpPr>
          <p:spPr>
            <a:xfrm flipH="1">
              <a:off x="9906000" y="4692134"/>
              <a:ext cx="304800" cy="263419"/>
            </a:xfrm>
            <a:prstGeom prst="line">
              <a:avLst/>
            </a:prstGeom>
          </p:spPr>
          <p:style>
            <a:lnRef idx="3">
              <a:schemeClr val="accent6"/>
            </a:lnRef>
            <a:fillRef idx="0">
              <a:schemeClr val="accent6"/>
            </a:fillRef>
            <a:effectRef idx="2">
              <a:schemeClr val="accent6"/>
            </a:effectRef>
            <a:fontRef idx="minor">
              <a:schemeClr val="tx1"/>
            </a:fontRef>
          </p:style>
        </p:cxnSp>
        <p:sp>
          <p:nvSpPr>
            <p:cNvPr id="24" name="Oval 23">
              <a:extLst>
                <a:ext uri="{FF2B5EF4-FFF2-40B4-BE49-F238E27FC236}">
                  <a16:creationId xmlns:a16="http://schemas.microsoft.com/office/drawing/2014/main" id="{C2A8E63D-95B9-4405-A60E-26D6C5A48857}"/>
                </a:ext>
              </a:extLst>
            </p:cNvPr>
            <p:cNvSpPr/>
            <p:nvPr/>
          </p:nvSpPr>
          <p:spPr>
            <a:xfrm>
              <a:off x="9730740" y="4820279"/>
              <a:ext cx="45719" cy="53787"/>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34038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D65ADD-3424-5CC4-FB20-9034C29801A9}"/>
              </a:ext>
            </a:extLst>
          </p:cNvPr>
          <p:cNvSpPr>
            <a:spLocks noGrp="1"/>
          </p:cNvSpPr>
          <p:nvPr>
            <p:ph type="title"/>
          </p:nvPr>
        </p:nvSpPr>
        <p:spPr/>
        <p:txBody>
          <a:bodyPr/>
          <a:lstStyle/>
          <a:p>
            <a:r>
              <a:rPr lang="en-US" dirty="0"/>
              <a:t>Classification</a:t>
            </a:r>
          </a:p>
        </p:txBody>
      </p:sp>
      <p:sp>
        <p:nvSpPr>
          <p:cNvPr id="5" name="Text Placeholder 4">
            <a:extLst>
              <a:ext uri="{FF2B5EF4-FFF2-40B4-BE49-F238E27FC236}">
                <a16:creationId xmlns:a16="http://schemas.microsoft.com/office/drawing/2014/main" id="{5F7C4E77-71BE-E7C9-B3B5-0C639BC8241A}"/>
              </a:ext>
            </a:extLst>
          </p:cNvPr>
          <p:cNvSpPr>
            <a:spLocks noGrp="1"/>
          </p:cNvSpPr>
          <p:nvPr>
            <p:ph type="body" idx="1"/>
          </p:nvPr>
        </p:nvSpPr>
        <p:spPr/>
        <p:txBody>
          <a:bodyPr/>
          <a:lstStyle/>
          <a:p>
            <a:r>
              <a:rPr lang="en-US" dirty="0"/>
              <a:t>Predicting a label</a:t>
            </a:r>
          </a:p>
        </p:txBody>
      </p:sp>
    </p:spTree>
    <p:extLst>
      <p:ext uri="{BB962C8B-B14F-4D97-AF65-F5344CB8AC3E}">
        <p14:creationId xmlns:p14="http://schemas.microsoft.com/office/powerpoint/2010/main" val="4609585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85DB16-C25A-4737-BB16-65EDC4533D07}"/>
              </a:ext>
            </a:extLst>
          </p:cNvPr>
          <p:cNvSpPr>
            <a:spLocks noGrp="1"/>
          </p:cNvSpPr>
          <p:nvPr>
            <p:ph type="title"/>
          </p:nvPr>
        </p:nvSpPr>
        <p:spPr/>
        <p:txBody>
          <a:bodyPr/>
          <a:lstStyle/>
          <a:p>
            <a:r>
              <a:rPr lang="en-US" dirty="0"/>
              <a:t>Naïve Bayes Classifier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D903694-DDC9-4A03-939A-9D0FBDA0A355}"/>
                  </a:ext>
                </a:extLst>
              </p:cNvPr>
              <p:cNvSpPr>
                <a:spLocks noGrp="1"/>
              </p:cNvSpPr>
              <p:nvPr>
                <p:ph idx="1"/>
              </p:nvPr>
            </p:nvSpPr>
            <p:spPr>
              <a:xfrm>
                <a:off x="838200" y="1825625"/>
                <a:ext cx="8763000" cy="4351338"/>
              </a:xfrm>
            </p:spPr>
            <p:txBody>
              <a:bodyPr>
                <a:normAutofit fontScale="70000" lnSpcReduction="20000"/>
              </a:bodyPr>
              <a:lstStyle/>
              <a:p>
                <a:r>
                  <a:rPr lang="en-US" dirty="0"/>
                  <a:t>Approximates a Bayes classifier with the </a:t>
                </a:r>
                <a:r>
                  <a:rPr lang="en-US" b="1" dirty="0"/>
                  <a:t>naïve independence assumption </a:t>
                </a:r>
                <a:r>
                  <a:rPr lang="en-US" dirty="0"/>
                  <a:t>that all </a:t>
                </a:r>
                <a14:m>
                  <m:oMath xmlns:m="http://schemas.openxmlformats.org/officeDocument/2006/math">
                    <m:r>
                      <a:rPr lang="en-US" b="0" i="1" smtClean="0">
                        <a:latin typeface="Cambria Math" panose="02040503050406030204" pitchFamily="18" charset="0"/>
                      </a:rPr>
                      <m:t>𝑛</m:t>
                    </m:r>
                  </m:oMath>
                </a14:m>
                <a:r>
                  <a:rPr lang="en-US" dirty="0"/>
                  <a:t> features are conditional independent given the class.</a:t>
                </a:r>
                <a:br>
                  <a:rPr lang="en-US" dirty="0"/>
                </a:br>
                <a:br>
                  <a:rPr lang="en-US" dirty="0"/>
                </a:br>
                <a14:m>
                  <m:oMath xmlns:m="http://schemas.openxmlformats.org/officeDocument/2006/math">
                    <m:r>
                      <a:rPr lang="en-US" b="0" i="1" smtClean="0">
                        <a:latin typeface="Cambria Math" panose="02040503050406030204" pitchFamily="18" charset="0"/>
                      </a:rPr>
                      <m:t>h</m:t>
                    </m:r>
                    <m:d>
                      <m:dPr>
                        <m:ctrlPr>
                          <a:rPr lang="en-US" b="0" i="1" smtClean="0">
                            <a:latin typeface="Cambria Math" panose="02040503050406030204" pitchFamily="18" charset="0"/>
                          </a:rPr>
                        </m:ctrlPr>
                      </m:dPr>
                      <m:e>
                        <m:r>
                          <a:rPr lang="en-US" b="1" i="1" smtClean="0">
                            <a:latin typeface="Cambria Math" panose="02040503050406030204" pitchFamily="18" charset="0"/>
                          </a:rPr>
                          <m:t>𝒙</m:t>
                        </m:r>
                      </m:e>
                    </m:d>
                    <m:r>
                      <a:rPr lang="en-US" b="0" i="1" smtClean="0">
                        <a:latin typeface="Cambria Math" panose="02040503050406030204" pitchFamily="18" charset="0"/>
                      </a:rPr>
                      <m:t>=</m:t>
                    </m:r>
                    <m:func>
                      <m:funcPr>
                        <m:ctrlPr>
                          <a:rPr lang="en-US" i="1" smtClean="0">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fName>
                      <m:e>
                        <m:r>
                          <a:rPr lang="en-US" b="0" i="1" smtClean="0">
                            <a:latin typeface="Cambria Math" panose="02040503050406030204" pitchFamily="18" charset="0"/>
                          </a:rPr>
                          <m:t>  </m:t>
                        </m:r>
                        <m:r>
                          <a:rPr lang="en-US" i="1">
                            <a:latin typeface="Cambria Math" panose="02040503050406030204" pitchFamily="18" charset="0"/>
                          </a:rPr>
                          <m:t>𝑃</m:t>
                        </m:r>
                        <m:d>
                          <m:dPr>
                            <m:ctrlPr>
                              <a:rPr lang="en-US" i="1">
                                <a:latin typeface="Cambria Math" panose="02040503050406030204" pitchFamily="18" charset="0"/>
                              </a:rPr>
                            </m:ctrlPr>
                          </m:dPr>
                          <m:e>
                            <m:r>
                              <a:rPr lang="en-US" i="1">
                                <a:latin typeface="Cambria Math" panose="02040503050406030204" pitchFamily="18" charset="0"/>
                              </a:rPr>
                              <m:t>𝑦</m:t>
                            </m:r>
                          </m:e>
                        </m:d>
                        <m:r>
                          <a:rPr lang="en-US" b="0" i="1" smtClean="0">
                            <a:latin typeface="Cambria Math" panose="02040503050406030204" pitchFamily="18" charset="0"/>
                          </a:rPr>
                          <m:t> </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𝑛</m:t>
                            </m:r>
                          </m:sup>
                          <m:e>
                            <m:r>
                              <a:rPr lang="en-US" b="0" i="1" smtClean="0">
                                <a:latin typeface="Cambria Math" panose="02040503050406030204" pitchFamily="18" charset="0"/>
                              </a:rPr>
                              <m:t>𝑃</m:t>
                            </m:r>
                            <m:d>
                              <m:dPr>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𝑖</m:t>
                                    </m:r>
                                  </m:sub>
                                </m:sSub>
                                <m:r>
                                  <a:rPr lang="en-US" b="0" i="1" smtClean="0">
                                    <a:latin typeface="Cambria Math" panose="02040503050406030204" pitchFamily="18" charset="0"/>
                                  </a:rPr>
                                  <m:t> </m:t>
                                </m:r>
                              </m:e>
                            </m:d>
                            <m:r>
                              <a:rPr lang="en-US" b="0" i="1" smtClean="0">
                                <a:latin typeface="Cambria Math" panose="02040503050406030204" pitchFamily="18" charset="0"/>
                              </a:rPr>
                              <m:t> </m:t>
                            </m:r>
                            <m:r>
                              <a:rPr lang="en-US" b="0" i="1" smtClean="0">
                                <a:latin typeface="Cambria Math" panose="02040503050406030204" pitchFamily="18" charset="0"/>
                              </a:rPr>
                              <m:t>𝑦</m:t>
                            </m:r>
                            <m:r>
                              <a:rPr lang="en-US" b="0" i="1" smtClean="0">
                                <a:latin typeface="Cambria Math" panose="02040503050406030204" pitchFamily="18" charset="0"/>
                              </a:rPr>
                              <m:t>)</m:t>
                            </m:r>
                          </m:e>
                        </m:nary>
                      </m:e>
                    </m:func>
                  </m:oMath>
                </a14:m>
                <a:br>
                  <a:rPr lang="en-US" b="0" dirty="0"/>
                </a:br>
                <a:br>
                  <a:rPr lang="en-US" b="0" dirty="0"/>
                </a:br>
                <a:r>
                  <a:rPr lang="en-US" dirty="0"/>
                  <a:t>The priors </a:t>
                </a:r>
                <a14:m>
                  <m:oMath xmlns:m="http://schemas.openxmlformats.org/officeDocument/2006/math">
                    <m:r>
                      <a:rPr lang="en-US" i="1" smtClean="0">
                        <a:latin typeface="Cambria Math" panose="02040503050406030204" pitchFamily="18" charset="0"/>
                      </a:rPr>
                      <m:t>𝑃</m:t>
                    </m:r>
                    <m:d>
                      <m:dPr>
                        <m:ctrlPr>
                          <a:rPr lang="en-US" i="1">
                            <a:latin typeface="Cambria Math" panose="02040503050406030204" pitchFamily="18" charset="0"/>
                          </a:rPr>
                        </m:ctrlPr>
                      </m:dPr>
                      <m:e>
                        <m:r>
                          <a:rPr lang="en-US" i="1">
                            <a:latin typeface="Cambria Math" panose="02040503050406030204" pitchFamily="18" charset="0"/>
                          </a:rPr>
                          <m:t>𝑦</m:t>
                        </m:r>
                      </m:e>
                    </m:d>
                  </m:oMath>
                </a14:m>
                <a:r>
                  <a:rPr lang="en-US" dirty="0"/>
                  <a:t>s and the likelihoods </a:t>
                </a:r>
                <a14:m>
                  <m:oMath xmlns:m="http://schemas.openxmlformats.org/officeDocument/2006/math">
                    <m:r>
                      <a:rPr lang="en-US" i="1">
                        <a:latin typeface="Cambria Math" panose="02040503050406030204" pitchFamily="18" charset="0"/>
                      </a:rPr>
                      <m:t>𝑃</m:t>
                    </m:r>
                    <m:d>
                      <m:dPr>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𝒙</m:t>
                            </m:r>
                          </m:e>
                          <m:sub>
                            <m:r>
                              <a:rPr lang="en-US" i="1">
                                <a:latin typeface="Cambria Math" panose="02040503050406030204" pitchFamily="18" charset="0"/>
                              </a:rPr>
                              <m:t>𝑖</m:t>
                            </m:r>
                          </m:sub>
                        </m:sSub>
                        <m:r>
                          <a:rPr lang="en-US" i="1">
                            <a:latin typeface="Cambria Math" panose="02040503050406030204" pitchFamily="18" charset="0"/>
                          </a:rPr>
                          <m:t> </m:t>
                        </m:r>
                      </m:e>
                    </m:d>
                    <m:r>
                      <a:rPr lang="en-US" i="1">
                        <a:latin typeface="Cambria Math" panose="02040503050406030204" pitchFamily="18" charset="0"/>
                      </a:rPr>
                      <m:t> </m:t>
                    </m:r>
                    <m:r>
                      <a:rPr lang="en-US" b="0" i="1" smtClean="0">
                        <a:latin typeface="Cambria Math" panose="02040503050406030204" pitchFamily="18" charset="0"/>
                      </a:rPr>
                      <m:t>𝑦</m:t>
                    </m:r>
                    <m:r>
                      <a:rPr lang="en-US" b="0" i="1" smtClean="0">
                        <a:latin typeface="Cambria Math" panose="02040503050406030204" pitchFamily="18" charset="0"/>
                      </a:rPr>
                      <m:t>)</m:t>
                    </m:r>
                  </m:oMath>
                </a14:m>
                <a:r>
                  <a:rPr lang="en-US" dirty="0"/>
                  <a:t>s are estimated from the data by (smoothed) counting.</a:t>
                </a:r>
              </a:p>
              <a:p>
                <a:endParaRPr lang="en-US" dirty="0"/>
              </a:p>
              <a:p>
                <a:r>
                  <a:rPr lang="en-US" b="1" dirty="0"/>
                  <a:t>Gaussian Naïve Bayes Classifiers </a:t>
                </a:r>
                <a:r>
                  <a:rPr lang="en-US" dirty="0"/>
                  <a:t>extend the approach to </a:t>
                </a:r>
                <a:r>
                  <a:rPr lang="en-US" b="1" dirty="0"/>
                  <a:t>continuous features </a:t>
                </a:r>
                <a:r>
                  <a:rPr lang="en-US" dirty="0"/>
                  <a:t>by modeling the feature likelihood for each class </a:t>
                </a:r>
                <a14:m>
                  <m:oMath xmlns:m="http://schemas.openxmlformats.org/officeDocument/2006/math">
                    <m:r>
                      <a:rPr lang="en-US" i="1" dirty="0" smtClean="0">
                        <a:latin typeface="Cambria Math" panose="02040503050406030204" pitchFamily="18" charset="0"/>
                      </a:rPr>
                      <m:t>𝑦</m:t>
                    </m:r>
                  </m:oMath>
                </a14:m>
                <a:r>
                  <a:rPr lang="en-US" dirty="0"/>
                  <a:t> as a Gaussian probability density:</a:t>
                </a:r>
                <a:br>
                  <a:rPr lang="en-US" dirty="0"/>
                </a:br>
                <a:endParaRPr lang="en-US"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d>
                        <m:dPr>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𝑖</m:t>
                              </m:r>
                            </m:sub>
                          </m:sSub>
                          <m:r>
                            <a:rPr lang="en-US" b="0" i="1" smtClean="0">
                              <a:latin typeface="Cambria Math" panose="02040503050406030204" pitchFamily="18" charset="0"/>
                            </a:rPr>
                            <m:t> </m:t>
                          </m:r>
                        </m:e>
                      </m:d>
                      <m:r>
                        <a:rPr lang="en-US" b="0" i="1" smtClean="0">
                          <a:latin typeface="Cambria Math" panose="02040503050406030204" pitchFamily="18" charset="0"/>
                        </a:rPr>
                        <m:t> </m:t>
                      </m:r>
                      <m:r>
                        <a:rPr lang="en-US" b="0" i="1" smtClean="0">
                          <a:latin typeface="Cambria Math" panose="02040503050406030204" pitchFamily="18" charset="0"/>
                        </a:rPr>
                        <m:t>𝑦</m:t>
                      </m:r>
                      <m:r>
                        <a:rPr lang="en-US" b="0" i="1" smtClean="0">
                          <a:latin typeface="Cambria Math" panose="02040503050406030204" pitchFamily="18" charset="0"/>
                        </a:rPr>
                        <m:t>) ~ </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𝜇</m:t>
                              </m:r>
                            </m:e>
                            <m:sub>
                              <m:r>
                                <a:rPr lang="en-US" b="0" i="1" smtClean="0">
                                  <a:latin typeface="Cambria Math" panose="02040503050406030204" pitchFamily="18" charset="0"/>
                                </a:rPr>
                                <m:t>𝑦</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𝜎</m:t>
                              </m:r>
                            </m:e>
                            <m:sub>
                              <m:r>
                                <a:rPr lang="en-US" b="0" i="1" smtClean="0">
                                  <a:latin typeface="Cambria Math" panose="02040503050406030204" pitchFamily="18" charset="0"/>
                                </a:rPr>
                                <m:t>𝑦</m:t>
                              </m:r>
                            </m:sub>
                          </m:sSub>
                        </m:e>
                      </m:d>
                    </m:oMath>
                  </m:oMathPara>
                </a14:m>
                <a:br>
                  <a:rPr lang="en-US" b="0" dirty="0"/>
                </a:br>
                <a:r>
                  <a:rPr lang="en-US" b="0" dirty="0"/>
                  <a:t>    </a:t>
                </a:r>
                <a:r>
                  <a:rPr lang="en-US" sz="2800" dirty="0"/>
                  <a:t>The parameters for the normal distribution </a:t>
                </a:r>
                <a14:m>
                  <m:oMath xmlns:m="http://schemas.openxmlformats.org/officeDocument/2006/math">
                    <m:r>
                      <a:rPr lang="en-US" sz="3200" b="0" i="1" smtClean="0">
                        <a:latin typeface="Cambria Math" panose="02040503050406030204" pitchFamily="18" charset="0"/>
                      </a:rPr>
                      <m:t>𝑁</m:t>
                    </m:r>
                    <m:d>
                      <m:dPr>
                        <m:ctrlPr>
                          <a:rPr lang="en-US" sz="3200" b="0" i="1" smtClean="0">
                            <a:latin typeface="Cambria Math" panose="02040503050406030204" pitchFamily="18" charset="0"/>
                          </a:rPr>
                        </m:ctrlPr>
                      </m:dPr>
                      <m:e>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𝜇</m:t>
                            </m:r>
                          </m:e>
                          <m:sub>
                            <m:r>
                              <a:rPr lang="en-US" sz="3200" b="0" i="1" smtClean="0">
                                <a:latin typeface="Cambria Math" panose="02040503050406030204" pitchFamily="18" charset="0"/>
                              </a:rPr>
                              <m:t>𝑦</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𝜎</m:t>
                            </m:r>
                          </m:e>
                          <m:sub>
                            <m:r>
                              <a:rPr lang="en-US" sz="3200" b="0" i="1" smtClean="0">
                                <a:latin typeface="Cambria Math" panose="02040503050406030204" pitchFamily="18" charset="0"/>
                              </a:rPr>
                              <m:t>𝑦</m:t>
                            </m:r>
                          </m:sub>
                        </m:sSub>
                      </m:e>
                    </m:d>
                  </m:oMath>
                </a14:m>
                <a:r>
                  <a:rPr lang="en-US" sz="2800" dirty="0"/>
                  <a:t> are estimated from data.</a:t>
                </a:r>
              </a:p>
            </p:txBody>
          </p:sp>
        </mc:Choice>
        <mc:Fallback xmlns="">
          <p:sp>
            <p:nvSpPr>
              <p:cNvPr id="3" name="Content Placeholder 2">
                <a:extLst>
                  <a:ext uri="{FF2B5EF4-FFF2-40B4-BE49-F238E27FC236}">
                    <a16:creationId xmlns:a16="http://schemas.microsoft.com/office/drawing/2014/main" id="{AD903694-DDC9-4A03-939A-9D0FBDA0A355}"/>
                  </a:ext>
                </a:extLst>
              </p:cNvPr>
              <p:cNvSpPr>
                <a:spLocks noGrp="1" noRot="1" noChangeAspect="1" noMove="1" noResize="1" noEditPoints="1" noAdjustHandles="1" noChangeArrowheads="1" noChangeShapeType="1" noTextEdit="1"/>
              </p:cNvSpPr>
              <p:nvPr>
                <p:ph idx="1"/>
              </p:nvPr>
            </p:nvSpPr>
            <p:spPr>
              <a:xfrm>
                <a:off x="838200" y="1825625"/>
                <a:ext cx="8763000" cy="4351338"/>
              </a:xfrm>
              <a:blipFill>
                <a:blip r:embed="rId2"/>
                <a:stretch>
                  <a:fillRect l="-626" t="-12465" r="-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A38C3B6-C9B4-A225-6D9E-068428B819FE}"/>
                  </a:ext>
                </a:extLst>
              </p:cNvPr>
              <p:cNvSpPr txBox="1"/>
              <p:nvPr/>
            </p:nvSpPr>
            <p:spPr>
              <a:xfrm>
                <a:off x="8153400" y="275381"/>
                <a:ext cx="3732228" cy="811312"/>
              </a:xfrm>
              <a:prstGeom prst="rect">
                <a:avLst/>
              </a:prstGeom>
            </p:spPr>
            <p:style>
              <a:lnRef idx="3">
                <a:schemeClr val="lt1"/>
              </a:lnRef>
              <a:fillRef idx="1">
                <a:schemeClr val="accent6"/>
              </a:fillRef>
              <a:effectRef idx="1">
                <a:schemeClr val="accent6"/>
              </a:effectRef>
              <a:fontRef idx="minor">
                <a:schemeClr val="lt1"/>
              </a:fontRef>
            </p:style>
            <p:txBody>
              <a:bodyPr wrap="square">
                <a:spAutoFit/>
              </a:bodyPr>
              <a:lstStyle/>
              <a:p>
                <a:pPr algn="ctr"/>
                <a:r>
                  <a:rPr lang="en-US" b="1" dirty="0">
                    <a:latin typeface="Cambria Math" panose="02040503050406030204" pitchFamily="18" charset="0"/>
                  </a:rPr>
                  <a:t>Bayes Classifier</a:t>
                </a:r>
              </a:p>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h</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r>
                        <a:rPr lang="en-US" b="0" i="1" smtClean="0">
                          <a:latin typeface="Cambria Math" panose="02040503050406030204" pitchFamily="18" charset="0"/>
                        </a:rPr>
                        <m:t> </m:t>
                      </m:r>
                      <m:r>
                        <a:rPr lang="en-US" b="0" i="1" smtClean="0">
                          <a:latin typeface="Cambria Math" panose="02040503050406030204" pitchFamily="18" charset="0"/>
                        </a:rPr>
                        <m:t>𝑃</m:t>
                      </m:r>
                      <m:d>
                        <m:dPr>
                          <m:endChr m:val="|"/>
                          <m:ctrlPr>
                            <a:rPr lang="en-US" b="0" i="1" smtClean="0">
                              <a:latin typeface="Cambria Math" panose="02040503050406030204" pitchFamily="18" charset="0"/>
                            </a:rPr>
                          </m:ctrlPr>
                        </m:dPr>
                        <m:e>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 </m:t>
                          </m:r>
                        </m:e>
                      </m:d>
                      <m:r>
                        <a:rPr lang="en-US" b="0" i="1" smtClean="0">
                          <a:latin typeface="Cambria Math" panose="02040503050406030204" pitchFamily="18" charset="0"/>
                        </a:rPr>
                        <m:t> </m:t>
                      </m:r>
                      <m:r>
                        <a:rPr lang="en-US" b="1" i="1" smtClean="0">
                          <a:latin typeface="Cambria Math" panose="02040503050406030204" pitchFamily="18" charset="0"/>
                        </a:rPr>
                        <m:t>𝑿</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 </m:t>
                      </m:r>
                    </m:oMath>
                  </m:oMathPara>
                </a14:m>
                <a:endParaRPr lang="en-US" dirty="0"/>
              </a:p>
            </p:txBody>
          </p:sp>
        </mc:Choice>
        <mc:Fallback xmlns="">
          <p:sp>
            <p:nvSpPr>
              <p:cNvPr id="5" name="TextBox 4">
                <a:extLst>
                  <a:ext uri="{FF2B5EF4-FFF2-40B4-BE49-F238E27FC236}">
                    <a16:creationId xmlns:a16="http://schemas.microsoft.com/office/drawing/2014/main" id="{AA38C3B6-C9B4-A225-6D9E-068428B819FE}"/>
                  </a:ext>
                </a:extLst>
              </p:cNvPr>
              <p:cNvSpPr txBox="1">
                <a:spLocks noRot="1" noChangeAspect="1" noMove="1" noResize="1" noEditPoints="1" noAdjustHandles="1" noChangeArrowheads="1" noChangeShapeType="1" noTextEdit="1"/>
              </p:cNvSpPr>
              <p:nvPr/>
            </p:nvSpPr>
            <p:spPr>
              <a:xfrm>
                <a:off x="8153400" y="275381"/>
                <a:ext cx="3732228" cy="811312"/>
              </a:xfrm>
              <a:prstGeom prst="rect">
                <a:avLst/>
              </a:prstGeom>
              <a:blipFill>
                <a:blip r:embed="rId3"/>
                <a:stretch>
                  <a:fillRect t="-3676"/>
                </a:stretch>
              </a:blipFill>
            </p:spPr>
            <p:txBody>
              <a:bodyPr/>
              <a:lstStyle/>
              <a:p>
                <a:r>
                  <a:rPr lang="en-US">
                    <a:noFill/>
                  </a:rPr>
                  <a:t> </a:t>
                </a:r>
              </a:p>
            </p:txBody>
          </p:sp>
        </mc:Fallback>
      </mc:AlternateContent>
    </p:spTree>
    <p:extLst>
      <p:ext uri="{BB962C8B-B14F-4D97-AF65-F5344CB8AC3E}">
        <p14:creationId xmlns:p14="http://schemas.microsoft.com/office/powerpoint/2010/main" val="4015960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F8C28-1AB1-4618-A463-1928662EE252}"/>
              </a:ext>
            </a:extLst>
          </p:cNvPr>
          <p:cNvSpPr>
            <a:spLocks noGrp="1"/>
          </p:cNvSpPr>
          <p:nvPr>
            <p:ph type="title"/>
          </p:nvPr>
        </p:nvSpPr>
        <p:spPr/>
        <p:txBody>
          <a:bodyPr/>
          <a:lstStyle/>
          <a:p>
            <a:r>
              <a:rPr lang="en-US" dirty="0"/>
              <a:t>Decision Trees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5E621E9-DA7A-4CEC-8C2D-830DF022BCB8}"/>
                  </a:ext>
                </a:extLst>
              </p:cNvPr>
              <p:cNvSpPr>
                <a:spLocks noGrp="1"/>
              </p:cNvSpPr>
              <p:nvPr>
                <p:ph idx="1"/>
              </p:nvPr>
            </p:nvSpPr>
            <p:spPr>
              <a:xfrm>
                <a:off x="838200" y="4317376"/>
                <a:ext cx="10515600" cy="2175500"/>
              </a:xfrm>
            </p:spPr>
            <p:txBody>
              <a:bodyPr>
                <a:normAutofit fontScale="62500" lnSpcReduction="20000"/>
              </a:bodyPr>
              <a:lstStyle/>
              <a:p>
                <a:r>
                  <a:rPr lang="en-US" dirty="0"/>
                  <a:t>A </a:t>
                </a:r>
                <a:r>
                  <a:rPr lang="en-US" b="1" dirty="0"/>
                  <a:t>sequence of decisions </a:t>
                </a:r>
                <a:r>
                  <a:rPr lang="en-US" dirty="0"/>
                  <a:t>represented as a tree.</a:t>
                </a:r>
              </a:p>
              <a:p>
                <a:r>
                  <a:rPr lang="en-US" dirty="0"/>
                  <a:t>Many implementations are available that differ by </a:t>
                </a:r>
              </a:p>
              <a:p>
                <a:pPr lvl="2"/>
                <a:r>
                  <a:rPr lang="en-US" dirty="0"/>
                  <a:t>How to select features to split? </a:t>
                </a:r>
              </a:p>
              <a:p>
                <a:pPr lvl="2"/>
                <a:r>
                  <a:rPr lang="en-US" dirty="0"/>
                  <a:t>When to stop splitting?</a:t>
                </a:r>
              </a:p>
              <a:p>
                <a:pPr lvl="2"/>
                <a:r>
                  <a:rPr lang="en-US" dirty="0"/>
                  <a:t>Is the tree pruned?</a:t>
                </a:r>
              </a:p>
              <a:p>
                <a:pPr>
                  <a:lnSpc>
                    <a:spcPct val="120000"/>
                  </a:lnSpc>
                </a:pPr>
                <a:r>
                  <a:rPr lang="en-US" dirty="0"/>
                  <a:t>Approximates a Bayesian classifier by  </a:t>
                </a:r>
                <a:br>
                  <a:rPr lang="en-US" b="0" i="1" dirty="0">
                    <a:latin typeface="Cambria Math" panose="02040503050406030204" pitchFamily="18" charset="0"/>
                  </a:rPr>
                </a:br>
                <a14:m>
                  <m:oMath xmlns:m="http://schemas.openxmlformats.org/officeDocument/2006/math">
                    <m:r>
                      <a:rPr lang="en-US" b="0" i="1" smtClean="0">
                        <a:latin typeface="Cambria Math" panose="02040503050406030204" pitchFamily="18" charset="0"/>
                      </a:rPr>
                      <m:t>h</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fName>
                      <m:e>
                        <m:r>
                          <a:rPr lang="en-US" b="0" i="1" smtClean="0">
                            <a:latin typeface="Cambria Math" panose="02040503050406030204" pitchFamily="18" charset="0"/>
                          </a:rPr>
                          <m:t> </m:t>
                        </m:r>
                        <m:r>
                          <a:rPr lang="en-US" i="1">
                            <a:latin typeface="Cambria Math" panose="02040503050406030204" pitchFamily="18" charset="0"/>
                          </a:rPr>
                          <m:t>𝑃</m:t>
                        </m:r>
                        <m:d>
                          <m:dPr>
                            <m:endChr m:val="|"/>
                            <m:ctrlPr>
                              <a:rPr lang="en-US" i="1">
                                <a:latin typeface="Cambria Math" panose="02040503050406030204" pitchFamily="18" charset="0"/>
                              </a:rPr>
                            </m:ctrlPr>
                          </m:dPr>
                          <m:e>
                            <m:r>
                              <a:rPr lang="en-US" i="1">
                                <a:latin typeface="Cambria Math" panose="02040503050406030204" pitchFamily="18" charset="0"/>
                              </a:rPr>
                              <m:t>𝑌</m:t>
                            </m:r>
                            <m:r>
                              <a:rPr lang="en-US" i="1">
                                <a:latin typeface="Cambria Math" panose="02040503050406030204" pitchFamily="18" charset="0"/>
                              </a:rPr>
                              <m:t>=</m:t>
                            </m:r>
                            <m:r>
                              <a:rPr lang="en-US" i="1">
                                <a:latin typeface="Cambria Math" panose="02040503050406030204" pitchFamily="18" charset="0"/>
                              </a:rPr>
                              <m:t>𝑦</m:t>
                            </m:r>
                            <m:r>
                              <a:rPr lang="en-US" i="1">
                                <a:latin typeface="Cambria Math" panose="02040503050406030204" pitchFamily="18" charset="0"/>
                              </a:rPr>
                              <m:t> </m:t>
                            </m:r>
                          </m:e>
                        </m:d>
                        <m:r>
                          <a:rPr lang="en-US" b="0" i="1" smtClean="0">
                            <a:latin typeface="Cambria Math" panose="02040503050406030204" pitchFamily="18" charset="0"/>
                          </a:rPr>
                          <m:t> </m:t>
                        </m:r>
                        <m:r>
                          <m:rPr>
                            <m:nor/>
                          </m:rPr>
                          <a:rPr lang="en-US" b="0" i="0" smtClean="0">
                            <a:latin typeface="Cambria Math" panose="02040503050406030204" pitchFamily="18" charset="0"/>
                          </a:rPr>
                          <m:t>leafNodeMatching</m:t>
                        </m:r>
                        <m:r>
                          <a:rPr lang="en-US" b="0" i="1" smtClean="0">
                            <a:latin typeface="Cambria Math" panose="02040503050406030204" pitchFamily="18" charset="0"/>
                          </a:rPr>
                          <m:t>(</m:t>
                        </m:r>
                        <m:r>
                          <a:rPr lang="en-US" b="1" i="1">
                            <a:latin typeface="Cambria Math" panose="02040503050406030204" pitchFamily="18" charset="0"/>
                          </a:rPr>
                          <m:t>𝒙</m:t>
                        </m:r>
                        <m:r>
                          <a:rPr lang="en-US" b="0" i="1" smtClean="0">
                            <a:latin typeface="Cambria Math" panose="02040503050406030204" pitchFamily="18" charset="0"/>
                          </a:rPr>
                          <m:t>)</m:t>
                        </m:r>
                        <m:r>
                          <a:rPr lang="en-US" i="1">
                            <a:latin typeface="Cambria Math" panose="02040503050406030204" pitchFamily="18" charset="0"/>
                          </a:rPr>
                          <m:t>)</m:t>
                        </m:r>
                        <m:r>
                          <m:rPr>
                            <m:nor/>
                          </m:rPr>
                          <a:rPr lang="en-US" dirty="0"/>
                          <m:t> </m:t>
                        </m:r>
                      </m:e>
                    </m:func>
                  </m:oMath>
                </a14:m>
                <a:endParaRPr lang="en-US" dirty="0"/>
              </a:p>
            </p:txBody>
          </p:sp>
        </mc:Choice>
        <mc:Fallback xmlns="">
          <p:sp>
            <p:nvSpPr>
              <p:cNvPr id="3" name="Content Placeholder 2">
                <a:extLst>
                  <a:ext uri="{FF2B5EF4-FFF2-40B4-BE49-F238E27FC236}">
                    <a16:creationId xmlns:a16="http://schemas.microsoft.com/office/drawing/2014/main" id="{25E621E9-DA7A-4CEC-8C2D-830DF022BCB8}"/>
                  </a:ext>
                </a:extLst>
              </p:cNvPr>
              <p:cNvSpPr>
                <a:spLocks noGrp="1" noRot="1" noChangeAspect="1" noMove="1" noResize="1" noEditPoints="1" noAdjustHandles="1" noChangeArrowheads="1" noChangeShapeType="1" noTextEdit="1"/>
              </p:cNvSpPr>
              <p:nvPr>
                <p:ph idx="1"/>
              </p:nvPr>
            </p:nvSpPr>
            <p:spPr>
              <a:xfrm>
                <a:off x="838200" y="4317376"/>
                <a:ext cx="10515600" cy="2175500"/>
              </a:xfrm>
              <a:blipFill>
                <a:blip r:embed="rId2"/>
                <a:stretch>
                  <a:fillRect l="-406" t="-4482"/>
                </a:stretch>
              </a:blipFill>
            </p:spPr>
            <p:txBody>
              <a:bodyPr/>
              <a:lstStyle/>
              <a:p>
                <a:r>
                  <a:rPr lang="en-US">
                    <a:noFill/>
                  </a:rPr>
                  <a:t> </a:t>
                </a:r>
              </a:p>
            </p:txBody>
          </p:sp>
        </mc:Fallback>
      </mc:AlternateContent>
      <p:pic>
        <p:nvPicPr>
          <p:cNvPr id="4" name="Picture 3" descr="A figure of a decision tree that uses features to make decisions.">
            <a:extLst>
              <a:ext uri="{FF2B5EF4-FFF2-40B4-BE49-F238E27FC236}">
                <a16:creationId xmlns:a16="http://schemas.microsoft.com/office/drawing/2014/main" id="{8D583EB2-DC15-4FC7-A937-BB763C202858}"/>
              </a:ext>
            </a:extLst>
          </p:cNvPr>
          <p:cNvPicPr>
            <a:picLocks noChangeAspect="1"/>
          </p:cNvPicPr>
          <p:nvPr/>
        </p:nvPicPr>
        <p:blipFill>
          <a:blip r:embed="rId3"/>
          <a:stretch>
            <a:fillRect/>
          </a:stretch>
        </p:blipFill>
        <p:spPr>
          <a:xfrm>
            <a:off x="6400800" y="1027906"/>
            <a:ext cx="5308873" cy="3289469"/>
          </a:xfrm>
          <a:prstGeom prst="rect">
            <a:avLst/>
          </a:prstGeom>
        </p:spPr>
      </p:pic>
      <p:pic>
        <p:nvPicPr>
          <p:cNvPr id="5" name="Picture 4">
            <a:extLst>
              <a:ext uri="{FF2B5EF4-FFF2-40B4-BE49-F238E27FC236}">
                <a16:creationId xmlns:a16="http://schemas.microsoft.com/office/drawing/2014/main" id="{5712887C-9340-49EA-9D3A-B6C32689071C}"/>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25226" y="1600200"/>
            <a:ext cx="5308873" cy="2606174"/>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72FE092-EE67-2F32-C5A1-13D9483E5619}"/>
                  </a:ext>
                </a:extLst>
              </p:cNvPr>
              <p:cNvSpPr txBox="1"/>
              <p:nvPr/>
            </p:nvSpPr>
            <p:spPr>
              <a:xfrm>
                <a:off x="8153400" y="275381"/>
                <a:ext cx="3732228" cy="811312"/>
              </a:xfrm>
              <a:prstGeom prst="rect">
                <a:avLst/>
              </a:prstGeom>
            </p:spPr>
            <p:style>
              <a:lnRef idx="3">
                <a:schemeClr val="lt1"/>
              </a:lnRef>
              <a:fillRef idx="1">
                <a:schemeClr val="accent6"/>
              </a:fillRef>
              <a:effectRef idx="1">
                <a:schemeClr val="accent6"/>
              </a:effectRef>
              <a:fontRef idx="minor">
                <a:schemeClr val="lt1"/>
              </a:fontRef>
            </p:style>
            <p:txBody>
              <a:bodyPr wrap="square">
                <a:spAutoFit/>
              </a:bodyPr>
              <a:lstStyle/>
              <a:p>
                <a:pPr algn="ctr"/>
                <a:r>
                  <a:rPr lang="en-US" b="1" dirty="0">
                    <a:latin typeface="Cambria Math" panose="02040503050406030204" pitchFamily="18" charset="0"/>
                  </a:rPr>
                  <a:t>Bayes Classifier</a:t>
                </a:r>
              </a:p>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h</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r>
                        <a:rPr lang="en-US" b="0" i="1" smtClean="0">
                          <a:latin typeface="Cambria Math" panose="02040503050406030204" pitchFamily="18" charset="0"/>
                        </a:rPr>
                        <m:t> </m:t>
                      </m:r>
                      <m:r>
                        <a:rPr lang="en-US" b="0" i="1" smtClean="0">
                          <a:latin typeface="Cambria Math" panose="02040503050406030204" pitchFamily="18" charset="0"/>
                        </a:rPr>
                        <m:t>𝑃</m:t>
                      </m:r>
                      <m:d>
                        <m:dPr>
                          <m:endChr m:val="|"/>
                          <m:ctrlPr>
                            <a:rPr lang="en-US" b="0" i="1" smtClean="0">
                              <a:latin typeface="Cambria Math" panose="02040503050406030204" pitchFamily="18" charset="0"/>
                            </a:rPr>
                          </m:ctrlPr>
                        </m:dPr>
                        <m:e>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 </m:t>
                          </m:r>
                        </m:e>
                      </m:d>
                      <m:r>
                        <a:rPr lang="en-US" b="0" i="1" smtClean="0">
                          <a:latin typeface="Cambria Math" panose="02040503050406030204" pitchFamily="18" charset="0"/>
                        </a:rPr>
                        <m:t> </m:t>
                      </m:r>
                      <m:r>
                        <a:rPr lang="en-US" b="1" i="1" smtClean="0">
                          <a:latin typeface="Cambria Math" panose="02040503050406030204" pitchFamily="18" charset="0"/>
                        </a:rPr>
                        <m:t>𝑿</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 </m:t>
                      </m:r>
                    </m:oMath>
                  </m:oMathPara>
                </a14:m>
                <a:endParaRPr lang="en-US" dirty="0"/>
              </a:p>
            </p:txBody>
          </p:sp>
        </mc:Choice>
        <mc:Fallback xmlns="">
          <p:sp>
            <p:nvSpPr>
              <p:cNvPr id="7" name="TextBox 6">
                <a:extLst>
                  <a:ext uri="{FF2B5EF4-FFF2-40B4-BE49-F238E27FC236}">
                    <a16:creationId xmlns:a16="http://schemas.microsoft.com/office/drawing/2014/main" id="{572FE092-EE67-2F32-C5A1-13D9483E5619}"/>
                  </a:ext>
                </a:extLst>
              </p:cNvPr>
              <p:cNvSpPr txBox="1">
                <a:spLocks noRot="1" noChangeAspect="1" noMove="1" noResize="1" noEditPoints="1" noAdjustHandles="1" noChangeArrowheads="1" noChangeShapeType="1" noTextEdit="1"/>
              </p:cNvSpPr>
              <p:nvPr/>
            </p:nvSpPr>
            <p:spPr>
              <a:xfrm>
                <a:off x="8153400" y="275381"/>
                <a:ext cx="3732228" cy="811312"/>
              </a:xfrm>
              <a:prstGeom prst="rect">
                <a:avLst/>
              </a:prstGeom>
              <a:blipFill>
                <a:blip r:embed="rId5"/>
                <a:stretch>
                  <a:fillRect t="-36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F921A951-06A2-FFD6-C88D-439698186DEF}"/>
                  </a:ext>
                </a:extLst>
              </p:cNvPr>
              <p:cNvSpPr/>
              <p:nvPr/>
            </p:nvSpPr>
            <p:spPr>
              <a:xfrm>
                <a:off x="8001000" y="4502606"/>
                <a:ext cx="2057400" cy="1212394"/>
              </a:xfrm>
              <a:prstGeom prst="wedgeRoundRectCallout">
                <a:avLst>
                  <a:gd name="adj1" fmla="val -52958"/>
                  <a:gd name="adj2" fmla="val -8209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Class labels for leaf nodes are decided by the majority of the training data ending up in the leaf node. The probability can be estimated as: </a:t>
                </a:r>
                <a14:m>
                  <m:oMath xmlns:m="http://schemas.openxmlformats.org/officeDocument/2006/math">
                    <m:acc>
                      <m:accPr>
                        <m:chr m:val="̂"/>
                        <m:ctrlPr>
                          <a:rPr lang="en-US" sz="1100" i="1" dirty="0" smtClean="0">
                            <a:latin typeface="Cambria Math" panose="02040503050406030204" pitchFamily="18" charset="0"/>
                          </a:rPr>
                        </m:ctrlPr>
                      </m:accPr>
                      <m:e>
                        <m:r>
                          <a:rPr lang="en-US" sz="1100" b="0" i="1" dirty="0" smtClean="0">
                            <a:latin typeface="Cambria Math" panose="02040503050406030204" pitchFamily="18" charset="0"/>
                          </a:rPr>
                          <m:t>𝑃</m:t>
                        </m:r>
                      </m:e>
                    </m:acc>
                    <m:d>
                      <m:dPr>
                        <m:ctrlPr>
                          <a:rPr lang="en-US" sz="1100" i="1" dirty="0" smtClean="0">
                            <a:latin typeface="Cambria Math" panose="02040503050406030204" pitchFamily="18" charset="0"/>
                          </a:rPr>
                        </m:ctrlPr>
                      </m:dPr>
                      <m:e>
                        <m:r>
                          <m:rPr>
                            <m:nor/>
                          </m:rPr>
                          <a:rPr lang="en-US" sz="1100" b="0" i="0" dirty="0" smtClean="0">
                            <a:latin typeface="Cambria Math" panose="02040503050406030204" pitchFamily="18" charset="0"/>
                          </a:rPr>
                          <m:t>Y</m:t>
                        </m:r>
                        <m:r>
                          <m:rPr>
                            <m:nor/>
                          </m:rPr>
                          <a:rPr lang="en-US" sz="1100" i="0" dirty="0" err="1" smtClean="0">
                            <a:latin typeface="Cambria Math" panose="02040503050406030204" pitchFamily="18" charset="0"/>
                          </a:rPr>
                          <m:t>es</m:t>
                        </m:r>
                      </m:e>
                      <m:e>
                        <m:r>
                          <m:rPr>
                            <m:nor/>
                          </m:rPr>
                          <a:rPr lang="en-US" sz="1100" b="0" i="0" dirty="0" smtClean="0">
                            <a:latin typeface="Cambria Math" panose="02040503050406030204" pitchFamily="18" charset="0"/>
                          </a:rPr>
                          <m:t>node</m:t>
                        </m:r>
                        <m:r>
                          <m:rPr>
                            <m:nor/>
                          </m:rPr>
                          <a:rPr lang="en-US" sz="1100" b="0" i="0" dirty="0" smtClean="0">
                            <a:latin typeface="Cambria Math" panose="02040503050406030204" pitchFamily="18" charset="0"/>
                          </a:rPr>
                          <m:t> </m:t>
                        </m:r>
                        <m:r>
                          <m:rPr>
                            <m:nor/>
                          </m:rPr>
                          <a:rPr lang="en-US" sz="1100" b="0" i="0" dirty="0" smtClean="0">
                            <a:latin typeface="Cambria Math" panose="02040503050406030204" pitchFamily="18" charset="0"/>
                          </a:rPr>
                          <m:t>N</m:t>
                        </m:r>
                      </m:e>
                    </m:d>
                    <m:r>
                      <a:rPr lang="en-US" sz="1100" i="1" dirty="0" smtClean="0">
                        <a:latin typeface="Cambria Math" panose="02040503050406030204" pitchFamily="18" charset="0"/>
                      </a:rPr>
                      <m:t>=</m:t>
                    </m:r>
                    <m:f>
                      <m:fPr>
                        <m:ctrlPr>
                          <a:rPr lang="en-US" sz="1100" b="0" i="1" dirty="0" smtClean="0">
                            <a:latin typeface="Cambria Math" panose="02040503050406030204" pitchFamily="18" charset="0"/>
                          </a:rPr>
                        </m:ctrlPr>
                      </m:fPr>
                      <m:num>
                        <m:sSub>
                          <m:sSubPr>
                            <m:ctrlPr>
                              <a:rPr lang="en-US" sz="1100" b="0" i="1" dirty="0" smtClean="0">
                                <a:latin typeface="Cambria Math" panose="02040503050406030204" pitchFamily="18" charset="0"/>
                              </a:rPr>
                            </m:ctrlPr>
                          </m:sSubPr>
                          <m:e>
                            <m:r>
                              <a:rPr lang="en-US" sz="1100" b="0" i="1" dirty="0" smtClean="0">
                                <a:latin typeface="Cambria Math" panose="02040503050406030204" pitchFamily="18" charset="0"/>
                              </a:rPr>
                              <m:t>𝑁</m:t>
                            </m:r>
                          </m:e>
                          <m:sub>
                            <m:r>
                              <a:rPr lang="en-US" sz="1100" b="0" i="1" dirty="0" smtClean="0">
                                <a:latin typeface="Cambria Math" panose="02040503050406030204" pitchFamily="18" charset="0"/>
                              </a:rPr>
                              <m:t>𝑌𝑒𝑠</m:t>
                            </m:r>
                          </m:sub>
                        </m:sSub>
                      </m:num>
                      <m:den>
                        <m:sSub>
                          <m:sSubPr>
                            <m:ctrlPr>
                              <a:rPr lang="en-US" sz="1100" b="0" i="1" dirty="0" smtClean="0">
                                <a:latin typeface="Cambria Math" panose="02040503050406030204" pitchFamily="18" charset="0"/>
                              </a:rPr>
                            </m:ctrlPr>
                          </m:sSubPr>
                          <m:e>
                            <m:r>
                              <a:rPr lang="en-US" sz="1100" b="0" i="1" dirty="0" smtClean="0">
                                <a:latin typeface="Cambria Math" panose="02040503050406030204" pitchFamily="18" charset="0"/>
                              </a:rPr>
                              <m:t>𝑁</m:t>
                            </m:r>
                          </m:e>
                          <m:sub>
                            <m:r>
                              <a:rPr lang="en-US" sz="1100" b="0" i="1" dirty="0" smtClean="0">
                                <a:latin typeface="Cambria Math" panose="02040503050406030204" pitchFamily="18" charset="0"/>
                              </a:rPr>
                              <m:t>𝑌𝑒𝑠</m:t>
                            </m:r>
                          </m:sub>
                        </m:sSub>
                        <m:r>
                          <a:rPr lang="en-US" sz="1100" b="0" i="1" dirty="0" smtClean="0">
                            <a:latin typeface="Cambria Math" panose="02040503050406030204" pitchFamily="18" charset="0"/>
                          </a:rPr>
                          <m:t>+</m:t>
                        </m:r>
                        <m:sSub>
                          <m:sSubPr>
                            <m:ctrlPr>
                              <a:rPr lang="en-US" sz="1100" b="0" i="1" dirty="0" smtClean="0">
                                <a:latin typeface="Cambria Math" panose="02040503050406030204" pitchFamily="18" charset="0"/>
                              </a:rPr>
                            </m:ctrlPr>
                          </m:sSubPr>
                          <m:e>
                            <m:r>
                              <a:rPr lang="en-US" sz="1100" b="0" i="1" dirty="0" smtClean="0">
                                <a:latin typeface="Cambria Math" panose="02040503050406030204" pitchFamily="18" charset="0"/>
                              </a:rPr>
                              <m:t>𝑁</m:t>
                            </m:r>
                          </m:e>
                          <m:sub>
                            <m:r>
                              <a:rPr lang="en-US" sz="1100" b="0" i="1" dirty="0" smtClean="0">
                                <a:latin typeface="Cambria Math" panose="02040503050406030204" pitchFamily="18" charset="0"/>
                              </a:rPr>
                              <m:t>𝑁𝑜</m:t>
                            </m:r>
                          </m:sub>
                        </m:sSub>
                      </m:den>
                    </m:f>
                    <m:r>
                      <a:rPr lang="en-US" sz="1100" i="1" dirty="0" smtClean="0">
                        <a:latin typeface="Cambria Math" panose="02040503050406030204" pitchFamily="18" charset="0"/>
                      </a:rPr>
                      <m:t> </m:t>
                    </m:r>
                  </m:oMath>
                </a14:m>
                <a:endParaRPr lang="en-US" sz="1100" dirty="0"/>
              </a:p>
            </p:txBody>
          </p:sp>
        </mc:Choice>
        <mc:Fallback xmlns="">
          <p:sp>
            <p:nvSpPr>
              <p:cNvPr id="6" name="Speech Bubble: Rectangle with Corners Rounded 5">
                <a:extLst>
                  <a:ext uri="{FF2B5EF4-FFF2-40B4-BE49-F238E27FC236}">
                    <a16:creationId xmlns:a16="http://schemas.microsoft.com/office/drawing/2014/main" id="{F921A951-06A2-FFD6-C88D-439698186DEF}"/>
                  </a:ext>
                </a:extLst>
              </p:cNvPr>
              <p:cNvSpPr>
                <a:spLocks noRot="1" noChangeAspect="1" noMove="1" noResize="1" noEditPoints="1" noAdjustHandles="1" noChangeArrowheads="1" noChangeShapeType="1" noTextEdit="1"/>
              </p:cNvSpPr>
              <p:nvPr/>
            </p:nvSpPr>
            <p:spPr>
              <a:xfrm>
                <a:off x="8001000" y="4502606"/>
                <a:ext cx="2057400" cy="1212394"/>
              </a:xfrm>
              <a:prstGeom prst="wedgeRoundRectCallout">
                <a:avLst>
                  <a:gd name="adj1" fmla="val -52958"/>
                  <a:gd name="adj2" fmla="val -82093"/>
                  <a:gd name="adj3" fmla="val 16667"/>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383560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C3C92-3027-4360-8932-211FE7053A68}"/>
              </a:ext>
            </a:extLst>
          </p:cNvPr>
          <p:cNvSpPr>
            <a:spLocks noGrp="1"/>
          </p:cNvSpPr>
          <p:nvPr>
            <p:ph type="title"/>
          </p:nvPr>
        </p:nvSpPr>
        <p:spPr/>
        <p:txBody>
          <a:bodyPr/>
          <a:lstStyle/>
          <a:p>
            <a:r>
              <a:rPr lang="en-US" dirty="0"/>
              <a:t>K-Nearest Neighbors Classifier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D403E3F-92F0-46CC-AEE7-00CB8A428430}"/>
                  </a:ext>
                </a:extLst>
              </p:cNvPr>
              <p:cNvSpPr>
                <a:spLocks noGrp="1"/>
              </p:cNvSpPr>
              <p:nvPr>
                <p:ph idx="1"/>
              </p:nvPr>
            </p:nvSpPr>
            <p:spPr>
              <a:xfrm>
                <a:off x="838200" y="4616511"/>
                <a:ext cx="10515600" cy="1876365"/>
              </a:xfrm>
            </p:spPr>
            <p:txBody>
              <a:bodyPr>
                <a:normAutofit fontScale="70000" lnSpcReduction="20000"/>
              </a:bodyPr>
              <a:lstStyle/>
              <a:p>
                <a:r>
                  <a:rPr lang="en-US" dirty="0"/>
                  <a:t>Class is predicted by looking at the majority in the set of the k nearest </a:t>
                </a:r>
                <a:r>
                  <a:rPr lang="en-US" b="1" dirty="0"/>
                  <a:t>neighbors</a:t>
                </a:r>
                <a:r>
                  <a:rPr lang="en-US" dirty="0"/>
                  <a:t>. </a:t>
                </a:r>
                <a14:m>
                  <m:oMath xmlns:m="http://schemas.openxmlformats.org/officeDocument/2006/math">
                    <m:r>
                      <a:rPr lang="en-US" i="1" dirty="0" smtClean="0">
                        <a:latin typeface="Cambria Math" panose="02040503050406030204" pitchFamily="18" charset="0"/>
                      </a:rPr>
                      <m:t>𝑘</m:t>
                    </m:r>
                  </m:oMath>
                </a14:m>
                <a:r>
                  <a:rPr lang="en-US" dirty="0"/>
                  <a:t> is a hyperparameter. Larger </a:t>
                </a:r>
                <a14:m>
                  <m:oMath xmlns:m="http://schemas.openxmlformats.org/officeDocument/2006/math">
                    <m:r>
                      <a:rPr lang="en-US" i="1" dirty="0" smtClean="0">
                        <a:latin typeface="Cambria Math" panose="02040503050406030204" pitchFamily="18" charset="0"/>
                      </a:rPr>
                      <m:t>𝑘</m:t>
                    </m:r>
                  </m:oMath>
                </a14:m>
                <a:r>
                  <a:rPr lang="en-US" dirty="0"/>
                  <a:t> smooths the decision boundary.</a:t>
                </a:r>
              </a:p>
              <a:p>
                <a:r>
                  <a:rPr lang="en-US" dirty="0"/>
                  <a:t>Neighbors are found using a distance measure (e.g., Euclidean distance between points).</a:t>
                </a:r>
              </a:p>
              <a:p>
                <a:r>
                  <a:rPr lang="en-US" dirty="0"/>
                  <a:t>Approximates a Bayesian classifier by </a:t>
                </a:r>
                <a:br>
                  <a:rPr lang="en-US" dirty="0"/>
                </a:br>
                <a:br>
                  <a:rPr lang="en-US" dirty="0"/>
                </a:br>
                <a14:m>
                  <m:oMath xmlns:m="http://schemas.openxmlformats.org/officeDocument/2006/math">
                    <m:r>
                      <a:rPr lang="en-US" i="1">
                        <a:latin typeface="Cambria Math" panose="02040503050406030204" pitchFamily="18" charset="0"/>
                      </a:rPr>
                      <m:t>h</m:t>
                    </m:r>
                    <m:r>
                      <a:rPr lang="en-US" i="1">
                        <a:latin typeface="Cambria Math" panose="02040503050406030204" pitchFamily="18" charset="0"/>
                      </a:rPr>
                      <m:t>(</m:t>
                    </m:r>
                    <m:r>
                      <a:rPr lang="en-US" b="1" i="1">
                        <a:latin typeface="Cambria Math" panose="02040503050406030204" pitchFamily="18" charset="0"/>
                      </a:rPr>
                      <m:t>𝒙</m:t>
                    </m:r>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fName>
                      <m:e>
                        <m:r>
                          <a:rPr lang="en-US" i="1">
                            <a:latin typeface="Cambria Math" panose="02040503050406030204" pitchFamily="18" charset="0"/>
                          </a:rPr>
                          <m:t>𝑃</m:t>
                        </m:r>
                        <m:d>
                          <m:dPr>
                            <m:endChr m:val="|"/>
                            <m:ctrlPr>
                              <a:rPr lang="en-US" i="1">
                                <a:latin typeface="Cambria Math" panose="02040503050406030204" pitchFamily="18" charset="0"/>
                              </a:rPr>
                            </m:ctrlPr>
                          </m:dPr>
                          <m:e>
                            <m:r>
                              <a:rPr lang="en-US" i="1">
                                <a:latin typeface="Cambria Math" panose="02040503050406030204" pitchFamily="18" charset="0"/>
                              </a:rPr>
                              <m:t>𝑌</m:t>
                            </m:r>
                            <m:r>
                              <a:rPr lang="en-US" i="1">
                                <a:latin typeface="Cambria Math" panose="02040503050406030204" pitchFamily="18" charset="0"/>
                              </a:rPr>
                              <m:t>=</m:t>
                            </m:r>
                            <m:r>
                              <a:rPr lang="en-US" i="1">
                                <a:latin typeface="Cambria Math" panose="02040503050406030204" pitchFamily="18" charset="0"/>
                              </a:rPr>
                              <m:t>𝑦</m:t>
                            </m:r>
                            <m:r>
                              <a:rPr lang="en-US" i="1">
                                <a:latin typeface="Cambria Math" panose="02040503050406030204" pitchFamily="18" charset="0"/>
                              </a:rPr>
                              <m:t> </m:t>
                            </m:r>
                          </m:e>
                        </m:d>
                        <m:r>
                          <a:rPr lang="en-US" i="1">
                            <a:latin typeface="Cambria Math" panose="02040503050406030204" pitchFamily="18" charset="0"/>
                          </a:rPr>
                          <m:t> </m:t>
                        </m:r>
                        <m:r>
                          <m:rPr>
                            <m:nor/>
                          </m:rPr>
                          <a:rPr lang="en-US" b="0" i="0" smtClean="0">
                            <a:latin typeface="Cambria Math" panose="02040503050406030204" pitchFamily="18" charset="0"/>
                          </a:rPr>
                          <m:t>neighborhood</m:t>
                        </m:r>
                        <m:r>
                          <a:rPr lang="en-US" i="1">
                            <a:latin typeface="Cambria Math" panose="02040503050406030204" pitchFamily="18" charset="0"/>
                          </a:rPr>
                          <m:t>(</m:t>
                        </m:r>
                        <m:r>
                          <a:rPr lang="en-US" b="1" i="1">
                            <a:latin typeface="Cambria Math" panose="02040503050406030204" pitchFamily="18" charset="0"/>
                          </a:rPr>
                          <m:t>𝒙</m:t>
                        </m:r>
                        <m:r>
                          <a:rPr lang="en-US" i="1">
                            <a:latin typeface="Cambria Math" panose="02040503050406030204" pitchFamily="18" charset="0"/>
                          </a:rPr>
                          <m:t>))</m:t>
                        </m:r>
                        <m:r>
                          <m:rPr>
                            <m:nor/>
                          </m:rPr>
                          <a:rPr lang="en-US" dirty="0"/>
                          <m:t> </m:t>
                        </m:r>
                      </m:e>
                    </m:func>
                  </m:oMath>
                </a14:m>
                <a:endParaRPr lang="en-US" dirty="0"/>
              </a:p>
            </p:txBody>
          </p:sp>
        </mc:Choice>
        <mc:Fallback xmlns="">
          <p:sp>
            <p:nvSpPr>
              <p:cNvPr id="3" name="Content Placeholder 2">
                <a:extLst>
                  <a:ext uri="{FF2B5EF4-FFF2-40B4-BE49-F238E27FC236}">
                    <a16:creationId xmlns:a16="http://schemas.microsoft.com/office/drawing/2014/main" id="{DD403E3F-92F0-46CC-AEE7-00CB8A428430}"/>
                  </a:ext>
                </a:extLst>
              </p:cNvPr>
              <p:cNvSpPr>
                <a:spLocks noGrp="1" noRot="1" noChangeAspect="1" noMove="1" noResize="1" noEditPoints="1" noAdjustHandles="1" noChangeArrowheads="1" noChangeShapeType="1" noTextEdit="1"/>
              </p:cNvSpPr>
              <p:nvPr>
                <p:ph idx="1"/>
              </p:nvPr>
            </p:nvSpPr>
            <p:spPr>
              <a:xfrm>
                <a:off x="838200" y="4616511"/>
                <a:ext cx="10515600" cy="1876365"/>
              </a:xfrm>
              <a:blipFill>
                <a:blip r:embed="rId2"/>
                <a:stretch>
                  <a:fillRect l="-522" t="-5844"/>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6C44BE1D-B926-4089-8E89-446CBA16D027}"/>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2209800" y="1524000"/>
            <a:ext cx="7822234" cy="3092511"/>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54BCA42-5698-7B0A-C3A8-2C583A067AE8}"/>
                  </a:ext>
                </a:extLst>
              </p:cNvPr>
              <p:cNvSpPr txBox="1"/>
              <p:nvPr/>
            </p:nvSpPr>
            <p:spPr>
              <a:xfrm>
                <a:off x="8153400" y="275381"/>
                <a:ext cx="3732228" cy="811312"/>
              </a:xfrm>
              <a:prstGeom prst="rect">
                <a:avLst/>
              </a:prstGeom>
            </p:spPr>
            <p:style>
              <a:lnRef idx="3">
                <a:schemeClr val="lt1"/>
              </a:lnRef>
              <a:fillRef idx="1">
                <a:schemeClr val="accent6"/>
              </a:fillRef>
              <a:effectRef idx="1">
                <a:schemeClr val="accent6"/>
              </a:effectRef>
              <a:fontRef idx="minor">
                <a:schemeClr val="lt1"/>
              </a:fontRef>
            </p:style>
            <p:txBody>
              <a:bodyPr wrap="square">
                <a:spAutoFit/>
              </a:bodyPr>
              <a:lstStyle/>
              <a:p>
                <a:pPr algn="ctr"/>
                <a:r>
                  <a:rPr lang="en-US" b="1" dirty="0">
                    <a:latin typeface="Cambria Math" panose="02040503050406030204" pitchFamily="18" charset="0"/>
                  </a:rPr>
                  <a:t>Bayes Classifier</a:t>
                </a:r>
              </a:p>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h</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r>
                        <a:rPr lang="en-US" b="0" i="1" smtClean="0">
                          <a:latin typeface="Cambria Math" panose="02040503050406030204" pitchFamily="18" charset="0"/>
                        </a:rPr>
                        <m:t> </m:t>
                      </m:r>
                      <m:r>
                        <a:rPr lang="en-US" b="0" i="1" smtClean="0">
                          <a:latin typeface="Cambria Math" panose="02040503050406030204" pitchFamily="18" charset="0"/>
                        </a:rPr>
                        <m:t>𝑃</m:t>
                      </m:r>
                      <m:d>
                        <m:dPr>
                          <m:endChr m:val="|"/>
                          <m:ctrlPr>
                            <a:rPr lang="en-US" b="0" i="1" smtClean="0">
                              <a:latin typeface="Cambria Math" panose="02040503050406030204" pitchFamily="18" charset="0"/>
                            </a:rPr>
                          </m:ctrlPr>
                        </m:dPr>
                        <m:e>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 </m:t>
                          </m:r>
                        </m:e>
                      </m:d>
                      <m:r>
                        <a:rPr lang="en-US" b="0" i="1" smtClean="0">
                          <a:latin typeface="Cambria Math" panose="02040503050406030204" pitchFamily="18" charset="0"/>
                        </a:rPr>
                        <m:t> </m:t>
                      </m:r>
                      <m:r>
                        <a:rPr lang="en-US" b="1" i="1" smtClean="0">
                          <a:latin typeface="Cambria Math" panose="02040503050406030204" pitchFamily="18" charset="0"/>
                        </a:rPr>
                        <m:t>𝑿</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 </m:t>
                      </m:r>
                    </m:oMath>
                  </m:oMathPara>
                </a14:m>
                <a:endParaRPr lang="en-US" dirty="0"/>
              </a:p>
            </p:txBody>
          </p:sp>
        </mc:Choice>
        <mc:Fallback xmlns="">
          <p:sp>
            <p:nvSpPr>
              <p:cNvPr id="6" name="TextBox 5">
                <a:extLst>
                  <a:ext uri="{FF2B5EF4-FFF2-40B4-BE49-F238E27FC236}">
                    <a16:creationId xmlns:a16="http://schemas.microsoft.com/office/drawing/2014/main" id="{754BCA42-5698-7B0A-C3A8-2C583A067AE8}"/>
                  </a:ext>
                </a:extLst>
              </p:cNvPr>
              <p:cNvSpPr txBox="1">
                <a:spLocks noRot="1" noChangeAspect="1" noMove="1" noResize="1" noEditPoints="1" noAdjustHandles="1" noChangeArrowheads="1" noChangeShapeType="1" noTextEdit="1"/>
              </p:cNvSpPr>
              <p:nvPr/>
            </p:nvSpPr>
            <p:spPr>
              <a:xfrm>
                <a:off x="8153400" y="275381"/>
                <a:ext cx="3732228" cy="811312"/>
              </a:xfrm>
              <a:prstGeom prst="rect">
                <a:avLst/>
              </a:prstGeom>
              <a:blipFill>
                <a:blip r:embed="rId4"/>
                <a:stretch>
                  <a:fillRect t="-3676"/>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8207D964-56F9-4A99-9571-1155A1A9F8EE}"/>
              </a:ext>
            </a:extLst>
          </p:cNvPr>
          <p:cNvSpPr/>
          <p:nvPr/>
        </p:nvSpPr>
        <p:spPr>
          <a:xfrm>
            <a:off x="7239000" y="2895600"/>
            <a:ext cx="533400" cy="533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925132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DB28D-40CD-4E4E-B820-0865925CF2C2}"/>
              </a:ext>
            </a:extLst>
          </p:cNvPr>
          <p:cNvSpPr>
            <a:spLocks noGrp="1"/>
          </p:cNvSpPr>
          <p:nvPr>
            <p:ph type="title"/>
          </p:nvPr>
        </p:nvSpPr>
        <p:spPr/>
        <p:txBody>
          <a:bodyPr/>
          <a:lstStyle/>
          <a:p>
            <a:r>
              <a:rPr lang="en-US" dirty="0"/>
              <a:t>Support Vector Machine (SVM)</a:t>
            </a:r>
          </a:p>
        </p:txBody>
      </p:sp>
      <p:sp>
        <p:nvSpPr>
          <p:cNvPr id="3" name="Content Placeholder 2">
            <a:extLst>
              <a:ext uri="{FF2B5EF4-FFF2-40B4-BE49-F238E27FC236}">
                <a16:creationId xmlns:a16="http://schemas.microsoft.com/office/drawing/2014/main" id="{F12B41D0-8B63-4496-9282-892F584394AC}"/>
              </a:ext>
            </a:extLst>
          </p:cNvPr>
          <p:cNvSpPr>
            <a:spLocks noGrp="1"/>
          </p:cNvSpPr>
          <p:nvPr>
            <p:ph idx="1"/>
          </p:nvPr>
        </p:nvSpPr>
        <p:spPr>
          <a:xfrm>
            <a:off x="838200" y="5085475"/>
            <a:ext cx="10515600" cy="1272461"/>
          </a:xfrm>
        </p:spPr>
        <p:txBody>
          <a:bodyPr>
            <a:normAutofit fontScale="92500" lnSpcReduction="10000"/>
          </a:bodyPr>
          <a:lstStyle/>
          <a:p>
            <a:r>
              <a:rPr lang="en-US" dirty="0"/>
              <a:t>Linear classifier that finds </a:t>
            </a:r>
            <a:r>
              <a:rPr lang="en-US" b="1" dirty="0"/>
              <a:t>the maximum margin separator </a:t>
            </a:r>
            <a:r>
              <a:rPr lang="en-US" dirty="0"/>
              <a:t>using only the points that are “support vectors” and quadratic optimization.</a:t>
            </a:r>
          </a:p>
          <a:p>
            <a:r>
              <a:rPr lang="en-US" dirty="0"/>
              <a:t>The kernel trick can be used to learn non-linear decision boundaries.</a:t>
            </a:r>
          </a:p>
        </p:txBody>
      </p:sp>
      <p:grpSp>
        <p:nvGrpSpPr>
          <p:cNvPr id="5" name="Group 4">
            <a:extLst>
              <a:ext uri="{FF2B5EF4-FFF2-40B4-BE49-F238E27FC236}">
                <a16:creationId xmlns:a16="http://schemas.microsoft.com/office/drawing/2014/main" id="{589EE94F-62F4-0910-6F3B-7FDCD9500AEE}"/>
              </a:ext>
              <a:ext uri="{C183D7F6-B498-43B3-948B-1728B52AA6E4}">
                <adec:decorative xmlns:adec="http://schemas.microsoft.com/office/drawing/2017/decorative" val="1"/>
              </a:ext>
            </a:extLst>
          </p:cNvPr>
          <p:cNvGrpSpPr/>
          <p:nvPr/>
        </p:nvGrpSpPr>
        <p:grpSpPr>
          <a:xfrm>
            <a:off x="2822407" y="1524000"/>
            <a:ext cx="7159793" cy="3389531"/>
            <a:chOff x="2822407" y="1524000"/>
            <a:chExt cx="7159793" cy="3389531"/>
          </a:xfrm>
        </p:grpSpPr>
        <p:pic>
          <p:nvPicPr>
            <p:cNvPr id="4" name="Picture 3">
              <a:extLst>
                <a:ext uri="{FF2B5EF4-FFF2-40B4-BE49-F238E27FC236}">
                  <a16:creationId xmlns:a16="http://schemas.microsoft.com/office/drawing/2014/main" id="{989E3C8D-26ED-4587-9061-8225A32F4613}"/>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822407" y="1524000"/>
              <a:ext cx="6547186" cy="3092609"/>
            </a:xfrm>
            <a:prstGeom prst="rect">
              <a:avLst/>
            </a:prstGeom>
          </p:spPr>
        </p:pic>
        <p:cxnSp>
          <p:nvCxnSpPr>
            <p:cNvPr id="6" name="Straight Connector 5">
              <a:extLst>
                <a:ext uri="{FF2B5EF4-FFF2-40B4-BE49-F238E27FC236}">
                  <a16:creationId xmlns:a16="http://schemas.microsoft.com/office/drawing/2014/main" id="{BEC63F72-A75D-4C51-8E01-0780A7509E7B}"/>
                </a:ext>
              </a:extLst>
            </p:cNvPr>
            <p:cNvCxnSpPr/>
            <p:nvPr/>
          </p:nvCxnSpPr>
          <p:spPr>
            <a:xfrm flipV="1">
              <a:off x="7543800" y="3276600"/>
              <a:ext cx="228600" cy="228600"/>
            </a:xfrm>
            <a:prstGeom prst="line">
              <a:avLst/>
            </a:prstGeom>
            <a:ln w="28575">
              <a:headEnd type="arrow" w="med" len="med"/>
              <a:tailEnd type="arrow" w="med" len="med"/>
            </a:ln>
          </p:spPr>
          <p:style>
            <a:lnRef idx="2">
              <a:schemeClr val="accent6">
                <a:shade val="50000"/>
              </a:schemeClr>
            </a:lnRef>
            <a:fillRef idx="1">
              <a:schemeClr val="accent6"/>
            </a:fillRef>
            <a:effectRef idx="0">
              <a:schemeClr val="accent6"/>
            </a:effectRef>
            <a:fontRef idx="minor">
              <a:schemeClr val="lt1"/>
            </a:fontRef>
          </p:style>
        </p:cxnSp>
        <p:sp>
          <p:nvSpPr>
            <p:cNvPr id="7" name="TextBox 6">
              <a:extLst>
                <a:ext uri="{FF2B5EF4-FFF2-40B4-BE49-F238E27FC236}">
                  <a16:creationId xmlns:a16="http://schemas.microsoft.com/office/drawing/2014/main" id="{5F65893B-1871-46E0-9FC6-B0AB3182650A}"/>
                </a:ext>
              </a:extLst>
            </p:cNvPr>
            <p:cNvSpPr txBox="1"/>
            <p:nvPr/>
          </p:nvSpPr>
          <p:spPr>
            <a:xfrm>
              <a:off x="7848600" y="2963148"/>
              <a:ext cx="914400" cy="38100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spAutoFit/>
            </a:bodyPr>
            <a:lstStyle/>
            <a:p>
              <a:pPr algn="ctr"/>
              <a:r>
                <a:rPr lang="en-US" dirty="0"/>
                <a:t>Margin</a:t>
              </a:r>
            </a:p>
          </p:txBody>
        </p:sp>
        <p:cxnSp>
          <p:nvCxnSpPr>
            <p:cNvPr id="9" name="Straight Arrow Connector 8">
              <a:extLst>
                <a:ext uri="{FF2B5EF4-FFF2-40B4-BE49-F238E27FC236}">
                  <a16:creationId xmlns:a16="http://schemas.microsoft.com/office/drawing/2014/main" id="{37357CC0-8EE6-4829-A5F8-8807046ADF94}"/>
                </a:ext>
              </a:extLst>
            </p:cNvPr>
            <p:cNvCxnSpPr>
              <a:cxnSpLocks/>
            </p:cNvCxnSpPr>
            <p:nvPr/>
          </p:nvCxnSpPr>
          <p:spPr>
            <a:xfrm flipH="1" flipV="1">
              <a:off x="8305800" y="4024311"/>
              <a:ext cx="612607" cy="381001"/>
            </a:xfrm>
            <a:prstGeom prst="straightConnector1">
              <a:avLst/>
            </a:prstGeom>
            <a:ln w="28575">
              <a:headEnd type="none" w="med" len="med"/>
              <a:tailEnd type="arrow" w="med" len="med"/>
            </a:ln>
          </p:spPr>
          <p:style>
            <a:lnRef idx="2">
              <a:schemeClr val="accent6">
                <a:shade val="50000"/>
              </a:schemeClr>
            </a:lnRef>
            <a:fillRef idx="1">
              <a:schemeClr val="accent6"/>
            </a:fillRef>
            <a:effectRef idx="0">
              <a:schemeClr val="accent6"/>
            </a:effectRef>
            <a:fontRef idx="minor">
              <a:schemeClr val="lt1"/>
            </a:fontRef>
          </p:style>
        </p:cxnSp>
        <p:sp>
          <p:nvSpPr>
            <p:cNvPr id="10" name="TextBox 9">
              <a:extLst>
                <a:ext uri="{FF2B5EF4-FFF2-40B4-BE49-F238E27FC236}">
                  <a16:creationId xmlns:a16="http://schemas.microsoft.com/office/drawing/2014/main" id="{93C6BB77-7931-493F-A79F-DEBFF6D21390}"/>
                </a:ext>
              </a:extLst>
            </p:cNvPr>
            <p:cNvSpPr txBox="1"/>
            <p:nvPr/>
          </p:nvSpPr>
          <p:spPr>
            <a:xfrm>
              <a:off x="8855580" y="4267200"/>
              <a:ext cx="1126620" cy="646331"/>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spAutoFit/>
            </a:bodyPr>
            <a:lstStyle/>
            <a:p>
              <a:pPr algn="ctr"/>
              <a:r>
                <a:rPr lang="en-US" dirty="0"/>
                <a:t>Decision boundary </a:t>
              </a:r>
            </a:p>
          </p:txBody>
        </p:sp>
      </p:grpSp>
    </p:spTree>
    <p:extLst>
      <p:ext uri="{BB962C8B-B14F-4D97-AF65-F5344CB8AC3E}">
        <p14:creationId xmlns:p14="http://schemas.microsoft.com/office/powerpoint/2010/main" val="10183515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D7D0E-A67A-4382-B425-09B322BE189D}"/>
              </a:ext>
            </a:extLst>
          </p:cNvPr>
          <p:cNvSpPr>
            <a:spLocks noGrp="1"/>
          </p:cNvSpPr>
          <p:nvPr>
            <p:ph type="title"/>
          </p:nvPr>
        </p:nvSpPr>
        <p:spPr>
          <a:xfrm>
            <a:off x="838200" y="365126"/>
            <a:ext cx="8915400" cy="818384"/>
          </a:xfrm>
        </p:spPr>
        <p:txBody>
          <a:bodyPr>
            <a:normAutofit/>
          </a:bodyPr>
          <a:lstStyle/>
          <a:p>
            <a:r>
              <a:rPr lang="en-US" dirty="0"/>
              <a:t>Artificial Neural Networks (ANNs)</a:t>
            </a:r>
          </a:p>
        </p:txBody>
      </p:sp>
      <p:grpSp>
        <p:nvGrpSpPr>
          <p:cNvPr id="13" name="Group 12" descr="A figure showing the topology of a neural network with a single hidden layer.">
            <a:extLst>
              <a:ext uri="{FF2B5EF4-FFF2-40B4-BE49-F238E27FC236}">
                <a16:creationId xmlns:a16="http://schemas.microsoft.com/office/drawing/2014/main" id="{75037A14-3AFB-5878-CDC0-BD0486D59593}"/>
              </a:ext>
            </a:extLst>
          </p:cNvPr>
          <p:cNvGrpSpPr/>
          <p:nvPr/>
        </p:nvGrpSpPr>
        <p:grpSpPr>
          <a:xfrm>
            <a:off x="45672" y="1164852"/>
            <a:ext cx="8115300" cy="5509792"/>
            <a:chOff x="45672" y="1164852"/>
            <a:chExt cx="8115300" cy="5509792"/>
          </a:xfrm>
        </p:grpSpPr>
        <p:pic>
          <p:nvPicPr>
            <p:cNvPr id="5" name="Picture 4">
              <a:extLst>
                <a:ext uri="{FF2B5EF4-FFF2-40B4-BE49-F238E27FC236}">
                  <a16:creationId xmlns:a16="http://schemas.microsoft.com/office/drawing/2014/main" id="{59C505E5-264D-4512-B738-64315008EC14}"/>
                </a:ext>
              </a:extLst>
            </p:cNvPr>
            <p:cNvPicPr>
              <a:picLocks noChangeAspect="1"/>
            </p:cNvPicPr>
            <p:nvPr/>
          </p:nvPicPr>
          <p:blipFill rotWithShape="1">
            <a:blip r:embed="rId2"/>
            <a:srcRect l="-2123" r="-1"/>
            <a:stretch/>
          </p:blipFill>
          <p:spPr>
            <a:xfrm>
              <a:off x="45672" y="1778000"/>
              <a:ext cx="7802930" cy="4576762"/>
            </a:xfrm>
            <a:prstGeom prst="rect">
              <a:avLst/>
            </a:prstGeom>
          </p:spPr>
        </p:pic>
        <p:sp>
          <p:nvSpPr>
            <p:cNvPr id="8" name="Speech Bubble: Rectangle 7">
              <a:extLst>
                <a:ext uri="{FF2B5EF4-FFF2-40B4-BE49-F238E27FC236}">
                  <a16:creationId xmlns:a16="http://schemas.microsoft.com/office/drawing/2014/main" id="{23257D05-D4F7-429A-8BEC-42DD062F3215}"/>
                </a:ext>
              </a:extLst>
            </p:cNvPr>
            <p:cNvSpPr/>
            <p:nvPr/>
          </p:nvSpPr>
          <p:spPr>
            <a:xfrm>
              <a:off x="2986312" y="6293644"/>
              <a:ext cx="976088" cy="381000"/>
            </a:xfrm>
            <a:prstGeom prst="wedgeRectCallout">
              <a:avLst>
                <a:gd name="adj1" fmla="val 58333"/>
                <a:gd name="adj2" fmla="val -124167"/>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Bias term</a:t>
              </a:r>
            </a:p>
          </p:txBody>
        </p:sp>
        <p:sp>
          <p:nvSpPr>
            <p:cNvPr id="9" name="Speech Bubble: Rectangle 8">
              <a:extLst>
                <a:ext uri="{FF2B5EF4-FFF2-40B4-BE49-F238E27FC236}">
                  <a16:creationId xmlns:a16="http://schemas.microsoft.com/office/drawing/2014/main" id="{8CE8AF8D-75D9-4426-918B-179C915BDA88}"/>
                </a:ext>
              </a:extLst>
            </p:cNvPr>
            <p:cNvSpPr/>
            <p:nvPr/>
          </p:nvSpPr>
          <p:spPr>
            <a:xfrm>
              <a:off x="4405570" y="5867400"/>
              <a:ext cx="1690430" cy="728661"/>
            </a:xfrm>
            <a:prstGeom prst="wedgeRectCallout">
              <a:avLst>
                <a:gd name="adj1" fmla="val -6010"/>
                <a:gd name="adj2" fmla="val -152527"/>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Non-linear activation function. E.g., </a:t>
              </a:r>
              <a:r>
                <a:rPr lang="en-US" sz="1400" dirty="0" err="1"/>
                <a:t>ReLU</a:t>
              </a:r>
              <a:endParaRPr lang="en-US" sz="1400" dirty="0"/>
            </a:p>
          </p:txBody>
        </p:sp>
        <p:sp>
          <p:nvSpPr>
            <p:cNvPr id="10" name="Speech Bubble: Rectangle 9">
              <a:extLst>
                <a:ext uri="{FF2B5EF4-FFF2-40B4-BE49-F238E27FC236}">
                  <a16:creationId xmlns:a16="http://schemas.microsoft.com/office/drawing/2014/main" id="{CB86ED20-CC1D-4B11-BD63-F18FD50791F0}"/>
                </a:ext>
              </a:extLst>
            </p:cNvPr>
            <p:cNvSpPr/>
            <p:nvPr/>
          </p:nvSpPr>
          <p:spPr>
            <a:xfrm>
              <a:off x="1143000" y="1524000"/>
              <a:ext cx="1600200" cy="461962"/>
            </a:xfrm>
            <a:prstGeom prst="wedgeRectCallout">
              <a:avLst>
                <a:gd name="adj1" fmla="val -19445"/>
                <a:gd name="adj2" fmla="val 170713"/>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One or more hidden layers</a:t>
              </a:r>
            </a:p>
          </p:txBody>
        </p:sp>
        <p:sp>
          <p:nvSpPr>
            <p:cNvPr id="11" name="Rectangle 10">
              <a:extLst>
                <a:ext uri="{FF2B5EF4-FFF2-40B4-BE49-F238E27FC236}">
                  <a16:creationId xmlns:a16="http://schemas.microsoft.com/office/drawing/2014/main" id="{AC5C019B-45E1-4EAF-A424-7EF300F014B2}"/>
                </a:ext>
              </a:extLst>
            </p:cNvPr>
            <p:cNvSpPr/>
            <p:nvPr/>
          </p:nvSpPr>
          <p:spPr>
            <a:xfrm>
              <a:off x="1143000" y="2316162"/>
              <a:ext cx="838200" cy="3128962"/>
            </a:xfrm>
            <a:prstGeom prst="rect">
              <a:avLst/>
            </a:prstGeom>
            <a:solidFill>
              <a:srgbClr val="70AD47">
                <a:alpha val="20000"/>
              </a:srgbClr>
            </a:solidFill>
            <a:ln>
              <a:solidFill>
                <a:schemeClr val="accent6">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78A9B84-D447-4F07-A7BF-15162A2BC21C}"/>
                </a:ext>
              </a:extLst>
            </p:cNvPr>
            <p:cNvSpPr txBox="1"/>
            <p:nvPr/>
          </p:nvSpPr>
          <p:spPr>
            <a:xfrm>
              <a:off x="4240470" y="1164852"/>
              <a:ext cx="2590800" cy="369332"/>
            </a:xfrm>
            <a:prstGeom prst="rect">
              <a:avLst/>
            </a:prstGeom>
            <a:noFill/>
          </p:spPr>
          <p:txBody>
            <a:bodyPr wrap="square" rtlCol="0">
              <a:spAutoFit/>
            </a:bodyPr>
            <a:lstStyle/>
            <a:p>
              <a:r>
                <a:rPr lang="en-US" b="1" dirty="0"/>
                <a:t>Computational graph</a:t>
              </a:r>
            </a:p>
          </p:txBody>
        </p:sp>
        <mc:AlternateContent xmlns:mc="http://schemas.openxmlformats.org/markup-compatibility/2006" xmlns:a14="http://schemas.microsoft.com/office/drawing/2010/main">
          <mc:Choice Requires="a14">
            <p:sp>
              <p:nvSpPr>
                <p:cNvPr id="4" name="Speech Bubble: Rectangle 3">
                  <a:extLst>
                    <a:ext uri="{FF2B5EF4-FFF2-40B4-BE49-F238E27FC236}">
                      <a16:creationId xmlns:a16="http://schemas.microsoft.com/office/drawing/2014/main" id="{A750B6A0-2002-5342-C717-6C7D75640BF4}"/>
                    </a:ext>
                  </a:extLst>
                </p:cNvPr>
                <p:cNvSpPr/>
                <p:nvPr/>
              </p:nvSpPr>
              <p:spPr>
                <a:xfrm>
                  <a:off x="6424870" y="4843564"/>
                  <a:ext cx="1736102" cy="1828771"/>
                </a:xfrm>
                <a:prstGeom prst="wedgeRectCallout">
                  <a:avLst>
                    <a:gd name="adj1" fmla="val -7742"/>
                    <a:gd name="adj2" fmla="val -87181"/>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r>
                    <a:rPr lang="en-US" sz="1400" dirty="0"/>
                    <a:t>Regression: </a:t>
                  </a:r>
                  <a:br>
                    <a:rPr lang="en-US" sz="1400" dirty="0"/>
                  </a:br>
                  <a:r>
                    <a:rPr lang="en-US" sz="1400" dirty="0"/>
                    <a:t>Linear activation.</a:t>
                  </a:r>
                </a:p>
                <a:p>
                  <a:br>
                    <a:rPr lang="en-US" sz="1400" dirty="0"/>
                  </a:br>
                  <a:r>
                    <a:rPr lang="en-US" sz="1400" dirty="0"/>
                    <a:t>Classification:</a:t>
                  </a:r>
                  <a:br>
                    <a:rPr lang="en-US" sz="1400" dirty="0"/>
                  </a:br>
                  <a:r>
                    <a:rPr lang="en-US" sz="1400" dirty="0"/>
                    <a:t>Multiple output nodes with a </a:t>
                  </a:r>
                  <a:r>
                    <a:rPr lang="en-US" sz="1400" dirty="0" err="1"/>
                    <a:t>softmax</a:t>
                  </a:r>
                  <a:r>
                    <a:rPr lang="en-US" sz="1400" dirty="0"/>
                    <a:t> activation function returning </a:t>
                  </a:r>
                  <a14:m>
                    <m:oMath xmlns:m="http://schemas.openxmlformats.org/officeDocument/2006/math">
                      <m:r>
                        <a:rPr lang="en-US" sz="1400" b="1" i="1" smtClean="0">
                          <a:latin typeface="Cambria Math" panose="02040503050406030204" pitchFamily="18" charset="0"/>
                        </a:rPr>
                        <m:t>𝑷</m:t>
                      </m:r>
                      <m:r>
                        <a:rPr lang="en-US" sz="1400" b="0" i="1" smtClean="0">
                          <a:latin typeface="Cambria Math" panose="02040503050406030204" pitchFamily="18" charset="0"/>
                        </a:rPr>
                        <m:t>(</m:t>
                      </m:r>
                      <m:r>
                        <a:rPr lang="en-US" sz="1400" b="0" i="1" smtClean="0">
                          <a:latin typeface="Cambria Math" panose="02040503050406030204" pitchFamily="18" charset="0"/>
                        </a:rPr>
                        <m:t>𝑦</m:t>
                      </m:r>
                      <m:r>
                        <a:rPr lang="en-US" sz="1400" b="0" i="1" smtClean="0">
                          <a:latin typeface="Cambria Math" panose="02040503050406030204" pitchFamily="18" charset="0"/>
                        </a:rPr>
                        <m:t>|</m:t>
                      </m:r>
                      <m:r>
                        <a:rPr lang="en-US" sz="1400" b="1" i="1" smtClean="0">
                          <a:latin typeface="Cambria Math" panose="02040503050406030204" pitchFamily="18" charset="0"/>
                        </a:rPr>
                        <m:t>𝒙</m:t>
                      </m:r>
                      <m:r>
                        <a:rPr lang="en-US" sz="1400" b="0" i="1" smtClean="0">
                          <a:latin typeface="Cambria Math" panose="02040503050406030204" pitchFamily="18" charset="0"/>
                        </a:rPr>
                        <m:t>)</m:t>
                      </m:r>
                    </m:oMath>
                  </a14:m>
                  <a:endParaRPr lang="en-US" sz="1400" dirty="0"/>
                </a:p>
              </p:txBody>
            </p:sp>
          </mc:Choice>
          <mc:Fallback xmlns="">
            <p:sp>
              <p:nvSpPr>
                <p:cNvPr id="4" name="Speech Bubble: Rectangle 3">
                  <a:extLst>
                    <a:ext uri="{FF2B5EF4-FFF2-40B4-BE49-F238E27FC236}">
                      <a16:creationId xmlns:a16="http://schemas.microsoft.com/office/drawing/2014/main" id="{A750B6A0-2002-5342-C717-6C7D75640BF4}"/>
                    </a:ext>
                  </a:extLst>
                </p:cNvPr>
                <p:cNvSpPr>
                  <a:spLocks noRot="1" noChangeAspect="1" noMove="1" noResize="1" noEditPoints="1" noAdjustHandles="1" noChangeArrowheads="1" noChangeShapeType="1" noTextEdit="1"/>
                </p:cNvSpPr>
                <p:nvPr/>
              </p:nvSpPr>
              <p:spPr>
                <a:xfrm>
                  <a:off x="6424870" y="4843564"/>
                  <a:ext cx="1736102" cy="1828771"/>
                </a:xfrm>
                <a:prstGeom prst="wedgeRectCallout">
                  <a:avLst>
                    <a:gd name="adj1" fmla="val -7742"/>
                    <a:gd name="adj2" fmla="val -87181"/>
                  </a:avLst>
                </a:prstGeom>
                <a:blipFill>
                  <a:blip r:embed="rId3"/>
                  <a:stretch>
                    <a:fillRect l="-697" r="-348" b="-1683"/>
                  </a:stretch>
                </a:blipFill>
              </p:spPr>
              <p:txBody>
                <a:bodyPr/>
                <a:lstStyle/>
                <a:p>
                  <a:r>
                    <a:rPr lang="en-US">
                      <a:noFill/>
                    </a:rPr>
                    <a:t> </a:t>
                  </a:r>
                </a:p>
              </p:txBody>
            </p:sp>
          </mc:Fallback>
        </mc:AlternateContent>
        <p:sp>
          <p:nvSpPr>
            <p:cNvPr id="6" name="Speech Bubble: Rectangle 5">
              <a:extLst>
                <a:ext uri="{FF2B5EF4-FFF2-40B4-BE49-F238E27FC236}">
                  <a16:creationId xmlns:a16="http://schemas.microsoft.com/office/drawing/2014/main" id="{1D9991D3-82B3-3064-C52C-A229F1BFF3D7}"/>
                </a:ext>
              </a:extLst>
            </p:cNvPr>
            <p:cNvSpPr/>
            <p:nvPr/>
          </p:nvSpPr>
          <p:spPr>
            <a:xfrm>
              <a:off x="838200" y="6004187"/>
              <a:ext cx="1104900" cy="381000"/>
            </a:xfrm>
            <a:prstGeom prst="wedgeRectCallout">
              <a:avLst>
                <a:gd name="adj1" fmla="val 27371"/>
                <a:gd name="adj2" fmla="val -274915"/>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Neuron</a:t>
              </a:r>
            </a:p>
          </p:txBody>
        </p:sp>
        <p:sp>
          <p:nvSpPr>
            <p:cNvPr id="7" name="Oval 6">
              <a:extLst>
                <a:ext uri="{FF2B5EF4-FFF2-40B4-BE49-F238E27FC236}">
                  <a16:creationId xmlns:a16="http://schemas.microsoft.com/office/drawing/2014/main" id="{617CB4B8-E50C-D9E2-1583-8D9F96D417B5}"/>
                </a:ext>
              </a:extLst>
            </p:cNvPr>
            <p:cNvSpPr/>
            <p:nvPr/>
          </p:nvSpPr>
          <p:spPr>
            <a:xfrm>
              <a:off x="3516088" y="1503391"/>
              <a:ext cx="1943100" cy="2590800"/>
            </a:xfrm>
            <a:prstGeom prst="ellipse">
              <a:avLst/>
            </a:prstGeom>
            <a:solidFill>
              <a:srgbClr val="70AD47">
                <a:alpha val="20000"/>
              </a:srgbClr>
            </a:solidFill>
            <a:ln>
              <a:solidFill>
                <a:schemeClr val="accent6">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solidFill>
                  <a:schemeClr val="lt1"/>
                </a:solidFill>
              </a:endParaRPr>
            </a:p>
          </p:txBody>
        </p:sp>
        <p:cxnSp>
          <p:nvCxnSpPr>
            <p:cNvPr id="15" name="Straight Connector 14">
              <a:extLst>
                <a:ext uri="{FF2B5EF4-FFF2-40B4-BE49-F238E27FC236}">
                  <a16:creationId xmlns:a16="http://schemas.microsoft.com/office/drawing/2014/main" id="{B6AA2D06-82E0-6A3D-BC59-0D301E7633E2}"/>
                </a:ext>
              </a:extLst>
            </p:cNvPr>
            <p:cNvCxnSpPr>
              <a:cxnSpLocks/>
            </p:cNvCxnSpPr>
            <p:nvPr/>
          </p:nvCxnSpPr>
          <p:spPr>
            <a:xfrm flipV="1">
              <a:off x="1611488" y="1586428"/>
              <a:ext cx="2409626" cy="1138266"/>
            </a:xfrm>
            <a:prstGeom prst="line">
              <a:avLst/>
            </a:prstGeom>
            <a:ln w="9525" cap="flat" cmpd="sng" algn="ctr">
              <a:solidFill>
                <a:schemeClr val="accent6"/>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8" name="Straight Connector 17">
              <a:extLst>
                <a:ext uri="{FF2B5EF4-FFF2-40B4-BE49-F238E27FC236}">
                  <a16:creationId xmlns:a16="http://schemas.microsoft.com/office/drawing/2014/main" id="{89DDE38B-5A06-6C92-402E-28D279A27AE6}"/>
                </a:ext>
              </a:extLst>
            </p:cNvPr>
            <p:cNvCxnSpPr>
              <a:cxnSpLocks/>
            </p:cNvCxnSpPr>
            <p:nvPr/>
          </p:nvCxnSpPr>
          <p:spPr>
            <a:xfrm>
              <a:off x="1611487" y="3054894"/>
              <a:ext cx="2323321" cy="891103"/>
            </a:xfrm>
            <a:prstGeom prst="line">
              <a:avLst/>
            </a:prstGeom>
            <a:ln w="9525" cap="flat" cmpd="sng" algn="ctr">
              <a:solidFill>
                <a:schemeClr val="accent6"/>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5970AAE-D0C1-4D69-AE5D-06F79663B2E1}"/>
                  </a:ext>
                </a:extLst>
              </p:cNvPr>
              <p:cNvSpPr>
                <a:spLocks noGrp="1"/>
              </p:cNvSpPr>
              <p:nvPr>
                <p:ph idx="1"/>
              </p:nvPr>
            </p:nvSpPr>
            <p:spPr>
              <a:xfrm>
                <a:off x="8229600" y="1452988"/>
                <a:ext cx="3463974" cy="5143073"/>
              </a:xfrm>
            </p:spPr>
            <p:txBody>
              <a:bodyPr>
                <a:noAutofit/>
              </a:bodyPr>
              <a:lstStyle/>
              <a:p>
                <a:r>
                  <a:rPr lang="en-US" sz="1500" b="1" dirty="0"/>
                  <a:t>MLP</a:t>
                </a:r>
                <a:r>
                  <a:rPr lang="en-US" sz="1500" dirty="0"/>
                  <a:t>: A “standard” ANN is called a Multilayer Perceptron (MLP) and has an input layer, an output layer, and a single fully connected hidden layer.</a:t>
                </a:r>
                <a:endParaRPr lang="en-US" sz="1500" b="1" dirty="0"/>
              </a:p>
              <a:p>
                <a:r>
                  <a:rPr lang="en-US" sz="1500" b="1" dirty="0"/>
                  <a:t>Representation</a:t>
                </a:r>
                <a:r>
                  <a:rPr lang="en-US" sz="1500" dirty="0"/>
                  <a:t>:</a:t>
                </a:r>
                <a:br>
                  <a:rPr lang="en-US" sz="1500" dirty="0"/>
                </a:br>
                <a:r>
                  <a:rPr lang="en-US" sz="1500" dirty="0"/>
                  <a:t>   </a:t>
                </a:r>
                <a14:m>
                  <m:oMath xmlns:m="http://schemas.openxmlformats.org/officeDocument/2006/math">
                    <m:acc>
                      <m:accPr>
                        <m:chr m:val="̂"/>
                        <m:ctrlPr>
                          <a:rPr lang="en-US" sz="1500" b="0" i="1" dirty="0" smtClean="0">
                            <a:latin typeface="Cambria Math" panose="02040503050406030204" pitchFamily="18" charset="0"/>
                          </a:rPr>
                        </m:ctrlPr>
                      </m:accPr>
                      <m:e>
                        <m:r>
                          <a:rPr lang="en-US" sz="1500" b="0" i="1" dirty="0" smtClean="0">
                            <a:latin typeface="Cambria Math" panose="02040503050406030204" pitchFamily="18" charset="0"/>
                          </a:rPr>
                          <m:t>𝑦</m:t>
                        </m:r>
                      </m:e>
                    </m:acc>
                    <m:r>
                      <a:rPr lang="en-US" sz="1500" b="0" i="1" dirty="0" smtClean="0">
                        <a:latin typeface="Cambria Math" panose="02040503050406030204" pitchFamily="18" charset="0"/>
                      </a:rPr>
                      <m:t>=</m:t>
                    </m:r>
                    <m:r>
                      <a:rPr lang="en-US" sz="1500" b="0" i="1" dirty="0" smtClean="0">
                        <a:latin typeface="Cambria Math" panose="02040503050406030204" pitchFamily="18" charset="0"/>
                      </a:rPr>
                      <m:t>h</m:t>
                    </m:r>
                    <m:d>
                      <m:dPr>
                        <m:ctrlPr>
                          <a:rPr lang="en-US" sz="1500" b="0" i="1" dirty="0" smtClean="0">
                            <a:latin typeface="Cambria Math" panose="02040503050406030204" pitchFamily="18" charset="0"/>
                          </a:rPr>
                        </m:ctrlPr>
                      </m:dPr>
                      <m:e>
                        <m:r>
                          <a:rPr lang="en-US" sz="1500" b="1" i="1" dirty="0" smtClean="0">
                            <a:latin typeface="Cambria Math" panose="02040503050406030204" pitchFamily="18" charset="0"/>
                          </a:rPr>
                          <m:t>𝒙</m:t>
                        </m:r>
                      </m:e>
                    </m:d>
                    <m:r>
                      <a:rPr lang="en-US" sz="1500" i="1">
                        <a:latin typeface="Cambria Math" panose="02040503050406030204" pitchFamily="18" charset="0"/>
                      </a:rPr>
                      <m:t>=</m:t>
                    </m:r>
                    <m:sSup>
                      <m:sSupPr>
                        <m:ctrlPr>
                          <a:rPr lang="en-US" sz="1500" b="0" i="1" smtClean="0">
                            <a:latin typeface="Cambria Math" panose="02040503050406030204" pitchFamily="18" charset="0"/>
                          </a:rPr>
                        </m:ctrlPr>
                      </m:sSupPr>
                      <m:e>
                        <m:r>
                          <a:rPr lang="en-US" sz="1500" b="0" i="1" smtClean="0">
                            <a:latin typeface="Cambria Math" panose="02040503050406030204" pitchFamily="18" charset="0"/>
                          </a:rPr>
                          <m:t>𝑔</m:t>
                        </m:r>
                      </m:e>
                      <m:sup>
                        <m:r>
                          <a:rPr lang="en-US" sz="1500" b="0" i="1" smtClean="0">
                            <a:latin typeface="Cambria Math" panose="02040503050406030204" pitchFamily="18" charset="0"/>
                          </a:rPr>
                          <m:t>[2]</m:t>
                        </m:r>
                      </m:sup>
                    </m:sSup>
                    <m:d>
                      <m:dPr>
                        <m:ctrlPr>
                          <a:rPr lang="en-US" sz="1500" i="1">
                            <a:latin typeface="Cambria Math" panose="02040503050406030204" pitchFamily="18" charset="0"/>
                          </a:rPr>
                        </m:ctrlPr>
                      </m:dPr>
                      <m:e>
                        <m:sSup>
                          <m:sSupPr>
                            <m:ctrlPr>
                              <a:rPr lang="en-US" sz="1500" b="0" i="1" smtClean="0">
                                <a:latin typeface="Cambria Math" panose="02040503050406030204" pitchFamily="18" charset="0"/>
                              </a:rPr>
                            </m:ctrlPr>
                          </m:sSupPr>
                          <m:e>
                            <m:r>
                              <a:rPr lang="en-US" sz="1500" b="1" i="1" smtClean="0">
                                <a:latin typeface="Cambria Math" panose="02040503050406030204" pitchFamily="18" charset="0"/>
                              </a:rPr>
                              <m:t>𝑾</m:t>
                            </m:r>
                          </m:e>
                          <m:sup>
                            <m:r>
                              <a:rPr lang="en-US" sz="1500" b="0" i="1" smtClean="0">
                                <a:latin typeface="Cambria Math" panose="02040503050406030204" pitchFamily="18" charset="0"/>
                              </a:rPr>
                              <m:t>[2]</m:t>
                            </m:r>
                          </m:sup>
                        </m:sSup>
                        <m:r>
                          <a:rPr lang="en-US" sz="1500" i="1">
                            <a:latin typeface="Cambria Math" panose="02040503050406030204" pitchFamily="18" charset="0"/>
                          </a:rPr>
                          <m:t> </m:t>
                        </m:r>
                        <m:sSup>
                          <m:sSupPr>
                            <m:ctrlPr>
                              <a:rPr lang="en-US" sz="1500" b="0" i="1" smtClean="0">
                                <a:latin typeface="Cambria Math" panose="02040503050406030204" pitchFamily="18" charset="0"/>
                              </a:rPr>
                            </m:ctrlPr>
                          </m:sSupPr>
                          <m:e>
                            <m:r>
                              <a:rPr lang="en-US" sz="1500" b="0" i="1" smtClean="0">
                                <a:latin typeface="Cambria Math" panose="02040503050406030204" pitchFamily="18" charset="0"/>
                              </a:rPr>
                              <m:t>𝑔</m:t>
                            </m:r>
                          </m:e>
                          <m:sup>
                            <m:d>
                              <m:dPr>
                                <m:begChr m:val="["/>
                                <m:endChr m:val="]"/>
                                <m:ctrlPr>
                                  <a:rPr lang="en-US" sz="1500" b="0" i="1" smtClean="0">
                                    <a:latin typeface="Cambria Math" panose="02040503050406030204" pitchFamily="18" charset="0"/>
                                  </a:rPr>
                                </m:ctrlPr>
                              </m:dPr>
                              <m:e>
                                <m:r>
                                  <a:rPr lang="en-US" sz="1500" b="0" i="1" smtClean="0">
                                    <a:latin typeface="Cambria Math" panose="02040503050406030204" pitchFamily="18" charset="0"/>
                                  </a:rPr>
                                  <m:t>1</m:t>
                                </m:r>
                              </m:e>
                            </m:d>
                          </m:sup>
                        </m:sSup>
                        <m:d>
                          <m:dPr>
                            <m:ctrlPr>
                              <a:rPr lang="en-US" sz="1500" b="1" i="1">
                                <a:latin typeface="Cambria Math" panose="02040503050406030204" pitchFamily="18" charset="0"/>
                              </a:rPr>
                            </m:ctrlPr>
                          </m:dPr>
                          <m:e>
                            <m:sSup>
                              <m:sSupPr>
                                <m:ctrlPr>
                                  <a:rPr lang="en-US" sz="1500" b="1" i="1" smtClean="0">
                                    <a:latin typeface="Cambria Math" panose="02040503050406030204" pitchFamily="18" charset="0"/>
                                  </a:rPr>
                                </m:ctrlPr>
                              </m:sSupPr>
                              <m:e>
                                <m:r>
                                  <a:rPr lang="en-US" sz="1500" b="1" i="1" smtClean="0">
                                    <a:latin typeface="Cambria Math" panose="02040503050406030204" pitchFamily="18" charset="0"/>
                                  </a:rPr>
                                  <m:t>𝑾</m:t>
                                </m:r>
                              </m:e>
                              <m:sup>
                                <m:r>
                                  <a:rPr lang="en-US" sz="1500" b="1" i="1" smtClean="0">
                                    <a:latin typeface="Cambria Math" panose="02040503050406030204" pitchFamily="18" charset="0"/>
                                  </a:rPr>
                                  <m:t>[</m:t>
                                </m:r>
                                <m:r>
                                  <a:rPr lang="en-US" sz="1500" b="0" i="1" smtClean="0">
                                    <a:latin typeface="Cambria Math" panose="02040503050406030204" pitchFamily="18" charset="0"/>
                                  </a:rPr>
                                  <m:t>1</m:t>
                                </m:r>
                                <m:r>
                                  <m:rPr>
                                    <m:lit/>
                                  </m:rPr>
                                  <a:rPr lang="en-US" sz="1500" b="0" i="1" smtClean="0">
                                    <a:latin typeface="Cambria Math" panose="02040503050406030204" pitchFamily="18" charset="0"/>
                                  </a:rPr>
                                  <m:t>]</m:t>
                                </m:r>
                              </m:sup>
                            </m:sSup>
                            <m:r>
                              <a:rPr lang="en-US" sz="1500" b="1" i="1">
                                <a:latin typeface="Cambria Math" panose="02040503050406030204" pitchFamily="18" charset="0"/>
                              </a:rPr>
                              <m:t>𝒙</m:t>
                            </m:r>
                          </m:e>
                        </m:d>
                      </m:e>
                    </m:d>
                  </m:oMath>
                </a14:m>
                <a:br>
                  <a:rPr lang="en-US" sz="1500" dirty="0"/>
                </a:br>
                <a:r>
                  <a:rPr lang="en-US" sz="1500" dirty="0"/>
                  <a:t>= a network of weighted sums with non-linear </a:t>
                </a:r>
                <a:r>
                  <a:rPr lang="en-US" sz="1500" b="1" dirty="0"/>
                  <a:t>activation functions </a:t>
                </a:r>
                <a14:m>
                  <m:oMath xmlns:m="http://schemas.openxmlformats.org/officeDocument/2006/math">
                    <m:r>
                      <a:rPr lang="en-US" sz="1500" i="1" dirty="0" smtClean="0">
                        <a:latin typeface="Cambria Math" panose="02040503050406030204" pitchFamily="18" charset="0"/>
                      </a:rPr>
                      <m:t>𝑔</m:t>
                    </m:r>
                    <m:r>
                      <a:rPr lang="en-US" sz="1500" b="0" i="1" dirty="0" smtClean="0">
                        <a:latin typeface="Cambria Math" panose="02040503050406030204" pitchFamily="18" charset="0"/>
                      </a:rPr>
                      <m:t>(⋅)</m:t>
                    </m:r>
                  </m:oMath>
                </a14:m>
                <a:r>
                  <a:rPr lang="en-US" sz="1500" dirty="0"/>
                  <a:t> (e.g., sigmoid, </a:t>
                </a:r>
                <a:r>
                  <a:rPr lang="en-US" sz="1500" dirty="0" err="1"/>
                  <a:t>ReLU</a:t>
                </a:r>
                <a:r>
                  <a:rPr lang="en-US" sz="1500" dirty="0"/>
                  <a:t>).</a:t>
                </a:r>
              </a:p>
              <a:p>
                <a:r>
                  <a:rPr lang="en-US" sz="1500" b="1" dirty="0"/>
                  <a:t>Backpropagation</a:t>
                </a:r>
                <a:r>
                  <a:rPr lang="en-US" sz="1500" dirty="0"/>
                  <a:t>: Learn weight matrices </a:t>
                </a:r>
                <a14:m>
                  <m:oMath xmlns:m="http://schemas.openxmlformats.org/officeDocument/2006/math">
                    <m:r>
                      <a:rPr lang="en-US" sz="1500" b="1" i="1" dirty="0" smtClean="0">
                        <a:latin typeface="Cambria Math" panose="02040503050406030204" pitchFamily="18" charset="0"/>
                      </a:rPr>
                      <m:t>𝑾</m:t>
                    </m:r>
                  </m:oMath>
                </a14:m>
                <a:r>
                  <a:rPr lang="en-US" sz="1500" dirty="0"/>
                  <a:t> from examples using gradient descent. The gradient is calculated with backpropagation of prediction errors </a:t>
                </a:r>
                <a14:m>
                  <m:oMath xmlns:m="http://schemas.openxmlformats.org/officeDocument/2006/math">
                    <m:r>
                      <a:rPr lang="en-US" sz="1500" i="1" dirty="0">
                        <a:latin typeface="Cambria Math" panose="02040503050406030204" pitchFamily="18" charset="0"/>
                      </a:rPr>
                      <m:t>𝐿</m:t>
                    </m:r>
                    <m:r>
                      <a:rPr lang="en-US" sz="1500" b="0" i="0" dirty="0" smtClean="0">
                        <a:latin typeface="Cambria Math" panose="02040503050406030204" pitchFamily="18" charset="0"/>
                      </a:rPr>
                      <m:t>(</m:t>
                    </m:r>
                    <m:acc>
                      <m:accPr>
                        <m:chr m:val="̂"/>
                        <m:ctrlPr>
                          <a:rPr lang="en-US" sz="1500" b="0" i="1" dirty="0" smtClean="0">
                            <a:latin typeface="Cambria Math" panose="02040503050406030204" pitchFamily="18" charset="0"/>
                          </a:rPr>
                        </m:ctrlPr>
                      </m:accPr>
                      <m:e>
                        <m:r>
                          <a:rPr lang="en-US" sz="1500" b="0" i="1" dirty="0" smtClean="0">
                            <a:latin typeface="Cambria Math" panose="02040503050406030204" pitchFamily="18" charset="0"/>
                          </a:rPr>
                          <m:t>𝑦</m:t>
                        </m:r>
                      </m:e>
                    </m:acc>
                    <m:r>
                      <a:rPr lang="en-US" sz="1500" b="0" i="1" dirty="0" smtClean="0">
                        <a:latin typeface="Cambria Math" panose="02040503050406030204" pitchFamily="18" charset="0"/>
                      </a:rPr>
                      <m:t>, </m:t>
                    </m:r>
                    <m:r>
                      <a:rPr lang="en-US" sz="1500" b="0" i="1" dirty="0" smtClean="0">
                        <a:latin typeface="Cambria Math" panose="02040503050406030204" pitchFamily="18" charset="0"/>
                      </a:rPr>
                      <m:t>𝑦</m:t>
                    </m:r>
                    <m:r>
                      <a:rPr lang="en-US" sz="1500" b="0" i="1" dirty="0" smtClean="0">
                        <a:latin typeface="Cambria Math" panose="02040503050406030204" pitchFamily="18" charset="0"/>
                      </a:rPr>
                      <m:t>)</m:t>
                    </m:r>
                  </m:oMath>
                </a14:m>
                <a:r>
                  <a:rPr lang="en-US" sz="1500" dirty="0"/>
                  <a:t>.</a:t>
                </a:r>
              </a:p>
              <a:p>
                <a:r>
                  <a:rPr lang="en-US" sz="1500" b="1" dirty="0"/>
                  <a:t>Universal Approximator</a:t>
                </a:r>
                <a:r>
                  <a:rPr lang="en-US" sz="1500" dirty="0"/>
                  <a:t>: MLPs with non-linear activation function for the hidden layer are universal approximators (large networks can approximate any function, i.e., have no bias). </a:t>
                </a:r>
                <a:r>
                  <a:rPr lang="en-US" sz="1500" b="1" dirty="0"/>
                  <a:t>Regularization</a:t>
                </a:r>
                <a:r>
                  <a:rPr lang="en-US" sz="1500" dirty="0"/>
                  <a:t> is typically needed to avoid overfitting.</a:t>
                </a:r>
              </a:p>
            </p:txBody>
          </p:sp>
        </mc:Choice>
        <mc:Fallback>
          <p:sp>
            <p:nvSpPr>
              <p:cNvPr id="3" name="Content Placeholder 2">
                <a:extLst>
                  <a:ext uri="{FF2B5EF4-FFF2-40B4-BE49-F238E27FC236}">
                    <a16:creationId xmlns:a16="http://schemas.microsoft.com/office/drawing/2014/main" id="{85970AAE-D0C1-4D69-AE5D-06F79663B2E1}"/>
                  </a:ext>
                </a:extLst>
              </p:cNvPr>
              <p:cNvSpPr>
                <a:spLocks noGrp="1" noRot="1" noChangeAspect="1" noMove="1" noResize="1" noEditPoints="1" noAdjustHandles="1" noChangeArrowheads="1" noChangeShapeType="1" noTextEdit="1"/>
              </p:cNvSpPr>
              <p:nvPr>
                <p:ph idx="1"/>
              </p:nvPr>
            </p:nvSpPr>
            <p:spPr>
              <a:xfrm>
                <a:off x="8229600" y="1452988"/>
                <a:ext cx="3463974" cy="5143073"/>
              </a:xfrm>
              <a:blipFill>
                <a:blip r:embed="rId4"/>
                <a:stretch>
                  <a:fillRect l="-528" t="-592" r="-704"/>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29E56341-A356-BD0B-2B28-DCEA6620EAE6}"/>
              </a:ext>
            </a:extLst>
          </p:cNvPr>
          <p:cNvSpPr txBox="1"/>
          <p:nvPr/>
        </p:nvSpPr>
        <p:spPr>
          <a:xfrm>
            <a:off x="511753" y="1104517"/>
            <a:ext cx="2590800" cy="369332"/>
          </a:xfrm>
          <a:prstGeom prst="rect">
            <a:avLst/>
          </a:prstGeom>
          <a:noFill/>
        </p:spPr>
        <p:txBody>
          <a:bodyPr wrap="square" rtlCol="0">
            <a:spAutoFit/>
          </a:bodyPr>
          <a:lstStyle/>
          <a:p>
            <a:pPr algn="ctr"/>
            <a:r>
              <a:rPr lang="en-US" b="1" dirty="0"/>
              <a:t>Network Topology</a:t>
            </a:r>
          </a:p>
        </p:txBody>
      </p:sp>
      <mc:AlternateContent xmlns:mc="http://schemas.openxmlformats.org/markup-compatibility/2006">
        <mc:Choice xmlns:a14="http://schemas.microsoft.com/office/drawing/2010/main" Requires="a14">
          <p:sp>
            <p:nvSpPr>
              <p:cNvPr id="14" name="Speech Bubble: Rectangle 13">
                <a:extLst>
                  <a:ext uri="{FF2B5EF4-FFF2-40B4-BE49-F238E27FC236}">
                    <a16:creationId xmlns:a16="http://schemas.microsoft.com/office/drawing/2014/main" id="{52ECC6E1-4A8F-8EF9-32E5-F4AB2AA7DFAE}"/>
                  </a:ext>
                </a:extLst>
              </p:cNvPr>
              <p:cNvSpPr/>
              <p:nvPr/>
            </p:nvSpPr>
            <p:spPr>
              <a:xfrm>
                <a:off x="6629400" y="1841112"/>
                <a:ext cx="1600200" cy="553868"/>
              </a:xfrm>
              <a:prstGeom prst="wedgeRectCallout">
                <a:avLst>
                  <a:gd name="adj1" fmla="val 73497"/>
                  <a:gd name="adj2" fmla="val 126105"/>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100" dirty="0"/>
                  <a:t>Superscript </a:t>
                </a:r>
                <a14:m>
                  <m:oMath xmlns:m="http://schemas.openxmlformats.org/officeDocument/2006/math">
                    <m:r>
                      <a:rPr lang="en-US" sz="1100" i="1" dirty="0" smtClean="0">
                        <a:latin typeface="Cambria Math" panose="02040503050406030204" pitchFamily="18" charset="0"/>
                      </a:rPr>
                      <m:t>[</m:t>
                    </m:r>
                    <m:r>
                      <a:rPr lang="en-US" sz="1100" i="1" dirty="0" smtClean="0">
                        <a:latin typeface="Cambria Math" panose="02040503050406030204" pitchFamily="18" charset="0"/>
                      </a:rPr>
                      <m:t>𝑛</m:t>
                    </m:r>
                    <m:r>
                      <a:rPr lang="en-US" sz="1100" i="1" dirty="0" smtClean="0">
                        <a:latin typeface="Cambria Math" panose="02040503050406030204" pitchFamily="18" charset="0"/>
                      </a:rPr>
                      <m:t>] </m:t>
                    </m:r>
                  </m:oMath>
                </a14:m>
                <a:r>
                  <a:rPr lang="en-US" sz="1100" dirty="0"/>
                  <a:t>means the layer. Layer weights are collected in a matrix.</a:t>
                </a:r>
              </a:p>
            </p:txBody>
          </p:sp>
        </mc:Choice>
        <mc:Fallback>
          <p:sp>
            <p:nvSpPr>
              <p:cNvPr id="14" name="Speech Bubble: Rectangle 13">
                <a:extLst>
                  <a:ext uri="{FF2B5EF4-FFF2-40B4-BE49-F238E27FC236}">
                    <a16:creationId xmlns:a16="http://schemas.microsoft.com/office/drawing/2014/main" id="{52ECC6E1-4A8F-8EF9-32E5-F4AB2AA7DFAE}"/>
                  </a:ext>
                </a:extLst>
              </p:cNvPr>
              <p:cNvSpPr>
                <a:spLocks noRot="1" noChangeAspect="1" noMove="1" noResize="1" noEditPoints="1" noAdjustHandles="1" noChangeArrowheads="1" noChangeShapeType="1" noTextEdit="1"/>
              </p:cNvSpPr>
              <p:nvPr/>
            </p:nvSpPr>
            <p:spPr>
              <a:xfrm>
                <a:off x="6629400" y="1841112"/>
                <a:ext cx="1600200" cy="553868"/>
              </a:xfrm>
              <a:prstGeom prst="wedgeRectCallout">
                <a:avLst>
                  <a:gd name="adj1" fmla="val 73497"/>
                  <a:gd name="adj2" fmla="val 126105"/>
                </a:avLst>
              </a:prstGeom>
              <a:blipFill>
                <a:blip r:embed="rId5"/>
                <a:stretch>
                  <a:fillRect t="-1205"/>
                </a:stretch>
              </a:blipFill>
            </p:spPr>
            <p:txBody>
              <a:bodyPr/>
              <a:lstStyle/>
              <a:p>
                <a:r>
                  <a:rPr lang="en-US">
                    <a:noFill/>
                  </a:rPr>
                  <a:t> </a:t>
                </a:r>
              </a:p>
            </p:txBody>
          </p:sp>
        </mc:Fallback>
      </mc:AlternateContent>
    </p:spTree>
    <p:extLst>
      <p:ext uri="{BB962C8B-B14F-4D97-AF65-F5344CB8AC3E}">
        <p14:creationId xmlns:p14="http://schemas.microsoft.com/office/powerpoint/2010/main" val="4045130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9B699-4770-F2A9-8F3F-E04785848215}"/>
              </a:ext>
            </a:extLst>
          </p:cNvPr>
          <p:cNvSpPr>
            <a:spLocks noGrp="1"/>
          </p:cNvSpPr>
          <p:nvPr>
            <p:ph type="title"/>
          </p:nvPr>
        </p:nvSpPr>
        <p:spPr/>
        <p:txBody>
          <a:bodyPr/>
          <a:lstStyle/>
          <a:p>
            <a:r>
              <a:rPr lang="en-US" dirty="0"/>
              <a:t>Deep Learning</a:t>
            </a:r>
          </a:p>
        </p:txBody>
      </p:sp>
      <p:sp>
        <p:nvSpPr>
          <p:cNvPr id="3" name="Content Placeholder 2">
            <a:extLst>
              <a:ext uri="{FF2B5EF4-FFF2-40B4-BE49-F238E27FC236}">
                <a16:creationId xmlns:a16="http://schemas.microsoft.com/office/drawing/2014/main" id="{5E1AD9EF-A989-3ECB-4C9E-4FB8F0327ACF}"/>
              </a:ext>
            </a:extLst>
          </p:cNvPr>
          <p:cNvSpPr>
            <a:spLocks noGrp="1"/>
          </p:cNvSpPr>
          <p:nvPr>
            <p:ph idx="1"/>
          </p:nvPr>
        </p:nvSpPr>
        <p:spPr>
          <a:xfrm>
            <a:off x="838200" y="1475545"/>
            <a:ext cx="10515600" cy="1325562"/>
          </a:xfrm>
        </p:spPr>
        <p:txBody>
          <a:bodyPr>
            <a:normAutofit fontScale="47500" lnSpcReduction="20000"/>
          </a:bodyPr>
          <a:lstStyle/>
          <a:p>
            <a:r>
              <a:rPr lang="en-US" dirty="0"/>
              <a:t>Extends MLPs with </a:t>
            </a:r>
            <a:r>
              <a:rPr lang="en-US" b="1" dirty="0"/>
              <a:t>several hidden layers.</a:t>
            </a:r>
          </a:p>
          <a:p>
            <a:r>
              <a:rPr lang="en-US" dirty="0"/>
              <a:t>Introduces </a:t>
            </a:r>
            <a:r>
              <a:rPr lang="en-US" b="1" dirty="0"/>
              <a:t>layer types </a:t>
            </a:r>
            <a:r>
              <a:rPr lang="en-US" dirty="0"/>
              <a:t>(e.g., convolution layers) for more efficient learning.</a:t>
            </a:r>
          </a:p>
          <a:p>
            <a:r>
              <a:rPr lang="en-US" b="1" dirty="0"/>
              <a:t>End-to-end learning</a:t>
            </a:r>
            <a:r>
              <a:rPr lang="en-US" dirty="0"/>
              <a:t>: The hidden layers perform “automatic feature engineering” and support transfer learning.</a:t>
            </a:r>
          </a:p>
          <a:p>
            <a:pPr marL="0" indent="0">
              <a:buNone/>
            </a:pPr>
            <a:endParaRPr lang="en-US" dirty="0"/>
          </a:p>
          <a:p>
            <a:pPr marL="0" indent="0">
              <a:buNone/>
            </a:pPr>
            <a:r>
              <a:rPr lang="en-US" b="1" dirty="0"/>
              <a:t>Example</a:t>
            </a:r>
            <a:r>
              <a:rPr lang="en-US" dirty="0"/>
              <a:t>: A deep ANN to play Classic Atari Breakout (1978)</a:t>
            </a:r>
          </a:p>
          <a:p>
            <a:pPr marL="0" indent="0">
              <a:buNone/>
            </a:pPr>
            <a:endParaRPr lang="en-US" dirty="0"/>
          </a:p>
        </p:txBody>
      </p:sp>
      <p:grpSp>
        <p:nvGrpSpPr>
          <p:cNvPr id="10" name="Group 9">
            <a:extLst>
              <a:ext uri="{FF2B5EF4-FFF2-40B4-BE49-F238E27FC236}">
                <a16:creationId xmlns:a16="http://schemas.microsoft.com/office/drawing/2014/main" id="{611305A4-B3E5-F322-0538-62DD4F093355}"/>
              </a:ext>
            </a:extLst>
          </p:cNvPr>
          <p:cNvGrpSpPr/>
          <p:nvPr/>
        </p:nvGrpSpPr>
        <p:grpSpPr>
          <a:xfrm>
            <a:off x="990600" y="2875847"/>
            <a:ext cx="9942319" cy="3677353"/>
            <a:chOff x="990600" y="2987854"/>
            <a:chExt cx="9942319" cy="3677353"/>
          </a:xfrm>
        </p:grpSpPr>
        <p:pic>
          <p:nvPicPr>
            <p:cNvPr id="1026" name="Picture 2" descr="Convolutional_NN 3">
              <a:extLst>
                <a:ext uri="{FF2B5EF4-FFF2-40B4-BE49-F238E27FC236}">
                  <a16:creationId xmlns:a16="http://schemas.microsoft.com/office/drawing/2014/main" id="{5ADCBD79-8DAD-479E-37E5-5F3FB611FB3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14800" y="2987854"/>
              <a:ext cx="4491038" cy="341720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B9453A1E-6BB2-1E5B-5D32-BDD6CEFC3125}"/>
                </a:ext>
              </a:extLst>
            </p:cNvPr>
            <p:cNvSpPr txBox="1"/>
            <p:nvPr/>
          </p:nvSpPr>
          <p:spPr>
            <a:xfrm>
              <a:off x="2607730" y="6403597"/>
              <a:ext cx="7391807" cy="261610"/>
            </a:xfrm>
            <a:prstGeom prst="rect">
              <a:avLst/>
            </a:prstGeom>
            <a:noFill/>
          </p:spPr>
          <p:txBody>
            <a:bodyPr wrap="square">
              <a:spAutoFit/>
            </a:bodyPr>
            <a:lstStyle/>
            <a:p>
              <a:pPr algn="ctr"/>
              <a:r>
                <a:rPr lang="en-US" sz="1100" dirty="0"/>
                <a:t>Source: </a:t>
              </a:r>
              <a:r>
                <a:rPr lang="en-US" sz="1100" dirty="0">
                  <a:hlinkClick r:id="rId3"/>
                </a:rPr>
                <a:t>https://robohub.org/artificial-general-intelligence-that-plays-atari-video-games-how-did-deepmind-do-it/</a:t>
              </a:r>
              <a:r>
                <a:rPr lang="en-US" sz="1100" dirty="0"/>
                <a:t> </a:t>
              </a:r>
            </a:p>
          </p:txBody>
        </p:sp>
        <p:pic>
          <p:nvPicPr>
            <p:cNvPr id="1030" name="Picture 6" descr="Atari CX40 joystick - Wikipedia">
              <a:extLst>
                <a:ext uri="{FF2B5EF4-FFF2-40B4-BE49-F238E27FC236}">
                  <a16:creationId xmlns:a16="http://schemas.microsoft.com/office/drawing/2014/main" id="{CDA4C143-D957-2586-E284-8E018FAED35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445635" y="4163055"/>
              <a:ext cx="1033462" cy="1066800"/>
            </a:xfrm>
            <a:prstGeom prst="rect">
              <a:avLst/>
            </a:prstGeom>
            <a:noFill/>
            <a:extLst>
              <a:ext uri="{909E8E84-426E-40DD-AFC4-6F175D3DCCD1}">
                <a14:hiddenFill xmlns:a14="http://schemas.microsoft.com/office/drawing/2010/main">
                  <a:solidFill>
                    <a:srgbClr val="FFFFFF"/>
                  </a:solidFill>
                </a14:hiddenFill>
              </a:ext>
            </a:extLst>
          </p:spPr>
        </p:pic>
        <p:sp>
          <p:nvSpPr>
            <p:cNvPr id="6" name="Arrow: Right 5">
              <a:extLst>
                <a:ext uri="{FF2B5EF4-FFF2-40B4-BE49-F238E27FC236}">
                  <a16:creationId xmlns:a16="http://schemas.microsoft.com/office/drawing/2014/main" id="{DECDA8BF-D112-8C0D-6B8C-3A2F41631A39}"/>
                </a:ext>
              </a:extLst>
            </p:cNvPr>
            <p:cNvSpPr/>
            <p:nvPr/>
          </p:nvSpPr>
          <p:spPr>
            <a:xfrm>
              <a:off x="3386138" y="4239255"/>
              <a:ext cx="762000" cy="914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Arrow: Right 6">
              <a:extLst>
                <a:ext uri="{FF2B5EF4-FFF2-40B4-BE49-F238E27FC236}">
                  <a16:creationId xmlns:a16="http://schemas.microsoft.com/office/drawing/2014/main" id="{15260B91-9AE5-8437-9B3F-58C23833A0F1}"/>
                </a:ext>
              </a:extLst>
            </p:cNvPr>
            <p:cNvSpPr/>
            <p:nvPr/>
          </p:nvSpPr>
          <p:spPr>
            <a:xfrm>
              <a:off x="8382000" y="4239255"/>
              <a:ext cx="762000" cy="914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32" name="Picture 8" descr="Breakout (Breakaway IV) – October 1978 | Atari Archive">
              <a:extLst>
                <a:ext uri="{FF2B5EF4-FFF2-40B4-BE49-F238E27FC236}">
                  <a16:creationId xmlns:a16="http://schemas.microsoft.com/office/drawing/2014/main" id="{71FDAB80-A12D-088D-8E38-AD218A9A5D3F}"/>
                </a:ext>
              </a:extLst>
            </p:cNvPr>
            <p:cNvPicPr>
              <a:picLocks noChangeAspect="1" noChangeArrowheads="1"/>
            </p:cNvPicPr>
            <p:nvPr/>
          </p:nvPicPr>
          <p:blipFill>
            <a:blip r:embed="rId5" cstate="print">
              <a:extLst>
                <a:ext uri="{BEBA8EAE-BF5A-486C-A8C5-ECC9F3942E4B}">
                  <a14:imgProps xmlns:a14="http://schemas.microsoft.com/office/drawing/2010/main">
                    <a14:imgLayer r:embed="rId6">
                      <a14:imgEffect>
                        <a14:brightnessContrast contrast="-40000"/>
                      </a14:imgEffect>
                    </a14:imgLayer>
                  </a14:imgProps>
                </a:ext>
                <a:ext uri="{28A0092B-C50C-407E-A947-70E740481C1C}">
                  <a14:useLocalDpi xmlns:a14="http://schemas.microsoft.com/office/drawing/2010/main" val="0"/>
                </a:ext>
              </a:extLst>
            </a:blip>
            <a:srcRect/>
            <a:stretch>
              <a:fillRect/>
            </a:stretch>
          </p:blipFill>
          <p:spPr bwMode="auto">
            <a:xfrm>
              <a:off x="1232690" y="3983564"/>
              <a:ext cx="1733550" cy="142578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4503707F-E44A-F38A-2A8F-0F489817CB73}"/>
                </a:ext>
              </a:extLst>
            </p:cNvPr>
            <p:cNvSpPr txBox="1"/>
            <p:nvPr/>
          </p:nvSpPr>
          <p:spPr>
            <a:xfrm>
              <a:off x="990600" y="5426660"/>
              <a:ext cx="2133600" cy="369332"/>
            </a:xfrm>
            <a:prstGeom prst="rect">
              <a:avLst/>
            </a:prstGeom>
            <a:noFill/>
          </p:spPr>
          <p:txBody>
            <a:bodyPr wrap="square" rtlCol="0">
              <a:spAutoFit/>
            </a:bodyPr>
            <a:lstStyle/>
            <a:p>
              <a:r>
                <a:rPr lang="en-US" dirty="0"/>
                <a:t>Input features: Pixels</a:t>
              </a:r>
            </a:p>
          </p:txBody>
        </p:sp>
        <p:sp>
          <p:nvSpPr>
            <p:cNvPr id="9" name="TextBox 8">
              <a:extLst>
                <a:ext uri="{FF2B5EF4-FFF2-40B4-BE49-F238E27FC236}">
                  <a16:creationId xmlns:a16="http://schemas.microsoft.com/office/drawing/2014/main" id="{1A020909-1ED5-0C5F-9D03-CA9B28106AE8}"/>
                </a:ext>
              </a:extLst>
            </p:cNvPr>
            <p:cNvSpPr txBox="1"/>
            <p:nvPr/>
          </p:nvSpPr>
          <p:spPr>
            <a:xfrm>
              <a:off x="9218419" y="5218438"/>
              <a:ext cx="1714500" cy="369332"/>
            </a:xfrm>
            <a:prstGeom prst="rect">
              <a:avLst/>
            </a:prstGeom>
            <a:noFill/>
          </p:spPr>
          <p:txBody>
            <a:bodyPr wrap="square" rtlCol="0">
              <a:spAutoFit/>
            </a:bodyPr>
            <a:lstStyle/>
            <a:p>
              <a:r>
                <a:rPr lang="en-US" dirty="0"/>
                <a:t>Output: Actions</a:t>
              </a:r>
            </a:p>
          </p:txBody>
        </p:sp>
      </p:grpSp>
    </p:spTree>
    <p:extLst>
      <p:ext uri="{BB962C8B-B14F-4D97-AF65-F5344CB8AC3E}">
        <p14:creationId xmlns:p14="http://schemas.microsoft.com/office/powerpoint/2010/main" val="16689257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8831CE-DF87-67E9-77D1-77180DEFF9A8}"/>
              </a:ext>
            </a:extLst>
          </p:cNvPr>
          <p:cNvSpPr>
            <a:spLocks noGrp="1"/>
          </p:cNvSpPr>
          <p:nvPr>
            <p:ph type="title"/>
          </p:nvPr>
        </p:nvSpPr>
        <p:spPr/>
        <p:txBody>
          <a:bodyPr>
            <a:normAutofit/>
          </a:bodyPr>
          <a:lstStyle/>
          <a:p>
            <a:r>
              <a:rPr lang="en-US" sz="4000" dirty="0"/>
              <a:t>Typical Use of Supervised ML for Intelligent Agents</a:t>
            </a:r>
          </a:p>
        </p:txBody>
      </p:sp>
      <p:grpSp>
        <p:nvGrpSpPr>
          <p:cNvPr id="14" name="Group 13">
            <a:extLst>
              <a:ext uri="{FF2B5EF4-FFF2-40B4-BE49-F238E27FC236}">
                <a16:creationId xmlns:a16="http://schemas.microsoft.com/office/drawing/2014/main" id="{FBFC95B7-AC72-42AE-3403-738C2835427B}"/>
              </a:ext>
            </a:extLst>
          </p:cNvPr>
          <p:cNvGrpSpPr/>
          <p:nvPr/>
        </p:nvGrpSpPr>
        <p:grpSpPr>
          <a:xfrm>
            <a:off x="842153" y="1571075"/>
            <a:ext cx="2377306" cy="4104787"/>
            <a:chOff x="842153" y="1571075"/>
            <a:chExt cx="2377306" cy="4104787"/>
          </a:xfrm>
        </p:grpSpPr>
        <p:sp>
          <p:nvSpPr>
            <p:cNvPr id="5" name="Freeform: Shape 4">
              <a:extLst>
                <a:ext uri="{FF2B5EF4-FFF2-40B4-BE49-F238E27FC236}">
                  <a16:creationId xmlns:a16="http://schemas.microsoft.com/office/drawing/2014/main" id="{A48D9C77-C23F-3D28-1270-0C165C201163}"/>
                </a:ext>
              </a:extLst>
            </p:cNvPr>
            <p:cNvSpPr/>
            <p:nvPr/>
          </p:nvSpPr>
          <p:spPr>
            <a:xfrm>
              <a:off x="842153"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2">
                <a:hueOff val="0"/>
                <a:satOff val="0"/>
                <a:lumOff val="0"/>
                <a:alphaOff val="0"/>
              </a:schemeClr>
            </a:lnRef>
            <a:fillRef idx="3">
              <a:schemeClr val="accent2">
                <a:hueOff val="0"/>
                <a:satOff val="0"/>
                <a:lumOff val="0"/>
                <a:alphaOff val="0"/>
              </a:schemeClr>
            </a:fillRef>
            <a:effectRef idx="2">
              <a:schemeClr val="accent2">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Learn a Policy</a:t>
              </a:r>
            </a:p>
          </p:txBody>
        </p:sp>
        <mc:AlternateContent xmlns:mc="http://schemas.openxmlformats.org/markup-compatibility/2006" xmlns:a14="http://schemas.microsoft.com/office/drawing/2010/main">
          <mc:Choice Requires="a14">
            <p:sp>
              <p:nvSpPr>
                <p:cNvPr id="7" name="Freeform: Shape 6">
                  <a:extLst>
                    <a:ext uri="{FF2B5EF4-FFF2-40B4-BE49-F238E27FC236}">
                      <a16:creationId xmlns:a16="http://schemas.microsoft.com/office/drawing/2014/main" id="{C495EC0E-13F8-DBF8-EED0-131A05D44445}"/>
                    </a:ext>
                  </a:extLst>
                </p:cNvPr>
                <p:cNvSpPr/>
                <p:nvPr/>
              </p:nvSpPr>
              <p:spPr>
                <a:xfrm>
                  <a:off x="842153"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Classification: Directly learn the best action for each state from examples. </a:t>
                  </a:r>
                  <a:br>
                    <a:rPr lang="en-US" sz="1600" kern="1200" dirty="0"/>
                  </a:br>
                  <a:endParaRPr lang="en-US" sz="1600" kern="1200" dirty="0"/>
                </a:p>
                <a:p>
                  <a:pPr marL="171450" lvl="1" indent="-171450" algn="ctr" defTabSz="711200">
                    <a:lnSpc>
                      <a:spcPct val="90000"/>
                    </a:lnSpc>
                    <a:spcBef>
                      <a:spcPct val="0"/>
                    </a:spcBef>
                    <a:spcAft>
                      <a:spcPct val="15000"/>
                    </a:spcAft>
                    <a:buNone/>
                  </a:pPr>
                  <a14:m>
                    <m:oMathPara xmlns:m="http://schemas.openxmlformats.org/officeDocument/2006/math">
                      <m:oMathParaPr>
                        <m:jc m:val="centerGroup"/>
                      </m:oMathParaPr>
                      <m:oMath xmlns:m="http://schemas.openxmlformats.org/officeDocument/2006/math">
                        <m:r>
                          <a:rPr lang="en-US" sz="1400" b="0" i="1" kern="1200" smtClean="0">
                            <a:latin typeface="Cambria Math" panose="02040503050406030204" pitchFamily="18" charset="0"/>
                          </a:rPr>
                          <m:t>𝑎</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h</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𝑠𝑡𝑎𝑡𝑒</m:t>
                        </m:r>
                        <m:r>
                          <a:rPr lang="en-US" sz="1400" b="0" i="1" kern="1200" smtClean="0">
                            <a:latin typeface="Cambria Math" panose="02040503050406030204" pitchFamily="18" charset="0"/>
                          </a:rPr>
                          <m:t> </m:t>
                        </m:r>
                        <m:r>
                          <a:rPr lang="en-US" sz="1400" b="0" i="1" kern="1200" smtClean="0">
                            <a:latin typeface="Cambria Math" panose="02040503050406030204" pitchFamily="18" charset="0"/>
                          </a:rPr>
                          <m:t>𝑓𝑒𝑎𝑡𝑢𝑟𝑒𝑠</m:t>
                        </m:r>
                        <m:r>
                          <a:rPr lang="en-US" sz="1400" b="0" i="1" kern="1200" smtClean="0">
                            <a:latin typeface="Cambria Math" panose="02040503050406030204" pitchFamily="18" charset="0"/>
                          </a:rPr>
                          <m:t>)</m:t>
                        </m:r>
                      </m:oMath>
                    </m:oMathPara>
                  </a14:m>
                  <a:endParaRPr lang="en-US" sz="1600" kern="1200" dirty="0"/>
                </a:p>
                <a:p>
                  <a:pPr marL="0" lvl="1" algn="l" defTabSz="711200">
                    <a:lnSpc>
                      <a:spcPct val="90000"/>
                    </a:lnSpc>
                    <a:spcBef>
                      <a:spcPct val="0"/>
                    </a:spcBef>
                    <a:spcAft>
                      <a:spcPct val="15000"/>
                    </a:spcAft>
                  </a:pPr>
                  <a:endParaRPr lang="en-US" sz="1600" kern="1200" dirty="0"/>
                </a:p>
                <a:p>
                  <a:pPr marL="171450" lvl="1" indent="-171450" algn="l" defTabSz="711200">
                    <a:lnSpc>
                      <a:spcPct val="90000"/>
                    </a:lnSpc>
                    <a:spcBef>
                      <a:spcPct val="0"/>
                    </a:spcBef>
                    <a:spcAft>
                      <a:spcPct val="15000"/>
                    </a:spcAft>
                    <a:buFont typeface="Arial" panose="020B0604020202020204" pitchFamily="34" charset="0"/>
                    <a:buChar char="•"/>
                  </a:pPr>
                  <a:r>
                    <a:rPr lang="en-US" sz="1600" kern="1200" dirty="0"/>
                    <a:t>This model can also be used as a </a:t>
                  </a:r>
                  <a:r>
                    <a:rPr lang="en-US" sz="1600" b="1" kern="1200" dirty="0"/>
                    <a:t>playout policy </a:t>
                  </a:r>
                  <a:r>
                    <a:rPr lang="en-US" sz="1600" kern="1200" dirty="0"/>
                    <a:t>for Monte Carlo tree search with data from self-play. </a:t>
                  </a:r>
                </a:p>
              </p:txBody>
            </p:sp>
          </mc:Choice>
          <mc:Fallback xmlns="">
            <p:sp>
              <p:nvSpPr>
                <p:cNvPr id="7" name="Freeform: Shape 6">
                  <a:extLst>
                    <a:ext uri="{FF2B5EF4-FFF2-40B4-BE49-F238E27FC236}">
                      <a16:creationId xmlns:a16="http://schemas.microsoft.com/office/drawing/2014/main" id="{C495EC0E-13F8-DBF8-EED0-131A05D44445}"/>
                    </a:ext>
                  </a:extLst>
                </p:cNvPr>
                <p:cNvSpPr>
                  <a:spLocks noRot="1" noChangeAspect="1" noMove="1" noResize="1" noEditPoints="1" noAdjustHandles="1" noChangeArrowheads="1" noChangeShapeType="1" noTextEdit="1"/>
                </p:cNvSpPr>
                <p:nvPr/>
              </p:nvSpPr>
              <p:spPr>
                <a:xfrm>
                  <a:off x="842153"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a:blipFill>
                  <a:blip r:embed="rId2"/>
                  <a:stretch>
                    <a:fillRect l="-1535" r="-1535"/>
                  </a:stretch>
                </a:blipFill>
              </p:spPr>
              <p:txBody>
                <a:bodyPr/>
                <a:lstStyle/>
                <a:p>
                  <a:r>
                    <a:rPr lang="en-US">
                      <a:noFill/>
                    </a:rPr>
                    <a:t> </a:t>
                  </a:r>
                </a:p>
              </p:txBody>
            </p:sp>
          </mc:Fallback>
        </mc:AlternateContent>
      </p:grpSp>
      <p:grpSp>
        <p:nvGrpSpPr>
          <p:cNvPr id="15" name="Group 14">
            <a:extLst>
              <a:ext uri="{FF2B5EF4-FFF2-40B4-BE49-F238E27FC236}">
                <a16:creationId xmlns:a16="http://schemas.microsoft.com/office/drawing/2014/main" id="{8CCA252A-7EE5-13D9-E16C-088C229D51D2}"/>
              </a:ext>
            </a:extLst>
          </p:cNvPr>
          <p:cNvGrpSpPr/>
          <p:nvPr/>
        </p:nvGrpSpPr>
        <p:grpSpPr>
          <a:xfrm>
            <a:off x="3552282" y="1571075"/>
            <a:ext cx="2377306" cy="4104787"/>
            <a:chOff x="3552282" y="1571075"/>
            <a:chExt cx="2377306" cy="4104787"/>
          </a:xfrm>
        </p:grpSpPr>
        <p:sp>
          <p:nvSpPr>
            <p:cNvPr id="8" name="Freeform: Shape 7">
              <a:extLst>
                <a:ext uri="{FF2B5EF4-FFF2-40B4-BE49-F238E27FC236}">
                  <a16:creationId xmlns:a16="http://schemas.microsoft.com/office/drawing/2014/main" id="{AAF9D36A-2AD4-9DAC-B437-CFD4B4B3BA4A}"/>
                </a:ext>
              </a:extLst>
            </p:cNvPr>
            <p:cNvSpPr/>
            <p:nvPr/>
          </p:nvSpPr>
          <p:spPr>
            <a:xfrm>
              <a:off x="3552282"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3">
                <a:hueOff val="0"/>
                <a:satOff val="0"/>
                <a:lumOff val="0"/>
                <a:alphaOff val="0"/>
              </a:schemeClr>
            </a:lnRef>
            <a:fillRef idx="3">
              <a:schemeClr val="accent3">
                <a:hueOff val="0"/>
                <a:satOff val="0"/>
                <a:lumOff val="0"/>
                <a:alphaOff val="0"/>
              </a:schemeClr>
            </a:fillRef>
            <a:effectRef idx="2">
              <a:schemeClr val="accent3">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Learn Evaluation Functions</a:t>
              </a:r>
            </a:p>
          </p:txBody>
        </p:sp>
        <mc:AlternateContent xmlns:mc="http://schemas.openxmlformats.org/markup-compatibility/2006" xmlns:a14="http://schemas.microsoft.com/office/drawing/2010/main">
          <mc:Choice Requires="a14">
            <p:sp>
              <p:nvSpPr>
                <p:cNvPr id="9" name="Freeform: Shape 8">
                  <a:extLst>
                    <a:ext uri="{FF2B5EF4-FFF2-40B4-BE49-F238E27FC236}">
                      <a16:creationId xmlns:a16="http://schemas.microsoft.com/office/drawing/2014/main" id="{F92DA4CB-84F6-D4AA-448C-800D1FC31E4B}"/>
                    </a:ext>
                  </a:extLst>
                </p:cNvPr>
                <p:cNvSpPr/>
                <p:nvPr/>
              </p:nvSpPr>
              <p:spPr>
                <a:xfrm>
                  <a:off x="3552282"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Regression: Learn evaluation functions to estimate state utilities. </a:t>
                  </a:r>
                </a:p>
                <a:p>
                  <a:pPr marL="171450" lvl="1" indent="-171450" algn="l" defTabSz="711200">
                    <a:lnSpc>
                      <a:spcPct val="90000"/>
                    </a:lnSpc>
                    <a:spcBef>
                      <a:spcPct val="0"/>
                    </a:spcBef>
                    <a:spcAft>
                      <a:spcPct val="15000"/>
                    </a:spcAft>
                    <a:buChar char="•"/>
                  </a:pPr>
                  <a:endParaRPr lang="en-US" sz="1600" kern="1200" dirty="0"/>
                </a:p>
                <a:p>
                  <a:pPr marL="171450" lvl="1" indent="-171450" algn="l" defTabSz="711200">
                    <a:lnSpc>
                      <a:spcPct val="90000"/>
                    </a:lnSpc>
                    <a:spcBef>
                      <a:spcPct val="0"/>
                    </a:spcBef>
                    <a:spcAft>
                      <a:spcPct val="15000"/>
                    </a:spcAft>
                    <a:buNone/>
                  </a:pPr>
                  <a14:m>
                    <m:oMathPara xmlns:m="http://schemas.openxmlformats.org/officeDocument/2006/math">
                      <m:oMathParaPr>
                        <m:jc m:val="centerGroup"/>
                      </m:oMathParaPr>
                      <m:oMath xmlns:m="http://schemas.openxmlformats.org/officeDocument/2006/math">
                        <m:r>
                          <a:rPr lang="en-US" sz="1400" b="0" i="1" kern="1200" smtClean="0">
                            <a:latin typeface="Cambria Math" panose="02040503050406030204" pitchFamily="18" charset="0"/>
                          </a:rPr>
                          <m:t>𝑒𝑣𝑎𝑙</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h</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𝑠𝑡𝑎𝑡𝑒</m:t>
                        </m:r>
                        <m:r>
                          <a:rPr lang="en-US" sz="1400" b="0" i="1" kern="1200" smtClean="0">
                            <a:latin typeface="Cambria Math" panose="02040503050406030204" pitchFamily="18" charset="0"/>
                          </a:rPr>
                          <m:t> </m:t>
                        </m:r>
                        <m:r>
                          <a:rPr lang="en-US" sz="1400" b="0" i="1" kern="1200" smtClean="0">
                            <a:latin typeface="Cambria Math" panose="02040503050406030204" pitchFamily="18" charset="0"/>
                          </a:rPr>
                          <m:t>𝑓𝑒𝑎𝑡𝑢𝑟𝑒𝑠</m:t>
                        </m:r>
                        <m:r>
                          <a:rPr lang="en-US" sz="1400" b="0" i="1" kern="1200" smtClean="0">
                            <a:latin typeface="Cambria Math" panose="02040503050406030204" pitchFamily="18" charset="0"/>
                          </a:rPr>
                          <m:t>)</m:t>
                        </m:r>
                      </m:oMath>
                    </m:oMathPara>
                  </a14:m>
                  <a:endParaRPr lang="en-US" sz="1600" kern="1200" dirty="0"/>
                </a:p>
                <a:p>
                  <a:pPr marL="171450" lvl="1" indent="-171450" algn="l" defTabSz="711200">
                    <a:lnSpc>
                      <a:spcPct val="90000"/>
                    </a:lnSpc>
                    <a:spcBef>
                      <a:spcPct val="0"/>
                    </a:spcBef>
                    <a:spcAft>
                      <a:spcPct val="15000"/>
                    </a:spcAft>
                    <a:buChar char="•"/>
                  </a:pPr>
                  <a:endParaRPr lang="en-US" sz="1600" kern="1200" dirty="0"/>
                </a:p>
                <a:p>
                  <a:pPr marL="171450" lvl="1" indent="-171450" algn="l" defTabSz="711200">
                    <a:lnSpc>
                      <a:spcPct val="90000"/>
                    </a:lnSpc>
                    <a:spcBef>
                      <a:spcPct val="0"/>
                    </a:spcBef>
                    <a:spcAft>
                      <a:spcPct val="15000"/>
                    </a:spcAft>
                    <a:buChar char="•"/>
                  </a:pPr>
                  <a:r>
                    <a:rPr lang="en-US" sz="1600" kern="1200" dirty="0"/>
                    <a:t>Can learn a </a:t>
                  </a:r>
                  <a:r>
                    <a:rPr lang="en-US" sz="1600" b="1" kern="1200" dirty="0"/>
                    <a:t>heuristic</a:t>
                  </a:r>
                  <a:r>
                    <a:rPr lang="en-US" sz="1600" kern="1200" dirty="0"/>
                    <a:t> for heuristic alpha-beta search.</a:t>
                  </a:r>
                </a:p>
                <a:p>
                  <a:pPr marL="171450" lvl="1" indent="-171450" algn="l" defTabSz="711200">
                    <a:lnSpc>
                      <a:spcPct val="90000"/>
                    </a:lnSpc>
                    <a:spcBef>
                      <a:spcPct val="0"/>
                    </a:spcBef>
                    <a:spcAft>
                      <a:spcPct val="15000"/>
                    </a:spcAft>
                    <a:buChar char="•"/>
                  </a:pPr>
                  <a:endParaRPr lang="en-US" sz="1600" dirty="0"/>
                </a:p>
                <a:p>
                  <a:pPr marL="171450" lvl="1" indent="-171450" algn="l" defTabSz="711200">
                    <a:lnSpc>
                      <a:spcPct val="90000"/>
                    </a:lnSpc>
                    <a:spcBef>
                      <a:spcPct val="0"/>
                    </a:spcBef>
                    <a:spcAft>
                      <a:spcPct val="15000"/>
                    </a:spcAft>
                    <a:buChar char="•"/>
                  </a:pPr>
                  <a:r>
                    <a:rPr lang="en-US" sz="1600" dirty="0"/>
                    <a:t>For</a:t>
                  </a:r>
                  <a:r>
                    <a:rPr lang="en-US" sz="1600" kern="1200" dirty="0"/>
                    <a:t> reinforcement learning we can learn action values </a:t>
                  </a:r>
                  <a14:m>
                    <m:oMath xmlns:m="http://schemas.openxmlformats.org/officeDocument/2006/math">
                      <m:r>
                        <a:rPr lang="en-US" sz="1400" i="1" kern="1200" dirty="0" smtClean="0">
                          <a:latin typeface="Cambria Math" panose="02040503050406030204" pitchFamily="18" charset="0"/>
                        </a:rPr>
                        <m:t>𝑞</m:t>
                      </m:r>
                      <m:r>
                        <a:rPr lang="en-US" sz="1400" i="1" kern="1200" dirty="0" smtClean="0">
                          <a:latin typeface="Cambria Math" panose="02040503050406030204" pitchFamily="18" charset="0"/>
                        </a:rPr>
                        <m:t>(</m:t>
                      </m:r>
                      <m:r>
                        <a:rPr lang="en-US" sz="1400" i="1" kern="1200" dirty="0" err="1" smtClean="0">
                          <a:latin typeface="Cambria Math" panose="02040503050406030204" pitchFamily="18" charset="0"/>
                        </a:rPr>
                        <m:t>𝑠𝑡𝑎𝑡𝑒</m:t>
                      </m:r>
                      <m:r>
                        <a:rPr lang="en-US" sz="1400" i="1" kern="1200" dirty="0" err="1" smtClean="0">
                          <a:latin typeface="Cambria Math" panose="02040503050406030204" pitchFamily="18" charset="0"/>
                        </a:rPr>
                        <m:t>,</m:t>
                      </m:r>
                      <m:r>
                        <a:rPr lang="en-US" sz="1400" i="1" kern="1200" dirty="0" err="1" smtClean="0">
                          <a:latin typeface="Cambria Math" panose="02040503050406030204" pitchFamily="18" charset="0"/>
                        </a:rPr>
                        <m:t>𝑎𝑐𝑡𝑖𝑜𝑛</m:t>
                      </m:r>
                      <m:r>
                        <a:rPr lang="en-US" sz="1400" i="1" kern="1200" dirty="0" smtClean="0">
                          <a:latin typeface="Cambria Math" panose="02040503050406030204" pitchFamily="18" charset="0"/>
                        </a:rPr>
                        <m:t>)</m:t>
                      </m:r>
                    </m:oMath>
                  </a14:m>
                  <a:r>
                    <a:rPr lang="en-US" sz="1400" kern="1200" dirty="0"/>
                    <a:t>.</a:t>
                  </a:r>
                  <a:endParaRPr lang="en-US" sz="1600" kern="1200" dirty="0"/>
                </a:p>
              </p:txBody>
            </p:sp>
          </mc:Choice>
          <mc:Fallback xmlns="">
            <p:sp>
              <p:nvSpPr>
                <p:cNvPr id="9" name="Freeform: Shape 8">
                  <a:extLst>
                    <a:ext uri="{FF2B5EF4-FFF2-40B4-BE49-F238E27FC236}">
                      <a16:creationId xmlns:a16="http://schemas.microsoft.com/office/drawing/2014/main" id="{F92DA4CB-84F6-D4AA-448C-800D1FC31E4B}"/>
                    </a:ext>
                  </a:extLst>
                </p:cNvPr>
                <p:cNvSpPr>
                  <a:spLocks noRot="1" noChangeAspect="1" noMove="1" noResize="1" noEditPoints="1" noAdjustHandles="1" noChangeArrowheads="1" noChangeShapeType="1" noTextEdit="1"/>
                </p:cNvSpPr>
                <p:nvPr/>
              </p:nvSpPr>
              <p:spPr>
                <a:xfrm>
                  <a:off x="3552282"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a:blipFill>
                  <a:blip r:embed="rId3"/>
                  <a:stretch>
                    <a:fillRect l="-1790" r="-767"/>
                  </a:stretch>
                </a:blipFill>
              </p:spPr>
              <p:txBody>
                <a:bodyPr/>
                <a:lstStyle/>
                <a:p>
                  <a:r>
                    <a:rPr lang="en-US">
                      <a:noFill/>
                    </a:rPr>
                    <a:t> </a:t>
                  </a:r>
                </a:p>
              </p:txBody>
            </p:sp>
          </mc:Fallback>
        </mc:AlternateContent>
      </p:grpSp>
      <p:grpSp>
        <p:nvGrpSpPr>
          <p:cNvPr id="16" name="Group 15">
            <a:extLst>
              <a:ext uri="{FF2B5EF4-FFF2-40B4-BE49-F238E27FC236}">
                <a16:creationId xmlns:a16="http://schemas.microsoft.com/office/drawing/2014/main" id="{21802172-FED6-A59E-6835-9A0B6DCDFF88}"/>
              </a:ext>
            </a:extLst>
          </p:cNvPr>
          <p:cNvGrpSpPr/>
          <p:nvPr/>
        </p:nvGrpSpPr>
        <p:grpSpPr>
          <a:xfrm>
            <a:off x="6262411" y="1571075"/>
            <a:ext cx="2377306" cy="4104787"/>
            <a:chOff x="6262411" y="1571075"/>
            <a:chExt cx="2377306" cy="4104787"/>
          </a:xfrm>
        </p:grpSpPr>
        <p:sp>
          <p:nvSpPr>
            <p:cNvPr id="10" name="Freeform: Shape 9">
              <a:extLst>
                <a:ext uri="{FF2B5EF4-FFF2-40B4-BE49-F238E27FC236}">
                  <a16:creationId xmlns:a16="http://schemas.microsoft.com/office/drawing/2014/main" id="{671E3106-39A3-A77A-36D8-E7A385B99EAF}"/>
                </a:ext>
              </a:extLst>
            </p:cNvPr>
            <p:cNvSpPr/>
            <p:nvPr/>
          </p:nvSpPr>
          <p:spPr>
            <a:xfrm>
              <a:off x="6262411"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4">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Learn Perception </a:t>
              </a:r>
              <a:br>
                <a:rPr lang="en-US" sz="1600" b="1" kern="1200" dirty="0"/>
              </a:br>
              <a:r>
                <a:rPr lang="en-US" sz="1600" b="1" kern="1200" dirty="0"/>
                <a:t>and Actuation</a:t>
              </a:r>
              <a:endParaRPr lang="en-US" sz="1600" kern="1200" dirty="0"/>
            </a:p>
          </p:txBody>
        </p:sp>
        <p:sp>
          <p:nvSpPr>
            <p:cNvPr id="11" name="Freeform: Shape 10">
              <a:extLst>
                <a:ext uri="{FF2B5EF4-FFF2-40B4-BE49-F238E27FC236}">
                  <a16:creationId xmlns:a16="http://schemas.microsoft.com/office/drawing/2014/main" id="{15E01483-3B4C-AB1B-42B3-E27DB0AE5F97}"/>
                </a:ext>
              </a:extLst>
            </p:cNvPr>
            <p:cNvSpPr/>
            <p:nvPr/>
          </p:nvSpPr>
          <p:spPr>
            <a:xfrm>
              <a:off x="6262411"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400" b="1" kern="1200" dirty="0"/>
                <a:t>Natural language processing: </a:t>
              </a:r>
              <a:r>
                <a:rPr lang="en-US" sz="1400" kern="1200" dirty="0"/>
                <a:t>Use deep learning / word embeddings / language models to understand concepts, translate between languages, or generate text.</a:t>
              </a:r>
            </a:p>
            <a:p>
              <a:pPr marL="171450" lvl="1" indent="-171450" algn="l" defTabSz="711200">
                <a:lnSpc>
                  <a:spcPct val="90000"/>
                </a:lnSpc>
                <a:spcBef>
                  <a:spcPct val="0"/>
                </a:spcBef>
                <a:spcAft>
                  <a:spcPct val="15000"/>
                </a:spcAft>
                <a:buChar char="•"/>
              </a:pPr>
              <a:r>
                <a:rPr lang="en-US" sz="1400" b="1" kern="1200" dirty="0"/>
                <a:t>Speech recognition</a:t>
              </a:r>
              <a:r>
                <a:rPr lang="en-US" sz="1400" kern="1200" dirty="0"/>
                <a:t>: Identify the most likely sequence of words. </a:t>
              </a:r>
            </a:p>
            <a:p>
              <a:pPr marL="171450" lvl="1" indent="-171450" algn="l" defTabSz="711200">
                <a:lnSpc>
                  <a:spcPct val="90000"/>
                </a:lnSpc>
                <a:spcBef>
                  <a:spcPct val="0"/>
                </a:spcBef>
                <a:spcAft>
                  <a:spcPct val="15000"/>
                </a:spcAft>
                <a:buChar char="•"/>
              </a:pPr>
              <a:r>
                <a:rPr lang="en-US" sz="1400" b="1" kern="1200" dirty="0"/>
                <a:t>Vision</a:t>
              </a:r>
              <a:r>
                <a:rPr lang="en-US" sz="1400" kern="1200" dirty="0"/>
                <a:t>: Object recognition in images/videos. Generate images/video.</a:t>
              </a:r>
            </a:p>
            <a:p>
              <a:pPr marL="171450" lvl="1" indent="-171450" algn="l" defTabSz="711200">
                <a:lnSpc>
                  <a:spcPct val="90000"/>
                </a:lnSpc>
                <a:spcBef>
                  <a:spcPct val="0"/>
                </a:spcBef>
                <a:spcAft>
                  <a:spcPct val="15000"/>
                </a:spcAft>
                <a:buChar char="•"/>
              </a:pPr>
              <a:r>
                <a:rPr lang="en-US" sz="1400" b="1" dirty="0"/>
                <a:t>Robotics</a:t>
              </a:r>
              <a:r>
                <a:rPr lang="en-US" sz="1400" dirty="0"/>
                <a:t>: Learn how to move safely.</a:t>
              </a:r>
              <a:endParaRPr lang="en-US" sz="1400" kern="1200" dirty="0"/>
            </a:p>
          </p:txBody>
        </p:sp>
      </p:grpSp>
      <p:grpSp>
        <p:nvGrpSpPr>
          <p:cNvPr id="17" name="Group 16">
            <a:extLst>
              <a:ext uri="{FF2B5EF4-FFF2-40B4-BE49-F238E27FC236}">
                <a16:creationId xmlns:a16="http://schemas.microsoft.com/office/drawing/2014/main" id="{71BB0827-B0BB-7D23-43AF-6D29B3EF9603}"/>
              </a:ext>
            </a:extLst>
          </p:cNvPr>
          <p:cNvGrpSpPr/>
          <p:nvPr/>
        </p:nvGrpSpPr>
        <p:grpSpPr>
          <a:xfrm>
            <a:off x="8972540" y="1571075"/>
            <a:ext cx="2377306" cy="4104787"/>
            <a:chOff x="8972540" y="1571075"/>
            <a:chExt cx="2377306" cy="4104787"/>
          </a:xfrm>
        </p:grpSpPr>
        <p:sp>
          <p:nvSpPr>
            <p:cNvPr id="12" name="Freeform: Shape 11">
              <a:extLst>
                <a:ext uri="{FF2B5EF4-FFF2-40B4-BE49-F238E27FC236}">
                  <a16:creationId xmlns:a16="http://schemas.microsoft.com/office/drawing/2014/main" id="{6146F0A1-3C1D-DCD2-2525-4DE003D14EB7}"/>
                </a:ext>
              </a:extLst>
            </p:cNvPr>
            <p:cNvSpPr/>
            <p:nvPr/>
          </p:nvSpPr>
          <p:spPr>
            <a:xfrm>
              <a:off x="8972540"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5">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Compressing Tables</a:t>
              </a:r>
            </a:p>
          </p:txBody>
        </p:sp>
        <p:sp>
          <p:nvSpPr>
            <p:cNvPr id="13" name="Freeform: Shape 12" descr="ML models can be used to learn actions or an evaluation function from state descriptions. ML is also used in preprocessing percepts (natural language processing, object detection) or to compress large tables like joint probability tables.">
              <a:extLst>
                <a:ext uri="{FF2B5EF4-FFF2-40B4-BE49-F238E27FC236}">
                  <a16:creationId xmlns:a16="http://schemas.microsoft.com/office/drawing/2014/main" id="{A91EE390-CF43-7810-F566-F13B3E450673}"/>
                </a:ext>
              </a:extLst>
            </p:cNvPr>
            <p:cNvSpPr/>
            <p:nvPr/>
          </p:nvSpPr>
          <p:spPr>
            <a:xfrm>
              <a:off x="8972540"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5">
                <a:tint val="40000"/>
                <a:alpha val="90000"/>
                <a:hueOff val="0"/>
                <a:satOff val="0"/>
                <a:lumOff val="0"/>
                <a:alphaOff val="0"/>
              </a:schemeClr>
            </a:lnRef>
            <a:fillRef idx="1">
              <a:schemeClr val="accent5">
                <a:tint val="40000"/>
                <a:alpha val="90000"/>
                <a:hueOff val="0"/>
                <a:satOff val="0"/>
                <a:lumOff val="0"/>
                <a:alphaOff val="0"/>
              </a:schemeClr>
            </a:fillRef>
            <a:effectRef idx="0">
              <a:schemeClr val="accent5">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Neural networks can be used as a compact representation of tables that do not fit in memory. E.g.,</a:t>
              </a:r>
            </a:p>
            <a:p>
              <a:pPr marL="342900" lvl="2" indent="-171450" algn="l" defTabSz="711200">
                <a:lnSpc>
                  <a:spcPct val="90000"/>
                </a:lnSpc>
                <a:spcBef>
                  <a:spcPct val="0"/>
                </a:spcBef>
                <a:spcAft>
                  <a:spcPct val="15000"/>
                </a:spcAft>
                <a:buChar char="•"/>
              </a:pPr>
              <a:r>
                <a:rPr lang="en-US" sz="1600" kern="1200" dirty="0"/>
                <a:t>Joint and conditional probability tables</a:t>
              </a:r>
            </a:p>
            <a:p>
              <a:pPr marL="342900" lvl="2" indent="-171450" algn="l" defTabSz="711200">
                <a:lnSpc>
                  <a:spcPct val="90000"/>
                </a:lnSpc>
                <a:spcBef>
                  <a:spcPct val="0"/>
                </a:spcBef>
                <a:spcAft>
                  <a:spcPct val="15000"/>
                </a:spcAft>
                <a:buChar char="•"/>
              </a:pPr>
              <a:r>
                <a:rPr lang="en-US" sz="1600" kern="1200" dirty="0"/>
                <a:t>State utility tables (i.e., an evaluation function)</a:t>
              </a:r>
            </a:p>
            <a:p>
              <a:pPr marL="342900" lvl="2" indent="-171450" algn="l" defTabSz="711200">
                <a:lnSpc>
                  <a:spcPct val="90000"/>
                </a:lnSpc>
                <a:spcBef>
                  <a:spcPct val="0"/>
                </a:spcBef>
                <a:spcAft>
                  <a:spcPct val="15000"/>
                </a:spcAft>
                <a:buChar char="•"/>
              </a:pPr>
              <a:r>
                <a:rPr lang="en-US" sz="1600" dirty="0"/>
                <a:t>Q-Value tables in reinforcement learning</a:t>
              </a:r>
              <a:endParaRPr lang="en-US" sz="1600" kern="1200" dirty="0"/>
            </a:p>
          </p:txBody>
        </p:sp>
      </p:grpSp>
    </p:spTree>
    <p:extLst>
      <p:ext uri="{BB962C8B-B14F-4D97-AF65-F5344CB8AC3E}">
        <p14:creationId xmlns:p14="http://schemas.microsoft.com/office/powerpoint/2010/main" val="3240203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0B9EE3F3-89B7-43C3-8651-C4C9683099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D558EF-35A4-DDFC-52C1-994856200BC2}"/>
              </a:ext>
            </a:extLst>
          </p:cNvPr>
          <p:cNvSpPr>
            <a:spLocks noGrp="1"/>
          </p:cNvSpPr>
          <p:nvPr>
            <p:ph type="title"/>
          </p:nvPr>
        </p:nvSpPr>
        <p:spPr>
          <a:xfrm>
            <a:off x="411480" y="991443"/>
            <a:ext cx="4443154" cy="1087819"/>
          </a:xfrm>
        </p:spPr>
        <p:txBody>
          <a:bodyPr anchor="b">
            <a:normAutofit/>
          </a:bodyPr>
          <a:lstStyle/>
          <a:p>
            <a:r>
              <a:rPr lang="en-US" sz="3400" dirty="0"/>
              <a:t>What You Should Know</a:t>
            </a:r>
          </a:p>
        </p:txBody>
      </p:sp>
      <p:sp>
        <p:nvSpPr>
          <p:cNvPr id="50" name="Rectangle 49">
            <a:extLst>
              <a:ext uri="{FF2B5EF4-FFF2-40B4-BE49-F238E27FC236}">
                <a16:creationId xmlns:a16="http://schemas.microsoft.com/office/drawing/2014/main" id="{33AE4636-AEEC-45D6-84D4-7AC2DA48EC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49223" y="387939"/>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52" name="Rectangle 51">
            <a:extLst>
              <a:ext uri="{FF2B5EF4-FFF2-40B4-BE49-F238E27FC236}">
                <a16:creationId xmlns:a16="http://schemas.microsoft.com/office/drawing/2014/main" id="{8D9CE0F4-2EB2-4F1F-8AAC-DB3571D9FE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11480" y="2285541"/>
            <a:ext cx="438912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 name="Content Placeholder 2">
            <a:extLst>
              <a:ext uri="{FF2B5EF4-FFF2-40B4-BE49-F238E27FC236}">
                <a16:creationId xmlns:a16="http://schemas.microsoft.com/office/drawing/2014/main" id="{78A33CD8-6DB6-F8AA-0C14-2EE3075AFB5C}"/>
              </a:ext>
            </a:extLst>
          </p:cNvPr>
          <p:cNvSpPr>
            <a:spLocks noGrp="1"/>
          </p:cNvSpPr>
          <p:nvPr>
            <p:ph idx="1"/>
          </p:nvPr>
        </p:nvSpPr>
        <p:spPr>
          <a:xfrm>
            <a:off x="411480" y="2408446"/>
            <a:ext cx="5455920" cy="3916154"/>
          </a:xfrm>
        </p:spPr>
        <p:txBody>
          <a:bodyPr>
            <a:normAutofit fontScale="92500" lnSpcReduction="10000"/>
          </a:bodyPr>
          <a:lstStyle/>
          <a:p>
            <a:r>
              <a:rPr lang="en-US" sz="1600" b="1" dirty="0"/>
              <a:t>Agent design</a:t>
            </a:r>
            <a:r>
              <a:rPr lang="en-US" sz="1600" dirty="0"/>
              <a:t>: Replace hard-coded functions with </a:t>
            </a:r>
            <a:r>
              <a:rPr lang="en-US" sz="1600" b="1" dirty="0"/>
              <a:t>functions learned from training data </a:t>
            </a:r>
            <a:r>
              <a:rPr lang="en-US" sz="1600" dirty="0"/>
              <a:t>to tell the agent:</a:t>
            </a:r>
          </a:p>
          <a:p>
            <a:pPr lvl="1"/>
            <a:r>
              <a:rPr lang="en-US" sz="1600" dirty="0"/>
              <a:t>How to act: Learn a policy.</a:t>
            </a:r>
          </a:p>
          <a:p>
            <a:pPr lvl="1"/>
            <a:r>
              <a:rPr lang="en-US" sz="1600" dirty="0"/>
              <a:t>How to evaluate a situation: Learn an evaluation function.</a:t>
            </a:r>
          </a:p>
          <a:p>
            <a:pPr lvl="1"/>
            <a:r>
              <a:rPr lang="en-US" sz="1600" dirty="0"/>
              <a:t>How to interpret sensors and how to use actuators.</a:t>
            </a:r>
          </a:p>
          <a:p>
            <a:pPr lvl="1"/>
            <a:r>
              <a:rPr lang="en-US" sz="1600" dirty="0"/>
              <a:t>How to store information in an efficient way (compression). </a:t>
            </a:r>
          </a:p>
          <a:p>
            <a:endParaRPr lang="en-US" sz="1600" dirty="0"/>
          </a:p>
          <a:p>
            <a:r>
              <a:rPr lang="en-US" sz="1600" b="1" dirty="0"/>
              <a:t>Performance</a:t>
            </a:r>
            <a:r>
              <a:rPr lang="en-US" sz="1600" dirty="0"/>
              <a:t>: Learned functions often outperform hard-coded functions.</a:t>
            </a:r>
          </a:p>
          <a:p>
            <a:r>
              <a:rPr lang="en-US" sz="1600" b="1" dirty="0"/>
              <a:t>Issue</a:t>
            </a:r>
            <a:r>
              <a:rPr lang="en-US" sz="1600" dirty="0"/>
              <a:t>: Predictability and robustness</a:t>
            </a:r>
          </a:p>
          <a:p>
            <a:pPr lvl="1"/>
            <a:r>
              <a:rPr lang="en-US" sz="1200" dirty="0"/>
              <a:t>Hard-coded functions react predictably.  </a:t>
            </a:r>
          </a:p>
          <a:p>
            <a:pPr lvl="1"/>
            <a:r>
              <a:rPr lang="en-US" sz="1200" dirty="0"/>
              <a:t>For learned functions, we do not always know how they will perform for rare and edge cases!</a:t>
            </a:r>
          </a:p>
          <a:p>
            <a:r>
              <a:rPr lang="en-US" sz="1600" b="1" dirty="0"/>
              <a:t>Reinforcement Learning: </a:t>
            </a:r>
            <a:r>
              <a:rPr lang="en-US" sz="1600" dirty="0"/>
              <a:t>Online learning methods where agents learn directly from interactions with the environment.</a:t>
            </a:r>
          </a:p>
        </p:txBody>
      </p:sp>
      <p:grpSp>
        <p:nvGrpSpPr>
          <p:cNvPr id="5" name="Group 4">
            <a:extLst>
              <a:ext uri="{FF2B5EF4-FFF2-40B4-BE49-F238E27FC236}">
                <a16:creationId xmlns:a16="http://schemas.microsoft.com/office/drawing/2014/main" id="{BA9EA9A9-B237-ACC4-9214-98AD4E47BDFD}"/>
              </a:ext>
              <a:ext uri="{C183D7F6-B498-43B3-948B-1728B52AA6E4}">
                <adec:decorative xmlns:adec="http://schemas.microsoft.com/office/drawing/2017/decorative" val="1"/>
              </a:ext>
            </a:extLst>
          </p:cNvPr>
          <p:cNvGrpSpPr/>
          <p:nvPr/>
        </p:nvGrpSpPr>
        <p:grpSpPr>
          <a:xfrm>
            <a:off x="6248400" y="1143000"/>
            <a:ext cx="5425440" cy="4305224"/>
            <a:chOff x="4914414" y="625683"/>
            <a:chExt cx="6746750" cy="5455380"/>
          </a:xfrm>
        </p:grpSpPr>
        <p:pic>
          <p:nvPicPr>
            <p:cNvPr id="6" name="Picture 2" descr="Presentation Learning icon PNG and SVG Vector Free Download">
              <a:extLst>
                <a:ext uri="{FF2B5EF4-FFF2-40B4-BE49-F238E27FC236}">
                  <a16:creationId xmlns:a16="http://schemas.microsoft.com/office/drawing/2014/main" id="{8C2AF023-DC46-31D0-F255-6F55C2B269E2}"/>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914414" y="625683"/>
              <a:ext cx="6746750" cy="545538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F0D7467F-33D3-50F9-EA85-4E0636184535}"/>
                </a:ext>
              </a:extLst>
            </p:cNvPr>
            <p:cNvSpPr txBox="1"/>
            <p:nvPr/>
          </p:nvSpPr>
          <p:spPr>
            <a:xfrm>
              <a:off x="8497874" y="2370486"/>
              <a:ext cx="1865324" cy="819001"/>
            </a:xfrm>
            <a:prstGeom prst="rect">
              <a:avLst/>
            </a:prstGeom>
            <a:noFill/>
          </p:spPr>
          <p:txBody>
            <a:bodyPr wrap="square" rtlCol="0">
              <a:spAutoFit/>
            </a:bodyPr>
            <a:lstStyle/>
            <a:p>
              <a:pPr defTabSz="1116778">
                <a:spcAft>
                  <a:spcPts val="719"/>
                </a:spcAft>
              </a:pPr>
              <a:r>
                <a:rPr lang="en-US" sz="3600" b="1" kern="1200">
                  <a:solidFill>
                    <a:srgbClr val="FF0000"/>
                  </a:solidFill>
                  <a:latin typeface="Calibri" panose="020F0502020204030204" pitchFamily="34" charset="0"/>
                  <a:ea typeface="+mn-ea"/>
                  <a:cs typeface="+mn-cs"/>
                </a:rPr>
                <a:t>1+1=2</a:t>
              </a:r>
              <a:endParaRPr lang="en-US" sz="2800" b="1">
                <a:solidFill>
                  <a:srgbClr val="FF0000"/>
                </a:solidFill>
                <a:latin typeface="Calibri" panose="020F0502020204030204" pitchFamily="34" charset="0"/>
              </a:endParaRPr>
            </a:p>
          </p:txBody>
        </p:sp>
      </p:grpSp>
    </p:spTree>
    <p:extLst>
      <p:ext uri="{BB962C8B-B14F-4D97-AF65-F5344CB8AC3E}">
        <p14:creationId xmlns:p14="http://schemas.microsoft.com/office/powerpoint/2010/main" val="2456461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tags/tag1.xml><?xml version="1.0" encoding="utf-8"?>
<p:tagLst xmlns:a="http://schemas.openxmlformats.org/drawingml/2006/main" xmlns:r="http://schemas.openxmlformats.org/officeDocument/2006/relationships" xmlns:p="http://schemas.openxmlformats.org/presentationml/2006/main">
  <p:tag name="DEFAULTFONTSIZE" val="10"/>
  <p:tag name="DEFAULTWIDTH" val="592"/>
  <p:tag name="DEFAULTHEIGHT" val="422"/>
</p:tagLst>
</file>

<file path=ppt/tags/tag2.xml><?xml version="1.0" encoding="utf-8"?>
<p:tagLst xmlns:a="http://schemas.openxmlformats.org/drawingml/2006/main" xmlns:r="http://schemas.openxmlformats.org/officeDocument/2006/relationships" xmlns:p="http://schemas.openxmlformats.org/presentationml/2006/main">
  <p:tag name="SOURCE" val="\documentclass{slides}\pagestyle{empty}&#10;\begin{document}&#10;$h$&#10;\end{document}&#10;"/>
  <p:tag name="EXTERNALNAME" val="txp_fig"/>
  <p:tag name="BLEND" val="False"/>
  <p:tag name="TRANSPARENT" val="True"/>
  <p:tag name="KEEPFILES" val="False"/>
  <p:tag name="DEBUGPAUSE" val="False"/>
  <p:tag name="RESOLUTION" val="1200"/>
  <p:tag name="TIMEOUT" val="(none)"/>
  <p:tag name="BOXWIDTH" val="592"/>
  <p:tag name="BOXHEIGHT" val="422"/>
  <p:tag name="BOXFONT" val="10"/>
  <p:tag name="BOXWRAP" val="False"/>
  <p:tag name="WORKAROUNDTRANSPARENCYBUG" val="False"/>
  <p:tag name="ALLOWFONTSUBSTITUTION" val="False"/>
  <p:tag name="BITMAPFORMAT" val="pngmono"/>
  <p:tag name="ORIGWIDTH" val="11"/>
  <p:tag name="PICTUREFILESIZE" val="855"/>
</p:tagLst>
</file>

<file path=ppt/tags/tag3.xml><?xml version="1.0" encoding="utf-8"?>
<p:tagLst xmlns:a="http://schemas.openxmlformats.org/drawingml/2006/main" xmlns:r="http://schemas.openxmlformats.org/officeDocument/2006/relationships" xmlns:p="http://schemas.openxmlformats.org/presentationml/2006/main">
  <p:tag name="SOURCE" val="\documentclass{slides}\pagestyle{empty}&#10;\begin{document}&#10;$H$&#10;\end{document}&#10;"/>
  <p:tag name="EXTERNALNAME" val="txp_fig"/>
  <p:tag name="BLEND" val="False"/>
  <p:tag name="TRANSPARENT" val="True"/>
  <p:tag name="KEEPFILES" val="False"/>
  <p:tag name="DEBUGPAUSE" val="False"/>
  <p:tag name="RESOLUTION" val="1200"/>
  <p:tag name="TIMEOUT" val="(none)"/>
  <p:tag name="BOXWIDTH" val="592"/>
  <p:tag name="BOXHEIGHT" val="422"/>
  <p:tag name="BOXFONT" val="10"/>
  <p:tag name="BOXWRAP" val="False"/>
  <p:tag name="WORKAROUNDTRANSPARENCYBUG" val="False"/>
  <p:tag name="ALLOWFONTSUBSTITUTION" val="False"/>
  <p:tag name="BITMAPFORMAT" val="pngmono"/>
  <p:tag name="ORIGWIDTH" val="18"/>
  <p:tag name="PICTUREFILESIZE" val="702"/>
</p:tagLst>
</file>

<file path=ppt/tags/tag4.xml><?xml version="1.0" encoding="utf-8"?>
<p:tagLst xmlns:a="http://schemas.openxmlformats.org/drawingml/2006/main" xmlns:r="http://schemas.openxmlformats.org/officeDocument/2006/relationships" xmlns:p="http://schemas.openxmlformats.org/presentationml/2006/main">
  <p:tag name="SOURCE" val="\documentclass{slides}\pagestyle{empty}&#10;\begin{document}&#10;$H$&#10;\end{document}&#10;"/>
  <p:tag name="EXTERNALNAME" val="txp_fig"/>
  <p:tag name="BLEND" val="False"/>
  <p:tag name="TRANSPARENT" val="True"/>
  <p:tag name="KEEPFILES" val="False"/>
  <p:tag name="DEBUGPAUSE" val="False"/>
  <p:tag name="RESOLUTION" val="1200"/>
  <p:tag name="TIMEOUT" val="(none)"/>
  <p:tag name="BOXWIDTH" val="592"/>
  <p:tag name="BOXHEIGHT" val="422"/>
  <p:tag name="BOXFONT" val="10"/>
  <p:tag name="BOXWRAP" val="False"/>
  <p:tag name="WORKAROUNDTRANSPARENCYBUG" val="False"/>
  <p:tag name="ALLOWFONTSUBSTITUTION" val="False"/>
  <p:tag name="BITMAPFORMAT" val="pngmono"/>
  <p:tag name="ORIGWIDTH" val="18"/>
  <p:tag name="PICTUREFILESIZE" val="702"/>
</p:tagLst>
</file>

<file path=ppt/tags/tag5.xml><?xml version="1.0" encoding="utf-8"?>
<p:tagLst xmlns:a="http://schemas.openxmlformats.org/drawingml/2006/main" xmlns:r="http://schemas.openxmlformats.org/officeDocument/2006/relationships" xmlns:p="http://schemas.openxmlformats.org/presentationml/2006/main">
  <p:tag name="SOURCE" val="\documentclass{slides}\pagestyle{empty}&#10;\begin{document}&#10;$H$&#10;\end{document}&#10;"/>
  <p:tag name="EXTERNALNAME" val="txp_fig"/>
  <p:tag name="BLEND" val="False"/>
  <p:tag name="TRANSPARENT" val="True"/>
  <p:tag name="KEEPFILES" val="False"/>
  <p:tag name="DEBUGPAUSE" val="False"/>
  <p:tag name="RESOLUTION" val="1200"/>
  <p:tag name="TIMEOUT" val="(none)"/>
  <p:tag name="BOXWIDTH" val="592"/>
  <p:tag name="BOXHEIGHT" val="422"/>
  <p:tag name="BOXFONT" val="10"/>
  <p:tag name="BOXWRAP" val="False"/>
  <p:tag name="WORKAROUNDTRANSPARENCYBUG" val="False"/>
  <p:tag name="ALLOWFONTSUBSTITUTION" val="False"/>
  <p:tag name="BITMAPFORMAT" val="pngmono"/>
  <p:tag name="ORIGWIDTH" val="18"/>
  <p:tag name="PICTUREFILESIZE" val="702"/>
</p:tagLst>
</file>

<file path=ppt/theme/theme1.xml><?xml version="1.0" encoding="utf-8"?>
<a:theme xmlns:a="http://schemas.openxmlformats.org/drawingml/2006/main" name="Office Theme">
  <a:themeElements>
    <a:clrScheme name="Custom 3">
      <a:dk1>
        <a:sysClr val="windowText" lastClr="000000"/>
      </a:dk1>
      <a:lt1>
        <a:sysClr val="window" lastClr="FFFFFF"/>
      </a:lt1>
      <a:dk2>
        <a:srgbClr val="0E2841"/>
      </a:dk2>
      <a:lt2>
        <a:srgbClr val="E8E8E8"/>
      </a:lt2>
      <a:accent1>
        <a:srgbClr val="156082"/>
      </a:accent1>
      <a:accent2>
        <a:srgbClr val="BE4D14"/>
      </a:accent2>
      <a:accent3>
        <a:srgbClr val="196B24"/>
      </a:accent3>
      <a:accent4>
        <a:srgbClr val="0B769F"/>
      </a:accent4>
      <a:accent5>
        <a:srgbClr val="A02B93"/>
      </a:accent5>
      <a:accent6>
        <a:srgbClr val="377620"/>
      </a:accent6>
      <a:hlink>
        <a:srgbClr val="467886"/>
      </a:hlink>
      <a:folHlink>
        <a:srgbClr val="96607D"/>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3012</TotalTime>
  <Words>3056</Words>
  <Application>Microsoft Office PowerPoint</Application>
  <PresentationFormat>Widescreen</PresentationFormat>
  <Paragraphs>338</Paragraphs>
  <Slides>33</Slides>
  <Notes>3</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33</vt:i4>
      </vt:variant>
    </vt:vector>
  </HeadingPairs>
  <TitlesOfParts>
    <vt:vector size="39" baseType="lpstr">
      <vt:lpstr>Arial</vt:lpstr>
      <vt:lpstr>Calibri</vt:lpstr>
      <vt:lpstr>Calibri Light</vt:lpstr>
      <vt:lpstr>Cambria Math</vt:lpstr>
      <vt:lpstr>Wingdings</vt:lpstr>
      <vt:lpstr>Office Theme</vt:lpstr>
      <vt:lpstr>CS 5/7320  Artificial Intelligence  Machine Learning: Learning from Examples and Statistical Learning  AIMA Chapters 19-21  Slides by Michael Hahsler    Some slides are based on Dan Klein’s slides (http://ai.berkeley.edu); with figures from the AIMA textbook.</vt:lpstr>
      <vt:lpstr>Topics</vt:lpstr>
      <vt:lpstr>Agents and Machine Learning</vt:lpstr>
      <vt:lpstr>Learning from Examples</vt:lpstr>
      <vt:lpstr>Learning Components of an Agent</vt:lpstr>
      <vt:lpstr>Supervised Learning</vt:lpstr>
      <vt:lpstr>Supervised Learning As Function Approximation</vt:lpstr>
      <vt:lpstr>Consistency vs. Simplicity</vt:lpstr>
      <vt:lpstr>Measuring Consistency using Loss</vt:lpstr>
      <vt:lpstr>Learning Consistent Approximations</vt:lpstr>
      <vt:lpstr>The Most Consistent Classifier</vt:lpstr>
      <vt:lpstr>Simplicity</vt:lpstr>
      <vt:lpstr>Model Selection: Bias vs. Variance</vt:lpstr>
      <vt:lpstr>Training Data</vt:lpstr>
      <vt:lpstr>The Dataset</vt:lpstr>
      <vt:lpstr>Feature Engineering</vt:lpstr>
      <vt:lpstr>Training Data in AI</vt:lpstr>
      <vt:lpstr>Training  and  Testing</vt:lpstr>
      <vt:lpstr>Training a ML Model for AI</vt:lpstr>
      <vt:lpstr>Testing: Evaluating the Final Model</vt:lpstr>
      <vt:lpstr>Learning Curve:  The Effect the Training Data Size</vt:lpstr>
      <vt:lpstr>Comparing to a Baselines</vt:lpstr>
      <vt:lpstr>Types of  Supervised ML Models</vt:lpstr>
      <vt:lpstr>Regression: Linear Regression</vt:lpstr>
      <vt:lpstr>Classification</vt:lpstr>
      <vt:lpstr>Naïve Bayes Classifier</vt:lpstr>
      <vt:lpstr>Decision Trees</vt:lpstr>
      <vt:lpstr>K-Nearest Neighbors Classifier</vt:lpstr>
      <vt:lpstr>Support Vector Machine (SVM)</vt:lpstr>
      <vt:lpstr>Artificial Neural Networks (ANNs)</vt:lpstr>
      <vt:lpstr>Deep Learning</vt:lpstr>
      <vt:lpstr>Typical Use of Supervised ML for Intelligent Agents</vt:lpstr>
      <vt:lpstr>What You Should Know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5/7320 Artificial Intelligence</dc:title>
  <dc:creator>michael</dc:creator>
  <cp:lastModifiedBy>Hahsler, Michael</cp:lastModifiedBy>
  <cp:revision>99</cp:revision>
  <dcterms:created xsi:type="dcterms:W3CDTF">2020-11-16T22:49:03Z</dcterms:created>
  <dcterms:modified xsi:type="dcterms:W3CDTF">2026-05-18T15:02:16Z</dcterms:modified>
</cp:coreProperties>
</file>