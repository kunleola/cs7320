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2.xml" ContentType="application/vnd.openxmlformats-officedocument.presentationml.tags+xml"/>
  <Override PartName="/ppt/tags/tag3.xml" ContentType="application/vnd.openxmlformats-officedocument.presentationml.tags+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1.xml" ContentType="application/vnd.openxmlformats-officedocument.drawingml.chartshape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2.xml" ContentType="application/vnd.openxmlformats-officedocument.drawingml.chartshapes+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ags/tag4.xml" ContentType="application/vnd.openxmlformats-officedocument.presentationml.tags+xml"/>
  <Override PartName="/ppt/tags/tag5.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9" r:id="rId1"/>
  </p:sldMasterIdLst>
  <p:notesMasterIdLst>
    <p:notesMasterId r:id="rId38"/>
  </p:notesMasterIdLst>
  <p:handoutMasterIdLst>
    <p:handoutMasterId r:id="rId39"/>
  </p:handoutMasterIdLst>
  <p:sldIdLst>
    <p:sldId id="455" r:id="rId2"/>
    <p:sldId id="509" r:id="rId3"/>
    <p:sldId id="511" r:id="rId4"/>
    <p:sldId id="457" r:id="rId5"/>
    <p:sldId id="513" r:id="rId6"/>
    <p:sldId id="497" r:id="rId7"/>
    <p:sldId id="346" r:id="rId8"/>
    <p:sldId id="347" r:id="rId9"/>
    <p:sldId id="483" r:id="rId10"/>
    <p:sldId id="484" r:id="rId11"/>
    <p:sldId id="480" r:id="rId12"/>
    <p:sldId id="485" r:id="rId13"/>
    <p:sldId id="479" r:id="rId14"/>
    <p:sldId id="498" r:id="rId15"/>
    <p:sldId id="512" r:id="rId16"/>
    <p:sldId id="486" r:id="rId17"/>
    <p:sldId id="432" r:id="rId18"/>
    <p:sldId id="499" r:id="rId19"/>
    <p:sldId id="500" r:id="rId20"/>
    <p:sldId id="487" r:id="rId21"/>
    <p:sldId id="454" r:id="rId22"/>
    <p:sldId id="413" r:id="rId23"/>
    <p:sldId id="505" r:id="rId24"/>
    <p:sldId id="493" r:id="rId25"/>
    <p:sldId id="518" r:id="rId26"/>
    <p:sldId id="514" r:id="rId27"/>
    <p:sldId id="495" r:id="rId28"/>
    <p:sldId id="489" r:id="rId29"/>
    <p:sldId id="490" r:id="rId30"/>
    <p:sldId id="491" r:id="rId31"/>
    <p:sldId id="506" r:id="rId32"/>
    <p:sldId id="517" r:id="rId33"/>
    <p:sldId id="519" r:id="rId34"/>
    <p:sldId id="508" r:id="rId35"/>
    <p:sldId id="520" r:id="rId36"/>
    <p:sldId id="515" r:id="rId37"/>
  </p:sldIdLst>
  <p:sldSz cx="12192000" cy="6858000"/>
  <p:notesSz cx="7099300" cy="10234613"/>
  <p:custDataLst>
    <p:tags r:id="rId4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71BB79B-38E9-4662-8ED5-3F2F225203CE}">
          <p14:sldIdLst>
            <p14:sldId id="455"/>
            <p14:sldId id="509"/>
            <p14:sldId id="511"/>
            <p14:sldId id="457"/>
            <p14:sldId id="513"/>
          </p14:sldIdLst>
        </p14:section>
        <p14:section name="Supervised Learning" id="{87DBC323-8EDA-4738-AF7F-5929ADB374DA}">
          <p14:sldIdLst>
            <p14:sldId id="497"/>
            <p14:sldId id="346"/>
            <p14:sldId id="347"/>
            <p14:sldId id="483"/>
            <p14:sldId id="484"/>
            <p14:sldId id="480"/>
            <p14:sldId id="485"/>
            <p14:sldId id="479"/>
          </p14:sldIdLst>
        </p14:section>
        <p14:section name="Data" id="{16F72C8D-4EB9-41F6-B741-77F6A0986143}">
          <p14:sldIdLst>
            <p14:sldId id="498"/>
            <p14:sldId id="512"/>
            <p14:sldId id="486"/>
            <p14:sldId id="432"/>
          </p14:sldIdLst>
        </p14:section>
        <p14:section name="Training and Testing" id="{C04CA568-4756-4F1A-A0CF-F0BB46D2F97A}">
          <p14:sldIdLst>
            <p14:sldId id="499"/>
            <p14:sldId id="500"/>
            <p14:sldId id="487"/>
            <p14:sldId id="454"/>
            <p14:sldId id="413"/>
          </p14:sldIdLst>
        </p14:section>
        <p14:section name="Types of ML Models" id="{17B4E910-6E8A-4FEE-A43D-B13D3E343326}">
          <p14:sldIdLst>
            <p14:sldId id="505"/>
            <p14:sldId id="493"/>
            <p14:sldId id="518"/>
            <p14:sldId id="514"/>
            <p14:sldId id="495"/>
            <p14:sldId id="489"/>
            <p14:sldId id="490"/>
            <p14:sldId id="491"/>
            <p14:sldId id="506"/>
            <p14:sldId id="517"/>
            <p14:sldId id="519"/>
          </p14:sldIdLst>
        </p14:section>
        <p14:section name="How are models used in AI" id="{C564B212-4CB4-4076-B86F-55C18B0F30DD}">
          <p14:sldIdLst>
            <p14:sldId id="508"/>
            <p14:sldId id="520"/>
            <p14:sldId id="515"/>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AD47"/>
    <a:srgbClr val="FEC0BE"/>
    <a:srgbClr val="8EEA9D"/>
    <a:srgbClr val="BDE6B2"/>
    <a:srgbClr val="FFCCCC"/>
    <a:srgbClr val="FFCCFF"/>
    <a:srgbClr val="FFFF00"/>
    <a:srgbClr val="3333FF"/>
    <a:srgbClr val="FF3300"/>
    <a:srgbClr val="CC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571" autoAdjust="0"/>
    <p:restoredTop sz="88626" autoAdjust="0"/>
  </p:normalViewPr>
  <p:slideViewPr>
    <p:cSldViewPr>
      <p:cViewPr varScale="1">
        <p:scale>
          <a:sx n="130" d="100"/>
          <a:sy n="130" d="100"/>
        </p:scale>
        <p:origin x="100" y="352"/>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31329172\Documents\SMU\courses\CS7320\overfiting%20example.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31329172\Documents\SMU\courses\CS7320\overfiting%20example.xlsx" TargetMode="Externa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1.xml"/></Relationships>
</file>

<file path=ppt/charts/_rels/chart3.xml.rels><?xml version="1.0" encoding="UTF-8" standalone="yes"?>
<Relationships xmlns="http://schemas.openxmlformats.org/package/2006/relationships"><Relationship Id="rId3" Type="http://schemas.openxmlformats.org/officeDocument/2006/relationships/oleObject" Target="file:///C:\Users\31329172\Documents\SMU\courses\CS7320\overfiting%20example.xlsx" TargetMode="Externa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2.xml"/></Relationships>
</file>

<file path=ppt/charts/_rels/chart4.xml.rels><?xml version="1.0" encoding="UTF-8" standalone="yes"?>
<Relationships xmlns="http://schemas.openxmlformats.org/package/2006/relationships"><Relationship Id="rId3" Type="http://schemas.openxmlformats.org/officeDocument/2006/relationships/oleObject" Target="file:///C:\Users\31329172\Documents\SMU\courses\CS7320\overfiting%20example.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31329172\Documents\SMU\courses\CS7320\overfiting%20example.xlsx"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Sheet1!$D$4</c:f>
              <c:strCache>
                <c:ptCount val="1"/>
                <c:pt idx="0">
                  <c:v>y</c:v>
                </c:pt>
              </c:strCache>
            </c:strRef>
          </c:tx>
          <c:spPr>
            <a:ln w="38100" cap="rnd">
              <a:noFill/>
              <a:round/>
            </a:ln>
            <a:effectLst/>
          </c:spPr>
          <c:marker>
            <c:symbol val="circle"/>
            <c:size val="5"/>
            <c:spPr>
              <a:solidFill>
                <a:schemeClr val="accent1"/>
              </a:solidFill>
              <a:ln w="9525">
                <a:solidFill>
                  <a:schemeClr val="accent1"/>
                </a:solidFill>
              </a:ln>
              <a:effectLst/>
            </c:spPr>
          </c:marker>
          <c:xVal>
            <c:numRef>
              <c:f>Sheet1!$C$5:$C$10</c:f>
              <c:numCache>
                <c:formatCode>General</c:formatCode>
                <c:ptCount val="6"/>
                <c:pt idx="0">
                  <c:v>1</c:v>
                </c:pt>
                <c:pt idx="1">
                  <c:v>2</c:v>
                </c:pt>
                <c:pt idx="2">
                  <c:v>3</c:v>
                </c:pt>
                <c:pt idx="3">
                  <c:v>4</c:v>
                </c:pt>
                <c:pt idx="4">
                  <c:v>5</c:v>
                </c:pt>
                <c:pt idx="5">
                  <c:v>6</c:v>
                </c:pt>
              </c:numCache>
            </c:numRef>
          </c:xVal>
          <c:yVal>
            <c:numRef>
              <c:f>Sheet1!$D$5:$D$10</c:f>
              <c:numCache>
                <c:formatCode>General</c:formatCode>
                <c:ptCount val="6"/>
                <c:pt idx="0">
                  <c:v>1</c:v>
                </c:pt>
                <c:pt idx="1">
                  <c:v>4</c:v>
                </c:pt>
                <c:pt idx="2">
                  <c:v>9</c:v>
                </c:pt>
                <c:pt idx="3">
                  <c:v>16</c:v>
                </c:pt>
                <c:pt idx="4">
                  <c:v>1</c:v>
                </c:pt>
                <c:pt idx="5">
                  <c:v>36</c:v>
                </c:pt>
              </c:numCache>
            </c:numRef>
          </c:yVal>
          <c:smooth val="0"/>
          <c:extLst>
            <c:ext xmlns:c16="http://schemas.microsoft.com/office/drawing/2014/chart" uri="{C3380CC4-5D6E-409C-BE32-E72D297353CC}">
              <c16:uniqueId val="{00000000-8C99-4ED8-BF5E-6B12EC16E18F}"/>
            </c:ext>
          </c:extLst>
        </c:ser>
        <c:dLbls>
          <c:showLegendKey val="0"/>
          <c:showVal val="0"/>
          <c:showCatName val="0"/>
          <c:showSerName val="0"/>
          <c:showPercent val="0"/>
          <c:showBubbleSize val="0"/>
        </c:dLbls>
        <c:axId val="1846336224"/>
        <c:axId val="1846337184"/>
      </c:scatterChart>
      <c:valAx>
        <c:axId val="1846336224"/>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x</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46337184"/>
        <c:crosses val="autoZero"/>
        <c:crossBetween val="midCat"/>
      </c:valAx>
      <c:valAx>
        <c:axId val="184633718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y</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46336224"/>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1"/>
          <c:order val="1"/>
          <c:tx>
            <c:v>mean</c:v>
          </c:tx>
          <c:spPr>
            <a:ln w="19050" cap="rnd">
              <a:solidFill>
                <a:schemeClr val="accent2"/>
              </a:solidFill>
              <a:round/>
            </a:ln>
            <a:effectLst/>
          </c:spPr>
          <c:marker>
            <c:symbol val="none"/>
          </c:marker>
          <c:cat>
            <c:numRef>
              <c:f>Sheet1!$C$5:$C$10</c:f>
              <c:numCache>
                <c:formatCode>General</c:formatCode>
                <c:ptCount val="6"/>
                <c:pt idx="0">
                  <c:v>1</c:v>
                </c:pt>
                <c:pt idx="1">
                  <c:v>2</c:v>
                </c:pt>
                <c:pt idx="2">
                  <c:v>3</c:v>
                </c:pt>
                <c:pt idx="3">
                  <c:v>4</c:v>
                </c:pt>
                <c:pt idx="4">
                  <c:v>5</c:v>
                </c:pt>
                <c:pt idx="5">
                  <c:v>6</c:v>
                </c:pt>
              </c:numCache>
            </c:numRef>
          </c:cat>
          <c:val>
            <c:numRef>
              <c:f>Sheet1!$F$5:$F$10</c:f>
              <c:numCache>
                <c:formatCode>General</c:formatCode>
                <c:ptCount val="6"/>
                <c:pt idx="0">
                  <c:v>11.166666666666666</c:v>
                </c:pt>
                <c:pt idx="1">
                  <c:v>11.166666666666666</c:v>
                </c:pt>
                <c:pt idx="2">
                  <c:v>11.166666666666666</c:v>
                </c:pt>
                <c:pt idx="3">
                  <c:v>11.166666666666666</c:v>
                </c:pt>
                <c:pt idx="4">
                  <c:v>11.166666666666666</c:v>
                </c:pt>
                <c:pt idx="5">
                  <c:v>11.166666666666666</c:v>
                </c:pt>
              </c:numCache>
            </c:numRef>
          </c:val>
          <c:smooth val="0"/>
          <c:extLst>
            <c:ext xmlns:c16="http://schemas.microsoft.com/office/drawing/2014/chart" uri="{C3380CC4-5D6E-409C-BE32-E72D297353CC}">
              <c16:uniqueId val="{00000000-ACF0-486E-946D-8F3CAF4C25B7}"/>
            </c:ext>
          </c:extLst>
        </c:ser>
        <c:dLbls>
          <c:showLegendKey val="0"/>
          <c:showVal val="0"/>
          <c:showCatName val="0"/>
          <c:showSerName val="0"/>
          <c:showPercent val="0"/>
          <c:showBubbleSize val="0"/>
        </c:dLbls>
        <c:marker val="1"/>
        <c:smooth val="0"/>
        <c:axId val="1846336224"/>
        <c:axId val="1846337184"/>
      </c:lineChart>
      <c:scatterChart>
        <c:scatterStyle val="lineMarker"/>
        <c:varyColors val="0"/>
        <c:ser>
          <c:idx val="0"/>
          <c:order val="0"/>
          <c:tx>
            <c:strRef>
              <c:f>Sheet1!$D$4</c:f>
              <c:strCache>
                <c:ptCount val="1"/>
                <c:pt idx="0">
                  <c:v>y</c:v>
                </c:pt>
              </c:strCache>
            </c:strRef>
          </c:tx>
          <c:spPr>
            <a:ln w="38100" cap="rnd">
              <a:noFill/>
              <a:round/>
            </a:ln>
            <a:effectLst/>
          </c:spPr>
          <c:marker>
            <c:symbol val="circle"/>
            <c:size val="5"/>
            <c:spPr>
              <a:solidFill>
                <a:schemeClr val="accent1"/>
              </a:solidFill>
              <a:ln w="9525">
                <a:solidFill>
                  <a:schemeClr val="accent1"/>
                </a:solidFill>
              </a:ln>
              <a:effectLst/>
            </c:spPr>
          </c:marker>
          <c:xVal>
            <c:numRef>
              <c:f>Sheet1!$C$5:$C$10</c:f>
              <c:numCache>
                <c:formatCode>General</c:formatCode>
                <c:ptCount val="6"/>
                <c:pt idx="0">
                  <c:v>1</c:v>
                </c:pt>
                <c:pt idx="1">
                  <c:v>2</c:v>
                </c:pt>
                <c:pt idx="2">
                  <c:v>3</c:v>
                </c:pt>
                <c:pt idx="3">
                  <c:v>4</c:v>
                </c:pt>
                <c:pt idx="4">
                  <c:v>5</c:v>
                </c:pt>
                <c:pt idx="5">
                  <c:v>6</c:v>
                </c:pt>
              </c:numCache>
            </c:numRef>
          </c:xVal>
          <c:yVal>
            <c:numRef>
              <c:f>Sheet1!$D$5:$D$10</c:f>
              <c:numCache>
                <c:formatCode>General</c:formatCode>
                <c:ptCount val="6"/>
                <c:pt idx="0">
                  <c:v>1</c:v>
                </c:pt>
                <c:pt idx="1">
                  <c:v>4</c:v>
                </c:pt>
                <c:pt idx="2">
                  <c:v>9</c:v>
                </c:pt>
                <c:pt idx="3">
                  <c:v>16</c:v>
                </c:pt>
                <c:pt idx="4">
                  <c:v>1</c:v>
                </c:pt>
                <c:pt idx="5">
                  <c:v>36</c:v>
                </c:pt>
              </c:numCache>
            </c:numRef>
          </c:yVal>
          <c:smooth val="0"/>
          <c:extLst>
            <c:ext xmlns:c16="http://schemas.microsoft.com/office/drawing/2014/chart" uri="{C3380CC4-5D6E-409C-BE32-E72D297353CC}">
              <c16:uniqueId val="{00000001-ACF0-486E-946D-8F3CAF4C25B7}"/>
            </c:ext>
          </c:extLst>
        </c:ser>
        <c:dLbls>
          <c:showLegendKey val="0"/>
          <c:showVal val="0"/>
          <c:showCatName val="0"/>
          <c:showSerName val="0"/>
          <c:showPercent val="0"/>
          <c:showBubbleSize val="0"/>
        </c:dLbls>
        <c:axId val="1846336224"/>
        <c:axId val="1846337184"/>
      </c:scatterChart>
      <c:catAx>
        <c:axId val="1846336224"/>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x</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46337184"/>
        <c:crosses val="autoZero"/>
        <c:auto val="1"/>
        <c:lblAlgn val="ctr"/>
        <c:lblOffset val="100"/>
        <c:noMultiLvlLbl val="0"/>
      </c:catAx>
      <c:valAx>
        <c:axId val="184633718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y</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4633622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1"/>
          <c:order val="1"/>
          <c:tx>
            <c:strRef>
              <c:f>Sheet1!$E$4</c:f>
              <c:strCache>
                <c:ptCount val="1"/>
                <c:pt idx="0">
                  <c:v>exp</c:v>
                </c:pt>
              </c:strCache>
            </c:strRef>
          </c:tx>
          <c:spPr>
            <a:ln w="19050" cap="rnd">
              <a:solidFill>
                <a:schemeClr val="accent2"/>
              </a:solidFill>
              <a:round/>
            </a:ln>
            <a:effectLst/>
          </c:spPr>
          <c:marker>
            <c:symbol val="none"/>
          </c:marker>
          <c:cat>
            <c:numRef>
              <c:f>Sheet1!$C$5:$C$10</c:f>
              <c:numCache>
                <c:formatCode>General</c:formatCode>
                <c:ptCount val="6"/>
                <c:pt idx="0">
                  <c:v>1</c:v>
                </c:pt>
                <c:pt idx="1">
                  <c:v>2</c:v>
                </c:pt>
                <c:pt idx="2">
                  <c:v>3</c:v>
                </c:pt>
                <c:pt idx="3">
                  <c:v>4</c:v>
                </c:pt>
                <c:pt idx="4">
                  <c:v>5</c:v>
                </c:pt>
                <c:pt idx="5">
                  <c:v>6</c:v>
                </c:pt>
              </c:numCache>
            </c:numRef>
          </c:cat>
          <c:val>
            <c:numRef>
              <c:f>Sheet1!$E$5:$E$10</c:f>
              <c:numCache>
                <c:formatCode>General</c:formatCode>
                <c:ptCount val="6"/>
                <c:pt idx="0">
                  <c:v>1</c:v>
                </c:pt>
                <c:pt idx="1">
                  <c:v>4</c:v>
                </c:pt>
                <c:pt idx="2">
                  <c:v>9</c:v>
                </c:pt>
                <c:pt idx="3">
                  <c:v>16</c:v>
                </c:pt>
                <c:pt idx="4">
                  <c:v>25</c:v>
                </c:pt>
                <c:pt idx="5">
                  <c:v>36</c:v>
                </c:pt>
              </c:numCache>
            </c:numRef>
          </c:val>
          <c:smooth val="0"/>
          <c:extLst>
            <c:ext xmlns:c16="http://schemas.microsoft.com/office/drawing/2014/chart" uri="{C3380CC4-5D6E-409C-BE32-E72D297353CC}">
              <c16:uniqueId val="{00000000-5E6C-49BE-8576-EF65F1DA92C8}"/>
            </c:ext>
          </c:extLst>
        </c:ser>
        <c:dLbls>
          <c:showLegendKey val="0"/>
          <c:showVal val="0"/>
          <c:showCatName val="0"/>
          <c:showSerName val="0"/>
          <c:showPercent val="0"/>
          <c:showBubbleSize val="0"/>
        </c:dLbls>
        <c:marker val="1"/>
        <c:smooth val="0"/>
        <c:axId val="1846336224"/>
        <c:axId val="1846337184"/>
      </c:lineChart>
      <c:scatterChart>
        <c:scatterStyle val="lineMarker"/>
        <c:varyColors val="0"/>
        <c:ser>
          <c:idx val="0"/>
          <c:order val="0"/>
          <c:tx>
            <c:strRef>
              <c:f>Sheet1!$D$4</c:f>
              <c:strCache>
                <c:ptCount val="1"/>
                <c:pt idx="0">
                  <c:v>y</c:v>
                </c:pt>
              </c:strCache>
            </c:strRef>
          </c:tx>
          <c:spPr>
            <a:ln w="38100" cap="rnd">
              <a:noFill/>
              <a:round/>
            </a:ln>
            <a:effectLst/>
          </c:spPr>
          <c:marker>
            <c:symbol val="circle"/>
            <c:size val="5"/>
            <c:spPr>
              <a:solidFill>
                <a:schemeClr val="accent1"/>
              </a:solidFill>
              <a:ln w="9525">
                <a:solidFill>
                  <a:schemeClr val="accent1"/>
                </a:solidFill>
              </a:ln>
              <a:effectLst/>
            </c:spPr>
          </c:marker>
          <c:xVal>
            <c:numRef>
              <c:f>Sheet1!$C$5:$C$10</c:f>
              <c:numCache>
                <c:formatCode>General</c:formatCode>
                <c:ptCount val="6"/>
                <c:pt idx="0">
                  <c:v>1</c:v>
                </c:pt>
                <c:pt idx="1">
                  <c:v>2</c:v>
                </c:pt>
                <c:pt idx="2">
                  <c:v>3</c:v>
                </c:pt>
                <c:pt idx="3">
                  <c:v>4</c:v>
                </c:pt>
                <c:pt idx="4">
                  <c:v>5</c:v>
                </c:pt>
                <c:pt idx="5">
                  <c:v>6</c:v>
                </c:pt>
              </c:numCache>
            </c:numRef>
          </c:xVal>
          <c:yVal>
            <c:numRef>
              <c:f>Sheet1!$D$5:$D$10</c:f>
              <c:numCache>
                <c:formatCode>General</c:formatCode>
                <c:ptCount val="6"/>
                <c:pt idx="0">
                  <c:v>1</c:v>
                </c:pt>
                <c:pt idx="1">
                  <c:v>4</c:v>
                </c:pt>
                <c:pt idx="2">
                  <c:v>9</c:v>
                </c:pt>
                <c:pt idx="3">
                  <c:v>16</c:v>
                </c:pt>
                <c:pt idx="4">
                  <c:v>1</c:v>
                </c:pt>
                <c:pt idx="5">
                  <c:v>36</c:v>
                </c:pt>
              </c:numCache>
            </c:numRef>
          </c:yVal>
          <c:smooth val="0"/>
          <c:extLst>
            <c:ext xmlns:c16="http://schemas.microsoft.com/office/drawing/2014/chart" uri="{C3380CC4-5D6E-409C-BE32-E72D297353CC}">
              <c16:uniqueId val="{00000001-5E6C-49BE-8576-EF65F1DA92C8}"/>
            </c:ext>
          </c:extLst>
        </c:ser>
        <c:dLbls>
          <c:showLegendKey val="0"/>
          <c:showVal val="0"/>
          <c:showCatName val="0"/>
          <c:showSerName val="0"/>
          <c:showPercent val="0"/>
          <c:showBubbleSize val="0"/>
        </c:dLbls>
        <c:axId val="1846336224"/>
        <c:axId val="1846337184"/>
      </c:scatterChart>
      <c:catAx>
        <c:axId val="1846336224"/>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x</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46337184"/>
        <c:crosses val="autoZero"/>
        <c:auto val="1"/>
        <c:lblAlgn val="ctr"/>
        <c:lblOffset val="100"/>
        <c:noMultiLvlLbl val="0"/>
      </c:catAx>
      <c:valAx>
        <c:axId val="184633718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y</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4633622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Sheet1!$D$4</c:f>
              <c:strCache>
                <c:ptCount val="1"/>
                <c:pt idx="0">
                  <c:v>y</c:v>
                </c:pt>
              </c:strCache>
            </c:strRef>
          </c:tx>
          <c:spPr>
            <a:ln w="38100" cap="rnd">
              <a:noFill/>
              <a:round/>
            </a:ln>
            <a:effectLst/>
          </c:spPr>
          <c:marker>
            <c:symbol val="circle"/>
            <c:size val="5"/>
            <c:spPr>
              <a:solidFill>
                <a:schemeClr val="accent1"/>
              </a:solidFill>
              <a:ln w="9525">
                <a:solidFill>
                  <a:schemeClr val="accent1"/>
                </a:solidFill>
              </a:ln>
              <a:effectLst/>
            </c:spPr>
          </c:marker>
          <c:trendline>
            <c:spPr>
              <a:ln w="19050" cap="rnd">
                <a:solidFill>
                  <a:schemeClr val="accent2"/>
                </a:solidFill>
                <a:prstDash val="solid"/>
              </a:ln>
              <a:effectLst/>
            </c:spPr>
            <c:trendlineType val="linear"/>
            <c:dispRSqr val="0"/>
            <c:dispEq val="1"/>
            <c:trendlineLbl>
              <c:layout>
                <c:manualLayout>
                  <c:x val="2.4968722659667542E-2"/>
                  <c:y val="-8.628973461650627E-2"/>
                </c:manualLayout>
              </c:layout>
              <c:tx>
                <c:rich>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400" baseline="0" dirty="0"/>
                      <a:t>h(x) = 4.9429x - 6.1333</a:t>
                    </a:r>
                    <a:endParaRPr lang="en-US" sz="1400" dirty="0"/>
                  </a:p>
                </c:rich>
              </c:tx>
              <c:numFmt formatCode="General" sourceLinked="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trendlineLbl>
          </c:trendline>
          <c:xVal>
            <c:numRef>
              <c:f>Sheet1!$C$5:$C$10</c:f>
              <c:numCache>
                <c:formatCode>General</c:formatCode>
                <c:ptCount val="6"/>
                <c:pt idx="0">
                  <c:v>1</c:v>
                </c:pt>
                <c:pt idx="1">
                  <c:v>2</c:v>
                </c:pt>
                <c:pt idx="2">
                  <c:v>3</c:v>
                </c:pt>
                <c:pt idx="3">
                  <c:v>4</c:v>
                </c:pt>
                <c:pt idx="4">
                  <c:v>5</c:v>
                </c:pt>
                <c:pt idx="5">
                  <c:v>6</c:v>
                </c:pt>
              </c:numCache>
            </c:numRef>
          </c:xVal>
          <c:yVal>
            <c:numRef>
              <c:f>Sheet1!$D$5:$D$10</c:f>
              <c:numCache>
                <c:formatCode>General</c:formatCode>
                <c:ptCount val="6"/>
                <c:pt idx="0">
                  <c:v>1</c:v>
                </c:pt>
                <c:pt idx="1">
                  <c:v>4</c:v>
                </c:pt>
                <c:pt idx="2">
                  <c:v>9</c:v>
                </c:pt>
                <c:pt idx="3">
                  <c:v>16</c:v>
                </c:pt>
                <c:pt idx="4">
                  <c:v>1</c:v>
                </c:pt>
                <c:pt idx="5">
                  <c:v>36</c:v>
                </c:pt>
              </c:numCache>
            </c:numRef>
          </c:yVal>
          <c:smooth val="0"/>
          <c:extLst>
            <c:ext xmlns:c16="http://schemas.microsoft.com/office/drawing/2014/chart" uri="{C3380CC4-5D6E-409C-BE32-E72D297353CC}">
              <c16:uniqueId val="{00000001-659D-4D0A-855C-8AF70D3AD6B3}"/>
            </c:ext>
          </c:extLst>
        </c:ser>
        <c:dLbls>
          <c:showLegendKey val="0"/>
          <c:showVal val="0"/>
          <c:showCatName val="0"/>
          <c:showSerName val="0"/>
          <c:showPercent val="0"/>
          <c:showBubbleSize val="0"/>
        </c:dLbls>
        <c:axId val="1846336224"/>
        <c:axId val="1846337184"/>
      </c:scatterChart>
      <c:valAx>
        <c:axId val="1846336224"/>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x</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46337184"/>
        <c:crosses val="autoZero"/>
        <c:crossBetween val="midCat"/>
      </c:valAx>
      <c:valAx>
        <c:axId val="184633718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y</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46336224"/>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Sheet1!$D$4</c:f>
              <c:strCache>
                <c:ptCount val="1"/>
                <c:pt idx="0">
                  <c:v>y</c:v>
                </c:pt>
              </c:strCache>
            </c:strRef>
          </c:tx>
          <c:spPr>
            <a:ln w="38100" cap="rnd">
              <a:noFill/>
              <a:round/>
            </a:ln>
            <a:effectLst/>
          </c:spPr>
          <c:marker>
            <c:symbol val="circle"/>
            <c:size val="5"/>
            <c:spPr>
              <a:solidFill>
                <a:schemeClr val="accent1"/>
              </a:solidFill>
              <a:ln w="9525">
                <a:solidFill>
                  <a:schemeClr val="accent1"/>
                </a:solidFill>
              </a:ln>
              <a:effectLst/>
            </c:spPr>
          </c:marker>
          <c:trendline>
            <c:spPr>
              <a:ln w="19050" cap="rnd">
                <a:solidFill>
                  <a:schemeClr val="accent2"/>
                </a:solidFill>
                <a:prstDash val="solid"/>
              </a:ln>
              <a:effectLst/>
            </c:spPr>
            <c:trendlineType val="poly"/>
            <c:order val="6"/>
            <c:dispRSqr val="0"/>
            <c:dispEq val="1"/>
            <c:trendlineLbl>
              <c:layout>
                <c:manualLayout>
                  <c:x val="0.19047619047619047"/>
                  <c:y val="-8.2070707070707072E-2"/>
                </c:manualLayout>
              </c:layout>
              <c:tx>
                <c:rich>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en-US" sz="1400" baseline="0" dirty="0"/>
                      <a:t>h(x) = 1x</a:t>
                    </a:r>
                    <a:r>
                      <a:rPr lang="en-US" sz="1400" baseline="30000" dirty="0"/>
                      <a:t>5</a:t>
                    </a:r>
                    <a:r>
                      <a:rPr lang="en-US" sz="1400" baseline="0" dirty="0"/>
                      <a:t> - 16x</a:t>
                    </a:r>
                    <a:r>
                      <a:rPr lang="en-US" sz="1400" baseline="30000" dirty="0"/>
                      <a:t>4</a:t>
                    </a:r>
                    <a:r>
                      <a:rPr lang="en-US" sz="1400" baseline="0" dirty="0"/>
                      <a:t> + 95x</a:t>
                    </a:r>
                    <a:r>
                      <a:rPr lang="en-US" sz="1400" baseline="30000" dirty="0"/>
                      <a:t>3</a:t>
                    </a:r>
                    <a:r>
                      <a:rPr lang="en-US" sz="1400" baseline="0" dirty="0"/>
                      <a:t> - 259x</a:t>
                    </a:r>
                    <a:r>
                      <a:rPr lang="en-US" sz="1400" baseline="30000" dirty="0"/>
                      <a:t>2</a:t>
                    </a:r>
                    <a:r>
                      <a:rPr lang="en-US" sz="1400" baseline="0" dirty="0"/>
                      <a:t> + 324x - 144</a:t>
                    </a:r>
                    <a:endParaRPr lang="en-US" sz="1400" dirty="0"/>
                  </a:p>
                </c:rich>
              </c:tx>
              <c:numFmt formatCode="General" sourceLinked="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trendlineLbl>
          </c:trendline>
          <c:xVal>
            <c:numRef>
              <c:f>Sheet1!$C$5:$C$10</c:f>
              <c:numCache>
                <c:formatCode>General</c:formatCode>
                <c:ptCount val="6"/>
                <c:pt idx="0">
                  <c:v>1</c:v>
                </c:pt>
                <c:pt idx="1">
                  <c:v>2</c:v>
                </c:pt>
                <c:pt idx="2">
                  <c:v>3</c:v>
                </c:pt>
                <c:pt idx="3">
                  <c:v>4</c:v>
                </c:pt>
                <c:pt idx="4">
                  <c:v>5</c:v>
                </c:pt>
                <c:pt idx="5">
                  <c:v>6</c:v>
                </c:pt>
              </c:numCache>
            </c:numRef>
          </c:xVal>
          <c:yVal>
            <c:numRef>
              <c:f>Sheet1!$D$5:$D$10</c:f>
              <c:numCache>
                <c:formatCode>General</c:formatCode>
                <c:ptCount val="6"/>
                <c:pt idx="0">
                  <c:v>1</c:v>
                </c:pt>
                <c:pt idx="1">
                  <c:v>4</c:v>
                </c:pt>
                <c:pt idx="2">
                  <c:v>9</c:v>
                </c:pt>
                <c:pt idx="3">
                  <c:v>16</c:v>
                </c:pt>
                <c:pt idx="4">
                  <c:v>1</c:v>
                </c:pt>
                <c:pt idx="5">
                  <c:v>36</c:v>
                </c:pt>
              </c:numCache>
            </c:numRef>
          </c:yVal>
          <c:smooth val="0"/>
          <c:extLst>
            <c:ext xmlns:c16="http://schemas.microsoft.com/office/drawing/2014/chart" uri="{C3380CC4-5D6E-409C-BE32-E72D297353CC}">
              <c16:uniqueId val="{00000001-D6C9-48C0-95F5-BC439C79936F}"/>
            </c:ext>
          </c:extLst>
        </c:ser>
        <c:dLbls>
          <c:showLegendKey val="0"/>
          <c:showVal val="0"/>
          <c:showCatName val="0"/>
          <c:showSerName val="0"/>
          <c:showPercent val="0"/>
          <c:showBubbleSize val="0"/>
        </c:dLbls>
        <c:axId val="1846336224"/>
        <c:axId val="1846337184"/>
      </c:scatterChart>
      <c:valAx>
        <c:axId val="1846336224"/>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x</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46337184"/>
        <c:crosses val="autoZero"/>
        <c:crossBetween val="midCat"/>
      </c:valAx>
      <c:valAx>
        <c:axId val="184633718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y</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46336224"/>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1F56DAC-667B-4714-880C-603F24F05912}" type="doc">
      <dgm:prSet loTypeId="urn:microsoft.com/office/officeart/2005/8/layout/hProcess9" loCatId="process" qsTypeId="urn:microsoft.com/office/officeart/2005/8/quickstyle/simple1" qsCatId="simple" csTypeId="urn:microsoft.com/office/officeart/2005/8/colors/accent1_2" csCatId="accent1" phldr="1"/>
      <dgm:spPr/>
    </dgm:pt>
    <dgm:pt modelId="{B79D49AE-C4BC-4451-8B61-36344AC8A8CC}">
      <dgm:prSet phldrT="[Text]"/>
      <dgm:spPr/>
      <dgm:t>
        <a:bodyPr/>
        <a:lstStyle/>
        <a:p>
          <a:r>
            <a:rPr lang="en-US" dirty="0"/>
            <a:t>Supervised Learning</a:t>
          </a:r>
        </a:p>
      </dgm:t>
    </dgm:pt>
    <dgm:pt modelId="{6F7F5DD6-6DE9-47B1-9956-BB5CC5C2F674}" type="parTrans" cxnId="{BB44AAC3-B52D-4C06-BFD7-A642F302041C}">
      <dgm:prSet/>
      <dgm:spPr/>
      <dgm:t>
        <a:bodyPr/>
        <a:lstStyle/>
        <a:p>
          <a:endParaRPr lang="en-US"/>
        </a:p>
      </dgm:t>
    </dgm:pt>
    <dgm:pt modelId="{CAF0C5CC-FCA6-43DB-824D-925055DF913E}" type="sibTrans" cxnId="{BB44AAC3-B52D-4C06-BFD7-A642F302041C}">
      <dgm:prSet/>
      <dgm:spPr/>
      <dgm:t>
        <a:bodyPr/>
        <a:lstStyle/>
        <a:p>
          <a:endParaRPr lang="en-US"/>
        </a:p>
      </dgm:t>
    </dgm:pt>
    <dgm:pt modelId="{F56C4BC8-0ED4-400F-A75E-EF237D4F94B6}">
      <dgm:prSet phldrT="[Text]"/>
      <dgm:spPr/>
      <dgm:t>
        <a:bodyPr/>
        <a:lstStyle/>
        <a:p>
          <a:r>
            <a:rPr lang="en-US" dirty="0"/>
            <a:t>Training Data</a:t>
          </a:r>
        </a:p>
      </dgm:t>
    </dgm:pt>
    <dgm:pt modelId="{4293304B-5236-46D6-9083-D1E8E81B63BB}" type="parTrans" cxnId="{4B35E22E-3BF8-490E-B7B4-54CD143774CE}">
      <dgm:prSet/>
      <dgm:spPr/>
      <dgm:t>
        <a:bodyPr/>
        <a:lstStyle/>
        <a:p>
          <a:endParaRPr lang="en-US"/>
        </a:p>
      </dgm:t>
    </dgm:pt>
    <dgm:pt modelId="{B2D14E5B-C6D9-499E-9834-A7B65322007B}" type="sibTrans" cxnId="{4B35E22E-3BF8-490E-B7B4-54CD143774CE}">
      <dgm:prSet/>
      <dgm:spPr/>
      <dgm:t>
        <a:bodyPr/>
        <a:lstStyle/>
        <a:p>
          <a:endParaRPr lang="en-US"/>
        </a:p>
      </dgm:t>
    </dgm:pt>
    <dgm:pt modelId="{1F1F3557-D6AF-47CF-8C3D-D8351D586D3F}">
      <dgm:prSet phldrT="[Text]"/>
      <dgm:spPr/>
      <dgm:t>
        <a:bodyPr/>
        <a:lstStyle/>
        <a:p>
          <a:r>
            <a:rPr lang="en-US" dirty="0"/>
            <a:t>Training &amp; Testing</a:t>
          </a:r>
        </a:p>
      </dgm:t>
    </dgm:pt>
    <dgm:pt modelId="{E4334A6C-1385-4594-A085-BF177D0B5A2C}" type="parTrans" cxnId="{33BB2657-E490-4F1A-B796-5E0C2BADBBD7}">
      <dgm:prSet/>
      <dgm:spPr/>
      <dgm:t>
        <a:bodyPr/>
        <a:lstStyle/>
        <a:p>
          <a:endParaRPr lang="en-US"/>
        </a:p>
      </dgm:t>
    </dgm:pt>
    <dgm:pt modelId="{2D333EDA-78FE-4356-BF88-7C120261B098}" type="sibTrans" cxnId="{33BB2657-E490-4F1A-B796-5E0C2BADBBD7}">
      <dgm:prSet/>
      <dgm:spPr/>
      <dgm:t>
        <a:bodyPr/>
        <a:lstStyle/>
        <a:p>
          <a:endParaRPr lang="en-US"/>
        </a:p>
      </dgm:t>
    </dgm:pt>
    <dgm:pt modelId="{451AA810-5B15-4A81-BA5D-D4EA5D9B1831}">
      <dgm:prSet phldrT="[Text]"/>
      <dgm:spPr/>
      <dgm:t>
        <a:bodyPr/>
        <a:lstStyle/>
        <a:p>
          <a:r>
            <a:rPr lang="en-US" dirty="0"/>
            <a:t>Types of supervised ML Models</a:t>
          </a:r>
        </a:p>
      </dgm:t>
    </dgm:pt>
    <dgm:pt modelId="{1AD1F506-36C8-4DEB-80FD-AC22DFB23149}" type="parTrans" cxnId="{E5A0DC4B-9039-4EFF-B096-55D281F90705}">
      <dgm:prSet/>
      <dgm:spPr/>
      <dgm:t>
        <a:bodyPr/>
        <a:lstStyle/>
        <a:p>
          <a:endParaRPr lang="en-US"/>
        </a:p>
      </dgm:t>
    </dgm:pt>
    <dgm:pt modelId="{A332E490-9AC3-4DF1-AE94-0EED0AE5B1C2}" type="sibTrans" cxnId="{E5A0DC4B-9039-4EFF-B096-55D281F90705}">
      <dgm:prSet/>
      <dgm:spPr/>
      <dgm:t>
        <a:bodyPr/>
        <a:lstStyle/>
        <a:p>
          <a:endParaRPr lang="en-US"/>
        </a:p>
      </dgm:t>
    </dgm:pt>
    <dgm:pt modelId="{A162E7D4-7296-40E4-B5A0-41D2FAD1277E}">
      <dgm:prSet phldrT="[Text]"/>
      <dgm:spPr/>
      <dgm:t>
        <a:bodyPr/>
        <a:lstStyle/>
        <a:p>
          <a:r>
            <a:rPr lang="en-US" dirty="0"/>
            <a:t>Use in AI</a:t>
          </a:r>
        </a:p>
      </dgm:t>
    </dgm:pt>
    <dgm:pt modelId="{C4245560-DC20-46FA-AFAD-689EED375F1D}" type="parTrans" cxnId="{6359E31F-C4E6-4C29-AD30-FAD8EC9DFAED}">
      <dgm:prSet/>
      <dgm:spPr/>
      <dgm:t>
        <a:bodyPr/>
        <a:lstStyle/>
        <a:p>
          <a:endParaRPr lang="en-US"/>
        </a:p>
      </dgm:t>
    </dgm:pt>
    <dgm:pt modelId="{0FD7DD4D-9758-4BFF-A28C-3499268CD46E}" type="sibTrans" cxnId="{6359E31F-C4E6-4C29-AD30-FAD8EC9DFAED}">
      <dgm:prSet/>
      <dgm:spPr/>
      <dgm:t>
        <a:bodyPr/>
        <a:lstStyle/>
        <a:p>
          <a:endParaRPr lang="en-US"/>
        </a:p>
      </dgm:t>
    </dgm:pt>
    <dgm:pt modelId="{FB6BA4AC-366A-4DD7-9208-7CAECBC61ACD}">
      <dgm:prSet phldrT="[Text]"/>
      <dgm:spPr/>
      <dgm:t>
        <a:bodyPr/>
        <a:lstStyle/>
        <a:p>
          <a:r>
            <a:rPr lang="en-US" dirty="0"/>
            <a:t>Agents &amp; ML</a:t>
          </a:r>
        </a:p>
      </dgm:t>
    </dgm:pt>
    <dgm:pt modelId="{1BBE2391-B3F0-4D13-BE2F-3139F04AF03A}" type="parTrans" cxnId="{A9DD7A30-ED7B-4678-A229-1A08ECD58F0D}">
      <dgm:prSet/>
      <dgm:spPr/>
      <dgm:t>
        <a:bodyPr/>
        <a:lstStyle/>
        <a:p>
          <a:endParaRPr lang="en-US"/>
        </a:p>
      </dgm:t>
    </dgm:pt>
    <dgm:pt modelId="{82E406E3-D8B4-42F7-B8D8-955AAE0E8DC7}" type="sibTrans" cxnId="{A9DD7A30-ED7B-4678-A229-1A08ECD58F0D}">
      <dgm:prSet/>
      <dgm:spPr/>
      <dgm:t>
        <a:bodyPr/>
        <a:lstStyle/>
        <a:p>
          <a:endParaRPr lang="en-US"/>
        </a:p>
      </dgm:t>
    </dgm:pt>
    <dgm:pt modelId="{DE46D941-84A0-4CD6-8EB7-26AED89C8EDE}" type="pres">
      <dgm:prSet presAssocID="{B1F56DAC-667B-4714-880C-603F24F05912}" presName="CompostProcess" presStyleCnt="0">
        <dgm:presLayoutVars>
          <dgm:dir/>
          <dgm:resizeHandles val="exact"/>
        </dgm:presLayoutVars>
      </dgm:prSet>
      <dgm:spPr/>
    </dgm:pt>
    <dgm:pt modelId="{F52D2AE5-D223-4FD2-AE0F-78620D37C70E}" type="pres">
      <dgm:prSet presAssocID="{B1F56DAC-667B-4714-880C-603F24F05912}" presName="arrow" presStyleLbl="bgShp" presStyleIdx="0" presStyleCnt="1"/>
      <dgm:spPr/>
    </dgm:pt>
    <dgm:pt modelId="{A74280AD-9FFD-4AA9-9C0B-AE915AECE173}" type="pres">
      <dgm:prSet presAssocID="{B1F56DAC-667B-4714-880C-603F24F05912}" presName="linearProcess" presStyleCnt="0"/>
      <dgm:spPr/>
    </dgm:pt>
    <dgm:pt modelId="{53DC3ABF-67AF-4AE6-B5D8-01CDD9772369}" type="pres">
      <dgm:prSet presAssocID="{FB6BA4AC-366A-4DD7-9208-7CAECBC61ACD}" presName="textNode" presStyleLbl="node1" presStyleIdx="0" presStyleCnt="6">
        <dgm:presLayoutVars>
          <dgm:bulletEnabled val="1"/>
        </dgm:presLayoutVars>
      </dgm:prSet>
      <dgm:spPr/>
    </dgm:pt>
    <dgm:pt modelId="{CD05CC86-C5B3-489E-9300-99D83F82B9E0}" type="pres">
      <dgm:prSet presAssocID="{82E406E3-D8B4-42F7-B8D8-955AAE0E8DC7}" presName="sibTrans" presStyleCnt="0"/>
      <dgm:spPr/>
    </dgm:pt>
    <dgm:pt modelId="{0AB9704D-A203-4650-92A1-56E17AD50F58}" type="pres">
      <dgm:prSet presAssocID="{B79D49AE-C4BC-4451-8B61-36344AC8A8CC}" presName="textNode" presStyleLbl="node1" presStyleIdx="1" presStyleCnt="6">
        <dgm:presLayoutVars>
          <dgm:bulletEnabled val="1"/>
        </dgm:presLayoutVars>
      </dgm:prSet>
      <dgm:spPr/>
    </dgm:pt>
    <dgm:pt modelId="{F4D45C06-9090-431D-9BC9-391ED8FB0A5C}" type="pres">
      <dgm:prSet presAssocID="{CAF0C5CC-FCA6-43DB-824D-925055DF913E}" presName="sibTrans" presStyleCnt="0"/>
      <dgm:spPr/>
    </dgm:pt>
    <dgm:pt modelId="{5FE25C4C-2BC5-4F54-BE1F-F3BEC29E749D}" type="pres">
      <dgm:prSet presAssocID="{F56C4BC8-0ED4-400F-A75E-EF237D4F94B6}" presName="textNode" presStyleLbl="node1" presStyleIdx="2" presStyleCnt="6">
        <dgm:presLayoutVars>
          <dgm:bulletEnabled val="1"/>
        </dgm:presLayoutVars>
      </dgm:prSet>
      <dgm:spPr/>
    </dgm:pt>
    <dgm:pt modelId="{0EDCB13F-2541-4902-AB34-BAB340280A40}" type="pres">
      <dgm:prSet presAssocID="{B2D14E5B-C6D9-499E-9834-A7B65322007B}" presName="sibTrans" presStyleCnt="0"/>
      <dgm:spPr/>
    </dgm:pt>
    <dgm:pt modelId="{754C964E-78AB-4328-868B-C63F78DDBC38}" type="pres">
      <dgm:prSet presAssocID="{1F1F3557-D6AF-47CF-8C3D-D8351D586D3F}" presName="textNode" presStyleLbl="node1" presStyleIdx="3" presStyleCnt="6">
        <dgm:presLayoutVars>
          <dgm:bulletEnabled val="1"/>
        </dgm:presLayoutVars>
      </dgm:prSet>
      <dgm:spPr/>
    </dgm:pt>
    <dgm:pt modelId="{17FEA27C-B94C-4644-A856-9D9876CD3195}" type="pres">
      <dgm:prSet presAssocID="{2D333EDA-78FE-4356-BF88-7C120261B098}" presName="sibTrans" presStyleCnt="0"/>
      <dgm:spPr/>
    </dgm:pt>
    <dgm:pt modelId="{98799300-0DD4-4960-A025-4ADACB2CE7BB}" type="pres">
      <dgm:prSet presAssocID="{451AA810-5B15-4A81-BA5D-D4EA5D9B1831}" presName="textNode" presStyleLbl="node1" presStyleIdx="4" presStyleCnt="6">
        <dgm:presLayoutVars>
          <dgm:bulletEnabled val="1"/>
        </dgm:presLayoutVars>
      </dgm:prSet>
      <dgm:spPr/>
    </dgm:pt>
    <dgm:pt modelId="{A37AB7AD-E927-409A-97DA-5DD8DF66D021}" type="pres">
      <dgm:prSet presAssocID="{A332E490-9AC3-4DF1-AE94-0EED0AE5B1C2}" presName="sibTrans" presStyleCnt="0"/>
      <dgm:spPr/>
    </dgm:pt>
    <dgm:pt modelId="{054AE80D-D322-4C7E-8CAE-447DBCBB2AA6}" type="pres">
      <dgm:prSet presAssocID="{A162E7D4-7296-40E4-B5A0-41D2FAD1277E}" presName="textNode" presStyleLbl="node1" presStyleIdx="5" presStyleCnt="6">
        <dgm:presLayoutVars>
          <dgm:bulletEnabled val="1"/>
        </dgm:presLayoutVars>
      </dgm:prSet>
      <dgm:spPr/>
    </dgm:pt>
  </dgm:ptLst>
  <dgm:cxnLst>
    <dgm:cxn modelId="{6359E31F-C4E6-4C29-AD30-FAD8EC9DFAED}" srcId="{B1F56DAC-667B-4714-880C-603F24F05912}" destId="{A162E7D4-7296-40E4-B5A0-41D2FAD1277E}" srcOrd="5" destOrd="0" parTransId="{C4245560-DC20-46FA-AFAD-689EED375F1D}" sibTransId="{0FD7DD4D-9758-4BFF-A28C-3499268CD46E}"/>
    <dgm:cxn modelId="{C9019E29-62B0-4C86-84B0-A9D37B1CEB0D}" type="presOf" srcId="{B79D49AE-C4BC-4451-8B61-36344AC8A8CC}" destId="{0AB9704D-A203-4650-92A1-56E17AD50F58}" srcOrd="0" destOrd="0" presId="urn:microsoft.com/office/officeart/2005/8/layout/hProcess9"/>
    <dgm:cxn modelId="{45C4C729-75E0-431D-9CF1-307AAE101580}" type="presOf" srcId="{1F1F3557-D6AF-47CF-8C3D-D8351D586D3F}" destId="{754C964E-78AB-4328-868B-C63F78DDBC38}" srcOrd="0" destOrd="0" presId="urn:microsoft.com/office/officeart/2005/8/layout/hProcess9"/>
    <dgm:cxn modelId="{4B35E22E-3BF8-490E-B7B4-54CD143774CE}" srcId="{B1F56DAC-667B-4714-880C-603F24F05912}" destId="{F56C4BC8-0ED4-400F-A75E-EF237D4F94B6}" srcOrd="2" destOrd="0" parTransId="{4293304B-5236-46D6-9083-D1E8E81B63BB}" sibTransId="{B2D14E5B-C6D9-499E-9834-A7B65322007B}"/>
    <dgm:cxn modelId="{A9DD7A30-ED7B-4678-A229-1A08ECD58F0D}" srcId="{B1F56DAC-667B-4714-880C-603F24F05912}" destId="{FB6BA4AC-366A-4DD7-9208-7CAECBC61ACD}" srcOrd="0" destOrd="0" parTransId="{1BBE2391-B3F0-4D13-BE2F-3139F04AF03A}" sibTransId="{82E406E3-D8B4-42F7-B8D8-955AAE0E8DC7}"/>
    <dgm:cxn modelId="{E5A0DC4B-9039-4EFF-B096-55D281F90705}" srcId="{B1F56DAC-667B-4714-880C-603F24F05912}" destId="{451AA810-5B15-4A81-BA5D-D4EA5D9B1831}" srcOrd="4" destOrd="0" parTransId="{1AD1F506-36C8-4DEB-80FD-AC22DFB23149}" sibTransId="{A332E490-9AC3-4DF1-AE94-0EED0AE5B1C2}"/>
    <dgm:cxn modelId="{33BB2657-E490-4F1A-B796-5E0C2BADBBD7}" srcId="{B1F56DAC-667B-4714-880C-603F24F05912}" destId="{1F1F3557-D6AF-47CF-8C3D-D8351D586D3F}" srcOrd="3" destOrd="0" parTransId="{E4334A6C-1385-4594-A085-BF177D0B5A2C}" sibTransId="{2D333EDA-78FE-4356-BF88-7C120261B098}"/>
    <dgm:cxn modelId="{02B7229F-BE61-40CC-8A97-60FE610C9673}" type="presOf" srcId="{B1F56DAC-667B-4714-880C-603F24F05912}" destId="{DE46D941-84A0-4CD6-8EB7-26AED89C8EDE}" srcOrd="0" destOrd="0" presId="urn:microsoft.com/office/officeart/2005/8/layout/hProcess9"/>
    <dgm:cxn modelId="{C74790AF-3C74-4366-ADBB-B2C78FC7C8F2}" type="presOf" srcId="{FB6BA4AC-366A-4DD7-9208-7CAECBC61ACD}" destId="{53DC3ABF-67AF-4AE6-B5D8-01CDD9772369}" srcOrd="0" destOrd="0" presId="urn:microsoft.com/office/officeart/2005/8/layout/hProcess9"/>
    <dgm:cxn modelId="{DD47E2B2-ADFE-4CA3-9539-2CF918532CF9}" type="presOf" srcId="{451AA810-5B15-4A81-BA5D-D4EA5D9B1831}" destId="{98799300-0DD4-4960-A025-4ADACB2CE7BB}" srcOrd="0" destOrd="0" presId="urn:microsoft.com/office/officeart/2005/8/layout/hProcess9"/>
    <dgm:cxn modelId="{F079C2BD-CA5D-4C90-B667-584578C83E8C}" type="presOf" srcId="{A162E7D4-7296-40E4-B5A0-41D2FAD1277E}" destId="{054AE80D-D322-4C7E-8CAE-447DBCBB2AA6}" srcOrd="0" destOrd="0" presId="urn:microsoft.com/office/officeart/2005/8/layout/hProcess9"/>
    <dgm:cxn modelId="{BB44AAC3-B52D-4C06-BFD7-A642F302041C}" srcId="{B1F56DAC-667B-4714-880C-603F24F05912}" destId="{B79D49AE-C4BC-4451-8B61-36344AC8A8CC}" srcOrd="1" destOrd="0" parTransId="{6F7F5DD6-6DE9-47B1-9956-BB5CC5C2F674}" sibTransId="{CAF0C5CC-FCA6-43DB-824D-925055DF913E}"/>
    <dgm:cxn modelId="{404C62E0-031A-4B07-B13C-553C8BE8F2C0}" type="presOf" srcId="{F56C4BC8-0ED4-400F-A75E-EF237D4F94B6}" destId="{5FE25C4C-2BC5-4F54-BE1F-F3BEC29E749D}" srcOrd="0" destOrd="0" presId="urn:microsoft.com/office/officeart/2005/8/layout/hProcess9"/>
    <dgm:cxn modelId="{C23F2E25-141C-4D03-8F91-9C64A93670D7}" type="presParOf" srcId="{DE46D941-84A0-4CD6-8EB7-26AED89C8EDE}" destId="{F52D2AE5-D223-4FD2-AE0F-78620D37C70E}" srcOrd="0" destOrd="0" presId="urn:microsoft.com/office/officeart/2005/8/layout/hProcess9"/>
    <dgm:cxn modelId="{8F0079CE-23EC-451A-9C50-16CA9DB9548D}" type="presParOf" srcId="{DE46D941-84A0-4CD6-8EB7-26AED89C8EDE}" destId="{A74280AD-9FFD-4AA9-9C0B-AE915AECE173}" srcOrd="1" destOrd="0" presId="urn:microsoft.com/office/officeart/2005/8/layout/hProcess9"/>
    <dgm:cxn modelId="{3FAA2E6F-2D6A-422E-9B60-E7CC370A0D3E}" type="presParOf" srcId="{A74280AD-9FFD-4AA9-9C0B-AE915AECE173}" destId="{53DC3ABF-67AF-4AE6-B5D8-01CDD9772369}" srcOrd="0" destOrd="0" presId="urn:microsoft.com/office/officeart/2005/8/layout/hProcess9"/>
    <dgm:cxn modelId="{77078556-8206-402C-992C-585E484D40D2}" type="presParOf" srcId="{A74280AD-9FFD-4AA9-9C0B-AE915AECE173}" destId="{CD05CC86-C5B3-489E-9300-99D83F82B9E0}" srcOrd="1" destOrd="0" presId="urn:microsoft.com/office/officeart/2005/8/layout/hProcess9"/>
    <dgm:cxn modelId="{8724206F-2A0D-49D8-A1BC-97CA6A8CAEF6}" type="presParOf" srcId="{A74280AD-9FFD-4AA9-9C0B-AE915AECE173}" destId="{0AB9704D-A203-4650-92A1-56E17AD50F58}" srcOrd="2" destOrd="0" presId="urn:microsoft.com/office/officeart/2005/8/layout/hProcess9"/>
    <dgm:cxn modelId="{D52F45E2-E3EF-436A-9746-02E5BB338474}" type="presParOf" srcId="{A74280AD-9FFD-4AA9-9C0B-AE915AECE173}" destId="{F4D45C06-9090-431D-9BC9-391ED8FB0A5C}" srcOrd="3" destOrd="0" presId="urn:microsoft.com/office/officeart/2005/8/layout/hProcess9"/>
    <dgm:cxn modelId="{D0D8401F-EFA6-4902-9C0E-F95EA024577B}" type="presParOf" srcId="{A74280AD-9FFD-4AA9-9C0B-AE915AECE173}" destId="{5FE25C4C-2BC5-4F54-BE1F-F3BEC29E749D}" srcOrd="4" destOrd="0" presId="urn:microsoft.com/office/officeart/2005/8/layout/hProcess9"/>
    <dgm:cxn modelId="{43C09B57-5BCC-4BFD-AE0A-15BBA94D7B0E}" type="presParOf" srcId="{A74280AD-9FFD-4AA9-9C0B-AE915AECE173}" destId="{0EDCB13F-2541-4902-AB34-BAB340280A40}" srcOrd="5" destOrd="0" presId="urn:microsoft.com/office/officeart/2005/8/layout/hProcess9"/>
    <dgm:cxn modelId="{DC6EF464-186C-45A6-95C0-582BFA4C0970}" type="presParOf" srcId="{A74280AD-9FFD-4AA9-9C0B-AE915AECE173}" destId="{754C964E-78AB-4328-868B-C63F78DDBC38}" srcOrd="6" destOrd="0" presId="urn:microsoft.com/office/officeart/2005/8/layout/hProcess9"/>
    <dgm:cxn modelId="{A1E9AEF2-30C3-47D3-9252-D68FC2DD4980}" type="presParOf" srcId="{A74280AD-9FFD-4AA9-9C0B-AE915AECE173}" destId="{17FEA27C-B94C-4644-A856-9D9876CD3195}" srcOrd="7" destOrd="0" presId="urn:microsoft.com/office/officeart/2005/8/layout/hProcess9"/>
    <dgm:cxn modelId="{D6050178-2CF6-4FD5-867B-252793DDCBD2}" type="presParOf" srcId="{A74280AD-9FFD-4AA9-9C0B-AE915AECE173}" destId="{98799300-0DD4-4960-A025-4ADACB2CE7BB}" srcOrd="8" destOrd="0" presId="urn:microsoft.com/office/officeart/2005/8/layout/hProcess9"/>
    <dgm:cxn modelId="{228BD13C-2EF4-4593-AFA1-48A1C51F001F}" type="presParOf" srcId="{A74280AD-9FFD-4AA9-9C0B-AE915AECE173}" destId="{A37AB7AD-E927-409A-97DA-5DD8DF66D021}" srcOrd="9" destOrd="0" presId="urn:microsoft.com/office/officeart/2005/8/layout/hProcess9"/>
    <dgm:cxn modelId="{C420B259-13E5-4F4E-BA63-F21CB6DCA6D6}" type="presParOf" srcId="{A74280AD-9FFD-4AA9-9C0B-AE915AECE173}" destId="{054AE80D-D322-4C7E-8CAE-447DBCBB2AA6}" srcOrd="10"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2D2AE5-D223-4FD2-AE0F-78620D37C70E}">
      <dsp:nvSpPr>
        <dsp:cNvPr id="0" name=""/>
        <dsp:cNvSpPr/>
      </dsp:nvSpPr>
      <dsp:spPr>
        <a:xfrm>
          <a:off x="788669" y="0"/>
          <a:ext cx="8938260" cy="3505200"/>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DC3ABF-67AF-4AE6-B5D8-01CDD9772369}">
      <dsp:nvSpPr>
        <dsp:cNvPr id="0" name=""/>
        <dsp:cNvSpPr/>
      </dsp:nvSpPr>
      <dsp:spPr>
        <a:xfrm>
          <a:off x="233" y="1051559"/>
          <a:ext cx="1679247" cy="14020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Agents &amp; ML</a:t>
          </a:r>
        </a:p>
      </dsp:txBody>
      <dsp:txXfrm>
        <a:off x="68677" y="1120003"/>
        <a:ext cx="1542359" cy="1265192"/>
      </dsp:txXfrm>
    </dsp:sp>
    <dsp:sp modelId="{0AB9704D-A203-4650-92A1-56E17AD50F58}">
      <dsp:nvSpPr>
        <dsp:cNvPr id="0" name=""/>
        <dsp:cNvSpPr/>
      </dsp:nvSpPr>
      <dsp:spPr>
        <a:xfrm>
          <a:off x="1767410" y="1051559"/>
          <a:ext cx="1679247" cy="14020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Supervised Learning</a:t>
          </a:r>
        </a:p>
      </dsp:txBody>
      <dsp:txXfrm>
        <a:off x="1835854" y="1120003"/>
        <a:ext cx="1542359" cy="1265192"/>
      </dsp:txXfrm>
    </dsp:sp>
    <dsp:sp modelId="{5FE25C4C-2BC5-4F54-BE1F-F3BEC29E749D}">
      <dsp:nvSpPr>
        <dsp:cNvPr id="0" name=""/>
        <dsp:cNvSpPr/>
      </dsp:nvSpPr>
      <dsp:spPr>
        <a:xfrm>
          <a:off x="3534587" y="1051559"/>
          <a:ext cx="1679247" cy="14020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Training Data</a:t>
          </a:r>
        </a:p>
      </dsp:txBody>
      <dsp:txXfrm>
        <a:off x="3603031" y="1120003"/>
        <a:ext cx="1542359" cy="1265192"/>
      </dsp:txXfrm>
    </dsp:sp>
    <dsp:sp modelId="{754C964E-78AB-4328-868B-C63F78DDBC38}">
      <dsp:nvSpPr>
        <dsp:cNvPr id="0" name=""/>
        <dsp:cNvSpPr/>
      </dsp:nvSpPr>
      <dsp:spPr>
        <a:xfrm>
          <a:off x="5301764" y="1051559"/>
          <a:ext cx="1679247" cy="14020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Training &amp; Testing</a:t>
          </a:r>
        </a:p>
      </dsp:txBody>
      <dsp:txXfrm>
        <a:off x="5370208" y="1120003"/>
        <a:ext cx="1542359" cy="1265192"/>
      </dsp:txXfrm>
    </dsp:sp>
    <dsp:sp modelId="{98799300-0DD4-4960-A025-4ADACB2CE7BB}">
      <dsp:nvSpPr>
        <dsp:cNvPr id="0" name=""/>
        <dsp:cNvSpPr/>
      </dsp:nvSpPr>
      <dsp:spPr>
        <a:xfrm>
          <a:off x="7068941" y="1051559"/>
          <a:ext cx="1679247" cy="14020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Types of supervised ML Models</a:t>
          </a:r>
        </a:p>
      </dsp:txBody>
      <dsp:txXfrm>
        <a:off x="7137385" y="1120003"/>
        <a:ext cx="1542359" cy="1265192"/>
      </dsp:txXfrm>
    </dsp:sp>
    <dsp:sp modelId="{054AE80D-D322-4C7E-8CAE-447DBCBB2AA6}">
      <dsp:nvSpPr>
        <dsp:cNvPr id="0" name=""/>
        <dsp:cNvSpPr/>
      </dsp:nvSpPr>
      <dsp:spPr>
        <a:xfrm>
          <a:off x="8836119" y="1051559"/>
          <a:ext cx="1679247" cy="14020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Use in AI</a:t>
          </a:r>
        </a:p>
      </dsp:txBody>
      <dsp:txXfrm>
        <a:off x="8904563" y="1120003"/>
        <a:ext cx="1542359" cy="1265192"/>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0.22081</cdr:x>
      <cdr:y>0.09106</cdr:y>
    </cdr:from>
    <cdr:to>
      <cdr:x>0.81919</cdr:x>
      <cdr:y>0.24891</cdr:y>
    </cdr:to>
    <cdr:sp macro="" textlink="">
      <cdr:nvSpPr>
        <cdr:cNvPr id="2" name="TextBox 1">
          <a:extLst xmlns:a="http://schemas.openxmlformats.org/drawingml/2006/main">
            <a:ext uri="{FF2B5EF4-FFF2-40B4-BE49-F238E27FC236}">
              <a16:creationId xmlns:a16="http://schemas.microsoft.com/office/drawing/2014/main" id="{2A5F53AE-C029-DF6B-62F8-9E2C45999C65}"/>
            </a:ext>
          </a:extLst>
        </cdr:cNvPr>
        <cdr:cNvSpPr txBox="1"/>
      </cdr:nvSpPr>
      <cdr:spPr>
        <a:xfrm xmlns:a="http://schemas.openxmlformats.org/drawingml/2006/main">
          <a:off x="706681" y="183178"/>
          <a:ext cx="1915064" cy="317545"/>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US" sz="1400" b="0" i="0" kern="1200" dirty="0">
              <a:latin typeface="Cambria Math" panose="02040503050406030204" pitchFamily="18" charset="0"/>
            </a:rPr>
            <a:t>ℎ(𝑥)=𝑚𝑒𝑎𝑛(𝑦)=11.2</a:t>
          </a:r>
          <a:endParaRPr lang="en-US" sz="1400" kern="1200" dirty="0"/>
        </a:p>
      </cdr:txBody>
    </cdr:sp>
  </cdr:relSizeAnchor>
</c:userShapes>
</file>

<file path=ppt/drawings/drawing2.xml><?xml version="1.0" encoding="utf-8"?>
<c:userShapes xmlns:c="http://schemas.openxmlformats.org/drawingml/2006/chart">
  <cdr:relSizeAnchor xmlns:cdr="http://schemas.openxmlformats.org/drawingml/2006/chartDrawing">
    <cdr:from>
      <cdr:x>0.41207</cdr:x>
      <cdr:y>0.07611</cdr:y>
    </cdr:from>
    <cdr:to>
      <cdr:x>0.95463</cdr:x>
      <cdr:y>0.22194</cdr:y>
    </cdr:to>
    <cdr:sp macro="" textlink="">
      <cdr:nvSpPr>
        <cdr:cNvPr id="2" name="TextBox 1">
          <a:extLst xmlns:a="http://schemas.openxmlformats.org/drawingml/2006/main">
            <a:ext uri="{FF2B5EF4-FFF2-40B4-BE49-F238E27FC236}">
              <a16:creationId xmlns:a16="http://schemas.microsoft.com/office/drawing/2014/main" id="{3C8EAA00-18B7-58EE-A4FA-6C12C380F199}"/>
            </a:ext>
          </a:extLst>
        </cdr:cNvPr>
        <cdr:cNvSpPr txBox="1"/>
      </cdr:nvSpPr>
      <cdr:spPr>
        <a:xfrm xmlns:a="http://schemas.openxmlformats.org/drawingml/2006/main">
          <a:off x="1142999" y="208781"/>
          <a:ext cx="1504990" cy="400047"/>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400" b="0" i="0" kern="1200">
              <a:latin typeface="Cambria Math" panose="02040503050406030204" pitchFamily="18" charset="0"/>
            </a:rPr>
            <a:t>ℎ(𝑥)=𝑥^2</a:t>
          </a:r>
          <a:endParaRPr lang="en-US" sz="1050" kern="1200" dirty="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9378"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a:defRPr sz="1300">
                <a:latin typeface="Arial" charset="0"/>
              </a:defRPr>
            </a:lvl1pPr>
          </a:lstStyle>
          <a:p>
            <a:pPr>
              <a:defRPr/>
            </a:pPr>
            <a:endParaRPr lang="en-US" dirty="0">
              <a:latin typeface="Calibri" panose="020F0502020204030204" pitchFamily="34" charset="0"/>
            </a:endParaRPr>
          </a:p>
        </p:txBody>
      </p:sp>
      <p:sp>
        <p:nvSpPr>
          <p:cNvPr id="229379" name="Rectangle 3"/>
          <p:cNvSpPr>
            <a:spLocks noGrp="1" noChangeArrowheads="1"/>
          </p:cNvSpPr>
          <p:nvPr>
            <p:ph type="dt" sz="quarter" idx="1"/>
          </p:nvPr>
        </p:nvSpPr>
        <p:spPr bwMode="auto">
          <a:xfrm>
            <a:off x="4021138" y="0"/>
            <a:ext cx="3076575" cy="51117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a:defRPr sz="1300">
                <a:latin typeface="Arial" charset="0"/>
              </a:defRPr>
            </a:lvl1pPr>
          </a:lstStyle>
          <a:p>
            <a:pPr>
              <a:defRPr/>
            </a:pPr>
            <a:endParaRPr lang="en-US" dirty="0">
              <a:latin typeface="Calibri" panose="020F0502020204030204" pitchFamily="34" charset="0"/>
            </a:endParaRPr>
          </a:p>
        </p:txBody>
      </p:sp>
      <p:sp>
        <p:nvSpPr>
          <p:cNvPr id="229380" name="Rectangle 4"/>
          <p:cNvSpPr>
            <a:spLocks noGrp="1" noChangeArrowheads="1"/>
          </p:cNvSpPr>
          <p:nvPr>
            <p:ph type="ftr" sz="quarter" idx="2"/>
          </p:nvPr>
        </p:nvSpPr>
        <p:spPr bwMode="auto">
          <a:xfrm>
            <a:off x="0" y="9721850"/>
            <a:ext cx="3076575" cy="51117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a:defRPr sz="1300">
                <a:latin typeface="Arial" charset="0"/>
              </a:defRPr>
            </a:lvl1pPr>
          </a:lstStyle>
          <a:p>
            <a:pPr>
              <a:defRPr/>
            </a:pPr>
            <a:endParaRPr lang="en-US" dirty="0">
              <a:latin typeface="Calibri" panose="020F0502020204030204" pitchFamily="34" charset="0"/>
            </a:endParaRPr>
          </a:p>
        </p:txBody>
      </p:sp>
      <p:sp>
        <p:nvSpPr>
          <p:cNvPr id="229381" name="Rectangle 5"/>
          <p:cNvSpPr>
            <a:spLocks noGrp="1" noChangeArrowheads="1"/>
          </p:cNvSpPr>
          <p:nvPr>
            <p:ph type="sldNum" sz="quarter" idx="3"/>
          </p:nvPr>
        </p:nvSpPr>
        <p:spPr bwMode="auto">
          <a:xfrm>
            <a:off x="4021138" y="9721850"/>
            <a:ext cx="3076575" cy="51117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a:defRPr sz="1300">
                <a:latin typeface="Arial" charset="0"/>
              </a:defRPr>
            </a:lvl1pPr>
          </a:lstStyle>
          <a:p>
            <a:pPr>
              <a:defRPr/>
            </a:pPr>
            <a:fld id="{0FF84380-B695-4AAA-BD6D-02A02864A80C}" type="slidenum">
              <a:rPr lang="en-US">
                <a:latin typeface="Calibri" panose="020F0502020204030204" pitchFamily="34" charset="0"/>
              </a:rPr>
              <a:pPr>
                <a:defRPr/>
              </a:pPr>
              <a:t>‹#›</a:t>
            </a:fld>
            <a:endParaRPr lang="en-US" dirty="0">
              <a:latin typeface="Calibri" panose="020F0502020204030204" pitchFamily="34" charset="0"/>
            </a:endParaRPr>
          </a:p>
        </p:txBody>
      </p:sp>
    </p:spTree>
    <p:extLst>
      <p:ext uri="{BB962C8B-B14F-4D97-AF65-F5344CB8AC3E}">
        <p14:creationId xmlns:p14="http://schemas.microsoft.com/office/powerpoint/2010/main" val="5494649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3058"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a:defRPr sz="1300">
                <a:latin typeface="Calibri" panose="020F0502020204030204" pitchFamily="34" charset="0"/>
              </a:defRPr>
            </a:lvl1pPr>
          </a:lstStyle>
          <a:p>
            <a:pPr>
              <a:defRPr/>
            </a:pPr>
            <a:endParaRPr lang="en-US" dirty="0"/>
          </a:p>
        </p:txBody>
      </p:sp>
      <p:sp>
        <p:nvSpPr>
          <p:cNvPr id="173059" name="Rectangle 3"/>
          <p:cNvSpPr>
            <a:spLocks noGrp="1" noChangeArrowheads="1"/>
          </p:cNvSpPr>
          <p:nvPr>
            <p:ph type="dt" idx="1"/>
          </p:nvPr>
        </p:nvSpPr>
        <p:spPr bwMode="auto">
          <a:xfrm>
            <a:off x="4021138" y="0"/>
            <a:ext cx="3076575" cy="51117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a:defRPr sz="1300">
                <a:latin typeface="Calibri" panose="020F0502020204030204" pitchFamily="34" charset="0"/>
              </a:defRPr>
            </a:lvl1pPr>
          </a:lstStyle>
          <a:p>
            <a:pPr>
              <a:defRPr/>
            </a:pPr>
            <a:endParaRPr lang="en-US" dirty="0"/>
          </a:p>
        </p:txBody>
      </p:sp>
      <p:sp>
        <p:nvSpPr>
          <p:cNvPr id="48132" name="Rectangle 4"/>
          <p:cNvSpPr>
            <a:spLocks noGrp="1" noRot="1" noChangeAspect="1" noChangeArrowheads="1" noTextEdit="1"/>
          </p:cNvSpPr>
          <p:nvPr>
            <p:ph type="sldImg" idx="2"/>
          </p:nvPr>
        </p:nvSpPr>
        <p:spPr bwMode="auto">
          <a:xfrm>
            <a:off x="990600" y="768350"/>
            <a:ext cx="5118100" cy="3838575"/>
          </a:xfrm>
          <a:prstGeom prst="rect">
            <a:avLst/>
          </a:prstGeom>
          <a:noFill/>
          <a:ln w="9525">
            <a:solidFill>
              <a:srgbClr val="000000"/>
            </a:solidFill>
            <a:miter lim="800000"/>
            <a:headEnd/>
            <a:tailEnd/>
          </a:ln>
        </p:spPr>
      </p:sp>
      <p:sp>
        <p:nvSpPr>
          <p:cNvPr id="173061" name="Rectangle 5"/>
          <p:cNvSpPr>
            <a:spLocks noGrp="1" noChangeArrowheads="1"/>
          </p:cNvSpPr>
          <p:nvPr>
            <p:ph type="body" sz="quarter" idx="3"/>
          </p:nvPr>
        </p:nvSpPr>
        <p:spPr bwMode="auto">
          <a:xfrm>
            <a:off x="709613" y="4862513"/>
            <a:ext cx="5680075" cy="460375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73062" name="Rectangle 6"/>
          <p:cNvSpPr>
            <a:spLocks noGrp="1" noChangeArrowheads="1"/>
          </p:cNvSpPr>
          <p:nvPr>
            <p:ph type="ftr" sz="quarter" idx="4"/>
          </p:nvPr>
        </p:nvSpPr>
        <p:spPr bwMode="auto">
          <a:xfrm>
            <a:off x="0" y="9721850"/>
            <a:ext cx="3076575" cy="51117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a:defRPr sz="1300">
                <a:latin typeface="Calibri" panose="020F0502020204030204" pitchFamily="34" charset="0"/>
              </a:defRPr>
            </a:lvl1pPr>
          </a:lstStyle>
          <a:p>
            <a:pPr>
              <a:defRPr/>
            </a:pPr>
            <a:endParaRPr lang="en-US" dirty="0"/>
          </a:p>
        </p:txBody>
      </p:sp>
      <p:sp>
        <p:nvSpPr>
          <p:cNvPr id="173063" name="Rectangle 7"/>
          <p:cNvSpPr>
            <a:spLocks noGrp="1" noChangeArrowheads="1"/>
          </p:cNvSpPr>
          <p:nvPr>
            <p:ph type="sldNum" sz="quarter" idx="5"/>
          </p:nvPr>
        </p:nvSpPr>
        <p:spPr bwMode="auto">
          <a:xfrm>
            <a:off x="4021138" y="9721850"/>
            <a:ext cx="3076575" cy="51117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a:defRPr sz="1300">
                <a:latin typeface="Calibri" panose="020F0502020204030204" pitchFamily="34" charset="0"/>
              </a:defRPr>
            </a:lvl1pPr>
          </a:lstStyle>
          <a:p>
            <a:pPr>
              <a:defRPr/>
            </a:pPr>
            <a:fld id="{7BDF81BA-2724-47AE-8C5A-18C6541FAE5A}" type="slidenum">
              <a:rPr lang="en-US" smtClean="0"/>
              <a:pPr>
                <a:defRPr/>
              </a:pPr>
              <a:t>‹#›</a:t>
            </a:fld>
            <a:endParaRPr lang="en-US" dirty="0"/>
          </a:p>
        </p:txBody>
      </p:sp>
    </p:spTree>
    <p:extLst>
      <p:ext uri="{BB962C8B-B14F-4D97-AF65-F5344CB8AC3E}">
        <p14:creationId xmlns:p14="http://schemas.microsoft.com/office/powerpoint/2010/main" val="13729186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8350"/>
            <a:ext cx="6823075" cy="3838575"/>
          </a:xfrm>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t>Please retain proper</a:t>
            </a:r>
            <a:r>
              <a:rPr lang="en-US" baseline="0" dirty="0"/>
              <a:t> attribution, including the reference to </a:t>
            </a:r>
            <a:r>
              <a:rPr lang="en-US" baseline="0" dirty="0" err="1"/>
              <a:t>ai.berkeley.edu</a:t>
            </a:r>
            <a:r>
              <a:rPr lang="en-US" baseline="0" dirty="0"/>
              <a:t>.  Thanks!</a:t>
            </a:r>
            <a:endParaRPr lang="en-US" sz="1200" dirty="0">
              <a:latin typeface="Calibri"/>
              <a:cs typeface="Calibri"/>
            </a:endParaRPr>
          </a:p>
          <a:p>
            <a:endParaRPr lang="en-US" dirty="0"/>
          </a:p>
        </p:txBody>
      </p:sp>
      <p:sp>
        <p:nvSpPr>
          <p:cNvPr id="4" name="Slide Number Placeholder 3"/>
          <p:cNvSpPr>
            <a:spLocks noGrp="1"/>
          </p:cNvSpPr>
          <p:nvPr>
            <p:ph type="sldNum" sz="quarter" idx="10"/>
          </p:nvPr>
        </p:nvSpPr>
        <p:spPr/>
        <p:txBody>
          <a:bodyPr/>
          <a:lstStyle/>
          <a:p>
            <a:pPr>
              <a:defRPr/>
            </a:pPr>
            <a:fld id="{7BDF81BA-2724-47AE-8C5A-18C6541FAE5A}" type="slidenum">
              <a:rPr lang="en-US" smtClean="0"/>
              <a:pPr>
                <a:defRPr/>
              </a:pPr>
              <a:t>1</a:t>
            </a:fld>
            <a:endParaRPr lang="en-US"/>
          </a:p>
        </p:txBody>
      </p:sp>
    </p:spTree>
    <p:extLst>
      <p:ext uri="{BB962C8B-B14F-4D97-AF65-F5344CB8AC3E}">
        <p14:creationId xmlns:p14="http://schemas.microsoft.com/office/powerpoint/2010/main" val="33757977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8350"/>
            <a:ext cx="6823075" cy="38385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7BDF81BA-2724-47AE-8C5A-18C6541FAE5A}" type="slidenum">
              <a:rPr lang="en-US" smtClean="0"/>
              <a:pPr>
                <a:defRPr/>
              </a:pPr>
              <a:t>8</a:t>
            </a:fld>
            <a:endParaRPr lang="en-US"/>
          </a:p>
        </p:txBody>
      </p:sp>
    </p:spTree>
    <p:extLst>
      <p:ext uri="{BB962C8B-B14F-4D97-AF65-F5344CB8AC3E}">
        <p14:creationId xmlns:p14="http://schemas.microsoft.com/office/powerpoint/2010/main" val="19508126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8350"/>
            <a:ext cx="6823075" cy="38385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7BDF81BA-2724-47AE-8C5A-18C6541FAE5A}" type="slidenum">
              <a:rPr lang="en-US" smtClean="0"/>
              <a:pPr>
                <a:defRPr/>
              </a:pPr>
              <a:t>19</a:t>
            </a:fld>
            <a:endParaRPr lang="en-US"/>
          </a:p>
        </p:txBody>
      </p:sp>
    </p:spTree>
    <p:extLst>
      <p:ext uri="{BB962C8B-B14F-4D97-AF65-F5344CB8AC3E}">
        <p14:creationId xmlns:p14="http://schemas.microsoft.com/office/powerpoint/2010/main" val="30939696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19420-F18F-4DA7-BE65-4F4E64957D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D7B303-7E9F-411F-8966-C27D639B64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EA2CF2C-7E1E-4ADA-AFE8-FC72FB457C27}"/>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E74410D0-F7A8-4F9E-8917-9A1B577C5745}"/>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D585CEA1-D159-4444-B720-93C06285485A}"/>
              </a:ext>
            </a:extLst>
          </p:cNvPr>
          <p:cNvSpPr>
            <a:spLocks noGrp="1"/>
          </p:cNvSpPr>
          <p:nvPr>
            <p:ph type="sldNum" sz="quarter" idx="12"/>
          </p:nvPr>
        </p:nvSpPr>
        <p:spPr/>
        <p:txBody>
          <a:bodyPr/>
          <a:lstStyle/>
          <a:p>
            <a:pPr>
              <a:defRPr/>
            </a:pPr>
            <a:fld id="{30272DA2-3CE2-4D8F-8D36-0B4268137578}" type="slidenum">
              <a:rPr lang="en-US" smtClean="0"/>
              <a:pPr>
                <a:defRPr/>
              </a:pPr>
              <a:t>‹#›</a:t>
            </a:fld>
            <a:endParaRPr lang="en-US"/>
          </a:p>
        </p:txBody>
      </p:sp>
    </p:spTree>
    <p:extLst>
      <p:ext uri="{BB962C8B-B14F-4D97-AF65-F5344CB8AC3E}">
        <p14:creationId xmlns:p14="http://schemas.microsoft.com/office/powerpoint/2010/main" val="2597146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6E076-2ED9-4AC4-8DA1-19909951A11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9775-2053-4692-92A0-6FB034CDC5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FB1543-34B0-4CAE-93C7-21EBBAEE5557}"/>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ECE14DC8-29F6-4FF7-AC63-6B2FF98D4A7A}"/>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A38F4AFE-E2D1-4C73-9381-F5093CE44A0B}"/>
              </a:ext>
            </a:extLst>
          </p:cNvPr>
          <p:cNvSpPr>
            <a:spLocks noGrp="1"/>
          </p:cNvSpPr>
          <p:nvPr>
            <p:ph type="sldNum" sz="quarter" idx="12"/>
          </p:nvPr>
        </p:nvSpPr>
        <p:spPr/>
        <p:txBody>
          <a:bodyPr/>
          <a:lstStyle/>
          <a:p>
            <a:pPr>
              <a:defRPr/>
            </a:pPr>
            <a:fld id="{3255F2DB-5E2F-43F9-868D-96E834BECC06}" type="slidenum">
              <a:rPr lang="en-US" smtClean="0"/>
              <a:pPr>
                <a:defRPr/>
              </a:pPr>
              <a:t>‹#›</a:t>
            </a:fld>
            <a:endParaRPr lang="en-US"/>
          </a:p>
        </p:txBody>
      </p:sp>
    </p:spTree>
    <p:extLst>
      <p:ext uri="{BB962C8B-B14F-4D97-AF65-F5344CB8AC3E}">
        <p14:creationId xmlns:p14="http://schemas.microsoft.com/office/powerpoint/2010/main" val="1333066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E468A-AB3D-49F4-9DE2-6FC14195646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8CB78B9-5803-400E-AD78-1FDAA85A58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5F1584-9ABC-4C6A-BF87-89D5AA87E252}"/>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32D98EF8-B1BF-4FED-A109-10A6C8E2BDB6}"/>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49BBE679-274A-4495-A115-ECCCB9B6E239}"/>
              </a:ext>
            </a:extLst>
          </p:cNvPr>
          <p:cNvSpPr>
            <a:spLocks noGrp="1"/>
          </p:cNvSpPr>
          <p:nvPr>
            <p:ph type="sldNum" sz="quarter" idx="12"/>
          </p:nvPr>
        </p:nvSpPr>
        <p:spPr/>
        <p:txBody>
          <a:bodyPr/>
          <a:lstStyle/>
          <a:p>
            <a:pPr>
              <a:defRPr/>
            </a:pPr>
            <a:fld id="{1D3B8590-D25A-427F-820A-B82C7A423285}" type="slidenum">
              <a:rPr lang="en-US" smtClean="0"/>
              <a:pPr>
                <a:defRPr/>
              </a:pPr>
              <a:t>‹#›</a:t>
            </a:fld>
            <a:endParaRPr lang="en-US"/>
          </a:p>
        </p:txBody>
      </p:sp>
    </p:spTree>
    <p:extLst>
      <p:ext uri="{BB962C8B-B14F-4D97-AF65-F5344CB8AC3E}">
        <p14:creationId xmlns:p14="http://schemas.microsoft.com/office/powerpoint/2010/main" val="33958347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084E3-F46B-4511-8F45-402F4442AC0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632C99-93FA-4895-A139-A0FF4613FE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126D938-8C53-4FC0-A9DE-5354708E934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C9CBC91-EB96-4955-BC73-9B80DCF9BF26}"/>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D6F2DDE6-5890-456A-A65D-7A8344ED8DFC}"/>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F8086411-7FB3-4C92-A6B2-02296F4670C2}"/>
              </a:ext>
            </a:extLst>
          </p:cNvPr>
          <p:cNvSpPr>
            <a:spLocks noGrp="1"/>
          </p:cNvSpPr>
          <p:nvPr>
            <p:ph type="sldNum" sz="quarter" idx="12"/>
          </p:nvPr>
        </p:nvSpPr>
        <p:spPr/>
        <p:txBody>
          <a:bodyPr/>
          <a:lstStyle/>
          <a:p>
            <a:pPr>
              <a:defRPr/>
            </a:pPr>
            <a:fld id="{3D8C5193-1026-4794-8663-01E65A01DB78}" type="slidenum">
              <a:rPr lang="en-US" smtClean="0"/>
              <a:pPr>
                <a:defRPr/>
              </a:pPr>
              <a:t>‹#›</a:t>
            </a:fld>
            <a:endParaRPr lang="en-US"/>
          </a:p>
        </p:txBody>
      </p:sp>
    </p:spTree>
    <p:extLst>
      <p:ext uri="{BB962C8B-B14F-4D97-AF65-F5344CB8AC3E}">
        <p14:creationId xmlns:p14="http://schemas.microsoft.com/office/powerpoint/2010/main" val="33127047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E6FA0-3416-4467-9A6B-064AD57C925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BEB0381-70E8-4616-B062-F81B7235E7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D02849D-1775-4D8B-BE2F-AD4C5083335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21B4668-5351-4ADC-8F6C-CE2BADAF9A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A4A446C-B56C-4215-BA99-A5963E0678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E127556-ABDC-44CB-BE8A-B9CB69EB63CC}"/>
              </a:ext>
            </a:extLst>
          </p:cNvPr>
          <p:cNvSpPr>
            <a:spLocks noGrp="1"/>
          </p:cNvSpPr>
          <p:nvPr>
            <p:ph type="dt" sz="half" idx="10"/>
          </p:nvPr>
        </p:nvSpPr>
        <p:spPr/>
        <p:txBody>
          <a:bodyPr/>
          <a:lstStyle/>
          <a:p>
            <a:pPr>
              <a:defRPr/>
            </a:pPr>
            <a:endParaRPr lang="en-US"/>
          </a:p>
        </p:txBody>
      </p:sp>
      <p:sp>
        <p:nvSpPr>
          <p:cNvPr id="8" name="Footer Placeholder 7">
            <a:extLst>
              <a:ext uri="{FF2B5EF4-FFF2-40B4-BE49-F238E27FC236}">
                <a16:creationId xmlns:a16="http://schemas.microsoft.com/office/drawing/2014/main" id="{1706F301-5824-4660-8D1F-0308EEB5EDC0}"/>
              </a:ext>
            </a:extLst>
          </p:cNvPr>
          <p:cNvSpPr>
            <a:spLocks noGrp="1"/>
          </p:cNvSpPr>
          <p:nvPr>
            <p:ph type="ftr" sz="quarter" idx="11"/>
          </p:nvPr>
        </p:nvSpPr>
        <p:spPr/>
        <p:txBody>
          <a:bodyPr/>
          <a:lstStyle/>
          <a:p>
            <a:pPr>
              <a:defRPr/>
            </a:pPr>
            <a:endParaRPr lang="en-US"/>
          </a:p>
        </p:txBody>
      </p:sp>
      <p:sp>
        <p:nvSpPr>
          <p:cNvPr id="9" name="Slide Number Placeholder 8">
            <a:extLst>
              <a:ext uri="{FF2B5EF4-FFF2-40B4-BE49-F238E27FC236}">
                <a16:creationId xmlns:a16="http://schemas.microsoft.com/office/drawing/2014/main" id="{DDF1FC6C-5E03-4AA2-A3FA-E2127C1D2319}"/>
              </a:ext>
            </a:extLst>
          </p:cNvPr>
          <p:cNvSpPr>
            <a:spLocks noGrp="1"/>
          </p:cNvSpPr>
          <p:nvPr>
            <p:ph type="sldNum" sz="quarter" idx="12"/>
          </p:nvPr>
        </p:nvSpPr>
        <p:spPr/>
        <p:txBody>
          <a:bodyPr/>
          <a:lstStyle/>
          <a:p>
            <a:pPr>
              <a:defRPr/>
            </a:pPr>
            <a:fld id="{A1CC84FA-3003-4F13-B610-A564542E3678}" type="slidenum">
              <a:rPr lang="en-US" smtClean="0"/>
              <a:pPr>
                <a:defRPr/>
              </a:pPr>
              <a:t>‹#›</a:t>
            </a:fld>
            <a:endParaRPr lang="en-US"/>
          </a:p>
        </p:txBody>
      </p:sp>
    </p:spTree>
    <p:extLst>
      <p:ext uri="{BB962C8B-B14F-4D97-AF65-F5344CB8AC3E}">
        <p14:creationId xmlns:p14="http://schemas.microsoft.com/office/powerpoint/2010/main" val="38569042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B49AF-1B56-410D-BD45-F623AD5EA1B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1018A89-675B-4B8C-AF13-93F49FA2EFAF}"/>
              </a:ext>
            </a:extLst>
          </p:cNvPr>
          <p:cNvSpPr>
            <a:spLocks noGrp="1"/>
          </p:cNvSpPr>
          <p:nvPr>
            <p:ph type="dt" sz="half" idx="10"/>
          </p:nvPr>
        </p:nvSpPr>
        <p:spPr/>
        <p:txBody>
          <a:bodyPr/>
          <a:lstStyle/>
          <a:p>
            <a:pPr>
              <a:defRPr/>
            </a:pPr>
            <a:endParaRPr lang="en-US"/>
          </a:p>
        </p:txBody>
      </p:sp>
      <p:sp>
        <p:nvSpPr>
          <p:cNvPr id="4" name="Footer Placeholder 3">
            <a:extLst>
              <a:ext uri="{FF2B5EF4-FFF2-40B4-BE49-F238E27FC236}">
                <a16:creationId xmlns:a16="http://schemas.microsoft.com/office/drawing/2014/main" id="{1D80AE80-8E6B-41CA-A8D1-B6A5A01DBDD5}"/>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1947E162-83CC-4FF1-98BD-65F7C87EF361}"/>
              </a:ext>
            </a:extLst>
          </p:cNvPr>
          <p:cNvSpPr>
            <a:spLocks noGrp="1"/>
          </p:cNvSpPr>
          <p:nvPr>
            <p:ph type="sldNum" sz="quarter" idx="12"/>
          </p:nvPr>
        </p:nvSpPr>
        <p:spPr/>
        <p:txBody>
          <a:bodyPr/>
          <a:lstStyle/>
          <a:p>
            <a:pPr>
              <a:defRPr/>
            </a:pPr>
            <a:fld id="{0C2268BA-431C-4D9E-849E-30926F99764C}" type="slidenum">
              <a:rPr lang="en-US" smtClean="0"/>
              <a:pPr>
                <a:defRPr/>
              </a:pPr>
              <a:t>‹#›</a:t>
            </a:fld>
            <a:endParaRPr lang="en-US"/>
          </a:p>
        </p:txBody>
      </p:sp>
    </p:spTree>
    <p:extLst>
      <p:ext uri="{BB962C8B-B14F-4D97-AF65-F5344CB8AC3E}">
        <p14:creationId xmlns:p14="http://schemas.microsoft.com/office/powerpoint/2010/main" val="14386025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5F3FE3-0DA8-4EED-A371-D33228D87A50}"/>
              </a:ext>
            </a:extLst>
          </p:cNvPr>
          <p:cNvSpPr>
            <a:spLocks noGrp="1"/>
          </p:cNvSpPr>
          <p:nvPr>
            <p:ph type="dt" sz="half" idx="10"/>
          </p:nvPr>
        </p:nvSpPr>
        <p:spPr/>
        <p:txBody>
          <a:bodyPr/>
          <a:lstStyle/>
          <a:p>
            <a:pPr>
              <a:defRPr/>
            </a:pPr>
            <a:endParaRPr lang="en-US"/>
          </a:p>
        </p:txBody>
      </p:sp>
      <p:sp>
        <p:nvSpPr>
          <p:cNvPr id="3" name="Footer Placeholder 2">
            <a:extLst>
              <a:ext uri="{FF2B5EF4-FFF2-40B4-BE49-F238E27FC236}">
                <a16:creationId xmlns:a16="http://schemas.microsoft.com/office/drawing/2014/main" id="{88F9E16C-7198-4BDB-9524-77B28B5B888A}"/>
              </a:ext>
            </a:extLst>
          </p:cNvPr>
          <p:cNvSpPr>
            <a:spLocks noGrp="1"/>
          </p:cNvSpPr>
          <p:nvPr>
            <p:ph type="ftr" sz="quarter" idx="11"/>
          </p:nvPr>
        </p:nvSpPr>
        <p:spPr/>
        <p:txBody>
          <a:bodyPr/>
          <a:lstStyle/>
          <a:p>
            <a:pPr>
              <a:defRPr/>
            </a:pPr>
            <a:endParaRPr lang="en-US"/>
          </a:p>
        </p:txBody>
      </p:sp>
      <p:sp>
        <p:nvSpPr>
          <p:cNvPr id="4" name="Slide Number Placeholder 3">
            <a:extLst>
              <a:ext uri="{FF2B5EF4-FFF2-40B4-BE49-F238E27FC236}">
                <a16:creationId xmlns:a16="http://schemas.microsoft.com/office/drawing/2014/main" id="{C0C365C7-FCDF-43F7-B9AB-1DC5A8922E47}"/>
              </a:ext>
            </a:extLst>
          </p:cNvPr>
          <p:cNvSpPr>
            <a:spLocks noGrp="1"/>
          </p:cNvSpPr>
          <p:nvPr>
            <p:ph type="sldNum" sz="quarter" idx="12"/>
          </p:nvPr>
        </p:nvSpPr>
        <p:spPr/>
        <p:txBody>
          <a:bodyPr/>
          <a:lstStyle/>
          <a:p>
            <a:pPr>
              <a:defRPr/>
            </a:pPr>
            <a:fld id="{4F89A438-0B24-4EB8-B981-2260CC8E554D}" type="slidenum">
              <a:rPr lang="en-US" smtClean="0"/>
              <a:pPr>
                <a:defRPr/>
              </a:pPr>
              <a:t>‹#›</a:t>
            </a:fld>
            <a:endParaRPr lang="en-US"/>
          </a:p>
        </p:txBody>
      </p:sp>
    </p:spTree>
    <p:extLst>
      <p:ext uri="{BB962C8B-B14F-4D97-AF65-F5344CB8AC3E}">
        <p14:creationId xmlns:p14="http://schemas.microsoft.com/office/powerpoint/2010/main" val="18415096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62170-A36B-4B88-A15D-622E12B9BE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9169D5E-3D30-47D5-8060-99ECF83611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26C4C9-3223-4437-A604-91C4168F32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D42238-2928-4B16-AEE3-4DF1153E9F90}"/>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B0BE7828-D4DD-4469-87CE-6A174FCD6B25}"/>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1E94F65B-672B-457E-B01E-147E9A1432A0}"/>
              </a:ext>
            </a:extLst>
          </p:cNvPr>
          <p:cNvSpPr>
            <a:spLocks noGrp="1"/>
          </p:cNvSpPr>
          <p:nvPr>
            <p:ph type="sldNum" sz="quarter" idx="12"/>
          </p:nvPr>
        </p:nvSpPr>
        <p:spPr/>
        <p:txBody>
          <a:bodyPr/>
          <a:lstStyle/>
          <a:p>
            <a:pPr>
              <a:defRPr/>
            </a:pPr>
            <a:fld id="{B9699CB0-FC20-4D9A-A29C-89F5F9414B98}" type="slidenum">
              <a:rPr lang="en-US" smtClean="0"/>
              <a:pPr>
                <a:defRPr/>
              </a:pPr>
              <a:t>‹#›</a:t>
            </a:fld>
            <a:endParaRPr lang="en-US"/>
          </a:p>
        </p:txBody>
      </p:sp>
    </p:spTree>
    <p:extLst>
      <p:ext uri="{BB962C8B-B14F-4D97-AF65-F5344CB8AC3E}">
        <p14:creationId xmlns:p14="http://schemas.microsoft.com/office/powerpoint/2010/main" val="3299542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CCF01-90BC-4732-BD4E-FE32624AF0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B552BBF-EF83-4A72-BFAF-1A672B8B17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5C64472-3B6E-44E1-9506-2A46E9B010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F254D1-2714-4A42-938B-1756DE47ADAE}"/>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BB7F32DA-55E9-4BD8-8BC3-997E3D8E199E}"/>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FC141CE5-CC69-40D9-86F7-88C7096F289D}"/>
              </a:ext>
            </a:extLst>
          </p:cNvPr>
          <p:cNvSpPr>
            <a:spLocks noGrp="1"/>
          </p:cNvSpPr>
          <p:nvPr>
            <p:ph type="sldNum" sz="quarter" idx="12"/>
          </p:nvPr>
        </p:nvSpPr>
        <p:spPr/>
        <p:txBody>
          <a:bodyPr/>
          <a:lstStyle/>
          <a:p>
            <a:pPr>
              <a:defRPr/>
            </a:pPr>
            <a:fld id="{96893E6A-B6F6-4BDF-AD15-C93DDC558204}" type="slidenum">
              <a:rPr lang="en-US" smtClean="0"/>
              <a:pPr>
                <a:defRPr/>
              </a:pPr>
              <a:t>‹#›</a:t>
            </a:fld>
            <a:endParaRPr lang="en-US"/>
          </a:p>
        </p:txBody>
      </p:sp>
    </p:spTree>
    <p:extLst>
      <p:ext uri="{BB962C8B-B14F-4D97-AF65-F5344CB8AC3E}">
        <p14:creationId xmlns:p14="http://schemas.microsoft.com/office/powerpoint/2010/main" val="1609176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140FD-BA60-428C-8EF4-6306ABA43E1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E023CDF-705F-4ACD-A877-CF7F2E3FE9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38E331-6083-437D-B382-EA76EE349CAA}"/>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5902DA37-7775-4516-88D0-C10A22495E43}"/>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D7056B8C-9ED4-4828-B22C-2F0B1E24B6E1}"/>
              </a:ext>
            </a:extLst>
          </p:cNvPr>
          <p:cNvSpPr>
            <a:spLocks noGrp="1"/>
          </p:cNvSpPr>
          <p:nvPr>
            <p:ph type="sldNum" sz="quarter" idx="12"/>
          </p:nvPr>
        </p:nvSpPr>
        <p:spPr/>
        <p:txBody>
          <a:bodyPr/>
          <a:lstStyle/>
          <a:p>
            <a:pPr>
              <a:defRPr/>
            </a:pPr>
            <a:fld id="{89216CB4-232B-44FE-B9B7-35A4219F0FD7}" type="slidenum">
              <a:rPr lang="en-US" smtClean="0"/>
              <a:pPr>
                <a:defRPr/>
              </a:pPr>
              <a:t>‹#›</a:t>
            </a:fld>
            <a:endParaRPr lang="en-US"/>
          </a:p>
        </p:txBody>
      </p:sp>
    </p:spTree>
    <p:extLst>
      <p:ext uri="{BB962C8B-B14F-4D97-AF65-F5344CB8AC3E}">
        <p14:creationId xmlns:p14="http://schemas.microsoft.com/office/powerpoint/2010/main" val="17452884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8BFE99-4A96-4DE5-89AF-4EC45E1B0DE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7969DFD-5FC6-4050-B332-8BCD32E4BBB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F394B4-48D3-4960-806C-F43156B9C322}"/>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45CC7B0F-2E46-4782-B203-41483BAADF63}"/>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FE8497CA-A095-4609-9FDB-911FD5D7D0B7}"/>
              </a:ext>
            </a:extLst>
          </p:cNvPr>
          <p:cNvSpPr>
            <a:spLocks noGrp="1"/>
          </p:cNvSpPr>
          <p:nvPr>
            <p:ph type="sldNum" sz="quarter" idx="12"/>
          </p:nvPr>
        </p:nvSpPr>
        <p:spPr/>
        <p:txBody>
          <a:bodyPr/>
          <a:lstStyle/>
          <a:p>
            <a:pPr>
              <a:defRPr/>
            </a:pPr>
            <a:fld id="{40CE9712-67AD-4F8B-8E43-C0603CB0E680}" type="slidenum">
              <a:rPr lang="en-US" smtClean="0"/>
              <a:pPr>
                <a:defRPr/>
              </a:pPr>
              <a:t>‹#›</a:t>
            </a:fld>
            <a:endParaRPr lang="en-US"/>
          </a:p>
        </p:txBody>
      </p:sp>
    </p:spTree>
    <p:extLst>
      <p:ext uri="{BB962C8B-B14F-4D97-AF65-F5344CB8AC3E}">
        <p14:creationId xmlns:p14="http://schemas.microsoft.com/office/powerpoint/2010/main" val="13807904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255F2DB-5E2F-43F9-868D-96E834BECC06}"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9CAF0D-655A-4426-8771-973204F839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3ED05BD-C8DC-42E7-853A-48E628CF65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56A469-0259-4A8D-9AA6-6A78460251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p>
        </p:txBody>
      </p:sp>
      <p:sp>
        <p:nvSpPr>
          <p:cNvPr id="5" name="Footer Placeholder 4">
            <a:extLst>
              <a:ext uri="{FF2B5EF4-FFF2-40B4-BE49-F238E27FC236}">
                <a16:creationId xmlns:a16="http://schemas.microsoft.com/office/drawing/2014/main" id="{C68DD5EB-5F91-4CB7-9AC7-7FD7BE2DB5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48F96F92-7C89-4478-ABAA-E19E654E16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DBD443E1-4B43-4BA2-A59F-0DCD9251A842}" type="slidenum">
              <a:rPr lang="en-US" smtClean="0"/>
              <a:pPr>
                <a:defRPr/>
              </a:pPr>
              <a:t>‹#›</a:t>
            </a:fld>
            <a:endParaRPr lang="en-US"/>
          </a:p>
        </p:txBody>
      </p:sp>
    </p:spTree>
    <p:extLst>
      <p:ext uri="{BB962C8B-B14F-4D97-AF65-F5344CB8AC3E}">
        <p14:creationId xmlns:p14="http://schemas.microsoft.com/office/powerpoint/2010/main" val="3053879113"/>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ai.berkeley.edu/" TargetMode="External"/><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creativecommons.org/licenses/by-sa/4.0/" TargetMode="Externa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70.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14.png"/><Relationship Id="rId5" Type="http://schemas.openxmlformats.org/officeDocument/2006/relationships/image" Target="../media/image12.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chart" Target="../charts/chart3.xml"/><Relationship Id="rId3" Type="http://schemas.openxmlformats.org/officeDocument/2006/relationships/image" Target="../media/image100.png"/><Relationship Id="rId7" Type="http://schemas.openxmlformats.org/officeDocument/2006/relationships/chart" Target="../charts/chart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chart" Target="../charts/chart1.xml"/><Relationship Id="rId5" Type="http://schemas.openxmlformats.org/officeDocument/2006/relationships/chart" Target="../charts/chart1.xml"/><Relationship Id="rId10" Type="http://schemas.openxmlformats.org/officeDocument/2006/relationships/chart" Target="../charts/chart5.xml"/><Relationship Id="rId4" Type="http://schemas.openxmlformats.org/officeDocument/2006/relationships/image" Target="../media/image111.png"/><Relationship Id="rId9" Type="http://schemas.openxmlformats.org/officeDocument/2006/relationships/chart" Target="../charts/chart4.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131.png"/><Relationship Id="rId5" Type="http://schemas.openxmlformats.org/officeDocument/2006/relationships/image" Target="../media/image110.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30.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110.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20.png"/></Relationships>
</file>

<file path=ppt/slides/_rels/slide17.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5.svg"/></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26.svg"/><Relationship Id="rId5" Type="http://schemas.openxmlformats.org/officeDocument/2006/relationships/image" Target="../media/image31.png"/><Relationship Id="rId4" Type="http://schemas.openxmlformats.org/officeDocument/2006/relationships/image" Target="../media/image300.png"/></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30.png"/><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2" Type="http://schemas.openxmlformats.org/officeDocument/2006/relationships/hyperlink" Target="https://michael.hahsler.net/Introduction_to_Artificial_Intelligence/" TargetMode="Externa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430.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461.png"/><Relationship Id="rId5" Type="http://schemas.openxmlformats.org/officeDocument/2006/relationships/image" Target="../media/image430.png"/><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460.png"/><Relationship Id="rId1" Type="http://schemas.openxmlformats.org/officeDocument/2006/relationships/slideLayout" Target="../slideLayouts/slideLayout2.xml"/><Relationship Id="rId4" Type="http://schemas.openxmlformats.org/officeDocument/2006/relationships/image" Target="../media/image430.png"/></Relationships>
</file>

<file path=ppt/slides/_rels/slide3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390.png"/></Relationships>
</file>

<file path=ppt/slides/_rels/slide32.xml.rels><?xml version="1.0" encoding="UTF-8" standalone="yes"?>
<Relationships xmlns="http://schemas.openxmlformats.org/package/2006/relationships"><Relationship Id="rId3" Type="http://schemas.openxmlformats.org/officeDocument/2006/relationships/hyperlink" Target="https://robohub.org/artificial-general-intelligence-that-plays-atari-video-games-how-did-deepmind-do-it/" TargetMode="External"/><Relationship Id="rId2" Type="http://schemas.openxmlformats.org/officeDocument/2006/relationships/image" Target="../media/image42.png"/><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45.png"/><Relationship Id="rId4" Type="http://schemas.openxmlformats.org/officeDocument/2006/relationships/image" Target="../media/image43.jpeg"/></Relationships>
</file>

<file path=ppt/slides/_rels/slide33.xml.rels><?xml version="1.0" encoding="UTF-8" standalone="yes"?>
<Relationships xmlns="http://schemas.openxmlformats.org/package/2006/relationships"><Relationship Id="rId2" Type="http://schemas.openxmlformats.org/officeDocument/2006/relationships/hyperlink" Target="https://michael.hahsler.net/Introduction_to_Artificial_Intelligence/" TargetMode="Externa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michael.hahsler.net/Introduction_to_Artificial_Intelligence/" TargetMode="Externa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9" name="Rectangle 5128">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1" name="Freeform: Shape 5130">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5511704"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5122" name="Rectangle 5"/>
          <p:cNvSpPr>
            <a:spLocks noGrp="1" noChangeArrowheads="1"/>
          </p:cNvSpPr>
          <p:nvPr>
            <p:ph type="ctrTitle"/>
          </p:nvPr>
        </p:nvSpPr>
        <p:spPr>
          <a:xfrm>
            <a:off x="838199" y="713312"/>
            <a:ext cx="4673506" cy="4392088"/>
          </a:xfrm>
        </p:spPr>
        <p:txBody>
          <a:bodyPr vert="horz" lIns="91440" tIns="45720" rIns="91440" bIns="45720" rtlCol="0" anchor="ctr">
            <a:normAutofit fontScale="90000"/>
          </a:bodyPr>
          <a:lstStyle/>
          <a:p>
            <a:pPr algn="l"/>
            <a:r>
              <a:rPr lang="en-US" sz="3200" b="1" kern="1200" dirty="0">
                <a:solidFill>
                  <a:schemeClr val="tx1"/>
                </a:solidFill>
                <a:latin typeface="+mj-lt"/>
                <a:ea typeface="+mj-ea"/>
                <a:cs typeface="+mj-cs"/>
              </a:rPr>
              <a:t>CS 5/7320 </a:t>
            </a:r>
            <a:br>
              <a:rPr lang="en-US" sz="3200" b="1" kern="1200" dirty="0">
                <a:solidFill>
                  <a:schemeClr val="tx1"/>
                </a:solidFill>
                <a:latin typeface="+mj-lt"/>
                <a:ea typeface="+mj-ea"/>
                <a:cs typeface="+mj-cs"/>
              </a:rPr>
            </a:br>
            <a:r>
              <a:rPr lang="en-US" sz="3200" b="1" kern="1200" dirty="0">
                <a:solidFill>
                  <a:schemeClr val="tx1"/>
                </a:solidFill>
                <a:latin typeface="+mj-lt"/>
                <a:ea typeface="+mj-ea"/>
                <a:cs typeface="+mj-cs"/>
              </a:rPr>
              <a:t>Artificial Intelligence</a:t>
            </a:r>
            <a:br>
              <a:rPr lang="en-US" sz="3200" b="1" kern="1200" dirty="0">
                <a:solidFill>
                  <a:schemeClr val="tx1"/>
                </a:solidFill>
                <a:latin typeface="+mj-lt"/>
                <a:ea typeface="+mj-ea"/>
                <a:cs typeface="+mj-cs"/>
              </a:rPr>
            </a:br>
            <a:br>
              <a:rPr lang="en-US" sz="3200" b="1" kern="1200" dirty="0">
                <a:solidFill>
                  <a:schemeClr val="tx1"/>
                </a:solidFill>
                <a:latin typeface="+mj-lt"/>
                <a:ea typeface="+mj-ea"/>
                <a:cs typeface="+mj-cs"/>
              </a:rPr>
            </a:br>
            <a:r>
              <a:rPr lang="en-US" sz="3200" b="1" kern="1200" dirty="0">
                <a:solidFill>
                  <a:schemeClr val="tx1"/>
                </a:solidFill>
                <a:latin typeface="+mj-lt"/>
                <a:ea typeface="+mj-ea"/>
                <a:cs typeface="+mj-cs"/>
              </a:rPr>
              <a:t>Machine Learning:</a:t>
            </a:r>
            <a:br>
              <a:rPr lang="en-US" sz="3200" b="1" kern="1200" dirty="0">
                <a:solidFill>
                  <a:schemeClr val="tx1"/>
                </a:solidFill>
                <a:latin typeface="+mj-lt"/>
                <a:ea typeface="+mj-ea"/>
                <a:cs typeface="+mj-cs"/>
              </a:rPr>
            </a:br>
            <a:r>
              <a:rPr lang="en-US" sz="3200" b="1" kern="1200" dirty="0">
                <a:solidFill>
                  <a:schemeClr val="tx1"/>
                </a:solidFill>
                <a:latin typeface="+mj-lt"/>
                <a:ea typeface="+mj-ea"/>
                <a:cs typeface="+mj-cs"/>
              </a:rPr>
              <a:t>Learning from Examples and Statistical Learning</a:t>
            </a:r>
            <a:br>
              <a:rPr lang="en-US" sz="3200" b="1" kern="1200" dirty="0">
                <a:solidFill>
                  <a:schemeClr val="tx1"/>
                </a:solidFill>
                <a:latin typeface="+mj-lt"/>
                <a:ea typeface="+mj-ea"/>
                <a:cs typeface="+mj-cs"/>
              </a:rPr>
            </a:br>
            <a:br>
              <a:rPr lang="en-US" sz="3200" b="1" kern="1200" dirty="0">
                <a:solidFill>
                  <a:schemeClr val="tx1"/>
                </a:solidFill>
                <a:latin typeface="+mj-lt"/>
                <a:ea typeface="+mj-ea"/>
                <a:cs typeface="+mj-cs"/>
              </a:rPr>
            </a:br>
            <a:r>
              <a:rPr lang="en-US" sz="3200" kern="1200" dirty="0">
                <a:solidFill>
                  <a:schemeClr val="tx1"/>
                </a:solidFill>
                <a:latin typeface="+mj-lt"/>
                <a:ea typeface="+mj-ea"/>
                <a:cs typeface="+mj-cs"/>
              </a:rPr>
              <a:t>AIMA Chapters 19-21</a:t>
            </a:r>
            <a:br>
              <a:rPr lang="en-US" sz="3200" kern="1200" dirty="0">
                <a:solidFill>
                  <a:schemeClr val="tx1"/>
                </a:solidFill>
                <a:latin typeface="+mj-lt"/>
                <a:ea typeface="+mj-ea"/>
                <a:cs typeface="+mj-cs"/>
              </a:rPr>
            </a:br>
            <a:br>
              <a:rPr lang="en-US" sz="3200" dirty="0"/>
            </a:br>
            <a:r>
              <a:rPr lang="en-US" sz="1800" dirty="0"/>
              <a:t>Slides by Michael Hahsler  </a:t>
            </a:r>
            <a:br>
              <a:rPr lang="en-US" sz="1800" dirty="0"/>
            </a:br>
            <a:br>
              <a:rPr lang="en-US" sz="1800" dirty="0"/>
            </a:br>
            <a:r>
              <a:rPr lang="en-US" sz="1600" dirty="0"/>
              <a:t>Some slides are based on Dan Klein’s slides (</a:t>
            </a:r>
            <a:r>
              <a:rPr lang="en-US" sz="1600" dirty="0">
                <a:hlinkClick r:id="rId3"/>
              </a:rPr>
              <a:t>http://ai.berkeley.edu</a:t>
            </a:r>
            <a:r>
              <a:rPr lang="en-US" sz="1600" dirty="0"/>
              <a:t>); with figures from the AIMA textbook.</a:t>
            </a:r>
            <a:endParaRPr lang="en-US" sz="3200" kern="1200" dirty="0">
              <a:solidFill>
                <a:schemeClr val="tx1"/>
              </a:solidFill>
              <a:latin typeface="+mj-lt"/>
              <a:ea typeface="+mj-ea"/>
              <a:cs typeface="+mj-cs"/>
            </a:endParaRPr>
          </a:p>
        </p:txBody>
      </p:sp>
      <p:pic>
        <p:nvPicPr>
          <p:cNvPr id="1030" name="Picture 6">
            <a:extLst>
              <a:ext uri="{FF2B5EF4-FFF2-40B4-BE49-F238E27FC236}">
                <a16:creationId xmlns:a16="http://schemas.microsoft.com/office/drawing/2014/main" id="{F730448B-7C7B-B1D7-2745-591D0BFC2701}"/>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8800" y="751729"/>
            <a:ext cx="6176568" cy="4411834"/>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1">
            <a:extLst>
              <a:ext uri="{FF2B5EF4-FFF2-40B4-BE49-F238E27FC236}">
                <a16:creationId xmlns:a16="http://schemas.microsoft.com/office/drawing/2014/main" id="{669F715E-A19D-1F15-1CC4-5B6991C32D15}"/>
              </a:ext>
              <a:ext uri="{C183D7F6-B498-43B3-948B-1728B52AA6E4}">
                <adec:decorative xmlns:adec="http://schemas.microsoft.com/office/drawing/2017/decorative" val="1"/>
              </a:ext>
            </a:extLst>
          </p:cNvPr>
          <p:cNvGrpSpPr/>
          <p:nvPr/>
        </p:nvGrpSpPr>
        <p:grpSpPr>
          <a:xfrm>
            <a:off x="10677020" y="5181124"/>
            <a:ext cx="1209654" cy="1440289"/>
            <a:chOff x="7162798" y="4191000"/>
            <a:chExt cx="1676402" cy="1981200"/>
          </a:xfrm>
        </p:grpSpPr>
        <p:sp>
          <p:nvSpPr>
            <p:cNvPr id="3" name="Rectangle 2">
              <a:extLst>
                <a:ext uri="{FF2B5EF4-FFF2-40B4-BE49-F238E27FC236}">
                  <a16:creationId xmlns:a16="http://schemas.microsoft.com/office/drawing/2014/main" id="{9B0FE7C1-13AA-157F-0C36-B983BB601F40}"/>
                </a:ext>
              </a:extLst>
            </p:cNvPr>
            <p:cNvSpPr/>
            <p:nvPr/>
          </p:nvSpPr>
          <p:spPr>
            <a:xfrm>
              <a:off x="7162800" y="4191000"/>
              <a:ext cx="1676400" cy="19812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4" name="Picture 3" descr="A qr code with black dots&#10;&#10;Description automatically generated">
              <a:extLst>
                <a:ext uri="{FF2B5EF4-FFF2-40B4-BE49-F238E27FC236}">
                  <a16:creationId xmlns:a16="http://schemas.microsoft.com/office/drawing/2014/main" id="{CDAA75C3-76C6-338F-4D9B-D4F1DF20B73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84684" y="4213372"/>
              <a:ext cx="1632631" cy="1632630"/>
            </a:xfrm>
            <a:prstGeom prst="rect">
              <a:avLst/>
            </a:prstGeom>
          </p:spPr>
        </p:pic>
        <p:sp>
          <p:nvSpPr>
            <p:cNvPr id="5" name="Rectangle 4">
              <a:extLst>
                <a:ext uri="{FF2B5EF4-FFF2-40B4-BE49-F238E27FC236}">
                  <a16:creationId xmlns:a16="http://schemas.microsoft.com/office/drawing/2014/main" id="{926BF8BC-E191-90C8-F0C5-EAC7F6AD6D37}"/>
                </a:ext>
              </a:extLst>
            </p:cNvPr>
            <p:cNvSpPr/>
            <p:nvPr/>
          </p:nvSpPr>
          <p:spPr>
            <a:xfrm>
              <a:off x="7162798" y="5812970"/>
              <a:ext cx="1664630" cy="35923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200" dirty="0"/>
                <a:t>Online Material</a:t>
              </a:r>
            </a:p>
          </p:txBody>
        </p:sp>
      </p:grpSp>
      <p:grpSp>
        <p:nvGrpSpPr>
          <p:cNvPr id="10" name="Group 9">
            <a:extLst>
              <a:ext uri="{FF2B5EF4-FFF2-40B4-BE49-F238E27FC236}">
                <a16:creationId xmlns:a16="http://schemas.microsoft.com/office/drawing/2014/main" id="{D4B78441-B04B-BAF7-8DBD-36857FFBB7BB}"/>
              </a:ext>
            </a:extLst>
          </p:cNvPr>
          <p:cNvGrpSpPr/>
          <p:nvPr/>
        </p:nvGrpSpPr>
        <p:grpSpPr>
          <a:xfrm>
            <a:off x="939962" y="6144688"/>
            <a:ext cx="3906359" cy="430887"/>
            <a:chOff x="939962" y="6144688"/>
            <a:chExt cx="3906359" cy="430887"/>
          </a:xfrm>
        </p:grpSpPr>
        <p:sp>
          <p:nvSpPr>
            <p:cNvPr id="8" name="TextBox 7">
              <a:extLst>
                <a:ext uri="{FF2B5EF4-FFF2-40B4-BE49-F238E27FC236}">
                  <a16:creationId xmlns:a16="http://schemas.microsoft.com/office/drawing/2014/main" id="{4D3A12E2-7847-4CB7-20B4-A01735B26DD0}"/>
                </a:ext>
              </a:extLst>
            </p:cNvPr>
            <p:cNvSpPr txBox="1"/>
            <p:nvPr/>
          </p:nvSpPr>
          <p:spPr>
            <a:xfrm>
              <a:off x="1828800" y="6144688"/>
              <a:ext cx="3017521" cy="430887"/>
            </a:xfrm>
            <a:prstGeom prst="rect">
              <a:avLst/>
            </a:prstGeom>
            <a:noFill/>
          </p:spPr>
          <p:txBody>
            <a:bodyPr wrap="square">
              <a:spAutoFit/>
            </a:bodyPr>
            <a:lstStyle/>
            <a:p>
              <a:r>
                <a:rPr lang="en-US" sz="1100" b="0" i="0" dirty="0">
                  <a:solidFill>
                    <a:schemeClr val="tx1">
                      <a:lumMod val="50000"/>
                    </a:schemeClr>
                  </a:solidFill>
                  <a:effectLst/>
                  <a:latin typeface="Calibri" panose="020F0502020204030204" pitchFamily="34" charset="0"/>
                </a:rPr>
                <a:t>This work is licensed under a </a:t>
              </a:r>
              <a:r>
                <a:rPr lang="en-US" sz="1100" b="0" i="0" strike="noStrike" dirty="0">
                  <a:solidFill>
                    <a:schemeClr val="tx1">
                      <a:lumMod val="50000"/>
                    </a:schemeClr>
                  </a:solidFill>
                  <a:effectLst/>
                  <a:latin typeface="Calibri" panose="020F0502020204030204" pitchFamily="34" charset="0"/>
                  <a:hlinkClick r:id="rId6">
                    <a:extLst>
                      <a:ext uri="{A12FA001-AC4F-418D-AE19-62706E023703}">
                        <ahyp:hlinkClr xmlns:ahyp="http://schemas.microsoft.com/office/drawing/2018/hyperlinkcolor" val="tx"/>
                      </a:ext>
                    </a:extLst>
                  </a:hlinkClick>
                </a:rPr>
                <a:t>Creative Commons Attribution-</a:t>
              </a:r>
              <a:r>
                <a:rPr lang="en-US" sz="1100" b="0" i="0" strike="noStrike" dirty="0" err="1">
                  <a:solidFill>
                    <a:schemeClr val="tx1">
                      <a:lumMod val="50000"/>
                    </a:schemeClr>
                  </a:solidFill>
                  <a:effectLst/>
                  <a:latin typeface="Calibri" panose="020F0502020204030204" pitchFamily="34" charset="0"/>
                  <a:hlinkClick r:id="rId6">
                    <a:extLst>
                      <a:ext uri="{A12FA001-AC4F-418D-AE19-62706E023703}">
                        <ahyp:hlinkClr xmlns:ahyp="http://schemas.microsoft.com/office/drawing/2018/hyperlinkcolor" val="tx"/>
                      </a:ext>
                    </a:extLst>
                  </a:hlinkClick>
                </a:rPr>
                <a:t>ShareAlike</a:t>
              </a:r>
              <a:r>
                <a:rPr lang="en-US" sz="1100" b="0" i="0" strike="noStrike" dirty="0">
                  <a:solidFill>
                    <a:schemeClr val="tx1">
                      <a:lumMod val="50000"/>
                    </a:schemeClr>
                  </a:solidFill>
                  <a:effectLst/>
                  <a:latin typeface="Calibri" panose="020F0502020204030204" pitchFamily="34" charset="0"/>
                  <a:hlinkClick r:id="rId6">
                    <a:extLst>
                      <a:ext uri="{A12FA001-AC4F-418D-AE19-62706E023703}">
                        <ahyp:hlinkClr xmlns:ahyp="http://schemas.microsoft.com/office/drawing/2018/hyperlinkcolor" val="tx"/>
                      </a:ext>
                    </a:extLst>
                  </a:hlinkClick>
                </a:rPr>
                <a:t> 4.0 International License</a:t>
              </a:r>
              <a:r>
                <a:rPr lang="en-US" sz="1100" b="0" i="0" dirty="0">
                  <a:solidFill>
                    <a:schemeClr val="tx1">
                      <a:lumMod val="50000"/>
                    </a:schemeClr>
                  </a:solidFill>
                  <a:effectLst/>
                  <a:latin typeface="Calibri" panose="020F0502020204030204" pitchFamily="34" charset="0"/>
                </a:rPr>
                <a:t>.</a:t>
              </a:r>
              <a:endParaRPr lang="en-US" sz="1100" dirty="0">
                <a:solidFill>
                  <a:schemeClr val="tx1">
                    <a:lumMod val="50000"/>
                  </a:schemeClr>
                </a:solidFill>
              </a:endParaRPr>
            </a:p>
          </p:txBody>
        </p:sp>
        <p:pic>
          <p:nvPicPr>
            <p:cNvPr id="6" name="Picture 2">
              <a:extLst>
                <a:ext uri="{FF2B5EF4-FFF2-40B4-BE49-F238E27FC236}">
                  <a16:creationId xmlns:a16="http://schemas.microsoft.com/office/drawing/2014/main" id="{6F541B74-782B-CAA5-A668-3C59116BF01A}"/>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39962" y="6206845"/>
              <a:ext cx="888838" cy="311093"/>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5A484-066C-54DA-847A-5C586438DB12}"/>
              </a:ext>
            </a:extLst>
          </p:cNvPr>
          <p:cNvSpPr>
            <a:spLocks noGrp="1"/>
          </p:cNvSpPr>
          <p:nvPr>
            <p:ph type="title"/>
          </p:nvPr>
        </p:nvSpPr>
        <p:spPr/>
        <p:txBody>
          <a:bodyPr/>
          <a:lstStyle/>
          <a:p>
            <a:r>
              <a:rPr lang="en-US" dirty="0"/>
              <a:t>Topics</a:t>
            </a:r>
          </a:p>
        </p:txBody>
      </p:sp>
      <p:graphicFrame>
        <p:nvGraphicFramePr>
          <p:cNvPr id="4" name="Content Placeholder 3">
            <a:extLst>
              <a:ext uri="{FF2B5EF4-FFF2-40B4-BE49-F238E27FC236}">
                <a16:creationId xmlns:a16="http://schemas.microsoft.com/office/drawing/2014/main" id="{73D23D68-F6E6-53E0-60DB-00A39CD0D4DA}"/>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3710232999"/>
              </p:ext>
            </p:extLst>
          </p:nvPr>
        </p:nvGraphicFramePr>
        <p:xfrm>
          <a:off x="838200" y="1295400"/>
          <a:ext cx="10515600" cy="3505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518176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4A43D-93C1-ABD3-A2E5-40B73B6ECC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85A4B6-D7DC-5913-84F9-79DC02BD043E}"/>
              </a:ext>
            </a:extLst>
          </p:cNvPr>
          <p:cNvSpPr>
            <a:spLocks noGrp="1"/>
          </p:cNvSpPr>
          <p:nvPr>
            <p:ph type="title"/>
          </p:nvPr>
        </p:nvSpPr>
        <p:spPr>
          <a:xfrm>
            <a:off x="477980" y="1122363"/>
            <a:ext cx="4932220" cy="3204134"/>
          </a:xfrm>
        </p:spPr>
        <p:txBody>
          <a:bodyPr vert="horz" lIns="91440" tIns="45720" rIns="91440" bIns="45720" rtlCol="0" anchor="b">
            <a:normAutofit/>
          </a:bodyPr>
          <a:lstStyle/>
          <a:p>
            <a:r>
              <a:rPr lang="en-US" sz="4800" kern="1200" dirty="0">
                <a:solidFill>
                  <a:schemeClr val="tx1"/>
                </a:solidFill>
                <a:latin typeface="+mj-lt"/>
                <a:ea typeface="+mj-ea"/>
                <a:cs typeface="+mj-cs"/>
              </a:rPr>
              <a:t>Agents and Machine Learning</a:t>
            </a:r>
          </a:p>
        </p:txBody>
      </p:sp>
      <p:sp>
        <p:nvSpPr>
          <p:cNvPr id="7" name="TextBox 6">
            <a:extLst>
              <a:ext uri="{FF2B5EF4-FFF2-40B4-BE49-F238E27FC236}">
                <a16:creationId xmlns:a16="http://schemas.microsoft.com/office/drawing/2014/main" id="{192FDFC1-1E91-863C-60E8-089AC78538B5}"/>
              </a:ext>
            </a:extLst>
          </p:cNvPr>
          <p:cNvSpPr txBox="1"/>
          <p:nvPr/>
        </p:nvSpPr>
        <p:spPr>
          <a:xfrm>
            <a:off x="5715000" y="6081063"/>
            <a:ext cx="5562600" cy="523220"/>
          </a:xfrm>
          <a:prstGeom prst="rect">
            <a:avLst/>
          </a:prstGeom>
          <a:noFill/>
        </p:spPr>
        <p:txBody>
          <a:bodyPr wrap="square" rtlCol="0">
            <a:spAutoFit/>
          </a:bodyPr>
          <a:lstStyle/>
          <a:p>
            <a:pPr algn="ctr"/>
            <a:r>
              <a:rPr lang="en-US" sz="1400" dirty="0"/>
              <a:t>DeepAi.org with prompt: “A happy cartoon robot with an artificial neural network for a brain on white background learning to play chess”</a:t>
            </a:r>
          </a:p>
        </p:txBody>
      </p:sp>
      <p:pic>
        <p:nvPicPr>
          <p:cNvPr id="1034" name="Picture 10">
            <a:extLst>
              <a:ext uri="{FF2B5EF4-FFF2-40B4-BE49-F238E27FC236}">
                <a16:creationId xmlns:a16="http://schemas.microsoft.com/office/drawing/2014/main" id="{0B3B5D91-7A9D-DC31-1696-410760A5AF47}"/>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24500" y="172099"/>
            <a:ext cx="5943600" cy="594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66917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dirty="0"/>
              <a:t>Learning from Examples</a:t>
            </a:r>
          </a:p>
        </p:txBody>
      </p:sp>
      <p:grpSp>
        <p:nvGrpSpPr>
          <p:cNvPr id="7" name="Group 6">
            <a:extLst>
              <a:ext uri="{FF2B5EF4-FFF2-40B4-BE49-F238E27FC236}">
                <a16:creationId xmlns:a16="http://schemas.microsoft.com/office/drawing/2014/main" id="{65453C24-9588-28CC-CD92-31C54DBEAE6E}"/>
              </a:ext>
            </a:extLst>
          </p:cNvPr>
          <p:cNvGrpSpPr/>
          <p:nvPr/>
        </p:nvGrpSpPr>
        <p:grpSpPr>
          <a:xfrm>
            <a:off x="7950350" y="4573036"/>
            <a:ext cx="3672986" cy="914400"/>
            <a:chOff x="8081692" y="1943098"/>
            <a:chExt cx="3672986" cy="914400"/>
          </a:xfrm>
        </p:grpSpPr>
        <p:sp>
          <p:nvSpPr>
            <p:cNvPr id="8" name="Rectangle 7">
              <a:extLst>
                <a:ext uri="{FF2B5EF4-FFF2-40B4-BE49-F238E27FC236}">
                  <a16:creationId xmlns:a16="http://schemas.microsoft.com/office/drawing/2014/main" id="{C4E4FCAC-9646-F8A7-AC99-6A0E5E553B54}"/>
                </a:ext>
              </a:extLst>
            </p:cNvPr>
            <p:cNvSpPr/>
            <p:nvPr/>
          </p:nvSpPr>
          <p:spPr>
            <a:xfrm>
              <a:off x="10383078" y="2110494"/>
              <a:ext cx="1371600" cy="5796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Model</a:t>
              </a:r>
              <a:br>
                <a:rPr lang="en-US" dirty="0"/>
              </a:br>
              <a:r>
                <a:rPr lang="en-US" sz="1400" dirty="0"/>
                <a:t>chooses actions</a:t>
              </a:r>
              <a:endParaRPr lang="en-US" dirty="0"/>
            </a:p>
          </p:txBody>
        </p:sp>
        <p:sp>
          <p:nvSpPr>
            <p:cNvPr id="9" name="Cylinder 8">
              <a:extLst>
                <a:ext uri="{FF2B5EF4-FFF2-40B4-BE49-F238E27FC236}">
                  <a16:creationId xmlns:a16="http://schemas.microsoft.com/office/drawing/2014/main" id="{5314D94F-AF9F-0B14-5BFC-257FF3540A9A}"/>
                </a:ext>
              </a:extLst>
            </p:cNvPr>
            <p:cNvSpPr/>
            <p:nvPr/>
          </p:nvSpPr>
          <p:spPr>
            <a:xfrm>
              <a:off x="8081692" y="1943098"/>
              <a:ext cx="1146791" cy="914400"/>
            </a:xfrm>
            <a:prstGeom prst="can">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Data</a:t>
              </a:r>
            </a:p>
            <a:p>
              <a:pPr algn="ctr"/>
              <a:r>
                <a:rPr lang="en-US" sz="1200" dirty="0"/>
                <a:t>(observations)</a:t>
              </a:r>
            </a:p>
          </p:txBody>
        </p:sp>
        <p:sp>
          <p:nvSpPr>
            <p:cNvPr id="10" name="Arrow: Right 9">
              <a:extLst>
                <a:ext uri="{FF2B5EF4-FFF2-40B4-BE49-F238E27FC236}">
                  <a16:creationId xmlns:a16="http://schemas.microsoft.com/office/drawing/2014/main" id="{ABE5AD2A-30F8-9DD1-5272-4FFC40E0AD16}"/>
                </a:ext>
              </a:extLst>
            </p:cNvPr>
            <p:cNvSpPr/>
            <p:nvPr/>
          </p:nvSpPr>
          <p:spPr>
            <a:xfrm>
              <a:off x="9396493" y="2209798"/>
              <a:ext cx="838200" cy="381000"/>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400" dirty="0"/>
                <a:t>learn</a:t>
              </a:r>
            </a:p>
          </p:txBody>
        </p:sp>
      </p:grpSp>
      <p:sp>
        <p:nvSpPr>
          <p:cNvPr id="12" name="Content Placeholder 11">
            <a:extLst>
              <a:ext uri="{FF2B5EF4-FFF2-40B4-BE49-F238E27FC236}">
                <a16:creationId xmlns:a16="http://schemas.microsoft.com/office/drawing/2014/main" id="{AEADBF7D-CBD1-3ADC-506D-8A047248F1FF}"/>
              </a:ext>
            </a:extLst>
          </p:cNvPr>
          <p:cNvSpPr>
            <a:spLocks noGrp="1"/>
          </p:cNvSpPr>
          <p:nvPr>
            <p:ph idx="1"/>
          </p:nvPr>
        </p:nvSpPr>
        <p:spPr>
          <a:xfrm>
            <a:off x="871556" y="1643670"/>
            <a:ext cx="6553200" cy="4604729"/>
          </a:xfrm>
        </p:spPr>
        <p:txBody>
          <a:bodyPr>
            <a:normAutofit lnSpcReduction="10000"/>
          </a:bodyPr>
          <a:lstStyle/>
          <a:p>
            <a:pPr marL="0" indent="0">
              <a:buNone/>
            </a:pPr>
            <a:r>
              <a:rPr lang="en-US" sz="1600" b="1" dirty="0"/>
              <a:t>Up until now in this course:</a:t>
            </a:r>
          </a:p>
          <a:p>
            <a:pPr marL="742950" lvl="1" indent="-285750"/>
            <a:r>
              <a:rPr lang="en-US" sz="1600" b="1" dirty="0"/>
              <a:t>Hand-craft algorithms </a:t>
            </a:r>
            <a:r>
              <a:rPr lang="en-US" sz="1600" dirty="0"/>
              <a:t>to make rational/optimal or at least good decisions. </a:t>
            </a:r>
            <a:br>
              <a:rPr lang="en-US" sz="1600" dirty="0"/>
            </a:br>
            <a:r>
              <a:rPr lang="en-US" sz="1600" dirty="0"/>
              <a:t>Examples: Search strategies, heuristics, and constructing Bayesian networks.</a:t>
            </a:r>
          </a:p>
          <a:p>
            <a:endParaRPr lang="en-US" sz="1600" dirty="0"/>
          </a:p>
          <a:p>
            <a:pPr marL="0" indent="0">
              <a:buNone/>
            </a:pPr>
            <a:r>
              <a:rPr lang="en-US" sz="1600" b="1" dirty="0"/>
              <a:t>Issues</a:t>
            </a:r>
          </a:p>
          <a:p>
            <a:pPr marL="742950" lvl="1" indent="-285750"/>
            <a:r>
              <a:rPr lang="en-US" sz="1600" dirty="0"/>
              <a:t>We may not be able to anticipate all possible future scenarios.</a:t>
            </a:r>
          </a:p>
          <a:p>
            <a:pPr marL="742950" lvl="1" indent="-285750"/>
            <a:r>
              <a:rPr lang="en-US" sz="1600" dirty="0"/>
              <a:t>We may have examples, but we do not know how to implement a solution.</a:t>
            </a:r>
          </a:p>
          <a:p>
            <a:pPr marL="742950" lvl="1" indent="-285750"/>
            <a:endParaRPr lang="en-US" sz="1600" dirty="0"/>
          </a:p>
          <a:p>
            <a:pPr marL="0" indent="0">
              <a:buNone/>
            </a:pPr>
            <a:r>
              <a:rPr lang="en-US" sz="1600" b="1" dirty="0"/>
              <a:t>Supervised Machine Learning</a:t>
            </a:r>
          </a:p>
          <a:p>
            <a:pPr marL="742950" lvl="1" indent="-285750"/>
            <a:r>
              <a:rPr lang="en-US" sz="1600" dirty="0"/>
              <a:t>Uses observations: training data with the correct answers. </a:t>
            </a:r>
          </a:p>
          <a:p>
            <a:pPr marL="742950" lvl="1" indent="-285750"/>
            <a:r>
              <a:rPr lang="en-US" sz="1600" dirty="0"/>
              <a:t>Learn a function (model) to map an input (e.g., state) to an output (e.g., action) representing the desired behavior.</a:t>
            </a:r>
          </a:p>
          <a:p>
            <a:pPr marL="742950" lvl="1" indent="-285750"/>
            <a:r>
              <a:rPr lang="en-US" sz="1600" dirty="0"/>
              <a:t>Examples:</a:t>
            </a:r>
          </a:p>
          <a:p>
            <a:pPr lvl="2">
              <a:buFont typeface="Wingdings" panose="05000000000000000000" pitchFamily="2" charset="2"/>
              <a:buChar char="§"/>
            </a:pPr>
            <a:r>
              <a:rPr lang="en-US" sz="1400" dirty="0"/>
              <a:t>Use a naïve Bayesian classifier to distinguish between spam/non-spam.</a:t>
            </a:r>
          </a:p>
          <a:p>
            <a:pPr lvl="2">
              <a:buFont typeface="Wingdings" panose="05000000000000000000" pitchFamily="2" charset="2"/>
              <a:buChar char="§"/>
            </a:pPr>
            <a:r>
              <a:rPr lang="en-US" sz="1400" dirty="0"/>
              <a:t>Learn a playout policy to simulate games (current board -&gt; good move)</a:t>
            </a:r>
          </a:p>
        </p:txBody>
      </p:sp>
      <p:grpSp>
        <p:nvGrpSpPr>
          <p:cNvPr id="18" name="Group 17">
            <a:extLst>
              <a:ext uri="{FF2B5EF4-FFF2-40B4-BE49-F238E27FC236}">
                <a16:creationId xmlns:a16="http://schemas.microsoft.com/office/drawing/2014/main" id="{D2BFA770-D0B6-6645-0BDE-09D17F4CD1E3}"/>
              </a:ext>
            </a:extLst>
          </p:cNvPr>
          <p:cNvGrpSpPr/>
          <p:nvPr/>
        </p:nvGrpSpPr>
        <p:grpSpPr>
          <a:xfrm>
            <a:off x="7907055" y="1432085"/>
            <a:ext cx="3413389" cy="1662277"/>
            <a:chOff x="7907055" y="1766723"/>
            <a:chExt cx="3413389" cy="1662277"/>
          </a:xfrm>
        </p:grpSpPr>
        <p:grpSp>
          <p:nvGrpSpPr>
            <p:cNvPr id="6" name="Group 5">
              <a:extLst>
                <a:ext uri="{FF2B5EF4-FFF2-40B4-BE49-F238E27FC236}">
                  <a16:creationId xmlns:a16="http://schemas.microsoft.com/office/drawing/2014/main" id="{0BC73BE4-EDEB-CB56-22B8-EF0651C8CDB2}"/>
                </a:ext>
              </a:extLst>
            </p:cNvPr>
            <p:cNvGrpSpPr/>
            <p:nvPr/>
          </p:nvGrpSpPr>
          <p:grpSpPr>
            <a:xfrm>
              <a:off x="7907055" y="2514600"/>
              <a:ext cx="3413389" cy="914400"/>
              <a:chOff x="7861376" y="1943099"/>
              <a:chExt cx="3413389" cy="914400"/>
            </a:xfrm>
          </p:grpSpPr>
          <p:sp>
            <p:nvSpPr>
              <p:cNvPr id="3" name="Rectangle 2">
                <a:extLst>
                  <a:ext uri="{FF2B5EF4-FFF2-40B4-BE49-F238E27FC236}">
                    <a16:creationId xmlns:a16="http://schemas.microsoft.com/office/drawing/2014/main" id="{4FA6B835-1DD0-E48C-B41D-96A2FE19ABB3}"/>
                  </a:ext>
                </a:extLst>
              </p:cNvPr>
              <p:cNvSpPr/>
              <p:nvPr/>
            </p:nvSpPr>
            <p:spPr>
              <a:xfrm>
                <a:off x="7861376" y="2110495"/>
                <a:ext cx="1371600" cy="5796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Algorithm</a:t>
                </a:r>
                <a:br>
                  <a:rPr lang="en-US" dirty="0"/>
                </a:br>
                <a:r>
                  <a:rPr lang="en-US" sz="1400" dirty="0"/>
                  <a:t>chooses actions</a:t>
                </a:r>
                <a:endParaRPr lang="en-US" dirty="0"/>
              </a:p>
            </p:txBody>
          </p:sp>
          <p:sp>
            <p:nvSpPr>
              <p:cNvPr id="4" name="Cylinder 3">
                <a:extLst>
                  <a:ext uri="{FF2B5EF4-FFF2-40B4-BE49-F238E27FC236}">
                    <a16:creationId xmlns:a16="http://schemas.microsoft.com/office/drawing/2014/main" id="{8B52A23D-24B8-F245-3FDA-327AE50767EA}"/>
                  </a:ext>
                </a:extLst>
              </p:cNvPr>
              <p:cNvSpPr/>
              <p:nvPr/>
            </p:nvSpPr>
            <p:spPr>
              <a:xfrm>
                <a:off x="10284165" y="1943099"/>
                <a:ext cx="990600" cy="914400"/>
              </a:xfrm>
              <a:prstGeom prst="can">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Data</a:t>
                </a:r>
              </a:p>
              <a:p>
                <a:pPr algn="ctr"/>
                <a:r>
                  <a:rPr lang="en-US" sz="1400" dirty="0"/>
                  <a:t>(behavior)</a:t>
                </a:r>
              </a:p>
            </p:txBody>
          </p:sp>
          <p:sp>
            <p:nvSpPr>
              <p:cNvPr id="5" name="Arrow: Right 4">
                <a:extLst>
                  <a:ext uri="{FF2B5EF4-FFF2-40B4-BE49-F238E27FC236}">
                    <a16:creationId xmlns:a16="http://schemas.microsoft.com/office/drawing/2014/main" id="{B234D5C5-4C09-3E6E-2DBF-720EB41A74D9}"/>
                  </a:ext>
                </a:extLst>
              </p:cNvPr>
              <p:cNvSpPr/>
              <p:nvPr/>
            </p:nvSpPr>
            <p:spPr>
              <a:xfrm>
                <a:off x="9334501" y="2209799"/>
                <a:ext cx="838200" cy="381000"/>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400" dirty="0"/>
                  <a:t>creates</a:t>
                </a:r>
              </a:p>
            </p:txBody>
          </p:sp>
        </p:grpSp>
        <p:pic>
          <p:nvPicPr>
            <p:cNvPr id="17" name="Graphic 16" descr="Programmer female with solid fill">
              <a:extLst>
                <a:ext uri="{FF2B5EF4-FFF2-40B4-BE49-F238E27FC236}">
                  <a16:creationId xmlns:a16="http://schemas.microsoft.com/office/drawing/2014/main" id="{DE86EFC3-EF02-1C52-B3C2-A4D2399F5D8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173236" y="1766723"/>
              <a:ext cx="839238" cy="839238"/>
            </a:xfrm>
            <a:prstGeom prst="rect">
              <a:avLst/>
            </a:prstGeom>
          </p:spPr>
        </p:pic>
      </p:grpSp>
      <p:sp>
        <p:nvSpPr>
          <p:cNvPr id="19" name="Rectangle 18">
            <a:extLst>
              <a:ext uri="{FF2B5EF4-FFF2-40B4-BE49-F238E27FC236}">
                <a16:creationId xmlns:a16="http://schemas.microsoft.com/office/drawing/2014/main" id="{25DD7F7F-09DD-185A-DC5B-A246B707343B}"/>
              </a:ext>
            </a:extLst>
          </p:cNvPr>
          <p:cNvSpPr/>
          <p:nvPr/>
        </p:nvSpPr>
        <p:spPr>
          <a:xfrm>
            <a:off x="685800" y="4343400"/>
            <a:ext cx="11125200" cy="1828800"/>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EDD7D-B2B4-A974-60D4-3C87BC8A048D}"/>
              </a:ext>
            </a:extLst>
          </p:cNvPr>
          <p:cNvSpPr>
            <a:spLocks noGrp="1"/>
          </p:cNvSpPr>
          <p:nvPr>
            <p:ph type="title"/>
          </p:nvPr>
        </p:nvSpPr>
        <p:spPr/>
        <p:txBody>
          <a:bodyPr/>
          <a:lstStyle/>
          <a:p>
            <a:r>
              <a:rPr lang="en-US" dirty="0"/>
              <a:t>Learning Components of an Agent</a:t>
            </a:r>
          </a:p>
        </p:txBody>
      </p:sp>
      <p:sp>
        <p:nvSpPr>
          <p:cNvPr id="3" name="Content Placeholder 2">
            <a:extLst>
              <a:ext uri="{FF2B5EF4-FFF2-40B4-BE49-F238E27FC236}">
                <a16:creationId xmlns:a16="http://schemas.microsoft.com/office/drawing/2014/main" id="{12417218-FBD7-228B-26E1-893FD9EA532A}"/>
              </a:ext>
            </a:extLst>
          </p:cNvPr>
          <p:cNvSpPr>
            <a:spLocks noGrp="1"/>
          </p:cNvSpPr>
          <p:nvPr>
            <p:ph idx="1"/>
          </p:nvPr>
        </p:nvSpPr>
        <p:spPr>
          <a:xfrm>
            <a:off x="838200" y="1524001"/>
            <a:ext cx="10515600" cy="838200"/>
          </a:xfrm>
        </p:spPr>
        <p:txBody>
          <a:bodyPr>
            <a:normAutofit fontScale="92500" lnSpcReduction="20000"/>
          </a:bodyPr>
          <a:lstStyle/>
          <a:p>
            <a:r>
              <a:rPr lang="en-US" dirty="0"/>
              <a:t>We can learn many different components of an agent from examples</a:t>
            </a:r>
          </a:p>
          <a:p>
            <a:r>
              <a:rPr lang="en-US" b="1" dirty="0"/>
              <a:t>Example</a:t>
            </a:r>
            <a:r>
              <a:rPr lang="en-US" dirty="0"/>
              <a:t>: Learning components of a model-based reflex agent</a:t>
            </a:r>
          </a:p>
        </p:txBody>
      </p:sp>
      <p:grpSp>
        <p:nvGrpSpPr>
          <p:cNvPr id="19" name="Group 18">
            <a:extLst>
              <a:ext uri="{FF2B5EF4-FFF2-40B4-BE49-F238E27FC236}">
                <a16:creationId xmlns:a16="http://schemas.microsoft.com/office/drawing/2014/main" id="{615DB30F-A502-5246-0B36-376656271739}"/>
              </a:ext>
            </a:extLst>
          </p:cNvPr>
          <p:cNvGrpSpPr/>
          <p:nvPr/>
        </p:nvGrpSpPr>
        <p:grpSpPr>
          <a:xfrm>
            <a:off x="4343400" y="3521077"/>
            <a:ext cx="4673840" cy="2921150"/>
            <a:chOff x="4343400" y="3521077"/>
            <a:chExt cx="4673840" cy="2921150"/>
          </a:xfrm>
        </p:grpSpPr>
        <p:grpSp>
          <p:nvGrpSpPr>
            <p:cNvPr id="16" name="Group 15">
              <a:extLst>
                <a:ext uri="{FF2B5EF4-FFF2-40B4-BE49-F238E27FC236}">
                  <a16:creationId xmlns:a16="http://schemas.microsoft.com/office/drawing/2014/main" id="{58CC50AF-B354-ECB4-1A9C-2C165F322B5C}"/>
                </a:ext>
              </a:extLst>
            </p:cNvPr>
            <p:cNvGrpSpPr/>
            <p:nvPr/>
          </p:nvGrpSpPr>
          <p:grpSpPr>
            <a:xfrm>
              <a:off x="4343400" y="3521077"/>
              <a:ext cx="4673840" cy="2921150"/>
              <a:chOff x="4343400" y="3521077"/>
              <a:chExt cx="4673840" cy="2921150"/>
            </a:xfrm>
          </p:grpSpPr>
          <p:grpSp>
            <p:nvGrpSpPr>
              <p:cNvPr id="11" name="Group 10">
                <a:extLst>
                  <a:ext uri="{FF2B5EF4-FFF2-40B4-BE49-F238E27FC236}">
                    <a16:creationId xmlns:a16="http://schemas.microsoft.com/office/drawing/2014/main" id="{59F90D26-E185-2C89-B5E3-DF7916A9DB29}"/>
                  </a:ext>
                </a:extLst>
              </p:cNvPr>
              <p:cNvGrpSpPr/>
              <p:nvPr/>
            </p:nvGrpSpPr>
            <p:grpSpPr>
              <a:xfrm>
                <a:off x="4343400" y="3521077"/>
                <a:ext cx="4673840" cy="2921150"/>
                <a:chOff x="3886200" y="3340025"/>
                <a:chExt cx="4673840" cy="2921150"/>
              </a:xfrm>
            </p:grpSpPr>
            <p:grpSp>
              <p:nvGrpSpPr>
                <p:cNvPr id="7" name="Group 6">
                  <a:extLst>
                    <a:ext uri="{FF2B5EF4-FFF2-40B4-BE49-F238E27FC236}">
                      <a16:creationId xmlns:a16="http://schemas.microsoft.com/office/drawing/2014/main" id="{FD918DC2-4507-5D5F-5D31-CD1489C309C8}"/>
                    </a:ext>
                  </a:extLst>
                </p:cNvPr>
                <p:cNvGrpSpPr/>
                <p:nvPr/>
              </p:nvGrpSpPr>
              <p:grpSpPr>
                <a:xfrm>
                  <a:off x="3886200" y="3340025"/>
                  <a:ext cx="4673840" cy="2921150"/>
                  <a:chOff x="1981200" y="2717650"/>
                  <a:chExt cx="4673840" cy="2921150"/>
                </a:xfrm>
              </p:grpSpPr>
              <p:pic>
                <p:nvPicPr>
                  <p:cNvPr id="5" name="Picture 4" descr="A figure that shiws how the agent adds a state and a model that describes how the world envolves.">
                    <a:extLst>
                      <a:ext uri="{FF2B5EF4-FFF2-40B4-BE49-F238E27FC236}">
                        <a16:creationId xmlns:a16="http://schemas.microsoft.com/office/drawing/2014/main" id="{0A46FB38-27F4-285F-9030-7FD76C3E1F87}"/>
                      </a:ext>
                    </a:extLst>
                  </p:cNvPr>
                  <p:cNvPicPr>
                    <a:picLocks noChangeAspect="1"/>
                  </p:cNvPicPr>
                  <p:nvPr/>
                </p:nvPicPr>
                <p:blipFill>
                  <a:blip r:embed="rId2"/>
                  <a:stretch>
                    <a:fillRect/>
                  </a:stretch>
                </p:blipFill>
                <p:spPr>
                  <a:xfrm>
                    <a:off x="1981200" y="2717650"/>
                    <a:ext cx="4673840" cy="2921150"/>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252FD60-D610-C9F6-B0E7-0CA022B6089C}"/>
                          </a:ext>
                          <a:ext uri="{C183D7F6-B498-43B3-948B-1728B52AA6E4}">
                            <adec:decorative xmlns:adec="http://schemas.microsoft.com/office/drawing/2017/decorative" val="1"/>
                          </a:ext>
                        </a:extLst>
                      </p:cNvPr>
                      <p:cNvSpPr txBox="1"/>
                      <p:nvPr/>
                    </p:nvSpPr>
                    <p:spPr>
                      <a:xfrm>
                        <a:off x="2362200" y="4311134"/>
                        <a:ext cx="1447800" cy="369332"/>
                      </a:xfrm>
                      <a:prstGeom prst="rect">
                        <a:avLst/>
                      </a:prstGeom>
                      <a:noFill/>
                    </p:spPr>
                    <p:txBody>
                      <a:bodyPr wrap="square">
                        <a:spAutoFit/>
                      </a:bodyPr>
                      <a:lstStyle/>
                      <a:p>
                        <a:pPr/>
                        <a14:m>
                          <m:oMathPara xmlns:m="http://schemas.openxmlformats.org/officeDocument/2006/math">
                            <m:oMath>
                              <m:r>
                                <a:rPr lang="en-US" i="1">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i="1">
                                  <a:latin typeface="Cambria Math" panose="02040503050406030204" pitchFamily="18" charset="0"/>
                                </a:rPr>
                                <m:t>𝑠</m:t>
                              </m:r>
                              <m:r>
                                <a:rPr lang="en-US" b="0" i="1" smtClean="0">
                                  <a:latin typeface="Cambria Math" panose="02040503050406030204" pitchFamily="18" charset="0"/>
                                </a:rPr>
                                <m:t>)</m:t>
                              </m:r>
                            </m:oMath>
                          </m:oMathPara>
                        </a14:m>
                        <a:endParaRPr lang="en-US" dirty="0"/>
                      </a:p>
                    </p:txBody>
                  </p:sp>
                </mc:Choice>
                <mc:Fallback xmlns="">
                  <p:sp>
                    <p:nvSpPr>
                      <p:cNvPr id="6" name="TextBox 5">
                        <a:extLst>
                          <a:ext uri="{FF2B5EF4-FFF2-40B4-BE49-F238E27FC236}">
                            <a16:creationId xmlns:a16="http://schemas.microsoft.com/office/drawing/2014/main" id="{B252FD60-D610-C9F6-B0E7-0CA022B6089C}"/>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2362200" y="4311134"/>
                        <a:ext cx="1447800" cy="369332"/>
                      </a:xfrm>
                      <a:prstGeom prst="rect">
                        <a:avLst/>
                      </a:prstGeom>
                      <a:blipFill>
                        <a:blip r:embed="rId3"/>
                        <a:stretch>
                          <a:fillRect b="-13115"/>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1800A7A-4D28-36DC-2956-A712429935B9}"/>
                        </a:ext>
                        <a:ext uri="{C183D7F6-B498-43B3-948B-1728B52AA6E4}">
                          <adec:decorative xmlns:adec="http://schemas.microsoft.com/office/drawing/2017/decorative" val="1"/>
                        </a:ext>
                      </a:extLst>
                    </p:cNvPr>
                    <p:cNvSpPr txBox="1"/>
                    <p:nvPr/>
                  </p:nvSpPr>
                  <p:spPr>
                    <a:xfrm>
                      <a:off x="4419600" y="4191000"/>
                      <a:ext cx="1524000" cy="369332"/>
                    </a:xfrm>
                    <a:prstGeom prst="rect">
                      <a:avLst/>
                    </a:prstGeom>
                    <a:noFill/>
                  </p:spPr>
                  <p:txBody>
                    <a:bodyPr wrap="square">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oMath>
                        </m:oMathPara>
                      </a14:m>
                      <a:endParaRPr lang="en-US" dirty="0"/>
                    </a:p>
                  </p:txBody>
                </p:sp>
              </mc:Choice>
              <mc:Fallback xmlns="">
                <p:sp>
                  <p:nvSpPr>
                    <p:cNvPr id="10" name="TextBox 9">
                      <a:extLst>
                        <a:ext uri="{FF2B5EF4-FFF2-40B4-BE49-F238E27FC236}">
                          <a16:creationId xmlns:a16="http://schemas.microsoft.com/office/drawing/2014/main" id="{81800A7A-4D28-36DC-2956-A712429935B9}"/>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4419600" y="4191000"/>
                      <a:ext cx="1524000" cy="369332"/>
                    </a:xfrm>
                    <a:prstGeom prst="rect">
                      <a:avLst/>
                    </a:prstGeom>
                    <a:blipFill>
                      <a:blip r:embed="rId4"/>
                      <a:stretch>
                        <a:fillRect b="-13115"/>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DEFADDC-E927-C6B2-A7B5-FFCED8108F35}"/>
                      </a:ext>
                    </a:extLst>
                  </p:cNvPr>
                  <p:cNvSpPr txBox="1"/>
                  <p:nvPr/>
                </p:nvSpPr>
                <p:spPr>
                  <a:xfrm>
                    <a:off x="7086600" y="3796344"/>
                    <a:ext cx="458066" cy="369332"/>
                  </a:xfrm>
                  <a:prstGeom prst="rect">
                    <a:avLst/>
                  </a:prstGeom>
                  <a:noFill/>
                </p:spPr>
                <p:txBody>
                  <a:bodyPr wrap="square">
                    <a:spAutoFit/>
                  </a:bodyPr>
                  <a:lstStyle/>
                  <a:p>
                    <a:pPr/>
                    <a14:m>
                      <m:oMathPara xmlns:m="http://schemas.openxmlformats.org/officeDocument/2006/math">
                        <m:oMath>
                          <m:r>
                            <a:rPr lang="en-US" b="0" i="1" smtClean="0">
                              <a:latin typeface="Cambria Math" panose="02040503050406030204" pitchFamily="18" charset="0"/>
                            </a:rPr>
                            <m:t>𝑝</m:t>
                          </m:r>
                        </m:oMath>
                      </m:oMathPara>
                    </a14:m>
                    <a:endParaRPr lang="en-US" dirty="0"/>
                  </a:p>
                </p:txBody>
              </p:sp>
            </mc:Choice>
            <mc:Fallback xmlns="">
              <p:sp>
                <p:nvSpPr>
                  <p:cNvPr id="15" name="TextBox 14">
                    <a:extLst>
                      <a:ext uri="{FF2B5EF4-FFF2-40B4-BE49-F238E27FC236}">
                        <a16:creationId xmlns:a16="http://schemas.microsoft.com/office/drawing/2014/main" id="{0DEFADDC-E927-C6B2-A7B5-FFCED8108F35}"/>
                      </a:ext>
                    </a:extLst>
                  </p:cNvPr>
                  <p:cNvSpPr txBox="1">
                    <a:spLocks noRot="1" noChangeAspect="1" noMove="1" noResize="1" noEditPoints="1" noAdjustHandles="1" noChangeArrowheads="1" noChangeShapeType="1" noTextEdit="1"/>
                  </p:cNvSpPr>
                  <p:nvPr/>
                </p:nvSpPr>
                <p:spPr>
                  <a:xfrm>
                    <a:off x="7086600" y="3796344"/>
                    <a:ext cx="458066" cy="369332"/>
                  </a:xfrm>
                  <a:prstGeom prst="rect">
                    <a:avLst/>
                  </a:prstGeom>
                  <a:blipFill>
                    <a:blip r:embed="rId5"/>
                    <a:stretch>
                      <a:fillRect b="-666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DFB810E-8E28-DE06-BB19-1126FEC9BDCF}"/>
                    </a:ext>
                  </a:extLst>
                </p:cNvPr>
                <p:cNvSpPr txBox="1"/>
                <p:nvPr/>
              </p:nvSpPr>
              <p:spPr>
                <a:xfrm>
                  <a:off x="7162800" y="5715000"/>
                  <a:ext cx="305666" cy="369332"/>
                </a:xfrm>
                <a:prstGeom prst="rect">
                  <a:avLst/>
                </a:prstGeom>
                <a:noFill/>
              </p:spPr>
              <p:txBody>
                <a:bodyPr wrap="square">
                  <a:spAutoFit/>
                </a:bodyPr>
                <a:lstStyle/>
                <a:p>
                  <a:pPr/>
                  <a14:m>
                    <m:oMathPara xmlns:m="http://schemas.openxmlformats.org/officeDocument/2006/math">
                      <m:oMath>
                        <m:r>
                          <a:rPr lang="en-US" b="0" i="1" smtClean="0">
                            <a:latin typeface="Cambria Math" panose="02040503050406030204" pitchFamily="18" charset="0"/>
                          </a:rPr>
                          <m:t>𝑎</m:t>
                        </m:r>
                      </m:oMath>
                    </m:oMathPara>
                  </a14:m>
                  <a:endParaRPr lang="en-US" dirty="0"/>
                </a:p>
              </p:txBody>
            </p:sp>
          </mc:Choice>
          <mc:Fallback xmlns="">
            <p:sp>
              <p:nvSpPr>
                <p:cNvPr id="18" name="TextBox 17">
                  <a:extLst>
                    <a:ext uri="{FF2B5EF4-FFF2-40B4-BE49-F238E27FC236}">
                      <a16:creationId xmlns:a16="http://schemas.microsoft.com/office/drawing/2014/main" id="{ADFB810E-8E28-DE06-BB19-1126FEC9BDCF}"/>
                    </a:ext>
                  </a:extLst>
                </p:cNvPr>
                <p:cNvSpPr txBox="1">
                  <a:spLocks noRot="1" noChangeAspect="1" noMove="1" noResize="1" noEditPoints="1" noAdjustHandles="1" noChangeArrowheads="1" noChangeShapeType="1" noTextEdit="1"/>
                </p:cNvSpPr>
                <p:nvPr/>
              </p:nvSpPr>
              <p:spPr>
                <a:xfrm>
                  <a:off x="7162800" y="5715000"/>
                  <a:ext cx="305666" cy="369332"/>
                </a:xfrm>
                <a:prstGeom prst="rect">
                  <a:avLst/>
                </a:prstGeom>
                <a:blipFill>
                  <a:blip r:embed="rId6"/>
                  <a:stretch>
                    <a:fillRect/>
                  </a:stretch>
                </a:blipFill>
              </p:spPr>
              <p:txBody>
                <a:bodyPr/>
                <a:lstStyle/>
                <a:p>
                  <a:r>
                    <a:rPr lang="en-US">
                      <a:noFill/>
                    </a:rPr>
                    <a:t> </a:t>
                  </a:r>
                </a:p>
              </p:txBody>
            </p:sp>
          </mc:Fallback>
        </mc:AlternateContent>
      </p:grpSp>
      <p:sp>
        <p:nvSpPr>
          <p:cNvPr id="8" name="Speech Bubble: Rectangle with Corners Rounded 7">
            <a:extLst>
              <a:ext uri="{FF2B5EF4-FFF2-40B4-BE49-F238E27FC236}">
                <a16:creationId xmlns:a16="http://schemas.microsoft.com/office/drawing/2014/main" id="{9F72E5C4-8BDA-6A63-66FC-74CC4F79E301}"/>
              </a:ext>
            </a:extLst>
          </p:cNvPr>
          <p:cNvSpPr/>
          <p:nvPr/>
        </p:nvSpPr>
        <p:spPr>
          <a:xfrm>
            <a:off x="2279815" y="5969152"/>
            <a:ext cx="1676400" cy="473075"/>
          </a:xfrm>
          <a:prstGeom prst="wedgeRoundRectCallout">
            <a:avLst>
              <a:gd name="adj1" fmla="val 106827"/>
              <a:gd name="adj2" fmla="val -130789"/>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Learn rules</a:t>
            </a:r>
          </a:p>
        </p:txBody>
      </p:sp>
      <p:sp>
        <p:nvSpPr>
          <p:cNvPr id="9" name="Speech Bubble: Rectangle with Corners Rounded 8">
            <a:extLst>
              <a:ext uri="{FF2B5EF4-FFF2-40B4-BE49-F238E27FC236}">
                <a16:creationId xmlns:a16="http://schemas.microsoft.com/office/drawing/2014/main" id="{C2F2423F-7F67-06B8-D609-D6DA89CC3F80}"/>
              </a:ext>
            </a:extLst>
          </p:cNvPr>
          <p:cNvSpPr/>
          <p:nvPr/>
        </p:nvSpPr>
        <p:spPr>
          <a:xfrm>
            <a:off x="2279815" y="3588976"/>
            <a:ext cx="1676400" cy="838200"/>
          </a:xfrm>
          <a:prstGeom prst="wedgeRoundRectCallout">
            <a:avLst>
              <a:gd name="adj1" fmla="val 110308"/>
              <a:gd name="adj2" fmla="val 60444"/>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Learn the transition model</a:t>
            </a:r>
          </a:p>
        </p:txBody>
      </p:sp>
      <p:sp>
        <p:nvSpPr>
          <p:cNvPr id="12" name="Speech Bubble: Rectangle with Corners Rounded 11">
            <a:extLst>
              <a:ext uri="{FF2B5EF4-FFF2-40B4-BE49-F238E27FC236}">
                <a16:creationId xmlns:a16="http://schemas.microsoft.com/office/drawing/2014/main" id="{18DDF1BC-D679-C3C6-54ED-262BA314407D}"/>
              </a:ext>
            </a:extLst>
          </p:cNvPr>
          <p:cNvSpPr/>
          <p:nvPr/>
        </p:nvSpPr>
        <p:spPr>
          <a:xfrm>
            <a:off x="3657600" y="2457375"/>
            <a:ext cx="1676400" cy="838200"/>
          </a:xfrm>
          <a:prstGeom prst="wedgeRoundRectCallout">
            <a:avLst>
              <a:gd name="adj1" fmla="val 54602"/>
              <a:gd name="adj2" fmla="val 124274"/>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Learn the state representation</a:t>
            </a:r>
          </a:p>
        </p:txBody>
      </p:sp>
      <p:sp>
        <p:nvSpPr>
          <p:cNvPr id="13" name="Speech Bubble: Rectangle with Corners Rounded 12">
            <a:extLst>
              <a:ext uri="{FF2B5EF4-FFF2-40B4-BE49-F238E27FC236}">
                <a16:creationId xmlns:a16="http://schemas.microsoft.com/office/drawing/2014/main" id="{5D63C764-EA94-1B81-1349-50DAE8DC4724}"/>
              </a:ext>
            </a:extLst>
          </p:cNvPr>
          <p:cNvSpPr/>
          <p:nvPr/>
        </p:nvSpPr>
        <p:spPr>
          <a:xfrm>
            <a:off x="6117077" y="2362201"/>
            <a:ext cx="1676400" cy="838200"/>
          </a:xfrm>
          <a:prstGeom prst="wedgeRoundRectCallout">
            <a:avLst>
              <a:gd name="adj1" fmla="val -78280"/>
              <a:gd name="adj2" fmla="val 139361"/>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Learn a utility function</a:t>
            </a:r>
          </a:p>
        </p:txBody>
      </p:sp>
    </p:spTree>
    <p:extLst>
      <p:ext uri="{BB962C8B-B14F-4D97-AF65-F5344CB8AC3E}">
        <p14:creationId xmlns:p14="http://schemas.microsoft.com/office/powerpoint/2010/main" val="1445778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2" grpId="0" animBg="1"/>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D07CB2-7CF0-4403-8DE4-B08CDAFC3C22}"/>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kern="1200" dirty="0">
                <a:solidFill>
                  <a:schemeClr val="tx1"/>
                </a:solidFill>
                <a:latin typeface="+mj-lt"/>
                <a:ea typeface="+mj-ea"/>
                <a:cs typeface="+mj-cs"/>
              </a:rPr>
              <a:t>Supervised Learning</a:t>
            </a:r>
          </a:p>
        </p:txBody>
      </p:sp>
      <p:sp>
        <p:nvSpPr>
          <p:cNvPr id="3" name="Text Placeholder 2">
            <a:extLst>
              <a:ext uri="{FF2B5EF4-FFF2-40B4-BE49-F238E27FC236}">
                <a16:creationId xmlns:a16="http://schemas.microsoft.com/office/drawing/2014/main" id="{3FC5F4E9-074B-4B26-960D-6EDAD144F356}"/>
              </a:ext>
            </a:extLst>
          </p:cNvPr>
          <p:cNvSpPr>
            <a:spLocks noGrp="1"/>
          </p:cNvSpPr>
          <p:nvPr>
            <p:ph type="body" idx="1"/>
          </p:nvPr>
        </p:nvSpPr>
        <p:spPr>
          <a:xfrm>
            <a:off x="477980" y="4872922"/>
            <a:ext cx="4023359" cy="1208141"/>
          </a:xfrm>
        </p:spPr>
        <p:txBody>
          <a:bodyPr vert="horz" lIns="91440" tIns="45720" rIns="91440" bIns="45720" rtlCol="0">
            <a:normAutofit/>
          </a:bodyPr>
          <a:lstStyle/>
          <a:p>
            <a:r>
              <a:rPr lang="en-US" sz="2000" kern="1200" dirty="0">
                <a:solidFill>
                  <a:schemeClr val="tx1"/>
                </a:solidFill>
                <a:latin typeface="+mn-lt"/>
                <a:ea typeface="+mn-ea"/>
                <a:cs typeface="+mn-cs"/>
              </a:rPr>
              <a:t>Teaching a model to answer correctly</a:t>
            </a:r>
          </a:p>
        </p:txBody>
      </p:sp>
      <p:sp>
        <p:nvSpPr>
          <p:cNvPr id="73" name="Rectangle 7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Rectangle 7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5" name="Group 4">
            <a:extLst>
              <a:ext uri="{FF2B5EF4-FFF2-40B4-BE49-F238E27FC236}">
                <a16:creationId xmlns:a16="http://schemas.microsoft.com/office/drawing/2014/main" id="{BFAFFAD1-E36F-4190-8830-CD2F701B1EF0}"/>
              </a:ext>
              <a:ext uri="{C183D7F6-B498-43B3-948B-1728B52AA6E4}">
                <adec:decorative xmlns:adec="http://schemas.microsoft.com/office/drawing/2017/decorative" val="1"/>
              </a:ext>
            </a:extLst>
          </p:cNvPr>
          <p:cNvGrpSpPr/>
          <p:nvPr/>
        </p:nvGrpSpPr>
        <p:grpSpPr>
          <a:xfrm>
            <a:off x="4914414" y="625683"/>
            <a:ext cx="6746750" cy="5455380"/>
            <a:chOff x="4914414" y="625683"/>
            <a:chExt cx="6746750" cy="5455380"/>
          </a:xfrm>
        </p:grpSpPr>
        <p:pic>
          <p:nvPicPr>
            <p:cNvPr id="1026" name="Picture 2" descr="Presentation Learning icon PNG and SVG Vector Free Download">
              <a:extLst>
                <a:ext uri="{FF2B5EF4-FFF2-40B4-BE49-F238E27FC236}">
                  <a16:creationId xmlns:a16="http://schemas.microsoft.com/office/drawing/2014/main" id="{B24EBA15-BF9A-4676-A470-79F8E494611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914414" y="625683"/>
              <a:ext cx="6746750" cy="545538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7180C61-11EF-4A6D-A1C1-2AA0882C4199}"/>
                </a:ext>
              </a:extLst>
            </p:cNvPr>
            <p:cNvSpPr txBox="1"/>
            <p:nvPr/>
          </p:nvSpPr>
          <p:spPr>
            <a:xfrm>
              <a:off x="8497874" y="2370486"/>
              <a:ext cx="1865325" cy="830997"/>
            </a:xfrm>
            <a:prstGeom prst="rect">
              <a:avLst/>
            </a:prstGeom>
            <a:noFill/>
          </p:spPr>
          <p:txBody>
            <a:bodyPr wrap="square" rtlCol="0">
              <a:spAutoFit/>
            </a:bodyPr>
            <a:lstStyle/>
            <a:p>
              <a:r>
                <a:rPr lang="en-US" sz="4800" b="1" dirty="0">
                  <a:solidFill>
                    <a:srgbClr val="FF0000"/>
                  </a:solidFill>
                  <a:latin typeface="Calibri" panose="020F0502020204030204" pitchFamily="34" charset="0"/>
                </a:rPr>
                <a:t>1+1=2</a:t>
              </a:r>
            </a:p>
          </p:txBody>
        </p:sp>
      </p:grpSp>
    </p:spTree>
    <p:extLst>
      <p:ext uri="{BB962C8B-B14F-4D97-AF65-F5344CB8AC3E}">
        <p14:creationId xmlns:p14="http://schemas.microsoft.com/office/powerpoint/2010/main" val="2194063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4898" name="Rectangle 2"/>
          <p:cNvSpPr>
            <a:spLocks noGrp="1" noChangeArrowheads="1"/>
          </p:cNvSpPr>
          <p:nvPr>
            <p:ph type="title"/>
          </p:nvPr>
        </p:nvSpPr>
        <p:spPr>
          <a:xfrm>
            <a:off x="838200" y="365126"/>
            <a:ext cx="10515600" cy="912832"/>
          </a:xfrm>
        </p:spPr>
        <p:txBody>
          <a:bodyPr>
            <a:normAutofit fontScale="90000"/>
          </a:bodyPr>
          <a:lstStyle/>
          <a:p>
            <a:r>
              <a:rPr lang="en-US" dirty="0"/>
              <a:t>Supervised Learning As Function Approximation</a:t>
            </a:r>
          </a:p>
        </p:txBody>
      </p:sp>
      <mc:AlternateContent xmlns:mc="http://schemas.openxmlformats.org/markup-compatibility/2006" xmlns:a14="http://schemas.microsoft.com/office/drawing/2010/main">
        <mc:Choice Requires="a14">
          <p:sp>
            <p:nvSpPr>
              <p:cNvPr id="1104899" name="Rectangle 3"/>
              <p:cNvSpPr>
                <a:spLocks noGrp="1" noChangeArrowheads="1"/>
              </p:cNvSpPr>
              <p:nvPr>
                <p:ph idx="1"/>
              </p:nvPr>
            </p:nvSpPr>
            <p:spPr>
              <a:xfrm>
                <a:off x="1066800" y="1403053"/>
                <a:ext cx="10439400" cy="4724400"/>
              </a:xfrm>
            </p:spPr>
            <p:txBody>
              <a:bodyPr>
                <a:normAutofit fontScale="92500" lnSpcReduction="10000"/>
              </a:bodyPr>
              <a:lstStyle/>
              <a:p>
                <a:pPr marL="0" indent="0">
                  <a:lnSpc>
                    <a:spcPct val="80000"/>
                  </a:lnSpc>
                  <a:buNone/>
                </a:pPr>
                <a:r>
                  <a:rPr lang="en-US" b="1" dirty="0"/>
                  <a:t>Examples</a:t>
                </a:r>
                <a:r>
                  <a:rPr lang="en-US" dirty="0"/>
                  <a:t> </a:t>
                </a:r>
              </a:p>
              <a:p>
                <a:pPr lvl="1">
                  <a:lnSpc>
                    <a:spcPct val="80000"/>
                  </a:lnSpc>
                </a:pPr>
                <a:r>
                  <a:rPr lang="en-US" dirty="0"/>
                  <a:t>We assume there exists an unknown target function </a:t>
                </a:r>
                <a14:m>
                  <m:oMath xmlns:m="http://schemas.openxmlformats.org/officeDocument/2006/math">
                    <m:r>
                      <a:rPr lang="en-US" i="1">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rPr>
                      <m:t>𝑓</m:t>
                    </m:r>
                    <m:r>
                      <a:rPr lang="en-US" i="1">
                        <a:latin typeface="Cambria Math" panose="02040503050406030204" pitchFamily="18" charset="0"/>
                      </a:rPr>
                      <m:t>(</m:t>
                    </m:r>
                    <m:r>
                      <a:rPr lang="en-US" b="1" i="1">
                        <a:latin typeface="Cambria Math" panose="02040503050406030204" pitchFamily="18" charset="0"/>
                      </a:rPr>
                      <m:t>𝒙</m:t>
                    </m:r>
                    <m:r>
                      <a:rPr lang="en-US" i="1">
                        <a:latin typeface="Cambria Math" panose="02040503050406030204" pitchFamily="18" charset="0"/>
                      </a:rPr>
                      <m:t>)</m:t>
                    </m:r>
                  </m:oMath>
                </a14:m>
                <a:r>
                  <a:rPr lang="en-US" dirty="0"/>
                  <a:t> that produces </a:t>
                </a:r>
                <a:r>
                  <a:rPr lang="en-US" dirty="0" err="1"/>
                  <a:t>iid</a:t>
                </a:r>
                <a:r>
                  <a:rPr lang="en-US" dirty="0"/>
                  <a:t> (independent and identically distributed) examples, possibly with noise and errors.</a:t>
                </a:r>
              </a:p>
              <a:p>
                <a:pPr lvl="1">
                  <a:lnSpc>
                    <a:spcPct val="80000"/>
                  </a:lnSpc>
                </a:pPr>
                <a:r>
                  <a:rPr lang="en-US" dirty="0"/>
                  <a:t>Examples are observed input-output pairs </a:t>
                </a:r>
                <a14:m>
                  <m:oMath xmlns:m="http://schemas.openxmlformats.org/officeDocument/2006/math">
                    <m:r>
                      <m:rPr>
                        <m:sty m:val="p"/>
                      </m:rPr>
                      <a:rPr lang="en-US" b="0" i="0" dirty="0" smtClean="0">
                        <a:latin typeface="Cambria Math" panose="02040503050406030204" pitchFamily="18" charset="0"/>
                      </a:rPr>
                      <m:t>E</m:t>
                    </m:r>
                    <m:r>
                      <a:rPr lang="en-US" b="0" i="0" dirty="0" smtClean="0">
                        <a:latin typeface="Cambria Math" panose="02040503050406030204" pitchFamily="18" charset="0"/>
                      </a:rPr>
                      <m:t>= </m:t>
                    </m:r>
                    <m:d>
                      <m:dPr>
                        <m:ctrlPr>
                          <a:rPr lang="en-US" i="1" dirty="0" smtClean="0">
                            <a:latin typeface="Cambria Math" panose="02040503050406030204" pitchFamily="18" charset="0"/>
                          </a:rPr>
                        </m:ctrlPr>
                      </m:dPr>
                      <m:e>
                        <m:sSub>
                          <m:sSubPr>
                            <m:ctrlPr>
                              <a:rPr lang="en-US" b="1" i="1" dirty="0" smtClean="0">
                                <a:latin typeface="Cambria Math" panose="02040503050406030204" pitchFamily="18" charset="0"/>
                              </a:rPr>
                            </m:ctrlPr>
                          </m:sSubPr>
                          <m:e>
                            <m:r>
                              <a:rPr lang="en-US" b="1" i="1" dirty="0" smtClean="0">
                                <a:latin typeface="Cambria Math" panose="02040503050406030204" pitchFamily="18" charset="0"/>
                              </a:rPr>
                              <m:t>𝒙</m:t>
                            </m:r>
                          </m:e>
                          <m:sub>
                            <m:r>
                              <a:rPr lang="en-US"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𝑦</m:t>
                            </m:r>
                          </m:e>
                          <m:sub>
                            <m:r>
                              <a:rPr lang="en-US" i="1" dirty="0" smtClean="0">
                                <a:latin typeface="Cambria Math" panose="02040503050406030204" pitchFamily="18" charset="0"/>
                              </a:rPr>
                              <m:t>1</m:t>
                            </m:r>
                          </m:sub>
                        </m:sSub>
                      </m:e>
                    </m:d>
                    <m:r>
                      <a:rPr lang="en-US" b="0" i="1" dirty="0" smtClean="0">
                        <a:latin typeface="Cambria Math" panose="02040503050406030204" pitchFamily="18" charset="0"/>
                      </a:rPr>
                      <m:t>,…, </m:t>
                    </m:r>
                    <m:d>
                      <m:dPr>
                        <m:ctrlPr>
                          <a:rPr lang="en-US" b="0" i="1" dirty="0" smtClean="0">
                            <a:latin typeface="Cambria Math" panose="02040503050406030204" pitchFamily="18" charset="0"/>
                          </a:rPr>
                        </m:ctrlPr>
                      </m:dPr>
                      <m:e>
                        <m:sSub>
                          <m:sSubPr>
                            <m:ctrlPr>
                              <a:rPr lang="en-US" b="1" i="1" dirty="0" smtClean="0">
                                <a:latin typeface="Cambria Math" panose="02040503050406030204" pitchFamily="18" charset="0"/>
                              </a:rPr>
                            </m:ctrlPr>
                          </m:sSubPr>
                          <m:e>
                            <m:r>
                              <a:rPr lang="en-US" b="1" i="1" dirty="0" smtClean="0">
                                <a:latin typeface="Cambria Math" panose="02040503050406030204" pitchFamily="18" charset="0"/>
                              </a:rPr>
                              <m:t>𝒙</m:t>
                            </m:r>
                          </m:e>
                          <m:sub>
                            <m:r>
                              <a:rPr lang="en-US" b="0" i="1" dirty="0" smtClean="0">
                                <a:latin typeface="Cambria Math" panose="02040503050406030204" pitchFamily="18" charset="0"/>
                              </a:rPr>
                              <m:t>𝑖</m:t>
                            </m:r>
                          </m:sub>
                        </m:sSub>
                        <m:r>
                          <a:rPr lang="en-US" b="0"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𝑦</m:t>
                            </m:r>
                          </m:e>
                          <m:sub>
                            <m:r>
                              <a:rPr lang="en-US" b="0" i="1" dirty="0" smtClean="0">
                                <a:latin typeface="Cambria Math" panose="02040503050406030204" pitchFamily="18" charset="0"/>
                              </a:rPr>
                              <m:t>𝑖</m:t>
                            </m:r>
                          </m:sub>
                        </m:sSub>
                      </m:e>
                    </m:d>
                    <m:r>
                      <a:rPr lang="en-US" i="1" dirty="0" smtClean="0">
                        <a:latin typeface="Cambria Math" panose="02040503050406030204" pitchFamily="18" charset="0"/>
                      </a:rPr>
                      <m:t>,…,</m:t>
                    </m:r>
                    <m:d>
                      <m:dPr>
                        <m:ctrlPr>
                          <a:rPr lang="en-US" i="1" dirty="0" smtClean="0">
                            <a:latin typeface="Cambria Math" panose="02040503050406030204" pitchFamily="18" charset="0"/>
                          </a:rPr>
                        </m:ctrlPr>
                      </m:dPr>
                      <m:e>
                        <m:sSub>
                          <m:sSubPr>
                            <m:ctrlPr>
                              <a:rPr lang="en-US" b="1" i="1" dirty="0" smtClean="0">
                                <a:latin typeface="Cambria Math" panose="02040503050406030204" pitchFamily="18" charset="0"/>
                              </a:rPr>
                            </m:ctrlPr>
                          </m:sSubPr>
                          <m:e>
                            <m:r>
                              <a:rPr lang="en-US" b="1" i="1" dirty="0" smtClean="0">
                                <a:latin typeface="Cambria Math" panose="02040503050406030204" pitchFamily="18" charset="0"/>
                              </a:rPr>
                              <m:t>𝒙</m:t>
                            </m:r>
                          </m:e>
                          <m:sub>
                            <m:r>
                              <a:rPr lang="en-US" i="1" dirty="0" smtClean="0">
                                <a:latin typeface="Cambria Math" panose="02040503050406030204" pitchFamily="18" charset="0"/>
                              </a:rPr>
                              <m:t>𝑁</m:t>
                            </m:r>
                          </m:sub>
                        </m:sSub>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𝑦</m:t>
                            </m:r>
                          </m:e>
                          <m:sub>
                            <m:r>
                              <a:rPr lang="en-US" i="1" dirty="0" smtClean="0">
                                <a:latin typeface="Cambria Math" panose="02040503050406030204" pitchFamily="18" charset="0"/>
                              </a:rPr>
                              <m:t>𝑁</m:t>
                            </m:r>
                          </m:sub>
                        </m:sSub>
                      </m:e>
                    </m:d>
                  </m:oMath>
                </a14:m>
                <a:r>
                  <a:rPr lang="en-US" b="0" dirty="0"/>
                  <a:t>, where </a:t>
                </a:r>
                <a14:m>
                  <m:oMath xmlns:m="http://schemas.openxmlformats.org/officeDocument/2006/math">
                    <m:sSub>
                      <m:sSubPr>
                        <m:ctrlPr>
                          <a:rPr lang="en-US" b="1" i="1" dirty="0" smtClean="0">
                            <a:latin typeface="Cambria Math" panose="02040503050406030204" pitchFamily="18" charset="0"/>
                          </a:rPr>
                        </m:ctrlPr>
                      </m:sSubPr>
                      <m:e>
                        <m:r>
                          <a:rPr lang="en-US" b="1" i="1" dirty="0" smtClean="0">
                            <a:latin typeface="Cambria Math" panose="02040503050406030204" pitchFamily="18" charset="0"/>
                          </a:rPr>
                          <m:t>𝒙</m:t>
                        </m:r>
                      </m:e>
                      <m:sub>
                        <m:r>
                          <a:rPr lang="en-US" b="0" i="1" dirty="0" smtClean="0">
                            <a:latin typeface="Cambria Math" panose="02040503050406030204" pitchFamily="18" charset="0"/>
                          </a:rPr>
                          <m:t>𝑖</m:t>
                        </m:r>
                      </m:sub>
                    </m:sSub>
                  </m:oMath>
                </a14:m>
                <a:r>
                  <a:rPr lang="en-US" dirty="0"/>
                  <a:t> </a:t>
                </a:r>
                <a:r>
                  <a:rPr lang="en-US" b="0" dirty="0"/>
                  <a:t>is a vectors called the feature vector.</a:t>
                </a:r>
              </a:p>
              <a:p>
                <a:pPr lvl="1">
                  <a:lnSpc>
                    <a:spcPct val="80000"/>
                  </a:lnSpc>
                </a:pPr>
                <a:endParaRPr lang="en-US" dirty="0"/>
              </a:p>
              <a:p>
                <a:pPr marL="0" indent="0">
                  <a:lnSpc>
                    <a:spcPct val="80000"/>
                  </a:lnSpc>
                  <a:buNone/>
                </a:pPr>
                <a:r>
                  <a:rPr lang="en-US" b="1" dirty="0"/>
                  <a:t>Learning problem</a:t>
                </a:r>
              </a:p>
              <a:p>
                <a:pPr lvl="1">
                  <a:lnSpc>
                    <a:spcPct val="80000"/>
                  </a:lnSpc>
                </a:pPr>
                <a:r>
                  <a:rPr lang="en-US" dirty="0"/>
                  <a:t>Given a hypothesis space </a:t>
                </a:r>
                <a:r>
                  <a:rPr lang="en-US" sz="2800" i="1" dirty="0">
                    <a:latin typeface="Calibri" panose="020F0502020204030204" pitchFamily="34" charset="0"/>
                  </a:rPr>
                  <a:t>H </a:t>
                </a:r>
                <a:r>
                  <a:rPr lang="en-US" dirty="0"/>
                  <a:t>of representable models.</a:t>
                </a:r>
              </a:p>
              <a:p>
                <a:pPr lvl="1">
                  <a:lnSpc>
                    <a:spcPct val="80000"/>
                  </a:lnSpc>
                </a:pPr>
                <a:r>
                  <a:rPr lang="en-US" dirty="0"/>
                  <a:t>Find a hypothesis </a:t>
                </a:r>
                <a14:m>
                  <m:oMath xmlns:m="http://schemas.openxmlformats.org/officeDocument/2006/math">
                    <m:r>
                      <a:rPr lang="en-US" b="0" i="1" smtClean="0">
                        <a:latin typeface="Cambria Math" panose="02040503050406030204" pitchFamily="18" charset="0"/>
                      </a:rPr>
                      <m:t>ℎ</m:t>
                    </m:r>
                    <m:r>
                      <a:rPr lang="en-US" b="0" i="1" smtClean="0">
                        <a:latin typeface="Cambria Math" panose="02040503050406030204" pitchFamily="18" charset="0"/>
                      </a:rPr>
                      <m:t>∈</m:t>
                    </m:r>
                    <m:r>
                      <a:rPr lang="en-US" b="0" i="1" smtClean="0">
                        <a:latin typeface="Cambria Math" panose="02040503050406030204" pitchFamily="18" charset="0"/>
                      </a:rPr>
                      <m:t>𝐻</m:t>
                    </m:r>
                    <m:r>
                      <a:rPr lang="en-US" b="0" i="1" smtClean="0">
                        <a:latin typeface="Cambria Math" panose="02040503050406030204" pitchFamily="18" charset="0"/>
                      </a:rPr>
                      <m:t> </m:t>
                    </m:r>
                  </m:oMath>
                </a14:m>
                <a:r>
                  <a:rPr lang="en-US" dirty="0"/>
                  <a:t> such that </a:t>
                </a:r>
                <a14:m>
                  <m:oMath xmlns:m="http://schemas.openxmlformats.org/officeDocument/2006/math">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𝑦</m:t>
                            </m:r>
                          </m:e>
                        </m:acc>
                      </m:e>
                      <m:sub>
                        <m:r>
                          <a:rPr lang="en-US" b="0" i="1" dirty="0" smtClean="0">
                            <a:latin typeface="Cambria Math" panose="02040503050406030204" pitchFamily="18" charset="0"/>
                          </a:rPr>
                          <m:t>𝑖</m:t>
                        </m:r>
                      </m:sub>
                    </m:sSub>
                    <m:r>
                      <a:rPr lang="en-US" b="0" i="1" dirty="0" smtClean="0">
                        <a:latin typeface="Cambria Math" panose="02040503050406030204" pitchFamily="18" charset="0"/>
                      </a:rPr>
                      <m:t>= </m:t>
                    </m:r>
                    <m:r>
                      <a:rPr lang="en-US" i="1" dirty="0" smtClean="0">
                        <a:latin typeface="Cambria Math" panose="02040503050406030204" pitchFamily="18" charset="0"/>
                      </a:rPr>
                      <m:t>ℎ</m:t>
                    </m:r>
                    <m:d>
                      <m:dPr>
                        <m:ctrlPr>
                          <a:rPr lang="en-US" i="1" dirty="0" err="1" smtClean="0">
                            <a:latin typeface="Cambria Math" panose="02040503050406030204" pitchFamily="18" charset="0"/>
                          </a:rPr>
                        </m:ctrlPr>
                      </m:dPr>
                      <m:e>
                        <m:sSub>
                          <m:sSubPr>
                            <m:ctrlPr>
                              <a:rPr lang="en-US" b="1" i="1" dirty="0" err="1" smtClean="0">
                                <a:latin typeface="Cambria Math" panose="02040503050406030204" pitchFamily="18" charset="0"/>
                              </a:rPr>
                            </m:ctrlPr>
                          </m:sSubPr>
                          <m:e>
                            <m:r>
                              <a:rPr lang="en-US" b="1" i="1" dirty="0" err="1" smtClean="0">
                                <a:latin typeface="Cambria Math" panose="02040503050406030204" pitchFamily="18" charset="0"/>
                              </a:rPr>
                              <m:t>𝒙</m:t>
                            </m:r>
                          </m:e>
                          <m:sub>
                            <m:r>
                              <a:rPr lang="en-US" i="1" dirty="0" err="1" smtClean="0">
                                <a:latin typeface="Cambria Math" panose="02040503050406030204" pitchFamily="18" charset="0"/>
                              </a:rPr>
                              <m:t>𝑖</m:t>
                            </m:r>
                          </m:sub>
                        </m:sSub>
                      </m:e>
                    </m:d>
                    <m:r>
                      <a:rPr lang="en-US" i="1" dirty="0" smtClean="0">
                        <a:latin typeface="Cambria Math" panose="02040503050406030204" pitchFamily="18" charset="0"/>
                      </a:rPr>
                      <m:t> </m:t>
                    </m:r>
                    <m:r>
                      <a:rPr lang="en-US" i="1" dirty="0">
                        <a:latin typeface="Cambria Math" panose="02040503050406030204" pitchFamily="18" charset="0"/>
                        <a:ea typeface="Cambria Math" panose="02040503050406030204" pitchFamily="18" charset="0"/>
                      </a:rPr>
                      <m:t>≈</m:t>
                    </m:r>
                    <m:r>
                      <a:rPr lang="en-US" i="1" dirty="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𝑦</m:t>
                        </m:r>
                      </m:e>
                      <m:sub>
                        <m:r>
                          <a:rPr lang="en-US" i="1" dirty="0" err="1" smtClean="0">
                            <a:latin typeface="Cambria Math" panose="02040503050406030204" pitchFamily="18" charset="0"/>
                          </a:rPr>
                          <m:t>𝑖</m:t>
                        </m:r>
                      </m:sub>
                    </m:sSub>
                    <m:r>
                      <a:rPr lang="en-US" b="0" i="1" dirty="0" smtClean="0">
                        <a:latin typeface="Cambria Math" panose="02040503050406030204" pitchFamily="18" charset="0"/>
                      </a:rPr>
                      <m:t> ∀</m:t>
                    </m:r>
                    <m:r>
                      <a:rPr lang="en-US" b="0" i="1" dirty="0" smtClean="0">
                        <a:latin typeface="Cambria Math" panose="02040503050406030204" pitchFamily="18" charset="0"/>
                      </a:rPr>
                      <m:t>𝑖</m:t>
                    </m:r>
                  </m:oMath>
                </a14:m>
                <a:endParaRPr lang="en-US" i="1" dirty="0">
                  <a:latin typeface="Calibri" panose="020F0502020204030204" pitchFamily="34" charset="0"/>
                </a:endParaRPr>
              </a:p>
              <a:p>
                <a:pPr lvl="1">
                  <a:lnSpc>
                    <a:spcPct val="80000"/>
                  </a:lnSpc>
                </a:pPr>
                <a:r>
                  <a:rPr lang="en-US" dirty="0"/>
                  <a:t>That is, we want to approximate </a:t>
                </a:r>
                <a14:m>
                  <m:oMath xmlns:m="http://schemas.openxmlformats.org/officeDocument/2006/math">
                    <m:r>
                      <a:rPr lang="en-US" i="1" dirty="0">
                        <a:latin typeface="Cambria Math" panose="02040503050406030204" pitchFamily="18" charset="0"/>
                      </a:rPr>
                      <m:t>𝑓</m:t>
                    </m:r>
                  </m:oMath>
                </a14:m>
                <a:r>
                  <a:rPr lang="en-US" dirty="0"/>
                  <a:t> by </a:t>
                </a:r>
                <a14:m>
                  <m:oMath xmlns:m="http://schemas.openxmlformats.org/officeDocument/2006/math">
                    <m:r>
                      <a:rPr lang="en-US" i="1" dirty="0">
                        <a:latin typeface="Cambria Math" panose="02040503050406030204" pitchFamily="18" charset="0"/>
                      </a:rPr>
                      <m:t>ℎ</m:t>
                    </m:r>
                  </m:oMath>
                </a14:m>
                <a:r>
                  <a:rPr lang="en-US" dirty="0"/>
                  <a:t> using </a:t>
                </a:r>
                <a14:m>
                  <m:oMath xmlns:m="http://schemas.openxmlformats.org/officeDocument/2006/math">
                    <m:r>
                      <m:rPr>
                        <m:sty m:val="p"/>
                      </m:rPr>
                      <a:rPr lang="en-US" dirty="0">
                        <a:latin typeface="Cambria Math" panose="02040503050406030204" pitchFamily="18" charset="0"/>
                      </a:rPr>
                      <m:t>E</m:t>
                    </m:r>
                  </m:oMath>
                </a14:m>
                <a:r>
                  <a:rPr lang="en-US" dirty="0"/>
                  <a:t>. </a:t>
                </a:r>
              </a:p>
              <a:p>
                <a:pPr>
                  <a:lnSpc>
                    <a:spcPct val="80000"/>
                  </a:lnSpc>
                </a:pPr>
                <a:endParaRPr lang="en-US" dirty="0"/>
              </a:p>
              <a:p>
                <a:pPr marL="0" indent="0">
                  <a:lnSpc>
                    <a:spcPct val="80000"/>
                  </a:lnSpc>
                  <a:buNone/>
                </a:pPr>
                <a:r>
                  <a:rPr lang="en-US" b="1" dirty="0"/>
                  <a:t>Supervised learning includes</a:t>
                </a:r>
              </a:p>
              <a:p>
                <a:pPr lvl="1">
                  <a:lnSpc>
                    <a:spcPct val="80000"/>
                  </a:lnSpc>
                </a:pPr>
                <a:r>
                  <a:rPr lang="en-US" dirty="0"/>
                  <a:t>Classification: </a:t>
                </a:r>
                <a14:m>
                  <m:oMath xmlns:m="http://schemas.openxmlformats.org/officeDocument/2006/math">
                    <m:r>
                      <a:rPr lang="en-US" i="1">
                        <a:latin typeface="Cambria Math" panose="02040503050406030204" pitchFamily="18" charset="0"/>
                      </a:rPr>
                      <m:t>𝑦</m:t>
                    </m:r>
                    <m:r>
                      <a:rPr lang="en-US" i="1">
                        <a:latin typeface="Cambria Math" panose="02040503050406030204" pitchFamily="18" charset="0"/>
                      </a:rPr>
                      <m:t> </m:t>
                    </m:r>
                  </m:oMath>
                </a14:m>
                <a:r>
                  <a:rPr lang="en-US" dirty="0"/>
                  <a:t>is a class labels. E.g., </a:t>
                </a:r>
                <a14:m>
                  <m:oMath xmlns:m="http://schemas.openxmlformats.org/officeDocument/2006/math">
                    <m:r>
                      <a:rPr lang="en-US" b="1" i="1" smtClean="0">
                        <a:latin typeface="Cambria Math" panose="02040503050406030204" pitchFamily="18" charset="0"/>
                      </a:rPr>
                      <m:t>𝒙</m:t>
                    </m:r>
                  </m:oMath>
                </a14:m>
                <a:r>
                  <a:rPr lang="en-US" dirty="0"/>
                  <a:t> are percepts and </a:t>
                </a:r>
                <a14:m>
                  <m:oMath xmlns:m="http://schemas.openxmlformats.org/officeDocument/2006/math">
                    <m:r>
                      <a:rPr lang="en-US" i="1">
                        <a:latin typeface="Cambria Math" panose="02040503050406030204" pitchFamily="18" charset="0"/>
                      </a:rPr>
                      <m:t>𝑦</m:t>
                    </m:r>
                    <m:r>
                      <a:rPr lang="en-US" i="1">
                        <a:latin typeface="Cambria Math" panose="02040503050406030204" pitchFamily="18" charset="0"/>
                      </a:rPr>
                      <m:t> </m:t>
                    </m:r>
                  </m:oMath>
                </a14:m>
                <a:r>
                  <a:rPr lang="en-US" dirty="0"/>
                  <a:t>is the chosen action.</a:t>
                </a:r>
              </a:p>
              <a:p>
                <a:pPr lvl="1">
                  <a:lnSpc>
                    <a:spcPct val="80000"/>
                  </a:lnSpc>
                </a:pPr>
                <a:r>
                  <a:rPr lang="en-US" dirty="0"/>
                  <a:t>Regression: </a:t>
                </a:r>
                <a14:m>
                  <m:oMath xmlns:m="http://schemas.openxmlformats.org/officeDocument/2006/math">
                    <m:r>
                      <a:rPr lang="en-US" i="1" smtClean="0">
                        <a:latin typeface="Cambria Math" panose="02040503050406030204" pitchFamily="18" charset="0"/>
                      </a:rPr>
                      <m:t>𝑦</m:t>
                    </m:r>
                  </m:oMath>
                </a14:m>
                <a:r>
                  <a:rPr lang="en-US" dirty="0"/>
                  <a:t> is a real number. E.g., </a:t>
                </a:r>
                <a14:m>
                  <m:oMath xmlns:m="http://schemas.openxmlformats.org/officeDocument/2006/math">
                    <m:r>
                      <a:rPr lang="en-US" b="1" i="1" dirty="0">
                        <a:latin typeface="Cambria Math" panose="02040503050406030204" pitchFamily="18" charset="0"/>
                      </a:rPr>
                      <m:t>𝒙</m:t>
                    </m:r>
                  </m:oMath>
                </a14:m>
                <a:r>
                  <a:rPr lang="en-US" dirty="0"/>
                  <a:t> are state features and </a:t>
                </a:r>
                <a14:m>
                  <m:oMath xmlns:m="http://schemas.openxmlformats.org/officeDocument/2006/math">
                    <m:r>
                      <a:rPr lang="en-US" i="1">
                        <a:latin typeface="Cambria Math" panose="02040503050406030204" pitchFamily="18" charset="0"/>
                      </a:rPr>
                      <m:t>𝑦</m:t>
                    </m:r>
                    <m:r>
                      <a:rPr lang="en-US" i="1">
                        <a:latin typeface="Cambria Math" panose="02040503050406030204" pitchFamily="18" charset="0"/>
                      </a:rPr>
                      <m:t> </m:t>
                    </m:r>
                  </m:oMath>
                </a14:m>
                <a:r>
                  <a:rPr lang="en-US" dirty="0"/>
                  <a:t>is the state utility.</a:t>
                </a:r>
              </a:p>
            </p:txBody>
          </p:sp>
        </mc:Choice>
        <mc:Fallback xmlns="">
          <p:sp>
            <p:nvSpPr>
              <p:cNvPr id="1104899" name="Rectangle 3"/>
              <p:cNvSpPr>
                <a:spLocks noGrp="1" noRot="1" noChangeAspect="1" noMove="1" noResize="1" noEditPoints="1" noAdjustHandles="1" noChangeArrowheads="1" noChangeShapeType="1" noTextEdit="1"/>
              </p:cNvSpPr>
              <p:nvPr>
                <p:ph idx="1"/>
              </p:nvPr>
            </p:nvSpPr>
            <p:spPr>
              <a:xfrm>
                <a:off x="1066800" y="1403053"/>
                <a:ext cx="10439400" cy="4724400"/>
              </a:xfrm>
              <a:blipFill>
                <a:blip r:embed="rId4"/>
                <a:stretch>
                  <a:fillRect l="-1051" t="-3226"/>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33297291-B994-8026-8F56-ACEC1703708A}"/>
              </a:ext>
            </a:extLst>
          </p:cNvPr>
          <p:cNvGrpSpPr/>
          <p:nvPr/>
        </p:nvGrpSpPr>
        <p:grpSpPr>
          <a:xfrm>
            <a:off x="8798791" y="2895600"/>
            <a:ext cx="2679700" cy="2178347"/>
            <a:chOff x="8674100" y="3276599"/>
            <a:chExt cx="2679700" cy="2178347"/>
          </a:xfrm>
        </p:grpSpPr>
        <p:grpSp>
          <p:nvGrpSpPr>
            <p:cNvPr id="5" name="Group 4">
              <a:extLst>
                <a:ext uri="{FF2B5EF4-FFF2-40B4-BE49-F238E27FC236}">
                  <a16:creationId xmlns:a16="http://schemas.microsoft.com/office/drawing/2014/main" id="{BE27B559-43A9-46D3-A531-CDA612A73009}"/>
                </a:ext>
                <a:ext uri="{C183D7F6-B498-43B3-948B-1728B52AA6E4}">
                  <adec:decorative xmlns:adec="http://schemas.microsoft.com/office/drawing/2017/decorative" val="1"/>
                </a:ext>
              </a:extLst>
            </p:cNvPr>
            <p:cNvGrpSpPr/>
            <p:nvPr/>
          </p:nvGrpSpPr>
          <p:grpSpPr>
            <a:xfrm>
              <a:off x="8674100" y="3276599"/>
              <a:ext cx="2679700" cy="2178347"/>
              <a:chOff x="8674100" y="2590799"/>
              <a:chExt cx="3352800" cy="2831851"/>
            </a:xfrm>
          </p:grpSpPr>
          <p:sp>
            <p:nvSpPr>
              <p:cNvPr id="4" name="Oval 3">
                <a:extLst>
                  <a:ext uri="{FF2B5EF4-FFF2-40B4-BE49-F238E27FC236}">
                    <a16:creationId xmlns:a16="http://schemas.microsoft.com/office/drawing/2014/main" id="{400C7E3D-5406-4B36-8BEA-4977E9F815D7}"/>
                  </a:ext>
                </a:extLst>
              </p:cNvPr>
              <p:cNvSpPr/>
              <p:nvPr/>
            </p:nvSpPr>
            <p:spPr>
              <a:xfrm>
                <a:off x="8674100" y="2590799"/>
                <a:ext cx="3352800" cy="2831851"/>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dirty="0"/>
              </a:p>
            </p:txBody>
          </p:sp>
          <p:sp>
            <p:nvSpPr>
              <p:cNvPr id="1104901" name="Freeform 5"/>
              <p:cNvSpPr>
                <a:spLocks/>
              </p:cNvSpPr>
              <p:nvPr/>
            </p:nvSpPr>
            <p:spPr bwMode="auto">
              <a:xfrm>
                <a:off x="8910638" y="3369965"/>
                <a:ext cx="2947987" cy="1409700"/>
              </a:xfrm>
              <a:custGeom>
                <a:avLst/>
                <a:gdLst>
                  <a:gd name="T0" fmla="*/ 213 w 1857"/>
                  <a:gd name="T1" fmla="*/ 128 h 888"/>
                  <a:gd name="T2" fmla="*/ 80 w 1857"/>
                  <a:gd name="T3" fmla="*/ 475 h 888"/>
                  <a:gd name="T4" fmla="*/ 692 w 1857"/>
                  <a:gd name="T5" fmla="*/ 852 h 888"/>
                  <a:gd name="T6" fmla="*/ 1013 w 1857"/>
                  <a:gd name="T7" fmla="*/ 689 h 888"/>
                  <a:gd name="T8" fmla="*/ 1451 w 1857"/>
                  <a:gd name="T9" fmla="*/ 638 h 888"/>
                  <a:gd name="T10" fmla="*/ 1752 w 1857"/>
                  <a:gd name="T11" fmla="*/ 592 h 888"/>
                  <a:gd name="T12" fmla="*/ 1818 w 1857"/>
                  <a:gd name="T13" fmla="*/ 306 h 888"/>
                  <a:gd name="T14" fmla="*/ 1517 w 1857"/>
                  <a:gd name="T15" fmla="*/ 92 h 888"/>
                  <a:gd name="T16" fmla="*/ 998 w 1857"/>
                  <a:gd name="T17" fmla="*/ 6 h 888"/>
                  <a:gd name="T18" fmla="*/ 213 w 1857"/>
                  <a:gd name="T19" fmla="*/ 128 h 8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57" h="888">
                    <a:moveTo>
                      <a:pt x="213" y="128"/>
                    </a:moveTo>
                    <a:cubicBezTo>
                      <a:pt x="60" y="206"/>
                      <a:pt x="0" y="354"/>
                      <a:pt x="80" y="475"/>
                    </a:cubicBezTo>
                    <a:cubicBezTo>
                      <a:pt x="160" y="596"/>
                      <a:pt x="537" y="816"/>
                      <a:pt x="692" y="852"/>
                    </a:cubicBezTo>
                    <a:cubicBezTo>
                      <a:pt x="847" y="888"/>
                      <a:pt x="887" y="725"/>
                      <a:pt x="1013" y="689"/>
                    </a:cubicBezTo>
                    <a:cubicBezTo>
                      <a:pt x="1139" y="653"/>
                      <a:pt x="1328" y="654"/>
                      <a:pt x="1451" y="638"/>
                    </a:cubicBezTo>
                    <a:cubicBezTo>
                      <a:pt x="1574" y="622"/>
                      <a:pt x="1691" y="647"/>
                      <a:pt x="1752" y="592"/>
                    </a:cubicBezTo>
                    <a:cubicBezTo>
                      <a:pt x="1813" y="537"/>
                      <a:pt x="1857" y="389"/>
                      <a:pt x="1818" y="306"/>
                    </a:cubicBezTo>
                    <a:cubicBezTo>
                      <a:pt x="1779" y="223"/>
                      <a:pt x="1654" y="142"/>
                      <a:pt x="1517" y="92"/>
                    </a:cubicBezTo>
                    <a:cubicBezTo>
                      <a:pt x="1380" y="42"/>
                      <a:pt x="1215" y="0"/>
                      <a:pt x="998" y="6"/>
                    </a:cubicBezTo>
                    <a:cubicBezTo>
                      <a:pt x="781" y="12"/>
                      <a:pt x="366" y="50"/>
                      <a:pt x="213" y="128"/>
                    </a:cubicBezTo>
                    <a:close/>
                  </a:path>
                </a:pathLst>
              </a:custGeom>
              <a:ln>
                <a:headEnd/>
                <a:tailEnd/>
              </a:ln>
              <a:extLs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accent5"/>
              </a:lnRef>
              <a:fillRef idx="2">
                <a:schemeClr val="accent5"/>
              </a:fillRef>
              <a:effectRef idx="1">
                <a:schemeClr val="accent5"/>
              </a:effectRef>
              <a:fontRef idx="minor">
                <a:schemeClr val="dk1"/>
              </a:fontRef>
            </p:style>
            <p:txBody>
              <a:bodyPr/>
              <a:lstStyle/>
              <a:p>
                <a:endParaRPr lang="en-US"/>
              </a:p>
            </p:txBody>
          </p:sp>
          <p:pic>
            <p:nvPicPr>
              <p:cNvPr id="1104904" name="Picture 8" descr="txp_fig"/>
              <p:cNvPicPr>
                <a:picLocks noChangeAspect="1" noChangeArrowheads="1"/>
              </p:cNvPicPr>
              <p:nvPr>
                <p:custDataLst>
                  <p:tags r:id="rId1"/>
                </p:custDataLst>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312400" y="3523953"/>
                <a:ext cx="185738" cy="254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104905" name="Oval 9"/>
              <p:cNvSpPr>
                <a:spLocks noChangeArrowheads="1"/>
              </p:cNvSpPr>
              <p:nvPr/>
            </p:nvSpPr>
            <p:spPr bwMode="auto">
              <a:xfrm>
                <a:off x="10328275" y="3330278"/>
                <a:ext cx="112713" cy="112712"/>
              </a:xfrm>
              <a:prstGeom prst="ellipse">
                <a:avLst/>
              </a:prstGeom>
              <a:solidFill>
                <a:srgbClr val="000000"/>
              </a:solidFill>
              <a:ln w="9525">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04906" name="Oval 10"/>
              <p:cNvSpPr>
                <a:spLocks noChangeArrowheads="1"/>
              </p:cNvSpPr>
              <p:nvPr/>
            </p:nvSpPr>
            <p:spPr bwMode="auto">
              <a:xfrm>
                <a:off x="10328275" y="2876253"/>
                <a:ext cx="112713" cy="112712"/>
              </a:xfrm>
              <a:prstGeom prst="ellipse">
                <a:avLst/>
              </a:prstGeom>
              <a:solidFill>
                <a:srgbClr val="000000"/>
              </a:solidFill>
              <a:ln w="9525">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1104909" name="Picture 13" descr="txp_fig"/>
              <p:cNvPicPr>
                <a:picLocks noChangeAspect="1" noChangeArrowheads="1"/>
              </p:cNvPicPr>
              <p:nvPr>
                <p:custDataLst>
                  <p:tags r:id="rId2"/>
                </p:custDataLst>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744075" y="4136728"/>
                <a:ext cx="303213" cy="2365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7DD4B3D-2CB0-4966-BB2B-CB641EA9EEE3}"/>
                      </a:ext>
                    </a:extLst>
                  </p:cNvPr>
                  <p:cNvSpPr txBox="1"/>
                  <p:nvPr/>
                </p:nvSpPr>
                <p:spPr>
                  <a:xfrm>
                    <a:off x="10388600" y="2657624"/>
                    <a:ext cx="279400" cy="461665"/>
                  </a:xfrm>
                  <a:prstGeom prst="rect">
                    <a:avLst/>
                  </a:prstGeom>
                  <a:noFill/>
                </p:spPr>
                <p:txBody>
                  <a:bodyPr wrap="square" rtlCol="0">
                    <a:spAutoFit/>
                  </a:bodyPr>
                  <a:lstStyle/>
                  <a:p>
                    <a:pPr/>
                    <a14:m>
                      <m:oMathPara xmlns:m="http://schemas.openxmlformats.org/officeDocument/2006/math">
                        <m:oMath>
                          <m:r>
                            <a:rPr lang="en-US" sz="2400" b="0" i="1" dirty="0" smtClean="0">
                              <a:latin typeface="Cambria Math" panose="02040503050406030204" pitchFamily="18" charset="0"/>
                            </a:rPr>
                            <m:t>𝑓</m:t>
                          </m:r>
                        </m:oMath>
                      </m:oMathPara>
                    </a14:m>
                    <a:endParaRPr lang="en-US" sz="2400" i="1" dirty="0"/>
                  </a:p>
                </p:txBody>
              </p:sp>
            </mc:Choice>
            <mc:Fallback xmlns="">
              <p:sp>
                <p:nvSpPr>
                  <p:cNvPr id="3" name="TextBox 2">
                    <a:extLst>
                      <a:ext uri="{FF2B5EF4-FFF2-40B4-BE49-F238E27FC236}">
                        <a16:creationId xmlns:a16="http://schemas.microsoft.com/office/drawing/2014/main" id="{47DD4B3D-2CB0-4966-BB2B-CB641EA9EEE3}"/>
                      </a:ext>
                    </a:extLst>
                  </p:cNvPr>
                  <p:cNvSpPr txBox="1">
                    <a:spLocks noRot="1" noChangeAspect="1" noMove="1" noResize="1" noEditPoints="1" noAdjustHandles="1" noChangeArrowheads="1" noChangeShapeType="1" noTextEdit="1"/>
                  </p:cNvSpPr>
                  <p:nvPr/>
                </p:nvSpPr>
                <p:spPr>
                  <a:xfrm>
                    <a:off x="10388600" y="2657624"/>
                    <a:ext cx="279400" cy="461665"/>
                  </a:xfrm>
                  <a:prstGeom prst="rect">
                    <a:avLst/>
                  </a:prstGeom>
                  <a:blipFill>
                    <a:blip r:embed="rId7"/>
                    <a:stretch>
                      <a:fillRect l="-17391" r="-43478" b="-18667"/>
                    </a:stretch>
                  </a:blipFill>
                </p:spPr>
                <p:txBody>
                  <a:bodyPr/>
                  <a:lstStyle/>
                  <a:p>
                    <a:r>
                      <a:rPr lang="en-US">
                        <a:noFill/>
                      </a:rPr>
                      <a:t> </a:t>
                    </a:r>
                  </a:p>
                </p:txBody>
              </p:sp>
            </mc:Fallback>
          </mc:AlternateContent>
        </p:grpSp>
        <p:sp>
          <p:nvSpPr>
            <p:cNvPr id="2" name="TextBox 1">
              <a:extLst>
                <a:ext uri="{FF2B5EF4-FFF2-40B4-BE49-F238E27FC236}">
                  <a16:creationId xmlns:a16="http://schemas.microsoft.com/office/drawing/2014/main" id="{3061991E-4ADB-3258-6A99-6E16D1146186}"/>
                </a:ext>
              </a:extLst>
            </p:cNvPr>
            <p:cNvSpPr txBox="1"/>
            <p:nvPr/>
          </p:nvSpPr>
          <p:spPr>
            <a:xfrm>
              <a:off x="9869849" y="4737411"/>
              <a:ext cx="1141701" cy="523220"/>
            </a:xfrm>
            <a:prstGeom prst="rect">
              <a:avLst/>
            </a:prstGeom>
            <a:noFill/>
          </p:spPr>
          <p:txBody>
            <a:bodyPr wrap="square" rtlCol="0">
              <a:spAutoFit/>
            </a:bodyPr>
            <a:lstStyle/>
            <a:p>
              <a:pPr algn="ctr"/>
              <a:r>
                <a:rPr lang="en-US" sz="1400" dirty="0">
                  <a:solidFill>
                    <a:schemeClr val="bg1"/>
                  </a:solidFill>
                </a:rPr>
                <a:t>Set of all functions</a:t>
              </a:r>
            </a:p>
          </p:txBody>
        </p:sp>
      </p:grpSp>
    </p:spTree>
    <p:extLst>
      <p:ext uri="{BB962C8B-B14F-4D97-AF65-F5344CB8AC3E}">
        <p14:creationId xmlns:p14="http://schemas.microsoft.com/office/powerpoint/2010/main" val="949373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0489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0489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0489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04899">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04899">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04899">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04899">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04899">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04899">
                                            <p:txEl>
                                              <p:pRg st="10" end="1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0489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4899"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22" name="Rectangle 2"/>
          <p:cNvSpPr>
            <a:spLocks noGrp="1" noChangeArrowheads="1"/>
          </p:cNvSpPr>
          <p:nvPr>
            <p:ph type="title"/>
          </p:nvPr>
        </p:nvSpPr>
        <p:spPr>
          <a:xfrm>
            <a:off x="533400" y="304800"/>
            <a:ext cx="10515600" cy="1325563"/>
          </a:xfrm>
        </p:spPr>
        <p:txBody>
          <a:bodyPr/>
          <a:lstStyle/>
          <a:p>
            <a:r>
              <a:rPr lang="en-US" dirty="0"/>
              <a:t>Consistency vs. Simplicity</a:t>
            </a:r>
          </a:p>
        </p:txBody>
      </p:sp>
      <p:sp>
        <p:nvSpPr>
          <p:cNvPr id="1105923" name="Rectangle 3"/>
          <p:cNvSpPr>
            <a:spLocks noGrp="1" noChangeArrowheads="1"/>
          </p:cNvSpPr>
          <p:nvPr>
            <p:ph idx="1"/>
          </p:nvPr>
        </p:nvSpPr>
        <p:spPr>
          <a:xfrm>
            <a:off x="609600" y="1443036"/>
            <a:ext cx="11176000" cy="435816"/>
          </a:xfrm>
        </p:spPr>
        <p:txBody>
          <a:bodyPr>
            <a:normAutofit/>
          </a:bodyPr>
          <a:lstStyle/>
          <a:p>
            <a:pPr marL="0" indent="0">
              <a:lnSpc>
                <a:spcPct val="80000"/>
              </a:lnSpc>
              <a:buNone/>
            </a:pPr>
            <a:r>
              <a:rPr lang="en-US" sz="2000" dirty="0"/>
              <a:t>Example: Univariate curve fitting (regression, function approximation)</a:t>
            </a:r>
          </a:p>
        </p:txBody>
      </p:sp>
      <p:sp>
        <p:nvSpPr>
          <p:cNvPr id="5" name="TextBox 4">
            <a:extLst>
              <a:ext uri="{FF2B5EF4-FFF2-40B4-BE49-F238E27FC236}">
                <a16:creationId xmlns:a16="http://schemas.microsoft.com/office/drawing/2014/main" id="{FE19FE2A-1DB0-4405-63A3-E2082B4EBAC0}"/>
              </a:ext>
              <a:ext uri="{C183D7F6-B498-43B3-948B-1728B52AA6E4}">
                <adec:decorative xmlns:adec="http://schemas.microsoft.com/office/drawing/2017/decorative" val="1"/>
              </a:ext>
            </a:extLst>
          </p:cNvPr>
          <p:cNvSpPr txBox="1"/>
          <p:nvPr/>
        </p:nvSpPr>
        <p:spPr>
          <a:xfrm>
            <a:off x="7044121" y="1759138"/>
            <a:ext cx="3446795" cy="461665"/>
          </a:xfrm>
          <a:prstGeom prst="rect">
            <a:avLst/>
          </a:prstGeom>
          <a:noFill/>
        </p:spPr>
        <p:txBody>
          <a:bodyPr wrap="square" rtlCol="0">
            <a:spAutoFit/>
          </a:bodyPr>
          <a:lstStyle/>
          <a:p>
            <a:pPr algn="ctr"/>
            <a:r>
              <a:rPr lang="en-US" sz="2400" b="1" dirty="0"/>
              <a:t>Learned</a:t>
            </a:r>
            <a:r>
              <a:rPr lang="en-US" sz="2400" dirty="0"/>
              <a:t> </a:t>
            </a:r>
            <a:r>
              <a:rPr lang="en-US" sz="2400" b="1" dirty="0"/>
              <a:t>Models</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32553B3-7280-0537-EC51-B0829F7FA85E}"/>
                  </a:ext>
                </a:extLst>
              </p:cNvPr>
              <p:cNvSpPr txBox="1"/>
              <p:nvPr/>
            </p:nvSpPr>
            <p:spPr>
              <a:xfrm>
                <a:off x="685800" y="5715000"/>
                <a:ext cx="4677261" cy="646331"/>
              </a:xfrm>
              <a:prstGeom prst="rect">
                <a:avLst/>
              </a:prstGeom>
              <a:noFill/>
            </p:spPr>
            <p:txBody>
              <a:bodyPr wrap="square">
                <a:spAutoFit/>
              </a:bodyPr>
              <a:lstStyle/>
              <a:p>
                <a:r>
                  <a:rPr lang="en-US" b="1" dirty="0">
                    <a:solidFill>
                      <a:srgbClr val="CC0000"/>
                    </a:solidFill>
                  </a:rPr>
                  <a:t>Consistency:</a:t>
                </a:r>
                <a:r>
                  <a:rPr lang="en-US" dirty="0"/>
                  <a:t> </a:t>
                </a:r>
                <a14:m>
                  <m:oMath xmlns:m="http://schemas.openxmlformats.org/officeDocument/2006/math">
                    <m:r>
                      <a:rPr lang="en-US" i="1" dirty="0">
                        <a:latin typeface="Cambria Math" panose="02040503050406030204" pitchFamily="18" charset="0"/>
                      </a:rPr>
                      <m:t>ℎ</m:t>
                    </m:r>
                    <m:d>
                      <m:dPr>
                        <m:ctrlPr>
                          <a:rPr lang="en-US" i="1" dirty="0" err="1">
                            <a:latin typeface="Cambria Math" panose="02040503050406030204" pitchFamily="18" charset="0"/>
                          </a:rPr>
                        </m:ctrlPr>
                      </m:dPr>
                      <m:e>
                        <m:sSub>
                          <m:sSubPr>
                            <m:ctrlPr>
                              <a:rPr lang="en-US" i="1" dirty="0" err="1">
                                <a:latin typeface="Cambria Math" panose="02040503050406030204" pitchFamily="18" charset="0"/>
                              </a:rPr>
                            </m:ctrlPr>
                          </m:sSubPr>
                          <m:e>
                            <m:r>
                              <a:rPr lang="en-US" i="1" dirty="0" err="1">
                                <a:latin typeface="Cambria Math" panose="02040503050406030204" pitchFamily="18" charset="0"/>
                              </a:rPr>
                              <m:t>𝑥</m:t>
                            </m:r>
                          </m:e>
                          <m:sub>
                            <m:r>
                              <a:rPr lang="en-US" i="1" dirty="0" err="1">
                                <a:latin typeface="Cambria Math" panose="02040503050406030204" pitchFamily="18" charset="0"/>
                              </a:rPr>
                              <m:t>𝑖</m:t>
                            </m:r>
                          </m:sub>
                        </m:sSub>
                      </m:e>
                    </m:d>
                    <m:r>
                      <a:rPr lang="en-US" i="1" dirty="0" smtClean="0">
                        <a:latin typeface="Cambria Math" panose="02040503050406030204" pitchFamily="18" charset="0"/>
                        <a:ea typeface="Cambria Math" panose="02040503050406030204" pitchFamily="18" charset="0"/>
                      </a:rPr>
                      <m:t>≈</m:t>
                    </m:r>
                    <m:r>
                      <a:rPr lang="en-US" i="1" dirty="0">
                        <a:latin typeface="Cambria Math" panose="02040503050406030204" pitchFamily="18" charset="0"/>
                      </a:rPr>
                      <m:t> </m:t>
                    </m:r>
                    <m:sSub>
                      <m:sSubPr>
                        <m:ctrlPr>
                          <a:rPr lang="en-US" i="1" dirty="0" err="1">
                            <a:latin typeface="Cambria Math" panose="02040503050406030204" pitchFamily="18" charset="0"/>
                          </a:rPr>
                        </m:ctrlPr>
                      </m:sSubPr>
                      <m:e>
                        <m:r>
                          <a:rPr lang="en-US" i="1" dirty="0" err="1">
                            <a:latin typeface="Cambria Math" panose="02040503050406030204" pitchFamily="18" charset="0"/>
                          </a:rPr>
                          <m:t>𝑦</m:t>
                        </m:r>
                      </m:e>
                      <m:sub>
                        <m:r>
                          <a:rPr lang="en-US" i="1" dirty="0" err="1">
                            <a:latin typeface="Cambria Math" panose="02040503050406030204" pitchFamily="18" charset="0"/>
                          </a:rPr>
                          <m:t>𝑖</m:t>
                        </m:r>
                      </m:sub>
                    </m:sSub>
                  </m:oMath>
                </a14:m>
                <a:r>
                  <a:rPr lang="en-US" dirty="0"/>
                  <a:t> (minimize the error)</a:t>
                </a:r>
              </a:p>
              <a:p>
                <a:r>
                  <a:rPr lang="en-US" b="1" dirty="0">
                    <a:solidFill>
                      <a:srgbClr val="CC0000"/>
                    </a:solidFill>
                  </a:rPr>
                  <a:t>Simplicity: </a:t>
                </a:r>
                <a:r>
                  <a:rPr lang="en-US" dirty="0"/>
                  <a:t>small number of </a:t>
                </a:r>
                <a:r>
                  <a:rPr lang="en-US"/>
                  <a:t>model parameters.</a:t>
                </a:r>
                <a:endParaRPr lang="en-US" b="1" dirty="0"/>
              </a:p>
            </p:txBody>
          </p:sp>
        </mc:Choice>
        <mc:Fallback xmlns="">
          <p:sp>
            <p:nvSpPr>
              <p:cNvPr id="7" name="TextBox 6">
                <a:extLst>
                  <a:ext uri="{FF2B5EF4-FFF2-40B4-BE49-F238E27FC236}">
                    <a16:creationId xmlns:a16="http://schemas.microsoft.com/office/drawing/2014/main" id="{C32553B3-7280-0537-EC51-B0829F7FA85E}"/>
                  </a:ext>
                </a:extLst>
              </p:cNvPr>
              <p:cNvSpPr txBox="1">
                <a:spLocks noRot="1" noChangeAspect="1" noMove="1" noResize="1" noEditPoints="1" noAdjustHandles="1" noChangeArrowheads="1" noChangeShapeType="1" noTextEdit="1"/>
              </p:cNvSpPr>
              <p:nvPr/>
            </p:nvSpPr>
            <p:spPr>
              <a:xfrm>
                <a:off x="685800" y="5715000"/>
                <a:ext cx="4677261" cy="646331"/>
              </a:xfrm>
              <a:prstGeom prst="rect">
                <a:avLst/>
              </a:prstGeom>
              <a:blipFill>
                <a:blip r:embed="rId3"/>
                <a:stretch>
                  <a:fillRect l="-1173" t="-5660" b="-13208"/>
                </a:stretch>
              </a:blipFill>
            </p:spPr>
            <p:txBody>
              <a:bodyPr/>
              <a:lstStyle/>
              <a:p>
                <a:r>
                  <a:rPr lang="en-US">
                    <a:noFill/>
                  </a:rPr>
                  <a:t> </a:t>
                </a:r>
              </a:p>
            </p:txBody>
          </p:sp>
        </mc:Fallback>
      </mc:AlternateContent>
      <p:grpSp>
        <p:nvGrpSpPr>
          <p:cNvPr id="16" name="Group 15">
            <a:extLst>
              <a:ext uri="{FF2B5EF4-FFF2-40B4-BE49-F238E27FC236}">
                <a16:creationId xmlns:a16="http://schemas.microsoft.com/office/drawing/2014/main" id="{91C21A9A-D20B-D183-35F8-5F30D580A93B}"/>
              </a:ext>
            </a:extLst>
          </p:cNvPr>
          <p:cNvGrpSpPr/>
          <p:nvPr/>
        </p:nvGrpSpPr>
        <p:grpSpPr>
          <a:xfrm>
            <a:off x="671270" y="2334913"/>
            <a:ext cx="3200400" cy="2496167"/>
            <a:chOff x="671270" y="2334913"/>
            <a:chExt cx="3200400" cy="2496167"/>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79AFB5E-CD13-468E-8363-2A23CE0FB180}"/>
                    </a:ext>
                    <a:ext uri="{C183D7F6-B498-43B3-948B-1728B52AA6E4}">
                      <adec:decorative xmlns:adec="http://schemas.microsoft.com/office/drawing/2017/decorative" val="1"/>
                    </a:ext>
                  </a:extLst>
                </p:cNvPr>
                <p:cNvSpPr txBox="1"/>
                <p:nvPr/>
              </p:nvSpPr>
              <p:spPr>
                <a:xfrm>
                  <a:off x="1447800" y="2334913"/>
                  <a:ext cx="2211370" cy="461665"/>
                </a:xfrm>
                <a:prstGeom prst="rect">
                  <a:avLst/>
                </a:prstGeom>
                <a:noFill/>
              </p:spPr>
              <p:txBody>
                <a:bodyPr wrap="square" rtlCol="0">
                  <a:spAutoFit/>
                </a:bodyPr>
                <a:lstStyle/>
                <a:p>
                  <a:pPr algn="ctr"/>
                  <a:r>
                    <a:rPr lang="en-US" sz="2400" b="1" dirty="0"/>
                    <a:t>Examples </a:t>
                  </a:r>
                  <a14:m>
                    <m:oMath xmlns:m="http://schemas.openxmlformats.org/officeDocument/2006/math">
                      <m:r>
                        <a:rPr lang="en-US" sz="2400" b="0" i="1" smtClean="0">
                          <a:latin typeface="Cambria Math" panose="02040503050406030204" pitchFamily="18" charset="0"/>
                        </a:rPr>
                        <m:t>𝑓</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e>
                      </m:d>
                    </m:oMath>
                  </a14:m>
                  <a:endParaRPr lang="en-US" sz="2400" b="1" dirty="0"/>
                </a:p>
              </p:txBody>
            </p:sp>
          </mc:Choice>
          <mc:Fallback xmlns="">
            <p:sp>
              <p:nvSpPr>
                <p:cNvPr id="4" name="TextBox 3">
                  <a:extLst>
                    <a:ext uri="{FF2B5EF4-FFF2-40B4-BE49-F238E27FC236}">
                      <a16:creationId xmlns:a16="http://schemas.microsoft.com/office/drawing/2014/main" id="{F79AFB5E-CD13-468E-8363-2A23CE0FB180}"/>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1447800" y="2334913"/>
                  <a:ext cx="2211370" cy="461665"/>
                </a:xfrm>
                <a:prstGeom prst="rect">
                  <a:avLst/>
                </a:prstGeom>
                <a:blipFill>
                  <a:blip r:embed="rId4"/>
                  <a:stretch>
                    <a:fillRect l="-829" t="-10526" b="-28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6" name="Chart 5">
                  <a:extLst>
                    <a:ext uri="{FF2B5EF4-FFF2-40B4-BE49-F238E27FC236}">
                      <a16:creationId xmlns:a16="http://schemas.microsoft.com/office/drawing/2014/main" id="{57023CE1-156E-25E3-3262-EE84649E0EB5}"/>
                    </a:ext>
                  </a:extLst>
                </p:cNvPr>
                <p:cNvGraphicFramePr>
                  <a:graphicFrameLocks/>
                </p:cNvGraphicFramePr>
                <p:nvPr>
                  <p:extLst>
                    <p:ext uri="{D42A27DB-BD31-4B8C-83A1-F6EECF244321}">
                      <p14:modId xmlns:p14="http://schemas.microsoft.com/office/powerpoint/2010/main" val="3339851366"/>
                    </p:ext>
                  </p:extLst>
                </p:nvPr>
              </p:nvGraphicFramePr>
              <p:xfrm>
                <a:off x="671270" y="2819400"/>
                <a:ext cx="3200400" cy="2011680"/>
              </p:xfrm>
              <a:graphic>
                <a:graphicData uri="http://schemas.openxmlformats.org/drawingml/2006/chart">
                  <c:chart xmlns:c="http://schemas.openxmlformats.org/drawingml/2006/chart" xmlns:r="http://schemas.openxmlformats.org/officeDocument/2006/relationships" r:id="rId5"/>
                </a:graphicData>
              </a:graphic>
            </p:graphicFrame>
          </mc:Choice>
          <mc:Fallback xmlns="">
            <p:graphicFrame>
              <p:nvGraphicFramePr>
                <p:cNvPr id="6" name="Chart 5">
                  <a:extLst>
                    <a:ext uri="{FF2B5EF4-FFF2-40B4-BE49-F238E27FC236}">
                      <a16:creationId xmlns:a16="http://schemas.microsoft.com/office/drawing/2014/main" id="{57023CE1-156E-25E3-3262-EE84649E0EB5}"/>
                    </a:ext>
                  </a:extLst>
                </p:cNvPr>
                <p:cNvGraphicFramePr>
                  <a:graphicFrameLocks/>
                </p:cNvGraphicFramePr>
                <p:nvPr>
                  <p:extLst>
                    <p:ext uri="{D42A27DB-BD31-4B8C-83A1-F6EECF244321}">
                      <p14:modId xmlns:p14="http://schemas.microsoft.com/office/powerpoint/2010/main" val="3339851366"/>
                    </p:ext>
                  </p:extLst>
                </p:nvPr>
              </p:nvGraphicFramePr>
              <p:xfrm>
                <a:off x="671270" y="2819400"/>
                <a:ext cx="3200400" cy="2011680"/>
              </p:xfrm>
              <a:graphic>
                <a:graphicData uri="http://schemas.openxmlformats.org/drawingml/2006/chart">
                  <c:chart xmlns:c="http://schemas.openxmlformats.org/drawingml/2006/chart" xmlns:r="http://schemas.openxmlformats.org/officeDocument/2006/relationships" r:id="rId6"/>
                </a:graphicData>
              </a:graphic>
            </p:graphicFrame>
          </mc:Fallback>
        </mc:AlternateContent>
      </p:grpSp>
      <p:graphicFrame>
        <p:nvGraphicFramePr>
          <p:cNvPr id="8" name="Chart 7">
            <a:extLst>
              <a:ext uri="{FF2B5EF4-FFF2-40B4-BE49-F238E27FC236}">
                <a16:creationId xmlns:a16="http://schemas.microsoft.com/office/drawing/2014/main" id="{3437EED3-4350-46F9-92FE-BB28F572C7E4}"/>
              </a:ext>
            </a:extLst>
          </p:cNvPr>
          <p:cNvGraphicFramePr>
            <a:graphicFrameLocks/>
          </p:cNvGraphicFramePr>
          <p:nvPr>
            <p:extLst>
              <p:ext uri="{D42A27DB-BD31-4B8C-83A1-F6EECF244321}">
                <p14:modId xmlns:p14="http://schemas.microsoft.com/office/powerpoint/2010/main" val="607132642"/>
              </p:ext>
            </p:extLst>
          </p:nvPr>
        </p:nvGraphicFramePr>
        <p:xfrm>
          <a:off x="5490919" y="2216343"/>
          <a:ext cx="3200400" cy="201168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9" name="Chart 8">
            <a:extLst>
              <a:ext uri="{FF2B5EF4-FFF2-40B4-BE49-F238E27FC236}">
                <a16:creationId xmlns:a16="http://schemas.microsoft.com/office/drawing/2014/main" id="{0BC1AD49-1820-47FA-85FF-044FF7898444}"/>
              </a:ext>
            </a:extLst>
          </p:cNvPr>
          <p:cNvGraphicFramePr>
            <a:graphicFrameLocks/>
          </p:cNvGraphicFramePr>
          <p:nvPr>
            <p:extLst>
              <p:ext uri="{D42A27DB-BD31-4B8C-83A1-F6EECF244321}">
                <p14:modId xmlns:p14="http://schemas.microsoft.com/office/powerpoint/2010/main" val="460348715"/>
              </p:ext>
            </p:extLst>
          </p:nvPr>
        </p:nvGraphicFramePr>
        <p:xfrm>
          <a:off x="8710369" y="2216343"/>
          <a:ext cx="3200400" cy="2011680"/>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13" name="Chart 12">
            <a:extLst>
              <a:ext uri="{FF2B5EF4-FFF2-40B4-BE49-F238E27FC236}">
                <a16:creationId xmlns:a16="http://schemas.microsoft.com/office/drawing/2014/main" id="{276FF3B2-62D6-4FB5-8725-7FF7F1024715}"/>
              </a:ext>
            </a:extLst>
          </p:cNvPr>
          <p:cNvGraphicFramePr>
            <a:graphicFrameLocks/>
          </p:cNvGraphicFramePr>
          <p:nvPr>
            <p:extLst>
              <p:ext uri="{D42A27DB-BD31-4B8C-83A1-F6EECF244321}">
                <p14:modId xmlns:p14="http://schemas.microsoft.com/office/powerpoint/2010/main" val="3430571812"/>
              </p:ext>
            </p:extLst>
          </p:nvPr>
        </p:nvGraphicFramePr>
        <p:xfrm>
          <a:off x="5490919" y="4240159"/>
          <a:ext cx="3200400" cy="2011680"/>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14" name="Chart 13">
            <a:extLst>
              <a:ext uri="{FF2B5EF4-FFF2-40B4-BE49-F238E27FC236}">
                <a16:creationId xmlns:a16="http://schemas.microsoft.com/office/drawing/2014/main" id="{99576951-4AD0-49AB-A1CA-7C4BF652AF30}"/>
              </a:ext>
            </a:extLst>
          </p:cNvPr>
          <p:cNvGraphicFramePr>
            <a:graphicFrameLocks/>
          </p:cNvGraphicFramePr>
          <p:nvPr>
            <p:extLst>
              <p:ext uri="{D42A27DB-BD31-4B8C-83A1-F6EECF244321}">
                <p14:modId xmlns:p14="http://schemas.microsoft.com/office/powerpoint/2010/main" val="1625978830"/>
              </p:ext>
            </p:extLst>
          </p:nvPr>
        </p:nvGraphicFramePr>
        <p:xfrm>
          <a:off x="8710369" y="4240159"/>
          <a:ext cx="3200400" cy="2011680"/>
        </p:xfrm>
        <a:graphic>
          <a:graphicData uri="http://schemas.openxmlformats.org/drawingml/2006/chart">
            <c:chart xmlns:c="http://schemas.openxmlformats.org/drawingml/2006/chart" xmlns:r="http://schemas.openxmlformats.org/officeDocument/2006/relationships" r:id="rId10"/>
          </a:graphicData>
        </a:graphic>
      </p:graphicFrame>
      <p:sp>
        <p:nvSpPr>
          <p:cNvPr id="15" name="Arrow: Right 14">
            <a:extLst>
              <a:ext uri="{FF2B5EF4-FFF2-40B4-BE49-F238E27FC236}">
                <a16:creationId xmlns:a16="http://schemas.microsoft.com/office/drawing/2014/main" id="{258BF375-5454-5892-433A-F2773D78BF44}"/>
              </a:ext>
            </a:extLst>
          </p:cNvPr>
          <p:cNvSpPr/>
          <p:nvPr/>
        </p:nvSpPr>
        <p:spPr>
          <a:xfrm>
            <a:off x="4267200" y="3276600"/>
            <a:ext cx="1066800" cy="762000"/>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73710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Graphic spid="8" grpId="0">
        <p:bldAsOne/>
      </p:bldGraphic>
      <p:bldGraphic spid="9" grpId="0">
        <p:bldAsOne/>
      </p:bldGraphic>
      <p:bldGraphic spid="13" grpId="0">
        <p:bldAsOne/>
      </p:bldGraphic>
      <p:bldGraphic spid="14" grpId="0">
        <p:bldAsOne/>
      </p:bldGraphic>
      <p:bldP spid="1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35EFA-B760-4599-A4AE-897C90016681}"/>
              </a:ext>
            </a:extLst>
          </p:cNvPr>
          <p:cNvSpPr>
            <a:spLocks noGrp="1"/>
          </p:cNvSpPr>
          <p:nvPr>
            <p:ph type="title"/>
          </p:nvPr>
        </p:nvSpPr>
        <p:spPr/>
        <p:txBody>
          <a:bodyPr/>
          <a:lstStyle/>
          <a:p>
            <a:r>
              <a:rPr lang="en-US" dirty="0"/>
              <a:t>Measuring Consistency using Loss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BE1CDDD-17A2-49AA-878D-47EFE49513D8}"/>
                  </a:ext>
                </a:extLst>
              </p:cNvPr>
              <p:cNvSpPr>
                <a:spLocks noGrp="1"/>
              </p:cNvSpPr>
              <p:nvPr>
                <p:ph idx="1"/>
              </p:nvPr>
            </p:nvSpPr>
            <p:spPr>
              <a:xfrm>
                <a:off x="838200" y="1447800"/>
                <a:ext cx="10515600" cy="3427413"/>
              </a:xfrm>
            </p:spPr>
            <p:txBody>
              <a:bodyPr>
                <a:noAutofit/>
              </a:bodyPr>
              <a:lstStyle/>
              <a:p>
                <a:pPr marL="0" indent="0">
                  <a:buNone/>
                </a:pPr>
                <a:r>
                  <a:rPr lang="en-US" sz="2400" b="1" dirty="0">
                    <a:solidFill>
                      <a:srgbClr val="FF0000"/>
                    </a:solidFill>
                  </a:rPr>
                  <a:t>Goal of learning</a:t>
                </a:r>
                <a:r>
                  <a:rPr lang="en-US" sz="2400" dirty="0"/>
                  <a:t>: Find a  hypothesis that makes predictions that are consistent with the examples </a:t>
                </a:r>
                <a14:m>
                  <m:oMath xmlns:m="http://schemas.openxmlformats.org/officeDocument/2006/math">
                    <m:r>
                      <m:rPr>
                        <m:sty m:val="p"/>
                      </m:rPr>
                      <a:rPr lang="en-US" sz="2400" dirty="0">
                        <a:latin typeface="Cambria Math" panose="02040503050406030204" pitchFamily="18" charset="0"/>
                      </a:rPr>
                      <m:t>E</m:t>
                    </m:r>
                    <m:r>
                      <a:rPr lang="en-US" sz="2400" dirty="0">
                        <a:latin typeface="Cambria Math" panose="02040503050406030204" pitchFamily="18" charset="0"/>
                      </a:rPr>
                      <m:t>= </m:t>
                    </m:r>
                    <m:d>
                      <m:dPr>
                        <m:ctrlPr>
                          <a:rPr lang="en-US" sz="2400" i="1" dirty="0">
                            <a:latin typeface="Cambria Math" panose="02040503050406030204" pitchFamily="18" charset="0"/>
                          </a:rPr>
                        </m:ctrlPr>
                      </m:dPr>
                      <m:e>
                        <m:sSub>
                          <m:sSubPr>
                            <m:ctrlPr>
                              <a:rPr lang="en-US" sz="2400" b="1" i="1" dirty="0">
                                <a:latin typeface="Cambria Math" panose="02040503050406030204" pitchFamily="18" charset="0"/>
                              </a:rPr>
                            </m:ctrlPr>
                          </m:sSubPr>
                          <m:e>
                            <m:r>
                              <a:rPr lang="en-US" sz="2400" b="1" i="1" dirty="0">
                                <a:latin typeface="Cambria Math" panose="02040503050406030204" pitchFamily="18" charset="0"/>
                              </a:rPr>
                              <m:t>𝒙</m:t>
                            </m:r>
                          </m:e>
                          <m:sub>
                            <m:r>
                              <a:rPr lang="en-US" sz="2400" i="1" dirty="0">
                                <a:latin typeface="Cambria Math" panose="02040503050406030204" pitchFamily="18" charset="0"/>
                              </a:rPr>
                              <m:t>1</m:t>
                            </m:r>
                          </m:sub>
                        </m:sSub>
                        <m:r>
                          <a:rPr lang="en-US" sz="2400" i="1" dirty="0">
                            <a:latin typeface="Cambria Math" panose="02040503050406030204" pitchFamily="18" charset="0"/>
                          </a:rPr>
                          <m:t>,</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𝑦</m:t>
                            </m:r>
                          </m:e>
                          <m:sub>
                            <m:r>
                              <a:rPr lang="en-US" sz="2400" i="1" dirty="0">
                                <a:latin typeface="Cambria Math" panose="02040503050406030204" pitchFamily="18" charset="0"/>
                              </a:rPr>
                              <m:t>1</m:t>
                            </m:r>
                          </m:sub>
                        </m:sSub>
                      </m:e>
                    </m:d>
                    <m:r>
                      <a:rPr lang="en-US" sz="2400" i="1" dirty="0">
                        <a:latin typeface="Cambria Math" panose="02040503050406030204" pitchFamily="18" charset="0"/>
                      </a:rPr>
                      <m:t>,…, </m:t>
                    </m:r>
                    <m:d>
                      <m:dPr>
                        <m:ctrlPr>
                          <a:rPr lang="en-US" sz="2400" i="1" dirty="0">
                            <a:latin typeface="Cambria Math" panose="02040503050406030204" pitchFamily="18" charset="0"/>
                          </a:rPr>
                        </m:ctrlPr>
                      </m:dPr>
                      <m:e>
                        <m:sSub>
                          <m:sSubPr>
                            <m:ctrlPr>
                              <a:rPr lang="en-US" sz="2400" b="1" i="1" dirty="0">
                                <a:latin typeface="Cambria Math" panose="02040503050406030204" pitchFamily="18" charset="0"/>
                              </a:rPr>
                            </m:ctrlPr>
                          </m:sSubPr>
                          <m:e>
                            <m:r>
                              <a:rPr lang="en-US" sz="2400" b="1" i="1" dirty="0">
                                <a:latin typeface="Cambria Math" panose="02040503050406030204" pitchFamily="18" charset="0"/>
                              </a:rPr>
                              <m:t>𝒙</m:t>
                            </m:r>
                          </m:e>
                          <m:sub>
                            <m:r>
                              <a:rPr lang="en-US" sz="2400" i="1" dirty="0">
                                <a:latin typeface="Cambria Math" panose="02040503050406030204" pitchFamily="18" charset="0"/>
                              </a:rPr>
                              <m:t>𝑖</m:t>
                            </m:r>
                          </m:sub>
                        </m:sSub>
                        <m:r>
                          <a:rPr lang="en-US" sz="2400" i="1" dirty="0">
                            <a:latin typeface="Cambria Math" panose="02040503050406030204" pitchFamily="18" charset="0"/>
                          </a:rPr>
                          <m:t>, </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𝑦</m:t>
                            </m:r>
                          </m:e>
                          <m:sub>
                            <m:r>
                              <a:rPr lang="en-US" sz="2400" i="1" dirty="0">
                                <a:latin typeface="Cambria Math" panose="02040503050406030204" pitchFamily="18" charset="0"/>
                              </a:rPr>
                              <m:t>𝑖</m:t>
                            </m:r>
                          </m:sub>
                        </m:sSub>
                      </m:e>
                    </m:d>
                    <m:r>
                      <a:rPr lang="en-US" sz="2400" i="1" dirty="0">
                        <a:latin typeface="Cambria Math" panose="02040503050406030204" pitchFamily="18" charset="0"/>
                      </a:rPr>
                      <m:t>,…,</m:t>
                    </m:r>
                    <m:d>
                      <m:dPr>
                        <m:ctrlPr>
                          <a:rPr lang="en-US" sz="2400" i="1" dirty="0">
                            <a:latin typeface="Cambria Math" panose="02040503050406030204" pitchFamily="18" charset="0"/>
                          </a:rPr>
                        </m:ctrlPr>
                      </m:dPr>
                      <m:e>
                        <m:sSub>
                          <m:sSubPr>
                            <m:ctrlPr>
                              <a:rPr lang="en-US" sz="2400" b="1" i="1" dirty="0">
                                <a:latin typeface="Cambria Math" panose="02040503050406030204" pitchFamily="18" charset="0"/>
                              </a:rPr>
                            </m:ctrlPr>
                          </m:sSubPr>
                          <m:e>
                            <m:r>
                              <a:rPr lang="en-US" sz="2400" b="1" i="1" dirty="0">
                                <a:latin typeface="Cambria Math" panose="02040503050406030204" pitchFamily="18" charset="0"/>
                              </a:rPr>
                              <m:t>𝒙</m:t>
                            </m:r>
                          </m:e>
                          <m:sub>
                            <m:r>
                              <a:rPr lang="en-US" sz="2400" i="1" dirty="0">
                                <a:latin typeface="Cambria Math" panose="02040503050406030204" pitchFamily="18" charset="0"/>
                              </a:rPr>
                              <m:t>𝑁</m:t>
                            </m:r>
                          </m:sub>
                        </m:sSub>
                        <m:r>
                          <a:rPr lang="en-US" sz="2400" i="1" dirty="0">
                            <a:latin typeface="Cambria Math" panose="02040503050406030204" pitchFamily="18" charset="0"/>
                          </a:rPr>
                          <m:t>,</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𝑦</m:t>
                            </m:r>
                          </m:e>
                          <m:sub>
                            <m:r>
                              <a:rPr lang="en-US" sz="2400" i="1" dirty="0">
                                <a:latin typeface="Cambria Math" panose="02040503050406030204" pitchFamily="18" charset="0"/>
                              </a:rPr>
                              <m:t>𝑁</m:t>
                            </m:r>
                          </m:sub>
                        </m:sSub>
                      </m:e>
                    </m:d>
                  </m:oMath>
                </a14:m>
                <a:r>
                  <a:rPr lang="en-US" sz="2400" dirty="0"/>
                  <a:t>.</a:t>
                </a:r>
              </a:p>
              <a:p>
                <a:pPr marL="0" indent="0">
                  <a:buNone/>
                </a:pPr>
                <a:r>
                  <a:rPr lang="en-US" sz="2400" dirty="0"/>
                  <a:t>That is, 			</a:t>
                </a:r>
                <a14:m>
                  <m:oMath xmlns:m="http://schemas.openxmlformats.org/officeDocument/2006/math">
                    <m:acc>
                      <m:accPr>
                        <m:chr m:val="̂"/>
                        <m:ctrlPr>
                          <a:rPr lang="en-US" sz="2400" b="0" i="1" dirty="0" smtClean="0">
                            <a:latin typeface="Cambria Math" panose="02040503050406030204" pitchFamily="18" charset="0"/>
                          </a:rPr>
                        </m:ctrlPr>
                      </m:accPr>
                      <m:e>
                        <m:r>
                          <a:rPr lang="en-US" sz="2400" b="0" i="1" dirty="0" smtClean="0">
                            <a:latin typeface="Cambria Math" panose="02040503050406030204" pitchFamily="18" charset="0"/>
                          </a:rPr>
                          <m:t>𝑦</m:t>
                        </m:r>
                      </m:e>
                    </m:acc>
                    <m:r>
                      <a:rPr lang="en-US" sz="2400" b="0" i="1" dirty="0" smtClean="0">
                        <a:latin typeface="Cambria Math" panose="02040503050406030204" pitchFamily="18" charset="0"/>
                      </a:rPr>
                      <m:t>=</m:t>
                    </m:r>
                    <m:r>
                      <a:rPr lang="en-US" sz="2400" i="1" dirty="0">
                        <a:latin typeface="Cambria Math" panose="02040503050406030204" pitchFamily="18" charset="0"/>
                      </a:rPr>
                      <m:t>ℎ</m:t>
                    </m:r>
                    <m:d>
                      <m:dPr>
                        <m:ctrlPr>
                          <a:rPr lang="en-US" sz="2400" b="1" i="1" dirty="0" smtClean="0">
                            <a:latin typeface="Cambria Math" panose="02040503050406030204" pitchFamily="18" charset="0"/>
                          </a:rPr>
                        </m:ctrlPr>
                      </m:dPr>
                      <m:e>
                        <m:r>
                          <a:rPr lang="en-US" sz="2400" b="1" i="1" dirty="0" smtClean="0">
                            <a:latin typeface="Cambria Math" panose="02040503050406030204" pitchFamily="18" charset="0"/>
                          </a:rPr>
                          <m:t>𝒙</m:t>
                        </m:r>
                      </m:e>
                    </m:d>
                    <m:r>
                      <a:rPr lang="en-US" sz="2400" i="1" dirty="0">
                        <a:latin typeface="Cambria Math" panose="02040503050406030204" pitchFamily="18" charset="0"/>
                        <a:ea typeface="Cambria Math" panose="02040503050406030204" pitchFamily="18" charset="0"/>
                      </a:rPr>
                      <m:t>≈</m:t>
                    </m:r>
                    <m:r>
                      <a:rPr lang="en-US" sz="2400" b="0" i="1" dirty="0" smtClean="0">
                        <a:latin typeface="Cambria Math" panose="02040503050406030204" pitchFamily="18" charset="0"/>
                      </a:rPr>
                      <m:t>𝑦</m:t>
                    </m:r>
                    <m:r>
                      <a:rPr lang="en-US" sz="2400" b="0" i="0" dirty="0" smtClean="0">
                        <a:latin typeface="Cambria Math" panose="02040503050406030204" pitchFamily="18" charset="0"/>
                      </a:rPr>
                      <m:t>.</m:t>
                    </m:r>
                  </m:oMath>
                </a14:m>
                <a:endParaRPr lang="en-US" sz="2400" dirty="0"/>
              </a:p>
              <a:p>
                <a:endParaRPr lang="en-US" sz="2400" b="1" dirty="0"/>
              </a:p>
              <a:p>
                <a:pPr marL="0" indent="0">
                  <a:buNone/>
                </a:pPr>
                <a:r>
                  <a:rPr lang="en-US" sz="2400" b="1" dirty="0"/>
                  <a:t>Measure mistakes: </a:t>
                </a:r>
                <a:r>
                  <a:rPr lang="en-US" sz="2400" dirty="0"/>
                  <a:t>Loss function </a:t>
                </a:r>
                <a14:m>
                  <m:oMath xmlns:m="http://schemas.openxmlformats.org/officeDocument/2006/math">
                    <m:r>
                      <a:rPr lang="en-US" sz="2400" b="0" i="1" smtClean="0">
                        <a:latin typeface="Cambria Math" panose="02040503050406030204" pitchFamily="18" charset="0"/>
                      </a:rPr>
                      <m:t>𝐿</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𝑦</m:t>
                        </m:r>
                        <m:r>
                          <a:rPr lang="en-US" sz="2400" b="0" i="1" smtClean="0">
                            <a:latin typeface="Cambria Math" panose="02040503050406030204" pitchFamily="18" charset="0"/>
                          </a:rPr>
                          <m:t>, </m:t>
                        </m:r>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𝑦</m:t>
                            </m:r>
                          </m:e>
                        </m:acc>
                      </m:e>
                    </m:d>
                    <m:r>
                      <a:rPr lang="en-US" sz="2400" b="0" i="0" smtClean="0">
                        <a:latin typeface="Cambria Math" panose="02040503050406030204" pitchFamily="18" charset="0"/>
                      </a:rPr>
                      <m:t>=</m:t>
                    </m:r>
                    <m:r>
                      <a:rPr lang="en-US" sz="2400" b="0" i="1" smtClean="0">
                        <a:latin typeface="Cambria Math" panose="02040503050406030204" pitchFamily="18" charset="0"/>
                      </a:rPr>
                      <m:t>𝐿</m:t>
                    </m:r>
                    <m:r>
                      <a:rPr lang="en-US" sz="2400" b="0" i="1" smtClean="0">
                        <a:latin typeface="Cambria Math" panose="02040503050406030204" pitchFamily="18" charset="0"/>
                      </a:rPr>
                      <m:t>(</m:t>
                    </m:r>
                    <m:r>
                      <a:rPr lang="en-US" sz="2400" b="0" i="1" smtClean="0">
                        <a:latin typeface="Cambria Math" panose="02040503050406030204" pitchFamily="18" charset="0"/>
                      </a:rPr>
                      <m:t>𝑓</m:t>
                    </m:r>
                    <m:r>
                      <a:rPr lang="en-US" sz="2400" b="0" i="1" smtClean="0">
                        <a:latin typeface="Cambria Math" panose="02040503050406030204" pitchFamily="18" charset="0"/>
                      </a:rPr>
                      <m:t>(</m:t>
                    </m:r>
                    <m:r>
                      <a:rPr lang="en-US" sz="2400" b="1" i="1" smtClean="0">
                        <a:latin typeface="Cambria Math" panose="02040503050406030204" pitchFamily="18" charset="0"/>
                      </a:rPr>
                      <m:t>𝒙</m:t>
                    </m:r>
                    <m:r>
                      <a:rPr lang="en-US" sz="2400" b="0" i="1" smtClean="0">
                        <a:latin typeface="Cambria Math" panose="02040503050406030204" pitchFamily="18" charset="0"/>
                      </a:rPr>
                      <m:t>), </m:t>
                    </m:r>
                    <m:r>
                      <a:rPr lang="en-US" sz="2400" b="0" i="1" smtClean="0">
                        <a:latin typeface="Cambria Math" panose="02040503050406030204" pitchFamily="18" charset="0"/>
                      </a:rPr>
                      <m:t>ℎ</m:t>
                    </m:r>
                    <m:r>
                      <a:rPr lang="en-US" sz="2400" b="0" i="1" smtClean="0">
                        <a:latin typeface="Cambria Math" panose="02040503050406030204" pitchFamily="18" charset="0"/>
                      </a:rPr>
                      <m:t>(</m:t>
                    </m:r>
                    <m:r>
                      <a:rPr lang="en-US" sz="2400" b="1" i="1" smtClean="0">
                        <a:latin typeface="Cambria Math" panose="02040503050406030204" pitchFamily="18" charset="0"/>
                      </a:rPr>
                      <m:t>𝒙</m:t>
                    </m:r>
                    <m:r>
                      <a:rPr lang="en-US" sz="2400" b="0" i="1" smtClean="0">
                        <a:latin typeface="Cambria Math" panose="02040503050406030204" pitchFamily="18" charset="0"/>
                      </a:rPr>
                      <m:t>))</m:t>
                    </m:r>
                  </m:oMath>
                </a14:m>
                <a:endParaRPr lang="en-US" sz="2400" i="1" dirty="0"/>
              </a:p>
              <a:p>
                <a:pPr lvl="1"/>
                <a:r>
                  <a:rPr lang="en-US" sz="2000" dirty="0"/>
                  <a:t>Absolute-value loss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𝐿</m:t>
                        </m:r>
                      </m:e>
                      <m:sub>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𝑦</m:t>
                        </m:r>
                        <m:r>
                          <a:rPr lang="en-US" sz="2000" b="0" i="1" smtClean="0">
                            <a:latin typeface="Cambria Math" panose="02040503050406030204" pitchFamily="18" charset="0"/>
                          </a:rPr>
                          <m:t>, </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d>
                    <m:r>
                      <a:rPr lang="en-US" sz="2000" b="0" i="1" smtClean="0">
                        <a:latin typeface="Cambria Math" panose="02040503050406030204" pitchFamily="18" charset="0"/>
                      </a:rPr>
                      <m:t>=|</m:t>
                    </m:r>
                    <m:r>
                      <a:rPr lang="en-US" sz="2000" b="0" i="1" smtClean="0">
                        <a:latin typeface="Cambria Math" panose="02040503050406030204" pitchFamily="18" charset="0"/>
                      </a:rPr>
                      <m:t>𝑦</m:t>
                    </m:r>
                    <m:r>
                      <a:rPr lang="en-US" sz="2000" b="0" i="1" smtClean="0">
                        <a:latin typeface="Cambria Math" panose="02040503050406030204" pitchFamily="18" charset="0"/>
                      </a:rPr>
                      <m:t>−</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r>
                      <a:rPr lang="en-US" sz="2000" b="0" i="1" smtClean="0">
                        <a:latin typeface="Cambria Math" panose="02040503050406030204" pitchFamily="18" charset="0"/>
                      </a:rPr>
                      <m:t>|</m:t>
                    </m:r>
                  </m:oMath>
                </a14:m>
                <a:endParaRPr lang="en-US" sz="2000" dirty="0"/>
              </a:p>
              <a:p>
                <a:pPr lvl="1"/>
                <a:r>
                  <a:rPr lang="en-US" sz="2000" dirty="0"/>
                  <a:t>Squared-error loss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𝐿</m:t>
                        </m:r>
                      </m:e>
                      <m:sub>
                        <m:r>
                          <a:rPr lang="en-US" sz="2000" b="0" i="1" smtClean="0">
                            <a:latin typeface="Cambria Math" panose="02040503050406030204" pitchFamily="18" charset="0"/>
                          </a:rPr>
                          <m:t>2</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𝑦</m:t>
                        </m:r>
                        <m:r>
                          <a:rPr lang="en-US" sz="2000" b="0" i="1" smtClean="0">
                            <a:latin typeface="Cambria Math" panose="02040503050406030204" pitchFamily="18" charset="0"/>
                          </a:rPr>
                          <m:t>, </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d>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𝑦</m:t>
                            </m:r>
                            <m:r>
                              <a:rPr lang="en-US" sz="2000" b="0" i="1" smtClean="0">
                                <a:latin typeface="Cambria Math" panose="02040503050406030204" pitchFamily="18" charset="0"/>
                              </a:rPr>
                              <m:t>−</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d>
                      </m:e>
                      <m:sup>
                        <m:r>
                          <a:rPr lang="en-US" sz="2000" b="0" i="1" smtClean="0">
                            <a:latin typeface="Cambria Math" panose="02040503050406030204" pitchFamily="18" charset="0"/>
                          </a:rPr>
                          <m:t>2</m:t>
                        </m:r>
                      </m:sup>
                    </m:sSup>
                  </m:oMath>
                </a14:m>
                <a:endParaRPr lang="en-US" sz="2000" dirty="0"/>
              </a:p>
              <a:p>
                <a:pPr lvl="1"/>
                <a:r>
                  <a:rPr lang="en-US" sz="2000" dirty="0"/>
                  <a:t>0/1 loss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𝐿</m:t>
                        </m:r>
                      </m:e>
                      <m:sub>
                        <m:r>
                          <a:rPr lang="en-US" sz="2000" b="0" i="1" smtClean="0">
                            <a:latin typeface="Cambria Math" panose="02040503050406030204" pitchFamily="18" charset="0"/>
                          </a:rPr>
                          <m:t>0/1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𝑦</m:t>
                        </m:r>
                        <m:r>
                          <a:rPr lang="en-US" sz="2000" b="0" i="1" smtClean="0">
                            <a:latin typeface="Cambria Math" panose="02040503050406030204" pitchFamily="18" charset="0"/>
                          </a:rPr>
                          <m:t>, </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d>
                    <m:r>
                      <a:rPr lang="en-US" sz="2000" b="0" i="1" smtClean="0">
                        <a:latin typeface="Cambria Math" panose="02040503050406030204" pitchFamily="18" charset="0"/>
                      </a:rPr>
                      <m:t>=0 </m:t>
                    </m:r>
                    <m:r>
                      <m:rPr>
                        <m:sty m:val="p"/>
                      </m:rPr>
                      <a:rPr lang="en-US" sz="2000" b="0" i="0" smtClean="0">
                        <a:latin typeface="Cambria Math" panose="02040503050406030204" pitchFamily="18" charset="0"/>
                      </a:rPr>
                      <m:t>if</m:t>
                    </m:r>
                    <m:r>
                      <a:rPr lang="en-US" sz="2000" b="0" i="1" smtClean="0">
                        <a:latin typeface="Cambria Math" panose="02040503050406030204" pitchFamily="18" charset="0"/>
                      </a:rPr>
                      <m:t> </m:t>
                    </m:r>
                    <m:r>
                      <a:rPr lang="en-US" sz="2000" b="0" i="1" smtClean="0">
                        <a:latin typeface="Cambria Math" panose="02040503050406030204" pitchFamily="18" charset="0"/>
                      </a:rPr>
                      <m:t>𝑦</m:t>
                    </m:r>
                    <m:r>
                      <a:rPr lang="en-US" sz="2000" b="0" i="1" smtClean="0">
                        <a:latin typeface="Cambria Math" panose="02040503050406030204" pitchFamily="18" charset="0"/>
                      </a:rPr>
                      <m:t>=</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r>
                      <a:rPr lang="en-US" sz="2000" b="0" i="1" smtClean="0">
                        <a:latin typeface="Cambria Math" panose="02040503050406030204" pitchFamily="18" charset="0"/>
                      </a:rPr>
                      <m:t>, </m:t>
                    </m:r>
                    <m:r>
                      <m:rPr>
                        <m:sty m:val="p"/>
                      </m:rPr>
                      <a:rPr lang="en-US" sz="2000" b="0" i="0" smtClean="0">
                        <a:latin typeface="Cambria Math" panose="02040503050406030204" pitchFamily="18" charset="0"/>
                      </a:rPr>
                      <m:t>else</m:t>
                    </m:r>
                    <m:r>
                      <a:rPr lang="en-US" sz="2000" b="0" i="1" smtClean="0">
                        <a:latin typeface="Cambria Math" panose="02040503050406030204" pitchFamily="18" charset="0"/>
                      </a:rPr>
                      <m:t> 1</m:t>
                    </m:r>
                  </m:oMath>
                </a14:m>
                <a:endParaRPr lang="en-US" sz="2000" dirty="0"/>
              </a:p>
              <a:p>
                <a:pPr lvl="1"/>
                <a:r>
                  <a:rPr lang="en-US" sz="2000" dirty="0"/>
                  <a:t>Cross-entropy loss and many others… </a:t>
                </a:r>
              </a:p>
            </p:txBody>
          </p:sp>
        </mc:Choice>
        <mc:Fallback xmlns="">
          <p:sp>
            <p:nvSpPr>
              <p:cNvPr id="3" name="Content Placeholder 2">
                <a:extLst>
                  <a:ext uri="{FF2B5EF4-FFF2-40B4-BE49-F238E27FC236}">
                    <a16:creationId xmlns:a16="http://schemas.microsoft.com/office/drawing/2014/main" id="{9BE1CDDD-17A2-49AA-878D-47EFE49513D8}"/>
                  </a:ext>
                </a:extLst>
              </p:cNvPr>
              <p:cNvSpPr>
                <a:spLocks noGrp="1" noRot="1" noChangeAspect="1" noMove="1" noResize="1" noEditPoints="1" noAdjustHandles="1" noChangeArrowheads="1" noChangeShapeType="1" noTextEdit="1"/>
              </p:cNvSpPr>
              <p:nvPr>
                <p:ph idx="1"/>
              </p:nvPr>
            </p:nvSpPr>
            <p:spPr>
              <a:xfrm>
                <a:off x="838200" y="1447800"/>
                <a:ext cx="10515600" cy="3427413"/>
              </a:xfrm>
              <a:blipFill>
                <a:blip r:embed="rId3"/>
                <a:stretch>
                  <a:fillRect l="-928" t="-2491" r="-754" b="-4982"/>
                </a:stretch>
              </a:blipFill>
            </p:spPr>
            <p:txBody>
              <a:bodyPr/>
              <a:lstStyle/>
              <a:p>
                <a:r>
                  <a:rPr lang="en-US">
                    <a:noFill/>
                  </a:rPr>
                  <a:t> </a:t>
                </a:r>
              </a:p>
            </p:txBody>
          </p:sp>
        </mc:Fallback>
      </mc:AlternateContent>
      <p:grpSp>
        <p:nvGrpSpPr>
          <p:cNvPr id="18" name="Group 17">
            <a:extLst>
              <a:ext uri="{FF2B5EF4-FFF2-40B4-BE49-F238E27FC236}">
                <a16:creationId xmlns:a16="http://schemas.microsoft.com/office/drawing/2014/main" id="{74E6BA6B-A1C4-CCB8-DDF4-2762DFBDCC96}"/>
              </a:ext>
            </a:extLst>
          </p:cNvPr>
          <p:cNvGrpSpPr/>
          <p:nvPr/>
        </p:nvGrpSpPr>
        <p:grpSpPr>
          <a:xfrm>
            <a:off x="6096000" y="3635075"/>
            <a:ext cx="1898119" cy="539234"/>
            <a:chOff x="8073674" y="3497305"/>
            <a:chExt cx="1898119" cy="539234"/>
          </a:xfrm>
        </p:grpSpPr>
        <p:sp>
          <p:nvSpPr>
            <p:cNvPr id="4" name="Right Brace 3">
              <a:extLst>
                <a:ext uri="{FF2B5EF4-FFF2-40B4-BE49-F238E27FC236}">
                  <a16:creationId xmlns:a16="http://schemas.microsoft.com/office/drawing/2014/main" id="{E0D52B33-9224-4EC5-B7DB-3A04C235E02F}"/>
                </a:ext>
                <a:ext uri="{C183D7F6-B498-43B3-948B-1728B52AA6E4}">
                  <adec:decorative xmlns:adec="http://schemas.microsoft.com/office/drawing/2017/decorative" val="1"/>
                </a:ext>
              </a:extLst>
            </p:cNvPr>
            <p:cNvSpPr/>
            <p:nvPr/>
          </p:nvSpPr>
          <p:spPr>
            <a:xfrm>
              <a:off x="8073674" y="3497305"/>
              <a:ext cx="228600" cy="53923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59B19F70-3FB9-4505-8B33-07D185D2B5D2}"/>
                </a:ext>
              </a:extLst>
            </p:cNvPr>
            <p:cNvSpPr txBox="1"/>
            <p:nvPr/>
          </p:nvSpPr>
          <p:spPr>
            <a:xfrm>
              <a:off x="8295393" y="3584317"/>
              <a:ext cx="1676400" cy="369332"/>
            </a:xfrm>
            <a:prstGeom prst="rect">
              <a:avLst/>
            </a:prstGeom>
            <a:noFill/>
          </p:spPr>
          <p:txBody>
            <a:bodyPr wrap="square" rtlCol="0">
              <a:spAutoFit/>
            </a:bodyPr>
            <a:lstStyle/>
            <a:p>
              <a:r>
                <a:rPr lang="en-US" dirty="0"/>
                <a:t>For Regression</a:t>
              </a:r>
            </a:p>
          </p:txBody>
        </p:sp>
      </p:grpSp>
      <p:grpSp>
        <p:nvGrpSpPr>
          <p:cNvPr id="19" name="Group 18">
            <a:extLst>
              <a:ext uri="{FF2B5EF4-FFF2-40B4-BE49-F238E27FC236}">
                <a16:creationId xmlns:a16="http://schemas.microsoft.com/office/drawing/2014/main" id="{23789CF1-77C0-665C-5D92-E972E89F1748}"/>
              </a:ext>
            </a:extLst>
          </p:cNvPr>
          <p:cNvGrpSpPr/>
          <p:nvPr/>
        </p:nvGrpSpPr>
        <p:grpSpPr>
          <a:xfrm>
            <a:off x="6974755" y="4192254"/>
            <a:ext cx="2366747" cy="369332"/>
            <a:chOff x="8204240" y="3934763"/>
            <a:chExt cx="2366747" cy="369332"/>
          </a:xfrm>
        </p:grpSpPr>
        <p:sp>
          <p:nvSpPr>
            <p:cNvPr id="6" name="TextBox 5">
              <a:extLst>
                <a:ext uri="{FF2B5EF4-FFF2-40B4-BE49-F238E27FC236}">
                  <a16:creationId xmlns:a16="http://schemas.microsoft.com/office/drawing/2014/main" id="{64D860C8-808B-41E1-AA5D-D2F08698D5FB}"/>
                </a:ext>
              </a:extLst>
            </p:cNvPr>
            <p:cNvSpPr txBox="1"/>
            <p:nvPr/>
          </p:nvSpPr>
          <p:spPr>
            <a:xfrm>
              <a:off x="8513587" y="3934763"/>
              <a:ext cx="2057400" cy="369332"/>
            </a:xfrm>
            <a:prstGeom prst="rect">
              <a:avLst/>
            </a:prstGeom>
            <a:noFill/>
          </p:spPr>
          <p:txBody>
            <a:bodyPr wrap="square" rtlCol="0">
              <a:spAutoFit/>
            </a:bodyPr>
            <a:lstStyle/>
            <a:p>
              <a:r>
                <a:rPr lang="en-US" dirty="0"/>
                <a:t>For Classification</a:t>
              </a:r>
            </a:p>
          </p:txBody>
        </p:sp>
        <p:cxnSp>
          <p:nvCxnSpPr>
            <p:cNvPr id="8" name="Straight Arrow Connector 7">
              <a:extLst>
                <a:ext uri="{FF2B5EF4-FFF2-40B4-BE49-F238E27FC236}">
                  <a16:creationId xmlns:a16="http://schemas.microsoft.com/office/drawing/2014/main" id="{0C115D7C-B830-4B0D-9A5B-1A84AC3255E4}"/>
                </a:ext>
                <a:ext uri="{C183D7F6-B498-43B3-948B-1728B52AA6E4}">
                  <adec:decorative xmlns:adec="http://schemas.microsoft.com/office/drawing/2017/decorative" val="1"/>
                </a:ext>
              </a:extLst>
            </p:cNvPr>
            <p:cNvCxnSpPr>
              <a:cxnSpLocks/>
            </p:cNvCxnSpPr>
            <p:nvPr/>
          </p:nvCxnSpPr>
          <p:spPr>
            <a:xfrm flipH="1">
              <a:off x="8204240" y="4119429"/>
              <a:ext cx="3093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7" name="Group 6">
            <a:extLst>
              <a:ext uri="{FF2B5EF4-FFF2-40B4-BE49-F238E27FC236}">
                <a16:creationId xmlns:a16="http://schemas.microsoft.com/office/drawing/2014/main" id="{29573D55-D5D4-4241-8344-90D913550C6B}"/>
              </a:ext>
              <a:ext uri="{C183D7F6-B498-43B3-948B-1728B52AA6E4}">
                <adec:decorative xmlns:adec="http://schemas.microsoft.com/office/drawing/2017/decorative" val="1"/>
              </a:ext>
            </a:extLst>
          </p:cNvPr>
          <p:cNvGrpSpPr/>
          <p:nvPr/>
        </p:nvGrpSpPr>
        <p:grpSpPr>
          <a:xfrm>
            <a:off x="8795657" y="4243315"/>
            <a:ext cx="3352800" cy="2514600"/>
            <a:chOff x="8795657" y="4243315"/>
            <a:chExt cx="3352800" cy="2514600"/>
          </a:xfrm>
        </p:grpSpPr>
        <p:sp>
          <p:nvSpPr>
            <p:cNvPr id="17" name="Oval 16">
              <a:extLst>
                <a:ext uri="{FF2B5EF4-FFF2-40B4-BE49-F238E27FC236}">
                  <a16:creationId xmlns:a16="http://schemas.microsoft.com/office/drawing/2014/main" id="{9644747C-723B-4A29-B453-B5B3DA7BF2C8}"/>
                </a:ext>
              </a:extLst>
            </p:cNvPr>
            <p:cNvSpPr/>
            <p:nvPr/>
          </p:nvSpPr>
          <p:spPr>
            <a:xfrm>
              <a:off x="8795657" y="4243315"/>
              <a:ext cx="3352800" cy="251460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9" name="Freeform 5">
              <a:extLst>
                <a:ext uri="{FF2B5EF4-FFF2-40B4-BE49-F238E27FC236}">
                  <a16:creationId xmlns:a16="http://schemas.microsoft.com/office/drawing/2014/main" id="{0A107679-EBBB-4822-93FB-7D94002C2E4A}"/>
                </a:ext>
              </a:extLst>
            </p:cNvPr>
            <p:cNvSpPr>
              <a:spLocks/>
            </p:cNvSpPr>
            <p:nvPr/>
          </p:nvSpPr>
          <p:spPr bwMode="auto">
            <a:xfrm>
              <a:off x="9090422" y="4914900"/>
              <a:ext cx="2947987" cy="1409700"/>
            </a:xfrm>
            <a:custGeom>
              <a:avLst/>
              <a:gdLst>
                <a:gd name="T0" fmla="*/ 213 w 1857"/>
                <a:gd name="T1" fmla="*/ 128 h 888"/>
                <a:gd name="T2" fmla="*/ 80 w 1857"/>
                <a:gd name="T3" fmla="*/ 475 h 888"/>
                <a:gd name="T4" fmla="*/ 692 w 1857"/>
                <a:gd name="T5" fmla="*/ 852 h 888"/>
                <a:gd name="T6" fmla="*/ 1013 w 1857"/>
                <a:gd name="T7" fmla="*/ 689 h 888"/>
                <a:gd name="T8" fmla="*/ 1451 w 1857"/>
                <a:gd name="T9" fmla="*/ 638 h 888"/>
                <a:gd name="T10" fmla="*/ 1752 w 1857"/>
                <a:gd name="T11" fmla="*/ 592 h 888"/>
                <a:gd name="T12" fmla="*/ 1818 w 1857"/>
                <a:gd name="T13" fmla="*/ 306 h 888"/>
                <a:gd name="T14" fmla="*/ 1517 w 1857"/>
                <a:gd name="T15" fmla="*/ 92 h 888"/>
                <a:gd name="T16" fmla="*/ 998 w 1857"/>
                <a:gd name="T17" fmla="*/ 6 h 888"/>
                <a:gd name="T18" fmla="*/ 213 w 1857"/>
                <a:gd name="T19" fmla="*/ 128 h 8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57" h="888">
                  <a:moveTo>
                    <a:pt x="213" y="128"/>
                  </a:moveTo>
                  <a:cubicBezTo>
                    <a:pt x="60" y="206"/>
                    <a:pt x="0" y="354"/>
                    <a:pt x="80" y="475"/>
                  </a:cubicBezTo>
                  <a:cubicBezTo>
                    <a:pt x="160" y="596"/>
                    <a:pt x="537" y="816"/>
                    <a:pt x="692" y="852"/>
                  </a:cubicBezTo>
                  <a:cubicBezTo>
                    <a:pt x="847" y="888"/>
                    <a:pt x="887" y="725"/>
                    <a:pt x="1013" y="689"/>
                  </a:cubicBezTo>
                  <a:cubicBezTo>
                    <a:pt x="1139" y="653"/>
                    <a:pt x="1328" y="654"/>
                    <a:pt x="1451" y="638"/>
                  </a:cubicBezTo>
                  <a:cubicBezTo>
                    <a:pt x="1574" y="622"/>
                    <a:pt x="1691" y="647"/>
                    <a:pt x="1752" y="592"/>
                  </a:cubicBezTo>
                  <a:cubicBezTo>
                    <a:pt x="1813" y="537"/>
                    <a:pt x="1857" y="389"/>
                    <a:pt x="1818" y="306"/>
                  </a:cubicBezTo>
                  <a:cubicBezTo>
                    <a:pt x="1779" y="223"/>
                    <a:pt x="1654" y="142"/>
                    <a:pt x="1517" y="92"/>
                  </a:cubicBezTo>
                  <a:cubicBezTo>
                    <a:pt x="1380" y="42"/>
                    <a:pt x="1215" y="0"/>
                    <a:pt x="998" y="6"/>
                  </a:cubicBezTo>
                  <a:cubicBezTo>
                    <a:pt x="781" y="12"/>
                    <a:pt x="366" y="50"/>
                    <a:pt x="213" y="128"/>
                  </a:cubicBezTo>
                  <a:close/>
                </a:path>
              </a:pathLst>
            </a:custGeom>
            <a:ln>
              <a:headEnd/>
              <a:tailEnd/>
            </a:ln>
            <a:extLs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accent5"/>
            </a:lnRef>
            <a:fillRef idx="2">
              <a:schemeClr val="accent5"/>
            </a:fillRef>
            <a:effectRef idx="1">
              <a:schemeClr val="accent5"/>
            </a:effectRef>
            <a:fontRef idx="minor">
              <a:schemeClr val="dk1"/>
            </a:fontRef>
          </p:style>
          <p:txBody>
            <a:bodyPr/>
            <a:lstStyle/>
            <a:p>
              <a:endParaRPr lang="en-US"/>
            </a:p>
          </p:txBody>
        </p:sp>
        <p:sp>
          <p:nvSpPr>
            <p:cNvPr id="10" name="Oval 9">
              <a:extLst>
                <a:ext uri="{FF2B5EF4-FFF2-40B4-BE49-F238E27FC236}">
                  <a16:creationId xmlns:a16="http://schemas.microsoft.com/office/drawing/2014/main" id="{5EF0F589-D255-4E6D-9DDF-6F1DBE93ED47}"/>
                </a:ext>
              </a:extLst>
            </p:cNvPr>
            <p:cNvSpPr>
              <a:spLocks noChangeArrowheads="1"/>
            </p:cNvSpPr>
            <p:nvPr/>
          </p:nvSpPr>
          <p:spPr bwMode="auto">
            <a:xfrm>
              <a:off x="10479484" y="4875213"/>
              <a:ext cx="112713" cy="112712"/>
            </a:xfrm>
            <a:prstGeom prst="ellipse">
              <a:avLst/>
            </a:prstGeom>
            <a:solidFill>
              <a:srgbClr val="000000"/>
            </a:solidFill>
            <a:ln w="9525">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Oval 10">
              <a:extLst>
                <a:ext uri="{FF2B5EF4-FFF2-40B4-BE49-F238E27FC236}">
                  <a16:creationId xmlns:a16="http://schemas.microsoft.com/office/drawing/2014/main" id="{056A554F-D213-4E01-A5CD-02BE90E3DEAC}"/>
                </a:ext>
              </a:extLst>
            </p:cNvPr>
            <p:cNvSpPr>
              <a:spLocks noChangeArrowheads="1"/>
            </p:cNvSpPr>
            <p:nvPr/>
          </p:nvSpPr>
          <p:spPr bwMode="auto">
            <a:xfrm>
              <a:off x="10479484" y="4421188"/>
              <a:ext cx="112713" cy="112712"/>
            </a:xfrm>
            <a:prstGeom prst="ellipse">
              <a:avLst/>
            </a:prstGeom>
            <a:solidFill>
              <a:srgbClr val="000000"/>
            </a:solidFill>
            <a:ln w="9525">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Line 11">
              <a:extLst>
                <a:ext uri="{FF2B5EF4-FFF2-40B4-BE49-F238E27FC236}">
                  <a16:creationId xmlns:a16="http://schemas.microsoft.com/office/drawing/2014/main" id="{7C758A0F-1D8E-4754-BD9A-30C49C1DCA36}"/>
                </a:ext>
              </a:extLst>
            </p:cNvPr>
            <p:cNvSpPr>
              <a:spLocks noChangeShapeType="1"/>
            </p:cNvSpPr>
            <p:nvPr/>
          </p:nvSpPr>
          <p:spPr bwMode="auto">
            <a:xfrm>
              <a:off x="10536634" y="4470400"/>
              <a:ext cx="0" cy="428625"/>
            </a:xfrm>
            <a:prstGeom prst="line">
              <a:avLst/>
            </a:prstGeom>
            <a:noFill/>
            <a:ln w="25400">
              <a:solidFill>
                <a:schemeClr val="tx1"/>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3" name="Picture 13" descr="txp_fig">
              <a:extLst>
                <a:ext uri="{FF2B5EF4-FFF2-40B4-BE49-F238E27FC236}">
                  <a16:creationId xmlns:a16="http://schemas.microsoft.com/office/drawing/2014/main" id="{E418D104-EF6B-4179-833F-E1837595ED27}"/>
                </a:ext>
              </a:extLst>
            </p:cNvPr>
            <p:cNvPicPr>
              <a:picLocks noChangeAspect="1" noChangeArrowheads="1"/>
            </p:cNvPicPr>
            <p:nvPr>
              <p:custDataLst>
                <p:tags r:id="rId1"/>
              </p:custDataLst>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895284" y="5681663"/>
              <a:ext cx="303213" cy="2365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ECEEA7E-D5AC-495C-BFC3-7C37EA3D2870}"/>
                    </a:ext>
                  </a:extLst>
                </p:cNvPr>
                <p:cNvSpPr txBox="1"/>
                <p:nvPr/>
              </p:nvSpPr>
              <p:spPr>
                <a:xfrm>
                  <a:off x="10211991" y="4243315"/>
                  <a:ext cx="279400" cy="461665"/>
                </a:xfrm>
                <a:prstGeom prst="rect">
                  <a:avLst/>
                </a:prstGeom>
                <a:noFill/>
              </p:spPr>
              <p:txBody>
                <a:bodyPr wrap="square" rtlCol="0">
                  <a:spAutoFit/>
                </a:bodyPr>
                <a:lstStyle/>
                <a:p>
                  <a:pPr/>
                  <a14:m>
                    <m:oMathPara xmlns:m="http://schemas.openxmlformats.org/officeDocument/2006/math">
                      <m:oMath>
                        <m:r>
                          <a:rPr lang="en-US" sz="2400" b="0" i="1" dirty="0" smtClean="0">
                            <a:latin typeface="Cambria Math" panose="02040503050406030204" pitchFamily="18" charset="0"/>
                          </a:rPr>
                          <m:t>𝑓</m:t>
                        </m:r>
                      </m:oMath>
                    </m:oMathPara>
                  </a14:m>
                  <a:endParaRPr lang="en-US" sz="2400" i="1" dirty="0"/>
                </a:p>
              </p:txBody>
            </p:sp>
          </mc:Choice>
          <mc:Fallback xmlns="">
            <p:sp>
              <p:nvSpPr>
                <p:cNvPr id="14" name="TextBox 13">
                  <a:extLst>
                    <a:ext uri="{FF2B5EF4-FFF2-40B4-BE49-F238E27FC236}">
                      <a16:creationId xmlns:a16="http://schemas.microsoft.com/office/drawing/2014/main" id="{9ECEEA7E-D5AC-495C-BFC3-7C37EA3D2870}"/>
                    </a:ext>
                  </a:extLst>
                </p:cNvPr>
                <p:cNvSpPr txBox="1">
                  <a:spLocks noRot="1" noChangeAspect="1" noMove="1" noResize="1" noEditPoints="1" noAdjustHandles="1" noChangeArrowheads="1" noChangeShapeType="1" noTextEdit="1"/>
                </p:cNvSpPr>
                <p:nvPr/>
              </p:nvSpPr>
              <p:spPr>
                <a:xfrm>
                  <a:off x="10211991" y="4243315"/>
                  <a:ext cx="279400" cy="461665"/>
                </a:xfrm>
                <a:prstGeom prst="rect">
                  <a:avLst/>
                </a:prstGeom>
                <a:blipFill>
                  <a:blip r:embed="rId5"/>
                  <a:stretch>
                    <a:fillRect l="-17391" r="-43478"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9098043-4E65-42EF-A3FB-976D175A4FEB}"/>
                    </a:ext>
                  </a:extLst>
                </p:cNvPr>
                <p:cNvSpPr txBox="1"/>
                <p:nvPr/>
              </p:nvSpPr>
              <p:spPr>
                <a:xfrm>
                  <a:off x="10237390" y="4938712"/>
                  <a:ext cx="709613" cy="584775"/>
                </a:xfrm>
                <a:prstGeom prst="rect">
                  <a:avLst/>
                </a:prstGeom>
                <a:noFill/>
              </p:spPr>
              <p:txBody>
                <a:bodyPr wrap="square" rtlCol="0">
                  <a:spAutoFit/>
                </a:bodyPr>
                <a:lstStyle/>
                <a:p>
                  <a:pPr/>
                  <a14:m>
                    <m:oMathPara xmlns:m="http://schemas.openxmlformats.org/officeDocument/2006/math">
                      <m:oMath>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ℎ</m:t>
                            </m:r>
                          </m:e>
                          <m:sup>
                            <m:r>
                              <a:rPr lang="en-US" sz="3200" b="0" i="1" smtClean="0">
                                <a:latin typeface="Cambria Math" panose="02040503050406030204" pitchFamily="18" charset="0"/>
                              </a:rPr>
                              <m:t>∗</m:t>
                            </m:r>
                          </m:sup>
                        </m:sSup>
                      </m:oMath>
                    </m:oMathPara>
                  </a14:m>
                  <a:endParaRPr lang="en-US" sz="3200" i="1" dirty="0"/>
                </a:p>
              </p:txBody>
            </p:sp>
          </mc:Choice>
          <mc:Fallback xmlns="">
            <p:sp>
              <p:nvSpPr>
                <p:cNvPr id="15" name="TextBox 14">
                  <a:extLst>
                    <a:ext uri="{FF2B5EF4-FFF2-40B4-BE49-F238E27FC236}">
                      <a16:creationId xmlns:a16="http://schemas.microsoft.com/office/drawing/2014/main" id="{C9098043-4E65-42EF-A3FB-976D175A4FEB}"/>
                    </a:ext>
                  </a:extLst>
                </p:cNvPr>
                <p:cNvSpPr txBox="1">
                  <a:spLocks noRot="1" noChangeAspect="1" noMove="1" noResize="1" noEditPoints="1" noAdjustHandles="1" noChangeArrowheads="1" noChangeShapeType="1" noTextEdit="1"/>
                </p:cNvSpPr>
                <p:nvPr/>
              </p:nvSpPr>
              <p:spPr>
                <a:xfrm>
                  <a:off x="10237390" y="4938712"/>
                  <a:ext cx="709613" cy="584775"/>
                </a:xfrm>
                <a:prstGeom prst="rect">
                  <a:avLst/>
                </a:prstGeom>
                <a:blipFill>
                  <a:blip r:embed="rId6"/>
                  <a:stretch>
                    <a:fillRect/>
                  </a:stretch>
                </a:blipFill>
              </p:spPr>
              <p:txBody>
                <a:bodyPr/>
                <a:lstStyle/>
                <a:p>
                  <a:r>
                    <a:rPr lang="en-US">
                      <a:noFill/>
                    </a:rPr>
                    <a:t> </a:t>
                  </a:r>
                </a:p>
              </p:txBody>
            </p:sp>
          </mc:Fallback>
        </mc:AlternateContent>
      </p:grpSp>
      <p:sp>
        <p:nvSpPr>
          <p:cNvPr id="20" name="Speech Bubble: Rectangle 19">
            <a:extLst>
              <a:ext uri="{FF2B5EF4-FFF2-40B4-BE49-F238E27FC236}">
                <a16:creationId xmlns:a16="http://schemas.microsoft.com/office/drawing/2014/main" id="{81C9D012-E038-4266-A28C-3B02C6C3C9AF}"/>
              </a:ext>
            </a:extLst>
          </p:cNvPr>
          <p:cNvSpPr/>
          <p:nvPr/>
        </p:nvSpPr>
        <p:spPr>
          <a:xfrm>
            <a:off x="10896600" y="4085927"/>
            <a:ext cx="1091406" cy="287635"/>
          </a:xfrm>
          <a:prstGeom prst="wedgeRectCallout">
            <a:avLst>
              <a:gd name="adj1" fmla="val -77851"/>
              <a:gd name="adj2" fmla="val 157777"/>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Loss</a:t>
            </a:r>
          </a:p>
        </p:txBody>
      </p:sp>
    </p:spTree>
    <p:extLst>
      <p:ext uri="{BB962C8B-B14F-4D97-AF65-F5344CB8AC3E}">
        <p14:creationId xmlns:p14="http://schemas.microsoft.com/office/powerpoint/2010/main" val="3323998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35EFA-B760-4599-A4AE-897C90016681}"/>
              </a:ext>
            </a:extLst>
          </p:cNvPr>
          <p:cNvSpPr>
            <a:spLocks noGrp="1"/>
          </p:cNvSpPr>
          <p:nvPr>
            <p:ph type="title"/>
          </p:nvPr>
        </p:nvSpPr>
        <p:spPr/>
        <p:txBody>
          <a:bodyPr/>
          <a:lstStyle/>
          <a:p>
            <a:r>
              <a:rPr lang="en-US" dirty="0"/>
              <a:t>Learning Consistent Approximations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BE1CDDD-17A2-49AA-878D-47EFE49513D8}"/>
                  </a:ext>
                </a:extLst>
              </p:cNvPr>
              <p:cNvSpPr>
                <a:spLocks noGrp="1"/>
              </p:cNvSpPr>
              <p:nvPr>
                <p:ph idx="1"/>
              </p:nvPr>
            </p:nvSpPr>
            <p:spPr/>
            <p:txBody>
              <a:bodyPr>
                <a:normAutofit fontScale="92500" lnSpcReduction="20000"/>
              </a:bodyPr>
              <a:lstStyle/>
              <a:p>
                <a:r>
                  <a:rPr lang="en-US" dirty="0"/>
                  <a:t>Empirical loss</a:t>
                </a:r>
                <a:br>
                  <a:rPr lang="en-US" dirty="0"/>
                </a:br>
                <a14:m>
                  <m:oMath xmlns:m="http://schemas.openxmlformats.org/officeDocument/2006/math">
                    <m:r>
                      <a:rPr lang="en-US" b="0" i="1" smtClean="0">
                        <a:latin typeface="Cambria Math" panose="02040503050406030204" pitchFamily="18" charset="0"/>
                      </a:rPr>
                      <m:t>𝐸𝑚𝑝𝐿𝑜𝑠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𝐿</m:t>
                        </m:r>
                        <m:r>
                          <a:rPr lang="en-US" b="0" i="1" smtClean="0">
                            <a:latin typeface="Cambria Math" panose="02040503050406030204" pitchFamily="18" charset="0"/>
                          </a:rPr>
                          <m:t>,</m:t>
                        </m:r>
                        <m:r>
                          <a:rPr lang="en-US" b="0" i="1" smtClean="0">
                            <a:latin typeface="Cambria Math" panose="02040503050406030204" pitchFamily="18" charset="0"/>
                          </a:rPr>
                          <m:t>𝐸</m:t>
                        </m:r>
                      </m:sub>
                    </m:sSub>
                    <m:r>
                      <a:rPr lang="en-US" b="0" i="1" smtClean="0">
                        <a:latin typeface="Cambria Math" panose="02040503050406030204" pitchFamily="18" charset="0"/>
                      </a:rPr>
                      <m:t>(</m:t>
                    </m:r>
                    <m:r>
                      <a:rPr lang="en-US" b="0" i="1" smtClean="0">
                        <a:latin typeface="Cambria Math" panose="02040503050406030204" pitchFamily="18" charset="0"/>
                      </a:rPr>
                      <m:t>ℎ</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den>
                    </m:f>
                    <m:nary>
                      <m:naryPr>
                        <m:chr m:val="∑"/>
                        <m:supHide m:val="on"/>
                        <m:ctrlPr>
                          <a:rPr lang="en-US" b="0" i="1" smtClean="0">
                            <a:latin typeface="Cambria Math" panose="02040503050406030204" pitchFamily="18" charset="0"/>
                          </a:rPr>
                        </m:ctrlPr>
                      </m:naryPr>
                      <m:sub>
                        <m:d>
                          <m:dPr>
                            <m:ctrlPr>
                              <a:rPr lang="en-US" b="1" i="1" smtClean="0">
                                <a:latin typeface="Cambria Math" panose="02040503050406030204" pitchFamily="18" charset="0"/>
                              </a:rPr>
                            </m:ctrlPr>
                          </m:dPr>
                          <m:e>
                            <m:r>
                              <m:rPr>
                                <m:brk m:alnAt="7"/>
                              </m:rPr>
                              <a:rPr lang="en-US" b="1" i="1" smtClean="0">
                                <a:latin typeface="Cambria Math" panose="02040503050406030204" pitchFamily="18" charset="0"/>
                              </a:rPr>
                              <m:t>𝒙</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𝐸</m:t>
                        </m:r>
                      </m:sub>
                      <m:sup/>
                      <m:e>
                        <m:r>
                          <a:rPr lang="en-US" b="0" i="1" smtClean="0">
                            <a:latin typeface="Cambria Math" panose="02040503050406030204" pitchFamily="18" charset="0"/>
                          </a:rPr>
                          <m:t>𝐿</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 </m:t>
                        </m:r>
                        <m:r>
                          <a:rPr lang="en-US" b="0" i="1" smtClean="0">
                            <a:latin typeface="Cambria Math" panose="02040503050406030204" pitchFamily="18" charset="0"/>
                          </a:rPr>
                          <m:t>ℎ</m:t>
                        </m:r>
                        <m:r>
                          <a:rPr lang="en-US" b="0" i="1" smtClean="0">
                            <a:latin typeface="Cambria Math" panose="02040503050406030204" pitchFamily="18" charset="0"/>
                          </a:rPr>
                          <m:t>(</m:t>
                        </m:r>
                        <m:r>
                          <a:rPr lang="en-US" b="1" i="1" smtClean="0">
                            <a:latin typeface="Cambria Math" panose="02040503050406030204" pitchFamily="18" charset="0"/>
                          </a:rPr>
                          <m:t>𝒙</m:t>
                        </m:r>
                        <m:r>
                          <a:rPr lang="en-US" b="0" i="1" smtClean="0">
                            <a:latin typeface="Cambria Math" panose="02040503050406030204" pitchFamily="18" charset="0"/>
                          </a:rPr>
                          <m:t>))</m:t>
                        </m:r>
                      </m:e>
                    </m:nary>
                  </m:oMath>
                </a14:m>
                <a:endParaRPr lang="en-US" dirty="0"/>
              </a:p>
              <a:p>
                <a:endParaRPr lang="en-US" dirty="0"/>
              </a:p>
              <a:p>
                <a:r>
                  <a:rPr lang="en-US" dirty="0"/>
                  <a:t>Find the best hypothesis that minimizes the loss</a:t>
                </a:r>
              </a:p>
              <a:p>
                <a:pPr marL="0" indent="0">
                  <a:buNone/>
                </a:pPr>
                <a14:m>
                  <m:oMathPara xmlns:m="http://schemas.openxmlformats.org/officeDocument/2006/math">
                    <m:oMathParaPr>
                      <m:jc m:val="center"/>
                    </m:oMathParaPr>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ℎ</m:t>
                          </m:r>
                        </m:e>
                        <m:sup>
                          <m:r>
                            <a:rPr lang="en-US" b="0" i="1" dirty="0" smtClean="0">
                              <a:latin typeface="Cambria Math" panose="02040503050406030204" pitchFamily="18" charset="0"/>
                            </a:rPr>
                            <m:t>∗</m:t>
                          </m:r>
                        </m:sup>
                      </m:sSup>
                      <m:r>
                        <a:rPr lang="en-US" b="0" i="1" dirty="0" smtClean="0">
                          <a:latin typeface="Cambria Math" panose="02040503050406030204" pitchFamily="18" charset="0"/>
                        </a:rPr>
                        <m:t>=</m:t>
                      </m:r>
                      <m:func>
                        <m:funcPr>
                          <m:ctrlPr>
                            <a:rPr lang="en-US" b="0" i="1" dirty="0" smtClean="0">
                              <a:latin typeface="Cambria Math" panose="02040503050406030204" pitchFamily="18" charset="0"/>
                            </a:rPr>
                          </m:ctrlPr>
                        </m:funcPr>
                        <m:fName>
                          <m:limLow>
                            <m:limLowPr>
                              <m:ctrlPr>
                                <a:rPr lang="en-US" b="0" i="0" dirty="0" smtClean="0">
                                  <a:latin typeface="Cambria Math" panose="02040503050406030204" pitchFamily="18" charset="0"/>
                                </a:rPr>
                              </m:ctrlPr>
                            </m:limLowPr>
                            <m:e>
                              <m:r>
                                <m:rPr>
                                  <m:sty m:val="p"/>
                                </m:rPr>
                                <a:rPr lang="en-US" b="0" i="0" dirty="0" smtClean="0">
                                  <a:latin typeface="Cambria Math" panose="02040503050406030204" pitchFamily="18" charset="0"/>
                                </a:rPr>
                                <m:t>argmin</m:t>
                              </m:r>
                            </m:e>
                            <m:lim>
                              <m:r>
                                <a:rPr lang="en-US" b="0" i="1" dirty="0" smtClean="0">
                                  <a:latin typeface="Cambria Math" panose="02040503050406030204" pitchFamily="18" charset="0"/>
                                </a:rPr>
                                <m:t>ℎ</m:t>
                              </m:r>
                              <m:r>
                                <a:rPr lang="en-US" b="0" i="1" dirty="0" smtClean="0">
                                  <a:latin typeface="Cambria Math" panose="02040503050406030204" pitchFamily="18" charset="0"/>
                                </a:rPr>
                                <m:t>∈ </m:t>
                              </m:r>
                              <m:r>
                                <a:rPr lang="en-US" b="0" i="1" dirty="0" smtClean="0">
                                  <a:latin typeface="Cambria Math" panose="02040503050406030204" pitchFamily="18" charset="0"/>
                                </a:rPr>
                                <m:t>𝐻</m:t>
                              </m:r>
                            </m:lim>
                          </m:limLow>
                        </m:fName>
                        <m:e>
                          <m:r>
                            <a:rPr lang="en-US" b="0" i="1" smtClean="0">
                              <a:latin typeface="Cambria Math" panose="02040503050406030204" pitchFamily="18" charset="0"/>
                            </a:rPr>
                            <m:t>𝐸𝑚𝑝𝐿𝑜𝑠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𝐿</m:t>
                              </m:r>
                              <m:r>
                                <a:rPr lang="en-US" b="0" i="1" smtClean="0">
                                  <a:latin typeface="Cambria Math" panose="02040503050406030204" pitchFamily="18" charset="0"/>
                                </a:rPr>
                                <m:t>,</m:t>
                              </m:r>
                              <m:r>
                                <a:rPr lang="en-US" b="0" i="1" smtClean="0">
                                  <a:latin typeface="Cambria Math" panose="02040503050406030204" pitchFamily="18" charset="0"/>
                                </a:rPr>
                                <m:t>𝐸</m:t>
                              </m:r>
                            </m:sub>
                          </m:sSub>
                          <m:r>
                            <a:rPr lang="en-US" b="0" i="1" smtClean="0">
                              <a:latin typeface="Cambria Math" panose="02040503050406030204" pitchFamily="18" charset="0"/>
                            </a:rPr>
                            <m:t>(</m:t>
                          </m:r>
                          <m:r>
                            <a:rPr lang="en-US" b="0" i="1" smtClean="0">
                              <a:latin typeface="Cambria Math" panose="02040503050406030204" pitchFamily="18" charset="0"/>
                            </a:rPr>
                            <m:t>ℎ</m:t>
                          </m:r>
                          <m:r>
                            <a:rPr lang="en-US" b="0" i="1" smtClean="0">
                              <a:latin typeface="Cambria Math" panose="02040503050406030204" pitchFamily="18" charset="0"/>
                            </a:rPr>
                            <m:t>)</m:t>
                          </m:r>
                        </m:e>
                      </m:func>
                    </m:oMath>
                  </m:oMathPara>
                </a14:m>
                <a:endParaRPr lang="en-US" dirty="0"/>
              </a:p>
              <a:p>
                <a:pPr marL="0" indent="0">
                  <a:buNone/>
                </a:pPr>
                <a:endParaRPr lang="en-US" dirty="0"/>
              </a:p>
              <a:p>
                <a:r>
                  <a:rPr lang="en-US" dirty="0"/>
                  <a:t>Reasons for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ℎ</m:t>
                        </m:r>
                      </m:e>
                      <m:sup>
                        <m:r>
                          <a:rPr lang="en-US" b="0" i="1" dirty="0" smtClean="0">
                            <a:latin typeface="Cambria Math" panose="02040503050406030204" pitchFamily="18" charset="0"/>
                          </a:rPr>
                          <m:t>∗</m:t>
                        </m:r>
                      </m:sup>
                    </m:sSup>
                    <m:r>
                      <a:rPr lang="en-US" b="0"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𝑓</m:t>
                    </m:r>
                  </m:oMath>
                </a14:m>
                <a:endParaRPr lang="en-US" b="0" dirty="0">
                  <a:ea typeface="Cambria Math" panose="02040503050406030204" pitchFamily="18" charset="0"/>
                </a:endParaRPr>
              </a:p>
              <a:p>
                <a:pPr marL="914400" lvl="1" indent="-457200">
                  <a:buFont typeface="+mj-lt"/>
                  <a:buAutoNum type="alphaLcParenR"/>
                </a:pPr>
                <a:r>
                  <a:rPr lang="en-US" dirty="0"/>
                  <a:t>Realizability: </a:t>
                </a:r>
                <a14:m>
                  <m:oMath xmlns:m="http://schemas.openxmlformats.org/officeDocument/2006/math">
                    <m:r>
                      <a:rPr lang="en-US" b="0" i="1" dirty="0" smtClean="0">
                        <a:latin typeface="Cambria Math" panose="02040503050406030204" pitchFamily="18" charset="0"/>
                      </a:rPr>
                      <m:t>𝑓</m:t>
                    </m:r>
                    <m:r>
                      <a:rPr lang="en-US" b="0"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𝐻</m:t>
                    </m:r>
                  </m:oMath>
                </a14:m>
                <a:endParaRPr lang="en-US" b="0" dirty="0">
                  <a:ea typeface="Cambria Math" panose="02040503050406030204" pitchFamily="18" charset="0"/>
                </a:endParaRPr>
              </a:p>
              <a:p>
                <a:pPr marL="914400" lvl="1" indent="-457200">
                  <a:buFont typeface="+mj-lt"/>
                  <a:buAutoNum type="alphaLcParenR"/>
                </a:pPr>
                <a:r>
                  <a:rPr lang="en-US" dirty="0">
                    <a:ea typeface="Cambria Math" panose="02040503050406030204" pitchFamily="18" charset="0"/>
                  </a:rPr>
                  <a:t> </a:t>
                </a:r>
                <a14:m>
                  <m:oMath xmlns:m="http://schemas.openxmlformats.org/officeDocument/2006/math">
                    <m:r>
                      <a:rPr lang="en-US" b="0" i="1" dirty="0" smtClean="0">
                        <a:latin typeface="Cambria Math" panose="02040503050406030204" pitchFamily="18" charset="0"/>
                        <a:ea typeface="Cambria Math" panose="02040503050406030204" pitchFamily="18" charset="0"/>
                      </a:rPr>
                      <m:t>𝑓</m:t>
                    </m:r>
                  </m:oMath>
                </a14:m>
                <a:r>
                  <a:rPr lang="en-US" dirty="0"/>
                  <a:t> is nondeterministic.</a:t>
                </a:r>
              </a:p>
              <a:p>
                <a:pPr marL="914400" lvl="1" indent="-457200">
                  <a:buFont typeface="+mj-lt"/>
                  <a:buAutoNum type="alphaLcParenR"/>
                </a:pPr>
                <a:r>
                  <a:rPr lang="en-US" dirty="0"/>
                  <a:t>It is computationally intractable to search all of </a:t>
                </a:r>
                <a14:m>
                  <m:oMath xmlns:m="http://schemas.openxmlformats.org/officeDocument/2006/math">
                    <m:r>
                      <a:rPr lang="en-US" b="0" i="1" dirty="0" smtClean="0">
                        <a:latin typeface="Cambria Math" panose="02040503050406030204" pitchFamily="18" charset="0"/>
                        <a:ea typeface="Cambria Math" panose="02040503050406030204" pitchFamily="18" charset="0"/>
                      </a:rPr>
                      <m:t>𝐻</m:t>
                    </m:r>
                  </m:oMath>
                </a14:m>
                <a:r>
                  <a:rPr lang="en-US" dirty="0"/>
                  <a:t>, </a:t>
                </a:r>
                <a:br>
                  <a:rPr lang="en-US" dirty="0"/>
                </a:br>
                <a:r>
                  <a:rPr lang="en-US" dirty="0"/>
                  <a:t>so we use a non-optimal heuristic like local search. </a:t>
                </a:r>
              </a:p>
              <a:p>
                <a:endParaRPr lang="en-US" dirty="0"/>
              </a:p>
            </p:txBody>
          </p:sp>
        </mc:Choice>
        <mc:Fallback xmlns="">
          <p:sp>
            <p:nvSpPr>
              <p:cNvPr id="3" name="Content Placeholder 2">
                <a:extLst>
                  <a:ext uri="{FF2B5EF4-FFF2-40B4-BE49-F238E27FC236}">
                    <a16:creationId xmlns:a16="http://schemas.microsoft.com/office/drawing/2014/main" id="{9BE1CDDD-17A2-49AA-878D-47EFE49513D8}"/>
                  </a:ext>
                </a:extLst>
              </p:cNvPr>
              <p:cNvSpPr>
                <a:spLocks noGrp="1" noRot="1" noChangeAspect="1" noMove="1" noResize="1" noEditPoints="1" noAdjustHandles="1" noChangeArrowheads="1" noChangeShapeType="1" noTextEdit="1"/>
              </p:cNvSpPr>
              <p:nvPr>
                <p:ph idx="1"/>
              </p:nvPr>
            </p:nvSpPr>
            <p:spPr>
              <a:blipFill>
                <a:blip r:embed="rId3"/>
                <a:stretch>
                  <a:fillRect l="-928" t="-30812" b="-3221"/>
                </a:stretch>
              </a:blipFill>
            </p:spPr>
            <p:txBody>
              <a:bodyPr/>
              <a:lstStyle/>
              <a:p>
                <a:r>
                  <a:rPr lang="en-US">
                    <a:noFill/>
                  </a:rPr>
                  <a:t> </a:t>
                </a:r>
              </a:p>
            </p:txBody>
          </p:sp>
        </mc:Fallback>
      </mc:AlternateContent>
      <p:grpSp>
        <p:nvGrpSpPr>
          <p:cNvPr id="22" name="Group 21">
            <a:extLst>
              <a:ext uri="{FF2B5EF4-FFF2-40B4-BE49-F238E27FC236}">
                <a16:creationId xmlns:a16="http://schemas.microsoft.com/office/drawing/2014/main" id="{69B2F9E5-A1AA-477E-A7A5-38ECCBCEE21B}"/>
              </a:ext>
              <a:ext uri="{C183D7F6-B498-43B3-948B-1728B52AA6E4}">
                <adec:decorative xmlns:adec="http://schemas.microsoft.com/office/drawing/2017/decorative" val="1"/>
              </a:ext>
            </a:extLst>
          </p:cNvPr>
          <p:cNvGrpSpPr/>
          <p:nvPr/>
        </p:nvGrpSpPr>
        <p:grpSpPr>
          <a:xfrm>
            <a:off x="8795657" y="4085927"/>
            <a:ext cx="3352800" cy="2671988"/>
            <a:chOff x="8795657" y="4085927"/>
            <a:chExt cx="3352800" cy="2671988"/>
          </a:xfrm>
        </p:grpSpPr>
        <p:sp>
          <p:nvSpPr>
            <p:cNvPr id="23" name="Oval 22">
              <a:extLst>
                <a:ext uri="{FF2B5EF4-FFF2-40B4-BE49-F238E27FC236}">
                  <a16:creationId xmlns:a16="http://schemas.microsoft.com/office/drawing/2014/main" id="{22116AE6-B46E-4695-A894-0CCFD699B218}"/>
                </a:ext>
              </a:extLst>
            </p:cNvPr>
            <p:cNvSpPr/>
            <p:nvPr/>
          </p:nvSpPr>
          <p:spPr>
            <a:xfrm>
              <a:off x="8795657" y="4243315"/>
              <a:ext cx="3352800" cy="251460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24" name="Freeform 5">
              <a:extLst>
                <a:ext uri="{FF2B5EF4-FFF2-40B4-BE49-F238E27FC236}">
                  <a16:creationId xmlns:a16="http://schemas.microsoft.com/office/drawing/2014/main" id="{B94E2309-F337-45D4-BF03-7E28296EC949}"/>
                </a:ext>
              </a:extLst>
            </p:cNvPr>
            <p:cNvSpPr>
              <a:spLocks/>
            </p:cNvSpPr>
            <p:nvPr/>
          </p:nvSpPr>
          <p:spPr bwMode="auto">
            <a:xfrm>
              <a:off x="9090422" y="4914900"/>
              <a:ext cx="2947987" cy="1409700"/>
            </a:xfrm>
            <a:custGeom>
              <a:avLst/>
              <a:gdLst>
                <a:gd name="T0" fmla="*/ 213 w 1857"/>
                <a:gd name="T1" fmla="*/ 128 h 888"/>
                <a:gd name="T2" fmla="*/ 80 w 1857"/>
                <a:gd name="T3" fmla="*/ 475 h 888"/>
                <a:gd name="T4" fmla="*/ 692 w 1857"/>
                <a:gd name="T5" fmla="*/ 852 h 888"/>
                <a:gd name="T6" fmla="*/ 1013 w 1857"/>
                <a:gd name="T7" fmla="*/ 689 h 888"/>
                <a:gd name="T8" fmla="*/ 1451 w 1857"/>
                <a:gd name="T9" fmla="*/ 638 h 888"/>
                <a:gd name="T10" fmla="*/ 1752 w 1857"/>
                <a:gd name="T11" fmla="*/ 592 h 888"/>
                <a:gd name="T12" fmla="*/ 1818 w 1857"/>
                <a:gd name="T13" fmla="*/ 306 h 888"/>
                <a:gd name="T14" fmla="*/ 1517 w 1857"/>
                <a:gd name="T15" fmla="*/ 92 h 888"/>
                <a:gd name="T16" fmla="*/ 998 w 1857"/>
                <a:gd name="T17" fmla="*/ 6 h 888"/>
                <a:gd name="T18" fmla="*/ 213 w 1857"/>
                <a:gd name="T19" fmla="*/ 128 h 8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57" h="888">
                  <a:moveTo>
                    <a:pt x="213" y="128"/>
                  </a:moveTo>
                  <a:cubicBezTo>
                    <a:pt x="60" y="206"/>
                    <a:pt x="0" y="354"/>
                    <a:pt x="80" y="475"/>
                  </a:cubicBezTo>
                  <a:cubicBezTo>
                    <a:pt x="160" y="596"/>
                    <a:pt x="537" y="816"/>
                    <a:pt x="692" y="852"/>
                  </a:cubicBezTo>
                  <a:cubicBezTo>
                    <a:pt x="847" y="888"/>
                    <a:pt x="887" y="725"/>
                    <a:pt x="1013" y="689"/>
                  </a:cubicBezTo>
                  <a:cubicBezTo>
                    <a:pt x="1139" y="653"/>
                    <a:pt x="1328" y="654"/>
                    <a:pt x="1451" y="638"/>
                  </a:cubicBezTo>
                  <a:cubicBezTo>
                    <a:pt x="1574" y="622"/>
                    <a:pt x="1691" y="647"/>
                    <a:pt x="1752" y="592"/>
                  </a:cubicBezTo>
                  <a:cubicBezTo>
                    <a:pt x="1813" y="537"/>
                    <a:pt x="1857" y="389"/>
                    <a:pt x="1818" y="306"/>
                  </a:cubicBezTo>
                  <a:cubicBezTo>
                    <a:pt x="1779" y="223"/>
                    <a:pt x="1654" y="142"/>
                    <a:pt x="1517" y="92"/>
                  </a:cubicBezTo>
                  <a:cubicBezTo>
                    <a:pt x="1380" y="42"/>
                    <a:pt x="1215" y="0"/>
                    <a:pt x="998" y="6"/>
                  </a:cubicBezTo>
                  <a:cubicBezTo>
                    <a:pt x="781" y="12"/>
                    <a:pt x="366" y="50"/>
                    <a:pt x="213" y="128"/>
                  </a:cubicBezTo>
                  <a:close/>
                </a:path>
              </a:pathLst>
            </a:custGeom>
            <a:ln>
              <a:headEnd/>
              <a:tailEnd/>
            </a:ln>
            <a:extLs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accent5"/>
            </a:lnRef>
            <a:fillRef idx="2">
              <a:schemeClr val="accent5"/>
            </a:fillRef>
            <a:effectRef idx="1">
              <a:schemeClr val="accent5"/>
            </a:effectRef>
            <a:fontRef idx="minor">
              <a:schemeClr val="dk1"/>
            </a:fontRef>
          </p:style>
          <p:txBody>
            <a:bodyPr/>
            <a:lstStyle/>
            <a:p>
              <a:endParaRPr lang="en-US"/>
            </a:p>
          </p:txBody>
        </p:sp>
        <p:sp>
          <p:nvSpPr>
            <p:cNvPr id="25" name="Oval 24">
              <a:extLst>
                <a:ext uri="{FF2B5EF4-FFF2-40B4-BE49-F238E27FC236}">
                  <a16:creationId xmlns:a16="http://schemas.microsoft.com/office/drawing/2014/main" id="{94BAF3D2-D446-46FB-98F1-0B8EBE3E3F3B}"/>
                </a:ext>
              </a:extLst>
            </p:cNvPr>
            <p:cNvSpPr>
              <a:spLocks noChangeArrowheads="1"/>
            </p:cNvSpPr>
            <p:nvPr/>
          </p:nvSpPr>
          <p:spPr bwMode="auto">
            <a:xfrm>
              <a:off x="10479484" y="4875213"/>
              <a:ext cx="112713" cy="112712"/>
            </a:xfrm>
            <a:prstGeom prst="ellipse">
              <a:avLst/>
            </a:prstGeom>
            <a:solidFill>
              <a:srgbClr val="000000"/>
            </a:solidFill>
            <a:ln w="9525">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 name="Oval 25">
              <a:extLst>
                <a:ext uri="{FF2B5EF4-FFF2-40B4-BE49-F238E27FC236}">
                  <a16:creationId xmlns:a16="http://schemas.microsoft.com/office/drawing/2014/main" id="{43C5540B-019A-4893-B64E-2EF3BC98C1EE}"/>
                </a:ext>
              </a:extLst>
            </p:cNvPr>
            <p:cNvSpPr>
              <a:spLocks noChangeArrowheads="1"/>
            </p:cNvSpPr>
            <p:nvPr/>
          </p:nvSpPr>
          <p:spPr bwMode="auto">
            <a:xfrm>
              <a:off x="10479484" y="4421188"/>
              <a:ext cx="112713" cy="112712"/>
            </a:xfrm>
            <a:prstGeom prst="ellipse">
              <a:avLst/>
            </a:prstGeom>
            <a:solidFill>
              <a:srgbClr val="000000"/>
            </a:solidFill>
            <a:ln w="9525">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 name="Line 11">
              <a:extLst>
                <a:ext uri="{FF2B5EF4-FFF2-40B4-BE49-F238E27FC236}">
                  <a16:creationId xmlns:a16="http://schemas.microsoft.com/office/drawing/2014/main" id="{3F391002-205A-452C-865F-05E7F96E4587}"/>
                </a:ext>
              </a:extLst>
            </p:cNvPr>
            <p:cNvSpPr>
              <a:spLocks noChangeShapeType="1"/>
            </p:cNvSpPr>
            <p:nvPr/>
          </p:nvSpPr>
          <p:spPr bwMode="auto">
            <a:xfrm>
              <a:off x="10536634" y="4470400"/>
              <a:ext cx="0" cy="428625"/>
            </a:xfrm>
            <a:prstGeom prst="line">
              <a:avLst/>
            </a:prstGeom>
            <a:noFill/>
            <a:ln w="25400">
              <a:solidFill>
                <a:schemeClr val="tx1"/>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28" name="Picture 13" descr="txp_fig">
              <a:extLst>
                <a:ext uri="{FF2B5EF4-FFF2-40B4-BE49-F238E27FC236}">
                  <a16:creationId xmlns:a16="http://schemas.microsoft.com/office/drawing/2014/main" id="{8D571DFA-268A-42D3-9919-C561BF51B851}"/>
                </a:ext>
              </a:extLst>
            </p:cNvPr>
            <p:cNvPicPr>
              <a:picLocks noChangeAspect="1" noChangeArrowheads="1"/>
            </p:cNvPicPr>
            <p:nvPr>
              <p:custDataLst>
                <p:tags r:id="rId1"/>
              </p:custDataLst>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895284" y="5681663"/>
              <a:ext cx="303213" cy="2365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DC806DC7-7620-4939-A62F-E35D53161F97}"/>
                    </a:ext>
                  </a:extLst>
                </p:cNvPr>
                <p:cNvSpPr txBox="1"/>
                <p:nvPr/>
              </p:nvSpPr>
              <p:spPr>
                <a:xfrm>
                  <a:off x="10211991" y="4243315"/>
                  <a:ext cx="279400" cy="461665"/>
                </a:xfrm>
                <a:prstGeom prst="rect">
                  <a:avLst/>
                </a:prstGeom>
                <a:noFill/>
              </p:spPr>
              <p:txBody>
                <a:bodyPr wrap="square" rtlCol="0">
                  <a:spAutoFit/>
                </a:bodyPr>
                <a:lstStyle/>
                <a:p>
                  <a:pPr/>
                  <a14:m>
                    <m:oMathPara xmlns:m="http://schemas.openxmlformats.org/officeDocument/2006/math">
                      <m:oMath>
                        <m:r>
                          <a:rPr lang="en-US" sz="2400" b="0" i="1" dirty="0" smtClean="0">
                            <a:latin typeface="Cambria Math" panose="02040503050406030204" pitchFamily="18" charset="0"/>
                          </a:rPr>
                          <m:t>𝑓</m:t>
                        </m:r>
                      </m:oMath>
                    </m:oMathPara>
                  </a14:m>
                  <a:endParaRPr lang="en-US" sz="2400" i="1" dirty="0"/>
                </a:p>
              </p:txBody>
            </p:sp>
          </mc:Choice>
          <mc:Fallback xmlns="">
            <p:sp>
              <p:nvSpPr>
                <p:cNvPr id="29" name="TextBox 28">
                  <a:extLst>
                    <a:ext uri="{FF2B5EF4-FFF2-40B4-BE49-F238E27FC236}">
                      <a16:creationId xmlns:a16="http://schemas.microsoft.com/office/drawing/2014/main" id="{DC806DC7-7620-4939-A62F-E35D53161F97}"/>
                    </a:ext>
                  </a:extLst>
                </p:cNvPr>
                <p:cNvSpPr txBox="1">
                  <a:spLocks noRot="1" noChangeAspect="1" noMove="1" noResize="1" noEditPoints="1" noAdjustHandles="1" noChangeArrowheads="1" noChangeShapeType="1" noTextEdit="1"/>
                </p:cNvSpPr>
                <p:nvPr/>
              </p:nvSpPr>
              <p:spPr>
                <a:xfrm>
                  <a:off x="10211991" y="4243315"/>
                  <a:ext cx="279400" cy="461665"/>
                </a:xfrm>
                <a:prstGeom prst="rect">
                  <a:avLst/>
                </a:prstGeom>
                <a:blipFill>
                  <a:blip r:embed="rId6"/>
                  <a:stretch>
                    <a:fillRect l="-17391" r="-43478"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ABBA70E4-203C-4ED3-B804-8F77A1C6E3DA}"/>
                    </a:ext>
                  </a:extLst>
                </p:cNvPr>
                <p:cNvSpPr txBox="1"/>
                <p:nvPr/>
              </p:nvSpPr>
              <p:spPr>
                <a:xfrm>
                  <a:off x="10237390" y="4938712"/>
                  <a:ext cx="709613" cy="584775"/>
                </a:xfrm>
                <a:prstGeom prst="rect">
                  <a:avLst/>
                </a:prstGeom>
                <a:noFill/>
              </p:spPr>
              <p:txBody>
                <a:bodyPr wrap="square" rtlCol="0">
                  <a:spAutoFit/>
                </a:bodyPr>
                <a:lstStyle/>
                <a:p>
                  <a:pPr/>
                  <a14:m>
                    <m:oMathPara xmlns:m="http://schemas.openxmlformats.org/officeDocument/2006/math">
                      <m:oMath>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ℎ</m:t>
                            </m:r>
                          </m:e>
                          <m:sup>
                            <m:r>
                              <a:rPr lang="en-US" sz="3200" b="0" i="1" smtClean="0">
                                <a:latin typeface="Cambria Math" panose="02040503050406030204" pitchFamily="18" charset="0"/>
                              </a:rPr>
                              <m:t>∗</m:t>
                            </m:r>
                          </m:sup>
                        </m:sSup>
                      </m:oMath>
                    </m:oMathPara>
                  </a14:m>
                  <a:endParaRPr lang="en-US" sz="3200" i="1" dirty="0"/>
                </a:p>
              </p:txBody>
            </p:sp>
          </mc:Choice>
          <mc:Fallback xmlns="">
            <p:sp>
              <p:nvSpPr>
                <p:cNvPr id="30" name="TextBox 29">
                  <a:extLst>
                    <a:ext uri="{FF2B5EF4-FFF2-40B4-BE49-F238E27FC236}">
                      <a16:creationId xmlns:a16="http://schemas.microsoft.com/office/drawing/2014/main" id="{ABBA70E4-203C-4ED3-B804-8F77A1C6E3DA}"/>
                    </a:ext>
                  </a:extLst>
                </p:cNvPr>
                <p:cNvSpPr txBox="1">
                  <a:spLocks noRot="1" noChangeAspect="1" noMove="1" noResize="1" noEditPoints="1" noAdjustHandles="1" noChangeArrowheads="1" noChangeShapeType="1" noTextEdit="1"/>
                </p:cNvSpPr>
                <p:nvPr/>
              </p:nvSpPr>
              <p:spPr>
                <a:xfrm>
                  <a:off x="10237390" y="4938712"/>
                  <a:ext cx="709613" cy="584775"/>
                </a:xfrm>
                <a:prstGeom prst="rect">
                  <a:avLst/>
                </a:prstGeom>
                <a:blipFill>
                  <a:blip r:embed="rId7"/>
                  <a:stretch>
                    <a:fillRect/>
                  </a:stretch>
                </a:blipFill>
              </p:spPr>
              <p:txBody>
                <a:bodyPr/>
                <a:lstStyle/>
                <a:p>
                  <a:r>
                    <a:rPr lang="en-US">
                      <a:noFill/>
                    </a:rPr>
                    <a:t> </a:t>
                  </a:r>
                </a:p>
              </p:txBody>
            </p:sp>
          </mc:Fallback>
        </mc:AlternateContent>
        <p:sp>
          <p:nvSpPr>
            <p:cNvPr id="31" name="Speech Bubble: Rectangle 30">
              <a:extLst>
                <a:ext uri="{FF2B5EF4-FFF2-40B4-BE49-F238E27FC236}">
                  <a16:creationId xmlns:a16="http://schemas.microsoft.com/office/drawing/2014/main" id="{FD87FC05-37F8-4864-ABEA-86C4EAAA7AAD}"/>
                </a:ext>
              </a:extLst>
            </p:cNvPr>
            <p:cNvSpPr/>
            <p:nvPr/>
          </p:nvSpPr>
          <p:spPr>
            <a:xfrm>
              <a:off x="10896600" y="4085927"/>
              <a:ext cx="1091406" cy="287635"/>
            </a:xfrm>
            <a:prstGeom prst="wedgeRectCallout">
              <a:avLst>
                <a:gd name="adj1" fmla="val -77851"/>
                <a:gd name="adj2" fmla="val 157777"/>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Loss</a:t>
              </a:r>
            </a:p>
          </p:txBody>
        </p:sp>
      </p:grpSp>
    </p:spTree>
    <p:extLst>
      <p:ext uri="{BB962C8B-B14F-4D97-AF65-F5344CB8AC3E}">
        <p14:creationId xmlns:p14="http://schemas.microsoft.com/office/powerpoint/2010/main" val="3455679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68DAF-B65C-4B08-8613-534FAEAD9337}"/>
              </a:ext>
            </a:extLst>
          </p:cNvPr>
          <p:cNvSpPr>
            <a:spLocks noGrp="1"/>
          </p:cNvSpPr>
          <p:nvPr>
            <p:ph type="title"/>
          </p:nvPr>
        </p:nvSpPr>
        <p:spPr>
          <a:xfrm>
            <a:off x="838200" y="365125"/>
            <a:ext cx="10515600" cy="1325563"/>
          </a:xfrm>
        </p:spPr>
        <p:txBody>
          <a:bodyPr/>
          <a:lstStyle/>
          <a:p>
            <a:r>
              <a:rPr lang="en-US" dirty="0"/>
              <a:t>The Most Consistent Classifier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C4E7412-75D7-4C7D-A4D5-05DDF77126E3}"/>
                  </a:ext>
                </a:extLst>
              </p:cNvPr>
              <p:cNvSpPr>
                <a:spLocks noGrp="1"/>
              </p:cNvSpPr>
              <p:nvPr>
                <p:ph idx="1"/>
              </p:nvPr>
            </p:nvSpPr>
            <p:spPr>
              <a:xfrm>
                <a:off x="858625" y="1690688"/>
                <a:ext cx="10744200" cy="4968875"/>
              </a:xfrm>
            </p:spPr>
            <p:txBody>
              <a:bodyPr>
                <a:normAutofit fontScale="62500" lnSpcReduction="20000"/>
              </a:bodyPr>
              <a:lstStyle/>
              <a:p>
                <a:pPr marL="0" indent="0">
                  <a:lnSpc>
                    <a:spcPct val="120000"/>
                  </a:lnSpc>
                  <a:buNone/>
                </a:pPr>
                <a:r>
                  <a:rPr lang="en-US" b="1" dirty="0"/>
                  <a:t>Statistical Learning: </a:t>
                </a:r>
                <a:r>
                  <a:rPr lang="en-US" b="1" dirty="0">
                    <a:solidFill>
                      <a:srgbClr val="FF0000"/>
                    </a:solidFill>
                  </a:rPr>
                  <a:t>For 0/1 loss</a:t>
                </a:r>
                <a:r>
                  <a:rPr lang="en-US" dirty="0"/>
                  <a:t>, the empirical loss is minimized by the model that predicts for each </a:t>
                </a:r>
                <a14:m>
                  <m:oMath xmlns:m="http://schemas.openxmlformats.org/officeDocument/2006/math">
                    <m:r>
                      <a:rPr lang="en-US" b="1" i="1" smtClean="0">
                        <a:latin typeface="Cambria Math" panose="02040503050406030204" pitchFamily="18" charset="0"/>
                      </a:rPr>
                      <m:t>𝒙</m:t>
                    </m:r>
                  </m:oMath>
                </a14:m>
                <a:r>
                  <a:rPr lang="en-US" dirty="0"/>
                  <a:t> the most likely class </a:t>
                </a:r>
                <a14:m>
                  <m:oMath xmlns:m="http://schemas.openxmlformats.org/officeDocument/2006/math">
                    <m:r>
                      <a:rPr lang="en-US" b="0" i="1" smtClean="0">
                        <a:latin typeface="Cambria Math" panose="02040503050406030204" pitchFamily="18" charset="0"/>
                      </a:rPr>
                      <m:t>𝑦</m:t>
                    </m:r>
                  </m:oMath>
                </a14:m>
                <a:r>
                  <a:rPr lang="en-US" dirty="0"/>
                  <a:t> using MAP (Maximum a posteriori) estimates.  This is called the Bayes classifier.</a:t>
                </a:r>
              </a:p>
              <a:p>
                <a:pPr marL="0" indent="0">
                  <a:lnSpc>
                    <a:spcPct val="120000"/>
                  </a:lnSpc>
                  <a:buNone/>
                </a:pPr>
                <a:br>
                  <a:rPr lang="en-US" dirty="0"/>
                </a:b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ℎ</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1" i="1" smtClean="0">
                          <a:latin typeface="Cambria Math" panose="02040503050406030204" pitchFamily="18" charset="0"/>
                        </a:rPr>
                        <m:t>𝒙</m:t>
                      </m:r>
                      <m:r>
                        <a:rPr lang="en-US" b="0" i="1" smtClean="0">
                          <a:latin typeface="Cambria Math" panose="02040503050406030204" pitchFamily="18" charset="0"/>
                        </a:rPr>
                        <m:t>)=</m:t>
                      </m:r>
                      <m:limLow>
                        <m:limLowPr>
                          <m:ctrlPr>
                            <a:rPr lang="en-US">
                              <a:latin typeface="Cambria Math" panose="02040503050406030204" pitchFamily="18" charset="0"/>
                            </a:rPr>
                          </m:ctrlPr>
                        </m:limLowPr>
                        <m:e>
                          <m:r>
                            <m:rPr>
                              <m:sty m:val="p"/>
                            </m:rPr>
                            <a:rPr lang="en-US">
                              <a:latin typeface="Cambria Math" panose="02040503050406030204" pitchFamily="18" charset="0"/>
                            </a:rPr>
                            <m:t>argmax</m:t>
                          </m:r>
                        </m:e>
                        <m:lim>
                          <m:r>
                            <a:rPr lang="en-US" i="1">
                              <a:latin typeface="Cambria Math" panose="02040503050406030204" pitchFamily="18" charset="0"/>
                            </a:rPr>
                            <m:t>𝑦</m:t>
                          </m:r>
                        </m:lim>
                      </m:limLow>
                      <m:r>
                        <a:rPr lang="en-US" b="0" i="1" smtClean="0">
                          <a:latin typeface="Cambria Math" panose="02040503050406030204" pitchFamily="18" charset="0"/>
                        </a:rPr>
                        <m:t> </m:t>
                      </m:r>
                      <m:r>
                        <a:rPr lang="en-US" b="0" i="1" smtClean="0">
                          <a:latin typeface="Cambria Math" panose="02040503050406030204" pitchFamily="18" charset="0"/>
                        </a:rPr>
                        <m:t>𝑃</m:t>
                      </m:r>
                      <m:d>
                        <m:dPr>
                          <m:endChr m:val="|"/>
                          <m:ctrlPr>
                            <a:rPr lang="en-US" b="0" i="1" smtClean="0">
                              <a:latin typeface="Cambria Math" panose="02040503050406030204" pitchFamily="18" charset="0"/>
                            </a:rPr>
                          </m:ctrlPr>
                        </m:dPr>
                        <m:e>
                          <m:r>
                            <a:rPr lang="en-U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 </m:t>
                          </m:r>
                        </m:e>
                      </m:d>
                      <m:r>
                        <a:rPr lang="en-US" b="0" i="1" smtClean="0">
                          <a:latin typeface="Cambria Math" panose="02040503050406030204" pitchFamily="18" charset="0"/>
                        </a:rPr>
                        <m:t> </m:t>
                      </m:r>
                      <m:r>
                        <a:rPr lang="en-US" b="1" i="1" smtClean="0">
                          <a:latin typeface="Cambria Math" panose="02040503050406030204" pitchFamily="18" charset="0"/>
                        </a:rPr>
                        <m:t>𝑿</m:t>
                      </m:r>
                      <m:r>
                        <a:rPr lang="en-US" b="0" i="1" smtClean="0">
                          <a:latin typeface="Cambria Math" panose="02040503050406030204" pitchFamily="18" charset="0"/>
                        </a:rPr>
                        <m:t>=</m:t>
                      </m:r>
                      <m:r>
                        <a:rPr lang="en-US" b="1" i="1" smtClean="0">
                          <a:latin typeface="Cambria Math" panose="02040503050406030204" pitchFamily="18" charset="0"/>
                        </a:rPr>
                        <m:t>𝒙</m:t>
                      </m:r>
                      <m:r>
                        <a:rPr lang="en-US" b="0" i="1" smtClean="0">
                          <a:latin typeface="Cambria Math" panose="02040503050406030204" pitchFamily="18" charset="0"/>
                        </a:rPr>
                        <m:t>)= </m:t>
                      </m:r>
                      <m:limLow>
                        <m:limLowPr>
                          <m:ctrlPr>
                            <a:rPr lang="en-US">
                              <a:latin typeface="Cambria Math" panose="02040503050406030204" pitchFamily="18" charset="0"/>
                            </a:rPr>
                          </m:ctrlPr>
                        </m:limLowPr>
                        <m:e>
                          <m:r>
                            <m:rPr>
                              <m:sty m:val="p"/>
                            </m:rPr>
                            <a:rPr lang="en-US">
                              <a:latin typeface="Cambria Math" panose="02040503050406030204" pitchFamily="18" charset="0"/>
                            </a:rPr>
                            <m:t>argmax</m:t>
                          </m:r>
                        </m:e>
                        <m:lim>
                          <m:r>
                            <a:rPr lang="en-US" i="1">
                              <a:latin typeface="Cambria Math" panose="02040503050406030204" pitchFamily="18" charset="0"/>
                            </a:rPr>
                            <m:t>𝑦</m:t>
                          </m:r>
                        </m:lim>
                      </m:limLow>
                      <m:r>
                        <a:rPr lang="en-US" b="0" i="1" smtClean="0">
                          <a:latin typeface="Cambria Math" panose="02040503050406030204" pitchFamily="18" charset="0"/>
                        </a:rPr>
                        <m:t> </m:t>
                      </m:r>
                      <m:f>
                        <m:fPr>
                          <m:ctrlPr>
                            <a:rPr lang="en-US" i="1">
                              <a:latin typeface="Cambria Math" panose="02040503050406030204" pitchFamily="18" charset="0"/>
                            </a:rPr>
                          </m:ctrlPr>
                        </m:fPr>
                        <m:num>
                          <m:r>
                            <a:rPr lang="en-US" i="1">
                              <a:latin typeface="Cambria Math" panose="02040503050406030204" pitchFamily="18" charset="0"/>
                            </a:rPr>
                            <m:t>𝑃</m:t>
                          </m:r>
                          <m:d>
                            <m:dPr>
                              <m:endChr m:val="|"/>
                              <m:ctrlPr>
                                <a:rPr lang="en-US" b="1" i="1" smtClean="0">
                                  <a:latin typeface="Cambria Math" panose="02040503050406030204" pitchFamily="18" charset="0"/>
                                </a:rPr>
                              </m:ctrlPr>
                            </m:dPr>
                            <m:e>
                              <m:r>
                                <a:rPr lang="en-US" b="1" i="1" smtClean="0">
                                  <a:latin typeface="Cambria Math" panose="02040503050406030204" pitchFamily="18" charset="0"/>
                                </a:rPr>
                                <m:t>𝒙</m:t>
                              </m:r>
                              <m:r>
                                <a:rPr lang="en-US" i="1">
                                  <a:latin typeface="Cambria Math" panose="02040503050406030204" pitchFamily="18" charset="0"/>
                                </a:rPr>
                                <m:t> </m:t>
                              </m:r>
                            </m:e>
                          </m:d>
                          <m:r>
                            <a:rPr lang="en-US" b="0" i="1" smtClean="0">
                              <a:latin typeface="Cambria Math" panose="02040503050406030204" pitchFamily="18" charset="0"/>
                            </a:rPr>
                            <m:t> </m:t>
                          </m:r>
                          <m:r>
                            <a:rPr lang="en-US" b="0" i="1" smtClean="0">
                              <a:latin typeface="Cambria Math" panose="02040503050406030204" pitchFamily="18" charset="0"/>
                            </a:rPr>
                            <m:t>𝑦</m:t>
                          </m:r>
                          <m:r>
                            <a:rPr lang="en-US" i="1">
                              <a:latin typeface="Cambria Math" panose="02040503050406030204" pitchFamily="18" charset="0"/>
                            </a:rPr>
                            <m:t>)</m:t>
                          </m:r>
                          <m:r>
                            <m:rPr>
                              <m:nor/>
                            </m:rPr>
                            <a:rPr lang="en-US" i="0" dirty="0"/>
                            <m:t> </m:t>
                          </m:r>
                          <m:r>
                            <a:rPr lang="en-US" i="1" dirty="0">
                              <a:latin typeface="Cambria Math" panose="02040503050406030204" pitchFamily="18" charset="0"/>
                            </a:rPr>
                            <m:t>𝑃</m:t>
                          </m:r>
                          <m:r>
                            <a:rPr lang="en-US" i="1" dirty="0">
                              <a:latin typeface="Cambria Math" panose="02040503050406030204" pitchFamily="18" charset="0"/>
                            </a:rPr>
                            <m:t>(</m:t>
                          </m:r>
                          <m:r>
                            <a:rPr lang="en-US" b="0" i="1" dirty="0" smtClean="0">
                              <a:latin typeface="Cambria Math" panose="02040503050406030204" pitchFamily="18" charset="0"/>
                            </a:rPr>
                            <m:t>𝑦</m:t>
                          </m:r>
                          <m:r>
                            <a:rPr lang="en-US" b="0" i="1" dirty="0" smtClean="0">
                              <a:latin typeface="Cambria Math" panose="02040503050406030204" pitchFamily="18" charset="0"/>
                            </a:rPr>
                            <m:t>)</m:t>
                          </m:r>
                        </m:num>
                        <m:den>
                          <m:r>
                            <a:rPr lang="en-US" b="0" i="1" smtClean="0">
                              <a:latin typeface="Cambria Math" panose="02040503050406030204" pitchFamily="18" charset="0"/>
                            </a:rPr>
                            <m:t>𝑃</m:t>
                          </m:r>
                          <m:r>
                            <a:rPr lang="en-US" b="0" i="1" smtClean="0">
                              <a:latin typeface="Cambria Math" panose="02040503050406030204" pitchFamily="18" charset="0"/>
                            </a:rPr>
                            <m:t>(</m:t>
                          </m:r>
                          <m:r>
                            <a:rPr lang="en-US" b="1" i="1" smtClean="0">
                              <a:latin typeface="Cambria Math" panose="02040503050406030204" pitchFamily="18" charset="0"/>
                            </a:rPr>
                            <m:t>𝒙</m:t>
                          </m:r>
                          <m:r>
                            <a:rPr lang="en-US" b="0" i="1" smtClean="0">
                              <a:latin typeface="Cambria Math" panose="02040503050406030204" pitchFamily="18" charset="0"/>
                            </a:rPr>
                            <m:t>)</m:t>
                          </m:r>
                        </m:den>
                      </m:f>
                      <m:r>
                        <a:rPr lang="en-US" b="0" i="1" dirty="0" smtClean="0">
                          <a:latin typeface="Cambria Math" panose="02040503050406030204" pitchFamily="18" charset="0"/>
                        </a:rPr>
                        <m:t>=</m:t>
                      </m:r>
                      <m:func>
                        <m:funcPr>
                          <m:ctrlPr>
                            <a:rPr lang="en-US" i="1">
                              <a:latin typeface="Cambria Math" panose="02040503050406030204" pitchFamily="18" charset="0"/>
                            </a:rPr>
                          </m:ctrlPr>
                        </m:funcPr>
                        <m:fName>
                          <m:limLow>
                            <m:limLowPr>
                              <m:ctrlPr>
                                <a:rPr lang="en-US">
                                  <a:latin typeface="Cambria Math" panose="02040503050406030204" pitchFamily="18" charset="0"/>
                                </a:rPr>
                              </m:ctrlPr>
                            </m:limLowPr>
                            <m:e>
                              <m:r>
                                <m:rPr>
                                  <m:sty m:val="p"/>
                                </m:rPr>
                                <a:rPr lang="en-US">
                                  <a:latin typeface="Cambria Math" panose="02040503050406030204" pitchFamily="18" charset="0"/>
                                </a:rPr>
                                <m:t>argmax</m:t>
                              </m:r>
                            </m:e>
                            <m:lim>
                              <m:r>
                                <a:rPr lang="en-US" i="1">
                                  <a:latin typeface="Cambria Math" panose="02040503050406030204" pitchFamily="18" charset="0"/>
                                </a:rPr>
                                <m:t>𝑦</m:t>
                              </m:r>
                            </m:lim>
                          </m:limLow>
                        </m:fName>
                        <m:e>
                          <m:r>
                            <a:rPr lang="en-US" i="1">
                              <a:latin typeface="Cambria Math" panose="02040503050406030204" pitchFamily="18" charset="0"/>
                            </a:rPr>
                            <m:t>𝑃</m:t>
                          </m:r>
                          <m:d>
                            <m:dPr>
                              <m:endChr m:val="|"/>
                              <m:ctrlPr>
                                <a:rPr lang="en-US" b="1" i="1" smtClean="0">
                                  <a:latin typeface="Cambria Math" panose="02040503050406030204" pitchFamily="18" charset="0"/>
                                </a:rPr>
                              </m:ctrlPr>
                            </m:dPr>
                            <m:e>
                              <m:r>
                                <a:rPr lang="en-US" b="1" i="1" smtClean="0">
                                  <a:latin typeface="Cambria Math" panose="02040503050406030204" pitchFamily="18" charset="0"/>
                                </a:rPr>
                                <m:t>𝒙</m:t>
                              </m:r>
                              <m:r>
                                <a:rPr lang="en-US" i="1">
                                  <a:latin typeface="Cambria Math" panose="02040503050406030204" pitchFamily="18" charset="0"/>
                                </a:rPr>
                                <m:t> </m:t>
                              </m:r>
                            </m:e>
                          </m:d>
                          <m:r>
                            <a:rPr lang="en-US" b="0" i="1" smtClean="0">
                              <a:latin typeface="Cambria Math" panose="02040503050406030204" pitchFamily="18" charset="0"/>
                            </a:rPr>
                            <m:t> </m:t>
                          </m:r>
                          <m:r>
                            <a:rPr lang="en-US" b="0" i="1" smtClean="0">
                              <a:latin typeface="Cambria Math" panose="02040503050406030204" pitchFamily="18" charset="0"/>
                            </a:rPr>
                            <m:t>𝑦</m:t>
                          </m:r>
                          <m:r>
                            <a:rPr lang="en-US" i="1">
                              <a:latin typeface="Cambria Math" panose="02040503050406030204" pitchFamily="18" charset="0"/>
                            </a:rPr>
                            <m:t>)</m:t>
                          </m:r>
                          <m:r>
                            <m:rPr>
                              <m:nor/>
                            </m:rPr>
                            <a:rPr lang="en-US" i="0" dirty="0"/>
                            <m:t> </m:t>
                          </m:r>
                          <m:r>
                            <a:rPr lang="en-US" i="1" dirty="0">
                              <a:latin typeface="Cambria Math" panose="02040503050406030204" pitchFamily="18" charset="0"/>
                            </a:rPr>
                            <m:t>𝑃</m:t>
                          </m:r>
                          <m:r>
                            <a:rPr lang="en-US" i="1" dirty="0">
                              <a:latin typeface="Cambria Math" panose="02040503050406030204" pitchFamily="18" charset="0"/>
                            </a:rPr>
                            <m:t>(</m:t>
                          </m:r>
                          <m:r>
                            <a:rPr lang="en-US" b="0" i="1" dirty="0" smtClean="0">
                              <a:latin typeface="Cambria Math" panose="02040503050406030204" pitchFamily="18" charset="0"/>
                            </a:rPr>
                            <m:t>𝑦</m:t>
                          </m:r>
                          <m:r>
                            <a:rPr lang="en-US" i="1" dirty="0">
                              <a:latin typeface="Cambria Math" panose="02040503050406030204" pitchFamily="18" charset="0"/>
                            </a:rPr>
                            <m:t>)</m:t>
                          </m:r>
                        </m:e>
                      </m:func>
                    </m:oMath>
                  </m:oMathPara>
                </a14:m>
                <a:endParaRPr lang="en-US" dirty="0"/>
              </a:p>
              <a:p>
                <a:pPr marL="0" indent="0">
                  <a:lnSpc>
                    <a:spcPct val="120000"/>
                  </a:lnSpc>
                  <a:buNone/>
                </a:pPr>
                <a:endParaRPr lang="en-US" dirty="0"/>
              </a:p>
              <a:p>
                <a:pPr marL="0" indent="0">
                  <a:lnSpc>
                    <a:spcPct val="120000"/>
                  </a:lnSpc>
                  <a:buNone/>
                </a:pPr>
                <a:r>
                  <a:rPr lang="en-US" b="1" dirty="0"/>
                  <a:t>Optimality</a:t>
                </a:r>
                <a:r>
                  <a:rPr lang="en-US" dirty="0"/>
                  <a:t>: The </a:t>
                </a:r>
                <a:r>
                  <a:rPr lang="en-US" b="1" dirty="0">
                    <a:solidFill>
                      <a:srgbClr val="FF0000"/>
                    </a:solidFill>
                  </a:rPr>
                  <a:t>Bayes classifier is optimal for 0/1 loss.</a:t>
                </a:r>
                <a:r>
                  <a:rPr lang="en-US" dirty="0"/>
                  <a:t> It is the most consistent classifier possible with the lowest possible error called the </a:t>
                </a:r>
                <a:r>
                  <a:rPr lang="en-US" b="1" dirty="0">
                    <a:solidFill>
                      <a:srgbClr val="FF0000"/>
                    </a:solidFill>
                  </a:rPr>
                  <a:t>Bayes error rate</a:t>
                </a:r>
                <a:r>
                  <a:rPr lang="en-US" dirty="0"/>
                  <a:t>. No better classifier exists for 0/1 loss!</a:t>
                </a:r>
              </a:p>
              <a:p>
                <a:pPr marL="0" indent="0">
                  <a:lnSpc>
                    <a:spcPct val="120000"/>
                  </a:lnSpc>
                  <a:buNone/>
                </a:pPr>
                <a:endParaRPr lang="en-US" b="1" dirty="0"/>
              </a:p>
              <a:p>
                <a:pPr marL="0" indent="0">
                  <a:lnSpc>
                    <a:spcPct val="120000"/>
                  </a:lnSpc>
                  <a:buNone/>
                </a:pPr>
                <a:r>
                  <a:rPr lang="en-US" b="1" dirty="0"/>
                  <a:t>Issue</a:t>
                </a:r>
                <a:r>
                  <a:rPr lang="en-US" dirty="0"/>
                  <a:t>: The classifier requires to learn </a:t>
                </a:r>
                <a14:m>
                  <m:oMath xmlns:m="http://schemas.openxmlformats.org/officeDocument/2006/math">
                    <m:r>
                      <a:rPr lang="en-US" i="1" smtClean="0">
                        <a:latin typeface="Cambria Math" panose="02040503050406030204" pitchFamily="18" charset="0"/>
                      </a:rPr>
                      <m:t>𝑃</m:t>
                    </m:r>
                    <m:d>
                      <m:dPr>
                        <m:endChr m:val="|"/>
                        <m:ctrlPr>
                          <a:rPr lang="en-US" b="1" i="1" smtClean="0">
                            <a:latin typeface="Cambria Math" panose="02040503050406030204" pitchFamily="18" charset="0"/>
                          </a:rPr>
                        </m:ctrlPr>
                      </m:dPr>
                      <m:e>
                        <m:r>
                          <a:rPr lang="en-US" b="1" i="1" smtClean="0">
                            <a:latin typeface="Cambria Math" panose="02040503050406030204" pitchFamily="18" charset="0"/>
                          </a:rPr>
                          <m:t>𝒙</m:t>
                        </m:r>
                        <m:r>
                          <a:rPr lang="en-US" i="1">
                            <a:latin typeface="Cambria Math" panose="02040503050406030204" pitchFamily="18" charset="0"/>
                          </a:rPr>
                          <m:t> </m:t>
                        </m:r>
                      </m:e>
                    </m:d>
                    <m:r>
                      <a:rPr lang="en-US" i="1">
                        <a:latin typeface="Cambria Math" panose="02040503050406030204" pitchFamily="18" charset="0"/>
                      </a:rPr>
                      <m:t> </m:t>
                    </m:r>
                    <m:r>
                      <a:rPr lang="en-US" b="0" i="1" smtClean="0">
                        <a:latin typeface="Cambria Math" panose="02040503050406030204" pitchFamily="18" charset="0"/>
                      </a:rPr>
                      <m:t>𝑦</m:t>
                    </m:r>
                    <m:r>
                      <a:rPr lang="en-US" i="1">
                        <a:latin typeface="Cambria Math" panose="02040503050406030204" pitchFamily="18" charset="0"/>
                      </a:rPr>
                      <m:t>)</m:t>
                    </m:r>
                    <m:r>
                      <m:rPr>
                        <m:nor/>
                      </m:rPr>
                      <a:rPr lang="en-US" i="0" dirty="0"/>
                      <m:t> </m:t>
                    </m:r>
                    <m:r>
                      <a:rPr lang="en-US" i="1" dirty="0">
                        <a:latin typeface="Cambria Math" panose="02040503050406030204" pitchFamily="18" charset="0"/>
                      </a:rPr>
                      <m:t>𝑃</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𝑦</m:t>
                        </m:r>
                      </m:e>
                    </m:d>
                    <m:r>
                      <a:rPr lang="en-US" b="0" i="1" dirty="0" smtClean="0">
                        <a:latin typeface="Cambria Math" panose="02040503050406030204" pitchFamily="18" charset="0"/>
                      </a:rPr>
                      <m:t>=</m:t>
                    </m:r>
                    <m:r>
                      <a:rPr lang="en-US" b="0" i="1" dirty="0" smtClean="0">
                        <a:latin typeface="Cambria Math" panose="02040503050406030204" pitchFamily="18" charset="0"/>
                      </a:rPr>
                      <m:t>𝑃</m:t>
                    </m:r>
                    <m:r>
                      <a:rPr lang="en-US" b="0" i="1" dirty="0" smtClean="0">
                        <a:latin typeface="Cambria Math" panose="02040503050406030204" pitchFamily="18" charset="0"/>
                      </a:rPr>
                      <m:t>(</m:t>
                    </m:r>
                    <m:r>
                      <a:rPr lang="en-US" b="1" i="1" dirty="0" smtClean="0">
                        <a:latin typeface="Cambria Math" panose="02040503050406030204" pitchFamily="18" charset="0"/>
                      </a:rPr>
                      <m:t>𝒙</m:t>
                    </m:r>
                    <m:r>
                      <a:rPr lang="en-US" b="0" i="1" dirty="0" smtClean="0">
                        <a:latin typeface="Cambria Math" panose="02040503050406030204" pitchFamily="18" charset="0"/>
                      </a:rPr>
                      <m:t>,</m:t>
                    </m:r>
                    <m:r>
                      <a:rPr lang="en-US" b="0" i="1" dirty="0" smtClean="0">
                        <a:latin typeface="Cambria Math" panose="02040503050406030204" pitchFamily="18" charset="0"/>
                      </a:rPr>
                      <m:t>𝑦</m:t>
                    </m:r>
                    <m:r>
                      <a:rPr lang="en-US" b="0" i="1" dirty="0" smtClean="0">
                        <a:latin typeface="Cambria Math" panose="02040503050406030204" pitchFamily="18" charset="0"/>
                      </a:rPr>
                      <m:t>)</m:t>
                    </m:r>
                  </m:oMath>
                </a14:m>
                <a:r>
                  <a:rPr lang="en-US" dirty="0"/>
                  <a:t> from the examples.</a:t>
                </a:r>
              </a:p>
              <a:p>
                <a:pPr>
                  <a:lnSpc>
                    <a:spcPct val="120000"/>
                  </a:lnSpc>
                </a:pPr>
                <a:r>
                  <a:rPr lang="en-US" dirty="0"/>
                  <a:t>It </a:t>
                </a:r>
                <a:r>
                  <a:rPr lang="en-US" b="1" dirty="0">
                    <a:solidFill>
                      <a:srgbClr val="FF0000"/>
                    </a:solidFill>
                  </a:rPr>
                  <a:t>needs the complete joint probability </a:t>
                </a:r>
                <a:r>
                  <a:rPr lang="en-US" dirty="0"/>
                  <a:t>which requires in the general case a probability table with one entry for each possible feature combination in vector </a:t>
                </a:r>
                <a14:m>
                  <m:oMath xmlns:m="http://schemas.openxmlformats.org/officeDocument/2006/math">
                    <m:r>
                      <a:rPr lang="en-US" b="1" i="1" smtClean="0">
                        <a:latin typeface="Cambria Math" panose="02040503050406030204" pitchFamily="18" charset="0"/>
                      </a:rPr>
                      <m:t>𝒙</m:t>
                    </m:r>
                  </m:oMath>
                </a14:m>
                <a:r>
                  <a:rPr lang="en-US" i="1" dirty="0"/>
                  <a:t>. </a:t>
                </a:r>
              </a:p>
              <a:p>
                <a:pPr>
                  <a:lnSpc>
                    <a:spcPct val="120000"/>
                  </a:lnSpc>
                </a:pPr>
                <a:r>
                  <a:rPr lang="en-US" dirty="0"/>
                  <a:t>This is impractical (unless a simple Bayesian network exists). </a:t>
                </a:r>
                <a:br>
                  <a:rPr lang="en-US" dirty="0"/>
                </a:br>
                <a:r>
                  <a:rPr lang="en-US" dirty="0"/>
                  <a:t>Most classifiers try to approximate the Bayes classifier using a </a:t>
                </a:r>
                <a:r>
                  <a:rPr lang="en-US" b="1" dirty="0">
                    <a:solidFill>
                      <a:srgbClr val="FF0000"/>
                    </a:solidFill>
                  </a:rPr>
                  <a:t>simpler model </a:t>
                </a:r>
                <a:r>
                  <a:rPr lang="en-US" dirty="0"/>
                  <a:t>with fewer parameters.</a:t>
                </a:r>
                <a:endParaRPr lang="en-US" i="1" dirty="0"/>
              </a:p>
            </p:txBody>
          </p:sp>
        </mc:Choice>
        <mc:Fallback xmlns="">
          <p:sp>
            <p:nvSpPr>
              <p:cNvPr id="3" name="Content Placeholder 2">
                <a:extLst>
                  <a:ext uri="{FF2B5EF4-FFF2-40B4-BE49-F238E27FC236}">
                    <a16:creationId xmlns:a16="http://schemas.microsoft.com/office/drawing/2014/main" id="{0C4E7412-75D7-4C7D-A4D5-05DDF77126E3}"/>
                  </a:ext>
                </a:extLst>
              </p:cNvPr>
              <p:cNvSpPr>
                <a:spLocks noGrp="1" noRot="1" noChangeAspect="1" noMove="1" noResize="1" noEditPoints="1" noAdjustHandles="1" noChangeArrowheads="1" noChangeShapeType="1" noTextEdit="1"/>
              </p:cNvSpPr>
              <p:nvPr>
                <p:ph idx="1"/>
              </p:nvPr>
            </p:nvSpPr>
            <p:spPr>
              <a:xfrm>
                <a:off x="858625" y="1690688"/>
                <a:ext cx="10744200" cy="4968875"/>
              </a:xfrm>
              <a:blipFill>
                <a:blip r:embed="rId2"/>
                <a:stretch>
                  <a:fillRect l="-511" t="-613" r="-908"/>
                </a:stretch>
              </a:blipFill>
            </p:spPr>
            <p:txBody>
              <a:bodyPr/>
              <a:lstStyle/>
              <a:p>
                <a:r>
                  <a:rPr lang="en-US">
                    <a:noFill/>
                  </a:rPr>
                  <a:t> </a:t>
                </a:r>
              </a:p>
            </p:txBody>
          </p:sp>
        </mc:Fallback>
      </mc:AlternateContent>
    </p:spTree>
    <p:extLst>
      <p:ext uri="{BB962C8B-B14F-4D97-AF65-F5344CB8AC3E}">
        <p14:creationId xmlns:p14="http://schemas.microsoft.com/office/powerpoint/2010/main" val="4136607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92284-CB62-42D7-AF29-F961826CEA13}"/>
              </a:ext>
            </a:extLst>
          </p:cNvPr>
          <p:cNvSpPr>
            <a:spLocks noGrp="1"/>
          </p:cNvSpPr>
          <p:nvPr>
            <p:ph type="title"/>
          </p:nvPr>
        </p:nvSpPr>
        <p:spPr/>
        <p:txBody>
          <a:bodyPr/>
          <a:lstStyle/>
          <a:p>
            <a:r>
              <a:rPr lang="en-US" dirty="0"/>
              <a:t>Simplicity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54F98F-BF64-48BE-80C6-A0373656C0B8}"/>
                  </a:ext>
                </a:extLst>
              </p:cNvPr>
              <p:cNvSpPr>
                <a:spLocks noGrp="1"/>
              </p:cNvSpPr>
              <p:nvPr>
                <p:ph idx="1"/>
              </p:nvPr>
            </p:nvSpPr>
            <p:spPr>
              <a:xfrm>
                <a:off x="838200" y="1447800"/>
                <a:ext cx="10515600" cy="4876800"/>
              </a:xfrm>
            </p:spPr>
            <p:txBody>
              <a:bodyPr>
                <a:normAutofit fontScale="85000" lnSpcReduction="20000"/>
              </a:bodyPr>
              <a:lstStyle/>
              <a:p>
                <a:pPr marL="0" indent="0">
                  <a:buNone/>
                </a:pPr>
                <a:r>
                  <a:rPr lang="en-US" b="1" dirty="0"/>
                  <a:t>Ease of use</a:t>
                </a:r>
                <a:endParaRPr lang="en-US" dirty="0"/>
              </a:p>
              <a:p>
                <a:pPr lvl="1"/>
                <a:r>
                  <a:rPr lang="en-US" dirty="0"/>
                  <a:t>Simpler hypotheses have fewer model parameters to estimate and store. Also makes prediction faster.</a:t>
                </a:r>
              </a:p>
              <a:p>
                <a:endParaRPr lang="en-US" b="1" dirty="0"/>
              </a:p>
              <a:p>
                <a:pPr marL="0" indent="0">
                  <a:buNone/>
                </a:pPr>
                <a:r>
                  <a:rPr lang="en-US" b="1" dirty="0"/>
                  <a:t>Generalization</a:t>
                </a:r>
                <a:r>
                  <a:rPr lang="en-US" dirty="0"/>
                  <a:t>: How well does the hypothesis perform on new data?</a:t>
                </a:r>
              </a:p>
              <a:p>
                <a:pPr lvl="1"/>
                <a:r>
                  <a:rPr lang="en-US" dirty="0"/>
                  <a:t>We do not want the model to be too specific to the training examples (an issue called </a:t>
                </a:r>
                <a:r>
                  <a:rPr lang="en-US" b="1" dirty="0">
                    <a:solidFill>
                      <a:srgbClr val="FF0000"/>
                    </a:solidFill>
                  </a:rPr>
                  <a:t>overfitting</a:t>
                </a:r>
                <a:r>
                  <a:rPr lang="en-US" dirty="0"/>
                  <a:t>).</a:t>
                </a:r>
              </a:p>
              <a:p>
                <a:pPr lvl="1"/>
                <a:r>
                  <a:rPr lang="en-US" dirty="0"/>
                  <a:t>Simpler models typically generalize better to new examples.</a:t>
                </a:r>
              </a:p>
              <a:p>
                <a:pPr marL="0" indent="0">
                  <a:buNone/>
                </a:pPr>
                <a:endParaRPr lang="en-US" dirty="0"/>
              </a:p>
              <a:p>
                <a:pPr marL="0" indent="0">
                  <a:buNone/>
                </a:pPr>
                <a:r>
                  <a:rPr lang="en-US" b="1" dirty="0"/>
                  <a:t>How to achieve simplicity?</a:t>
                </a:r>
              </a:p>
              <a:p>
                <a:pPr marL="914400" lvl="1" indent="-457200">
                  <a:buFont typeface="+mj-lt"/>
                  <a:buAutoNum type="alphaLcParenR"/>
                </a:pPr>
                <a:r>
                  <a:rPr lang="en-US" b="1" dirty="0">
                    <a:solidFill>
                      <a:srgbClr val="FF0000"/>
                    </a:solidFill>
                  </a:rPr>
                  <a:t>Model bias: </a:t>
                </a:r>
                <a:r>
                  <a:rPr lang="en-US" dirty="0"/>
                  <a:t>Restrict </a:t>
                </a:r>
                <a14:m>
                  <m:oMath xmlns:m="http://schemas.openxmlformats.org/officeDocument/2006/math">
                    <m:r>
                      <a:rPr lang="en-US" i="1" dirty="0" smtClean="0">
                        <a:latin typeface="Cambria Math" panose="02040503050406030204" pitchFamily="18" charset="0"/>
                      </a:rPr>
                      <m:t>𝐻</m:t>
                    </m:r>
                  </m:oMath>
                </a14:m>
                <a:r>
                  <a:rPr lang="en-US" dirty="0"/>
                  <a:t> to simpler models (e.g., assumptions like independence, or only consider linear models). </a:t>
                </a:r>
              </a:p>
              <a:p>
                <a:pPr marL="914400" lvl="1" indent="-457200">
                  <a:buFont typeface="+mj-lt"/>
                  <a:buAutoNum type="alphaLcParenR"/>
                </a:pPr>
                <a:r>
                  <a:rPr lang="en-US" b="1" dirty="0">
                    <a:solidFill>
                      <a:srgbClr val="FF0000"/>
                    </a:solidFill>
                  </a:rPr>
                  <a:t>Feature selection: </a:t>
                </a:r>
                <a:r>
                  <a:rPr lang="en-US" dirty="0"/>
                  <a:t>use fewer variables from the feature vector </a:t>
                </a:r>
                <a14:m>
                  <m:oMath xmlns:m="http://schemas.openxmlformats.org/officeDocument/2006/math">
                    <m:r>
                      <a:rPr lang="en-US" b="1" i="1" dirty="0" smtClean="0">
                        <a:latin typeface="Cambria Math" panose="02040503050406030204" pitchFamily="18" charset="0"/>
                      </a:rPr>
                      <m:t>𝒙</m:t>
                    </m:r>
                  </m:oMath>
                </a14:m>
                <a:r>
                  <a:rPr lang="en-US" dirty="0"/>
                  <a:t>.</a:t>
                </a:r>
                <a:endParaRPr lang="en-US" b="1" dirty="0"/>
              </a:p>
              <a:p>
                <a:pPr marL="914400" lvl="1" indent="-457200">
                  <a:buFont typeface="+mj-lt"/>
                  <a:buAutoNum type="alphaLcParenR"/>
                </a:pPr>
                <a:r>
                  <a:rPr lang="en-US" b="1" dirty="0">
                    <a:solidFill>
                      <a:srgbClr val="FF0000"/>
                    </a:solidFill>
                  </a:rPr>
                  <a:t>Regularization:</a:t>
                </a:r>
                <a:r>
                  <a:rPr lang="en-US" dirty="0"/>
                  <a:t> directly penalize the model for its complexity (e.g., number of parameters)</a:t>
                </a:r>
                <a:br>
                  <a:rPr lang="en-US" dirty="0"/>
                </a:br>
                <a:br>
                  <a:rPr lang="en-US" dirty="0"/>
                </a:b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ℎ</m:t>
                        </m:r>
                      </m:e>
                      <m:sup>
                        <m:r>
                          <a:rPr lang="en-US" b="0" i="1" dirty="0" smtClean="0">
                            <a:latin typeface="Cambria Math" panose="02040503050406030204" pitchFamily="18" charset="0"/>
                          </a:rPr>
                          <m:t>∗</m:t>
                        </m:r>
                      </m:sup>
                    </m:sSup>
                    <m:r>
                      <a:rPr lang="en-US" b="0" i="1" dirty="0" smtClean="0">
                        <a:latin typeface="Cambria Math" panose="02040503050406030204" pitchFamily="18" charset="0"/>
                      </a:rPr>
                      <m:t>=</m:t>
                    </m:r>
                    <m:func>
                      <m:funcPr>
                        <m:ctrlPr>
                          <a:rPr lang="en-US" b="0" i="1" dirty="0" smtClean="0">
                            <a:latin typeface="Cambria Math" panose="02040503050406030204" pitchFamily="18" charset="0"/>
                          </a:rPr>
                        </m:ctrlPr>
                      </m:funcPr>
                      <m:fName>
                        <m:limLow>
                          <m:limLowPr>
                            <m:ctrlPr>
                              <a:rPr lang="en-US" b="0" i="0" dirty="0" smtClean="0">
                                <a:latin typeface="Cambria Math" panose="02040503050406030204" pitchFamily="18" charset="0"/>
                              </a:rPr>
                            </m:ctrlPr>
                          </m:limLowPr>
                          <m:e>
                            <m:r>
                              <m:rPr>
                                <m:sty m:val="p"/>
                              </m:rPr>
                              <a:rPr lang="en-US" b="0" i="0" dirty="0" smtClean="0">
                                <a:latin typeface="Cambria Math" panose="02040503050406030204" pitchFamily="18" charset="0"/>
                              </a:rPr>
                              <m:t>argmin</m:t>
                            </m:r>
                          </m:e>
                          <m:lim>
                            <m:r>
                              <a:rPr lang="en-US" b="0" i="1" dirty="0" smtClean="0">
                                <a:latin typeface="Cambria Math" panose="02040503050406030204" pitchFamily="18" charset="0"/>
                              </a:rPr>
                              <m:t>ℎ</m:t>
                            </m:r>
                            <m:r>
                              <a:rPr lang="en-US" b="0" i="1" dirty="0" smtClean="0">
                                <a:latin typeface="Cambria Math" panose="02040503050406030204" pitchFamily="18" charset="0"/>
                              </a:rPr>
                              <m:t>∈ </m:t>
                            </m:r>
                            <m:r>
                              <a:rPr lang="en-US" b="0" i="1" dirty="0" smtClean="0">
                                <a:latin typeface="Cambria Math" panose="02040503050406030204" pitchFamily="18" charset="0"/>
                              </a:rPr>
                              <m:t>𝐻</m:t>
                            </m:r>
                          </m:lim>
                        </m:limLow>
                        <m:r>
                          <a:rPr lang="en-US" b="0" i="1" dirty="0" smtClean="0">
                            <a:latin typeface="Cambria Math" panose="02040503050406030204" pitchFamily="18" charset="0"/>
                          </a:rPr>
                          <m:t> </m:t>
                        </m:r>
                      </m:fName>
                      <m:e>
                        <m:d>
                          <m:dPr>
                            <m:begChr m:val="["/>
                            <m:endChr m:val="]"/>
                            <m:ctrlPr>
                              <a:rPr lang="en-US" i="1">
                                <a:latin typeface="Cambria Math" panose="02040503050406030204" pitchFamily="18" charset="0"/>
                              </a:rPr>
                            </m:ctrlPr>
                          </m:dPr>
                          <m:e>
                            <m:r>
                              <a:rPr lang="en-US" i="1">
                                <a:latin typeface="Cambria Math" panose="02040503050406030204" pitchFamily="18" charset="0"/>
                              </a:rPr>
                              <m:t>𝐸𝑚𝑝𝐿𝑜𝑠</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𝐿</m:t>
                                </m:r>
                                <m:r>
                                  <a:rPr lang="en-US" i="1">
                                    <a:latin typeface="Cambria Math" panose="02040503050406030204" pitchFamily="18" charset="0"/>
                                  </a:rPr>
                                  <m:t>,</m:t>
                                </m:r>
                                <m:r>
                                  <a:rPr lang="en-US" i="1">
                                    <a:latin typeface="Cambria Math" panose="02040503050406030204" pitchFamily="18" charset="0"/>
                                  </a:rPr>
                                  <m:t>𝐸</m:t>
                                </m:r>
                              </m:sub>
                            </m:sSub>
                            <m:r>
                              <a:rPr lang="en-US" i="1">
                                <a:latin typeface="Cambria Math" panose="02040503050406030204" pitchFamily="18" charset="0"/>
                              </a:rPr>
                              <m:t>(</m:t>
                            </m:r>
                            <m:r>
                              <a:rPr lang="en-US" i="1">
                                <a:latin typeface="Cambria Math" panose="02040503050406030204" pitchFamily="18" charset="0"/>
                              </a:rPr>
                              <m:t>ℎ</m:t>
                            </m:r>
                            <m:r>
                              <a:rPr lang="en-US" i="1">
                                <a:latin typeface="Cambria Math" panose="02040503050406030204" pitchFamily="18" charset="0"/>
                              </a:rPr>
                              <m:t>)+</m:t>
                            </m:r>
                            <m:r>
                              <a:rPr lang="en-US" i="1">
                                <a:latin typeface="Cambria Math" panose="02040503050406030204" pitchFamily="18" charset="0"/>
                              </a:rPr>
                              <m:t>𝜆</m:t>
                            </m:r>
                            <m:r>
                              <a:rPr lang="en-US" i="1">
                                <a:latin typeface="Cambria Math" panose="02040503050406030204" pitchFamily="18" charset="0"/>
                              </a:rPr>
                              <m:t> </m:t>
                            </m:r>
                            <m:r>
                              <a:rPr lang="en-US" i="1">
                                <a:latin typeface="Cambria Math" panose="02040503050406030204" pitchFamily="18" charset="0"/>
                              </a:rPr>
                              <m:t>𝐶𝑜𝑚𝑝𝑙𝑒𝑥𝑖𝑡𝑦</m:t>
                            </m:r>
                            <m:r>
                              <a:rPr lang="en-US" i="1">
                                <a:latin typeface="Cambria Math" panose="02040503050406030204" pitchFamily="18" charset="0"/>
                              </a:rPr>
                              <m:t>(</m:t>
                            </m:r>
                            <m:r>
                              <a:rPr lang="en-US" i="1">
                                <a:latin typeface="Cambria Math" panose="02040503050406030204" pitchFamily="18" charset="0"/>
                              </a:rPr>
                              <m:t>ℎ</m:t>
                            </m:r>
                            <m:r>
                              <a:rPr lang="en-US" b="0" i="1" smtClean="0">
                                <a:latin typeface="Cambria Math" panose="02040503050406030204" pitchFamily="18" charset="0"/>
                              </a:rPr>
                              <m:t>)</m:t>
                            </m:r>
                          </m:e>
                        </m:d>
                      </m:e>
                    </m:func>
                  </m:oMath>
                </a14:m>
                <a:endParaRPr lang="en-US" dirty="0"/>
              </a:p>
            </p:txBody>
          </p:sp>
        </mc:Choice>
        <mc:Fallback xmlns="">
          <p:sp>
            <p:nvSpPr>
              <p:cNvPr id="3" name="Content Placeholder 2">
                <a:extLst>
                  <a:ext uri="{FF2B5EF4-FFF2-40B4-BE49-F238E27FC236}">
                    <a16:creationId xmlns:a16="http://schemas.microsoft.com/office/drawing/2014/main" id="{1254F98F-BF64-48BE-80C6-A0373656C0B8}"/>
                  </a:ext>
                </a:extLst>
              </p:cNvPr>
              <p:cNvSpPr>
                <a:spLocks noGrp="1" noRot="1" noChangeAspect="1" noMove="1" noResize="1" noEditPoints="1" noAdjustHandles="1" noChangeArrowheads="1" noChangeShapeType="1" noTextEdit="1"/>
              </p:cNvSpPr>
              <p:nvPr>
                <p:ph idx="1"/>
              </p:nvPr>
            </p:nvSpPr>
            <p:spPr>
              <a:xfrm>
                <a:off x="838200" y="1447800"/>
                <a:ext cx="10515600" cy="4876800"/>
              </a:xfrm>
              <a:blipFill>
                <a:blip r:embed="rId2"/>
                <a:stretch>
                  <a:fillRect l="-928" t="-2875"/>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12C0113F-FD2C-74FA-604A-8CD7A3322502}"/>
              </a:ext>
            </a:extLst>
          </p:cNvPr>
          <p:cNvGrpSpPr/>
          <p:nvPr/>
        </p:nvGrpSpPr>
        <p:grpSpPr>
          <a:xfrm>
            <a:off x="6553200" y="6055796"/>
            <a:ext cx="1768816" cy="537607"/>
            <a:chOff x="6705600" y="5955268"/>
            <a:chExt cx="1768816" cy="537607"/>
          </a:xfrm>
        </p:grpSpPr>
        <p:sp>
          <p:nvSpPr>
            <p:cNvPr id="4" name="Right Brace 3">
              <a:extLst>
                <a:ext uri="{FF2B5EF4-FFF2-40B4-BE49-F238E27FC236}">
                  <a16:creationId xmlns:a16="http://schemas.microsoft.com/office/drawing/2014/main" id="{8FEE3F7E-F368-4C1C-B955-0B273B4BAE77}"/>
                </a:ext>
                <a:ext uri="{C183D7F6-B498-43B3-948B-1728B52AA6E4}">
                  <adec:decorative xmlns:adec="http://schemas.microsoft.com/office/drawing/2017/decorative" val="1"/>
                </a:ext>
              </a:extLst>
            </p:cNvPr>
            <p:cNvSpPr/>
            <p:nvPr/>
          </p:nvSpPr>
          <p:spPr>
            <a:xfrm rot="5400000">
              <a:off x="7481541" y="5179327"/>
              <a:ext cx="216933" cy="176881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5601D348-C5FF-46FB-90E1-7CAD1DCB8668}"/>
                </a:ext>
              </a:extLst>
            </p:cNvPr>
            <p:cNvSpPr txBox="1"/>
            <p:nvPr/>
          </p:nvSpPr>
          <p:spPr>
            <a:xfrm>
              <a:off x="6949960" y="6154321"/>
              <a:ext cx="1280094" cy="338554"/>
            </a:xfrm>
            <a:prstGeom prst="rect">
              <a:avLst/>
            </a:prstGeom>
            <a:noFill/>
          </p:spPr>
          <p:txBody>
            <a:bodyPr wrap="none" rtlCol="0">
              <a:spAutoFit/>
            </a:bodyPr>
            <a:lstStyle/>
            <a:p>
              <a:r>
                <a:rPr lang="en-US" sz="1600" b="1" dirty="0">
                  <a:solidFill>
                    <a:schemeClr val="accent1"/>
                  </a:solidFill>
                </a:rPr>
                <a:t>Penalty term</a:t>
              </a:r>
            </a:p>
          </p:txBody>
        </p:sp>
      </p:grpSp>
    </p:spTree>
    <p:extLst>
      <p:ext uri="{BB962C8B-B14F-4D97-AF65-F5344CB8AC3E}">
        <p14:creationId xmlns:p14="http://schemas.microsoft.com/office/powerpoint/2010/main" val="2779129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2F815-730C-4EEE-B25F-C6D782A92ABB}"/>
              </a:ext>
            </a:extLst>
          </p:cNvPr>
          <p:cNvSpPr>
            <a:spLocks noGrp="1"/>
          </p:cNvSpPr>
          <p:nvPr>
            <p:ph type="title"/>
          </p:nvPr>
        </p:nvSpPr>
        <p:spPr/>
        <p:txBody>
          <a:bodyPr/>
          <a:lstStyle/>
          <a:p>
            <a:r>
              <a:rPr lang="en-US" dirty="0"/>
              <a:t>Model Selection: Bias vs. Variance</a:t>
            </a:r>
          </a:p>
        </p:txBody>
      </p:sp>
      <p:pic>
        <p:nvPicPr>
          <p:cNvPr id="4" name="Content Placeholder 3" descr="A figure with semveral models fitted to two sets of data points sampled from the same generating process. The models gor from simple with high bias and loe variance to more consistent with low bias and high variance.">
            <a:extLst>
              <a:ext uri="{FF2B5EF4-FFF2-40B4-BE49-F238E27FC236}">
                <a16:creationId xmlns:a16="http://schemas.microsoft.com/office/drawing/2014/main" id="{440669D3-C76F-4860-919B-1C91EB0687A7}"/>
              </a:ext>
            </a:extLst>
          </p:cNvPr>
          <p:cNvPicPr>
            <a:picLocks noGrp="1" noChangeAspect="1"/>
          </p:cNvPicPr>
          <p:nvPr>
            <p:ph idx="1"/>
          </p:nvPr>
        </p:nvPicPr>
        <p:blipFill rotWithShape="1">
          <a:blip r:embed="rId2"/>
          <a:srcRect r="1786" b="21972"/>
          <a:stretch/>
        </p:blipFill>
        <p:spPr>
          <a:xfrm>
            <a:off x="625643" y="1695967"/>
            <a:ext cx="8382000" cy="3790433"/>
          </a:xfrm>
          <a:prstGeom prst="rect">
            <a:avLst/>
          </a:prstGeom>
        </p:spPr>
      </p:pic>
      <p:sp>
        <p:nvSpPr>
          <p:cNvPr id="13" name="Arrow: Right 12">
            <a:extLst>
              <a:ext uri="{FF2B5EF4-FFF2-40B4-BE49-F238E27FC236}">
                <a16:creationId xmlns:a16="http://schemas.microsoft.com/office/drawing/2014/main" id="{48F71785-A232-4094-8F22-F6A37EA274B4}"/>
              </a:ext>
              <a:ext uri="{C183D7F6-B498-43B3-948B-1728B52AA6E4}">
                <adec:decorative xmlns:adec="http://schemas.microsoft.com/office/drawing/2017/decorative" val="1"/>
              </a:ext>
            </a:extLst>
          </p:cNvPr>
          <p:cNvSpPr/>
          <p:nvPr/>
        </p:nvSpPr>
        <p:spPr>
          <a:xfrm>
            <a:off x="990600" y="5867400"/>
            <a:ext cx="8381999" cy="762000"/>
          </a:xfrm>
          <a:prstGeom prst="right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dirty="0"/>
              <a:t>Low    </a:t>
            </a:r>
            <a:r>
              <a:rPr lang="en-US" b="1" dirty="0"/>
              <a:t>Variance</a:t>
            </a:r>
            <a:r>
              <a:rPr lang="en-US" dirty="0"/>
              <a:t>: difference in the model due to slightly different data.   high</a:t>
            </a:r>
          </a:p>
        </p:txBody>
      </p:sp>
      <p:sp>
        <p:nvSpPr>
          <p:cNvPr id="14" name="Arrow: Left 13">
            <a:extLst>
              <a:ext uri="{FF2B5EF4-FFF2-40B4-BE49-F238E27FC236}">
                <a16:creationId xmlns:a16="http://schemas.microsoft.com/office/drawing/2014/main" id="{27137B17-72F3-4A79-AFD5-FED3B56484F5}"/>
              </a:ext>
              <a:ext uri="{C183D7F6-B498-43B3-948B-1728B52AA6E4}">
                <adec:decorative xmlns:adec="http://schemas.microsoft.com/office/drawing/2017/decorative" val="1"/>
              </a:ext>
            </a:extLst>
          </p:cNvPr>
          <p:cNvSpPr/>
          <p:nvPr/>
        </p:nvSpPr>
        <p:spPr>
          <a:xfrm>
            <a:off x="320844" y="5257800"/>
            <a:ext cx="8686799" cy="762000"/>
          </a:xfrm>
          <a:prstGeom prst="lef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dirty="0"/>
              <a:t>High                 </a:t>
            </a:r>
            <a:r>
              <a:rPr lang="en-US" b="1" dirty="0"/>
              <a:t>Bias</a:t>
            </a:r>
            <a:r>
              <a:rPr lang="en-US" dirty="0"/>
              <a:t>: restrictions by the model class                     Low</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52EF071-26BC-4AA4-88BA-1079C43A0085}"/>
                  </a:ext>
                  <a:ext uri="{C183D7F6-B498-43B3-948B-1728B52AA6E4}">
                    <adec:decorative xmlns:adec="http://schemas.microsoft.com/office/drawing/2017/decorative" val="1"/>
                  </a:ext>
                </a:extLst>
              </p:cNvPr>
              <p:cNvSpPr txBox="1"/>
              <p:nvPr/>
            </p:nvSpPr>
            <p:spPr>
              <a:xfrm>
                <a:off x="9688284" y="2897236"/>
                <a:ext cx="2046515" cy="2031325"/>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r>
                  <a:rPr lang="en-US" dirty="0"/>
                  <a:t>Points: Two samples from the same generating function </a:t>
                </a:r>
                <a14:m>
                  <m:oMath xmlns:m="http://schemas.openxmlformats.org/officeDocument/2006/math">
                    <m:r>
                      <a:rPr lang="en-US" i="1" dirty="0" smtClean="0">
                        <a:latin typeface="Cambria Math" panose="02040503050406030204" pitchFamily="18" charset="0"/>
                      </a:rPr>
                      <m:t>𝑓</m:t>
                    </m:r>
                  </m:oMath>
                </a14:m>
                <a:r>
                  <a:rPr lang="en-US" dirty="0"/>
                  <a:t>.</a:t>
                </a:r>
                <a:br>
                  <a:rPr lang="en-US" dirty="0"/>
                </a:br>
                <a:endParaRPr lang="en-US" dirty="0"/>
              </a:p>
              <a:p>
                <a:r>
                  <a:rPr lang="en-US" dirty="0"/>
                  <a:t>Lines: the learned model function </a:t>
                </a:r>
                <a14:m>
                  <m:oMath xmlns:m="http://schemas.openxmlformats.org/officeDocument/2006/math">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ℎ</m:t>
                        </m:r>
                      </m:e>
                      <m:sup>
                        <m:r>
                          <a:rPr lang="en-US" b="0" i="1" dirty="0" smtClean="0">
                            <a:latin typeface="Cambria Math" panose="02040503050406030204" pitchFamily="18" charset="0"/>
                          </a:rPr>
                          <m:t>∗</m:t>
                        </m:r>
                      </m:sup>
                    </m:sSup>
                  </m:oMath>
                </a14:m>
                <a:r>
                  <a:rPr lang="en-US" dirty="0"/>
                  <a:t>.</a:t>
                </a:r>
              </a:p>
            </p:txBody>
          </p:sp>
        </mc:Choice>
        <mc:Fallback xmlns="">
          <p:sp>
            <p:nvSpPr>
              <p:cNvPr id="15" name="TextBox 14">
                <a:extLst>
                  <a:ext uri="{FF2B5EF4-FFF2-40B4-BE49-F238E27FC236}">
                    <a16:creationId xmlns:a16="http://schemas.microsoft.com/office/drawing/2014/main" id="{252EF071-26BC-4AA4-88BA-1079C43A0085}"/>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9688284" y="2897236"/>
                <a:ext cx="2046515" cy="2031325"/>
              </a:xfrm>
              <a:prstGeom prst="rect">
                <a:avLst/>
              </a:prstGeom>
              <a:blipFill>
                <a:blip r:embed="rId3"/>
                <a:stretch>
                  <a:fillRect l="-2065" t="-1190" b="-3274"/>
                </a:stretch>
              </a:blipFill>
            </p:spPr>
            <p:txBody>
              <a:bodyPr/>
              <a:lstStyle/>
              <a:p>
                <a:r>
                  <a:rPr lang="en-US">
                    <a:noFill/>
                  </a:rPr>
                  <a:t> </a:t>
                </a:r>
              </a:p>
            </p:txBody>
          </p:sp>
        </mc:Fallback>
      </mc:AlternateContent>
      <p:cxnSp>
        <p:nvCxnSpPr>
          <p:cNvPr id="17" name="Straight Arrow Connector 16">
            <a:extLst>
              <a:ext uri="{FF2B5EF4-FFF2-40B4-BE49-F238E27FC236}">
                <a16:creationId xmlns:a16="http://schemas.microsoft.com/office/drawing/2014/main" id="{EE30E26D-136D-4B2C-A7FC-940D927BB765}"/>
              </a:ext>
              <a:ext uri="{C183D7F6-B498-43B3-948B-1728B52AA6E4}">
                <adec:decorative xmlns:adec="http://schemas.microsoft.com/office/drawing/2017/decorative" val="1"/>
              </a:ext>
            </a:extLst>
          </p:cNvPr>
          <p:cNvCxnSpPr/>
          <p:nvPr/>
        </p:nvCxnSpPr>
        <p:spPr>
          <a:xfrm flipH="1" flipV="1">
            <a:off x="8763000" y="3124200"/>
            <a:ext cx="762000" cy="466983"/>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18" name="Straight Arrow Connector 17">
            <a:extLst>
              <a:ext uri="{FF2B5EF4-FFF2-40B4-BE49-F238E27FC236}">
                <a16:creationId xmlns:a16="http://schemas.microsoft.com/office/drawing/2014/main" id="{0A877BD8-590A-4BD1-87B0-76CC1440E03B}"/>
              </a:ext>
              <a:ext uri="{C183D7F6-B498-43B3-948B-1728B52AA6E4}">
                <adec:decorative xmlns:adec="http://schemas.microsoft.com/office/drawing/2017/decorative" val="1"/>
              </a:ext>
            </a:extLst>
          </p:cNvPr>
          <p:cNvCxnSpPr>
            <a:cxnSpLocks/>
          </p:cNvCxnSpPr>
          <p:nvPr/>
        </p:nvCxnSpPr>
        <p:spPr>
          <a:xfrm flipH="1">
            <a:off x="8885322" y="3962400"/>
            <a:ext cx="639678" cy="454162"/>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6" name="Arrow: Right 5">
            <a:extLst>
              <a:ext uri="{FF2B5EF4-FFF2-40B4-BE49-F238E27FC236}">
                <a16:creationId xmlns:a16="http://schemas.microsoft.com/office/drawing/2014/main" id="{2EA726A7-CAEF-4BA5-9F79-EDE918FF2949}"/>
              </a:ext>
              <a:ext uri="{C183D7F6-B498-43B3-948B-1728B52AA6E4}">
                <adec:decorative xmlns:adec="http://schemas.microsoft.com/office/drawing/2017/decorative" val="1"/>
              </a:ext>
            </a:extLst>
          </p:cNvPr>
          <p:cNvSpPr/>
          <p:nvPr/>
        </p:nvSpPr>
        <p:spPr>
          <a:xfrm>
            <a:off x="5029200" y="1314967"/>
            <a:ext cx="3124200" cy="513833"/>
          </a:xfrm>
          <a:prstGeom prst="rightArrow">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dirty="0"/>
              <a:t>More consistent</a:t>
            </a:r>
          </a:p>
        </p:txBody>
      </p:sp>
      <p:sp>
        <p:nvSpPr>
          <p:cNvPr id="7" name="Arrow: Right 6">
            <a:extLst>
              <a:ext uri="{FF2B5EF4-FFF2-40B4-BE49-F238E27FC236}">
                <a16:creationId xmlns:a16="http://schemas.microsoft.com/office/drawing/2014/main" id="{2E70ADEB-6869-4A05-B975-69B8828E9EEF}"/>
              </a:ext>
              <a:ext uri="{C183D7F6-B498-43B3-948B-1728B52AA6E4}">
                <adec:decorative xmlns:adec="http://schemas.microsoft.com/office/drawing/2017/decorative" val="1"/>
              </a:ext>
            </a:extLst>
          </p:cNvPr>
          <p:cNvSpPr/>
          <p:nvPr/>
        </p:nvSpPr>
        <p:spPr>
          <a:xfrm flipH="1">
            <a:off x="1796714" y="1314967"/>
            <a:ext cx="3080086" cy="513833"/>
          </a:xfrm>
          <a:prstGeom prst="rightArrow">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dirty="0"/>
              <a:t>Simpler</a:t>
            </a:r>
          </a:p>
        </p:txBody>
      </p:sp>
      <p:cxnSp>
        <p:nvCxnSpPr>
          <p:cNvPr id="5" name="Straight Arrow Connector 4">
            <a:extLst>
              <a:ext uri="{FF2B5EF4-FFF2-40B4-BE49-F238E27FC236}">
                <a16:creationId xmlns:a16="http://schemas.microsoft.com/office/drawing/2014/main" id="{3838B87B-FD8F-4D40-9442-C6D2BF9E9732}"/>
              </a:ext>
              <a:ext uri="{C183D7F6-B498-43B3-948B-1728B52AA6E4}">
                <adec:decorative xmlns:adec="http://schemas.microsoft.com/office/drawing/2017/decorative" val="1"/>
              </a:ext>
            </a:extLst>
          </p:cNvPr>
          <p:cNvCxnSpPr>
            <a:cxnSpLocks/>
          </p:cNvCxnSpPr>
          <p:nvPr/>
        </p:nvCxnSpPr>
        <p:spPr>
          <a:xfrm flipH="1">
            <a:off x="8915400" y="762000"/>
            <a:ext cx="1371600" cy="10105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DDB9680-B52C-4396-9715-604840BFAA82}"/>
              </a:ext>
              <a:ext uri="{C183D7F6-B498-43B3-948B-1728B52AA6E4}">
                <adec:decorative xmlns:adec="http://schemas.microsoft.com/office/drawing/2017/decorative" val="1"/>
              </a:ext>
            </a:extLst>
          </p:cNvPr>
          <p:cNvSpPr txBox="1"/>
          <p:nvPr/>
        </p:nvSpPr>
        <p:spPr>
          <a:xfrm>
            <a:off x="10439400" y="457200"/>
            <a:ext cx="121920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dirty="0"/>
              <a:t>Overfitting</a:t>
            </a:r>
          </a:p>
        </p:txBody>
      </p:sp>
      <p:sp>
        <p:nvSpPr>
          <p:cNvPr id="3" name="Right Brace 2">
            <a:extLst>
              <a:ext uri="{FF2B5EF4-FFF2-40B4-BE49-F238E27FC236}">
                <a16:creationId xmlns:a16="http://schemas.microsoft.com/office/drawing/2014/main" id="{32500030-7835-4CC6-A0B9-86E7FD32D4AB}"/>
              </a:ext>
              <a:ext uri="{C183D7F6-B498-43B3-948B-1728B52AA6E4}">
                <adec:decorative xmlns:adec="http://schemas.microsoft.com/office/drawing/2017/decorative" val="1"/>
              </a:ext>
            </a:extLst>
          </p:cNvPr>
          <p:cNvSpPr/>
          <p:nvPr/>
        </p:nvSpPr>
        <p:spPr>
          <a:xfrm>
            <a:off x="9475730" y="5257800"/>
            <a:ext cx="212555" cy="13716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a:extLst>
              <a:ext uri="{FF2B5EF4-FFF2-40B4-BE49-F238E27FC236}">
                <a16:creationId xmlns:a16="http://schemas.microsoft.com/office/drawing/2014/main" id="{3CD755E4-BCB2-4D99-9A3B-B42494B33ECD}"/>
              </a:ext>
              <a:ext uri="{C183D7F6-B498-43B3-948B-1728B52AA6E4}">
                <adec:decorative xmlns:adec="http://schemas.microsoft.com/office/drawing/2017/decorative" val="1"/>
              </a:ext>
            </a:extLst>
          </p:cNvPr>
          <p:cNvSpPr txBox="1"/>
          <p:nvPr/>
        </p:nvSpPr>
        <p:spPr>
          <a:xfrm>
            <a:off x="9842008" y="5403028"/>
            <a:ext cx="1739066" cy="1200329"/>
          </a:xfrm>
          <a:prstGeom prst="rect">
            <a:avLst/>
          </a:prstGeom>
          <a:noFill/>
        </p:spPr>
        <p:txBody>
          <a:bodyPr wrap="none" rtlCol="0">
            <a:spAutoFit/>
          </a:bodyPr>
          <a:lstStyle/>
          <a:p>
            <a:r>
              <a:rPr lang="en-US" dirty="0"/>
              <a:t>This is a tradeoff</a:t>
            </a:r>
            <a:br>
              <a:rPr lang="en-US" dirty="0"/>
            </a:br>
            <a:r>
              <a:rPr lang="en-US" dirty="0"/>
              <a:t>The right choice </a:t>
            </a:r>
            <a:br>
              <a:rPr lang="en-US" dirty="0"/>
            </a:br>
            <a:r>
              <a:rPr lang="en-US" dirty="0"/>
              <a:t>depends on the </a:t>
            </a:r>
            <a:br>
              <a:rPr lang="en-US" dirty="0"/>
            </a:br>
            <a:r>
              <a:rPr lang="en-US" dirty="0"/>
              <a:t>application.</a:t>
            </a:r>
          </a:p>
        </p:txBody>
      </p:sp>
      <p:sp>
        <p:nvSpPr>
          <p:cNvPr id="10" name="Rectangle 9">
            <a:extLst>
              <a:ext uri="{FF2B5EF4-FFF2-40B4-BE49-F238E27FC236}">
                <a16:creationId xmlns:a16="http://schemas.microsoft.com/office/drawing/2014/main" id="{951F0CE0-2BFD-3D6B-D38D-3FBE798CD0B5}"/>
              </a:ext>
              <a:ext uri="{C183D7F6-B498-43B3-948B-1728B52AA6E4}">
                <adec:decorative xmlns:adec="http://schemas.microsoft.com/office/drawing/2017/decorative" val="1"/>
              </a:ext>
            </a:extLst>
          </p:cNvPr>
          <p:cNvSpPr/>
          <p:nvPr/>
        </p:nvSpPr>
        <p:spPr>
          <a:xfrm>
            <a:off x="4876800" y="1828800"/>
            <a:ext cx="4130843" cy="3657600"/>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90183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6" grpId="0" animBg="1"/>
      <p:bldP spid="7" grpId="0" animBg="1"/>
      <p:bldP spid="8" grpId="0" animBg="1"/>
      <p:bldP spid="3" grpId="0" animBg="1"/>
      <p:bldP spid="9" grpId="0"/>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134">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Free Icon | Data management interface symbol with gears and binary code  numbers">
            <a:extLst>
              <a:ext uri="{FF2B5EF4-FFF2-40B4-BE49-F238E27FC236}">
                <a16:creationId xmlns:a16="http://schemas.microsoft.com/office/drawing/2014/main" id="{134C3786-8518-4A6C-A377-1E9FAD1D0AF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0486" r="9092" b="7594"/>
          <a:stretch/>
        </p:blipFill>
        <p:spPr bwMode="auto">
          <a:xfrm>
            <a:off x="3523488" y="10"/>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137" name="Rectangle 136">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AD07CB2-7CF0-4403-8DE4-B08CDAFC3C22}"/>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dirty="0"/>
              <a:t>Training Data</a:t>
            </a:r>
          </a:p>
        </p:txBody>
      </p:sp>
      <p:sp>
        <p:nvSpPr>
          <p:cNvPr id="3" name="Text Placeholder 2">
            <a:extLst>
              <a:ext uri="{FF2B5EF4-FFF2-40B4-BE49-F238E27FC236}">
                <a16:creationId xmlns:a16="http://schemas.microsoft.com/office/drawing/2014/main" id="{3FC5F4E9-074B-4B26-960D-6EDAD144F356}"/>
              </a:ext>
            </a:extLst>
          </p:cNvPr>
          <p:cNvSpPr>
            <a:spLocks noGrp="1"/>
          </p:cNvSpPr>
          <p:nvPr>
            <p:ph type="body" idx="1"/>
          </p:nvPr>
        </p:nvSpPr>
        <p:spPr>
          <a:xfrm>
            <a:off x="477980" y="4872922"/>
            <a:ext cx="4023359" cy="1208141"/>
          </a:xfrm>
        </p:spPr>
        <p:txBody>
          <a:bodyPr vert="horz" lIns="91440" tIns="45720" rIns="91440" bIns="45720" rtlCol="0">
            <a:normAutofit/>
          </a:bodyPr>
          <a:lstStyle/>
          <a:p>
            <a:endParaRPr lang="en-US" sz="2000">
              <a:solidFill>
                <a:schemeClr val="tx1"/>
              </a:solidFill>
            </a:endParaRPr>
          </a:p>
        </p:txBody>
      </p:sp>
      <p:sp>
        <p:nvSpPr>
          <p:cNvPr id="139" name="Rectangle 138">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1" name="Rectangle 140">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094436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ECC4B4-B349-0940-ED3F-4F1162E4E4B8}"/>
              </a:ext>
            </a:extLst>
          </p:cNvPr>
          <p:cNvSpPr>
            <a:spLocks noGrp="1"/>
          </p:cNvSpPr>
          <p:nvPr>
            <p:ph type="title"/>
          </p:nvPr>
        </p:nvSpPr>
        <p:spPr>
          <a:xfrm>
            <a:off x="5297762" y="329184"/>
            <a:ext cx="6251110" cy="1783080"/>
          </a:xfrm>
        </p:spPr>
        <p:txBody>
          <a:bodyPr anchor="b">
            <a:normAutofit/>
          </a:bodyPr>
          <a:lstStyle/>
          <a:p>
            <a:r>
              <a:rPr lang="en-US" sz="5400" dirty="0"/>
              <a:t>Training Data in AI</a:t>
            </a:r>
          </a:p>
        </p:txBody>
      </p:sp>
      <p:pic>
        <p:nvPicPr>
          <p:cNvPr id="5" name="Picture 4">
            <a:extLst>
              <a:ext uri="{FF2B5EF4-FFF2-40B4-BE49-F238E27FC236}">
                <a16:creationId xmlns:a16="http://schemas.microsoft.com/office/drawing/2014/main" id="{ABAF83C4-D9A0-8275-81E7-14DF099D6D1E}"/>
              </a:ext>
              <a:ext uri="{C183D7F6-B498-43B3-948B-1728B52AA6E4}">
                <adec:decorative xmlns:adec="http://schemas.microsoft.com/office/drawing/2017/decorative" val="1"/>
              </a:ext>
            </a:extLst>
          </p:cNvPr>
          <p:cNvPicPr>
            <a:picLocks noChangeAspect="1"/>
          </p:cNvPicPr>
          <p:nvPr/>
        </p:nvPicPr>
        <p:blipFill>
          <a:blip r:embed="rId2"/>
          <a:srcRect l="14335" r="47465"/>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1627FF9-F1F5-F20E-2166-F2493FEEC0D0}"/>
              </a:ext>
            </a:extLst>
          </p:cNvPr>
          <p:cNvSpPr>
            <a:spLocks noGrp="1"/>
          </p:cNvSpPr>
          <p:nvPr>
            <p:ph idx="1"/>
          </p:nvPr>
        </p:nvSpPr>
        <p:spPr>
          <a:xfrm>
            <a:off x="5297762" y="2706624"/>
            <a:ext cx="6251110" cy="3483864"/>
          </a:xfrm>
        </p:spPr>
        <p:txBody>
          <a:bodyPr>
            <a:normAutofit lnSpcReduction="10000"/>
          </a:bodyPr>
          <a:lstStyle/>
          <a:p>
            <a:r>
              <a:rPr lang="en-US" sz="2200" dirty="0"/>
              <a:t>Training Data in AI can come from many sources</a:t>
            </a:r>
          </a:p>
          <a:p>
            <a:endParaRPr lang="en-US" sz="2200" dirty="0"/>
          </a:p>
          <a:p>
            <a:pPr lvl="1"/>
            <a:r>
              <a:rPr lang="en-US" sz="2200" b="1" dirty="0"/>
              <a:t>Existing Data</a:t>
            </a:r>
            <a:r>
              <a:rPr lang="en-US" sz="2200" dirty="0"/>
              <a:t>: Download documents from the internet to train Large Language Models.</a:t>
            </a:r>
            <a:endParaRPr lang="en-US" sz="2200" b="1" dirty="0"/>
          </a:p>
          <a:p>
            <a:pPr lvl="1"/>
            <a:r>
              <a:rPr lang="en-US" sz="2200" b="1" dirty="0"/>
              <a:t>Observation</a:t>
            </a:r>
            <a:r>
              <a:rPr lang="en-US" sz="2200" dirty="0"/>
              <a:t>: Record video of a task being performed (e.g., for self-driving cars).</a:t>
            </a:r>
          </a:p>
          <a:p>
            <a:pPr lvl="1"/>
            <a:r>
              <a:rPr lang="en-US" sz="2200" b="1" dirty="0"/>
              <a:t>Simulation</a:t>
            </a:r>
            <a:r>
              <a:rPr lang="en-US" sz="2200" dirty="0"/>
              <a:t>: E.g., simulated games using a playout strategy.</a:t>
            </a:r>
          </a:p>
          <a:p>
            <a:pPr lvl="1"/>
            <a:r>
              <a:rPr lang="en-US" sz="2200" b="1" dirty="0"/>
              <a:t>Expert feedback </a:t>
            </a:r>
            <a:r>
              <a:rPr lang="en-US" sz="2200" dirty="0"/>
              <a:t>on how well a task was performed.</a:t>
            </a:r>
          </a:p>
        </p:txBody>
      </p:sp>
    </p:spTree>
    <p:extLst>
      <p:ext uri="{BB962C8B-B14F-4D97-AF65-F5344CB8AC3E}">
        <p14:creationId xmlns:p14="http://schemas.microsoft.com/office/powerpoint/2010/main" val="971790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2A878-0C30-4A91-992D-3E63BFE94134}"/>
              </a:ext>
            </a:extLst>
          </p:cNvPr>
          <p:cNvSpPr>
            <a:spLocks noGrp="1"/>
          </p:cNvSpPr>
          <p:nvPr>
            <p:ph type="title"/>
          </p:nvPr>
        </p:nvSpPr>
        <p:spPr>
          <a:xfrm>
            <a:off x="838200" y="212725"/>
            <a:ext cx="10515600" cy="1325563"/>
          </a:xfrm>
        </p:spPr>
        <p:txBody>
          <a:bodyPr/>
          <a:lstStyle/>
          <a:p>
            <a:r>
              <a:rPr lang="en-US" dirty="0"/>
              <a:t>The Dataset</a:t>
            </a:r>
          </a:p>
        </p:txBody>
      </p:sp>
      <p:sp>
        <p:nvSpPr>
          <p:cNvPr id="3" name="Content Placeholder 2">
            <a:extLst>
              <a:ext uri="{FF2B5EF4-FFF2-40B4-BE49-F238E27FC236}">
                <a16:creationId xmlns:a16="http://schemas.microsoft.com/office/drawing/2014/main" id="{8C3FFB7F-12BF-46A8-8177-DDADA13F4C88}"/>
              </a:ext>
            </a:extLst>
          </p:cNvPr>
          <p:cNvSpPr>
            <a:spLocks noGrp="1"/>
          </p:cNvSpPr>
          <p:nvPr>
            <p:ph idx="1"/>
          </p:nvPr>
        </p:nvSpPr>
        <p:spPr>
          <a:xfrm>
            <a:off x="990600" y="6019800"/>
            <a:ext cx="10515600" cy="614771"/>
          </a:xfrm>
        </p:spPr>
        <p:txBody>
          <a:bodyPr>
            <a:normAutofit fontScale="85000" lnSpcReduction="10000"/>
          </a:bodyPr>
          <a:lstStyle/>
          <a:p>
            <a:pPr marL="0" indent="0">
              <a:buNone/>
            </a:pPr>
            <a:r>
              <a:rPr lang="en-US" dirty="0"/>
              <a:t>Task: Find a hypothesis (called “model”) to predict the class given the features.</a:t>
            </a:r>
          </a:p>
        </p:txBody>
      </p:sp>
      <p:grpSp>
        <p:nvGrpSpPr>
          <p:cNvPr id="5" name="Group 4" descr="Data sets are tables with examples as rows and features as columns. One colum contains the class label.">
            <a:extLst>
              <a:ext uri="{FF2B5EF4-FFF2-40B4-BE49-F238E27FC236}">
                <a16:creationId xmlns:a16="http://schemas.microsoft.com/office/drawing/2014/main" id="{ED419B29-0F27-89BE-DAF3-568E7E306965}"/>
              </a:ext>
            </a:extLst>
          </p:cNvPr>
          <p:cNvGrpSpPr/>
          <p:nvPr/>
        </p:nvGrpSpPr>
        <p:grpSpPr>
          <a:xfrm>
            <a:off x="918108" y="400398"/>
            <a:ext cx="10435692" cy="5730963"/>
            <a:chOff x="918108" y="400398"/>
            <a:chExt cx="10435692" cy="5730963"/>
          </a:xfrm>
        </p:grpSpPr>
        <p:pic>
          <p:nvPicPr>
            <p:cNvPr id="4" name="Picture 3" descr="Data sets are tables with examples as rows and features describing the examples as columns">
              <a:extLst>
                <a:ext uri="{FF2B5EF4-FFF2-40B4-BE49-F238E27FC236}">
                  <a16:creationId xmlns:a16="http://schemas.microsoft.com/office/drawing/2014/main" id="{F63B35E1-0C03-453F-939A-D44091257FBD}"/>
                </a:ext>
              </a:extLst>
            </p:cNvPr>
            <p:cNvPicPr>
              <a:picLocks noChangeAspect="1"/>
            </p:cNvPicPr>
            <p:nvPr/>
          </p:nvPicPr>
          <p:blipFill>
            <a:blip r:embed="rId2"/>
            <a:stretch>
              <a:fillRect/>
            </a:stretch>
          </p:blipFill>
          <p:spPr>
            <a:xfrm>
              <a:off x="3429000" y="1295400"/>
              <a:ext cx="7819492" cy="3838659"/>
            </a:xfrm>
            <a:prstGeom prst="rect">
              <a:avLst/>
            </a:prstGeom>
          </p:spPr>
        </p:pic>
        <p:cxnSp>
          <p:nvCxnSpPr>
            <p:cNvPr id="6" name="Straight Arrow Connector 5">
              <a:extLst>
                <a:ext uri="{FF2B5EF4-FFF2-40B4-BE49-F238E27FC236}">
                  <a16:creationId xmlns:a16="http://schemas.microsoft.com/office/drawing/2014/main" id="{65C3DF64-1305-4C5C-AF35-4F6B961BAE79}"/>
                </a:ext>
              </a:extLst>
            </p:cNvPr>
            <p:cNvCxnSpPr/>
            <p:nvPr/>
          </p:nvCxnSpPr>
          <p:spPr>
            <a:xfrm>
              <a:off x="2133600" y="2819400"/>
              <a:ext cx="114300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7" name="TextBox 6">
              <a:extLst>
                <a:ext uri="{FF2B5EF4-FFF2-40B4-BE49-F238E27FC236}">
                  <a16:creationId xmlns:a16="http://schemas.microsoft.com/office/drawing/2014/main" id="{2327ECBC-D330-423A-A98F-A6C0659CB714}"/>
                </a:ext>
              </a:extLst>
            </p:cNvPr>
            <p:cNvSpPr txBox="1"/>
            <p:nvPr/>
          </p:nvSpPr>
          <p:spPr>
            <a:xfrm>
              <a:off x="918108" y="2357735"/>
              <a:ext cx="1447800" cy="92333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en-US" dirty="0"/>
                <a:t>Examples</a:t>
              </a:r>
            </a:p>
            <a:p>
              <a:pPr algn="ctr"/>
              <a:r>
                <a:rPr lang="en-US" dirty="0"/>
                <a:t>(Instances,</a:t>
              </a:r>
            </a:p>
            <a:p>
              <a:pPr algn="ctr"/>
              <a:r>
                <a:rPr lang="en-US" dirty="0"/>
                <a:t>Observation)</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5010D10-2FFE-43DA-BCE5-1174B149FD98}"/>
                    </a:ext>
                  </a:extLst>
                </p:cNvPr>
                <p:cNvSpPr txBox="1"/>
                <p:nvPr/>
              </p:nvSpPr>
              <p:spPr>
                <a:xfrm>
                  <a:off x="5257800" y="400398"/>
                  <a:ext cx="3200399" cy="64633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en-US" dirty="0"/>
                    <a:t>Feature vector </a:t>
                  </a:r>
                  <a14:m>
                    <m:oMath xmlns:m="http://schemas.openxmlformats.org/officeDocument/2006/math">
                      <m:r>
                        <a:rPr lang="en-US" b="1" i="1" dirty="0" smtClean="0">
                          <a:latin typeface="Cambria Math" panose="02040503050406030204" pitchFamily="18" charset="0"/>
                        </a:rPr>
                        <m:t>𝒙</m:t>
                      </m:r>
                    </m:oMath>
                  </a14:m>
                  <a:r>
                    <a:rPr lang="en-US" dirty="0"/>
                    <a:t> </a:t>
                  </a:r>
                </a:p>
                <a:p>
                  <a:pPr algn="ctr"/>
                  <a:r>
                    <a:rPr lang="en-US" dirty="0"/>
                    <a:t>(Features, Variables, Attributes)</a:t>
                  </a:r>
                </a:p>
              </p:txBody>
            </p:sp>
          </mc:Choice>
          <mc:Fallback xmlns="">
            <p:sp>
              <p:nvSpPr>
                <p:cNvPr id="8" name="TextBox 7">
                  <a:extLst>
                    <a:ext uri="{FF2B5EF4-FFF2-40B4-BE49-F238E27FC236}">
                      <a16:creationId xmlns:a16="http://schemas.microsoft.com/office/drawing/2014/main" id="{25010D10-2FFE-43DA-BCE5-1174B149FD98}"/>
                    </a:ext>
                  </a:extLst>
                </p:cNvPr>
                <p:cNvSpPr txBox="1">
                  <a:spLocks noRot="1" noChangeAspect="1" noMove="1" noResize="1" noEditPoints="1" noAdjustHandles="1" noChangeArrowheads="1" noChangeShapeType="1" noTextEdit="1"/>
                </p:cNvSpPr>
                <p:nvPr/>
              </p:nvSpPr>
              <p:spPr>
                <a:xfrm>
                  <a:off x="5257800" y="400398"/>
                  <a:ext cx="3200399" cy="646331"/>
                </a:xfrm>
                <a:prstGeom prst="rect">
                  <a:avLst/>
                </a:prstGeom>
                <a:blipFill>
                  <a:blip r:embed="rId3"/>
                  <a:stretch>
                    <a:fillRect l="-380" t="-4630" r="-380" b="-12963"/>
                  </a:stretch>
                </a:blipFill>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AAFA4C1F-E498-49F8-93A7-AB399CC561B5}"/>
                </a:ext>
              </a:extLst>
            </p:cNvPr>
            <p:cNvCxnSpPr/>
            <p:nvPr/>
          </p:nvCxnSpPr>
          <p:spPr>
            <a:xfrm>
              <a:off x="6858000" y="1110159"/>
              <a:ext cx="0" cy="36671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67D6135-CCFC-443A-A8C9-2246FE099512}"/>
                    </a:ext>
                  </a:extLst>
                </p:cNvPr>
                <p:cNvSpPr txBox="1"/>
                <p:nvPr/>
              </p:nvSpPr>
              <p:spPr>
                <a:xfrm>
                  <a:off x="9906000" y="424359"/>
                  <a:ext cx="1447800" cy="64633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en-US" dirty="0"/>
                    <a:t>Class</a:t>
                  </a:r>
                </a:p>
                <a:p>
                  <a:pPr algn="ctr"/>
                  <a:r>
                    <a:rPr lang="en-US" dirty="0"/>
                    <a:t>Label </a:t>
                  </a:r>
                  <a14:m>
                    <m:oMath xmlns:m="http://schemas.openxmlformats.org/officeDocument/2006/math">
                      <m:r>
                        <a:rPr lang="en-US" i="1" dirty="0" smtClean="0">
                          <a:latin typeface="Cambria Math" panose="02040503050406030204" pitchFamily="18" charset="0"/>
                        </a:rPr>
                        <m:t>𝑦</m:t>
                      </m:r>
                    </m:oMath>
                  </a14:m>
                  <a:endParaRPr lang="en-US" dirty="0"/>
                </a:p>
              </p:txBody>
            </p:sp>
          </mc:Choice>
          <mc:Fallback xmlns="">
            <p:sp>
              <p:nvSpPr>
                <p:cNvPr id="11" name="TextBox 10">
                  <a:extLst>
                    <a:ext uri="{FF2B5EF4-FFF2-40B4-BE49-F238E27FC236}">
                      <a16:creationId xmlns:a16="http://schemas.microsoft.com/office/drawing/2014/main" id="{C67D6135-CCFC-443A-A8C9-2246FE099512}"/>
                    </a:ext>
                  </a:extLst>
                </p:cNvPr>
                <p:cNvSpPr txBox="1">
                  <a:spLocks noRot="1" noChangeAspect="1" noMove="1" noResize="1" noEditPoints="1" noAdjustHandles="1" noChangeArrowheads="1" noChangeShapeType="1" noTextEdit="1"/>
                </p:cNvSpPr>
                <p:nvPr/>
              </p:nvSpPr>
              <p:spPr>
                <a:xfrm>
                  <a:off x="9906000" y="424359"/>
                  <a:ext cx="1447800" cy="646331"/>
                </a:xfrm>
                <a:prstGeom prst="rect">
                  <a:avLst/>
                </a:prstGeom>
                <a:blipFill>
                  <a:blip r:embed="rId4"/>
                  <a:stretch>
                    <a:fillRect t="-4630" b="-12963"/>
                  </a:stretch>
                </a:blipFill>
              </p:spPr>
              <p:txBody>
                <a:bodyPr/>
                <a:lstStyle/>
                <a:p>
                  <a:r>
                    <a:rPr lang="en-US">
                      <a:noFill/>
                    </a:rPr>
                    <a:t> </a:t>
                  </a:r>
                </a:p>
              </p:txBody>
            </p:sp>
          </mc:Fallback>
        </mc:AlternateContent>
        <p:cxnSp>
          <p:nvCxnSpPr>
            <p:cNvPr id="12" name="Straight Arrow Connector 11">
              <a:extLst>
                <a:ext uri="{FF2B5EF4-FFF2-40B4-BE49-F238E27FC236}">
                  <a16:creationId xmlns:a16="http://schemas.microsoft.com/office/drawing/2014/main" id="{8B20A9DD-D7AB-4D1F-8931-77413EBF7385}"/>
                </a:ext>
              </a:extLst>
            </p:cNvPr>
            <p:cNvCxnSpPr/>
            <p:nvPr/>
          </p:nvCxnSpPr>
          <p:spPr>
            <a:xfrm>
              <a:off x="10591800" y="1110159"/>
              <a:ext cx="0" cy="36671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3" name="TextBox 12">
              <a:extLst>
                <a:ext uri="{FF2B5EF4-FFF2-40B4-BE49-F238E27FC236}">
                  <a16:creationId xmlns:a16="http://schemas.microsoft.com/office/drawing/2014/main" id="{E68E3471-CB09-4270-B769-EBFDC5C259F3}"/>
                </a:ext>
              </a:extLst>
            </p:cNvPr>
            <p:cNvSpPr txBox="1"/>
            <p:nvPr/>
          </p:nvSpPr>
          <p:spPr>
            <a:xfrm rot="18654352">
              <a:off x="5662451" y="5259682"/>
              <a:ext cx="867097" cy="369332"/>
            </a:xfrm>
            <a:prstGeom prst="rect">
              <a:avLst/>
            </a:prstGeom>
            <a:noFill/>
          </p:spPr>
          <p:txBody>
            <a:bodyPr wrap="none" rtlCol="0">
              <a:spAutoFit/>
            </a:bodyPr>
            <a:lstStyle/>
            <a:p>
              <a:r>
                <a:rPr lang="en-US" dirty="0"/>
                <a:t>Hungry</a:t>
              </a:r>
            </a:p>
          </p:txBody>
        </p:sp>
        <p:sp>
          <p:nvSpPr>
            <p:cNvPr id="14" name="TextBox 13">
              <a:extLst>
                <a:ext uri="{FF2B5EF4-FFF2-40B4-BE49-F238E27FC236}">
                  <a16:creationId xmlns:a16="http://schemas.microsoft.com/office/drawing/2014/main" id="{C6AA29AF-5904-46C2-9C9E-640C8E478D34}"/>
                </a:ext>
              </a:extLst>
            </p:cNvPr>
            <p:cNvSpPr txBox="1"/>
            <p:nvPr/>
          </p:nvSpPr>
          <p:spPr>
            <a:xfrm rot="18654352">
              <a:off x="3929189" y="5311069"/>
              <a:ext cx="1218154" cy="369332"/>
            </a:xfrm>
            <a:prstGeom prst="rect">
              <a:avLst/>
            </a:prstGeom>
            <a:noFill/>
          </p:spPr>
          <p:txBody>
            <a:bodyPr wrap="none" rtlCol="0">
              <a:spAutoFit/>
            </a:bodyPr>
            <a:lstStyle/>
            <a:p>
              <a:r>
                <a:rPr lang="en-US" dirty="0"/>
                <a:t>Alternative</a:t>
              </a:r>
            </a:p>
          </p:txBody>
        </p:sp>
        <p:sp>
          <p:nvSpPr>
            <p:cNvPr id="15" name="TextBox 14">
              <a:extLst>
                <a:ext uri="{FF2B5EF4-FFF2-40B4-BE49-F238E27FC236}">
                  <a16:creationId xmlns:a16="http://schemas.microsoft.com/office/drawing/2014/main" id="{95622870-7496-484C-BC16-47B7AEB46DAF}"/>
                </a:ext>
              </a:extLst>
            </p:cNvPr>
            <p:cNvSpPr txBox="1"/>
            <p:nvPr/>
          </p:nvSpPr>
          <p:spPr>
            <a:xfrm rot="18654352">
              <a:off x="6101377" y="5274117"/>
              <a:ext cx="893643" cy="369332"/>
            </a:xfrm>
            <a:prstGeom prst="rect">
              <a:avLst/>
            </a:prstGeom>
            <a:noFill/>
          </p:spPr>
          <p:txBody>
            <a:bodyPr wrap="none" rtlCol="0">
              <a:spAutoFit/>
            </a:bodyPr>
            <a:lstStyle/>
            <a:p>
              <a:r>
                <a:rPr lang="en-US" dirty="0"/>
                <a:t>Patrons</a:t>
              </a:r>
            </a:p>
          </p:txBody>
        </p:sp>
        <p:sp>
          <p:nvSpPr>
            <p:cNvPr id="16" name="TextBox 15">
              <a:extLst>
                <a:ext uri="{FF2B5EF4-FFF2-40B4-BE49-F238E27FC236}">
                  <a16:creationId xmlns:a16="http://schemas.microsoft.com/office/drawing/2014/main" id="{3DFF64F8-111F-4F1C-9784-E787E31763DE}"/>
                </a:ext>
              </a:extLst>
            </p:cNvPr>
            <p:cNvSpPr txBox="1"/>
            <p:nvPr/>
          </p:nvSpPr>
          <p:spPr>
            <a:xfrm rot="18654352">
              <a:off x="7558900" y="5301037"/>
              <a:ext cx="1291316" cy="369332"/>
            </a:xfrm>
            <a:prstGeom prst="rect">
              <a:avLst/>
            </a:prstGeom>
            <a:noFill/>
          </p:spPr>
          <p:txBody>
            <a:bodyPr wrap="none" rtlCol="0">
              <a:spAutoFit/>
            </a:bodyPr>
            <a:lstStyle/>
            <a:p>
              <a:r>
                <a:rPr lang="en-US" dirty="0"/>
                <a:t>Reservation</a:t>
              </a:r>
            </a:p>
          </p:txBody>
        </p:sp>
        <p:sp>
          <p:nvSpPr>
            <p:cNvPr id="17" name="TextBox 16">
              <a:extLst>
                <a:ext uri="{FF2B5EF4-FFF2-40B4-BE49-F238E27FC236}">
                  <a16:creationId xmlns:a16="http://schemas.microsoft.com/office/drawing/2014/main" id="{F14C8EE0-0051-4095-96B9-246143DC9C20}"/>
                </a:ext>
              </a:extLst>
            </p:cNvPr>
            <p:cNvSpPr txBox="1"/>
            <p:nvPr/>
          </p:nvSpPr>
          <p:spPr>
            <a:xfrm rot="18654352">
              <a:off x="9021807" y="5338717"/>
              <a:ext cx="1104790" cy="369332"/>
            </a:xfrm>
            <a:prstGeom prst="rect">
              <a:avLst/>
            </a:prstGeom>
            <a:noFill/>
          </p:spPr>
          <p:txBody>
            <a:bodyPr wrap="none" rtlCol="0">
              <a:spAutoFit/>
            </a:bodyPr>
            <a:lstStyle/>
            <a:p>
              <a:r>
                <a:rPr lang="en-US" dirty="0"/>
                <a:t>Wait time</a:t>
              </a:r>
            </a:p>
          </p:txBody>
        </p:sp>
      </p:grpSp>
    </p:spTree>
    <p:extLst>
      <p:ext uri="{BB962C8B-B14F-4D97-AF65-F5344CB8AC3E}">
        <p14:creationId xmlns:p14="http://schemas.microsoft.com/office/powerpoint/2010/main" val="16771921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800" name="Rectangle 33799">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94" name="Rectangle 2"/>
          <p:cNvSpPr>
            <a:spLocks noGrp="1" noChangeArrowheads="1"/>
          </p:cNvSpPr>
          <p:nvPr>
            <p:ph type="title"/>
          </p:nvPr>
        </p:nvSpPr>
        <p:spPr>
          <a:xfrm>
            <a:off x="4654296" y="329184"/>
            <a:ext cx="6894576" cy="1783080"/>
          </a:xfrm>
        </p:spPr>
        <p:txBody>
          <a:bodyPr anchor="b">
            <a:normAutofit/>
          </a:bodyPr>
          <a:lstStyle/>
          <a:p>
            <a:pPr eaLnBrk="1" hangingPunct="1"/>
            <a:r>
              <a:rPr lang="en-US" sz="5400" dirty="0"/>
              <a:t>Feature Engineering</a:t>
            </a:r>
          </a:p>
        </p:txBody>
      </p:sp>
      <p:pic>
        <p:nvPicPr>
          <p:cNvPr id="4" name="Picture 2">
            <a:extLs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7714" r="8467"/>
          <a:stretch/>
        </p:blipFill>
        <p:spPr bwMode="auto">
          <a:xfrm>
            <a:off x="20" y="1"/>
            <a:ext cx="4052522" cy="6858000"/>
          </a:xfrm>
          <a:custGeom>
            <a:avLst/>
            <a:gdLst/>
            <a:ahLst/>
            <a:cxnLst/>
            <a:rect l="l" t="t" r="r" b="b"/>
            <a:pathLst>
              <a:path w="4052542" h="6858000">
                <a:moveTo>
                  <a:pt x="0" y="0"/>
                </a:moveTo>
                <a:lnTo>
                  <a:pt x="4020923" y="0"/>
                </a:lnTo>
                <a:lnTo>
                  <a:pt x="4022656" y="14697"/>
                </a:lnTo>
                <a:cubicBezTo>
                  <a:pt x="4037606" y="98462"/>
                  <a:pt x="4035072" y="183369"/>
                  <a:pt x="4039126" y="267642"/>
                </a:cubicBezTo>
                <a:cubicBezTo>
                  <a:pt x="4043941" y="370699"/>
                  <a:pt x="4037860" y="474136"/>
                  <a:pt x="4035579" y="577446"/>
                </a:cubicBezTo>
                <a:cubicBezTo>
                  <a:pt x="4033805" y="665399"/>
                  <a:pt x="4025063" y="753226"/>
                  <a:pt x="4027724" y="841306"/>
                </a:cubicBezTo>
                <a:cubicBezTo>
                  <a:pt x="4027914" y="844352"/>
                  <a:pt x="4027914" y="847398"/>
                  <a:pt x="4027724" y="850444"/>
                </a:cubicBezTo>
                <a:cubicBezTo>
                  <a:pt x="4019615" y="947281"/>
                  <a:pt x="4019615" y="1044626"/>
                  <a:pt x="4027724" y="1141464"/>
                </a:cubicBezTo>
                <a:cubicBezTo>
                  <a:pt x="4030296" y="1181772"/>
                  <a:pt x="4029574" y="1222221"/>
                  <a:pt x="4025570" y="1262415"/>
                </a:cubicBezTo>
                <a:cubicBezTo>
                  <a:pt x="4021769" y="1313563"/>
                  <a:pt x="4009606" y="1365472"/>
                  <a:pt x="4018348" y="1416238"/>
                </a:cubicBezTo>
                <a:cubicBezTo>
                  <a:pt x="4024037" y="1458058"/>
                  <a:pt x="4027166" y="1500194"/>
                  <a:pt x="4027724" y="1542394"/>
                </a:cubicBezTo>
                <a:cubicBezTo>
                  <a:pt x="4032158" y="1636820"/>
                  <a:pt x="4027977" y="1731753"/>
                  <a:pt x="4026330" y="1826433"/>
                </a:cubicBezTo>
                <a:cubicBezTo>
                  <a:pt x="4024556" y="1936724"/>
                  <a:pt x="4027344" y="2047015"/>
                  <a:pt x="4018475" y="2157432"/>
                </a:cubicBezTo>
                <a:cubicBezTo>
                  <a:pt x="4013597" y="2246629"/>
                  <a:pt x="4013597" y="2336029"/>
                  <a:pt x="4018475" y="2425226"/>
                </a:cubicBezTo>
                <a:cubicBezTo>
                  <a:pt x="4020882" y="2506961"/>
                  <a:pt x="4033172" y="2587934"/>
                  <a:pt x="4031145" y="2670557"/>
                </a:cubicBezTo>
                <a:cubicBezTo>
                  <a:pt x="4028737" y="2766886"/>
                  <a:pt x="4017335" y="2862962"/>
                  <a:pt x="4020882" y="2959546"/>
                </a:cubicBezTo>
                <a:cubicBezTo>
                  <a:pt x="4022529" y="3005617"/>
                  <a:pt x="4022656" y="3051688"/>
                  <a:pt x="4023543" y="3097758"/>
                </a:cubicBezTo>
                <a:cubicBezTo>
                  <a:pt x="4024683" y="3153221"/>
                  <a:pt x="4034692" y="3208556"/>
                  <a:pt x="4029117" y="3263892"/>
                </a:cubicBezTo>
                <a:cubicBezTo>
                  <a:pt x="4019869" y="3356161"/>
                  <a:pt x="3995923" y="3446906"/>
                  <a:pt x="4010873" y="3541459"/>
                </a:cubicBezTo>
                <a:cubicBezTo>
                  <a:pt x="4019108" y="3593495"/>
                  <a:pt x="4028357" y="3645658"/>
                  <a:pt x="4033172" y="3698201"/>
                </a:cubicBezTo>
                <a:cubicBezTo>
                  <a:pt x="4037353" y="3745160"/>
                  <a:pt x="4047868" y="3792881"/>
                  <a:pt x="4039886" y="3839586"/>
                </a:cubicBezTo>
                <a:cubicBezTo>
                  <a:pt x="4033045" y="3879565"/>
                  <a:pt x="4036592" y="3919544"/>
                  <a:pt x="4031271" y="3959523"/>
                </a:cubicBezTo>
                <a:cubicBezTo>
                  <a:pt x="4024303" y="4011939"/>
                  <a:pt x="4020629" y="4065244"/>
                  <a:pt x="4015308" y="4118042"/>
                </a:cubicBezTo>
                <a:cubicBezTo>
                  <a:pt x="4010620" y="4165889"/>
                  <a:pt x="4006946" y="4213610"/>
                  <a:pt x="4019615" y="4258539"/>
                </a:cubicBezTo>
                <a:cubicBezTo>
                  <a:pt x="4050656" y="4371622"/>
                  <a:pt x="4033679" y="4484070"/>
                  <a:pt x="4022023" y="4596391"/>
                </a:cubicBezTo>
                <a:cubicBezTo>
                  <a:pt x="4016321" y="4650965"/>
                  <a:pt x="4007959" y="4708712"/>
                  <a:pt x="4020629" y="4758718"/>
                </a:cubicBezTo>
                <a:cubicBezTo>
                  <a:pt x="4043941" y="4847432"/>
                  <a:pt x="4025697" y="4931705"/>
                  <a:pt x="4015561" y="5016866"/>
                </a:cubicBezTo>
                <a:cubicBezTo>
                  <a:pt x="4003335" y="5100174"/>
                  <a:pt x="4005096" y="5184929"/>
                  <a:pt x="4020756" y="5267654"/>
                </a:cubicBezTo>
                <a:cubicBezTo>
                  <a:pt x="4033172" y="5326035"/>
                  <a:pt x="4033172" y="5385432"/>
                  <a:pt x="4034692" y="5444194"/>
                </a:cubicBezTo>
                <a:cubicBezTo>
                  <a:pt x="4035579" y="5481001"/>
                  <a:pt x="4022023" y="5518441"/>
                  <a:pt x="4013027" y="5555120"/>
                </a:cubicBezTo>
                <a:cubicBezTo>
                  <a:pt x="3996937" y="5621371"/>
                  <a:pt x="3991109" y="5688636"/>
                  <a:pt x="4013027" y="5753237"/>
                </a:cubicBezTo>
                <a:cubicBezTo>
                  <a:pt x="4043561" y="5842713"/>
                  <a:pt x="4061045" y="5932189"/>
                  <a:pt x="4048375" y="6026870"/>
                </a:cubicBezTo>
                <a:cubicBezTo>
                  <a:pt x="4041027" y="6085251"/>
                  <a:pt x="4039380" y="6144902"/>
                  <a:pt x="4028357" y="6202522"/>
                </a:cubicBezTo>
                <a:cubicBezTo>
                  <a:pt x="4010240" y="6298091"/>
                  <a:pt x="4016701" y="6393024"/>
                  <a:pt x="4031145" y="6487196"/>
                </a:cubicBezTo>
                <a:cubicBezTo>
                  <a:pt x="4041293" y="6565885"/>
                  <a:pt x="4042395" y="6645474"/>
                  <a:pt x="4034439" y="6724403"/>
                </a:cubicBezTo>
                <a:lnTo>
                  <a:pt x="4025206" y="6858000"/>
                </a:lnTo>
                <a:lnTo>
                  <a:pt x="0" y="6858000"/>
                </a:lnTo>
                <a:close/>
              </a:path>
            </a:pathLst>
          </a:custGeom>
          <a:noFill/>
        </p:spPr>
      </p:pic>
      <p:sp>
        <p:nvSpPr>
          <p:cNvPr id="33802" name="sketchy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3795" name="Rectangle 3"/>
              <p:cNvSpPr>
                <a:spLocks noGrp="1" noChangeArrowheads="1"/>
              </p:cNvSpPr>
              <p:nvPr>
                <p:ph idx="1"/>
              </p:nvPr>
            </p:nvSpPr>
            <p:spPr>
              <a:xfrm>
                <a:off x="4654296" y="2532888"/>
                <a:ext cx="6894576" cy="3959352"/>
              </a:xfrm>
            </p:spPr>
            <p:txBody>
              <a:bodyPr>
                <a:normAutofit fontScale="85000" lnSpcReduction="10000"/>
              </a:bodyPr>
              <a:lstStyle/>
              <a:p>
                <a:r>
                  <a:rPr lang="en-US" sz="1800" b="1" dirty="0"/>
                  <a:t>Information fusion</a:t>
                </a:r>
                <a:r>
                  <a:rPr lang="en-US" sz="1800" dirty="0"/>
                  <a:t>: Combine information sources to add new variables to the model.</a:t>
                </a:r>
              </a:p>
              <a:p>
                <a:r>
                  <a:rPr lang="en-US" sz="1800" b="1" dirty="0"/>
                  <a:t>Derived features</a:t>
                </a:r>
                <a:r>
                  <a:rPr lang="en-US" sz="1800" dirty="0"/>
                  <a:t>: Manipulate the features to help the model learn (e.g., </a:t>
                </a:r>
                <a14:m>
                  <m:oMath xmlns:m="http://schemas.openxmlformats.org/officeDocument/2006/math">
                    <m:sSub>
                      <m:sSubPr>
                        <m:ctrlPr>
                          <a:rPr lang="en-US" sz="1800" b="0" i="1">
                            <a:latin typeface="Cambria Math" panose="02040503050406030204" pitchFamily="18" charset="0"/>
                          </a:rPr>
                        </m:ctrlPr>
                      </m:sSubPr>
                      <m:e>
                        <m:r>
                          <a:rPr lang="en-US" sz="1800" b="0" i="1">
                            <a:latin typeface="Cambria Math" panose="02040503050406030204" pitchFamily="18" charset="0"/>
                          </a:rPr>
                          <m:t>𝑥</m:t>
                        </m:r>
                      </m:e>
                      <m:sub>
                        <m:r>
                          <a:rPr lang="en-US" sz="1800" b="0" i="1">
                            <a:latin typeface="Cambria Math" panose="02040503050406030204" pitchFamily="18" charset="0"/>
                          </a:rPr>
                          <m:t>1</m:t>
                        </m:r>
                      </m:sub>
                    </m:sSub>
                    <m:sSub>
                      <m:sSubPr>
                        <m:ctrlPr>
                          <a:rPr lang="en-US" sz="1800" b="0" i="1">
                            <a:latin typeface="Cambria Math" panose="02040503050406030204" pitchFamily="18" charset="0"/>
                          </a:rPr>
                        </m:ctrlPr>
                      </m:sSubPr>
                      <m:e>
                        <m:r>
                          <a:rPr lang="en-US" sz="1800" b="0" i="1">
                            <a:latin typeface="Cambria Math" panose="02040503050406030204" pitchFamily="18" charset="0"/>
                          </a:rPr>
                          <m:t>𝑥</m:t>
                        </m:r>
                      </m:e>
                      <m:sub>
                        <m:r>
                          <a:rPr lang="en-US" sz="1800" b="0" i="1">
                            <a:latin typeface="Cambria Math" panose="02040503050406030204" pitchFamily="18" charset="0"/>
                          </a:rPr>
                          <m:t>2</m:t>
                        </m:r>
                      </m:sub>
                    </m:sSub>
                  </m:oMath>
                </a14:m>
                <a:r>
                  <a:rPr lang="en-US" sz="1800" dirty="0"/>
                  <a:t>, </a:t>
                </a:r>
                <a14:m>
                  <m:oMath xmlns:m="http://schemas.openxmlformats.org/officeDocument/2006/math">
                    <m:sSubSup>
                      <m:sSubSupPr>
                        <m:ctrlPr>
                          <a:rPr lang="en-US" sz="1800" b="0" i="1">
                            <a:latin typeface="Cambria Math" panose="02040503050406030204" pitchFamily="18" charset="0"/>
                          </a:rPr>
                        </m:ctrlPr>
                      </m:sSubSupPr>
                      <m:e>
                        <m:r>
                          <a:rPr lang="en-US" sz="1800" b="0" i="1">
                            <a:latin typeface="Cambria Math" panose="02040503050406030204" pitchFamily="18" charset="0"/>
                          </a:rPr>
                          <m:t>𝑥</m:t>
                        </m:r>
                      </m:e>
                      <m:sub>
                        <m:r>
                          <a:rPr lang="en-US" sz="1800" b="0" i="1">
                            <a:latin typeface="Cambria Math" panose="02040503050406030204" pitchFamily="18" charset="0"/>
                          </a:rPr>
                          <m:t>1</m:t>
                        </m:r>
                      </m:sub>
                      <m:sup>
                        <m:r>
                          <a:rPr lang="en-US" sz="1800" b="0" i="1">
                            <a:latin typeface="Cambria Math" panose="02040503050406030204" pitchFamily="18" charset="0"/>
                          </a:rPr>
                          <m:t>2</m:t>
                        </m:r>
                      </m:sup>
                    </m:sSubSup>
                    <m:r>
                      <a:rPr lang="en-US" sz="1800" b="0" i="1" smtClean="0">
                        <a:latin typeface="Cambria Math" panose="02040503050406030204" pitchFamily="18" charset="0"/>
                      </a:rPr>
                      <m:t>, </m:t>
                    </m:r>
                    <m:r>
                      <m:rPr>
                        <m:sty m:val="p"/>
                      </m:rPr>
                      <a:rPr lang="en-US" sz="1800" b="0" i="0" smtClean="0">
                        <a:latin typeface="Cambria Math" panose="02040503050406030204" pitchFamily="18" charset="0"/>
                      </a:rPr>
                      <m:t>ln</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m:t>
                    </m:r>
                  </m:oMath>
                </a14:m>
                <a:r>
                  <a:rPr lang="en-US" sz="1800" dirty="0"/>
                  <a:t>).</a:t>
                </a:r>
              </a:p>
              <a:p>
                <a:r>
                  <a:rPr lang="en-US" sz="1800" b="1" dirty="0"/>
                  <a:t>Embedding</a:t>
                </a:r>
                <a:r>
                  <a:rPr lang="en-US" sz="1800" dirty="0"/>
                  <a:t>: Unsupervised/self-supervised learning of features. E.g., convert words to vectors where vector similarity between vectors reflects semantic similarity. </a:t>
                </a:r>
                <a:endParaRPr lang="en-US" sz="1800" b="1" dirty="0"/>
              </a:p>
              <a:p>
                <a:pPr eaLnBrk="1" hangingPunct="1"/>
                <a:r>
                  <a:rPr lang="en-US" sz="1800" b="1" dirty="0"/>
                  <a:t>Feature Selection</a:t>
                </a:r>
                <a:r>
                  <a:rPr lang="en-US" sz="1800" dirty="0"/>
                  <a:t>: Which features should be used in the model is a model selection problem (choose between models with different features).</a:t>
                </a:r>
              </a:p>
              <a:p>
                <a:r>
                  <a:rPr lang="en-US" sz="1800" b="1" dirty="0"/>
                  <a:t>End-to-end machine learning: </a:t>
                </a:r>
                <a:r>
                  <a:rPr lang="en-US" sz="1800" dirty="0"/>
                  <a:t>Deep learning with neural networks can perform “automatic” feature engineering.</a:t>
                </a:r>
              </a:p>
              <a:p>
                <a:endParaRPr lang="en-US" sz="1800" dirty="0"/>
              </a:p>
              <a:p>
                <a:r>
                  <a:rPr lang="en-US" sz="1800" dirty="0"/>
                  <a:t>Example for Spam detection: In addition to words, add features for:</a:t>
                </a:r>
              </a:p>
              <a:p>
                <a:pPr lvl="1" eaLnBrk="1" hangingPunct="1"/>
                <a:r>
                  <a:rPr lang="en-US" sz="1800" dirty="0"/>
                  <a:t>Have you emailed the sender before?</a:t>
                </a:r>
              </a:p>
              <a:p>
                <a:pPr lvl="1" eaLnBrk="1" hangingPunct="1"/>
                <a:r>
                  <a:rPr lang="en-US" sz="1800" dirty="0"/>
                  <a:t>Have 1,000+ other people received the same email?</a:t>
                </a:r>
              </a:p>
              <a:p>
                <a:pPr lvl="1" eaLnBrk="1" hangingPunct="1"/>
                <a:r>
                  <a:rPr lang="en-US" sz="1800" dirty="0"/>
                  <a:t>Is the email in ALL CAPS?</a:t>
                </a:r>
              </a:p>
            </p:txBody>
          </p:sp>
        </mc:Choice>
        <mc:Fallback xmlns="">
          <p:sp>
            <p:nvSpPr>
              <p:cNvPr id="33795" name="Rectangle 3"/>
              <p:cNvSpPr>
                <a:spLocks noGrp="1" noRot="1" noChangeAspect="1" noMove="1" noResize="1" noEditPoints="1" noAdjustHandles="1" noChangeArrowheads="1" noChangeShapeType="1" noTextEdit="1"/>
              </p:cNvSpPr>
              <p:nvPr>
                <p:ph idx="1"/>
              </p:nvPr>
            </p:nvSpPr>
            <p:spPr>
              <a:xfrm>
                <a:off x="4654296" y="2532888"/>
                <a:ext cx="6894576" cy="3959352"/>
              </a:xfrm>
              <a:blipFill>
                <a:blip r:embed="rId3"/>
                <a:stretch>
                  <a:fillRect l="-265" t="-1387" r="-354"/>
                </a:stretch>
              </a:blipFill>
            </p:spPr>
            <p:txBody>
              <a:bodyPr/>
              <a:lstStyle/>
              <a:p>
                <a:r>
                  <a:rPr 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5" name="Rectangle 134">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D07CB2-7CF0-4403-8DE4-B08CDAFC3C22}"/>
              </a:ext>
            </a:extLst>
          </p:cNvPr>
          <p:cNvSpPr>
            <a:spLocks noGrp="1"/>
          </p:cNvSpPr>
          <p:nvPr>
            <p:ph type="title"/>
          </p:nvPr>
        </p:nvSpPr>
        <p:spPr>
          <a:xfrm>
            <a:off x="1113810" y="2960716"/>
            <a:ext cx="4036334" cy="2387600"/>
          </a:xfrm>
        </p:spPr>
        <p:txBody>
          <a:bodyPr vert="horz" lIns="91440" tIns="45720" rIns="91440" bIns="45720" rtlCol="0" anchor="t">
            <a:normAutofit/>
          </a:bodyPr>
          <a:lstStyle/>
          <a:p>
            <a:pPr algn="ctr"/>
            <a:r>
              <a:rPr lang="en-US" sz="5400" kern="1200" dirty="0">
                <a:solidFill>
                  <a:schemeClr val="tx1"/>
                </a:solidFill>
                <a:latin typeface="+mj-lt"/>
                <a:ea typeface="+mj-ea"/>
                <a:cs typeface="+mj-cs"/>
              </a:rPr>
              <a:t>Training </a:t>
            </a:r>
            <a:br>
              <a:rPr lang="en-US" sz="5400" kern="1200" dirty="0">
                <a:solidFill>
                  <a:schemeClr val="tx1"/>
                </a:solidFill>
                <a:latin typeface="+mj-lt"/>
                <a:ea typeface="+mj-ea"/>
                <a:cs typeface="+mj-cs"/>
              </a:rPr>
            </a:br>
            <a:r>
              <a:rPr lang="en-US" sz="5400" kern="1200" dirty="0">
                <a:solidFill>
                  <a:schemeClr val="tx1"/>
                </a:solidFill>
                <a:latin typeface="+mj-lt"/>
                <a:ea typeface="+mj-ea"/>
                <a:cs typeface="+mj-cs"/>
              </a:rPr>
              <a:t>and </a:t>
            </a:r>
            <a:br>
              <a:rPr lang="en-US" sz="5400" kern="1200" dirty="0">
                <a:solidFill>
                  <a:schemeClr val="tx1"/>
                </a:solidFill>
                <a:latin typeface="+mj-lt"/>
                <a:ea typeface="+mj-ea"/>
                <a:cs typeface="+mj-cs"/>
              </a:rPr>
            </a:br>
            <a:r>
              <a:rPr lang="en-US" sz="5400" kern="1200" dirty="0">
                <a:solidFill>
                  <a:schemeClr val="tx1"/>
                </a:solidFill>
                <a:latin typeface="+mj-lt"/>
                <a:ea typeface="+mj-ea"/>
                <a:cs typeface="+mj-cs"/>
              </a:rPr>
              <a:t>Testing</a:t>
            </a:r>
          </a:p>
        </p:txBody>
      </p:sp>
      <p:grpSp>
        <p:nvGrpSpPr>
          <p:cNvPr id="137" name="Group 136">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38" name="Rectangle 137">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ectangle 139">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2" name="Rectangle 141">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Manual Testing Icons - Download Free Vector Icons | Noun Project">
            <a:extLst>
              <a:ext uri="{FF2B5EF4-FFF2-40B4-BE49-F238E27FC236}">
                <a16:creationId xmlns:a16="http://schemas.microsoft.com/office/drawing/2014/main" id="{36BC554C-0171-4D49-90ED-F13BC05B5AB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957597" y="666728"/>
            <a:ext cx="5465791" cy="54657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29652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457200" y="240684"/>
            <a:ext cx="10515600" cy="1325563"/>
          </a:xfrm>
        </p:spPr>
        <p:txBody>
          <a:bodyPr>
            <a:normAutofit/>
          </a:bodyPr>
          <a:lstStyle/>
          <a:p>
            <a:pPr eaLnBrk="1" hangingPunct="1"/>
            <a:r>
              <a:rPr lang="en-US" dirty="0"/>
              <a:t>Training a ML Model for AI</a:t>
            </a:r>
          </a:p>
        </p:txBody>
      </p:sp>
      <mc:AlternateContent xmlns:mc="http://schemas.openxmlformats.org/markup-compatibility/2006" xmlns:a14="http://schemas.microsoft.com/office/drawing/2010/main">
        <mc:Choice Requires="a14">
          <p:sp>
            <p:nvSpPr>
              <p:cNvPr id="1283075" name="Rectangle 3"/>
              <p:cNvSpPr>
                <a:spLocks noGrp="1" noChangeArrowheads="1"/>
              </p:cNvSpPr>
              <p:nvPr>
                <p:ph idx="1"/>
              </p:nvPr>
            </p:nvSpPr>
            <p:spPr>
              <a:xfrm>
                <a:off x="457200" y="1308744"/>
                <a:ext cx="7239000" cy="4939656"/>
              </a:xfrm>
            </p:spPr>
            <p:txBody>
              <a:bodyPr>
                <a:normAutofit/>
              </a:bodyPr>
              <a:lstStyle/>
              <a:p>
                <a:pPr marL="514350" indent="-514350">
                  <a:lnSpc>
                    <a:spcPct val="100000"/>
                  </a:lnSpc>
                  <a:buFont typeface="+mj-lt"/>
                  <a:buAutoNum type="arabicPeriod"/>
                </a:pPr>
                <a:r>
                  <a:rPr lang="en-US" sz="1400" dirty="0"/>
                  <a:t>Hold a </a:t>
                </a:r>
                <a:r>
                  <a:rPr lang="en-US" sz="1400" b="1" dirty="0"/>
                  <a:t>test set </a:t>
                </a:r>
                <a:r>
                  <a:rPr lang="en-US" sz="1400" dirty="0"/>
                  <a:t>back to estimate the </a:t>
                </a:r>
                <a:r>
                  <a:rPr lang="en-US" sz="1400" b="1" dirty="0">
                    <a:solidFill>
                      <a:srgbClr val="FF0000"/>
                    </a:solidFill>
                  </a:rPr>
                  <a:t>generalization error </a:t>
                </a:r>
                <a:r>
                  <a:rPr lang="en-US" sz="1400" dirty="0"/>
                  <a:t>of the final model.</a:t>
                </a:r>
              </a:p>
              <a:p>
                <a:pPr marL="514350" indent="-514350">
                  <a:lnSpc>
                    <a:spcPct val="100000"/>
                  </a:lnSpc>
                  <a:buFont typeface="+mj-lt"/>
                  <a:buAutoNum type="arabicPeriod"/>
                </a:pPr>
                <a:r>
                  <a:rPr lang="en-US" sz="1400" dirty="0"/>
                  <a:t>Hold a </a:t>
                </a:r>
                <a:r>
                  <a:rPr lang="en-US" sz="1400" b="1" dirty="0"/>
                  <a:t>validation data </a:t>
                </a:r>
                <a:r>
                  <a:rPr lang="en-US" sz="1400" dirty="0"/>
                  <a:t>set back from the training data for </a:t>
                </a:r>
                <a:r>
                  <a:rPr lang="en-US" sz="1400" b="1" dirty="0">
                    <a:solidFill>
                      <a:srgbClr val="FF0000"/>
                    </a:solidFill>
                  </a:rPr>
                  <a:t>model selection</a:t>
                </a:r>
                <a:r>
                  <a:rPr lang="en-US" sz="1400" dirty="0"/>
                  <a:t>.</a:t>
                </a:r>
              </a:p>
              <a:p>
                <a:pPr marL="514350" indent="-514350">
                  <a:lnSpc>
                    <a:spcPct val="100000"/>
                  </a:lnSpc>
                  <a:buFont typeface="+mj-lt"/>
                  <a:buAutoNum type="arabicPeriod"/>
                </a:pPr>
                <a:r>
                  <a:rPr lang="en-US" sz="1400" b="1" dirty="0"/>
                  <a:t>Learn different models </a:t>
                </a:r>
                <a:r>
                  <a:rPr lang="en-US" sz="1400" dirty="0"/>
                  <a:t>using the training set with different </a:t>
                </a:r>
                <a:r>
                  <a:rPr lang="en-US" sz="1400" b="1" dirty="0"/>
                  <a:t>hyperparameters</a:t>
                </a:r>
                <a:r>
                  <a:rPr lang="en-US" sz="1400" dirty="0"/>
                  <a:t> (learning rate, regularization </a:t>
                </a:r>
                <a14:m>
                  <m:oMath xmlns:m="http://schemas.openxmlformats.org/officeDocument/2006/math">
                    <m:r>
                      <a:rPr lang="en-US" sz="1400" b="0" i="1">
                        <a:latin typeface="Cambria Math" panose="02040503050406030204" pitchFamily="18" charset="0"/>
                      </a:rPr>
                      <m:t>𝜆</m:t>
                    </m:r>
                  </m:oMath>
                </a14:m>
                <a:r>
                  <a:rPr lang="en-US" sz="1400" dirty="0"/>
                  <a:t>, maximal decision tree depth, selected features,… ). A grid search over possible hyperparameter combinations, greedy search, or other experimental designs can be used.</a:t>
                </a:r>
              </a:p>
              <a:p>
                <a:pPr marL="514350" indent="-514350">
                  <a:lnSpc>
                    <a:spcPct val="100000"/>
                  </a:lnSpc>
                  <a:buFont typeface="+mj-lt"/>
                  <a:buAutoNum type="arabicPeriod"/>
                </a:pPr>
                <a:r>
                  <a:rPr lang="en-US" sz="1400" b="1" dirty="0"/>
                  <a:t>Evaluate the trained models </a:t>
                </a:r>
                <a:r>
                  <a:rPr lang="en-US" sz="1400" dirty="0"/>
                  <a:t>using the validation data and choose the model with the </a:t>
                </a:r>
                <a:r>
                  <a:rPr lang="en-US" sz="1400" b="1" dirty="0">
                    <a:solidFill>
                      <a:srgbClr val="FF0000"/>
                    </a:solidFill>
                  </a:rPr>
                  <a:t>best performance for the AI agent</a:t>
                </a:r>
                <a:r>
                  <a:rPr lang="en-US" sz="1400" dirty="0"/>
                  <a:t> (this is not necessarily accuracy). Selecting the right type of model, hyperparameters, and features is called </a:t>
                </a:r>
                <a:r>
                  <a:rPr lang="en-US" sz="1400" b="1" dirty="0"/>
                  <a:t>model selection/hyperparameter tuning</a:t>
                </a:r>
                <a:r>
                  <a:rPr lang="en-US" sz="1400" dirty="0"/>
                  <a:t>.</a:t>
                </a:r>
              </a:p>
              <a:p>
                <a:pPr marL="514350" indent="-514350">
                  <a:lnSpc>
                    <a:spcPct val="100000"/>
                  </a:lnSpc>
                  <a:buFont typeface="+mj-lt"/>
                  <a:buAutoNum type="arabicPeriod"/>
                </a:pPr>
                <a:r>
                  <a:rPr lang="en-US" sz="1400" b="1" dirty="0"/>
                  <a:t>Learn the final model </a:t>
                </a:r>
                <a:r>
                  <a:rPr lang="en-US" sz="1400" dirty="0"/>
                  <a:t>with the chosen hyperparameters using all training data (including the validation data). Use the test data to estimate the </a:t>
                </a:r>
                <a:r>
                  <a:rPr lang="en-US" sz="1400" b="1" dirty="0"/>
                  <a:t>generalization error. </a:t>
                </a:r>
                <a:r>
                  <a:rPr lang="en-US" sz="1400" dirty="0"/>
                  <a:t>This will show the agent’s performance on new, unseen data.</a:t>
                </a:r>
              </a:p>
              <a:p>
                <a:pPr>
                  <a:lnSpc>
                    <a:spcPct val="100000"/>
                  </a:lnSpc>
                </a:pPr>
                <a:endParaRPr lang="en-US" sz="1400" dirty="0"/>
              </a:p>
              <a:p>
                <a:pPr>
                  <a:lnSpc>
                    <a:spcPct val="100000"/>
                  </a:lnSpc>
                </a:pPr>
                <a:r>
                  <a:rPr lang="en-US" sz="1400" dirty="0"/>
                  <a:t>Notes: </a:t>
                </a:r>
              </a:p>
              <a:p>
                <a:pPr lvl="1">
                  <a:lnSpc>
                    <a:spcPct val="100000"/>
                  </a:lnSpc>
                </a:pPr>
                <a:r>
                  <a:rPr lang="en-US" sz="1400" dirty="0"/>
                  <a:t>The validation set was not used for training with different hyperparameters, so we get an estimate of the generalization error for comparing different hyperparameter settings.</a:t>
                </a:r>
              </a:p>
              <a:p>
                <a:pPr lvl="1">
                  <a:lnSpc>
                    <a:spcPct val="100000"/>
                  </a:lnSpc>
                </a:pPr>
                <a:r>
                  <a:rPr lang="en-US" sz="1400" dirty="0"/>
                  <a:t>If no model selection is necessary, then no validation set is necessary.</a:t>
                </a:r>
              </a:p>
            </p:txBody>
          </p:sp>
        </mc:Choice>
        <mc:Fallback xmlns="">
          <p:sp>
            <p:nvSpPr>
              <p:cNvPr id="1283075" name="Rectangle 3"/>
              <p:cNvSpPr>
                <a:spLocks noGrp="1" noRot="1" noChangeAspect="1" noMove="1" noResize="1" noEditPoints="1" noAdjustHandles="1" noChangeArrowheads="1" noChangeShapeType="1" noTextEdit="1"/>
              </p:cNvSpPr>
              <p:nvPr>
                <p:ph idx="1"/>
              </p:nvPr>
            </p:nvSpPr>
            <p:spPr>
              <a:xfrm>
                <a:off x="457200" y="1308744"/>
                <a:ext cx="7239000" cy="4939656"/>
              </a:xfrm>
              <a:blipFill>
                <a:blip r:embed="rId3"/>
                <a:stretch>
                  <a:fillRect l="-253" t="-370" r="-673"/>
                </a:stretch>
              </a:blipFill>
            </p:spPr>
            <p:txBody>
              <a:bodyPr/>
              <a:lstStyle/>
              <a:p>
                <a:r>
                  <a:rPr lang="en-US">
                    <a:noFill/>
                  </a:rPr>
                  <a:t> </a:t>
                </a:r>
              </a:p>
            </p:txBody>
          </p:sp>
        </mc:Fallback>
      </mc:AlternateContent>
      <p:sp>
        <p:nvSpPr>
          <p:cNvPr id="17412" name="Rectangle 4">
            <a:extLst>
              <a:ext uri="{C183D7F6-B498-43B3-948B-1728B52AA6E4}">
                <adec:decorative xmlns:adec="http://schemas.microsoft.com/office/drawing/2017/decorative" val="1"/>
              </a:ext>
            </a:extLst>
          </p:cNvPr>
          <p:cNvSpPr>
            <a:spLocks noChangeArrowheads="1"/>
          </p:cNvSpPr>
          <p:nvPr/>
        </p:nvSpPr>
        <p:spPr bwMode="auto">
          <a:xfrm>
            <a:off x="8475518" y="1219200"/>
            <a:ext cx="1676400" cy="2590800"/>
          </a:xfrm>
          <a:prstGeom prst="rect">
            <a:avLst/>
          </a:prstGeom>
          <a:ln>
            <a:headEnd/>
            <a:tailEnd/>
          </a:ln>
        </p:spPr>
        <p:style>
          <a:lnRef idx="3">
            <a:schemeClr val="lt1"/>
          </a:lnRef>
          <a:fillRef idx="1">
            <a:schemeClr val="accent3"/>
          </a:fillRef>
          <a:effectRef idx="1">
            <a:schemeClr val="accent3"/>
          </a:effectRef>
          <a:fontRef idx="minor">
            <a:schemeClr val="lt1"/>
          </a:fontRef>
        </p:style>
        <p:txBody>
          <a:bodyPr wrap="none" anchor="ctr"/>
          <a:lstStyle/>
          <a:p>
            <a:pPr algn="ctr"/>
            <a:r>
              <a:rPr lang="en-US">
                <a:latin typeface="Calibri"/>
                <a:cs typeface="Calibri"/>
              </a:rPr>
              <a:t>Training</a:t>
            </a:r>
          </a:p>
          <a:p>
            <a:pPr algn="ctr"/>
            <a:r>
              <a:rPr lang="en-US">
                <a:latin typeface="Calibri"/>
                <a:cs typeface="Calibri"/>
              </a:rPr>
              <a:t>Data</a:t>
            </a:r>
          </a:p>
        </p:txBody>
      </p:sp>
      <p:sp>
        <p:nvSpPr>
          <p:cNvPr id="17414" name="Rectangle 6">
            <a:extLst>
              <a:ext uri="{C183D7F6-B498-43B3-948B-1728B52AA6E4}">
                <adec:decorative xmlns:adec="http://schemas.microsoft.com/office/drawing/2017/decorative" val="1"/>
              </a:ext>
            </a:extLst>
          </p:cNvPr>
          <p:cNvSpPr>
            <a:spLocks noChangeArrowheads="1"/>
          </p:cNvSpPr>
          <p:nvPr/>
        </p:nvSpPr>
        <p:spPr bwMode="auto">
          <a:xfrm>
            <a:off x="8475518" y="4953000"/>
            <a:ext cx="1676400" cy="914400"/>
          </a:xfrm>
          <a:prstGeom prst="rect">
            <a:avLst/>
          </a:prstGeom>
          <a:ln>
            <a:headEnd/>
            <a:tailEnd/>
          </a:ln>
        </p:spPr>
        <p:style>
          <a:lnRef idx="3">
            <a:schemeClr val="lt1"/>
          </a:lnRef>
          <a:fillRef idx="1">
            <a:schemeClr val="accent2"/>
          </a:fillRef>
          <a:effectRef idx="1">
            <a:schemeClr val="accent2"/>
          </a:effectRef>
          <a:fontRef idx="minor">
            <a:schemeClr val="lt1"/>
          </a:fontRef>
        </p:style>
        <p:txBody>
          <a:bodyPr wrap="none" anchor="ctr"/>
          <a:lstStyle/>
          <a:p>
            <a:pPr algn="ctr"/>
            <a:r>
              <a:rPr lang="en-US" dirty="0">
                <a:latin typeface="Calibri"/>
                <a:cs typeface="Calibri"/>
              </a:rPr>
              <a:t>Test     </a:t>
            </a:r>
          </a:p>
          <a:p>
            <a:pPr algn="ctr"/>
            <a:r>
              <a:rPr lang="en-US" dirty="0">
                <a:latin typeface="Calibri"/>
                <a:cs typeface="Calibri"/>
              </a:rPr>
              <a:t>Data    </a:t>
            </a:r>
          </a:p>
        </p:txBody>
      </p:sp>
      <p:sp>
        <p:nvSpPr>
          <p:cNvPr id="4" name="Rectangle 3">
            <a:extLst>
              <a:ext uri="{FF2B5EF4-FFF2-40B4-BE49-F238E27FC236}">
                <a16:creationId xmlns:a16="http://schemas.microsoft.com/office/drawing/2014/main" id="{AC7EC834-138C-41AE-87CB-FE5BD6F87D5E}"/>
              </a:ext>
              <a:ext uri="{C183D7F6-B498-43B3-948B-1728B52AA6E4}">
                <adec:decorative xmlns:adec="http://schemas.microsoft.com/office/drawing/2017/decorative" val="1"/>
              </a:ext>
            </a:extLst>
          </p:cNvPr>
          <p:cNvSpPr/>
          <p:nvPr/>
        </p:nvSpPr>
        <p:spPr>
          <a:xfrm>
            <a:off x="8399318" y="4883150"/>
            <a:ext cx="1828800" cy="1054100"/>
          </a:xfrm>
          <a:prstGeom prst="rect">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4">
            <a:extLst>
              <a:ext uri="{FF2B5EF4-FFF2-40B4-BE49-F238E27FC236}">
                <a16:creationId xmlns:a16="http://schemas.microsoft.com/office/drawing/2014/main" id="{A25EF86C-DB82-4BE3-A64E-0A220C3C5580}"/>
              </a:ext>
              <a:ext uri="{C183D7F6-B498-43B3-948B-1728B52AA6E4}">
                <adec:decorative xmlns:adec="http://schemas.microsoft.com/office/drawing/2017/decorative" val="1"/>
              </a:ext>
            </a:extLst>
          </p:cNvPr>
          <p:cNvSpPr>
            <a:spLocks noChangeArrowheads="1"/>
          </p:cNvSpPr>
          <p:nvPr/>
        </p:nvSpPr>
        <p:spPr bwMode="auto">
          <a:xfrm>
            <a:off x="8475518" y="1219200"/>
            <a:ext cx="1676400" cy="35052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dirty="0">
                <a:latin typeface="Calibri"/>
                <a:cs typeface="Calibri"/>
              </a:rPr>
              <a:t>Training</a:t>
            </a:r>
          </a:p>
          <a:p>
            <a:pPr algn="ctr"/>
            <a:r>
              <a:rPr lang="en-US" dirty="0">
                <a:latin typeface="Calibri"/>
                <a:cs typeface="Calibri"/>
              </a:rPr>
              <a:t>Data</a:t>
            </a:r>
          </a:p>
        </p:txBody>
      </p:sp>
      <p:sp>
        <p:nvSpPr>
          <p:cNvPr id="17413" name="Rectangle 5">
            <a:extLst>
              <a:ext uri="{C183D7F6-B498-43B3-948B-1728B52AA6E4}">
                <adec:decorative xmlns:adec="http://schemas.microsoft.com/office/drawing/2017/decorative" val="1"/>
              </a:ext>
            </a:extLst>
          </p:cNvPr>
          <p:cNvSpPr>
            <a:spLocks noChangeArrowheads="1"/>
          </p:cNvSpPr>
          <p:nvPr/>
        </p:nvSpPr>
        <p:spPr bwMode="auto">
          <a:xfrm>
            <a:off x="8551718" y="3581400"/>
            <a:ext cx="1524000" cy="1066800"/>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anchor="ctr"/>
          <a:lstStyle/>
          <a:p>
            <a:pPr algn="ctr"/>
            <a:r>
              <a:rPr lang="en-US" dirty="0">
                <a:latin typeface="Calibri"/>
                <a:cs typeface="Calibri"/>
              </a:rPr>
              <a:t>Validation</a:t>
            </a:r>
          </a:p>
          <a:p>
            <a:pPr algn="ctr"/>
            <a:r>
              <a:rPr lang="en-US" dirty="0">
                <a:latin typeface="Calibri"/>
                <a:cs typeface="Calibri"/>
              </a:rPr>
              <a:t>Data</a:t>
            </a:r>
          </a:p>
        </p:txBody>
      </p:sp>
      <p:pic>
        <p:nvPicPr>
          <p:cNvPr id="3" name="Graphic 2">
            <a:extLst>
              <a:ext uri="{FF2B5EF4-FFF2-40B4-BE49-F238E27FC236}">
                <a16:creationId xmlns:a16="http://schemas.microsoft.com/office/drawing/2014/main" id="{E42E714F-C096-F70B-B437-032F326007C4}"/>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13718" y="4953000"/>
            <a:ext cx="914400" cy="914400"/>
          </a:xfrm>
          <a:prstGeom prst="rect">
            <a:avLst/>
          </a:prstGeom>
        </p:spPr>
      </p:pic>
      <p:sp>
        <p:nvSpPr>
          <p:cNvPr id="2" name="Right Brace 1">
            <a:extLst>
              <a:ext uri="{FF2B5EF4-FFF2-40B4-BE49-F238E27FC236}">
                <a16:creationId xmlns:a16="http://schemas.microsoft.com/office/drawing/2014/main" id="{A64F06D4-9CDE-8D5D-F137-9EE47F391DC0}"/>
              </a:ext>
            </a:extLst>
          </p:cNvPr>
          <p:cNvSpPr/>
          <p:nvPr/>
        </p:nvSpPr>
        <p:spPr>
          <a:xfrm>
            <a:off x="10439400" y="4953000"/>
            <a:ext cx="152400" cy="990600"/>
          </a:xfrm>
          <a:prstGeom prst="rightBrace">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DC3BDC9E-DA0E-2F16-EBCA-C437796886F7}"/>
              </a:ext>
            </a:extLst>
          </p:cNvPr>
          <p:cNvSpPr txBox="1"/>
          <p:nvPr/>
        </p:nvSpPr>
        <p:spPr>
          <a:xfrm>
            <a:off x="10591800" y="5155912"/>
            <a:ext cx="1165674" cy="584775"/>
          </a:xfrm>
          <a:prstGeom prst="rect">
            <a:avLst/>
          </a:prstGeom>
          <a:noFill/>
        </p:spPr>
        <p:txBody>
          <a:bodyPr wrap="square" rtlCol="0">
            <a:spAutoFit/>
          </a:bodyPr>
          <a:lstStyle/>
          <a:p>
            <a:r>
              <a:rPr lang="en-US" sz="1600" dirty="0"/>
              <a:t>Often 20% of the data</a:t>
            </a:r>
          </a:p>
        </p:txBody>
      </p:sp>
      <p:sp>
        <p:nvSpPr>
          <p:cNvPr id="6" name="Right Brace 5">
            <a:extLst>
              <a:ext uri="{FF2B5EF4-FFF2-40B4-BE49-F238E27FC236}">
                <a16:creationId xmlns:a16="http://schemas.microsoft.com/office/drawing/2014/main" id="{7A011E6B-73AB-1176-6DA0-F9F6716E3077}"/>
              </a:ext>
            </a:extLst>
          </p:cNvPr>
          <p:cNvSpPr/>
          <p:nvPr/>
        </p:nvSpPr>
        <p:spPr>
          <a:xfrm>
            <a:off x="10409959" y="3657600"/>
            <a:ext cx="152400" cy="990600"/>
          </a:xfrm>
          <a:prstGeom prst="rightBrace">
            <a:avLst/>
          </a:prstGeom>
        </p:spPr>
        <p:style>
          <a:lnRef idx="3">
            <a:schemeClr val="accent3"/>
          </a:lnRef>
          <a:fillRef idx="0">
            <a:schemeClr val="accent3"/>
          </a:fillRef>
          <a:effectRef idx="2">
            <a:schemeClr val="accent3"/>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87EECCFD-701E-6D37-7DE2-F1498D782FC0}"/>
              </a:ext>
            </a:extLst>
          </p:cNvPr>
          <p:cNvSpPr txBox="1"/>
          <p:nvPr/>
        </p:nvSpPr>
        <p:spPr>
          <a:xfrm>
            <a:off x="10623395" y="3745468"/>
            <a:ext cx="1515079" cy="738664"/>
          </a:xfrm>
          <a:prstGeom prst="rect">
            <a:avLst/>
          </a:prstGeom>
          <a:noFill/>
        </p:spPr>
        <p:txBody>
          <a:bodyPr wrap="square" rtlCol="0">
            <a:spAutoFit/>
          </a:bodyPr>
          <a:lstStyle/>
          <a:p>
            <a:r>
              <a:rPr lang="en-US" sz="1400" dirty="0"/>
              <a:t>Often 10% of the training data or cross-validation.</a:t>
            </a:r>
          </a:p>
        </p:txBody>
      </p:sp>
    </p:spTree>
    <p:extLst>
      <p:ext uri="{BB962C8B-B14F-4D97-AF65-F5344CB8AC3E}">
        <p14:creationId xmlns:p14="http://schemas.microsoft.com/office/powerpoint/2010/main" val="9953492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830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8307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8307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8307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8307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83075">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83075">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8307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3075"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83F62-37C6-40A0-ADC2-FC460ED00A41}"/>
              </a:ext>
            </a:extLst>
          </p:cNvPr>
          <p:cNvSpPr>
            <a:spLocks noGrp="1"/>
          </p:cNvSpPr>
          <p:nvPr>
            <p:ph type="title"/>
          </p:nvPr>
        </p:nvSpPr>
        <p:spPr/>
        <p:txBody>
          <a:bodyPr/>
          <a:lstStyle/>
          <a:p>
            <a:r>
              <a:rPr lang="en-US" dirty="0"/>
              <a:t>Testing: Evaluating the Final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263A696-816F-47D3-BA81-F4BDA9C353CC}"/>
                  </a:ext>
                </a:extLst>
              </p:cNvPr>
              <p:cNvSpPr>
                <a:spLocks noGrp="1"/>
              </p:cNvSpPr>
              <p:nvPr>
                <p:ph idx="1"/>
              </p:nvPr>
            </p:nvSpPr>
            <p:spPr>
              <a:xfrm>
                <a:off x="838200" y="1825625"/>
                <a:ext cx="8229600" cy="4667250"/>
              </a:xfrm>
            </p:spPr>
            <p:txBody>
              <a:bodyPr>
                <a:normAutofit fontScale="70000" lnSpcReduction="20000"/>
              </a:bodyPr>
              <a:lstStyle/>
              <a:p>
                <a:pPr marL="0" indent="0">
                  <a:buNone/>
                </a:pPr>
                <a:r>
                  <a:rPr lang="en-US" dirty="0"/>
                  <a:t>The final model was trained on the training examples </a:t>
                </a:r>
                <a14:m>
                  <m:oMath xmlns:m="http://schemas.openxmlformats.org/officeDocument/2006/math">
                    <m:r>
                      <a:rPr lang="en-US" b="0" i="1" smtClean="0">
                        <a:latin typeface="Cambria Math" panose="02040503050406030204" pitchFamily="18" charset="0"/>
                      </a:rPr>
                      <m:t>𝐸</m:t>
                    </m:r>
                  </m:oMath>
                </a14:m>
                <a:r>
                  <a:rPr lang="en-US" dirty="0"/>
                  <a:t>. We want to test how well the model will perform on new examples </a:t>
                </a:r>
                <a14:m>
                  <m:oMath xmlns:m="http://schemas.openxmlformats.org/officeDocument/2006/math">
                    <m:r>
                      <a:rPr lang="en-US" i="1" dirty="0" smtClean="0">
                        <a:latin typeface="Cambria Math" panose="02040503050406030204" pitchFamily="18" charset="0"/>
                      </a:rPr>
                      <m:t>𝑇</m:t>
                    </m:r>
                  </m:oMath>
                </a14:m>
                <a:r>
                  <a:rPr lang="en-US" dirty="0"/>
                  <a:t> (i.e., how well it </a:t>
                </a:r>
                <a:r>
                  <a:rPr lang="en-US" b="1" dirty="0">
                    <a:solidFill>
                      <a:srgbClr val="FF0000"/>
                    </a:solidFill>
                  </a:rPr>
                  <a:t>generalizes to new data</a:t>
                </a:r>
                <a:r>
                  <a:rPr lang="en-US" dirty="0"/>
                  <a:t>). We use the held-back test data.</a:t>
                </a:r>
              </a:p>
              <a:p>
                <a:endParaRPr lang="en-US" b="1" dirty="0">
                  <a:solidFill>
                    <a:srgbClr val="FF0000"/>
                  </a:solidFill>
                </a:endParaRPr>
              </a:p>
              <a:p>
                <a:r>
                  <a:rPr lang="en-US" b="1" dirty="0">
                    <a:solidFill>
                      <a:srgbClr val="FF0000"/>
                    </a:solidFill>
                  </a:rPr>
                  <a:t>Testing loss</a:t>
                </a:r>
                <a:r>
                  <a:rPr lang="en-US" dirty="0"/>
                  <a:t>: Calculate the empirical loss for predictions on a testing data set </a:t>
                </a:r>
                <a14:m>
                  <m:oMath xmlns:m="http://schemas.openxmlformats.org/officeDocument/2006/math">
                    <m:r>
                      <a:rPr lang="en-US" i="1" dirty="0" smtClean="0">
                        <a:latin typeface="Cambria Math" panose="02040503050406030204" pitchFamily="18" charset="0"/>
                      </a:rPr>
                      <m:t>𝑇</m:t>
                    </m:r>
                  </m:oMath>
                </a14:m>
                <a:r>
                  <a:rPr lang="en-US" dirty="0"/>
                  <a:t> that is different from the data used for training.</a:t>
                </a:r>
                <a:br>
                  <a:rPr lang="en-US" dirty="0"/>
                </a:br>
                <a:br>
                  <a:rPr lang="en-US" dirty="0"/>
                </a:br>
                <a14:m>
                  <m:oMath xmlns:m="http://schemas.openxmlformats.org/officeDocument/2006/math">
                    <m:r>
                      <a:rPr lang="en-US" i="1">
                        <a:latin typeface="Cambria Math" panose="02040503050406030204" pitchFamily="18" charset="0"/>
                      </a:rPr>
                      <m:t>𝐸𝑚𝑝𝐿𝑜𝑠</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𝐿</m:t>
                        </m:r>
                        <m:r>
                          <a:rPr lang="en-US" i="1">
                            <a:latin typeface="Cambria Math" panose="02040503050406030204" pitchFamily="18" charset="0"/>
                          </a:rPr>
                          <m:t>,</m:t>
                        </m:r>
                        <m:r>
                          <a:rPr lang="en-US" b="0" i="1" smtClean="0">
                            <a:latin typeface="Cambria Math" panose="02040503050406030204" pitchFamily="18" charset="0"/>
                          </a:rPr>
                          <m:t>𝑇</m:t>
                        </m:r>
                      </m:sub>
                    </m:sSub>
                    <m:r>
                      <a:rPr lang="en-US" i="1">
                        <a:latin typeface="Cambria Math" panose="02040503050406030204" pitchFamily="18" charset="0"/>
                      </a:rPr>
                      <m:t>(</m:t>
                    </m:r>
                    <m:r>
                      <a:rPr lang="en-US" i="1">
                        <a:latin typeface="Cambria Math" panose="02040503050406030204" pitchFamily="18" charset="0"/>
                      </a:rPr>
                      <m:t>ℎ</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b="0" i="1" smtClean="0">
                            <a:latin typeface="Cambria Math" panose="02040503050406030204" pitchFamily="18" charset="0"/>
                          </a:rPr>
                          <m:t>|</m:t>
                        </m:r>
                        <m:r>
                          <a:rPr lang="en-US" b="0" i="1" smtClean="0">
                            <a:latin typeface="Cambria Math" panose="02040503050406030204" pitchFamily="18" charset="0"/>
                          </a:rPr>
                          <m:t>𝑇</m:t>
                        </m:r>
                        <m:r>
                          <a:rPr lang="en-US" b="0" i="1" smtClean="0">
                            <a:latin typeface="Cambria Math" panose="02040503050406030204" pitchFamily="18" charset="0"/>
                          </a:rPr>
                          <m:t>|</m:t>
                        </m:r>
                      </m:den>
                    </m:f>
                    <m:nary>
                      <m:naryPr>
                        <m:chr m:val="∑"/>
                        <m:supHide m:val="on"/>
                        <m:ctrlPr>
                          <a:rPr lang="en-US" i="1">
                            <a:latin typeface="Cambria Math" panose="02040503050406030204" pitchFamily="18" charset="0"/>
                          </a:rPr>
                        </m:ctrlPr>
                      </m:naryPr>
                      <m:sub>
                        <m:d>
                          <m:dPr>
                            <m:ctrlPr>
                              <a:rPr lang="en-US" b="1" i="1">
                                <a:latin typeface="Cambria Math" panose="02040503050406030204" pitchFamily="18" charset="0"/>
                              </a:rPr>
                            </m:ctrlPr>
                          </m:dPr>
                          <m:e>
                            <m:r>
                              <m:rPr>
                                <m:brk m:alnAt="7"/>
                              </m:rPr>
                              <a:rPr lang="en-US" b="1" i="1">
                                <a:latin typeface="Cambria Math" panose="02040503050406030204" pitchFamily="18" charset="0"/>
                              </a:rPr>
                              <m:t>𝒙</m:t>
                            </m:r>
                            <m:r>
                              <a:rPr lang="en-US" i="1">
                                <a:latin typeface="Cambria Math" panose="02040503050406030204" pitchFamily="18" charset="0"/>
                              </a:rPr>
                              <m:t>,</m:t>
                            </m:r>
                            <m:r>
                              <a:rPr lang="en-US" i="1">
                                <a:latin typeface="Cambria Math" panose="02040503050406030204" pitchFamily="18" charset="0"/>
                              </a:rPr>
                              <m:t>𝑦</m:t>
                            </m:r>
                          </m:e>
                        </m:d>
                        <m:r>
                          <a:rPr lang="en-US" i="1">
                            <a:latin typeface="Cambria Math" panose="02040503050406030204" pitchFamily="18" charset="0"/>
                          </a:rPr>
                          <m:t>∈</m:t>
                        </m:r>
                        <m:r>
                          <a:rPr lang="en-US" b="0" i="1" smtClean="0">
                            <a:latin typeface="Cambria Math" panose="02040503050406030204" pitchFamily="18" charset="0"/>
                          </a:rPr>
                          <m:t>𝑇</m:t>
                        </m:r>
                      </m:sub>
                      <m:sup/>
                      <m:e>
                        <m:r>
                          <a:rPr lang="en-US" i="1">
                            <a:latin typeface="Cambria Math" panose="02040503050406030204" pitchFamily="18" charset="0"/>
                          </a:rPr>
                          <m:t>𝐿</m:t>
                        </m:r>
                        <m:r>
                          <a:rPr lang="en-US" i="1">
                            <a:latin typeface="Cambria Math" panose="02040503050406030204" pitchFamily="18" charset="0"/>
                          </a:rPr>
                          <m:t>(</m:t>
                        </m:r>
                        <m:r>
                          <a:rPr lang="en-US" i="1">
                            <a:latin typeface="Cambria Math" panose="02040503050406030204" pitchFamily="18" charset="0"/>
                          </a:rPr>
                          <m:t>𝑦</m:t>
                        </m:r>
                        <m:r>
                          <a:rPr lang="en-US" i="1">
                            <a:latin typeface="Cambria Math" panose="02040503050406030204" pitchFamily="18" charset="0"/>
                          </a:rPr>
                          <m:t>, </m:t>
                        </m:r>
                        <m:r>
                          <a:rPr lang="en-US" i="1">
                            <a:latin typeface="Cambria Math" panose="02040503050406030204" pitchFamily="18" charset="0"/>
                          </a:rPr>
                          <m:t>ℎ</m:t>
                        </m:r>
                        <m:r>
                          <a:rPr lang="en-US" b="0" i="1" smtClean="0">
                            <a:latin typeface="Cambria Math" panose="02040503050406030204" pitchFamily="18" charset="0"/>
                          </a:rPr>
                          <m:t>(</m:t>
                        </m:r>
                        <m:r>
                          <a:rPr lang="en-US" b="1" i="1" smtClean="0">
                            <a:latin typeface="Cambria Math" panose="02040503050406030204" pitchFamily="18" charset="0"/>
                          </a:rPr>
                          <m:t>𝒙</m:t>
                        </m:r>
                        <m:r>
                          <a:rPr lang="en-US" b="0" i="1" smtClean="0">
                            <a:latin typeface="Cambria Math" panose="02040503050406030204" pitchFamily="18" charset="0"/>
                          </a:rPr>
                          <m:t>)</m:t>
                        </m:r>
                        <m:r>
                          <a:rPr lang="en-US" i="1">
                            <a:latin typeface="Cambria Math" panose="02040503050406030204" pitchFamily="18" charset="0"/>
                          </a:rPr>
                          <m:t>)</m:t>
                        </m:r>
                      </m:e>
                    </m:nary>
                  </m:oMath>
                </a14:m>
                <a:endParaRPr lang="en-US" dirty="0"/>
              </a:p>
              <a:p>
                <a:endParaRPr lang="en-US" dirty="0"/>
              </a:p>
              <a:p>
                <a:r>
                  <a:rPr lang="en-US" dirty="0"/>
                  <a:t>For classification we often use the </a:t>
                </a:r>
                <a:r>
                  <a:rPr lang="en-US" b="1" dirty="0">
                    <a:solidFill>
                      <a:srgbClr val="FF0000"/>
                    </a:solidFill>
                  </a:rPr>
                  <a:t>accuracy </a:t>
                </a:r>
                <a:r>
                  <a:rPr lang="en-US" dirty="0"/>
                  <a:t>measure, the proportion of correctly classified test examples.  </a:t>
                </a:r>
                <a:br>
                  <a:rPr lang="en-US" dirty="0"/>
                </a:br>
                <a:br>
                  <a:rPr lang="en-US" dirty="0"/>
                </a:br>
                <a14:m>
                  <m:oMath xmlns:m="http://schemas.openxmlformats.org/officeDocument/2006/math">
                    <m:r>
                      <a:rPr lang="en-US" sz="2400" i="1">
                        <a:latin typeface="Cambria Math" panose="02040503050406030204" pitchFamily="18" charset="0"/>
                      </a:rPr>
                      <m:t>𝑎𝑐𝑐𝑢𝑟𝑎𝑐𝑦</m:t>
                    </m:r>
                    <m:d>
                      <m:dPr>
                        <m:ctrlPr>
                          <a:rPr lang="en-US" sz="2400" i="1">
                            <a:latin typeface="Cambria Math" panose="02040503050406030204" pitchFamily="18" charset="0"/>
                          </a:rPr>
                        </m:ctrlPr>
                      </m:dPr>
                      <m:e>
                        <m:r>
                          <a:rPr lang="en-US" sz="2400" i="1">
                            <a:latin typeface="Cambria Math" panose="02040503050406030204" pitchFamily="18" charset="0"/>
                          </a:rPr>
                          <m:t>ℎ</m:t>
                        </m:r>
                        <m:r>
                          <a:rPr lang="en-US" sz="2400" i="1">
                            <a:latin typeface="Cambria Math" panose="02040503050406030204" pitchFamily="18" charset="0"/>
                          </a:rPr>
                          <m:t>, </m:t>
                        </m:r>
                        <m:r>
                          <a:rPr lang="en-US" sz="2400" i="1">
                            <a:latin typeface="Cambria Math" panose="02040503050406030204" pitchFamily="18" charset="0"/>
                          </a:rPr>
                          <m:t>𝑇</m:t>
                        </m:r>
                      </m:e>
                    </m:d>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𝑇</m:t>
                            </m:r>
                          </m:e>
                        </m:d>
                      </m:den>
                    </m:f>
                    <m:nary>
                      <m:naryPr>
                        <m:chr m:val="∑"/>
                        <m:supHide m:val="on"/>
                        <m:ctrlPr>
                          <a:rPr lang="en-US" sz="2400" i="1">
                            <a:latin typeface="Cambria Math" panose="02040503050406030204" pitchFamily="18" charset="0"/>
                          </a:rPr>
                        </m:ctrlPr>
                      </m:naryPr>
                      <m:sub>
                        <m:r>
                          <m:rPr>
                            <m:brk m:alnAt="7"/>
                          </m:rPr>
                          <a:rPr lang="en-US" sz="2400" i="1">
                            <a:latin typeface="Cambria Math" panose="02040503050406030204" pitchFamily="18" charset="0"/>
                          </a:rPr>
                          <m:t>(</m:t>
                        </m:r>
                        <m:r>
                          <a:rPr lang="en-US" sz="2400" b="1" i="1">
                            <a:latin typeface="Cambria Math" panose="02040503050406030204" pitchFamily="18" charset="0"/>
                          </a:rPr>
                          <m:t>𝒙</m:t>
                        </m:r>
                        <m:r>
                          <a:rPr lang="en-US" sz="2400" i="1">
                            <a:latin typeface="Cambria Math" panose="02040503050406030204" pitchFamily="18" charset="0"/>
                          </a:rPr>
                          <m:t>,</m:t>
                        </m:r>
                        <m:r>
                          <a:rPr lang="en-US" sz="2400" i="1">
                            <a:latin typeface="Cambria Math" panose="02040503050406030204" pitchFamily="18" charset="0"/>
                          </a:rPr>
                          <m:t>𝑦</m:t>
                        </m:r>
                        <m:r>
                          <a:rPr lang="en-US" sz="2400" i="1">
                            <a:latin typeface="Cambria Math" panose="02040503050406030204" pitchFamily="18" charset="0"/>
                          </a:rPr>
                          <m:t>)∈</m:t>
                        </m:r>
                        <m:r>
                          <a:rPr lang="en-US" sz="2400" i="1">
                            <a:latin typeface="Cambria Math" panose="02040503050406030204" pitchFamily="18" charset="0"/>
                          </a:rPr>
                          <m:t>𝑇</m:t>
                        </m:r>
                        <m:r>
                          <a:rPr lang="en-US" sz="2400" i="1">
                            <a:latin typeface="Cambria Math" panose="02040503050406030204" pitchFamily="18" charset="0"/>
                          </a:rPr>
                          <m:t> </m:t>
                        </m:r>
                      </m:sub>
                      <m:sup/>
                      <m:e>
                        <m:r>
                          <a:rPr lang="en-US" sz="2400" i="1">
                            <a:latin typeface="Cambria Math" panose="02040503050406030204" pitchFamily="18" charset="0"/>
                          </a:rPr>
                          <m:t>[</m:t>
                        </m:r>
                        <m:r>
                          <a:rPr lang="en-US" sz="2400" i="1">
                            <a:latin typeface="Cambria Math" panose="02040503050406030204" pitchFamily="18" charset="0"/>
                          </a:rPr>
                          <m:t>ℎ</m:t>
                        </m:r>
                        <m:r>
                          <a:rPr lang="en-US" sz="2400" b="0" i="1" smtClean="0">
                            <a:latin typeface="Cambria Math" panose="02040503050406030204" pitchFamily="18" charset="0"/>
                          </a:rPr>
                          <m:t>(</m:t>
                        </m:r>
                        <m:r>
                          <a:rPr lang="en-US" sz="2400" b="1" i="1" smtClean="0">
                            <a:latin typeface="Cambria Math" panose="02040503050406030204" pitchFamily="18" charset="0"/>
                          </a:rPr>
                          <m:t>𝒙</m:t>
                        </m:r>
                        <m:r>
                          <a:rPr lang="en-US" sz="2400" b="0" i="1" smtClean="0">
                            <a:latin typeface="Cambria Math" panose="02040503050406030204" pitchFamily="18" charset="0"/>
                          </a:rPr>
                          <m:t>)</m:t>
                        </m:r>
                        <m:r>
                          <a:rPr lang="en-US" sz="2400" i="1">
                            <a:latin typeface="Cambria Math" panose="02040503050406030204" pitchFamily="18" charset="0"/>
                          </a:rPr>
                          <m:t>=</m:t>
                        </m:r>
                        <m:r>
                          <a:rPr lang="en-US" sz="2400" i="1">
                            <a:latin typeface="Cambria Math" panose="02040503050406030204" pitchFamily="18" charset="0"/>
                          </a:rPr>
                          <m:t>𝑦</m:t>
                        </m:r>
                        <m:r>
                          <a:rPr lang="en-US" sz="2400" i="1">
                            <a:latin typeface="Cambria Math" panose="02040503050406030204" pitchFamily="18" charset="0"/>
                          </a:rPr>
                          <m:t>]</m:t>
                        </m:r>
                      </m:e>
                    </m:nary>
                    <m:r>
                      <a:rPr lang="en-US" sz="2400" i="1">
                        <a:latin typeface="Cambria Math" panose="02040503050406030204" pitchFamily="18" charset="0"/>
                      </a:rPr>
                      <m:t>=1− </m:t>
                    </m:r>
                    <m:r>
                      <a:rPr lang="en-US" sz="2400" i="1">
                        <a:latin typeface="Cambria Math" panose="02040503050406030204" pitchFamily="18" charset="0"/>
                      </a:rPr>
                      <m:t>𝐸𝑚𝑝𝐿𝑜𝑠</m:t>
                    </m:r>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𝐿</m:t>
                            </m:r>
                          </m:e>
                          <m:sub>
                            <m:r>
                              <a:rPr lang="en-US" sz="2400" b="0" i="1" smtClean="0">
                                <a:latin typeface="Cambria Math" panose="02040503050406030204" pitchFamily="18" charset="0"/>
                              </a:rPr>
                              <m:t>0/1</m:t>
                            </m:r>
                          </m:sub>
                        </m:sSub>
                        <m:r>
                          <a:rPr lang="en-US" sz="2400" i="1">
                            <a:latin typeface="Cambria Math" panose="02040503050406030204" pitchFamily="18" charset="0"/>
                          </a:rPr>
                          <m:t>,</m:t>
                        </m:r>
                        <m:r>
                          <a:rPr lang="en-US" sz="2400" i="1">
                            <a:latin typeface="Cambria Math" panose="02040503050406030204" pitchFamily="18" charset="0"/>
                          </a:rPr>
                          <m:t>𝑇</m:t>
                        </m:r>
                      </m:sub>
                    </m:sSub>
                    <m:d>
                      <m:dPr>
                        <m:ctrlPr>
                          <a:rPr lang="en-US" sz="2400" i="1">
                            <a:latin typeface="Cambria Math" panose="02040503050406030204" pitchFamily="18" charset="0"/>
                          </a:rPr>
                        </m:ctrlPr>
                      </m:dPr>
                      <m:e>
                        <m:r>
                          <a:rPr lang="en-US" sz="2400" i="1">
                            <a:latin typeface="Cambria Math" panose="02040503050406030204" pitchFamily="18" charset="0"/>
                          </a:rPr>
                          <m:t>ℎ</m:t>
                        </m:r>
                      </m:e>
                    </m:d>
                  </m:oMath>
                </a14:m>
                <a:br>
                  <a:rPr lang="en-US" dirty="0"/>
                </a:br>
                <a:endParaRPr lang="en-US" dirty="0"/>
              </a:p>
              <a:p>
                <a:pPr marL="0" indent="0" algn="r">
                  <a:buNone/>
                </a:pPr>
                <a:br>
                  <a:rPr lang="en-US" sz="1800" i="1" dirty="0">
                    <a:latin typeface="Cambria Math" panose="02040503050406030204" pitchFamily="18" charset="0"/>
                  </a:rPr>
                </a:br>
                <a14:m>
                  <m:oMath xmlns:m="http://schemas.openxmlformats.org/officeDocument/2006/math">
                    <m:d>
                      <m:dPr>
                        <m:begChr m:val="["/>
                        <m:endChr m:val="]"/>
                        <m:ctrlPr>
                          <a:rPr lang="en-US" sz="1800" i="1">
                            <a:latin typeface="Cambria Math" panose="02040503050406030204" pitchFamily="18" charset="0"/>
                          </a:rPr>
                        </m:ctrlPr>
                      </m:dPr>
                      <m:e>
                        <m:r>
                          <a:rPr lang="en-US" sz="1800" i="1">
                            <a:latin typeface="Cambria Math" panose="02040503050406030204" pitchFamily="18" charset="0"/>
                          </a:rPr>
                          <m:t>𝑐</m:t>
                        </m:r>
                      </m:e>
                    </m:d>
                  </m:oMath>
                </a14:m>
                <a:r>
                  <a:rPr lang="en-US" sz="1800" dirty="0"/>
                  <a:t> is an indicator function returning 1 if </a:t>
                </a:r>
                <a14:m>
                  <m:oMath xmlns:m="http://schemas.openxmlformats.org/officeDocument/2006/math">
                    <m:r>
                      <a:rPr lang="en-US" sz="1800" i="1" dirty="0">
                        <a:latin typeface="Cambria Math" panose="02040503050406030204" pitchFamily="18" charset="0"/>
                      </a:rPr>
                      <m:t>𝑐</m:t>
                    </m:r>
                    <m:r>
                      <a:rPr lang="en-US" sz="1800" i="1" dirty="0">
                        <a:latin typeface="Cambria Math" panose="02040503050406030204" pitchFamily="18" charset="0"/>
                      </a:rPr>
                      <m:t> = </m:t>
                    </m:r>
                    <m:r>
                      <a:rPr lang="en-US" sz="1800" i="1" dirty="0">
                        <a:latin typeface="Cambria Math" panose="02040503050406030204" pitchFamily="18" charset="0"/>
                      </a:rPr>
                      <m:t>𝑇𝑟𝑢𝑒</m:t>
                    </m:r>
                    <m:r>
                      <a:rPr lang="en-US" sz="1800" i="1" dirty="0">
                        <a:latin typeface="Cambria Math" panose="02040503050406030204" pitchFamily="18" charset="0"/>
                      </a:rPr>
                      <m:t> </m:t>
                    </m:r>
                  </m:oMath>
                </a14:m>
                <a:r>
                  <a:rPr lang="en-US" sz="1800" dirty="0"/>
                  <a:t>and otherwise 0 </a:t>
                </a:r>
                <a:br>
                  <a:rPr lang="en-US" sz="1800" dirty="0"/>
                </a:br>
                <a:endParaRPr lang="en-US" sz="1800" dirty="0"/>
              </a:p>
            </p:txBody>
          </p:sp>
        </mc:Choice>
        <mc:Fallback xmlns="">
          <p:sp>
            <p:nvSpPr>
              <p:cNvPr id="3" name="Content Placeholder 2">
                <a:extLst>
                  <a:ext uri="{FF2B5EF4-FFF2-40B4-BE49-F238E27FC236}">
                    <a16:creationId xmlns:a16="http://schemas.microsoft.com/office/drawing/2014/main" id="{E263A696-816F-47D3-BA81-F4BDA9C353CC}"/>
                  </a:ext>
                </a:extLst>
              </p:cNvPr>
              <p:cNvSpPr>
                <a:spLocks noGrp="1" noRot="1" noChangeAspect="1" noMove="1" noResize="1" noEditPoints="1" noAdjustHandles="1" noChangeArrowheads="1" noChangeShapeType="1" noTextEdit="1"/>
              </p:cNvSpPr>
              <p:nvPr>
                <p:ph idx="1"/>
              </p:nvPr>
            </p:nvSpPr>
            <p:spPr>
              <a:xfrm>
                <a:off x="838200" y="1825625"/>
                <a:ext cx="8229600" cy="4667250"/>
              </a:xfrm>
              <a:blipFill>
                <a:blip r:embed="rId2"/>
                <a:stretch>
                  <a:fillRect l="-815" t="-2350" r="-519" b="-113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4">
                <a:extLst>
                  <a:ext uri="{FF2B5EF4-FFF2-40B4-BE49-F238E27FC236}">
                    <a16:creationId xmlns:a16="http://schemas.microsoft.com/office/drawing/2014/main" id="{2CFE8C07-2A24-C975-43FB-99D39641346B}"/>
                  </a:ext>
                </a:extLst>
              </p:cNvPr>
              <p:cNvSpPr>
                <a:spLocks noChangeArrowheads="1"/>
              </p:cNvSpPr>
              <p:nvPr/>
            </p:nvSpPr>
            <p:spPr bwMode="auto">
              <a:xfrm>
                <a:off x="9753600" y="1676400"/>
                <a:ext cx="1676400" cy="359410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none" anchor="ctr"/>
              <a:lstStyle/>
              <a:p>
                <a:pPr algn="ctr"/>
                <a:r>
                  <a:rPr lang="en-US" dirty="0">
                    <a:latin typeface="Calibri"/>
                    <a:cs typeface="Calibri"/>
                  </a:rPr>
                  <a:t>Training</a:t>
                </a:r>
              </a:p>
              <a:p>
                <a:pPr algn="ctr"/>
                <a:r>
                  <a:rPr lang="en-US" dirty="0">
                    <a:latin typeface="Calibri"/>
                    <a:cs typeface="Calibri"/>
                  </a:rPr>
                  <a:t>Data</a:t>
                </a:r>
                <a:br>
                  <a:rPr lang="en-US" dirty="0">
                    <a:latin typeface="Calibri"/>
                    <a:cs typeface="Calibri"/>
                  </a:rPr>
                </a:br>
                <a14:m>
                  <m:oMathPara xmlns:m="http://schemas.openxmlformats.org/officeDocument/2006/math">
                    <m:oMath>
                      <m:r>
                        <a:rPr lang="en-US" b="0" i="1" smtClean="0">
                          <a:latin typeface="Cambria Math" panose="02040503050406030204" pitchFamily="18" charset="0"/>
                        </a:rPr>
                        <m:t>𝐸</m:t>
                      </m:r>
                    </m:oMath>
                  </m:oMathPara>
                </a14:m>
                <a:endParaRPr lang="en-US" dirty="0">
                  <a:latin typeface="Calibri"/>
                  <a:cs typeface="Calibri"/>
                </a:endParaRPr>
              </a:p>
            </p:txBody>
          </p:sp>
        </mc:Choice>
        <mc:Fallback xmlns="">
          <p:sp>
            <p:nvSpPr>
              <p:cNvPr id="4" name="Rectangle 4">
                <a:extLst>
                  <a:ext uri="{FF2B5EF4-FFF2-40B4-BE49-F238E27FC236}">
                    <a16:creationId xmlns:a16="http://schemas.microsoft.com/office/drawing/2014/main" id="{2CFE8C07-2A24-C975-43FB-99D39641346B}"/>
                  </a:ext>
                </a:extLst>
              </p:cNvPr>
              <p:cNvSpPr>
                <a:spLocks noRot="1" noChangeAspect="1" noMove="1" noResize="1" noEditPoints="1" noAdjustHandles="1" noChangeArrowheads="1" noChangeShapeType="1" noTextEdit="1"/>
              </p:cNvSpPr>
              <p:nvPr/>
            </p:nvSpPr>
            <p:spPr bwMode="auto">
              <a:xfrm>
                <a:off x="9753600" y="1676400"/>
                <a:ext cx="1676400" cy="3594100"/>
              </a:xfrm>
              <a:prstGeom prst="rect">
                <a:avLst/>
              </a:prstGeom>
              <a:blipFill>
                <a:blip r:embed="rId4"/>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6">
                <a:extLst>
                  <a:ext uri="{FF2B5EF4-FFF2-40B4-BE49-F238E27FC236}">
                    <a16:creationId xmlns:a16="http://schemas.microsoft.com/office/drawing/2014/main" id="{9537EEEA-4B43-7A4F-00EC-E7412EDC1627}"/>
                  </a:ext>
                </a:extLst>
              </p:cNvPr>
              <p:cNvSpPr>
                <a:spLocks noChangeArrowheads="1"/>
              </p:cNvSpPr>
              <p:nvPr/>
            </p:nvSpPr>
            <p:spPr bwMode="auto">
              <a:xfrm>
                <a:off x="9753600" y="5410200"/>
                <a:ext cx="1676400" cy="914400"/>
              </a:xfrm>
              <a:prstGeom prst="rect">
                <a:avLst/>
              </a:prstGeom>
              <a:ln>
                <a:headEnd/>
                <a:tailEnd/>
              </a:ln>
            </p:spPr>
            <p:style>
              <a:lnRef idx="3">
                <a:schemeClr val="lt1"/>
              </a:lnRef>
              <a:fillRef idx="1">
                <a:schemeClr val="accent2"/>
              </a:fillRef>
              <a:effectRef idx="1">
                <a:schemeClr val="accent2"/>
              </a:effectRef>
              <a:fontRef idx="minor">
                <a:schemeClr val="lt1"/>
              </a:fontRef>
            </p:style>
            <p:txBody>
              <a:bodyPr wrap="none" anchor="ctr"/>
              <a:lstStyle/>
              <a:p>
                <a:pPr algn="ctr"/>
                <a:r>
                  <a:rPr lang="en-US" dirty="0">
                    <a:latin typeface="Calibri"/>
                    <a:cs typeface="Calibri"/>
                  </a:rPr>
                  <a:t>Test   </a:t>
                </a:r>
              </a:p>
              <a:p>
                <a:pPr algn="ctr"/>
                <a:r>
                  <a:rPr lang="en-US" dirty="0">
                    <a:latin typeface="Calibri"/>
                    <a:cs typeface="Calibri"/>
                  </a:rPr>
                  <a:t>Data </a:t>
                </a:r>
                <a14:m>
                  <m:oMath xmlns:m="http://schemas.openxmlformats.org/officeDocument/2006/math">
                    <m:r>
                      <a:rPr lang="en-US" b="0" i="1" smtClean="0">
                        <a:latin typeface="Cambria Math" panose="02040503050406030204" pitchFamily="18" charset="0"/>
                        <a:cs typeface="Calibri"/>
                      </a:rPr>
                      <m:t>𝑇</m:t>
                    </m:r>
                    <m:r>
                      <a:rPr lang="en-US" b="0" i="1" smtClean="0">
                        <a:latin typeface="Cambria Math" panose="02040503050406030204" pitchFamily="18" charset="0"/>
                        <a:cs typeface="Calibri"/>
                      </a:rPr>
                      <m:t>    </m:t>
                    </m:r>
                  </m:oMath>
                </a14:m>
                <a:r>
                  <a:rPr lang="en-US" dirty="0">
                    <a:latin typeface="Calibri"/>
                    <a:cs typeface="Calibri"/>
                  </a:rPr>
                  <a:t>   </a:t>
                </a:r>
              </a:p>
            </p:txBody>
          </p:sp>
        </mc:Choice>
        <mc:Fallback xmlns="">
          <p:sp>
            <p:nvSpPr>
              <p:cNvPr id="5" name="Rectangle 6">
                <a:extLst>
                  <a:ext uri="{FF2B5EF4-FFF2-40B4-BE49-F238E27FC236}">
                    <a16:creationId xmlns:a16="http://schemas.microsoft.com/office/drawing/2014/main" id="{9537EEEA-4B43-7A4F-00EC-E7412EDC1627}"/>
                  </a:ext>
                </a:extLst>
              </p:cNvPr>
              <p:cNvSpPr>
                <a:spLocks noRot="1" noChangeAspect="1" noMove="1" noResize="1" noEditPoints="1" noAdjustHandles="1" noChangeArrowheads="1" noChangeShapeType="1" noTextEdit="1"/>
              </p:cNvSpPr>
              <p:nvPr/>
            </p:nvSpPr>
            <p:spPr bwMode="auto">
              <a:xfrm>
                <a:off x="9753600" y="5410200"/>
                <a:ext cx="1676400" cy="914400"/>
              </a:xfrm>
              <a:prstGeom prst="rect">
                <a:avLst/>
              </a:prstGeom>
              <a:blipFill>
                <a:blip r:embed="rId5"/>
                <a:stretch>
                  <a:fillRect/>
                </a:stretch>
              </a:blipFill>
              <a:ln>
                <a:headEnd/>
                <a:tailEnd/>
              </a:ln>
            </p:spPr>
            <p:txBody>
              <a:bodyPr/>
              <a:lstStyle/>
              <a:p>
                <a:r>
                  <a:rPr lang="en-US">
                    <a:noFill/>
                  </a:rPr>
                  <a:t> </a:t>
                </a:r>
              </a:p>
            </p:txBody>
          </p:sp>
        </mc:Fallback>
      </mc:AlternateContent>
      <p:pic>
        <p:nvPicPr>
          <p:cNvPr id="8" name="Graphic 7" descr="Unlock with solid fill">
            <a:extLst>
              <a:ext uri="{FF2B5EF4-FFF2-40B4-BE49-F238E27FC236}">
                <a16:creationId xmlns:a16="http://schemas.microsoft.com/office/drawing/2014/main" id="{F8BF9C43-12F8-7B12-0540-81AAFB0F1E7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629900" y="5410200"/>
            <a:ext cx="914400" cy="914400"/>
          </a:xfrm>
          <a:prstGeom prst="rect">
            <a:avLst/>
          </a:prstGeom>
        </p:spPr>
      </p:pic>
    </p:spTree>
    <p:extLst>
      <p:ext uri="{BB962C8B-B14F-4D97-AF65-F5344CB8AC3E}">
        <p14:creationId xmlns:p14="http://schemas.microsoft.com/office/powerpoint/2010/main" val="2260336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title"/>
          </p:nvPr>
        </p:nvSpPr>
        <p:spPr/>
        <p:txBody>
          <a:bodyPr/>
          <a:lstStyle/>
          <a:p>
            <a:r>
              <a:rPr lang="en-US" dirty="0"/>
              <a:t>Learning Curve: </a:t>
            </a:r>
            <a:br>
              <a:rPr lang="en-US" dirty="0"/>
            </a:br>
            <a:r>
              <a:rPr lang="en-US" dirty="0"/>
              <a:t>The Effect the Training Data Size</a:t>
            </a:r>
          </a:p>
        </p:txBody>
      </p:sp>
      <p:sp>
        <p:nvSpPr>
          <p:cNvPr id="5" name="TextBox 4">
            <a:extLst>
              <a:ext uri="{FF2B5EF4-FFF2-40B4-BE49-F238E27FC236}">
                <a16:creationId xmlns:a16="http://schemas.microsoft.com/office/drawing/2014/main" id="{7B893CB7-1CE6-489E-AA25-529992299290}"/>
              </a:ext>
            </a:extLst>
          </p:cNvPr>
          <p:cNvSpPr txBox="1"/>
          <p:nvPr/>
        </p:nvSpPr>
        <p:spPr>
          <a:xfrm>
            <a:off x="7924800" y="2249652"/>
            <a:ext cx="3200400" cy="3231654"/>
          </a:xfrm>
          <a:prstGeom prst="rect">
            <a:avLst/>
          </a:prstGeom>
          <a:noFill/>
        </p:spPr>
        <p:txBody>
          <a:bodyPr wrap="square" rtlCol="0">
            <a:spAutoFit/>
          </a:bodyPr>
          <a:lstStyle/>
          <a:p>
            <a:r>
              <a:rPr lang="en-US" sz="2000" dirty="0"/>
              <a:t>Accuracy increases when the amount of available training data increases.</a:t>
            </a:r>
          </a:p>
          <a:p>
            <a:endParaRPr lang="en-US" sz="2000" dirty="0"/>
          </a:p>
          <a:p>
            <a:r>
              <a:rPr lang="en-US" sz="2400" b="1" dirty="0">
                <a:solidFill>
                  <a:srgbClr val="FF0000"/>
                </a:solidFill>
              </a:rPr>
              <a:t>More data is better!</a:t>
            </a:r>
          </a:p>
          <a:p>
            <a:endParaRPr lang="en-US" sz="2000" b="1" dirty="0">
              <a:solidFill>
                <a:srgbClr val="FF0000"/>
              </a:solidFill>
            </a:endParaRPr>
          </a:p>
          <a:p>
            <a:r>
              <a:rPr lang="en-US" sz="2000" dirty="0"/>
              <a:t>At some point, the learning curve flattens out, and more data does not contribute much!</a:t>
            </a:r>
          </a:p>
        </p:txBody>
      </p:sp>
      <p:grpSp>
        <p:nvGrpSpPr>
          <p:cNvPr id="6" name="Group 5" descr="A line chart showing how the accuracy increases when the training set size increases.">
            <a:extLst>
              <a:ext uri="{FF2B5EF4-FFF2-40B4-BE49-F238E27FC236}">
                <a16:creationId xmlns:a16="http://schemas.microsoft.com/office/drawing/2014/main" id="{EDE81B4A-876C-0019-74DE-F09196F7152E}"/>
              </a:ext>
            </a:extLst>
          </p:cNvPr>
          <p:cNvGrpSpPr/>
          <p:nvPr/>
        </p:nvGrpSpPr>
        <p:grpSpPr>
          <a:xfrm>
            <a:off x="619689" y="2019219"/>
            <a:ext cx="6886011" cy="4473656"/>
            <a:chOff x="685800" y="1774744"/>
            <a:chExt cx="6886011" cy="4473656"/>
          </a:xfrm>
        </p:grpSpPr>
        <p:pic>
          <p:nvPicPr>
            <p:cNvPr id="4" name="Picture 3" descr="A line chart showing how the accuracy increases when the training set size increases.">
              <a:extLst>
                <a:ext uri="{FF2B5EF4-FFF2-40B4-BE49-F238E27FC236}">
                  <a16:creationId xmlns:a16="http://schemas.microsoft.com/office/drawing/2014/main" id="{FCC41F1E-A882-4090-9BBF-C2012DFBB54D}"/>
                </a:ext>
              </a:extLst>
            </p:cNvPr>
            <p:cNvPicPr>
              <a:picLocks noChangeAspect="1"/>
            </p:cNvPicPr>
            <p:nvPr/>
          </p:nvPicPr>
          <p:blipFill>
            <a:blip r:embed="rId2"/>
            <a:stretch>
              <a:fillRect/>
            </a:stretch>
          </p:blipFill>
          <p:spPr>
            <a:xfrm>
              <a:off x="685800" y="1774744"/>
              <a:ext cx="6886011" cy="4473656"/>
            </a:xfrm>
            <a:prstGeom prst="rect">
              <a:avLst/>
            </a:prstGeom>
          </p:spPr>
        </p:pic>
        <p:sp>
          <p:nvSpPr>
            <p:cNvPr id="3" name="TextBox 2">
              <a:extLst>
                <a:ext uri="{FF2B5EF4-FFF2-40B4-BE49-F238E27FC236}">
                  <a16:creationId xmlns:a16="http://schemas.microsoft.com/office/drawing/2014/main" id="{6976109A-3269-41BF-A9E5-CF03732F4016}"/>
                </a:ext>
                <a:ext uri="{C183D7F6-B498-43B3-948B-1728B52AA6E4}">
                  <adec:decorative xmlns:adec="http://schemas.microsoft.com/office/drawing/2017/decorative" val="1"/>
                </a:ext>
              </a:extLst>
            </p:cNvPr>
            <p:cNvSpPr txBox="1"/>
            <p:nvPr/>
          </p:nvSpPr>
          <p:spPr>
            <a:xfrm rot="16200000">
              <a:off x="675383" y="3603485"/>
              <a:ext cx="1023101" cy="369332"/>
            </a:xfrm>
            <a:prstGeom prst="rect">
              <a:avLst/>
            </a:prstGeom>
            <a:noFill/>
          </p:spPr>
          <p:txBody>
            <a:bodyPr wrap="none" rtlCol="0">
              <a:spAutoFit/>
            </a:bodyPr>
            <a:lstStyle/>
            <a:p>
              <a:r>
                <a:rPr lang="en-US" dirty="0"/>
                <a:t>Accuracy</a:t>
              </a:r>
            </a:p>
          </p:txBody>
        </p:sp>
      </p:grpSp>
      <p:sp>
        <p:nvSpPr>
          <p:cNvPr id="10" name="Speech Bubble: Oval 9">
            <a:extLst>
              <a:ext uri="{FF2B5EF4-FFF2-40B4-BE49-F238E27FC236}">
                <a16:creationId xmlns:a16="http://schemas.microsoft.com/office/drawing/2014/main" id="{950477E8-3A99-82B3-DE3B-3B1F1FBE1FB7}"/>
              </a:ext>
            </a:extLst>
          </p:cNvPr>
          <p:cNvSpPr/>
          <p:nvPr/>
        </p:nvSpPr>
        <p:spPr>
          <a:xfrm>
            <a:off x="3581400" y="1600206"/>
            <a:ext cx="2362200" cy="649446"/>
          </a:xfrm>
          <a:prstGeom prst="wedgeEllipseCallout">
            <a:avLst>
              <a:gd name="adj1" fmla="val 63607"/>
              <a:gd name="adj2" fmla="val 8793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No classifier can get consistently better than the Bayesian error rate</a:t>
            </a:r>
          </a:p>
        </p:txBody>
      </p:sp>
      <p:cxnSp>
        <p:nvCxnSpPr>
          <p:cNvPr id="12" name="Straight Connector 11">
            <a:extLst>
              <a:ext uri="{FF2B5EF4-FFF2-40B4-BE49-F238E27FC236}">
                <a16:creationId xmlns:a16="http://schemas.microsoft.com/office/drawing/2014/main" id="{756F0791-53D0-2340-C98D-6EFE1BE2E569}"/>
              </a:ext>
            </a:extLst>
          </p:cNvPr>
          <p:cNvCxnSpPr>
            <a:cxnSpLocks/>
          </p:cNvCxnSpPr>
          <p:nvPr/>
        </p:nvCxnSpPr>
        <p:spPr>
          <a:xfrm>
            <a:off x="2209800" y="2514600"/>
            <a:ext cx="4648200" cy="0"/>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26867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dirty="0"/>
              <a:t>Comparing to a Baselines</a:t>
            </a:r>
          </a:p>
        </p:txBody>
      </p:sp>
      <p:sp>
        <p:nvSpPr>
          <p:cNvPr id="35843" name="Rectangle 3"/>
          <p:cNvSpPr>
            <a:spLocks noGrp="1" noChangeArrowheads="1"/>
          </p:cNvSpPr>
          <p:nvPr>
            <p:ph idx="1"/>
          </p:nvPr>
        </p:nvSpPr>
        <p:spPr/>
        <p:txBody>
          <a:bodyPr>
            <a:normAutofit fontScale="92500" lnSpcReduction="10000"/>
          </a:bodyPr>
          <a:lstStyle/>
          <a:p>
            <a:pPr eaLnBrk="1" hangingPunct="1">
              <a:lnSpc>
                <a:spcPct val="80000"/>
              </a:lnSpc>
            </a:pPr>
            <a:r>
              <a:rPr lang="en-US" sz="2400" dirty="0"/>
              <a:t>First step: get a </a:t>
            </a:r>
            <a:r>
              <a:rPr lang="en-US" sz="2400" b="1" dirty="0">
                <a:solidFill>
                  <a:srgbClr val="FF0000"/>
                </a:solidFill>
              </a:rPr>
              <a:t>baseline</a:t>
            </a:r>
          </a:p>
          <a:p>
            <a:pPr lvl="1" eaLnBrk="1" hangingPunct="1">
              <a:lnSpc>
                <a:spcPct val="80000"/>
              </a:lnSpc>
            </a:pPr>
            <a:r>
              <a:rPr lang="en-US" sz="2000" dirty="0"/>
              <a:t>The baseline is often a simple model.</a:t>
            </a:r>
          </a:p>
          <a:p>
            <a:pPr lvl="1" eaLnBrk="1" hangingPunct="1">
              <a:lnSpc>
                <a:spcPct val="80000"/>
              </a:lnSpc>
            </a:pPr>
            <a:r>
              <a:rPr lang="en-US" sz="2000" dirty="0"/>
              <a:t>Helps to determine how hard the task is.</a:t>
            </a:r>
          </a:p>
          <a:p>
            <a:pPr lvl="1" eaLnBrk="1" hangingPunct="1">
              <a:lnSpc>
                <a:spcPct val="80000"/>
              </a:lnSpc>
            </a:pPr>
            <a:r>
              <a:rPr lang="en-US" sz="2000" dirty="0"/>
              <a:t>Helps determine what a good accuracy is.</a:t>
            </a:r>
          </a:p>
          <a:p>
            <a:pPr eaLnBrk="1" hangingPunct="1">
              <a:lnSpc>
                <a:spcPct val="80000"/>
              </a:lnSpc>
            </a:pPr>
            <a:endParaRPr lang="en-US" sz="2400" dirty="0"/>
          </a:p>
          <a:p>
            <a:pPr eaLnBrk="1" hangingPunct="1">
              <a:lnSpc>
                <a:spcPct val="80000"/>
              </a:lnSpc>
            </a:pPr>
            <a:r>
              <a:rPr lang="en-US" sz="2400" b="1" dirty="0">
                <a:solidFill>
                  <a:srgbClr val="FF0000"/>
                </a:solidFill>
              </a:rPr>
              <a:t>Weak baseline</a:t>
            </a:r>
            <a:r>
              <a:rPr lang="en-US" sz="2400" dirty="0"/>
              <a:t>: E.g., </a:t>
            </a:r>
          </a:p>
          <a:p>
            <a:pPr lvl="1">
              <a:lnSpc>
                <a:spcPct val="80000"/>
              </a:lnSpc>
            </a:pPr>
            <a:r>
              <a:rPr lang="en-US" sz="2000" dirty="0"/>
              <a:t>Random choice: Choose a random answer.</a:t>
            </a:r>
          </a:p>
          <a:p>
            <a:pPr lvl="2">
              <a:lnSpc>
                <a:spcPct val="80000"/>
              </a:lnSpc>
            </a:pPr>
            <a:r>
              <a:rPr lang="en-US" sz="1600" dirty="0"/>
              <a:t>Example: Choose a random valid action for an agent playing Connect-4.</a:t>
            </a:r>
          </a:p>
          <a:p>
            <a:pPr lvl="1">
              <a:lnSpc>
                <a:spcPct val="80000"/>
              </a:lnSpc>
            </a:pPr>
            <a:r>
              <a:rPr lang="en-US" sz="2000" dirty="0"/>
              <a:t>Most frequent label classifier: Gives all test instances the same label, which is the most common label in the training set.</a:t>
            </a:r>
          </a:p>
          <a:p>
            <a:pPr lvl="2">
              <a:lnSpc>
                <a:spcPct val="80000"/>
              </a:lnSpc>
            </a:pPr>
            <a:r>
              <a:rPr lang="en-US" sz="1600" dirty="0"/>
              <a:t>Example: For spam filtering, give every message the label “ham” since most messages are ham.</a:t>
            </a:r>
          </a:p>
          <a:p>
            <a:pPr lvl="2">
              <a:lnSpc>
                <a:spcPct val="80000"/>
              </a:lnSpc>
            </a:pPr>
            <a:r>
              <a:rPr lang="en-US" sz="1600" dirty="0"/>
              <a:t>Note: Accuracy might be very high if the problem is skewed. This is called class imbalance.</a:t>
            </a:r>
            <a:br>
              <a:rPr lang="en-US" sz="1600" dirty="0"/>
            </a:br>
            <a:r>
              <a:rPr lang="en-US" sz="1600" dirty="0"/>
              <a:t>Example: If calling everything “ham” gets already 66% right, then a classifier that gets 68% isn’t a big improvement!</a:t>
            </a:r>
          </a:p>
          <a:p>
            <a:pPr lvl="1" eaLnBrk="1" hangingPunct="1">
              <a:lnSpc>
                <a:spcPct val="80000"/>
              </a:lnSpc>
            </a:pPr>
            <a:endParaRPr lang="en-US" sz="2000" dirty="0"/>
          </a:p>
          <a:p>
            <a:pPr>
              <a:lnSpc>
                <a:spcPct val="80000"/>
              </a:lnSpc>
            </a:pPr>
            <a:r>
              <a:rPr lang="en-US" sz="2400" b="1" dirty="0">
                <a:solidFill>
                  <a:srgbClr val="FF0000"/>
                </a:solidFill>
              </a:rPr>
              <a:t> Strong baseline: </a:t>
            </a:r>
            <a:r>
              <a:rPr lang="en-US" sz="2400" dirty="0"/>
              <a:t>For research, we typically compare our model with the performance of previously published state-of-the-art methods.</a:t>
            </a:r>
          </a:p>
          <a:p>
            <a:pPr lvl="1" eaLnBrk="1" hangingPunct="1">
              <a:lnSpc>
                <a:spcPct val="80000"/>
              </a:lnSpc>
            </a:pPr>
            <a:endParaRPr lang="en-US" sz="2000" dirty="0"/>
          </a:p>
        </p:txBody>
      </p:sp>
      <p:pic>
        <p:nvPicPr>
          <p:cNvPr id="3" name="Graphic 2" descr="Scales of justice with solid fill">
            <a:extLst>
              <a:ext uri="{FF2B5EF4-FFF2-40B4-BE49-F238E27FC236}">
                <a16:creationId xmlns:a16="http://schemas.microsoft.com/office/drawing/2014/main" id="{D1268937-A758-4CE9-B5AD-0B9E9E8D5D5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229600" y="495300"/>
            <a:ext cx="2908300" cy="29083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84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84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84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5843">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5843">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584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0" name="Rectangle 70">
            <a:extLst>
              <a:ext uri="{FF2B5EF4-FFF2-40B4-BE49-F238E27FC236}">
                <a16:creationId xmlns:a16="http://schemas.microsoft.com/office/drawing/2014/main" id="{F0AED851-54B9-4765-92D2-F0BE443BEC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935ED6E1-FA3E-4DAF-9B55-1139AEDB98BC}"/>
              </a:ext>
            </a:extLst>
          </p:cNvPr>
          <p:cNvSpPr>
            <a:spLocks noGrp="1"/>
          </p:cNvSpPr>
          <p:nvPr>
            <p:ph type="title"/>
          </p:nvPr>
        </p:nvSpPr>
        <p:spPr>
          <a:xfrm>
            <a:off x="7003014" y="666728"/>
            <a:ext cx="4036334" cy="1709849"/>
          </a:xfrm>
        </p:spPr>
        <p:txBody>
          <a:bodyPr vert="horz" lIns="91440" tIns="45720" rIns="91440" bIns="45720" rtlCol="0" anchor="t">
            <a:normAutofit fontScale="90000"/>
          </a:bodyPr>
          <a:lstStyle/>
          <a:p>
            <a:r>
              <a:rPr lang="en-US" sz="5400" kern="1200" dirty="0">
                <a:solidFill>
                  <a:schemeClr val="tx1"/>
                </a:solidFill>
                <a:latin typeface="+mj-lt"/>
                <a:ea typeface="+mj-ea"/>
                <a:cs typeface="+mj-cs"/>
              </a:rPr>
              <a:t>Types of </a:t>
            </a:r>
            <a:br>
              <a:rPr lang="en-US" sz="5400" kern="1200" dirty="0">
                <a:solidFill>
                  <a:schemeClr val="tx1"/>
                </a:solidFill>
                <a:latin typeface="+mj-lt"/>
                <a:ea typeface="+mj-ea"/>
                <a:cs typeface="+mj-cs"/>
              </a:rPr>
            </a:br>
            <a:r>
              <a:rPr lang="en-US" sz="5400" kern="1200" dirty="0">
                <a:solidFill>
                  <a:schemeClr val="tx1"/>
                </a:solidFill>
                <a:latin typeface="+mj-lt"/>
                <a:ea typeface="+mj-ea"/>
                <a:cs typeface="+mj-cs"/>
              </a:rPr>
              <a:t>Supervised</a:t>
            </a:r>
            <a:br>
              <a:rPr lang="en-US" sz="5400" kern="1200" dirty="0">
                <a:solidFill>
                  <a:schemeClr val="tx1"/>
                </a:solidFill>
                <a:latin typeface="+mj-lt"/>
                <a:ea typeface="+mj-ea"/>
                <a:cs typeface="+mj-cs"/>
              </a:rPr>
            </a:br>
            <a:r>
              <a:rPr lang="en-US" sz="5400" kern="1200" dirty="0">
                <a:solidFill>
                  <a:schemeClr val="tx1"/>
                </a:solidFill>
                <a:latin typeface="+mj-lt"/>
                <a:ea typeface="+mj-ea"/>
                <a:cs typeface="+mj-cs"/>
              </a:rPr>
              <a:t>ML Models</a:t>
            </a:r>
          </a:p>
        </p:txBody>
      </p:sp>
      <p:sp>
        <p:nvSpPr>
          <p:cNvPr id="7" name="Text Placeholder 6">
            <a:extLst>
              <a:ext uri="{FF2B5EF4-FFF2-40B4-BE49-F238E27FC236}">
                <a16:creationId xmlns:a16="http://schemas.microsoft.com/office/drawing/2014/main" id="{749DC278-9D3E-40A3-A06E-86E24B87C6AC}"/>
              </a:ext>
            </a:extLst>
          </p:cNvPr>
          <p:cNvSpPr>
            <a:spLocks noGrp="1"/>
          </p:cNvSpPr>
          <p:nvPr>
            <p:ph type="body" idx="1"/>
          </p:nvPr>
        </p:nvSpPr>
        <p:spPr>
          <a:xfrm>
            <a:off x="7003014" y="4876800"/>
            <a:ext cx="4036333" cy="1709849"/>
          </a:xfrm>
        </p:spPr>
        <p:txBody>
          <a:bodyPr vert="horz" lIns="91440" tIns="45720" rIns="91440" bIns="45720" rtlCol="0" anchor="b">
            <a:normAutofit/>
          </a:bodyPr>
          <a:lstStyle/>
          <a:p>
            <a:r>
              <a:rPr lang="en-US" sz="2000" kern="1200" dirty="0">
                <a:solidFill>
                  <a:schemeClr val="tx1"/>
                </a:solidFill>
                <a:latin typeface="+mn-lt"/>
                <a:ea typeface="+mn-ea"/>
                <a:cs typeface="+mn-cs"/>
              </a:rPr>
              <a:t>Regression: Predict a number</a:t>
            </a:r>
          </a:p>
          <a:p>
            <a:r>
              <a:rPr lang="en-US" sz="2000" kern="1200" dirty="0">
                <a:solidFill>
                  <a:schemeClr val="tx1"/>
                </a:solidFill>
                <a:latin typeface="+mn-lt"/>
                <a:ea typeface="+mn-ea"/>
                <a:cs typeface="+mn-cs"/>
              </a:rPr>
              <a:t>Classification: Predict a label</a:t>
            </a:r>
          </a:p>
          <a:p>
            <a:endParaRPr lang="en-US" sz="2000" kern="1200" dirty="0">
              <a:solidFill>
                <a:schemeClr val="tx1"/>
              </a:solidFill>
              <a:latin typeface="+mn-lt"/>
              <a:ea typeface="+mn-ea"/>
              <a:cs typeface="+mn-cs"/>
            </a:endParaRPr>
          </a:p>
        </p:txBody>
      </p:sp>
      <p:sp>
        <p:nvSpPr>
          <p:cNvPr id="4101" name="Rectangle 72">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6824"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a:extLst>
              <a:ext uri="{FF2B5EF4-FFF2-40B4-BE49-F238E27FC236}">
                <a16:creationId xmlns:a16="http://schemas.microsoft.com/office/drawing/2014/main" id="{3B9EF21E-AB9E-45F4-96D1-5505071AABDE}"/>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68612" y="666728"/>
            <a:ext cx="5465791" cy="5465791"/>
          </a:xfrm>
          <a:prstGeom prst="rect">
            <a:avLst/>
          </a:prstGeom>
          <a:noFill/>
          <a:extLst>
            <a:ext uri="{909E8E84-426E-40DD-AFC4-6F175D3DCCD1}">
              <a14:hiddenFill xmlns:a14="http://schemas.microsoft.com/office/drawing/2010/main">
                <a:solidFill>
                  <a:srgbClr val="FFFFFF"/>
                </a:solidFill>
              </a14:hiddenFill>
            </a:ext>
          </a:extLst>
        </p:spPr>
      </p:pic>
      <p:grpSp>
        <p:nvGrpSpPr>
          <p:cNvPr id="77" name="Group 76">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60480" y="2984992"/>
            <a:ext cx="731521" cy="673460"/>
            <a:chOff x="3940602" y="308034"/>
            <a:chExt cx="2116791" cy="3428999"/>
          </a:xfrm>
          <a:solidFill>
            <a:schemeClr val="accent4"/>
          </a:solidFill>
        </p:grpSpPr>
        <p:sp>
          <p:nvSpPr>
            <p:cNvPr id="78" name="Rectangle 77">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545553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D88DA-0611-48E7-9A3A-1FA64D85673F}"/>
              </a:ext>
            </a:extLst>
          </p:cNvPr>
          <p:cNvSpPr>
            <a:spLocks noGrp="1"/>
          </p:cNvSpPr>
          <p:nvPr>
            <p:ph type="title"/>
          </p:nvPr>
        </p:nvSpPr>
        <p:spPr>
          <a:xfrm>
            <a:off x="685800" y="251735"/>
            <a:ext cx="10515600" cy="1325563"/>
          </a:xfrm>
        </p:spPr>
        <p:txBody>
          <a:bodyPr/>
          <a:lstStyle/>
          <a:p>
            <a:r>
              <a:rPr lang="en-US" dirty="0"/>
              <a:t>Regression: Linear Regression</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07B10872-8BD1-5418-BBBC-C7C9889EA209}"/>
                  </a:ext>
                </a:extLst>
              </p:cNvPr>
              <p:cNvSpPr>
                <a:spLocks noGrp="1"/>
              </p:cNvSpPr>
              <p:nvPr>
                <p:ph idx="1"/>
              </p:nvPr>
            </p:nvSpPr>
            <p:spPr>
              <a:xfrm>
                <a:off x="685799" y="1598469"/>
                <a:ext cx="9283701" cy="4268931"/>
              </a:xfrm>
            </p:spPr>
            <p:txBody>
              <a:bodyPr>
                <a:normAutofit fontScale="70000" lnSpcReduction="20000"/>
              </a:bodyPr>
              <a:lstStyle/>
              <a:p>
                <a:r>
                  <a:rPr lang="en-US" dirty="0"/>
                  <a:t>Model: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ℎ</m:t>
                        </m:r>
                      </m:e>
                      <m:sub>
                        <m:r>
                          <a:rPr lang="en-US" b="1" i="1">
                            <a:latin typeface="Cambria Math" panose="02040503050406030204" pitchFamily="18" charset="0"/>
                          </a:rPr>
                          <m:t>𝒘</m:t>
                        </m:r>
                      </m:sub>
                    </m:sSub>
                    <m:d>
                      <m:dPr>
                        <m:ctrlPr>
                          <a:rPr lang="en-US" b="1" i="1" smtClean="0">
                            <a:latin typeface="Cambria Math" panose="02040503050406030204" pitchFamily="18" charset="0"/>
                          </a:rPr>
                        </m:ctrlPr>
                      </m:dPr>
                      <m:e>
                        <m:r>
                          <a:rPr lang="en-US" b="1" i="1" smtClean="0">
                            <a:latin typeface="Cambria Math" panose="02040503050406030204" pitchFamily="18" charset="0"/>
                          </a:rPr>
                          <m:t>𝒙</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𝑜</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𝑛</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𝑛</m:t>
                        </m:r>
                      </m:sub>
                    </m:sSub>
                    <m:r>
                      <a:rPr lang="en-US" i="1">
                        <a:latin typeface="Cambria Math" panose="02040503050406030204" pitchFamily="18" charset="0"/>
                      </a:rPr>
                      <m:t>=</m:t>
                    </m:r>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𝑖</m:t>
                        </m:r>
                      </m:sub>
                      <m:sup/>
                      <m:e>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𝑖</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e>
                    </m:nary>
                    <m:r>
                      <a:rPr lang="en-US" i="1">
                        <a:latin typeface="Cambria Math" panose="02040503050406030204" pitchFamily="18" charset="0"/>
                      </a:rPr>
                      <m:t>=</m:t>
                    </m:r>
                    <m:sSup>
                      <m:sSupPr>
                        <m:ctrlPr>
                          <a:rPr lang="en-US" b="1" i="1">
                            <a:latin typeface="Cambria Math" panose="02040503050406030204" pitchFamily="18" charset="0"/>
                          </a:rPr>
                        </m:ctrlPr>
                      </m:sSupPr>
                      <m:e>
                        <m:r>
                          <a:rPr lang="en-US" b="1" i="1">
                            <a:latin typeface="Cambria Math" panose="02040503050406030204" pitchFamily="18" charset="0"/>
                          </a:rPr>
                          <m:t>𝒘</m:t>
                        </m:r>
                      </m:e>
                      <m:sup>
                        <m:r>
                          <a:rPr lang="en-US" b="0" i="1" smtClean="0">
                            <a:latin typeface="Cambria Math" panose="02040503050406030204" pitchFamily="18" charset="0"/>
                          </a:rPr>
                          <m:t>⊤</m:t>
                        </m:r>
                      </m:sup>
                    </m:sSup>
                    <m:r>
                      <a:rPr lang="en-US" b="1" i="1" smtClean="0">
                        <a:latin typeface="Cambria Math" panose="02040503050406030204" pitchFamily="18" charset="0"/>
                      </a:rPr>
                      <m:t>𝒙</m:t>
                    </m:r>
                    <m:r>
                      <a:rPr lang="en-US" i="1">
                        <a:latin typeface="Cambria Math" panose="02040503050406030204" pitchFamily="18" charset="0"/>
                      </a:rPr>
                      <m:t> </m:t>
                    </m:r>
                  </m:oMath>
                </a14:m>
                <a:endParaRPr lang="en-US" dirty="0"/>
              </a:p>
              <a:p>
                <a:r>
                  <a:rPr lang="en-US" dirty="0"/>
                  <a:t>Empirical loss: 	</a:t>
                </a:r>
                <a14:m>
                  <m:oMath xmlns:m="http://schemas.openxmlformats.org/officeDocument/2006/math">
                    <m:r>
                      <a:rPr lang="en-US" i="1">
                        <a:latin typeface="Cambria Math" panose="02040503050406030204" pitchFamily="18" charset="0"/>
                      </a:rPr>
                      <m:t>𝐿</m:t>
                    </m:r>
                    <m:d>
                      <m:dPr>
                        <m:ctrlPr>
                          <a:rPr lang="en-US" b="1" i="1">
                            <a:latin typeface="Cambria Math" panose="02040503050406030204" pitchFamily="18" charset="0"/>
                          </a:rPr>
                        </m:ctrlPr>
                      </m:dPr>
                      <m:e>
                        <m:r>
                          <a:rPr lang="en-US" b="1" i="1">
                            <a:latin typeface="Cambria Math" panose="02040503050406030204" pitchFamily="18" charset="0"/>
                          </a:rPr>
                          <m:t>𝒘</m:t>
                        </m:r>
                      </m:e>
                    </m:d>
                    <m:r>
                      <a:rPr lang="en-US" i="1">
                        <a:latin typeface="Cambria Math" panose="02040503050406030204" pitchFamily="18" charset="0"/>
                      </a:rPr>
                      <m:t>=</m:t>
                    </m:r>
                    <m:sSup>
                      <m:sSupPr>
                        <m:ctrlPr>
                          <a:rPr lang="en-US" b="1" i="1">
                            <a:latin typeface="Cambria Math" panose="02040503050406030204" pitchFamily="18" charset="0"/>
                          </a:rPr>
                        </m:ctrlPr>
                      </m:sSupPr>
                      <m:e>
                        <m:d>
                          <m:dPr>
                            <m:begChr m:val="‖"/>
                            <m:endChr m:val="‖"/>
                            <m:ctrlPr>
                              <a:rPr lang="en-US" b="1" i="1">
                                <a:latin typeface="Cambria Math" panose="02040503050406030204" pitchFamily="18" charset="0"/>
                              </a:rPr>
                            </m:ctrlPr>
                          </m:dPr>
                          <m:e>
                            <m:r>
                              <a:rPr lang="en-US" b="1" i="1">
                                <a:latin typeface="Cambria Math" panose="02040503050406030204" pitchFamily="18" charset="0"/>
                              </a:rPr>
                              <m:t>𝑿𝒘</m:t>
                            </m:r>
                            <m:r>
                              <a:rPr lang="en-US" b="1" i="1">
                                <a:latin typeface="Cambria Math" panose="02040503050406030204" pitchFamily="18" charset="0"/>
                              </a:rPr>
                              <m:t>−</m:t>
                            </m:r>
                            <m:r>
                              <a:rPr lang="en-US" b="1" i="1">
                                <a:latin typeface="Cambria Math" panose="02040503050406030204" pitchFamily="18" charset="0"/>
                              </a:rPr>
                              <m:t>𝒚</m:t>
                            </m:r>
                          </m:e>
                        </m:d>
                      </m:e>
                      <m:sup>
                        <m:r>
                          <a:rPr lang="en-US" b="1" i="1">
                            <a:latin typeface="Cambria Math" panose="02040503050406030204" pitchFamily="18" charset="0"/>
                          </a:rPr>
                          <m:t>𝟐</m:t>
                        </m:r>
                      </m:sup>
                    </m:sSup>
                  </m:oMath>
                </a14:m>
                <a:endParaRPr lang="en-US" dirty="0"/>
              </a:p>
              <a:p>
                <a:r>
                  <a:rPr lang="en-US" dirty="0"/>
                  <a:t>Gradient:	</a:t>
                </a:r>
                <a14:m>
                  <m:oMath xmlns:m="http://schemas.openxmlformats.org/officeDocument/2006/math">
                    <m:r>
                      <m:rPr>
                        <m:sty m:val="p"/>
                      </m:rP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𝐿</m:t>
                    </m:r>
                    <m:d>
                      <m:dPr>
                        <m:ctrlPr>
                          <a:rPr lang="en-US" b="1" i="1">
                            <a:latin typeface="Cambria Math" panose="02040503050406030204" pitchFamily="18" charset="0"/>
                          </a:rPr>
                        </m:ctrlPr>
                      </m:dPr>
                      <m:e>
                        <m:r>
                          <a:rPr lang="en-US" b="1" i="1">
                            <a:latin typeface="Cambria Math" panose="02040503050406030204" pitchFamily="18" charset="0"/>
                          </a:rPr>
                          <m:t>𝒘</m:t>
                        </m:r>
                      </m:e>
                    </m:d>
                    <m:r>
                      <a:rPr lang="en-US" i="1">
                        <a:latin typeface="Cambria Math" panose="02040503050406030204" pitchFamily="18" charset="0"/>
                      </a:rPr>
                      <m:t>=2</m:t>
                    </m:r>
                    <m:sSup>
                      <m:sSupPr>
                        <m:ctrlPr>
                          <a:rPr lang="en-US" b="1" i="1">
                            <a:latin typeface="Cambria Math" panose="02040503050406030204" pitchFamily="18" charset="0"/>
                          </a:rPr>
                        </m:ctrlPr>
                      </m:sSupPr>
                      <m:e>
                        <m:r>
                          <a:rPr lang="en-US" b="1" i="1">
                            <a:latin typeface="Cambria Math" panose="02040503050406030204" pitchFamily="18" charset="0"/>
                          </a:rPr>
                          <m:t>𝑿</m:t>
                        </m:r>
                      </m:e>
                      <m:sup>
                        <m:r>
                          <a:rPr lang="en-US" b="1" i="1" smtClean="0">
                            <a:latin typeface="Cambria Math" panose="02040503050406030204" pitchFamily="18" charset="0"/>
                          </a:rPr>
                          <m:t>⊤</m:t>
                        </m:r>
                      </m:sup>
                    </m:sSup>
                    <m:d>
                      <m:dPr>
                        <m:ctrlPr>
                          <a:rPr lang="en-US" b="1" i="1">
                            <a:latin typeface="Cambria Math" panose="02040503050406030204" pitchFamily="18" charset="0"/>
                          </a:rPr>
                        </m:ctrlPr>
                      </m:dPr>
                      <m:e>
                        <m:r>
                          <a:rPr lang="en-US" b="1" i="1">
                            <a:latin typeface="Cambria Math" panose="02040503050406030204" pitchFamily="18" charset="0"/>
                          </a:rPr>
                          <m:t>𝑿𝒘</m:t>
                        </m:r>
                        <m:r>
                          <a:rPr lang="en-US" b="1" i="1">
                            <a:latin typeface="Cambria Math" panose="02040503050406030204" pitchFamily="18" charset="0"/>
                          </a:rPr>
                          <m:t>−</m:t>
                        </m:r>
                        <m:r>
                          <a:rPr lang="en-US" b="1" i="1">
                            <a:latin typeface="Cambria Math" panose="02040503050406030204" pitchFamily="18" charset="0"/>
                          </a:rPr>
                          <m:t>𝒚</m:t>
                        </m:r>
                      </m:e>
                    </m:d>
                  </m:oMath>
                </a14:m>
                <a:endParaRPr lang="en-US" dirty="0"/>
              </a:p>
              <a:p>
                <a:r>
                  <a:rPr lang="en-US" dirty="0"/>
                  <a:t>Minimum loss: 	</a:t>
                </a:r>
                <a14:m>
                  <m:oMath xmlns:m="http://schemas.openxmlformats.org/officeDocument/2006/math">
                    <m:r>
                      <m:rPr>
                        <m:sty m:val="p"/>
                      </m:rP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𝐿</m:t>
                    </m:r>
                    <m:d>
                      <m:dPr>
                        <m:ctrlPr>
                          <a:rPr lang="en-US" b="1" i="1">
                            <a:latin typeface="Cambria Math" panose="02040503050406030204" pitchFamily="18" charset="0"/>
                          </a:rPr>
                        </m:ctrlPr>
                      </m:dPr>
                      <m:e>
                        <m:r>
                          <a:rPr lang="en-US" b="1" i="1">
                            <a:latin typeface="Cambria Math" panose="02040503050406030204" pitchFamily="18" charset="0"/>
                          </a:rPr>
                          <m:t>𝒘</m:t>
                        </m:r>
                      </m:e>
                    </m:d>
                    <m:r>
                      <a:rPr lang="en-US" i="1">
                        <a:latin typeface="Cambria Math" panose="02040503050406030204" pitchFamily="18" charset="0"/>
                      </a:rPr>
                      <m:t>=</m:t>
                    </m:r>
                  </m:oMath>
                </a14:m>
                <a:r>
                  <a:rPr lang="en-US" dirty="0"/>
                  <a:t> 0	</a:t>
                </a:r>
              </a:p>
              <a:p>
                <a:endParaRPr lang="en-US" b="1" dirty="0"/>
              </a:p>
              <a:p>
                <a:r>
                  <a:rPr lang="en-US" b="1" dirty="0"/>
                  <a:t>Solution</a:t>
                </a:r>
                <a:r>
                  <a:rPr lang="en-US" dirty="0"/>
                  <a:t>: Gradient descent (local search)</a:t>
                </a:r>
                <a:br>
                  <a:rPr lang="en-US" dirty="0"/>
                </a:br>
                <a:br>
                  <a:rPr lang="en-US" dirty="0"/>
                </a:br>
                <a:r>
                  <a:rPr lang="en-US" dirty="0"/>
                  <a:t> </a:t>
                </a:r>
                <a14:m>
                  <m:oMath xmlns:m="http://schemas.openxmlformats.org/officeDocument/2006/math">
                    <m:r>
                      <a:rPr lang="en-US" b="1" i="1">
                        <a:latin typeface="Cambria Math" panose="02040503050406030204" pitchFamily="18" charset="0"/>
                      </a:rPr>
                      <m:t>𝒘</m:t>
                    </m:r>
                    <m:r>
                      <a:rPr lang="en-US" b="0" i="1" smtClean="0">
                        <a:latin typeface="Cambria Math" panose="02040503050406030204" pitchFamily="18" charset="0"/>
                      </a:rPr>
                      <m:t>←</m:t>
                    </m:r>
                    <m:r>
                      <a:rPr lang="en-US" b="1" i="1">
                        <a:latin typeface="Cambria Math" panose="02040503050406030204" pitchFamily="18" charset="0"/>
                      </a:rPr>
                      <m:t>𝒘</m:t>
                    </m:r>
                    <m:r>
                      <a:rPr lang="en-US" i="1">
                        <a:latin typeface="Cambria Math" panose="02040503050406030204" pitchFamily="18" charset="0"/>
                      </a:rPr>
                      <m:t>−</m:t>
                    </m:r>
                    <m:r>
                      <a:rPr lang="en-US" i="1">
                        <a:latin typeface="Cambria Math" panose="02040503050406030204" pitchFamily="18" charset="0"/>
                      </a:rPr>
                      <m:t>𝛼</m:t>
                    </m:r>
                    <m:r>
                      <m:rPr>
                        <m:sty m:val="p"/>
                      </m:rP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𝐿</m:t>
                    </m:r>
                    <m:d>
                      <m:dPr>
                        <m:ctrlPr>
                          <a:rPr lang="en-US" b="1" i="1">
                            <a:latin typeface="Cambria Math" panose="02040503050406030204" pitchFamily="18" charset="0"/>
                          </a:rPr>
                        </m:ctrlPr>
                      </m:dPr>
                      <m:e>
                        <m:r>
                          <a:rPr lang="en-US" b="1" i="1">
                            <a:latin typeface="Cambria Math" panose="02040503050406030204" pitchFamily="18" charset="0"/>
                          </a:rPr>
                          <m:t>𝒘</m:t>
                        </m:r>
                      </m:e>
                    </m:d>
                  </m:oMath>
                </a14:m>
                <a:endParaRPr lang="en-US" i="1" dirty="0">
                  <a:latin typeface="Cambria Math" panose="02040503050406030204" pitchFamily="18" charset="0"/>
                </a:endParaRPr>
              </a:p>
              <a:p>
                <a:endParaRPr lang="en-US" dirty="0"/>
              </a:p>
              <a:p>
                <a:r>
                  <a:rPr lang="en-US" b="1" dirty="0"/>
                  <a:t>Alternative</a:t>
                </a:r>
                <a:r>
                  <a:rPr lang="en-US" dirty="0"/>
                  <a:t>: Analytical solution</a:t>
                </a:r>
                <a:br>
                  <a:rPr lang="en-US" dirty="0"/>
                </a:br>
                <a:br>
                  <a:rPr lang="en-US" dirty="0"/>
                </a:br>
                <a14:m>
                  <m:oMath xmlns:m="http://schemas.openxmlformats.org/officeDocument/2006/math">
                    <m:r>
                      <a:rPr lang="en-US" i="1">
                        <a:latin typeface="Cambria Math" panose="02040503050406030204" pitchFamily="18" charset="0"/>
                      </a:rPr>
                      <m:t>2</m:t>
                    </m:r>
                    <m:sSup>
                      <m:sSupPr>
                        <m:ctrlPr>
                          <a:rPr lang="en-US" b="1" i="1">
                            <a:latin typeface="Cambria Math" panose="02040503050406030204" pitchFamily="18" charset="0"/>
                          </a:rPr>
                        </m:ctrlPr>
                      </m:sSupPr>
                      <m:e>
                        <m:r>
                          <a:rPr lang="en-US" b="1" i="1">
                            <a:latin typeface="Cambria Math" panose="02040503050406030204" pitchFamily="18" charset="0"/>
                          </a:rPr>
                          <m:t>𝑿</m:t>
                        </m:r>
                      </m:e>
                      <m:sup>
                        <m:r>
                          <a:rPr lang="en-US" b="1" i="1" smtClean="0">
                            <a:latin typeface="Cambria Math" panose="02040503050406030204" pitchFamily="18" charset="0"/>
                          </a:rPr>
                          <m:t>⊤</m:t>
                        </m:r>
                      </m:sup>
                    </m:sSup>
                    <m:d>
                      <m:dPr>
                        <m:ctrlPr>
                          <a:rPr lang="en-US" b="1" i="1">
                            <a:latin typeface="Cambria Math" panose="02040503050406030204" pitchFamily="18" charset="0"/>
                          </a:rPr>
                        </m:ctrlPr>
                      </m:dPr>
                      <m:e>
                        <m:r>
                          <a:rPr lang="en-US" b="1" i="1">
                            <a:latin typeface="Cambria Math" panose="02040503050406030204" pitchFamily="18" charset="0"/>
                          </a:rPr>
                          <m:t>𝑿𝒘</m:t>
                        </m:r>
                        <m:r>
                          <a:rPr lang="en-US" b="1" i="1">
                            <a:latin typeface="Cambria Math" panose="02040503050406030204" pitchFamily="18" charset="0"/>
                          </a:rPr>
                          <m:t>−</m:t>
                        </m:r>
                        <m:r>
                          <a:rPr lang="en-US" b="1" i="1">
                            <a:latin typeface="Cambria Math" panose="02040503050406030204" pitchFamily="18" charset="0"/>
                          </a:rPr>
                          <m:t>𝒚</m:t>
                        </m:r>
                      </m:e>
                    </m:d>
                    <m:r>
                      <a:rPr lang="en-US" b="1" i="1" smtClean="0">
                        <a:latin typeface="Cambria Math" panose="02040503050406030204" pitchFamily="18" charset="0"/>
                      </a:rPr>
                      <m:t>=</m:t>
                    </m:r>
                    <m:r>
                      <a:rPr lang="en-US" b="1" i="1" smtClean="0">
                        <a:latin typeface="Cambria Math" panose="02040503050406030204" pitchFamily="18" charset="0"/>
                      </a:rPr>
                      <m:t>𝟎</m:t>
                    </m:r>
                  </m:oMath>
                </a14:m>
                <a:r>
                  <a:rPr lang="en-US" dirty="0"/>
                  <a:t>   (solve for </a:t>
                </a:r>
                <a14:m>
                  <m:oMath xmlns:m="http://schemas.openxmlformats.org/officeDocument/2006/math">
                    <m:r>
                      <a:rPr lang="en-US" i="1" dirty="0" smtClean="0">
                        <a:latin typeface="Cambria Math" panose="02040503050406030204" pitchFamily="18" charset="0"/>
                      </a:rPr>
                      <m:t>𝑤</m:t>
                    </m:r>
                  </m:oMath>
                </a14:m>
                <a:r>
                  <a:rPr lang="en-US" dirty="0"/>
                  <a:t>)</a:t>
                </a:r>
                <a:br>
                  <a:rPr lang="en-US" dirty="0"/>
                </a:br>
                <a:br>
                  <a:rPr lang="en-US" dirty="0"/>
                </a:br>
                <a14:m>
                  <m:oMath xmlns:m="http://schemas.openxmlformats.org/officeDocument/2006/math">
                    <m:sSup>
                      <m:sSupPr>
                        <m:ctrlPr>
                          <a:rPr lang="en-US" b="1" i="1">
                            <a:latin typeface="Cambria Math" panose="02040503050406030204" pitchFamily="18" charset="0"/>
                          </a:rPr>
                        </m:ctrlPr>
                      </m:sSupPr>
                      <m:e>
                        <m:r>
                          <a:rPr lang="en-US" b="1" i="1">
                            <a:latin typeface="Cambria Math" panose="02040503050406030204" pitchFamily="18" charset="0"/>
                          </a:rPr>
                          <m:t>𝒘</m:t>
                        </m:r>
                      </m:e>
                      <m:sup>
                        <m:r>
                          <a:rPr lang="en-US" i="1">
                            <a:latin typeface="Cambria Math" panose="02040503050406030204" pitchFamily="18" charset="0"/>
                          </a:rPr>
                          <m:t>∗</m:t>
                        </m:r>
                      </m:sup>
                    </m:sSup>
                    <m:r>
                      <a:rPr lang="en-US" i="1">
                        <a:latin typeface="Cambria Math" panose="02040503050406030204" pitchFamily="18" charset="0"/>
                      </a:rPr>
                      <m:t>=</m:t>
                    </m:r>
                    <m:sSup>
                      <m:sSupPr>
                        <m:ctrlPr>
                          <a:rPr lang="en-US" b="1" i="1">
                            <a:latin typeface="Cambria Math" panose="02040503050406030204" pitchFamily="18" charset="0"/>
                          </a:rPr>
                        </m:ctrlPr>
                      </m:sSupPr>
                      <m:e>
                        <m:d>
                          <m:dPr>
                            <m:ctrlPr>
                              <a:rPr lang="en-US" b="1" i="1">
                                <a:latin typeface="Cambria Math" panose="02040503050406030204" pitchFamily="18" charset="0"/>
                              </a:rPr>
                            </m:ctrlPr>
                          </m:dPr>
                          <m:e>
                            <m:sSup>
                              <m:sSupPr>
                                <m:ctrlPr>
                                  <a:rPr lang="en-US" b="1" i="1">
                                    <a:latin typeface="Cambria Math" panose="02040503050406030204" pitchFamily="18" charset="0"/>
                                  </a:rPr>
                                </m:ctrlPr>
                              </m:sSupPr>
                              <m:e>
                                <m:r>
                                  <a:rPr lang="en-US" b="1" i="1">
                                    <a:latin typeface="Cambria Math" panose="02040503050406030204" pitchFamily="18" charset="0"/>
                                  </a:rPr>
                                  <m:t>𝑿</m:t>
                                </m:r>
                              </m:e>
                              <m:sup>
                                <m:r>
                                  <a:rPr lang="en-US" b="1" i="1" smtClean="0">
                                    <a:latin typeface="Cambria Math" panose="02040503050406030204" pitchFamily="18" charset="0"/>
                                  </a:rPr>
                                  <m:t>⊤</m:t>
                                </m:r>
                              </m:sup>
                            </m:sSup>
                            <m:r>
                              <a:rPr lang="en-US" b="1" i="1">
                                <a:latin typeface="Cambria Math" panose="02040503050406030204" pitchFamily="18" charset="0"/>
                              </a:rPr>
                              <m:t>𝑿</m:t>
                            </m:r>
                          </m:e>
                        </m:d>
                      </m:e>
                      <m:sup>
                        <m:r>
                          <a:rPr lang="en-US" i="1">
                            <a:latin typeface="Cambria Math" panose="02040503050406030204" pitchFamily="18" charset="0"/>
                          </a:rPr>
                          <m:t>−1</m:t>
                        </m:r>
                      </m:sup>
                    </m:sSup>
                    <m:sSup>
                      <m:sSupPr>
                        <m:ctrlPr>
                          <a:rPr lang="en-US" b="1" i="1">
                            <a:latin typeface="Cambria Math" panose="02040503050406030204" pitchFamily="18" charset="0"/>
                          </a:rPr>
                        </m:ctrlPr>
                      </m:sSupPr>
                      <m:e>
                        <m:r>
                          <a:rPr lang="en-US" b="1" i="1">
                            <a:latin typeface="Cambria Math" panose="02040503050406030204" pitchFamily="18" charset="0"/>
                          </a:rPr>
                          <m:t>𝑿</m:t>
                        </m:r>
                      </m:e>
                      <m:sup>
                        <m:r>
                          <a:rPr lang="en-US" b="1" i="1" smtClean="0">
                            <a:latin typeface="Cambria Math" panose="02040503050406030204" pitchFamily="18" charset="0"/>
                          </a:rPr>
                          <m:t>⊤</m:t>
                        </m:r>
                      </m:sup>
                    </m:sSup>
                    <m:r>
                      <a:rPr lang="en-US" b="1" i="1">
                        <a:latin typeface="Cambria Math" panose="02040503050406030204" pitchFamily="18" charset="0"/>
                      </a:rPr>
                      <m:t>𝒚</m:t>
                    </m:r>
                  </m:oMath>
                </a14:m>
                <a:endParaRPr lang="en-US" b="1" dirty="0"/>
              </a:p>
              <a:p>
                <a:endParaRPr lang="en-US" dirty="0"/>
              </a:p>
            </p:txBody>
          </p:sp>
        </mc:Choice>
        <mc:Fallback xmlns="">
          <p:sp>
            <p:nvSpPr>
              <p:cNvPr id="10" name="Content Placeholder 9">
                <a:extLst>
                  <a:ext uri="{FF2B5EF4-FFF2-40B4-BE49-F238E27FC236}">
                    <a16:creationId xmlns:a16="http://schemas.microsoft.com/office/drawing/2014/main" id="{07B10872-8BD1-5418-BBBC-C7C9889EA209}"/>
                  </a:ext>
                </a:extLst>
              </p:cNvPr>
              <p:cNvSpPr>
                <a:spLocks noGrp="1" noRot="1" noChangeAspect="1" noMove="1" noResize="1" noEditPoints="1" noAdjustHandles="1" noChangeArrowheads="1" noChangeShapeType="1" noTextEdit="1"/>
              </p:cNvSpPr>
              <p:nvPr>
                <p:ph idx="1"/>
              </p:nvPr>
            </p:nvSpPr>
            <p:spPr>
              <a:xfrm>
                <a:off x="685799" y="1598469"/>
                <a:ext cx="9283701" cy="4268931"/>
              </a:xfrm>
              <a:blipFill>
                <a:blip r:embed="rId2"/>
                <a:stretch>
                  <a:fillRect l="-525" t="-132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Speech Bubble: Rectangle 15">
                <a:extLst>
                  <a:ext uri="{FF2B5EF4-FFF2-40B4-BE49-F238E27FC236}">
                    <a16:creationId xmlns:a16="http://schemas.microsoft.com/office/drawing/2014/main" id="{DFB638AC-1DFC-E43D-0210-4F06FB7832AB}"/>
                  </a:ext>
                </a:extLst>
              </p:cNvPr>
              <p:cNvSpPr/>
              <p:nvPr/>
            </p:nvSpPr>
            <p:spPr>
              <a:xfrm>
                <a:off x="6358553" y="2003891"/>
                <a:ext cx="4800600" cy="369332"/>
              </a:xfrm>
              <a:prstGeom prst="wedgeRectCallout">
                <a:avLst>
                  <a:gd name="adj1" fmla="val -81607"/>
                  <a:gd name="adj2" fmla="val -26315"/>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r>
                  <a:rPr lang="en-US" dirty="0"/>
                  <a:t>Squared error loss over the whole data matrix </a:t>
                </a:r>
                <a14:m>
                  <m:oMath xmlns:m="http://schemas.openxmlformats.org/officeDocument/2006/math">
                    <m:r>
                      <a:rPr lang="en-US" b="1" i="1" dirty="0" smtClean="0">
                        <a:latin typeface="Cambria Math" panose="02040503050406030204" pitchFamily="18" charset="0"/>
                      </a:rPr>
                      <m:t>𝑿</m:t>
                    </m:r>
                  </m:oMath>
                </a14:m>
                <a:endParaRPr lang="en-US" b="1" dirty="0"/>
              </a:p>
            </p:txBody>
          </p:sp>
        </mc:Choice>
        <mc:Fallback xmlns="">
          <p:sp>
            <p:nvSpPr>
              <p:cNvPr id="16" name="Speech Bubble: Rectangle 15">
                <a:extLst>
                  <a:ext uri="{FF2B5EF4-FFF2-40B4-BE49-F238E27FC236}">
                    <a16:creationId xmlns:a16="http://schemas.microsoft.com/office/drawing/2014/main" id="{DFB638AC-1DFC-E43D-0210-4F06FB7832AB}"/>
                  </a:ext>
                </a:extLst>
              </p:cNvPr>
              <p:cNvSpPr>
                <a:spLocks noRot="1" noChangeAspect="1" noMove="1" noResize="1" noEditPoints="1" noAdjustHandles="1" noChangeArrowheads="1" noChangeShapeType="1" noTextEdit="1"/>
              </p:cNvSpPr>
              <p:nvPr/>
            </p:nvSpPr>
            <p:spPr>
              <a:xfrm>
                <a:off x="6358553" y="2003891"/>
                <a:ext cx="4800600" cy="369332"/>
              </a:xfrm>
              <a:prstGeom prst="wedgeRectCallout">
                <a:avLst>
                  <a:gd name="adj1" fmla="val -81607"/>
                  <a:gd name="adj2" fmla="val -26315"/>
                </a:avLst>
              </a:prstGeom>
              <a:blipFill>
                <a:blip r:embed="rId3"/>
                <a:stretch>
                  <a:fillRect t="-6452" b="-241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Speech Bubble: Rectangle 16">
                <a:extLst>
                  <a:ext uri="{FF2B5EF4-FFF2-40B4-BE49-F238E27FC236}">
                    <a16:creationId xmlns:a16="http://schemas.microsoft.com/office/drawing/2014/main" id="{29DD3E20-C638-3E44-FDB7-E0E11F259913}"/>
                  </a:ext>
                </a:extLst>
              </p:cNvPr>
              <p:cNvSpPr/>
              <p:nvPr/>
            </p:nvSpPr>
            <p:spPr>
              <a:xfrm>
                <a:off x="6361978" y="2508347"/>
                <a:ext cx="4815772" cy="1184479"/>
              </a:xfrm>
              <a:prstGeom prst="wedgeRectCallout">
                <a:avLst>
                  <a:gd name="adj1" fmla="val -74156"/>
                  <a:gd name="adj2" fmla="val -56604"/>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r>
                  <a:rPr lang="en-US" dirty="0"/>
                  <a:t>The gradient is a vector of partial derivatives </a:t>
                </a:r>
                <a:br>
                  <a:rPr lang="en-US" i="1" dirty="0">
                    <a:latin typeface="Cambria Math" panose="02040503050406030204" pitchFamily="18" charset="0"/>
                    <a:ea typeface="Cambria Math" panose="02040503050406030204" pitchFamily="18" charset="0"/>
                  </a:rPr>
                </a:br>
                <a14:m>
                  <m:oMathPara xmlns:m="http://schemas.openxmlformats.org/officeDocument/2006/math">
                    <m:oMath>
                      <m:r>
                        <m:rPr>
                          <m:sty m:val="p"/>
                        </m:rP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𝐿</m:t>
                      </m:r>
                      <m:d>
                        <m:dPr>
                          <m:ctrlPr>
                            <a:rPr lang="en-US" b="1" i="1">
                              <a:latin typeface="Cambria Math" panose="02040503050406030204" pitchFamily="18" charset="0"/>
                            </a:rPr>
                          </m:ctrlPr>
                        </m:dPr>
                        <m:e>
                          <m:r>
                            <a:rPr lang="en-US" b="1" i="1">
                              <a:latin typeface="Cambria Math" panose="02040503050406030204" pitchFamily="18" charset="0"/>
                            </a:rPr>
                            <m:t>𝒘</m:t>
                          </m:r>
                        </m:e>
                      </m:d>
                      <m:r>
                        <a:rPr lang="en-US" b="0" i="1" smtClean="0">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𝐿</m:t>
                                  </m:r>
                                </m:num>
                                <m:den>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𝑤</m:t>
                                      </m:r>
                                    </m:e>
                                    <m:sub>
                                      <m:r>
                                        <a:rPr lang="en-US" i="1">
                                          <a:latin typeface="Cambria Math" panose="02040503050406030204" pitchFamily="18" charset="0"/>
                                          <a:ea typeface="Cambria Math" panose="02040503050406030204" pitchFamily="18" charset="0"/>
                                        </a:rPr>
                                        <m:t>1</m:t>
                                      </m:r>
                                    </m:sub>
                                  </m:sSub>
                                </m:den>
                              </m:f>
                              <m:r>
                                <a:rPr lang="en-US" b="0"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𝒘</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𝐿</m:t>
                                  </m:r>
                                </m:num>
                                <m:den>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𝑤</m:t>
                                      </m:r>
                                    </m:e>
                                    <m:sub>
                                      <m:r>
                                        <a:rPr lang="en-US" b="0" i="1" smtClean="0">
                                          <a:latin typeface="Cambria Math" panose="02040503050406030204" pitchFamily="18" charset="0"/>
                                          <a:ea typeface="Cambria Math" panose="02040503050406030204" pitchFamily="18" charset="0"/>
                                        </a:rPr>
                                        <m:t>2</m:t>
                                      </m:r>
                                    </m:sub>
                                  </m:sSub>
                                </m:den>
                              </m:f>
                              <m:r>
                                <a:rPr lang="en-US"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𝒘</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m:t>
                              </m:r>
                              <m:r>
                                <a:rPr lang="en-US">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𝐿</m:t>
                                  </m:r>
                                </m:num>
                                <m:den>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𝑤</m:t>
                                      </m:r>
                                    </m:e>
                                    <m:sub>
                                      <m:r>
                                        <a:rPr lang="en-US" i="1">
                                          <a:latin typeface="Cambria Math" panose="02040503050406030204" pitchFamily="18" charset="0"/>
                                          <a:ea typeface="Cambria Math" panose="02040503050406030204" pitchFamily="18" charset="0"/>
                                        </a:rPr>
                                        <m:t>𝑛</m:t>
                                      </m:r>
                                    </m:sub>
                                  </m:sSub>
                                </m:den>
                              </m:f>
                              <m:r>
                                <a:rPr lang="en-US"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𝒘</m:t>
                              </m:r>
                              <m:r>
                                <a:rPr lang="en-US" i="1">
                                  <a:latin typeface="Cambria Math" panose="02040503050406030204" pitchFamily="18" charset="0"/>
                                  <a:ea typeface="Cambria Math" panose="02040503050406030204" pitchFamily="18" charset="0"/>
                                </a:rPr>
                                <m:t>)</m:t>
                              </m:r>
                            </m:e>
                          </m:d>
                        </m:e>
                        <m:sup>
                          <m:r>
                            <a:rPr lang="en-US" b="0" i="1" smtClean="0">
                              <a:latin typeface="Cambria Math" panose="02040503050406030204" pitchFamily="18" charset="0"/>
                              <a:ea typeface="Cambria Math" panose="02040503050406030204" pitchFamily="18" charset="0"/>
                            </a:rPr>
                            <m:t>⊤</m:t>
                          </m:r>
                        </m:sup>
                      </m:sSup>
                    </m:oMath>
                  </m:oMathPara>
                </a14:m>
                <a:br>
                  <a:rPr lang="en-US" dirty="0"/>
                </a:br>
                <a:r>
                  <a:rPr lang="en-US" dirty="0"/>
                  <a:t>estimated from training data.</a:t>
                </a:r>
              </a:p>
            </p:txBody>
          </p:sp>
        </mc:Choice>
        <mc:Fallback xmlns="">
          <p:sp>
            <p:nvSpPr>
              <p:cNvPr id="17" name="Speech Bubble: Rectangle 16">
                <a:extLst>
                  <a:ext uri="{FF2B5EF4-FFF2-40B4-BE49-F238E27FC236}">
                    <a16:creationId xmlns:a16="http://schemas.microsoft.com/office/drawing/2014/main" id="{29DD3E20-C638-3E44-FDB7-E0E11F259913}"/>
                  </a:ext>
                </a:extLst>
              </p:cNvPr>
              <p:cNvSpPr>
                <a:spLocks noRot="1" noChangeAspect="1" noMove="1" noResize="1" noEditPoints="1" noAdjustHandles="1" noChangeArrowheads="1" noChangeShapeType="1" noTextEdit="1"/>
              </p:cNvSpPr>
              <p:nvPr/>
            </p:nvSpPr>
            <p:spPr>
              <a:xfrm>
                <a:off x="6361978" y="2508347"/>
                <a:ext cx="4815772" cy="1184479"/>
              </a:xfrm>
              <a:prstGeom prst="wedgeRectCallout">
                <a:avLst>
                  <a:gd name="adj1" fmla="val -74156"/>
                  <a:gd name="adj2" fmla="val -56604"/>
                </a:avLst>
              </a:prstGeom>
              <a:blipFill>
                <a:blip r:embed="rId4"/>
                <a:stretch>
                  <a:fillRect b="-11792"/>
                </a:stretch>
              </a:blipFill>
            </p:spPr>
            <p:txBody>
              <a:bodyPr/>
              <a:lstStyle/>
              <a:p>
                <a:r>
                  <a:rPr lang="en-US">
                    <a:noFill/>
                  </a:rPr>
                  <a:t> </a:t>
                </a:r>
              </a:p>
            </p:txBody>
          </p:sp>
        </mc:Fallback>
      </mc:AlternateContent>
      <p:grpSp>
        <p:nvGrpSpPr>
          <p:cNvPr id="30" name="Group 29">
            <a:extLst>
              <a:ext uri="{FF2B5EF4-FFF2-40B4-BE49-F238E27FC236}">
                <a16:creationId xmlns:a16="http://schemas.microsoft.com/office/drawing/2014/main" id="{00E9625A-8069-5855-150F-643DED609AEB}"/>
              </a:ext>
            </a:extLst>
          </p:cNvPr>
          <p:cNvGrpSpPr/>
          <p:nvPr/>
        </p:nvGrpSpPr>
        <p:grpSpPr>
          <a:xfrm>
            <a:off x="1426064" y="5613333"/>
            <a:ext cx="1592872" cy="467363"/>
            <a:chOff x="2240040" y="6055837"/>
            <a:chExt cx="1592872" cy="467363"/>
          </a:xfrm>
        </p:grpSpPr>
        <p:sp>
          <p:nvSpPr>
            <p:cNvPr id="7" name="Right Brace 6">
              <a:extLst>
                <a:ext uri="{FF2B5EF4-FFF2-40B4-BE49-F238E27FC236}">
                  <a16:creationId xmlns:a16="http://schemas.microsoft.com/office/drawing/2014/main" id="{26028FCA-75D7-48F0-984B-627053B948B7}"/>
                </a:ext>
                <a:ext uri="{C183D7F6-B498-43B3-948B-1728B52AA6E4}">
                  <adec:decorative xmlns:adec="http://schemas.microsoft.com/office/drawing/2017/decorative" val="1"/>
                </a:ext>
              </a:extLst>
            </p:cNvPr>
            <p:cNvSpPr/>
            <p:nvPr/>
          </p:nvSpPr>
          <p:spPr>
            <a:xfrm rot="5400000">
              <a:off x="2842970" y="5693684"/>
              <a:ext cx="147677" cy="87198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a:p>
          </p:txBody>
        </p:sp>
        <p:sp>
          <p:nvSpPr>
            <p:cNvPr id="8" name="TextBox 7">
              <a:extLst>
                <a:ext uri="{FF2B5EF4-FFF2-40B4-BE49-F238E27FC236}">
                  <a16:creationId xmlns:a16="http://schemas.microsoft.com/office/drawing/2014/main" id="{70B36EB7-6DC1-4754-A830-80502B5D3AEC}"/>
                </a:ext>
                <a:ext uri="{C183D7F6-B498-43B3-948B-1728B52AA6E4}">
                  <adec:decorative xmlns:adec="http://schemas.microsoft.com/office/drawing/2017/decorative" val="1"/>
                </a:ext>
              </a:extLst>
            </p:cNvPr>
            <p:cNvSpPr txBox="1"/>
            <p:nvPr/>
          </p:nvSpPr>
          <p:spPr>
            <a:xfrm>
              <a:off x="2240040" y="6203514"/>
              <a:ext cx="1592872" cy="319686"/>
            </a:xfrm>
            <a:prstGeom prst="rect">
              <a:avLst/>
            </a:prstGeom>
            <a:noFill/>
          </p:spPr>
          <p:txBody>
            <a:bodyPr wrap="none" rtlCol="0">
              <a:spAutoFit/>
            </a:bodyPr>
            <a:lstStyle/>
            <a:p>
              <a:r>
                <a:rPr lang="en-US" dirty="0"/>
                <a:t>Pseudo inverse</a:t>
              </a:r>
            </a:p>
          </p:txBody>
        </p:sp>
      </p:grpSp>
      <p:grpSp>
        <p:nvGrpSpPr>
          <p:cNvPr id="29" name="Group 28">
            <a:extLst>
              <a:ext uri="{FF2B5EF4-FFF2-40B4-BE49-F238E27FC236}">
                <a16:creationId xmlns:a16="http://schemas.microsoft.com/office/drawing/2014/main" id="{74A7ACE2-C313-AFB6-7A9A-68177F116E37}"/>
              </a:ext>
            </a:extLst>
          </p:cNvPr>
          <p:cNvGrpSpPr/>
          <p:nvPr/>
        </p:nvGrpSpPr>
        <p:grpSpPr>
          <a:xfrm>
            <a:off x="5029201" y="4007464"/>
            <a:ext cx="7101460" cy="2850536"/>
            <a:chOff x="5029201" y="4007464"/>
            <a:chExt cx="7101460" cy="2850536"/>
          </a:xfrm>
        </p:grpSpPr>
        <p:pic>
          <p:nvPicPr>
            <p:cNvPr id="12" name="Picture 11">
              <a:extLst>
                <a:ext uri="{FF2B5EF4-FFF2-40B4-BE49-F238E27FC236}">
                  <a16:creationId xmlns:a16="http://schemas.microsoft.com/office/drawing/2014/main" id="{ED8E7DF2-9E31-4110-B801-E0645520AC46}"/>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5029201" y="4007464"/>
              <a:ext cx="7101460" cy="2850536"/>
            </a:xfrm>
            <a:prstGeom prst="rect">
              <a:avLst/>
            </a:prstGeom>
          </p:spPr>
        </p:pic>
        <p:sp>
          <p:nvSpPr>
            <p:cNvPr id="26" name="TextBox 25">
              <a:extLst>
                <a:ext uri="{FF2B5EF4-FFF2-40B4-BE49-F238E27FC236}">
                  <a16:creationId xmlns:a16="http://schemas.microsoft.com/office/drawing/2014/main" id="{D713A4B0-C0C9-93A1-C216-3E45873C274B}"/>
                </a:ext>
              </a:extLst>
            </p:cNvPr>
            <p:cNvSpPr txBox="1"/>
            <p:nvPr/>
          </p:nvSpPr>
          <p:spPr>
            <a:xfrm>
              <a:off x="9862041" y="6293993"/>
              <a:ext cx="1592872" cy="261610"/>
            </a:xfrm>
            <a:prstGeom prst="rect">
              <a:avLst/>
            </a:prstGeom>
            <a:noFill/>
          </p:spPr>
          <p:txBody>
            <a:bodyPr wrap="square" rtlCol="0">
              <a:spAutoFit/>
            </a:bodyPr>
            <a:lstStyle/>
            <a:p>
              <a:pPr algn="ctr"/>
              <a:r>
                <a:rPr lang="en-US" sz="1050" dirty="0"/>
                <a:t>Convex loss function</a:t>
              </a:r>
            </a:p>
          </p:txBody>
        </p:sp>
      </p:grpSp>
      <p:grpSp>
        <p:nvGrpSpPr>
          <p:cNvPr id="25" name="Group 24">
            <a:extLst>
              <a:ext uri="{FF2B5EF4-FFF2-40B4-BE49-F238E27FC236}">
                <a16:creationId xmlns:a16="http://schemas.microsoft.com/office/drawing/2014/main" id="{AC004E8A-7DE4-F5B6-472B-FF029161C05F}"/>
              </a:ext>
            </a:extLst>
          </p:cNvPr>
          <p:cNvGrpSpPr/>
          <p:nvPr/>
        </p:nvGrpSpPr>
        <p:grpSpPr>
          <a:xfrm>
            <a:off x="9275557" y="4380955"/>
            <a:ext cx="1883596" cy="878576"/>
            <a:chOff x="9317804" y="4380954"/>
            <a:chExt cx="1883596" cy="878576"/>
          </a:xfrm>
        </p:grpSpPr>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74510E1-A93D-4A3A-94C9-F1A0DD6A0845}"/>
                    </a:ext>
                  </a:extLst>
                </p:cNvPr>
                <p:cNvSpPr txBox="1"/>
                <p:nvPr/>
              </p:nvSpPr>
              <p:spPr>
                <a:xfrm>
                  <a:off x="9969500" y="4380954"/>
                  <a:ext cx="1231900" cy="369332"/>
                </a:xfrm>
                <a:prstGeom prst="rect">
                  <a:avLst/>
                </a:prstGeom>
                <a:noFill/>
              </p:spPr>
              <p:txBody>
                <a:bodyPr wrap="square">
                  <a:spAutoFit/>
                </a:bodyPr>
                <a:lstStyle/>
                <a:p>
                  <a:pPr/>
                  <a14:m>
                    <m:oMathPara xmlns:m="http://schemas.openxmlformats.org/officeDocument/2006/math">
                      <m:oMath>
                        <m:r>
                          <m:rPr>
                            <m:sty m:val="p"/>
                          </m:rPr>
                          <a:rPr lang="en-US"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𝐿</m:t>
                        </m:r>
                        <m:d>
                          <m:dPr>
                            <m:ctrlPr>
                              <a:rPr lang="en-US" b="1" i="1">
                                <a:latin typeface="Cambria Math" panose="02040503050406030204" pitchFamily="18" charset="0"/>
                              </a:rPr>
                            </m:ctrlPr>
                          </m:dPr>
                          <m:e>
                            <m:r>
                              <a:rPr lang="en-US" b="1" i="1">
                                <a:latin typeface="Cambria Math" panose="02040503050406030204" pitchFamily="18" charset="0"/>
                              </a:rPr>
                              <m:t>𝒘</m:t>
                            </m:r>
                          </m:e>
                        </m:d>
                      </m:oMath>
                    </m:oMathPara>
                  </a14:m>
                  <a:endParaRPr lang="en-US" dirty="0"/>
                </a:p>
              </p:txBody>
            </p:sp>
          </mc:Choice>
          <mc:Fallback xmlns="">
            <p:sp>
              <p:nvSpPr>
                <p:cNvPr id="13" name="TextBox 12">
                  <a:extLst>
                    <a:ext uri="{FF2B5EF4-FFF2-40B4-BE49-F238E27FC236}">
                      <a16:creationId xmlns:a16="http://schemas.microsoft.com/office/drawing/2014/main" id="{674510E1-A93D-4A3A-94C9-F1A0DD6A0845}"/>
                    </a:ext>
                  </a:extLst>
                </p:cNvPr>
                <p:cNvSpPr txBox="1">
                  <a:spLocks noRot="1" noChangeAspect="1" noMove="1" noResize="1" noEditPoints="1" noAdjustHandles="1" noChangeArrowheads="1" noChangeShapeType="1" noTextEdit="1"/>
                </p:cNvSpPr>
                <p:nvPr/>
              </p:nvSpPr>
              <p:spPr>
                <a:xfrm>
                  <a:off x="9969500" y="4380954"/>
                  <a:ext cx="1231900" cy="369332"/>
                </a:xfrm>
                <a:prstGeom prst="rect">
                  <a:avLst/>
                </a:prstGeom>
                <a:blipFill>
                  <a:blip r:embed="rId6"/>
                  <a:stretch>
                    <a:fillRect/>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43E9140F-8A35-41C8-BAA3-86891CBF5B38}"/>
                </a:ext>
                <a:ext uri="{C183D7F6-B498-43B3-948B-1728B52AA6E4}">
                  <adec:decorative xmlns:adec="http://schemas.microsoft.com/office/drawing/2017/decorative" val="1"/>
                </a:ext>
              </a:extLst>
            </p:cNvPr>
            <p:cNvCxnSpPr>
              <a:cxnSpLocks/>
            </p:cNvCxnSpPr>
            <p:nvPr/>
          </p:nvCxnSpPr>
          <p:spPr>
            <a:xfrm>
              <a:off x="9753600" y="4876800"/>
              <a:ext cx="121284" cy="382730"/>
            </a:xfrm>
            <a:prstGeom prst="straightConnector1">
              <a:avLst/>
            </a:prstGeom>
            <a:ln>
              <a:tailEnd type="triangle" w="lg" len="lg"/>
            </a:ln>
          </p:spPr>
          <p:style>
            <a:lnRef idx="3">
              <a:schemeClr val="accent2"/>
            </a:lnRef>
            <a:fillRef idx="0">
              <a:schemeClr val="accent2"/>
            </a:fillRef>
            <a:effectRef idx="2">
              <a:schemeClr val="accent2"/>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A4845CDE-4E80-4AFF-96A8-82E8D266E357}"/>
                    </a:ext>
                  </a:extLst>
                </p:cNvPr>
                <p:cNvSpPr txBox="1"/>
                <p:nvPr/>
              </p:nvSpPr>
              <p:spPr>
                <a:xfrm>
                  <a:off x="9317804" y="4586221"/>
                  <a:ext cx="609600" cy="369332"/>
                </a:xfrm>
                <a:prstGeom prst="rect">
                  <a:avLst/>
                </a:prstGeom>
                <a:noFill/>
              </p:spPr>
              <p:txBody>
                <a:bodyPr wrap="square">
                  <a:spAutoFit/>
                </a:bodyPr>
                <a:lstStyle/>
                <a:p>
                  <a:pPr/>
                  <a14:m>
                    <m:oMathPara xmlns:m="http://schemas.openxmlformats.org/officeDocument/2006/math">
                      <m:oMath>
                        <m:r>
                          <a:rPr lang="en-US" b="1" i="1" smtClean="0">
                            <a:latin typeface="Cambria Math" panose="02040503050406030204" pitchFamily="18" charset="0"/>
                          </a:rPr>
                          <m:t>𝒘</m:t>
                        </m:r>
                      </m:oMath>
                    </m:oMathPara>
                  </a14:m>
                  <a:endParaRPr lang="en-US" dirty="0"/>
                </a:p>
              </p:txBody>
            </p:sp>
          </mc:Choice>
          <mc:Fallback xmlns="">
            <p:sp>
              <p:nvSpPr>
                <p:cNvPr id="22" name="TextBox 21">
                  <a:extLst>
                    <a:ext uri="{FF2B5EF4-FFF2-40B4-BE49-F238E27FC236}">
                      <a16:creationId xmlns:a16="http://schemas.microsoft.com/office/drawing/2014/main" id="{A4845CDE-4E80-4AFF-96A8-82E8D266E357}"/>
                    </a:ext>
                  </a:extLst>
                </p:cNvPr>
                <p:cNvSpPr txBox="1">
                  <a:spLocks noRot="1" noChangeAspect="1" noMove="1" noResize="1" noEditPoints="1" noAdjustHandles="1" noChangeArrowheads="1" noChangeShapeType="1" noTextEdit="1"/>
                </p:cNvSpPr>
                <p:nvPr/>
              </p:nvSpPr>
              <p:spPr>
                <a:xfrm>
                  <a:off x="9317804" y="4586221"/>
                  <a:ext cx="609600" cy="369332"/>
                </a:xfrm>
                <a:prstGeom prst="rect">
                  <a:avLst/>
                </a:prstGeom>
                <a:blipFill>
                  <a:blip r:embed="rId7"/>
                  <a:stretch>
                    <a:fillRect/>
                  </a:stretch>
                </a:blipFill>
              </p:spPr>
              <p:txBody>
                <a:bodyPr/>
                <a:lstStyle/>
                <a:p>
                  <a:r>
                    <a:rPr lang="en-US">
                      <a:noFill/>
                    </a:rPr>
                    <a:t> </a:t>
                  </a:r>
                </a:p>
              </p:txBody>
            </p:sp>
          </mc:Fallback>
        </mc:AlternateContent>
        <p:cxnSp>
          <p:nvCxnSpPr>
            <p:cNvPr id="23" name="Straight Connector 22">
              <a:extLst>
                <a:ext uri="{FF2B5EF4-FFF2-40B4-BE49-F238E27FC236}">
                  <a16:creationId xmlns:a16="http://schemas.microsoft.com/office/drawing/2014/main" id="{EB15E0E4-DDA3-48B5-A02F-888000E1036E}"/>
                </a:ext>
              </a:extLst>
            </p:cNvPr>
            <p:cNvCxnSpPr>
              <a:cxnSpLocks/>
            </p:cNvCxnSpPr>
            <p:nvPr/>
          </p:nvCxnSpPr>
          <p:spPr>
            <a:xfrm flipH="1">
              <a:off x="9906000" y="4692134"/>
              <a:ext cx="304800" cy="263419"/>
            </a:xfrm>
            <a:prstGeom prst="line">
              <a:avLst/>
            </a:prstGeom>
          </p:spPr>
          <p:style>
            <a:lnRef idx="3">
              <a:schemeClr val="accent6"/>
            </a:lnRef>
            <a:fillRef idx="0">
              <a:schemeClr val="accent6"/>
            </a:fillRef>
            <a:effectRef idx="2">
              <a:schemeClr val="accent6"/>
            </a:effectRef>
            <a:fontRef idx="minor">
              <a:schemeClr val="tx1"/>
            </a:fontRef>
          </p:style>
        </p:cxnSp>
        <p:sp>
          <p:nvSpPr>
            <p:cNvPr id="24" name="Oval 23">
              <a:extLst>
                <a:ext uri="{FF2B5EF4-FFF2-40B4-BE49-F238E27FC236}">
                  <a16:creationId xmlns:a16="http://schemas.microsoft.com/office/drawing/2014/main" id="{C2A8E63D-95B9-4405-A60E-26D6C5A48857}"/>
                </a:ext>
              </a:extLst>
            </p:cNvPr>
            <p:cNvSpPr/>
            <p:nvPr/>
          </p:nvSpPr>
          <p:spPr>
            <a:xfrm>
              <a:off x="9730740" y="4820279"/>
              <a:ext cx="45719" cy="5378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40389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4CD2877-1046-6123-CF1E-BE9F2D8536CB}"/>
              </a:ext>
            </a:extLst>
          </p:cNvPr>
          <p:cNvSpPr>
            <a:spLocks noGrp="1"/>
          </p:cNvSpPr>
          <p:nvPr>
            <p:ph type="title"/>
          </p:nvPr>
        </p:nvSpPr>
        <p:spPr>
          <a:xfrm>
            <a:off x="762000" y="2931915"/>
            <a:ext cx="10668000" cy="876035"/>
          </a:xfrm>
        </p:spPr>
        <p:txBody>
          <a:bodyPr>
            <a:noAutofit/>
          </a:bodyPr>
          <a:lstStyle/>
          <a:p>
            <a:r>
              <a:rPr lang="en-US" sz="3200" b="1" dirty="0">
                <a:latin typeface="+mn-lt"/>
              </a:rPr>
              <a:t>Code example</a:t>
            </a:r>
            <a:r>
              <a:rPr lang="en-US" sz="3200" dirty="0">
                <a:latin typeface="+mn-lt"/>
              </a:rPr>
              <a:t>: Line Fitting with Gradient Descent and SGD</a:t>
            </a:r>
          </a:p>
        </p:txBody>
      </p:sp>
      <p:sp>
        <p:nvSpPr>
          <p:cNvPr id="5" name="TextBox 4">
            <a:extLst>
              <a:ext uri="{FF2B5EF4-FFF2-40B4-BE49-F238E27FC236}">
                <a16:creationId xmlns:a16="http://schemas.microsoft.com/office/drawing/2014/main" id="{5AA484FF-058C-4694-424C-0B3B26DF9F45}"/>
              </a:ext>
            </a:extLst>
          </p:cNvPr>
          <p:cNvSpPr txBox="1"/>
          <p:nvPr/>
        </p:nvSpPr>
        <p:spPr>
          <a:xfrm>
            <a:off x="2417299" y="5365946"/>
            <a:ext cx="6608298" cy="253916"/>
          </a:xfrm>
          <a:prstGeom prst="rect">
            <a:avLst/>
          </a:prstGeom>
          <a:noFill/>
        </p:spPr>
        <p:txBody>
          <a:bodyPr wrap="square" rtlCol="0">
            <a:spAutoFit/>
          </a:bodyPr>
          <a:lstStyle/>
          <a:p>
            <a:r>
              <a:rPr lang="en-US" sz="1050" dirty="0"/>
              <a:t>See Code on </a:t>
            </a:r>
            <a:r>
              <a:rPr lang="en-US" sz="1050" dirty="0">
                <a:hlinkClick r:id="rId2"/>
              </a:rPr>
              <a:t>https://michael.hahsler.net/Introduction_to_Artificial_Intelligence/</a:t>
            </a:r>
            <a:r>
              <a:rPr lang="en-US" sz="1050" dirty="0"/>
              <a:t> </a:t>
            </a:r>
          </a:p>
        </p:txBody>
      </p:sp>
    </p:spTree>
    <p:extLst>
      <p:ext uri="{BB962C8B-B14F-4D97-AF65-F5344CB8AC3E}">
        <p14:creationId xmlns:p14="http://schemas.microsoft.com/office/powerpoint/2010/main" val="1901936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CD65ADD-3424-5CC4-FB20-9034C29801A9}"/>
              </a:ext>
            </a:extLst>
          </p:cNvPr>
          <p:cNvSpPr>
            <a:spLocks noGrp="1"/>
          </p:cNvSpPr>
          <p:nvPr>
            <p:ph type="title"/>
          </p:nvPr>
        </p:nvSpPr>
        <p:spPr/>
        <p:txBody>
          <a:bodyPr/>
          <a:lstStyle/>
          <a:p>
            <a:r>
              <a:rPr lang="en-US" dirty="0"/>
              <a:t>Classification</a:t>
            </a:r>
          </a:p>
        </p:txBody>
      </p:sp>
      <p:sp>
        <p:nvSpPr>
          <p:cNvPr id="5" name="Text Placeholder 4">
            <a:extLst>
              <a:ext uri="{FF2B5EF4-FFF2-40B4-BE49-F238E27FC236}">
                <a16:creationId xmlns:a16="http://schemas.microsoft.com/office/drawing/2014/main" id="{5F7C4E77-71BE-E7C9-B3B5-0C639BC8241A}"/>
              </a:ext>
            </a:extLst>
          </p:cNvPr>
          <p:cNvSpPr>
            <a:spLocks noGrp="1"/>
          </p:cNvSpPr>
          <p:nvPr>
            <p:ph type="body" idx="1"/>
          </p:nvPr>
        </p:nvSpPr>
        <p:spPr/>
        <p:txBody>
          <a:bodyPr/>
          <a:lstStyle/>
          <a:p>
            <a:r>
              <a:rPr lang="en-US" dirty="0"/>
              <a:t>Predicting a label</a:t>
            </a:r>
          </a:p>
        </p:txBody>
      </p:sp>
    </p:spTree>
    <p:extLst>
      <p:ext uri="{BB962C8B-B14F-4D97-AF65-F5344CB8AC3E}">
        <p14:creationId xmlns:p14="http://schemas.microsoft.com/office/powerpoint/2010/main" val="4609585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5DB16-C25A-4737-BB16-65EDC4533D07}"/>
              </a:ext>
            </a:extLst>
          </p:cNvPr>
          <p:cNvSpPr>
            <a:spLocks noGrp="1"/>
          </p:cNvSpPr>
          <p:nvPr>
            <p:ph type="title"/>
          </p:nvPr>
        </p:nvSpPr>
        <p:spPr/>
        <p:txBody>
          <a:bodyPr/>
          <a:lstStyle/>
          <a:p>
            <a:r>
              <a:rPr lang="en-US" dirty="0"/>
              <a:t>Naïve Bayes Classifier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D903694-DDC9-4A03-939A-9D0FBDA0A355}"/>
                  </a:ext>
                </a:extLst>
              </p:cNvPr>
              <p:cNvSpPr>
                <a:spLocks noGrp="1"/>
              </p:cNvSpPr>
              <p:nvPr>
                <p:ph idx="1"/>
              </p:nvPr>
            </p:nvSpPr>
            <p:spPr>
              <a:xfrm>
                <a:off x="838200" y="1825625"/>
                <a:ext cx="8763000" cy="4351338"/>
              </a:xfrm>
            </p:spPr>
            <p:txBody>
              <a:bodyPr>
                <a:normAutofit fontScale="70000" lnSpcReduction="20000"/>
              </a:bodyPr>
              <a:lstStyle/>
              <a:p>
                <a:r>
                  <a:rPr lang="en-US" dirty="0"/>
                  <a:t>Approximates a Bayes classifier with the </a:t>
                </a:r>
                <a:r>
                  <a:rPr lang="en-US" b="1" dirty="0"/>
                  <a:t>naïve independence assumption </a:t>
                </a:r>
                <a:r>
                  <a:rPr lang="en-US" dirty="0"/>
                  <a:t>that all </a:t>
                </a:r>
                <a14:m>
                  <m:oMath xmlns:m="http://schemas.openxmlformats.org/officeDocument/2006/math">
                    <m:r>
                      <a:rPr lang="en-US" b="0" i="1" smtClean="0">
                        <a:latin typeface="Cambria Math" panose="02040503050406030204" pitchFamily="18" charset="0"/>
                      </a:rPr>
                      <m:t>𝑛</m:t>
                    </m:r>
                  </m:oMath>
                </a14:m>
                <a:r>
                  <a:rPr lang="en-US" dirty="0"/>
                  <a:t> features are conditional independent given the class.</a:t>
                </a:r>
                <a:br>
                  <a:rPr lang="en-US" dirty="0"/>
                </a:br>
                <a:br>
                  <a:rPr lang="en-US" dirty="0"/>
                </a:br>
                <a14:m>
                  <m:oMath xmlns:m="http://schemas.openxmlformats.org/officeDocument/2006/math">
                    <m:r>
                      <a:rPr lang="en-US" b="0" i="1" smtClean="0">
                        <a:latin typeface="Cambria Math" panose="02040503050406030204" pitchFamily="18" charset="0"/>
                      </a:rPr>
                      <m:t>ℎ</m:t>
                    </m:r>
                    <m:d>
                      <m:dPr>
                        <m:ctrlPr>
                          <a:rPr lang="en-US" b="1" i="1" smtClean="0">
                            <a:latin typeface="Cambria Math" panose="02040503050406030204" pitchFamily="18" charset="0"/>
                          </a:rPr>
                        </m:ctrlPr>
                      </m:dPr>
                      <m:e>
                        <m:r>
                          <a:rPr lang="en-US" b="1" i="1" smtClean="0">
                            <a:latin typeface="Cambria Math" panose="02040503050406030204" pitchFamily="18" charset="0"/>
                          </a:rPr>
                          <m:t>𝒙</m:t>
                        </m:r>
                      </m:e>
                    </m:d>
                    <m:r>
                      <a:rPr lang="en-US" b="0" i="1" smtClean="0">
                        <a:latin typeface="Cambria Math" panose="02040503050406030204" pitchFamily="18" charset="0"/>
                      </a:rPr>
                      <m:t>=</m:t>
                    </m:r>
                    <m:func>
                      <m:funcPr>
                        <m:ctrlPr>
                          <a:rPr lang="en-US" i="1">
                            <a:latin typeface="Cambria Math" panose="02040503050406030204" pitchFamily="18" charset="0"/>
                          </a:rPr>
                        </m:ctrlPr>
                      </m:funcPr>
                      <m:fName>
                        <m:limLow>
                          <m:limLowPr>
                            <m:ctrlPr>
                              <a:rPr lang="en-US">
                                <a:latin typeface="Cambria Math" panose="02040503050406030204" pitchFamily="18" charset="0"/>
                              </a:rPr>
                            </m:ctrlPr>
                          </m:limLowPr>
                          <m:e>
                            <m:r>
                              <m:rPr>
                                <m:sty m:val="p"/>
                              </m:rPr>
                              <a:rPr lang="en-US">
                                <a:latin typeface="Cambria Math" panose="02040503050406030204" pitchFamily="18" charset="0"/>
                              </a:rPr>
                              <m:t>argmax</m:t>
                            </m:r>
                          </m:e>
                          <m:lim>
                            <m:r>
                              <a:rPr lang="en-US" i="1">
                                <a:latin typeface="Cambria Math" panose="02040503050406030204" pitchFamily="18" charset="0"/>
                              </a:rPr>
                              <m:t>𝑦</m:t>
                            </m:r>
                          </m:lim>
                        </m:limLow>
                      </m:fName>
                      <m:e>
                        <m:r>
                          <a:rPr lang="en-US" b="0" i="1" smtClean="0">
                            <a:latin typeface="Cambria Math" panose="02040503050406030204" pitchFamily="18" charset="0"/>
                          </a:rPr>
                          <m:t>  </m:t>
                        </m:r>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𝑦</m:t>
                            </m:r>
                          </m:e>
                        </m:d>
                        <m:r>
                          <a:rPr lang="en-US" b="0" i="1" smtClean="0">
                            <a:latin typeface="Cambria Math" panose="02040503050406030204" pitchFamily="18" charset="0"/>
                          </a:rPr>
                          <m:t> </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r>
                              <a:rPr lang="en-US" b="0" i="1" smtClean="0">
                                <a:latin typeface="Cambria Math" panose="02040503050406030204" pitchFamily="18" charset="0"/>
                              </a:rPr>
                              <m:t>𝑃</m:t>
                            </m:r>
                            <m:d>
                              <m:dPr>
                                <m:endChr m:val="|"/>
                                <m:ctrlPr>
                                  <a:rPr lang="en-US" b="0" i="1" smtClean="0">
                                    <a:latin typeface="Cambria Math" panose="02040503050406030204" pitchFamily="18" charset="0"/>
                                  </a:rPr>
                                </m:ctrlPr>
                              </m:dPr>
                              <m:e>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𝑖</m:t>
                                    </m:r>
                                  </m:sub>
                                </m:sSub>
                                <m:r>
                                  <a:rPr lang="en-US" b="0" i="1" smtClean="0">
                                    <a:latin typeface="Cambria Math" panose="02040503050406030204" pitchFamily="18" charset="0"/>
                                  </a:rPr>
                                  <m:t> </m:t>
                                </m:r>
                              </m:e>
                            </m:d>
                            <m:r>
                              <a:rPr lang="en-US" b="0" i="1" smtClean="0">
                                <a:latin typeface="Cambria Math" panose="02040503050406030204" pitchFamily="18" charset="0"/>
                              </a:rPr>
                              <m:t> </m:t>
                            </m:r>
                            <m:r>
                              <a:rPr lang="en-US" b="0" i="1" smtClean="0">
                                <a:latin typeface="Cambria Math" panose="02040503050406030204" pitchFamily="18" charset="0"/>
                              </a:rPr>
                              <m:t>𝑦</m:t>
                            </m:r>
                            <m:r>
                              <a:rPr lang="en-US" b="0" i="1" smtClean="0">
                                <a:latin typeface="Cambria Math" panose="02040503050406030204" pitchFamily="18" charset="0"/>
                              </a:rPr>
                              <m:t>)</m:t>
                            </m:r>
                          </m:e>
                        </m:nary>
                      </m:e>
                    </m:func>
                  </m:oMath>
                </a14:m>
                <a:br>
                  <a:rPr lang="en-US" b="0" dirty="0"/>
                </a:br>
                <a:br>
                  <a:rPr lang="en-US" b="0" dirty="0"/>
                </a:br>
                <a:r>
                  <a:rPr lang="en-US" dirty="0"/>
                  <a:t>The priors </a:t>
                </a:r>
                <a14:m>
                  <m:oMath xmlns:m="http://schemas.openxmlformats.org/officeDocument/2006/math">
                    <m:r>
                      <a:rPr lang="en-US" i="1" smtClean="0">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𝑦</m:t>
                        </m:r>
                      </m:e>
                    </m:d>
                  </m:oMath>
                </a14:m>
                <a:r>
                  <a:rPr lang="en-US" dirty="0"/>
                  <a:t>s and the likelihoods </a:t>
                </a:r>
                <a14:m>
                  <m:oMath xmlns:m="http://schemas.openxmlformats.org/officeDocument/2006/math">
                    <m:r>
                      <a:rPr lang="en-US" i="1">
                        <a:latin typeface="Cambria Math" panose="02040503050406030204" pitchFamily="18" charset="0"/>
                      </a:rPr>
                      <m:t>𝑃</m:t>
                    </m:r>
                    <m:d>
                      <m:dPr>
                        <m:endChr m:val="|"/>
                        <m:ctrlPr>
                          <a:rPr lang="en-US" i="1">
                            <a:latin typeface="Cambria Math" panose="02040503050406030204" pitchFamily="18" charset="0"/>
                          </a:rPr>
                        </m:ctrlPr>
                      </m:dPr>
                      <m:e>
                        <m:sSub>
                          <m:sSubPr>
                            <m:ctrlPr>
                              <a:rPr lang="en-US" b="1"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𝑖</m:t>
                            </m:r>
                          </m:sub>
                        </m:sSub>
                        <m:r>
                          <a:rPr lang="en-US" i="1">
                            <a:latin typeface="Cambria Math" panose="02040503050406030204" pitchFamily="18" charset="0"/>
                          </a:rPr>
                          <m:t> </m:t>
                        </m:r>
                      </m:e>
                    </m:d>
                    <m:r>
                      <a:rPr lang="en-US" i="1">
                        <a:latin typeface="Cambria Math" panose="02040503050406030204" pitchFamily="18" charset="0"/>
                      </a:rPr>
                      <m:t> </m:t>
                    </m:r>
                    <m:r>
                      <a:rPr lang="en-US" b="0" i="1" smtClean="0">
                        <a:latin typeface="Cambria Math" panose="02040503050406030204" pitchFamily="18" charset="0"/>
                      </a:rPr>
                      <m:t>𝑦</m:t>
                    </m:r>
                    <m:r>
                      <a:rPr lang="en-US" b="0" i="1" smtClean="0">
                        <a:latin typeface="Cambria Math" panose="02040503050406030204" pitchFamily="18" charset="0"/>
                      </a:rPr>
                      <m:t>)</m:t>
                    </m:r>
                  </m:oMath>
                </a14:m>
                <a:r>
                  <a:rPr lang="en-US" dirty="0"/>
                  <a:t>s are estimated from the data by (smoothed) counting.</a:t>
                </a:r>
              </a:p>
              <a:p>
                <a:endParaRPr lang="en-US" dirty="0"/>
              </a:p>
              <a:p>
                <a:r>
                  <a:rPr lang="en-US" b="1" dirty="0"/>
                  <a:t>Gaussian Naïve Bayes Classifiers </a:t>
                </a:r>
                <a:r>
                  <a:rPr lang="en-US" dirty="0"/>
                  <a:t>extend the approach to </a:t>
                </a:r>
                <a:r>
                  <a:rPr lang="en-US" b="1" dirty="0"/>
                  <a:t>continuous features </a:t>
                </a:r>
                <a:r>
                  <a:rPr lang="en-US" dirty="0"/>
                  <a:t>by modeling the feature likelihood for each class </a:t>
                </a:r>
                <a14:m>
                  <m:oMath xmlns:m="http://schemas.openxmlformats.org/officeDocument/2006/math">
                    <m:r>
                      <a:rPr lang="en-US" i="1" dirty="0" smtClean="0">
                        <a:latin typeface="Cambria Math" panose="02040503050406030204" pitchFamily="18" charset="0"/>
                      </a:rPr>
                      <m:t>𝑦</m:t>
                    </m:r>
                  </m:oMath>
                </a14:m>
                <a:r>
                  <a:rPr lang="en-US" dirty="0"/>
                  <a:t> as a Gaussian probability density:</a:t>
                </a:r>
                <a:br>
                  <a:rPr lang="en-US" dirty="0"/>
                </a:br>
                <a:endParaRPr lang="en-US" dirty="0"/>
              </a:p>
              <a:p>
                <a:pPr marL="0" indent="0">
                  <a:buNone/>
                </a:pPr>
                <a14:m>
                  <m:oMathPara xmlns:m="http://schemas.openxmlformats.org/officeDocument/2006/math">
                    <m:oMath>
                      <m:r>
                        <a:rPr lang="en-US" b="0" i="1" smtClean="0">
                          <a:latin typeface="Cambria Math" panose="02040503050406030204" pitchFamily="18" charset="0"/>
                        </a:rPr>
                        <m:t>𝑃</m:t>
                      </m:r>
                      <m:d>
                        <m:dPr>
                          <m:endChr m:val="|"/>
                          <m:ctrlPr>
                            <a:rPr lang="en-US" b="0" i="1" smtClean="0">
                              <a:latin typeface="Cambria Math" panose="02040503050406030204" pitchFamily="18" charset="0"/>
                            </a:rPr>
                          </m:ctrlPr>
                        </m:dPr>
                        <m:e>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𝑖</m:t>
                              </m:r>
                            </m:sub>
                          </m:sSub>
                          <m:r>
                            <a:rPr lang="en-US" b="0" i="1" smtClean="0">
                              <a:latin typeface="Cambria Math" panose="02040503050406030204" pitchFamily="18" charset="0"/>
                            </a:rPr>
                            <m:t> </m:t>
                          </m:r>
                        </m:e>
                      </m:d>
                      <m:r>
                        <a:rPr lang="en-US" b="0" i="1" smtClean="0">
                          <a:latin typeface="Cambria Math" panose="02040503050406030204" pitchFamily="18" charset="0"/>
                        </a:rPr>
                        <m:t> </m:t>
                      </m:r>
                      <m:r>
                        <a:rPr lang="en-US" b="0" i="1" smtClean="0">
                          <a:latin typeface="Cambria Math" panose="02040503050406030204" pitchFamily="18" charset="0"/>
                        </a:rPr>
                        <m:t>𝑦</m:t>
                      </m:r>
                      <m:r>
                        <a:rPr lang="en-US" b="0" i="1" smtClean="0">
                          <a:latin typeface="Cambria Math" panose="02040503050406030204" pitchFamily="18" charset="0"/>
                        </a:rPr>
                        <m:t>) ~ </m:t>
                      </m:r>
                      <m:r>
                        <a:rPr lang="en-US" b="0" i="1" smtClean="0">
                          <a:latin typeface="Cambria Math" panose="02040503050406030204" pitchFamily="18" charset="0"/>
                        </a:rPr>
                        <m:t>𝑁</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𝑦</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𝜎</m:t>
                              </m:r>
                            </m:e>
                            <m:sub>
                              <m:r>
                                <a:rPr lang="en-US" b="0" i="1" smtClean="0">
                                  <a:latin typeface="Cambria Math" panose="02040503050406030204" pitchFamily="18" charset="0"/>
                                </a:rPr>
                                <m:t>𝑦</m:t>
                              </m:r>
                            </m:sub>
                          </m:sSub>
                        </m:e>
                      </m:d>
                    </m:oMath>
                  </m:oMathPara>
                </a14:m>
                <a:br>
                  <a:rPr lang="en-US" b="0" dirty="0"/>
                </a:br>
                <a:r>
                  <a:rPr lang="en-US" b="0" dirty="0"/>
                  <a:t>    </a:t>
                </a:r>
                <a:r>
                  <a:rPr lang="en-US" sz="2800" dirty="0"/>
                  <a:t>The parameters for the normal distribution </a:t>
                </a:r>
                <a14:m>
                  <m:oMath xmlns:m="http://schemas.openxmlformats.org/officeDocument/2006/math">
                    <m:r>
                      <a:rPr lang="en-US" sz="3200" b="0" i="1" smtClean="0">
                        <a:latin typeface="Cambria Math" panose="02040503050406030204" pitchFamily="18" charset="0"/>
                      </a:rPr>
                      <m:t>𝑁</m:t>
                    </m:r>
                    <m:d>
                      <m:dPr>
                        <m:ctrlPr>
                          <a:rPr lang="en-US" sz="3200" b="0" i="1" smtClean="0">
                            <a:latin typeface="Cambria Math" panose="02040503050406030204" pitchFamily="18" charset="0"/>
                          </a:rPr>
                        </m:ctrlPr>
                      </m:dPr>
                      <m:e>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𝜇</m:t>
                            </m:r>
                          </m:e>
                          <m:sub>
                            <m:r>
                              <a:rPr lang="en-US" sz="3200" b="0" i="1" smtClean="0">
                                <a:latin typeface="Cambria Math" panose="02040503050406030204" pitchFamily="18" charset="0"/>
                              </a:rPr>
                              <m:t>𝑦</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𝜎</m:t>
                            </m:r>
                          </m:e>
                          <m:sub>
                            <m:r>
                              <a:rPr lang="en-US" sz="3200" b="0" i="1" smtClean="0">
                                <a:latin typeface="Cambria Math" panose="02040503050406030204" pitchFamily="18" charset="0"/>
                              </a:rPr>
                              <m:t>𝑦</m:t>
                            </m:r>
                          </m:sub>
                        </m:sSub>
                      </m:e>
                    </m:d>
                  </m:oMath>
                </a14:m>
                <a:r>
                  <a:rPr lang="en-US" sz="2800" dirty="0"/>
                  <a:t> are estimated from data.</a:t>
                </a:r>
              </a:p>
            </p:txBody>
          </p:sp>
        </mc:Choice>
        <mc:Fallback xmlns="">
          <p:sp>
            <p:nvSpPr>
              <p:cNvPr id="3" name="Content Placeholder 2">
                <a:extLst>
                  <a:ext uri="{FF2B5EF4-FFF2-40B4-BE49-F238E27FC236}">
                    <a16:creationId xmlns:a16="http://schemas.microsoft.com/office/drawing/2014/main" id="{AD903694-DDC9-4A03-939A-9D0FBDA0A355}"/>
                  </a:ext>
                </a:extLst>
              </p:cNvPr>
              <p:cNvSpPr>
                <a:spLocks noGrp="1" noRot="1" noChangeAspect="1" noMove="1" noResize="1" noEditPoints="1" noAdjustHandles="1" noChangeArrowheads="1" noChangeShapeType="1" noTextEdit="1"/>
              </p:cNvSpPr>
              <p:nvPr>
                <p:ph idx="1"/>
              </p:nvPr>
            </p:nvSpPr>
            <p:spPr>
              <a:xfrm>
                <a:off x="838200" y="1825625"/>
                <a:ext cx="8763000" cy="4351338"/>
              </a:xfrm>
              <a:blipFill>
                <a:blip r:embed="rId2"/>
                <a:stretch>
                  <a:fillRect l="-626" t="-12465" r="-9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A38C3B6-C9B4-A225-6D9E-068428B819FE}"/>
                  </a:ext>
                </a:extLst>
              </p:cNvPr>
              <p:cNvSpPr txBox="1"/>
              <p:nvPr/>
            </p:nvSpPr>
            <p:spPr>
              <a:xfrm>
                <a:off x="8153400" y="275381"/>
                <a:ext cx="3732228" cy="811312"/>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pPr algn="ctr"/>
                <a:r>
                  <a:rPr lang="en-US" b="1" dirty="0">
                    <a:latin typeface="Cambria Math" panose="02040503050406030204" pitchFamily="18" charset="0"/>
                  </a:rPr>
                  <a:t>Bayes Classifier</a:t>
                </a:r>
              </a:p>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ℎ</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1" i="1" smtClean="0">
                          <a:latin typeface="Cambria Math" panose="02040503050406030204" pitchFamily="18" charset="0"/>
                        </a:rPr>
                        <m:t>𝒙</m:t>
                      </m:r>
                      <m:r>
                        <a:rPr lang="en-US" b="0" i="1" smtClean="0">
                          <a:latin typeface="Cambria Math" panose="02040503050406030204" pitchFamily="18" charset="0"/>
                        </a:rPr>
                        <m:t>)=</m:t>
                      </m:r>
                      <m:limLow>
                        <m:limLowPr>
                          <m:ctrlPr>
                            <a:rPr lang="en-US">
                              <a:latin typeface="Cambria Math" panose="02040503050406030204" pitchFamily="18" charset="0"/>
                            </a:rPr>
                          </m:ctrlPr>
                        </m:limLowPr>
                        <m:e>
                          <m:r>
                            <m:rPr>
                              <m:sty m:val="p"/>
                            </m:rPr>
                            <a:rPr lang="en-US">
                              <a:latin typeface="Cambria Math" panose="02040503050406030204" pitchFamily="18" charset="0"/>
                            </a:rPr>
                            <m:t>argmax</m:t>
                          </m:r>
                        </m:e>
                        <m:lim>
                          <m:r>
                            <a:rPr lang="en-US" i="1">
                              <a:latin typeface="Cambria Math" panose="02040503050406030204" pitchFamily="18" charset="0"/>
                            </a:rPr>
                            <m:t>𝑦</m:t>
                          </m:r>
                        </m:lim>
                      </m:limLow>
                      <m:r>
                        <a:rPr lang="en-US" b="0" i="1" smtClean="0">
                          <a:latin typeface="Cambria Math" panose="02040503050406030204" pitchFamily="18" charset="0"/>
                        </a:rPr>
                        <m:t> </m:t>
                      </m:r>
                      <m:r>
                        <a:rPr lang="en-US" b="0" i="1" smtClean="0">
                          <a:latin typeface="Cambria Math" panose="02040503050406030204" pitchFamily="18" charset="0"/>
                        </a:rPr>
                        <m:t>𝑃</m:t>
                      </m:r>
                      <m:d>
                        <m:dPr>
                          <m:endChr m:val="|"/>
                          <m:ctrlPr>
                            <a:rPr lang="en-US" b="0" i="1" smtClean="0">
                              <a:latin typeface="Cambria Math" panose="02040503050406030204" pitchFamily="18" charset="0"/>
                            </a:rPr>
                          </m:ctrlPr>
                        </m:dPr>
                        <m:e>
                          <m:r>
                            <a:rPr lang="en-U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 </m:t>
                          </m:r>
                        </m:e>
                      </m:d>
                      <m:r>
                        <a:rPr lang="en-US" b="0" i="1" smtClean="0">
                          <a:latin typeface="Cambria Math" panose="02040503050406030204" pitchFamily="18" charset="0"/>
                        </a:rPr>
                        <m:t> </m:t>
                      </m:r>
                      <m:r>
                        <a:rPr lang="en-US" b="1" i="1" smtClean="0">
                          <a:latin typeface="Cambria Math" panose="02040503050406030204" pitchFamily="18" charset="0"/>
                        </a:rPr>
                        <m:t>𝑿</m:t>
                      </m:r>
                      <m:r>
                        <a:rPr lang="en-US" b="0" i="1" smtClean="0">
                          <a:latin typeface="Cambria Math" panose="02040503050406030204" pitchFamily="18" charset="0"/>
                        </a:rPr>
                        <m:t>=</m:t>
                      </m:r>
                      <m:r>
                        <a:rPr lang="en-US" b="1" i="1" smtClean="0">
                          <a:latin typeface="Cambria Math" panose="02040503050406030204" pitchFamily="18" charset="0"/>
                        </a:rPr>
                        <m:t>𝒙</m:t>
                      </m:r>
                      <m:r>
                        <a:rPr lang="en-US" b="0" i="1" smtClean="0">
                          <a:latin typeface="Cambria Math" panose="02040503050406030204" pitchFamily="18" charset="0"/>
                        </a:rPr>
                        <m:t>) </m:t>
                      </m:r>
                    </m:oMath>
                  </m:oMathPara>
                </a14:m>
                <a:endParaRPr lang="en-US" dirty="0"/>
              </a:p>
            </p:txBody>
          </p:sp>
        </mc:Choice>
        <mc:Fallback xmlns="">
          <p:sp>
            <p:nvSpPr>
              <p:cNvPr id="5" name="TextBox 4">
                <a:extLst>
                  <a:ext uri="{FF2B5EF4-FFF2-40B4-BE49-F238E27FC236}">
                    <a16:creationId xmlns:a16="http://schemas.microsoft.com/office/drawing/2014/main" id="{AA38C3B6-C9B4-A225-6D9E-068428B819FE}"/>
                  </a:ext>
                </a:extLst>
              </p:cNvPr>
              <p:cNvSpPr txBox="1">
                <a:spLocks noRot="1" noChangeAspect="1" noMove="1" noResize="1" noEditPoints="1" noAdjustHandles="1" noChangeArrowheads="1" noChangeShapeType="1" noTextEdit="1"/>
              </p:cNvSpPr>
              <p:nvPr/>
            </p:nvSpPr>
            <p:spPr>
              <a:xfrm>
                <a:off x="8153400" y="275381"/>
                <a:ext cx="3732228" cy="811312"/>
              </a:xfrm>
              <a:prstGeom prst="rect">
                <a:avLst/>
              </a:prstGeom>
              <a:blipFill>
                <a:blip r:embed="rId3"/>
                <a:stretch>
                  <a:fillRect t="-3676"/>
                </a:stretch>
              </a:blipFill>
            </p:spPr>
            <p:txBody>
              <a:bodyPr/>
              <a:lstStyle/>
              <a:p>
                <a:r>
                  <a:rPr lang="en-US">
                    <a:noFill/>
                  </a:rPr>
                  <a:t> </a:t>
                </a:r>
              </a:p>
            </p:txBody>
          </p:sp>
        </mc:Fallback>
      </mc:AlternateContent>
    </p:spTree>
    <p:extLst>
      <p:ext uri="{BB962C8B-B14F-4D97-AF65-F5344CB8AC3E}">
        <p14:creationId xmlns:p14="http://schemas.microsoft.com/office/powerpoint/2010/main" val="4015960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F8C28-1AB1-4618-A463-1928662EE252}"/>
              </a:ext>
            </a:extLst>
          </p:cNvPr>
          <p:cNvSpPr>
            <a:spLocks noGrp="1"/>
          </p:cNvSpPr>
          <p:nvPr>
            <p:ph type="title"/>
          </p:nvPr>
        </p:nvSpPr>
        <p:spPr/>
        <p:txBody>
          <a:bodyPr/>
          <a:lstStyle/>
          <a:p>
            <a:r>
              <a:rPr lang="en-US" dirty="0"/>
              <a:t>Decision Tree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5E621E9-DA7A-4CEC-8C2D-830DF022BCB8}"/>
                  </a:ext>
                </a:extLst>
              </p:cNvPr>
              <p:cNvSpPr>
                <a:spLocks noGrp="1"/>
              </p:cNvSpPr>
              <p:nvPr>
                <p:ph idx="1"/>
              </p:nvPr>
            </p:nvSpPr>
            <p:spPr>
              <a:xfrm>
                <a:off x="838200" y="4317376"/>
                <a:ext cx="10515600" cy="2175500"/>
              </a:xfrm>
            </p:spPr>
            <p:txBody>
              <a:bodyPr>
                <a:normAutofit fontScale="62500" lnSpcReduction="20000"/>
              </a:bodyPr>
              <a:lstStyle/>
              <a:p>
                <a:r>
                  <a:rPr lang="en-US" dirty="0"/>
                  <a:t>A </a:t>
                </a:r>
                <a:r>
                  <a:rPr lang="en-US" b="1" dirty="0"/>
                  <a:t>sequence of decisions </a:t>
                </a:r>
                <a:r>
                  <a:rPr lang="en-US" dirty="0"/>
                  <a:t>represented as a tree.</a:t>
                </a:r>
              </a:p>
              <a:p>
                <a:r>
                  <a:rPr lang="en-US" dirty="0"/>
                  <a:t>Many implementations are available that differ by </a:t>
                </a:r>
              </a:p>
              <a:p>
                <a:pPr lvl="2"/>
                <a:r>
                  <a:rPr lang="en-US" dirty="0"/>
                  <a:t>How to select features to split? </a:t>
                </a:r>
              </a:p>
              <a:p>
                <a:pPr lvl="2"/>
                <a:r>
                  <a:rPr lang="en-US" dirty="0"/>
                  <a:t>When to stop splitting?</a:t>
                </a:r>
              </a:p>
              <a:p>
                <a:pPr lvl="2"/>
                <a:r>
                  <a:rPr lang="en-US" dirty="0"/>
                  <a:t>Is the tree pruned?</a:t>
                </a:r>
              </a:p>
              <a:p>
                <a:pPr>
                  <a:lnSpc>
                    <a:spcPct val="120000"/>
                  </a:lnSpc>
                </a:pPr>
                <a:r>
                  <a:rPr lang="en-US" dirty="0"/>
                  <a:t>Approximates a Bayesian classifier by  </a:t>
                </a:r>
                <a:br>
                  <a:rPr lang="en-US" b="0" i="1" dirty="0">
                    <a:latin typeface="Cambria Math" panose="02040503050406030204" pitchFamily="18" charset="0"/>
                  </a:rPr>
                </a:br>
                <a14:m>
                  <m:oMath xmlns:m="http://schemas.openxmlformats.org/officeDocument/2006/math">
                    <m:r>
                      <a:rPr lang="en-US" b="0" i="1" smtClean="0">
                        <a:latin typeface="Cambria Math" panose="02040503050406030204" pitchFamily="18" charset="0"/>
                      </a:rPr>
                      <m:t>ℎ</m:t>
                    </m:r>
                    <m:r>
                      <a:rPr lang="en-US" b="0" i="1" smtClean="0">
                        <a:latin typeface="Cambria Math" panose="02040503050406030204" pitchFamily="18" charset="0"/>
                      </a:rPr>
                      <m:t>(</m:t>
                    </m:r>
                    <m:r>
                      <a:rPr lang="en-US" b="1" i="1" smtClean="0">
                        <a:latin typeface="Cambria Math" panose="02040503050406030204" pitchFamily="18" charset="0"/>
                      </a:rPr>
                      <m:t>𝒙</m:t>
                    </m:r>
                    <m:r>
                      <a:rPr lang="en-US" b="0" i="1" smtClean="0">
                        <a:latin typeface="Cambria Math" panose="02040503050406030204" pitchFamily="18" charset="0"/>
                      </a:rPr>
                      <m:t>)=</m:t>
                    </m:r>
                    <m:func>
                      <m:funcPr>
                        <m:ctrlPr>
                          <a:rPr lang="en-US" i="1">
                            <a:latin typeface="Cambria Math" panose="02040503050406030204" pitchFamily="18" charset="0"/>
                          </a:rPr>
                        </m:ctrlPr>
                      </m:funcPr>
                      <m:fName>
                        <m:limLow>
                          <m:limLowPr>
                            <m:ctrlPr>
                              <a:rPr lang="en-US">
                                <a:latin typeface="Cambria Math" panose="02040503050406030204" pitchFamily="18" charset="0"/>
                              </a:rPr>
                            </m:ctrlPr>
                          </m:limLowPr>
                          <m:e>
                            <m:r>
                              <m:rPr>
                                <m:sty m:val="p"/>
                              </m:rPr>
                              <a:rPr lang="en-US">
                                <a:latin typeface="Cambria Math" panose="02040503050406030204" pitchFamily="18" charset="0"/>
                              </a:rPr>
                              <m:t>argmax</m:t>
                            </m:r>
                          </m:e>
                          <m:lim>
                            <m:r>
                              <a:rPr lang="en-US" i="1">
                                <a:latin typeface="Cambria Math" panose="02040503050406030204" pitchFamily="18" charset="0"/>
                              </a:rPr>
                              <m:t>𝑦</m:t>
                            </m:r>
                          </m:lim>
                        </m:limLow>
                      </m:fName>
                      <m:e>
                        <m:r>
                          <a:rPr lang="en-US" b="0" i="1" smtClean="0">
                            <a:latin typeface="Cambria Math" panose="02040503050406030204" pitchFamily="18" charset="0"/>
                          </a:rPr>
                          <m:t> </m:t>
                        </m:r>
                        <m:r>
                          <a:rPr lang="en-US" i="1">
                            <a:latin typeface="Cambria Math" panose="02040503050406030204" pitchFamily="18" charset="0"/>
                          </a:rPr>
                          <m:t>𝑃</m:t>
                        </m:r>
                        <m:d>
                          <m:dPr>
                            <m:endChr m:val="|"/>
                            <m:ctrlPr>
                              <a:rPr lang="en-US" i="1">
                                <a:latin typeface="Cambria Math" panose="02040503050406030204" pitchFamily="18" charset="0"/>
                              </a:rPr>
                            </m:ctrlPr>
                          </m:dPr>
                          <m:e>
                            <m:r>
                              <a:rPr lang="en-US" i="1">
                                <a:latin typeface="Cambria Math" panose="02040503050406030204" pitchFamily="18" charset="0"/>
                              </a:rPr>
                              <m:t>𝑌</m:t>
                            </m:r>
                            <m:r>
                              <a:rPr lang="en-US" i="1">
                                <a:latin typeface="Cambria Math" panose="02040503050406030204" pitchFamily="18" charset="0"/>
                              </a:rPr>
                              <m:t>=</m:t>
                            </m:r>
                            <m:r>
                              <a:rPr lang="en-US" i="1">
                                <a:latin typeface="Cambria Math" panose="02040503050406030204" pitchFamily="18" charset="0"/>
                              </a:rPr>
                              <m:t>𝑦</m:t>
                            </m:r>
                            <m:r>
                              <a:rPr lang="en-US" i="1">
                                <a:latin typeface="Cambria Math" panose="02040503050406030204" pitchFamily="18" charset="0"/>
                              </a:rPr>
                              <m:t> </m:t>
                            </m:r>
                          </m:e>
                        </m:d>
                        <m:r>
                          <a:rPr lang="en-US" b="0" i="1" smtClean="0">
                            <a:latin typeface="Cambria Math" panose="02040503050406030204" pitchFamily="18" charset="0"/>
                          </a:rPr>
                          <m:t> </m:t>
                        </m:r>
                        <m:r>
                          <m:rPr>
                            <m:nor/>
                          </m:rPr>
                          <a:rPr lang="en-US" b="0" i="0" smtClean="0">
                            <a:latin typeface="Cambria Math" panose="02040503050406030204" pitchFamily="18" charset="0"/>
                          </a:rPr>
                          <m:t>leafNodeMatching</m:t>
                        </m:r>
                        <m:r>
                          <a:rPr lang="en-US" b="0" i="1" smtClean="0">
                            <a:latin typeface="Cambria Math" panose="02040503050406030204" pitchFamily="18" charset="0"/>
                          </a:rPr>
                          <m:t>(</m:t>
                        </m:r>
                        <m:r>
                          <a:rPr lang="en-US" b="1" i="1">
                            <a:latin typeface="Cambria Math" panose="02040503050406030204" pitchFamily="18" charset="0"/>
                          </a:rPr>
                          <m:t>𝒙</m:t>
                        </m:r>
                        <m:r>
                          <a:rPr lang="en-US" b="0" i="1" smtClean="0">
                            <a:latin typeface="Cambria Math" panose="02040503050406030204" pitchFamily="18" charset="0"/>
                          </a:rPr>
                          <m:t>)</m:t>
                        </m:r>
                        <m:r>
                          <a:rPr lang="en-US" i="1">
                            <a:latin typeface="Cambria Math" panose="02040503050406030204" pitchFamily="18" charset="0"/>
                          </a:rPr>
                          <m:t>)</m:t>
                        </m:r>
                        <m:r>
                          <m:rPr>
                            <m:nor/>
                          </m:rPr>
                          <a:rPr lang="en-US" i="0" dirty="0"/>
                          <m:t> </m:t>
                        </m:r>
                      </m:e>
                    </m:func>
                  </m:oMath>
                </a14:m>
                <a:endParaRPr lang="en-US" dirty="0"/>
              </a:p>
            </p:txBody>
          </p:sp>
        </mc:Choice>
        <mc:Fallback xmlns="">
          <p:sp>
            <p:nvSpPr>
              <p:cNvPr id="3" name="Content Placeholder 2">
                <a:extLst>
                  <a:ext uri="{FF2B5EF4-FFF2-40B4-BE49-F238E27FC236}">
                    <a16:creationId xmlns:a16="http://schemas.microsoft.com/office/drawing/2014/main" id="{25E621E9-DA7A-4CEC-8C2D-830DF022BCB8}"/>
                  </a:ext>
                </a:extLst>
              </p:cNvPr>
              <p:cNvSpPr>
                <a:spLocks noGrp="1" noRot="1" noChangeAspect="1" noMove="1" noResize="1" noEditPoints="1" noAdjustHandles="1" noChangeArrowheads="1" noChangeShapeType="1" noTextEdit="1"/>
              </p:cNvSpPr>
              <p:nvPr>
                <p:ph idx="1"/>
              </p:nvPr>
            </p:nvSpPr>
            <p:spPr>
              <a:xfrm>
                <a:off x="838200" y="4317376"/>
                <a:ext cx="10515600" cy="2175500"/>
              </a:xfrm>
              <a:blipFill>
                <a:blip r:embed="rId2"/>
                <a:stretch>
                  <a:fillRect l="-406" t="-4482"/>
                </a:stretch>
              </a:blipFill>
            </p:spPr>
            <p:txBody>
              <a:bodyPr/>
              <a:lstStyle/>
              <a:p>
                <a:r>
                  <a:rPr lang="en-US">
                    <a:noFill/>
                  </a:rPr>
                  <a:t> </a:t>
                </a:r>
              </a:p>
            </p:txBody>
          </p:sp>
        </mc:Fallback>
      </mc:AlternateContent>
      <p:pic>
        <p:nvPicPr>
          <p:cNvPr id="4" name="Picture 3" descr="A figure of a decision tree that uses features to make decisions.">
            <a:extLst>
              <a:ext uri="{FF2B5EF4-FFF2-40B4-BE49-F238E27FC236}">
                <a16:creationId xmlns:a16="http://schemas.microsoft.com/office/drawing/2014/main" id="{8D583EB2-DC15-4FC7-A937-BB763C202858}"/>
              </a:ext>
            </a:extLst>
          </p:cNvPr>
          <p:cNvPicPr>
            <a:picLocks noChangeAspect="1"/>
          </p:cNvPicPr>
          <p:nvPr/>
        </p:nvPicPr>
        <p:blipFill>
          <a:blip r:embed="rId3"/>
          <a:stretch>
            <a:fillRect/>
          </a:stretch>
        </p:blipFill>
        <p:spPr>
          <a:xfrm>
            <a:off x="6400800" y="1027906"/>
            <a:ext cx="5308873" cy="3289469"/>
          </a:xfrm>
          <a:prstGeom prst="rect">
            <a:avLst/>
          </a:prstGeom>
        </p:spPr>
      </p:pic>
      <p:pic>
        <p:nvPicPr>
          <p:cNvPr id="5" name="Picture 4">
            <a:extLst>
              <a:ext uri="{FF2B5EF4-FFF2-40B4-BE49-F238E27FC236}">
                <a16:creationId xmlns:a16="http://schemas.microsoft.com/office/drawing/2014/main" id="{5712887C-9340-49EA-9D3A-B6C32689071C}"/>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25226" y="1600200"/>
            <a:ext cx="5308873" cy="2606174"/>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72FE092-EE67-2F32-C5A1-13D9483E5619}"/>
                  </a:ext>
                </a:extLst>
              </p:cNvPr>
              <p:cNvSpPr txBox="1"/>
              <p:nvPr/>
            </p:nvSpPr>
            <p:spPr>
              <a:xfrm>
                <a:off x="8153400" y="275381"/>
                <a:ext cx="3732228" cy="811312"/>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pPr algn="ctr"/>
                <a:r>
                  <a:rPr lang="en-US" b="1" dirty="0">
                    <a:latin typeface="Cambria Math" panose="02040503050406030204" pitchFamily="18" charset="0"/>
                  </a:rPr>
                  <a:t>Bayes Classifier</a:t>
                </a:r>
              </a:p>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ℎ</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1" i="1" smtClean="0">
                          <a:latin typeface="Cambria Math" panose="02040503050406030204" pitchFamily="18" charset="0"/>
                        </a:rPr>
                        <m:t>𝒙</m:t>
                      </m:r>
                      <m:r>
                        <a:rPr lang="en-US" b="0" i="1" smtClean="0">
                          <a:latin typeface="Cambria Math" panose="02040503050406030204" pitchFamily="18" charset="0"/>
                        </a:rPr>
                        <m:t>)=</m:t>
                      </m:r>
                      <m:limLow>
                        <m:limLowPr>
                          <m:ctrlPr>
                            <a:rPr lang="en-US">
                              <a:latin typeface="Cambria Math" panose="02040503050406030204" pitchFamily="18" charset="0"/>
                            </a:rPr>
                          </m:ctrlPr>
                        </m:limLowPr>
                        <m:e>
                          <m:r>
                            <m:rPr>
                              <m:sty m:val="p"/>
                            </m:rPr>
                            <a:rPr lang="en-US">
                              <a:latin typeface="Cambria Math" panose="02040503050406030204" pitchFamily="18" charset="0"/>
                            </a:rPr>
                            <m:t>argmax</m:t>
                          </m:r>
                        </m:e>
                        <m:lim>
                          <m:r>
                            <a:rPr lang="en-US" i="1">
                              <a:latin typeface="Cambria Math" panose="02040503050406030204" pitchFamily="18" charset="0"/>
                            </a:rPr>
                            <m:t>𝑦</m:t>
                          </m:r>
                        </m:lim>
                      </m:limLow>
                      <m:r>
                        <a:rPr lang="en-US" b="0" i="1" smtClean="0">
                          <a:latin typeface="Cambria Math" panose="02040503050406030204" pitchFamily="18" charset="0"/>
                        </a:rPr>
                        <m:t> </m:t>
                      </m:r>
                      <m:r>
                        <a:rPr lang="en-US" b="0" i="1" smtClean="0">
                          <a:latin typeface="Cambria Math" panose="02040503050406030204" pitchFamily="18" charset="0"/>
                        </a:rPr>
                        <m:t>𝑃</m:t>
                      </m:r>
                      <m:d>
                        <m:dPr>
                          <m:endChr m:val="|"/>
                          <m:ctrlPr>
                            <a:rPr lang="en-US" b="0" i="1" smtClean="0">
                              <a:latin typeface="Cambria Math" panose="02040503050406030204" pitchFamily="18" charset="0"/>
                            </a:rPr>
                          </m:ctrlPr>
                        </m:dPr>
                        <m:e>
                          <m:r>
                            <a:rPr lang="en-U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 </m:t>
                          </m:r>
                        </m:e>
                      </m:d>
                      <m:r>
                        <a:rPr lang="en-US" b="0" i="1" smtClean="0">
                          <a:latin typeface="Cambria Math" panose="02040503050406030204" pitchFamily="18" charset="0"/>
                        </a:rPr>
                        <m:t> </m:t>
                      </m:r>
                      <m:r>
                        <a:rPr lang="en-US" b="1" i="1" smtClean="0">
                          <a:latin typeface="Cambria Math" panose="02040503050406030204" pitchFamily="18" charset="0"/>
                        </a:rPr>
                        <m:t>𝑿</m:t>
                      </m:r>
                      <m:r>
                        <a:rPr lang="en-US" b="0" i="1" smtClean="0">
                          <a:latin typeface="Cambria Math" panose="02040503050406030204" pitchFamily="18" charset="0"/>
                        </a:rPr>
                        <m:t>=</m:t>
                      </m:r>
                      <m:r>
                        <a:rPr lang="en-US" b="1" i="1" smtClean="0">
                          <a:latin typeface="Cambria Math" panose="02040503050406030204" pitchFamily="18" charset="0"/>
                        </a:rPr>
                        <m:t>𝒙</m:t>
                      </m:r>
                      <m:r>
                        <a:rPr lang="en-US" b="0" i="1" smtClean="0">
                          <a:latin typeface="Cambria Math" panose="02040503050406030204" pitchFamily="18" charset="0"/>
                        </a:rPr>
                        <m:t>) </m:t>
                      </m:r>
                    </m:oMath>
                  </m:oMathPara>
                </a14:m>
                <a:endParaRPr lang="en-US" dirty="0"/>
              </a:p>
            </p:txBody>
          </p:sp>
        </mc:Choice>
        <mc:Fallback xmlns="">
          <p:sp>
            <p:nvSpPr>
              <p:cNvPr id="7" name="TextBox 6">
                <a:extLst>
                  <a:ext uri="{FF2B5EF4-FFF2-40B4-BE49-F238E27FC236}">
                    <a16:creationId xmlns:a16="http://schemas.microsoft.com/office/drawing/2014/main" id="{572FE092-EE67-2F32-C5A1-13D9483E5619}"/>
                  </a:ext>
                </a:extLst>
              </p:cNvPr>
              <p:cNvSpPr txBox="1">
                <a:spLocks noRot="1" noChangeAspect="1" noMove="1" noResize="1" noEditPoints="1" noAdjustHandles="1" noChangeArrowheads="1" noChangeShapeType="1" noTextEdit="1"/>
              </p:cNvSpPr>
              <p:nvPr/>
            </p:nvSpPr>
            <p:spPr>
              <a:xfrm>
                <a:off x="8153400" y="275381"/>
                <a:ext cx="3732228" cy="811312"/>
              </a:xfrm>
              <a:prstGeom prst="rect">
                <a:avLst/>
              </a:prstGeom>
              <a:blipFill>
                <a:blip r:embed="rId5"/>
                <a:stretch>
                  <a:fillRect t="-36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Speech Bubble: Rectangle with Corners Rounded 5">
                <a:extLst>
                  <a:ext uri="{FF2B5EF4-FFF2-40B4-BE49-F238E27FC236}">
                    <a16:creationId xmlns:a16="http://schemas.microsoft.com/office/drawing/2014/main" id="{F921A951-06A2-FFD6-C88D-439698186DEF}"/>
                  </a:ext>
                </a:extLst>
              </p:cNvPr>
              <p:cNvSpPr/>
              <p:nvPr/>
            </p:nvSpPr>
            <p:spPr>
              <a:xfrm>
                <a:off x="8001000" y="4502606"/>
                <a:ext cx="2057400" cy="1212394"/>
              </a:xfrm>
              <a:prstGeom prst="wedgeRoundRectCallout">
                <a:avLst>
                  <a:gd name="adj1" fmla="val -52958"/>
                  <a:gd name="adj2" fmla="val -82093"/>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Class labels for leaf nodes are decided by the majority of the training data ending up in the leaf node. The probability can be estimated as: </a:t>
                </a:r>
                <a14:m>
                  <m:oMath xmlns:m="http://schemas.openxmlformats.org/officeDocument/2006/math">
                    <m:acc>
                      <m:accPr>
                        <m:chr m:val="̂"/>
                        <m:ctrlPr>
                          <a:rPr lang="en-US" sz="1100" b="0" i="1" dirty="0" smtClean="0">
                            <a:latin typeface="Cambria Math" panose="02040503050406030204" pitchFamily="18" charset="0"/>
                          </a:rPr>
                        </m:ctrlPr>
                      </m:accPr>
                      <m:e>
                        <m:r>
                          <a:rPr lang="en-US" sz="1100" b="0" i="1" dirty="0" smtClean="0">
                            <a:latin typeface="Cambria Math" panose="02040503050406030204" pitchFamily="18" charset="0"/>
                          </a:rPr>
                          <m:t>𝑃</m:t>
                        </m:r>
                      </m:e>
                    </m:acc>
                    <m:d>
                      <m:dPr>
                        <m:ctrlPr>
                          <a:rPr lang="en-US" sz="1100" b="0" i="0" dirty="0" smtClean="0">
                            <a:latin typeface="Cambria Math" panose="02040503050406030204" pitchFamily="18" charset="0"/>
                          </a:rPr>
                        </m:ctrlPr>
                      </m:dPr>
                      <m:e>
                        <m:r>
                          <m:rPr>
                            <m:nor/>
                          </m:rPr>
                          <a:rPr lang="en-US" sz="1100" b="0" i="0" dirty="0" smtClean="0">
                            <a:latin typeface="Cambria Math" panose="02040503050406030204" pitchFamily="18" charset="0"/>
                          </a:rPr>
                          <m:t>Y</m:t>
                        </m:r>
                        <m:r>
                          <m:rPr>
                            <m:nor/>
                          </m:rPr>
                          <a:rPr lang="en-US" sz="1100" i="0" dirty="0" err="1" smtClean="0">
                            <a:latin typeface="Cambria Math" panose="02040503050406030204" pitchFamily="18" charset="0"/>
                          </a:rPr>
                          <m:t>es</m:t>
                        </m:r>
                      </m:e>
                      <m:e>
                        <m:r>
                          <m:rPr>
                            <m:nor/>
                          </m:rPr>
                          <a:rPr lang="en-US" sz="1100" b="0" i="0" dirty="0" smtClean="0">
                            <a:latin typeface="Cambria Math" panose="02040503050406030204" pitchFamily="18" charset="0"/>
                          </a:rPr>
                          <m:t>node N</m:t>
                        </m:r>
                      </m:e>
                    </m:d>
                    <m:r>
                      <a:rPr lang="en-US" sz="1100" i="1" dirty="0" smtClean="0">
                        <a:latin typeface="Cambria Math" panose="02040503050406030204" pitchFamily="18" charset="0"/>
                      </a:rPr>
                      <m:t>=</m:t>
                    </m:r>
                    <m:f>
                      <m:fPr>
                        <m:ctrlPr>
                          <a:rPr lang="en-US" sz="1100" b="0" i="1" dirty="0" smtClean="0">
                            <a:latin typeface="Cambria Math" panose="02040503050406030204" pitchFamily="18" charset="0"/>
                          </a:rPr>
                        </m:ctrlPr>
                      </m:fPr>
                      <m:num>
                        <m:sSub>
                          <m:sSubPr>
                            <m:ctrlPr>
                              <a:rPr lang="en-US" sz="1100" b="0" i="1" dirty="0" smtClean="0">
                                <a:latin typeface="Cambria Math" panose="02040503050406030204" pitchFamily="18" charset="0"/>
                              </a:rPr>
                            </m:ctrlPr>
                          </m:sSubPr>
                          <m:e>
                            <m:r>
                              <a:rPr lang="en-US" sz="1100" b="0" i="1" dirty="0" smtClean="0">
                                <a:latin typeface="Cambria Math" panose="02040503050406030204" pitchFamily="18" charset="0"/>
                              </a:rPr>
                              <m:t>𝑁</m:t>
                            </m:r>
                          </m:e>
                          <m:sub>
                            <m:r>
                              <a:rPr lang="en-US" sz="1100" b="0" i="1" dirty="0" smtClean="0">
                                <a:latin typeface="Cambria Math" panose="02040503050406030204" pitchFamily="18" charset="0"/>
                              </a:rPr>
                              <m:t>𝑌𝑒𝑠</m:t>
                            </m:r>
                          </m:sub>
                        </m:sSub>
                      </m:num>
                      <m:den>
                        <m:sSub>
                          <m:sSubPr>
                            <m:ctrlPr>
                              <a:rPr lang="en-US" sz="1100" b="0" i="1" dirty="0" smtClean="0">
                                <a:latin typeface="Cambria Math" panose="02040503050406030204" pitchFamily="18" charset="0"/>
                              </a:rPr>
                            </m:ctrlPr>
                          </m:sSubPr>
                          <m:e>
                            <m:r>
                              <a:rPr lang="en-US" sz="1100" b="0" i="1" dirty="0" smtClean="0">
                                <a:latin typeface="Cambria Math" panose="02040503050406030204" pitchFamily="18" charset="0"/>
                              </a:rPr>
                              <m:t>𝑁</m:t>
                            </m:r>
                          </m:e>
                          <m:sub>
                            <m:r>
                              <a:rPr lang="en-US" sz="1100" b="0" i="1" dirty="0" smtClean="0">
                                <a:latin typeface="Cambria Math" panose="02040503050406030204" pitchFamily="18" charset="0"/>
                              </a:rPr>
                              <m:t>𝑌𝑒𝑠</m:t>
                            </m:r>
                          </m:sub>
                        </m:sSub>
                        <m:r>
                          <a:rPr lang="en-US" sz="1100" b="0" i="1" dirty="0" smtClean="0">
                            <a:latin typeface="Cambria Math" panose="02040503050406030204" pitchFamily="18" charset="0"/>
                          </a:rPr>
                          <m:t>+</m:t>
                        </m:r>
                        <m:sSub>
                          <m:sSubPr>
                            <m:ctrlPr>
                              <a:rPr lang="en-US" sz="1100" b="0" i="1" dirty="0" smtClean="0">
                                <a:latin typeface="Cambria Math" panose="02040503050406030204" pitchFamily="18" charset="0"/>
                              </a:rPr>
                            </m:ctrlPr>
                          </m:sSubPr>
                          <m:e>
                            <m:r>
                              <a:rPr lang="en-US" sz="1100" b="0" i="1" dirty="0" smtClean="0">
                                <a:latin typeface="Cambria Math" panose="02040503050406030204" pitchFamily="18" charset="0"/>
                              </a:rPr>
                              <m:t>𝑁</m:t>
                            </m:r>
                          </m:e>
                          <m:sub>
                            <m:r>
                              <a:rPr lang="en-US" sz="1100" b="0" i="1" dirty="0" smtClean="0">
                                <a:latin typeface="Cambria Math" panose="02040503050406030204" pitchFamily="18" charset="0"/>
                              </a:rPr>
                              <m:t>𝑁𝑜</m:t>
                            </m:r>
                          </m:sub>
                        </m:sSub>
                      </m:den>
                    </m:f>
                    <m:r>
                      <a:rPr lang="en-US" sz="1100" i="1" dirty="0" smtClean="0">
                        <a:latin typeface="Cambria Math" panose="02040503050406030204" pitchFamily="18" charset="0"/>
                      </a:rPr>
                      <m:t> </m:t>
                    </m:r>
                  </m:oMath>
                </a14:m>
                <a:endParaRPr lang="en-US" sz="1100" dirty="0"/>
              </a:p>
            </p:txBody>
          </p:sp>
        </mc:Choice>
        <mc:Fallback xmlns="">
          <p:sp>
            <p:nvSpPr>
              <p:cNvPr id="6" name="Speech Bubble: Rectangle with Corners Rounded 5">
                <a:extLst>
                  <a:ext uri="{FF2B5EF4-FFF2-40B4-BE49-F238E27FC236}">
                    <a16:creationId xmlns:a16="http://schemas.microsoft.com/office/drawing/2014/main" id="{F921A951-06A2-FFD6-C88D-439698186DEF}"/>
                  </a:ext>
                </a:extLst>
              </p:cNvPr>
              <p:cNvSpPr>
                <a:spLocks noRot="1" noChangeAspect="1" noMove="1" noResize="1" noEditPoints="1" noAdjustHandles="1" noChangeArrowheads="1" noChangeShapeType="1" noTextEdit="1"/>
              </p:cNvSpPr>
              <p:nvPr/>
            </p:nvSpPr>
            <p:spPr>
              <a:xfrm>
                <a:off x="8001000" y="4502606"/>
                <a:ext cx="2057400" cy="1212394"/>
              </a:xfrm>
              <a:prstGeom prst="wedgeRoundRectCallout">
                <a:avLst>
                  <a:gd name="adj1" fmla="val -52958"/>
                  <a:gd name="adj2" fmla="val -82093"/>
                  <a:gd name="adj3" fmla="val 16667"/>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83560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C3C92-3027-4360-8932-211FE7053A68}"/>
              </a:ext>
            </a:extLst>
          </p:cNvPr>
          <p:cNvSpPr>
            <a:spLocks noGrp="1"/>
          </p:cNvSpPr>
          <p:nvPr>
            <p:ph type="title"/>
          </p:nvPr>
        </p:nvSpPr>
        <p:spPr/>
        <p:txBody>
          <a:bodyPr/>
          <a:lstStyle/>
          <a:p>
            <a:r>
              <a:rPr lang="en-US" dirty="0"/>
              <a:t>K-Nearest Neighbors Classifier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D403E3F-92F0-46CC-AEE7-00CB8A428430}"/>
                  </a:ext>
                </a:extLst>
              </p:cNvPr>
              <p:cNvSpPr>
                <a:spLocks noGrp="1"/>
              </p:cNvSpPr>
              <p:nvPr>
                <p:ph idx="1"/>
              </p:nvPr>
            </p:nvSpPr>
            <p:spPr>
              <a:xfrm>
                <a:off x="838200" y="4616511"/>
                <a:ext cx="10515600" cy="1876365"/>
              </a:xfrm>
            </p:spPr>
            <p:txBody>
              <a:bodyPr>
                <a:normAutofit fontScale="70000" lnSpcReduction="20000"/>
              </a:bodyPr>
              <a:lstStyle/>
              <a:p>
                <a:r>
                  <a:rPr lang="en-US" dirty="0"/>
                  <a:t>Class is predicted by looking at the majority in the set of the k nearest </a:t>
                </a:r>
                <a:r>
                  <a:rPr lang="en-US" b="1" dirty="0"/>
                  <a:t>neighbors</a:t>
                </a:r>
                <a:r>
                  <a:rPr lang="en-US" dirty="0"/>
                  <a:t>. </a:t>
                </a:r>
                <a14:m>
                  <m:oMath xmlns:m="http://schemas.openxmlformats.org/officeDocument/2006/math">
                    <m:r>
                      <a:rPr lang="en-US" i="1" dirty="0" smtClean="0">
                        <a:latin typeface="Cambria Math" panose="02040503050406030204" pitchFamily="18" charset="0"/>
                      </a:rPr>
                      <m:t>𝑘</m:t>
                    </m:r>
                  </m:oMath>
                </a14:m>
                <a:r>
                  <a:rPr lang="en-US" dirty="0"/>
                  <a:t> is a hyperparameter. Larger </a:t>
                </a:r>
                <a14:m>
                  <m:oMath xmlns:m="http://schemas.openxmlformats.org/officeDocument/2006/math">
                    <m:r>
                      <a:rPr lang="en-US" i="1" dirty="0" smtClean="0">
                        <a:latin typeface="Cambria Math" panose="02040503050406030204" pitchFamily="18" charset="0"/>
                      </a:rPr>
                      <m:t>𝑘</m:t>
                    </m:r>
                  </m:oMath>
                </a14:m>
                <a:r>
                  <a:rPr lang="en-US" dirty="0"/>
                  <a:t> smooths the decision boundary.</a:t>
                </a:r>
              </a:p>
              <a:p>
                <a:r>
                  <a:rPr lang="en-US" dirty="0"/>
                  <a:t>Neighbors are found using a distance measure (e.g., Euclidean distance between points).</a:t>
                </a:r>
              </a:p>
              <a:p>
                <a:r>
                  <a:rPr lang="en-US" dirty="0"/>
                  <a:t>Approximates a Bayesian classifier by </a:t>
                </a:r>
                <a:br>
                  <a:rPr lang="en-US" dirty="0"/>
                </a:br>
                <a:br>
                  <a:rPr lang="en-US" dirty="0"/>
                </a:br>
                <a14:m>
                  <m:oMath xmlns:m="http://schemas.openxmlformats.org/officeDocument/2006/math">
                    <m:r>
                      <a:rPr lang="en-US" i="1">
                        <a:latin typeface="Cambria Math" panose="02040503050406030204" pitchFamily="18" charset="0"/>
                      </a:rPr>
                      <m:t>ℎ</m:t>
                    </m:r>
                    <m:r>
                      <a:rPr lang="en-US" i="1">
                        <a:latin typeface="Cambria Math" panose="02040503050406030204" pitchFamily="18" charset="0"/>
                      </a:rPr>
                      <m:t>(</m:t>
                    </m:r>
                    <m:r>
                      <a:rPr lang="en-US" b="1" i="1">
                        <a:latin typeface="Cambria Math" panose="02040503050406030204" pitchFamily="18" charset="0"/>
                      </a:rPr>
                      <m:t>𝒙</m:t>
                    </m:r>
                    <m:r>
                      <a:rPr lang="en-US" i="1">
                        <a:latin typeface="Cambria Math" panose="02040503050406030204" pitchFamily="18" charset="0"/>
                      </a:rPr>
                      <m:t>)=</m:t>
                    </m:r>
                    <m:func>
                      <m:funcPr>
                        <m:ctrlPr>
                          <a:rPr lang="en-US" i="1">
                            <a:latin typeface="Cambria Math" panose="02040503050406030204" pitchFamily="18" charset="0"/>
                          </a:rPr>
                        </m:ctrlPr>
                      </m:funcPr>
                      <m:fName>
                        <m:limLow>
                          <m:limLowPr>
                            <m:ctrlPr>
                              <a:rPr lang="en-US">
                                <a:latin typeface="Cambria Math" panose="02040503050406030204" pitchFamily="18" charset="0"/>
                              </a:rPr>
                            </m:ctrlPr>
                          </m:limLowPr>
                          <m:e>
                            <m:r>
                              <m:rPr>
                                <m:sty m:val="p"/>
                              </m:rPr>
                              <a:rPr lang="en-US">
                                <a:latin typeface="Cambria Math" panose="02040503050406030204" pitchFamily="18" charset="0"/>
                              </a:rPr>
                              <m:t>argmax</m:t>
                            </m:r>
                          </m:e>
                          <m:lim>
                            <m:r>
                              <a:rPr lang="en-US" i="1">
                                <a:latin typeface="Cambria Math" panose="02040503050406030204" pitchFamily="18" charset="0"/>
                              </a:rPr>
                              <m:t>𝑦</m:t>
                            </m:r>
                          </m:lim>
                        </m:limLow>
                      </m:fName>
                      <m:e>
                        <m:r>
                          <a:rPr lang="en-US" i="1">
                            <a:latin typeface="Cambria Math" panose="02040503050406030204" pitchFamily="18" charset="0"/>
                          </a:rPr>
                          <m:t>𝑃</m:t>
                        </m:r>
                        <m:d>
                          <m:dPr>
                            <m:endChr m:val="|"/>
                            <m:ctrlPr>
                              <a:rPr lang="en-US" i="1">
                                <a:latin typeface="Cambria Math" panose="02040503050406030204" pitchFamily="18" charset="0"/>
                              </a:rPr>
                            </m:ctrlPr>
                          </m:dPr>
                          <m:e>
                            <m:r>
                              <a:rPr lang="en-US" i="1">
                                <a:latin typeface="Cambria Math" panose="02040503050406030204" pitchFamily="18" charset="0"/>
                              </a:rPr>
                              <m:t>𝑌</m:t>
                            </m:r>
                            <m:r>
                              <a:rPr lang="en-US" i="1">
                                <a:latin typeface="Cambria Math" panose="02040503050406030204" pitchFamily="18" charset="0"/>
                              </a:rPr>
                              <m:t>=</m:t>
                            </m:r>
                            <m:r>
                              <a:rPr lang="en-US" i="1">
                                <a:latin typeface="Cambria Math" panose="02040503050406030204" pitchFamily="18" charset="0"/>
                              </a:rPr>
                              <m:t>𝑦</m:t>
                            </m:r>
                            <m:r>
                              <a:rPr lang="en-US" i="1">
                                <a:latin typeface="Cambria Math" panose="02040503050406030204" pitchFamily="18" charset="0"/>
                              </a:rPr>
                              <m:t> </m:t>
                            </m:r>
                          </m:e>
                        </m:d>
                        <m:r>
                          <a:rPr lang="en-US" i="1">
                            <a:latin typeface="Cambria Math" panose="02040503050406030204" pitchFamily="18" charset="0"/>
                          </a:rPr>
                          <m:t> </m:t>
                        </m:r>
                        <m:r>
                          <m:rPr>
                            <m:nor/>
                          </m:rPr>
                          <a:rPr lang="en-US" b="0" i="0" smtClean="0">
                            <a:latin typeface="Cambria Math" panose="02040503050406030204" pitchFamily="18" charset="0"/>
                          </a:rPr>
                          <m:t>neighborhood</m:t>
                        </m:r>
                        <m:r>
                          <a:rPr lang="en-US" i="1">
                            <a:latin typeface="Cambria Math" panose="02040503050406030204" pitchFamily="18" charset="0"/>
                          </a:rPr>
                          <m:t>(</m:t>
                        </m:r>
                        <m:r>
                          <a:rPr lang="en-US" b="1" i="1">
                            <a:latin typeface="Cambria Math" panose="02040503050406030204" pitchFamily="18" charset="0"/>
                          </a:rPr>
                          <m:t>𝒙</m:t>
                        </m:r>
                        <m:r>
                          <a:rPr lang="en-US" i="1">
                            <a:latin typeface="Cambria Math" panose="02040503050406030204" pitchFamily="18" charset="0"/>
                          </a:rPr>
                          <m:t>))</m:t>
                        </m:r>
                        <m:r>
                          <m:rPr>
                            <m:nor/>
                          </m:rPr>
                          <a:rPr lang="en-US" i="0" dirty="0"/>
                          <m:t> </m:t>
                        </m:r>
                      </m:e>
                    </m:func>
                  </m:oMath>
                </a14:m>
                <a:endParaRPr lang="en-US" dirty="0"/>
              </a:p>
            </p:txBody>
          </p:sp>
        </mc:Choice>
        <mc:Fallback xmlns="">
          <p:sp>
            <p:nvSpPr>
              <p:cNvPr id="3" name="Content Placeholder 2">
                <a:extLst>
                  <a:ext uri="{FF2B5EF4-FFF2-40B4-BE49-F238E27FC236}">
                    <a16:creationId xmlns:a16="http://schemas.microsoft.com/office/drawing/2014/main" id="{DD403E3F-92F0-46CC-AEE7-00CB8A428430}"/>
                  </a:ext>
                </a:extLst>
              </p:cNvPr>
              <p:cNvSpPr>
                <a:spLocks noGrp="1" noRot="1" noChangeAspect="1" noMove="1" noResize="1" noEditPoints="1" noAdjustHandles="1" noChangeArrowheads="1" noChangeShapeType="1" noTextEdit="1"/>
              </p:cNvSpPr>
              <p:nvPr>
                <p:ph idx="1"/>
              </p:nvPr>
            </p:nvSpPr>
            <p:spPr>
              <a:xfrm>
                <a:off x="838200" y="4616511"/>
                <a:ext cx="10515600" cy="1876365"/>
              </a:xfrm>
              <a:blipFill>
                <a:blip r:embed="rId2"/>
                <a:stretch>
                  <a:fillRect l="-522" t="-5844"/>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6C44BE1D-B926-4089-8E89-446CBA16D02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209800" y="1524000"/>
            <a:ext cx="7822234" cy="3092511"/>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54BCA42-5698-7B0A-C3A8-2C583A067AE8}"/>
                  </a:ext>
                </a:extLst>
              </p:cNvPr>
              <p:cNvSpPr txBox="1"/>
              <p:nvPr/>
            </p:nvSpPr>
            <p:spPr>
              <a:xfrm>
                <a:off x="8153400" y="275381"/>
                <a:ext cx="3732228" cy="811312"/>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pPr algn="ctr"/>
                <a:r>
                  <a:rPr lang="en-US" b="1" dirty="0">
                    <a:latin typeface="Cambria Math" panose="02040503050406030204" pitchFamily="18" charset="0"/>
                  </a:rPr>
                  <a:t>Bayes Classifier</a:t>
                </a:r>
              </a:p>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ℎ</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1" i="1" smtClean="0">
                          <a:latin typeface="Cambria Math" panose="02040503050406030204" pitchFamily="18" charset="0"/>
                        </a:rPr>
                        <m:t>𝒙</m:t>
                      </m:r>
                      <m:r>
                        <a:rPr lang="en-US" b="0" i="1" smtClean="0">
                          <a:latin typeface="Cambria Math" panose="02040503050406030204" pitchFamily="18" charset="0"/>
                        </a:rPr>
                        <m:t>)=</m:t>
                      </m:r>
                      <m:limLow>
                        <m:limLowPr>
                          <m:ctrlPr>
                            <a:rPr lang="en-US">
                              <a:latin typeface="Cambria Math" panose="02040503050406030204" pitchFamily="18" charset="0"/>
                            </a:rPr>
                          </m:ctrlPr>
                        </m:limLowPr>
                        <m:e>
                          <m:r>
                            <m:rPr>
                              <m:sty m:val="p"/>
                            </m:rPr>
                            <a:rPr lang="en-US">
                              <a:latin typeface="Cambria Math" panose="02040503050406030204" pitchFamily="18" charset="0"/>
                            </a:rPr>
                            <m:t>argmax</m:t>
                          </m:r>
                        </m:e>
                        <m:lim>
                          <m:r>
                            <a:rPr lang="en-US" i="1">
                              <a:latin typeface="Cambria Math" panose="02040503050406030204" pitchFamily="18" charset="0"/>
                            </a:rPr>
                            <m:t>𝑦</m:t>
                          </m:r>
                        </m:lim>
                      </m:limLow>
                      <m:r>
                        <a:rPr lang="en-US" b="0" i="1" smtClean="0">
                          <a:latin typeface="Cambria Math" panose="02040503050406030204" pitchFamily="18" charset="0"/>
                        </a:rPr>
                        <m:t> </m:t>
                      </m:r>
                      <m:r>
                        <a:rPr lang="en-US" b="0" i="1" smtClean="0">
                          <a:latin typeface="Cambria Math" panose="02040503050406030204" pitchFamily="18" charset="0"/>
                        </a:rPr>
                        <m:t>𝑃</m:t>
                      </m:r>
                      <m:d>
                        <m:dPr>
                          <m:endChr m:val="|"/>
                          <m:ctrlPr>
                            <a:rPr lang="en-US" b="0" i="1" smtClean="0">
                              <a:latin typeface="Cambria Math" panose="02040503050406030204" pitchFamily="18" charset="0"/>
                            </a:rPr>
                          </m:ctrlPr>
                        </m:dPr>
                        <m:e>
                          <m:r>
                            <a:rPr lang="en-U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 </m:t>
                          </m:r>
                        </m:e>
                      </m:d>
                      <m:r>
                        <a:rPr lang="en-US" b="0" i="1" smtClean="0">
                          <a:latin typeface="Cambria Math" panose="02040503050406030204" pitchFamily="18" charset="0"/>
                        </a:rPr>
                        <m:t> </m:t>
                      </m:r>
                      <m:r>
                        <a:rPr lang="en-US" b="1" i="1" smtClean="0">
                          <a:latin typeface="Cambria Math" panose="02040503050406030204" pitchFamily="18" charset="0"/>
                        </a:rPr>
                        <m:t>𝑿</m:t>
                      </m:r>
                      <m:r>
                        <a:rPr lang="en-US" b="0" i="1" smtClean="0">
                          <a:latin typeface="Cambria Math" panose="02040503050406030204" pitchFamily="18" charset="0"/>
                        </a:rPr>
                        <m:t>=</m:t>
                      </m:r>
                      <m:r>
                        <a:rPr lang="en-US" b="1" i="1" smtClean="0">
                          <a:latin typeface="Cambria Math" panose="02040503050406030204" pitchFamily="18" charset="0"/>
                        </a:rPr>
                        <m:t>𝒙</m:t>
                      </m:r>
                      <m:r>
                        <a:rPr lang="en-US" b="0" i="1" smtClean="0">
                          <a:latin typeface="Cambria Math" panose="02040503050406030204" pitchFamily="18" charset="0"/>
                        </a:rPr>
                        <m:t>) </m:t>
                      </m:r>
                    </m:oMath>
                  </m:oMathPara>
                </a14:m>
                <a:endParaRPr lang="en-US" dirty="0"/>
              </a:p>
            </p:txBody>
          </p:sp>
        </mc:Choice>
        <mc:Fallback xmlns="">
          <p:sp>
            <p:nvSpPr>
              <p:cNvPr id="6" name="TextBox 5">
                <a:extLst>
                  <a:ext uri="{FF2B5EF4-FFF2-40B4-BE49-F238E27FC236}">
                    <a16:creationId xmlns:a16="http://schemas.microsoft.com/office/drawing/2014/main" id="{754BCA42-5698-7B0A-C3A8-2C583A067AE8}"/>
                  </a:ext>
                </a:extLst>
              </p:cNvPr>
              <p:cNvSpPr txBox="1">
                <a:spLocks noRot="1" noChangeAspect="1" noMove="1" noResize="1" noEditPoints="1" noAdjustHandles="1" noChangeArrowheads="1" noChangeShapeType="1" noTextEdit="1"/>
              </p:cNvSpPr>
              <p:nvPr/>
            </p:nvSpPr>
            <p:spPr>
              <a:xfrm>
                <a:off x="8153400" y="275381"/>
                <a:ext cx="3732228" cy="811312"/>
              </a:xfrm>
              <a:prstGeom prst="rect">
                <a:avLst/>
              </a:prstGeom>
              <a:blipFill>
                <a:blip r:embed="rId4"/>
                <a:stretch>
                  <a:fillRect t="-3676"/>
                </a:stretch>
              </a:blipFill>
            </p:spPr>
            <p:txBody>
              <a:bodyPr/>
              <a:lstStyle/>
              <a:p>
                <a:r>
                  <a:rPr lang="en-US">
                    <a:noFill/>
                  </a:rPr>
                  <a:t> </a:t>
                </a:r>
              </a:p>
            </p:txBody>
          </p:sp>
        </mc:Fallback>
      </mc:AlternateContent>
      <p:sp>
        <p:nvSpPr>
          <p:cNvPr id="5" name="Oval 4">
            <a:extLst>
              <a:ext uri="{FF2B5EF4-FFF2-40B4-BE49-F238E27FC236}">
                <a16:creationId xmlns:a16="http://schemas.microsoft.com/office/drawing/2014/main" id="{8207D964-56F9-4A99-9571-1155A1A9F8EE}"/>
              </a:ext>
            </a:extLst>
          </p:cNvPr>
          <p:cNvSpPr/>
          <p:nvPr/>
        </p:nvSpPr>
        <p:spPr>
          <a:xfrm>
            <a:off x="7239000" y="2895600"/>
            <a:ext cx="533400" cy="5334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92513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DB28D-40CD-4E4E-B820-0865925CF2C2}"/>
              </a:ext>
            </a:extLst>
          </p:cNvPr>
          <p:cNvSpPr>
            <a:spLocks noGrp="1"/>
          </p:cNvSpPr>
          <p:nvPr>
            <p:ph type="title"/>
          </p:nvPr>
        </p:nvSpPr>
        <p:spPr/>
        <p:txBody>
          <a:bodyPr/>
          <a:lstStyle/>
          <a:p>
            <a:r>
              <a:rPr lang="en-US" dirty="0"/>
              <a:t>Support Vector Machine (SVM)</a:t>
            </a:r>
          </a:p>
        </p:txBody>
      </p:sp>
      <p:sp>
        <p:nvSpPr>
          <p:cNvPr id="3" name="Content Placeholder 2">
            <a:extLst>
              <a:ext uri="{FF2B5EF4-FFF2-40B4-BE49-F238E27FC236}">
                <a16:creationId xmlns:a16="http://schemas.microsoft.com/office/drawing/2014/main" id="{F12B41D0-8B63-4496-9282-892F584394AC}"/>
              </a:ext>
            </a:extLst>
          </p:cNvPr>
          <p:cNvSpPr>
            <a:spLocks noGrp="1"/>
          </p:cNvSpPr>
          <p:nvPr>
            <p:ph idx="1"/>
          </p:nvPr>
        </p:nvSpPr>
        <p:spPr>
          <a:xfrm>
            <a:off x="838200" y="5085475"/>
            <a:ext cx="10515600" cy="1272461"/>
          </a:xfrm>
        </p:spPr>
        <p:txBody>
          <a:bodyPr>
            <a:normAutofit fontScale="92500" lnSpcReduction="10000"/>
          </a:bodyPr>
          <a:lstStyle/>
          <a:p>
            <a:r>
              <a:rPr lang="en-US" dirty="0"/>
              <a:t>Linear classifier that finds </a:t>
            </a:r>
            <a:r>
              <a:rPr lang="en-US" b="1" dirty="0"/>
              <a:t>the maximum margin separator </a:t>
            </a:r>
            <a:r>
              <a:rPr lang="en-US" dirty="0"/>
              <a:t>using only the points that are “support vectors” and quadratic optimization.</a:t>
            </a:r>
          </a:p>
          <a:p>
            <a:r>
              <a:rPr lang="en-US" dirty="0"/>
              <a:t>The kernel trick can be used to learn non-linear decision boundaries.</a:t>
            </a:r>
          </a:p>
        </p:txBody>
      </p:sp>
      <p:grpSp>
        <p:nvGrpSpPr>
          <p:cNvPr id="5" name="Group 4">
            <a:extLst>
              <a:ext uri="{FF2B5EF4-FFF2-40B4-BE49-F238E27FC236}">
                <a16:creationId xmlns:a16="http://schemas.microsoft.com/office/drawing/2014/main" id="{589EE94F-62F4-0910-6F3B-7FDCD9500AEE}"/>
              </a:ext>
              <a:ext uri="{C183D7F6-B498-43B3-948B-1728B52AA6E4}">
                <adec:decorative xmlns:adec="http://schemas.microsoft.com/office/drawing/2017/decorative" val="1"/>
              </a:ext>
            </a:extLst>
          </p:cNvPr>
          <p:cNvGrpSpPr/>
          <p:nvPr/>
        </p:nvGrpSpPr>
        <p:grpSpPr>
          <a:xfrm>
            <a:off x="2822407" y="1524000"/>
            <a:ext cx="7159793" cy="3389531"/>
            <a:chOff x="2822407" y="1524000"/>
            <a:chExt cx="7159793" cy="3389531"/>
          </a:xfrm>
        </p:grpSpPr>
        <p:pic>
          <p:nvPicPr>
            <p:cNvPr id="4" name="Picture 3">
              <a:extLst>
                <a:ext uri="{FF2B5EF4-FFF2-40B4-BE49-F238E27FC236}">
                  <a16:creationId xmlns:a16="http://schemas.microsoft.com/office/drawing/2014/main" id="{989E3C8D-26ED-4587-9061-8225A32F4613}"/>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822407" y="1524000"/>
              <a:ext cx="6547186" cy="3092609"/>
            </a:xfrm>
            <a:prstGeom prst="rect">
              <a:avLst/>
            </a:prstGeom>
          </p:spPr>
        </p:pic>
        <p:cxnSp>
          <p:nvCxnSpPr>
            <p:cNvPr id="6" name="Straight Connector 5">
              <a:extLst>
                <a:ext uri="{FF2B5EF4-FFF2-40B4-BE49-F238E27FC236}">
                  <a16:creationId xmlns:a16="http://schemas.microsoft.com/office/drawing/2014/main" id="{BEC63F72-A75D-4C51-8E01-0780A7509E7B}"/>
                </a:ext>
              </a:extLst>
            </p:cNvPr>
            <p:cNvCxnSpPr/>
            <p:nvPr/>
          </p:nvCxnSpPr>
          <p:spPr>
            <a:xfrm flipV="1">
              <a:off x="7543800" y="3276600"/>
              <a:ext cx="228600" cy="228600"/>
            </a:xfrm>
            <a:prstGeom prst="line">
              <a:avLst/>
            </a:prstGeom>
            <a:ln w="28575">
              <a:headEnd type="arrow" w="med" len="med"/>
              <a:tailEnd type="arrow" w="med" len="med"/>
            </a:ln>
          </p:spPr>
          <p:style>
            <a:lnRef idx="2">
              <a:schemeClr val="accent6">
                <a:shade val="50000"/>
              </a:schemeClr>
            </a:lnRef>
            <a:fillRef idx="1">
              <a:schemeClr val="accent6"/>
            </a:fillRef>
            <a:effectRef idx="0">
              <a:schemeClr val="accent6"/>
            </a:effectRef>
            <a:fontRef idx="minor">
              <a:schemeClr val="lt1"/>
            </a:fontRef>
          </p:style>
        </p:cxnSp>
        <p:sp>
          <p:nvSpPr>
            <p:cNvPr id="7" name="TextBox 6">
              <a:extLst>
                <a:ext uri="{FF2B5EF4-FFF2-40B4-BE49-F238E27FC236}">
                  <a16:creationId xmlns:a16="http://schemas.microsoft.com/office/drawing/2014/main" id="{5F65893B-1871-46E0-9FC6-B0AB3182650A}"/>
                </a:ext>
              </a:extLst>
            </p:cNvPr>
            <p:cNvSpPr txBox="1"/>
            <p:nvPr/>
          </p:nvSpPr>
          <p:spPr>
            <a:xfrm>
              <a:off x="7848600" y="2963148"/>
              <a:ext cx="914400" cy="3810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US" dirty="0"/>
                <a:t>Margin</a:t>
              </a:r>
            </a:p>
          </p:txBody>
        </p:sp>
        <p:cxnSp>
          <p:nvCxnSpPr>
            <p:cNvPr id="9" name="Straight Arrow Connector 8">
              <a:extLst>
                <a:ext uri="{FF2B5EF4-FFF2-40B4-BE49-F238E27FC236}">
                  <a16:creationId xmlns:a16="http://schemas.microsoft.com/office/drawing/2014/main" id="{37357CC0-8EE6-4829-A5F8-8807046ADF94}"/>
                </a:ext>
              </a:extLst>
            </p:cNvPr>
            <p:cNvCxnSpPr>
              <a:cxnSpLocks/>
            </p:cNvCxnSpPr>
            <p:nvPr/>
          </p:nvCxnSpPr>
          <p:spPr>
            <a:xfrm flipH="1" flipV="1">
              <a:off x="8305800" y="4024311"/>
              <a:ext cx="612607" cy="381001"/>
            </a:xfrm>
            <a:prstGeom prst="straightConnector1">
              <a:avLst/>
            </a:prstGeom>
            <a:ln w="28575">
              <a:headEnd type="none" w="med" len="med"/>
              <a:tailEnd type="arrow" w="med" len="med"/>
            </a:ln>
          </p:spPr>
          <p:style>
            <a:lnRef idx="2">
              <a:schemeClr val="accent6">
                <a:shade val="50000"/>
              </a:schemeClr>
            </a:lnRef>
            <a:fillRef idx="1">
              <a:schemeClr val="accent6"/>
            </a:fillRef>
            <a:effectRef idx="0">
              <a:schemeClr val="accent6"/>
            </a:effectRef>
            <a:fontRef idx="minor">
              <a:schemeClr val="lt1"/>
            </a:fontRef>
          </p:style>
        </p:cxnSp>
        <p:sp>
          <p:nvSpPr>
            <p:cNvPr id="10" name="TextBox 9">
              <a:extLst>
                <a:ext uri="{FF2B5EF4-FFF2-40B4-BE49-F238E27FC236}">
                  <a16:creationId xmlns:a16="http://schemas.microsoft.com/office/drawing/2014/main" id="{93C6BB77-7931-493F-A79F-DEBFF6D21390}"/>
                </a:ext>
              </a:extLst>
            </p:cNvPr>
            <p:cNvSpPr txBox="1"/>
            <p:nvPr/>
          </p:nvSpPr>
          <p:spPr>
            <a:xfrm>
              <a:off x="8855580" y="4267200"/>
              <a:ext cx="1126620" cy="64633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US" dirty="0"/>
                <a:t>Decision boundary </a:t>
              </a:r>
            </a:p>
          </p:txBody>
        </p:sp>
      </p:grpSp>
    </p:spTree>
    <p:extLst>
      <p:ext uri="{BB962C8B-B14F-4D97-AF65-F5344CB8AC3E}">
        <p14:creationId xmlns:p14="http://schemas.microsoft.com/office/powerpoint/2010/main" val="10183515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D7D0E-A67A-4382-B425-09B322BE189D}"/>
              </a:ext>
            </a:extLst>
          </p:cNvPr>
          <p:cNvSpPr>
            <a:spLocks noGrp="1"/>
          </p:cNvSpPr>
          <p:nvPr>
            <p:ph type="title"/>
          </p:nvPr>
        </p:nvSpPr>
        <p:spPr>
          <a:xfrm>
            <a:off x="838200" y="365126"/>
            <a:ext cx="8915400" cy="818384"/>
          </a:xfrm>
        </p:spPr>
        <p:txBody>
          <a:bodyPr>
            <a:normAutofit/>
          </a:bodyPr>
          <a:lstStyle/>
          <a:p>
            <a:r>
              <a:rPr lang="en-US" dirty="0"/>
              <a:t>MLP: Artificial Neural Network (ANN)</a:t>
            </a:r>
          </a:p>
        </p:txBody>
      </p:sp>
      <p:grpSp>
        <p:nvGrpSpPr>
          <p:cNvPr id="13" name="Group 12" descr="A figure showing the topology of a neural network with a single hidden layer.">
            <a:extLst>
              <a:ext uri="{FF2B5EF4-FFF2-40B4-BE49-F238E27FC236}">
                <a16:creationId xmlns:a16="http://schemas.microsoft.com/office/drawing/2014/main" id="{75037A14-3AFB-5878-CDC0-BD0486D59593}"/>
              </a:ext>
            </a:extLst>
          </p:cNvPr>
          <p:cNvGrpSpPr/>
          <p:nvPr/>
        </p:nvGrpSpPr>
        <p:grpSpPr>
          <a:xfrm>
            <a:off x="45672" y="1164852"/>
            <a:ext cx="8115300" cy="5509792"/>
            <a:chOff x="45672" y="1164852"/>
            <a:chExt cx="8115300" cy="5509792"/>
          </a:xfrm>
        </p:grpSpPr>
        <p:pic>
          <p:nvPicPr>
            <p:cNvPr id="5" name="Picture 4">
              <a:extLst>
                <a:ext uri="{FF2B5EF4-FFF2-40B4-BE49-F238E27FC236}">
                  <a16:creationId xmlns:a16="http://schemas.microsoft.com/office/drawing/2014/main" id="{59C505E5-264D-4512-B738-64315008EC14}"/>
                </a:ext>
              </a:extLst>
            </p:cNvPr>
            <p:cNvPicPr>
              <a:picLocks noChangeAspect="1"/>
            </p:cNvPicPr>
            <p:nvPr/>
          </p:nvPicPr>
          <p:blipFill rotWithShape="1">
            <a:blip r:embed="rId2"/>
            <a:srcRect l="-2123" r="-1"/>
            <a:stretch/>
          </p:blipFill>
          <p:spPr>
            <a:xfrm>
              <a:off x="45672" y="1778000"/>
              <a:ext cx="7802930" cy="4576762"/>
            </a:xfrm>
            <a:prstGeom prst="rect">
              <a:avLst/>
            </a:prstGeom>
          </p:spPr>
        </p:pic>
        <p:sp>
          <p:nvSpPr>
            <p:cNvPr id="8" name="Speech Bubble: Rectangle 7">
              <a:extLst>
                <a:ext uri="{FF2B5EF4-FFF2-40B4-BE49-F238E27FC236}">
                  <a16:creationId xmlns:a16="http://schemas.microsoft.com/office/drawing/2014/main" id="{23257D05-D4F7-429A-8BEC-42DD062F3215}"/>
                </a:ext>
              </a:extLst>
            </p:cNvPr>
            <p:cNvSpPr/>
            <p:nvPr/>
          </p:nvSpPr>
          <p:spPr>
            <a:xfrm>
              <a:off x="2986312" y="6293644"/>
              <a:ext cx="976088" cy="381000"/>
            </a:xfrm>
            <a:prstGeom prst="wedgeRectCallout">
              <a:avLst>
                <a:gd name="adj1" fmla="val 58333"/>
                <a:gd name="adj2" fmla="val -124167"/>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t>Bias term</a:t>
              </a:r>
            </a:p>
          </p:txBody>
        </p:sp>
        <p:sp>
          <p:nvSpPr>
            <p:cNvPr id="9" name="Speech Bubble: Rectangle 8">
              <a:extLst>
                <a:ext uri="{FF2B5EF4-FFF2-40B4-BE49-F238E27FC236}">
                  <a16:creationId xmlns:a16="http://schemas.microsoft.com/office/drawing/2014/main" id="{8CE8AF8D-75D9-4426-918B-179C915BDA88}"/>
                </a:ext>
              </a:extLst>
            </p:cNvPr>
            <p:cNvSpPr/>
            <p:nvPr/>
          </p:nvSpPr>
          <p:spPr>
            <a:xfrm>
              <a:off x="4405570" y="5867400"/>
              <a:ext cx="1690430" cy="728661"/>
            </a:xfrm>
            <a:prstGeom prst="wedgeRectCallout">
              <a:avLst>
                <a:gd name="adj1" fmla="val -6010"/>
                <a:gd name="adj2" fmla="val -152527"/>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t>Non-linear activation function. E.g., </a:t>
              </a:r>
              <a:r>
                <a:rPr lang="en-US" sz="1400" dirty="0" err="1"/>
                <a:t>ReLU</a:t>
              </a:r>
              <a:endParaRPr lang="en-US" sz="1400" dirty="0"/>
            </a:p>
          </p:txBody>
        </p:sp>
        <p:sp>
          <p:nvSpPr>
            <p:cNvPr id="10" name="Speech Bubble: Rectangle 9">
              <a:extLst>
                <a:ext uri="{FF2B5EF4-FFF2-40B4-BE49-F238E27FC236}">
                  <a16:creationId xmlns:a16="http://schemas.microsoft.com/office/drawing/2014/main" id="{CB86ED20-CC1D-4B11-BD63-F18FD50791F0}"/>
                </a:ext>
              </a:extLst>
            </p:cNvPr>
            <p:cNvSpPr/>
            <p:nvPr/>
          </p:nvSpPr>
          <p:spPr>
            <a:xfrm>
              <a:off x="1143000" y="1524000"/>
              <a:ext cx="1600200" cy="461962"/>
            </a:xfrm>
            <a:prstGeom prst="wedgeRectCallout">
              <a:avLst>
                <a:gd name="adj1" fmla="val -19445"/>
                <a:gd name="adj2" fmla="val 170713"/>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t>One or more hidden layers</a:t>
              </a:r>
            </a:p>
          </p:txBody>
        </p:sp>
        <p:sp>
          <p:nvSpPr>
            <p:cNvPr id="11" name="Rectangle 10">
              <a:extLst>
                <a:ext uri="{FF2B5EF4-FFF2-40B4-BE49-F238E27FC236}">
                  <a16:creationId xmlns:a16="http://schemas.microsoft.com/office/drawing/2014/main" id="{AC5C019B-45E1-4EAF-A424-7EF300F014B2}"/>
                </a:ext>
              </a:extLst>
            </p:cNvPr>
            <p:cNvSpPr/>
            <p:nvPr/>
          </p:nvSpPr>
          <p:spPr>
            <a:xfrm>
              <a:off x="1143000" y="2316162"/>
              <a:ext cx="838200" cy="3128962"/>
            </a:xfrm>
            <a:prstGeom prst="rect">
              <a:avLst/>
            </a:prstGeom>
            <a:solidFill>
              <a:srgbClr val="70AD47">
                <a:alpha val="20000"/>
              </a:srgbClr>
            </a:solidFill>
            <a:ln>
              <a:solidFill>
                <a:schemeClr val="accent6">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78A9B84-D447-4F07-A7BF-15162A2BC21C}"/>
                </a:ext>
              </a:extLst>
            </p:cNvPr>
            <p:cNvSpPr txBox="1"/>
            <p:nvPr/>
          </p:nvSpPr>
          <p:spPr>
            <a:xfrm>
              <a:off x="4240470" y="1164852"/>
              <a:ext cx="2590800" cy="369332"/>
            </a:xfrm>
            <a:prstGeom prst="rect">
              <a:avLst/>
            </a:prstGeom>
            <a:noFill/>
          </p:spPr>
          <p:txBody>
            <a:bodyPr wrap="square" rtlCol="0">
              <a:spAutoFit/>
            </a:bodyPr>
            <a:lstStyle/>
            <a:p>
              <a:r>
                <a:rPr lang="en-US" b="1" dirty="0"/>
                <a:t>Computational graph</a:t>
              </a:r>
            </a:p>
          </p:txBody>
        </p:sp>
        <mc:AlternateContent xmlns:mc="http://schemas.openxmlformats.org/markup-compatibility/2006" xmlns:a14="http://schemas.microsoft.com/office/drawing/2010/main">
          <mc:Choice Requires="a14">
            <p:sp>
              <p:nvSpPr>
                <p:cNvPr id="4" name="Speech Bubble: Rectangle 3">
                  <a:extLst>
                    <a:ext uri="{FF2B5EF4-FFF2-40B4-BE49-F238E27FC236}">
                      <a16:creationId xmlns:a16="http://schemas.microsoft.com/office/drawing/2014/main" id="{A750B6A0-2002-5342-C717-6C7D75640BF4}"/>
                    </a:ext>
                  </a:extLst>
                </p:cNvPr>
                <p:cNvSpPr/>
                <p:nvPr/>
              </p:nvSpPr>
              <p:spPr>
                <a:xfrm>
                  <a:off x="6424870" y="4843564"/>
                  <a:ext cx="1736102" cy="1828771"/>
                </a:xfrm>
                <a:prstGeom prst="wedgeRectCallout">
                  <a:avLst>
                    <a:gd name="adj1" fmla="val -7742"/>
                    <a:gd name="adj2" fmla="val -87181"/>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en-US" sz="1400" dirty="0"/>
                    <a:t>Regression: </a:t>
                  </a:r>
                  <a:br>
                    <a:rPr lang="en-US" sz="1400" dirty="0"/>
                  </a:br>
                  <a:r>
                    <a:rPr lang="en-US" sz="1400" dirty="0"/>
                    <a:t>Linear activation.</a:t>
                  </a:r>
                </a:p>
                <a:p>
                  <a:br>
                    <a:rPr lang="en-US" sz="1400" dirty="0"/>
                  </a:br>
                  <a:r>
                    <a:rPr lang="en-US" sz="1400" dirty="0"/>
                    <a:t>Classification:</a:t>
                  </a:r>
                  <a:br>
                    <a:rPr lang="en-US" sz="1400" dirty="0"/>
                  </a:br>
                  <a:r>
                    <a:rPr lang="en-US" sz="1400" dirty="0"/>
                    <a:t>Multiple output nodes with a </a:t>
                  </a:r>
                  <a:r>
                    <a:rPr lang="en-US" sz="1400" dirty="0" err="1"/>
                    <a:t>softmax</a:t>
                  </a:r>
                  <a:r>
                    <a:rPr lang="en-US" sz="1400" dirty="0"/>
                    <a:t> activation function returning </a:t>
                  </a:r>
                  <a14:m>
                    <m:oMath xmlns:m="http://schemas.openxmlformats.org/officeDocument/2006/math">
                      <m:acc>
                        <m:accPr>
                          <m:chr m:val="̂"/>
                          <m:ctrlPr>
                            <a:rPr lang="en-US" sz="1400" b="1" i="1" smtClean="0">
                              <a:latin typeface="Cambria Math" panose="02040503050406030204" pitchFamily="18" charset="0"/>
                            </a:rPr>
                          </m:ctrlPr>
                        </m:accPr>
                        <m:e>
                          <m:r>
                            <a:rPr lang="en-US" sz="1400" b="1" i="1" smtClean="0">
                              <a:latin typeface="Cambria Math" panose="02040503050406030204" pitchFamily="18" charset="0"/>
                            </a:rPr>
                            <m:t>𝑷</m:t>
                          </m:r>
                        </m:e>
                      </m:acc>
                      <m:r>
                        <a:rPr lang="en-US" sz="1400" b="0" i="1" smtClean="0">
                          <a:latin typeface="Cambria Math" panose="02040503050406030204" pitchFamily="18" charset="0"/>
                        </a:rPr>
                        <m:t>(</m:t>
                      </m:r>
                      <m:r>
                        <a:rPr lang="en-US" sz="1400" b="0" i="1" smtClean="0">
                          <a:latin typeface="Cambria Math" panose="02040503050406030204" pitchFamily="18" charset="0"/>
                        </a:rPr>
                        <m:t>𝑦</m:t>
                      </m:r>
                      <m:r>
                        <a:rPr lang="en-US" sz="1400" b="0" i="1" smtClean="0">
                          <a:latin typeface="Cambria Math" panose="02040503050406030204" pitchFamily="18" charset="0"/>
                        </a:rPr>
                        <m:t>|</m:t>
                      </m:r>
                      <m:r>
                        <a:rPr lang="en-US" sz="1400" b="1" i="1" smtClean="0">
                          <a:latin typeface="Cambria Math" panose="02040503050406030204" pitchFamily="18" charset="0"/>
                        </a:rPr>
                        <m:t>𝒙</m:t>
                      </m:r>
                      <m:r>
                        <a:rPr lang="en-US" sz="1400" b="0" i="1" smtClean="0">
                          <a:latin typeface="Cambria Math" panose="02040503050406030204" pitchFamily="18" charset="0"/>
                        </a:rPr>
                        <m:t>)</m:t>
                      </m:r>
                    </m:oMath>
                  </a14:m>
                  <a:endParaRPr lang="en-US" sz="1400" dirty="0"/>
                </a:p>
              </p:txBody>
            </p:sp>
          </mc:Choice>
          <mc:Fallback xmlns="">
            <p:sp>
              <p:nvSpPr>
                <p:cNvPr id="4" name="Speech Bubble: Rectangle 3">
                  <a:extLst>
                    <a:ext uri="{FF2B5EF4-FFF2-40B4-BE49-F238E27FC236}">
                      <a16:creationId xmlns:a16="http://schemas.microsoft.com/office/drawing/2014/main" id="{A750B6A0-2002-5342-C717-6C7D75640BF4}"/>
                    </a:ext>
                  </a:extLst>
                </p:cNvPr>
                <p:cNvSpPr>
                  <a:spLocks noRot="1" noChangeAspect="1" noMove="1" noResize="1" noEditPoints="1" noAdjustHandles="1" noChangeArrowheads="1" noChangeShapeType="1" noTextEdit="1"/>
                </p:cNvSpPr>
                <p:nvPr/>
              </p:nvSpPr>
              <p:spPr>
                <a:xfrm>
                  <a:off x="6424870" y="4843564"/>
                  <a:ext cx="1736102" cy="1828771"/>
                </a:xfrm>
                <a:prstGeom prst="wedgeRectCallout">
                  <a:avLst>
                    <a:gd name="adj1" fmla="val -7742"/>
                    <a:gd name="adj2" fmla="val -87181"/>
                  </a:avLst>
                </a:prstGeom>
                <a:blipFill>
                  <a:blip r:embed="rId3"/>
                  <a:stretch>
                    <a:fillRect l="-697" r="-348" b="-1923"/>
                  </a:stretch>
                </a:blipFill>
              </p:spPr>
              <p:txBody>
                <a:bodyPr/>
                <a:lstStyle/>
                <a:p>
                  <a:r>
                    <a:rPr lang="en-US">
                      <a:noFill/>
                    </a:rPr>
                    <a:t> </a:t>
                  </a:r>
                </a:p>
              </p:txBody>
            </p:sp>
          </mc:Fallback>
        </mc:AlternateContent>
        <p:sp>
          <p:nvSpPr>
            <p:cNvPr id="6" name="Speech Bubble: Rectangle 5">
              <a:extLst>
                <a:ext uri="{FF2B5EF4-FFF2-40B4-BE49-F238E27FC236}">
                  <a16:creationId xmlns:a16="http://schemas.microsoft.com/office/drawing/2014/main" id="{1D9991D3-82B3-3064-C52C-A229F1BFF3D7}"/>
                </a:ext>
              </a:extLst>
            </p:cNvPr>
            <p:cNvSpPr/>
            <p:nvPr/>
          </p:nvSpPr>
          <p:spPr>
            <a:xfrm>
              <a:off x="838200" y="6004187"/>
              <a:ext cx="1104900" cy="381000"/>
            </a:xfrm>
            <a:prstGeom prst="wedgeRectCallout">
              <a:avLst>
                <a:gd name="adj1" fmla="val 27371"/>
                <a:gd name="adj2" fmla="val -274915"/>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t>Neuron</a:t>
              </a:r>
            </a:p>
          </p:txBody>
        </p:sp>
        <p:sp>
          <p:nvSpPr>
            <p:cNvPr id="7" name="Oval 6">
              <a:extLst>
                <a:ext uri="{FF2B5EF4-FFF2-40B4-BE49-F238E27FC236}">
                  <a16:creationId xmlns:a16="http://schemas.microsoft.com/office/drawing/2014/main" id="{617CB4B8-E50C-D9E2-1583-8D9F96D417B5}"/>
                </a:ext>
              </a:extLst>
            </p:cNvPr>
            <p:cNvSpPr/>
            <p:nvPr/>
          </p:nvSpPr>
          <p:spPr>
            <a:xfrm>
              <a:off x="3516088" y="1503391"/>
              <a:ext cx="1943100" cy="2590800"/>
            </a:xfrm>
            <a:prstGeom prst="ellipse">
              <a:avLst/>
            </a:prstGeom>
            <a:solidFill>
              <a:srgbClr val="70AD47">
                <a:alpha val="20000"/>
              </a:srgbClr>
            </a:solidFill>
            <a:ln>
              <a:solidFill>
                <a:schemeClr val="accent6">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solidFill>
                  <a:schemeClr val="lt1"/>
                </a:solidFill>
              </a:endParaRPr>
            </a:p>
          </p:txBody>
        </p:sp>
        <p:cxnSp>
          <p:nvCxnSpPr>
            <p:cNvPr id="15" name="Straight Connector 14">
              <a:extLst>
                <a:ext uri="{FF2B5EF4-FFF2-40B4-BE49-F238E27FC236}">
                  <a16:creationId xmlns:a16="http://schemas.microsoft.com/office/drawing/2014/main" id="{B6AA2D06-82E0-6A3D-BC59-0D301E7633E2}"/>
                </a:ext>
              </a:extLst>
            </p:cNvPr>
            <p:cNvCxnSpPr>
              <a:cxnSpLocks/>
            </p:cNvCxnSpPr>
            <p:nvPr/>
          </p:nvCxnSpPr>
          <p:spPr>
            <a:xfrm flipV="1">
              <a:off x="1611488" y="1586428"/>
              <a:ext cx="2409626" cy="1138266"/>
            </a:xfrm>
            <a:prstGeom prst="line">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 name="Straight Connector 17">
              <a:extLst>
                <a:ext uri="{FF2B5EF4-FFF2-40B4-BE49-F238E27FC236}">
                  <a16:creationId xmlns:a16="http://schemas.microsoft.com/office/drawing/2014/main" id="{89DDE38B-5A06-6C92-402E-28D279A27AE6}"/>
                </a:ext>
              </a:extLst>
            </p:cNvPr>
            <p:cNvCxnSpPr>
              <a:cxnSpLocks/>
            </p:cNvCxnSpPr>
            <p:nvPr/>
          </p:nvCxnSpPr>
          <p:spPr>
            <a:xfrm>
              <a:off x="1611487" y="3054894"/>
              <a:ext cx="2323321" cy="891103"/>
            </a:xfrm>
            <a:prstGeom prst="line">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5970AAE-D0C1-4D69-AE5D-06F79663B2E1}"/>
                  </a:ext>
                </a:extLst>
              </p:cNvPr>
              <p:cNvSpPr>
                <a:spLocks noGrp="1"/>
              </p:cNvSpPr>
              <p:nvPr>
                <p:ph idx="1"/>
              </p:nvPr>
            </p:nvSpPr>
            <p:spPr>
              <a:xfrm>
                <a:off x="8229600" y="1452988"/>
                <a:ext cx="3463974" cy="5143073"/>
              </a:xfrm>
            </p:spPr>
            <p:txBody>
              <a:bodyPr>
                <a:noAutofit/>
              </a:bodyPr>
              <a:lstStyle/>
              <a:p>
                <a:r>
                  <a:rPr lang="en-US" sz="1500" b="1" dirty="0"/>
                  <a:t>MLP</a:t>
                </a:r>
                <a:r>
                  <a:rPr lang="en-US" sz="1500" dirty="0"/>
                  <a:t>: A “standard” ANN is called a Multilayer Perceptron (MLP) and has an input layer, an output layer, and a single fully connected hidden layer.</a:t>
                </a:r>
                <a:endParaRPr lang="en-US" sz="1500" b="1" dirty="0"/>
              </a:p>
              <a:p>
                <a:r>
                  <a:rPr lang="en-US" sz="1500" b="1" dirty="0"/>
                  <a:t>Representation</a:t>
                </a:r>
                <a:r>
                  <a:rPr lang="en-US" sz="1500" dirty="0"/>
                  <a:t>:</a:t>
                </a:r>
                <a:br>
                  <a:rPr lang="en-US" sz="1500" dirty="0"/>
                </a:br>
                <a:r>
                  <a:rPr lang="en-US" sz="1500" dirty="0"/>
                  <a:t>   </a:t>
                </a:r>
                <a14:m>
                  <m:oMath xmlns:m="http://schemas.openxmlformats.org/officeDocument/2006/math">
                    <m:acc>
                      <m:accPr>
                        <m:chr m:val="̂"/>
                        <m:ctrlPr>
                          <a:rPr lang="en-US" sz="1500" b="0" i="1" dirty="0" smtClean="0">
                            <a:latin typeface="Cambria Math" panose="02040503050406030204" pitchFamily="18" charset="0"/>
                          </a:rPr>
                        </m:ctrlPr>
                      </m:accPr>
                      <m:e>
                        <m:r>
                          <a:rPr lang="en-US" sz="1500" b="0" i="1" dirty="0" smtClean="0">
                            <a:latin typeface="Cambria Math" panose="02040503050406030204" pitchFamily="18" charset="0"/>
                          </a:rPr>
                          <m:t>𝑦</m:t>
                        </m:r>
                      </m:e>
                    </m:acc>
                    <m:r>
                      <a:rPr lang="en-US" sz="1500" b="0" i="1" dirty="0" smtClean="0">
                        <a:latin typeface="Cambria Math" panose="02040503050406030204" pitchFamily="18" charset="0"/>
                      </a:rPr>
                      <m:t>=</m:t>
                    </m:r>
                    <m:r>
                      <a:rPr lang="en-US" sz="1500" b="0" i="1" dirty="0" smtClean="0">
                        <a:latin typeface="Cambria Math" panose="02040503050406030204" pitchFamily="18" charset="0"/>
                      </a:rPr>
                      <m:t>ℎ</m:t>
                    </m:r>
                    <m:d>
                      <m:dPr>
                        <m:ctrlPr>
                          <a:rPr lang="en-US" sz="1500" b="1" i="1" dirty="0" smtClean="0">
                            <a:latin typeface="Cambria Math" panose="02040503050406030204" pitchFamily="18" charset="0"/>
                          </a:rPr>
                        </m:ctrlPr>
                      </m:dPr>
                      <m:e>
                        <m:r>
                          <a:rPr lang="en-US" sz="1500" b="1" i="1" dirty="0" smtClean="0">
                            <a:latin typeface="Cambria Math" panose="02040503050406030204" pitchFamily="18" charset="0"/>
                          </a:rPr>
                          <m:t>𝒙</m:t>
                        </m:r>
                      </m:e>
                    </m:d>
                    <m:r>
                      <a:rPr lang="en-US" sz="1500" i="1">
                        <a:latin typeface="Cambria Math" panose="02040503050406030204" pitchFamily="18" charset="0"/>
                      </a:rPr>
                      <m:t>=</m:t>
                    </m:r>
                    <m:sSup>
                      <m:sSupPr>
                        <m:ctrlPr>
                          <a:rPr lang="en-US" sz="1500" b="0" i="1" smtClean="0">
                            <a:latin typeface="Cambria Math" panose="02040503050406030204" pitchFamily="18" charset="0"/>
                          </a:rPr>
                        </m:ctrlPr>
                      </m:sSupPr>
                      <m:e>
                        <m:r>
                          <a:rPr lang="en-US" sz="1500" b="0" i="1" smtClean="0">
                            <a:latin typeface="Cambria Math" panose="02040503050406030204" pitchFamily="18" charset="0"/>
                          </a:rPr>
                          <m:t>𝑔</m:t>
                        </m:r>
                      </m:e>
                      <m:sup>
                        <m:r>
                          <a:rPr lang="en-US" sz="1500" b="0" i="1" smtClean="0">
                            <a:latin typeface="Cambria Math" panose="02040503050406030204" pitchFamily="18" charset="0"/>
                          </a:rPr>
                          <m:t>[2]</m:t>
                        </m:r>
                      </m:sup>
                    </m:sSup>
                    <m:d>
                      <m:dPr>
                        <m:ctrlPr>
                          <a:rPr lang="en-US" sz="1500" b="0" i="1" smtClean="0">
                            <a:latin typeface="Cambria Math" panose="02040503050406030204" pitchFamily="18" charset="0"/>
                          </a:rPr>
                        </m:ctrlPr>
                      </m:dPr>
                      <m:e>
                        <m:sSup>
                          <m:sSupPr>
                            <m:ctrlPr>
                              <a:rPr lang="en-US" sz="1500" b="1" i="1" smtClean="0">
                                <a:latin typeface="Cambria Math" panose="02040503050406030204" pitchFamily="18" charset="0"/>
                              </a:rPr>
                            </m:ctrlPr>
                          </m:sSupPr>
                          <m:e>
                            <m:r>
                              <a:rPr lang="en-US" sz="1500" b="1" i="1" smtClean="0">
                                <a:latin typeface="Cambria Math" panose="02040503050406030204" pitchFamily="18" charset="0"/>
                              </a:rPr>
                              <m:t>𝑾</m:t>
                            </m:r>
                          </m:e>
                          <m:sup>
                            <m:r>
                              <a:rPr lang="en-US" sz="1500" b="0" i="1" smtClean="0">
                                <a:latin typeface="Cambria Math" panose="02040503050406030204" pitchFamily="18" charset="0"/>
                              </a:rPr>
                              <m:t>[2]</m:t>
                            </m:r>
                          </m:sup>
                        </m:sSup>
                        <m:r>
                          <a:rPr lang="en-US" sz="1500" i="1">
                            <a:latin typeface="Cambria Math" panose="02040503050406030204" pitchFamily="18" charset="0"/>
                          </a:rPr>
                          <m:t> </m:t>
                        </m:r>
                        <m:sSup>
                          <m:sSupPr>
                            <m:ctrlPr>
                              <a:rPr lang="en-US" sz="1500" b="0" i="1" smtClean="0">
                                <a:latin typeface="Cambria Math" panose="02040503050406030204" pitchFamily="18" charset="0"/>
                              </a:rPr>
                            </m:ctrlPr>
                          </m:sSupPr>
                          <m:e>
                            <m:r>
                              <a:rPr lang="en-US" sz="1500" b="0" i="1" smtClean="0">
                                <a:latin typeface="Cambria Math" panose="02040503050406030204" pitchFamily="18" charset="0"/>
                              </a:rPr>
                              <m:t>𝑔</m:t>
                            </m:r>
                          </m:e>
                          <m:sup>
                            <m:d>
                              <m:dPr>
                                <m:begChr m:val="["/>
                                <m:endChr m:val="]"/>
                                <m:ctrlPr>
                                  <a:rPr lang="en-US" sz="1500" b="0" i="1" smtClean="0">
                                    <a:latin typeface="Cambria Math" panose="02040503050406030204" pitchFamily="18" charset="0"/>
                                  </a:rPr>
                                </m:ctrlPr>
                              </m:dPr>
                              <m:e>
                                <m:r>
                                  <a:rPr lang="en-US" sz="1500" b="0" i="1" smtClean="0">
                                    <a:latin typeface="Cambria Math" panose="02040503050406030204" pitchFamily="18" charset="0"/>
                                  </a:rPr>
                                  <m:t>1</m:t>
                                </m:r>
                              </m:e>
                            </m:d>
                          </m:sup>
                        </m:sSup>
                        <m:d>
                          <m:dPr>
                            <m:ctrlPr>
                              <a:rPr lang="en-US" sz="1500" b="1" i="1" smtClean="0">
                                <a:latin typeface="Cambria Math" panose="02040503050406030204" pitchFamily="18" charset="0"/>
                              </a:rPr>
                            </m:ctrlPr>
                          </m:dPr>
                          <m:e>
                            <m:sSup>
                              <m:sSupPr>
                                <m:ctrlPr>
                                  <a:rPr lang="en-US" sz="1500" b="1" i="1" smtClean="0">
                                    <a:latin typeface="Cambria Math" panose="02040503050406030204" pitchFamily="18" charset="0"/>
                                  </a:rPr>
                                </m:ctrlPr>
                              </m:sSupPr>
                              <m:e>
                                <m:r>
                                  <a:rPr lang="en-US" sz="1500" b="1" i="1" smtClean="0">
                                    <a:latin typeface="Cambria Math" panose="02040503050406030204" pitchFamily="18" charset="0"/>
                                  </a:rPr>
                                  <m:t>𝑾</m:t>
                                </m:r>
                              </m:e>
                              <m:sup>
                                <m:r>
                                  <a:rPr lang="en-US" sz="1500" b="1" i="1" smtClean="0">
                                    <a:latin typeface="Cambria Math" panose="02040503050406030204" pitchFamily="18" charset="0"/>
                                  </a:rPr>
                                  <m:t>[</m:t>
                                </m:r>
                                <m:r>
                                  <a:rPr lang="en-US" sz="1500" b="0" i="1" smtClean="0">
                                    <a:latin typeface="Cambria Math" panose="02040503050406030204" pitchFamily="18" charset="0"/>
                                  </a:rPr>
                                  <m:t>1</m:t>
                                </m:r>
                                <m:r>
                                  <m:rPr>
                                    <m:lit/>
                                  </m:rPr>
                                  <a:rPr lang="en-US" sz="1500" b="0" i="1" smtClean="0">
                                    <a:latin typeface="Cambria Math" panose="02040503050406030204" pitchFamily="18" charset="0"/>
                                  </a:rPr>
                                  <m:t>]</m:t>
                                </m:r>
                              </m:sup>
                            </m:sSup>
                            <m:r>
                              <a:rPr lang="en-US" sz="1500" b="1" i="1">
                                <a:latin typeface="Cambria Math" panose="02040503050406030204" pitchFamily="18" charset="0"/>
                              </a:rPr>
                              <m:t>𝒙</m:t>
                            </m:r>
                          </m:e>
                        </m:d>
                      </m:e>
                    </m:d>
                  </m:oMath>
                </a14:m>
                <a:br>
                  <a:rPr lang="en-US" sz="1500" dirty="0"/>
                </a:br>
                <a:r>
                  <a:rPr lang="en-US" sz="1500" dirty="0"/>
                  <a:t>= a network of weighted sums with non-linear </a:t>
                </a:r>
                <a:r>
                  <a:rPr lang="en-US" sz="1500" b="1" dirty="0"/>
                  <a:t>activation functions </a:t>
                </a:r>
                <a14:m>
                  <m:oMath xmlns:m="http://schemas.openxmlformats.org/officeDocument/2006/math">
                    <m:r>
                      <a:rPr lang="en-US" sz="1500" i="1" dirty="0" smtClean="0">
                        <a:latin typeface="Cambria Math" panose="02040503050406030204" pitchFamily="18" charset="0"/>
                      </a:rPr>
                      <m:t>𝑔</m:t>
                    </m:r>
                    <m:r>
                      <a:rPr lang="en-US" sz="1500" b="0" i="1" dirty="0" smtClean="0">
                        <a:latin typeface="Cambria Math" panose="02040503050406030204" pitchFamily="18" charset="0"/>
                      </a:rPr>
                      <m:t>(⋅)</m:t>
                    </m:r>
                  </m:oMath>
                </a14:m>
                <a:r>
                  <a:rPr lang="en-US" sz="1500" dirty="0"/>
                  <a:t> (e.g., sigmoid, </a:t>
                </a:r>
                <a:r>
                  <a:rPr lang="en-US" sz="1500" dirty="0" err="1"/>
                  <a:t>ReLU</a:t>
                </a:r>
                <a:r>
                  <a:rPr lang="en-US" sz="1500" dirty="0"/>
                  <a:t>).</a:t>
                </a:r>
              </a:p>
              <a:p>
                <a:r>
                  <a:rPr lang="en-US" sz="1500" b="1" dirty="0"/>
                  <a:t>Backpropagation</a:t>
                </a:r>
                <a:r>
                  <a:rPr lang="en-US" sz="1500" dirty="0"/>
                  <a:t>: Learn weight matrices </a:t>
                </a:r>
                <a14:m>
                  <m:oMath xmlns:m="http://schemas.openxmlformats.org/officeDocument/2006/math">
                    <m:r>
                      <a:rPr lang="en-US" sz="1500" b="1" i="1" dirty="0" smtClean="0">
                        <a:latin typeface="Cambria Math" panose="02040503050406030204" pitchFamily="18" charset="0"/>
                      </a:rPr>
                      <m:t>𝑾</m:t>
                    </m:r>
                  </m:oMath>
                </a14:m>
                <a:r>
                  <a:rPr lang="en-US" sz="1500" dirty="0"/>
                  <a:t> from examples using gradient descent. The gradient is calculated with backpropagation of prediction errors </a:t>
                </a:r>
                <a14:m>
                  <m:oMath xmlns:m="http://schemas.openxmlformats.org/officeDocument/2006/math">
                    <m:r>
                      <a:rPr lang="en-US" sz="1500" i="1" dirty="0">
                        <a:latin typeface="Cambria Math" panose="02040503050406030204" pitchFamily="18" charset="0"/>
                      </a:rPr>
                      <m:t>𝐿</m:t>
                    </m:r>
                    <m:r>
                      <a:rPr lang="en-US" sz="1500" b="0" i="0" dirty="0" smtClean="0">
                        <a:latin typeface="Cambria Math" panose="02040503050406030204" pitchFamily="18" charset="0"/>
                      </a:rPr>
                      <m:t>(</m:t>
                    </m:r>
                    <m:acc>
                      <m:accPr>
                        <m:chr m:val="̂"/>
                        <m:ctrlPr>
                          <a:rPr lang="en-US" sz="1500" b="0" i="1" dirty="0" smtClean="0">
                            <a:latin typeface="Cambria Math" panose="02040503050406030204" pitchFamily="18" charset="0"/>
                          </a:rPr>
                        </m:ctrlPr>
                      </m:accPr>
                      <m:e>
                        <m:r>
                          <a:rPr lang="en-US" sz="1500" b="0" i="1" dirty="0" smtClean="0">
                            <a:latin typeface="Cambria Math" panose="02040503050406030204" pitchFamily="18" charset="0"/>
                          </a:rPr>
                          <m:t>𝑦</m:t>
                        </m:r>
                      </m:e>
                    </m:acc>
                    <m:r>
                      <a:rPr lang="en-US" sz="1500" b="0" i="1" dirty="0" smtClean="0">
                        <a:latin typeface="Cambria Math" panose="02040503050406030204" pitchFamily="18" charset="0"/>
                      </a:rPr>
                      <m:t>, </m:t>
                    </m:r>
                    <m:r>
                      <a:rPr lang="en-US" sz="1500" b="0" i="1" dirty="0" smtClean="0">
                        <a:latin typeface="Cambria Math" panose="02040503050406030204" pitchFamily="18" charset="0"/>
                      </a:rPr>
                      <m:t>𝑦</m:t>
                    </m:r>
                    <m:r>
                      <a:rPr lang="en-US" sz="1500" b="0" i="1" dirty="0" smtClean="0">
                        <a:latin typeface="Cambria Math" panose="02040503050406030204" pitchFamily="18" charset="0"/>
                      </a:rPr>
                      <m:t>)</m:t>
                    </m:r>
                  </m:oMath>
                </a14:m>
                <a:r>
                  <a:rPr lang="en-US" sz="1500" dirty="0"/>
                  <a:t>.</a:t>
                </a:r>
              </a:p>
              <a:p>
                <a:r>
                  <a:rPr lang="en-US" sz="1500" b="1" dirty="0"/>
                  <a:t>Universal Approximator</a:t>
                </a:r>
                <a:r>
                  <a:rPr lang="en-US" sz="1500" dirty="0"/>
                  <a:t>: MLPs with non-linear activation function for the hidden layer are universal approximators (large networks can approximate any function, i.e., have no bias). </a:t>
                </a:r>
                <a:r>
                  <a:rPr lang="en-US" sz="1500" b="1" dirty="0"/>
                  <a:t>Regularization</a:t>
                </a:r>
                <a:r>
                  <a:rPr lang="en-US" sz="1500" dirty="0"/>
                  <a:t> is typically needed to avoid overfitting.</a:t>
                </a:r>
              </a:p>
            </p:txBody>
          </p:sp>
        </mc:Choice>
        <mc:Fallback xmlns="">
          <p:sp>
            <p:nvSpPr>
              <p:cNvPr id="3" name="Content Placeholder 2">
                <a:extLst>
                  <a:ext uri="{FF2B5EF4-FFF2-40B4-BE49-F238E27FC236}">
                    <a16:creationId xmlns:a16="http://schemas.microsoft.com/office/drawing/2014/main" id="{85970AAE-D0C1-4D69-AE5D-06F79663B2E1}"/>
                  </a:ext>
                </a:extLst>
              </p:cNvPr>
              <p:cNvSpPr>
                <a:spLocks noGrp="1" noRot="1" noChangeAspect="1" noMove="1" noResize="1" noEditPoints="1" noAdjustHandles="1" noChangeArrowheads="1" noChangeShapeType="1" noTextEdit="1"/>
              </p:cNvSpPr>
              <p:nvPr>
                <p:ph idx="1"/>
              </p:nvPr>
            </p:nvSpPr>
            <p:spPr>
              <a:xfrm>
                <a:off x="8229600" y="1452988"/>
                <a:ext cx="3463974" cy="5143073"/>
              </a:xfrm>
              <a:blipFill>
                <a:blip r:embed="rId4"/>
                <a:stretch>
                  <a:fillRect l="-528" t="-592" r="-704"/>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29E56341-A356-BD0B-2B28-DCEA6620EAE6}"/>
              </a:ext>
            </a:extLst>
          </p:cNvPr>
          <p:cNvSpPr txBox="1"/>
          <p:nvPr/>
        </p:nvSpPr>
        <p:spPr>
          <a:xfrm>
            <a:off x="511753" y="1104517"/>
            <a:ext cx="2590800" cy="369332"/>
          </a:xfrm>
          <a:prstGeom prst="rect">
            <a:avLst/>
          </a:prstGeom>
          <a:noFill/>
        </p:spPr>
        <p:txBody>
          <a:bodyPr wrap="square" rtlCol="0">
            <a:spAutoFit/>
          </a:bodyPr>
          <a:lstStyle/>
          <a:p>
            <a:pPr algn="ctr"/>
            <a:r>
              <a:rPr lang="en-US" b="1" dirty="0"/>
              <a:t>Network Topology</a:t>
            </a:r>
          </a:p>
        </p:txBody>
      </p:sp>
      <mc:AlternateContent xmlns:mc="http://schemas.openxmlformats.org/markup-compatibility/2006" xmlns:a14="http://schemas.microsoft.com/office/drawing/2010/main">
        <mc:Choice Requires="a14">
          <p:sp>
            <p:nvSpPr>
              <p:cNvPr id="14" name="Speech Bubble: Rectangle 13">
                <a:extLst>
                  <a:ext uri="{FF2B5EF4-FFF2-40B4-BE49-F238E27FC236}">
                    <a16:creationId xmlns:a16="http://schemas.microsoft.com/office/drawing/2014/main" id="{52ECC6E1-4A8F-8EF9-32E5-F4AB2AA7DFAE}"/>
                  </a:ext>
                </a:extLst>
              </p:cNvPr>
              <p:cNvSpPr/>
              <p:nvPr/>
            </p:nvSpPr>
            <p:spPr>
              <a:xfrm>
                <a:off x="6629400" y="1841112"/>
                <a:ext cx="1600200" cy="553868"/>
              </a:xfrm>
              <a:prstGeom prst="wedgeRectCallout">
                <a:avLst>
                  <a:gd name="adj1" fmla="val 73497"/>
                  <a:gd name="adj2" fmla="val 126105"/>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100" dirty="0"/>
                  <a:t>Superscript </a:t>
                </a:r>
                <a14:m>
                  <m:oMath xmlns:m="http://schemas.openxmlformats.org/officeDocument/2006/math">
                    <m:r>
                      <a:rPr lang="en-US" sz="1100" i="1" dirty="0" smtClean="0">
                        <a:latin typeface="Cambria Math" panose="02040503050406030204" pitchFamily="18" charset="0"/>
                      </a:rPr>
                      <m:t>[</m:t>
                    </m:r>
                    <m:r>
                      <a:rPr lang="en-US" sz="1100" i="1" dirty="0" smtClean="0">
                        <a:latin typeface="Cambria Math" panose="02040503050406030204" pitchFamily="18" charset="0"/>
                      </a:rPr>
                      <m:t>𝑛</m:t>
                    </m:r>
                    <m:r>
                      <a:rPr lang="en-US" sz="1100" i="1" dirty="0" smtClean="0">
                        <a:latin typeface="Cambria Math" panose="02040503050406030204" pitchFamily="18" charset="0"/>
                      </a:rPr>
                      <m:t>] </m:t>
                    </m:r>
                  </m:oMath>
                </a14:m>
                <a:r>
                  <a:rPr lang="en-US" sz="1100" dirty="0"/>
                  <a:t>means the layer. Layer weights are collected in a matrix.</a:t>
                </a:r>
              </a:p>
            </p:txBody>
          </p:sp>
        </mc:Choice>
        <mc:Fallback xmlns="">
          <p:sp>
            <p:nvSpPr>
              <p:cNvPr id="14" name="Speech Bubble: Rectangle 13">
                <a:extLst>
                  <a:ext uri="{FF2B5EF4-FFF2-40B4-BE49-F238E27FC236}">
                    <a16:creationId xmlns:a16="http://schemas.microsoft.com/office/drawing/2014/main" id="{52ECC6E1-4A8F-8EF9-32E5-F4AB2AA7DFAE}"/>
                  </a:ext>
                </a:extLst>
              </p:cNvPr>
              <p:cNvSpPr>
                <a:spLocks noRot="1" noChangeAspect="1" noMove="1" noResize="1" noEditPoints="1" noAdjustHandles="1" noChangeArrowheads="1" noChangeShapeType="1" noTextEdit="1"/>
              </p:cNvSpPr>
              <p:nvPr/>
            </p:nvSpPr>
            <p:spPr>
              <a:xfrm>
                <a:off x="6629400" y="1841112"/>
                <a:ext cx="1600200" cy="553868"/>
              </a:xfrm>
              <a:prstGeom prst="wedgeRectCallout">
                <a:avLst>
                  <a:gd name="adj1" fmla="val 73497"/>
                  <a:gd name="adj2" fmla="val 126105"/>
                </a:avLst>
              </a:prstGeom>
              <a:blipFill>
                <a:blip r:embed="rId5"/>
                <a:stretch>
                  <a:fillRect t="-1205"/>
                </a:stretch>
              </a:blipFill>
            </p:spPr>
            <p:txBody>
              <a:bodyPr/>
              <a:lstStyle/>
              <a:p>
                <a:r>
                  <a:rPr lang="en-US">
                    <a:noFill/>
                  </a:rPr>
                  <a:t> </a:t>
                </a:r>
              </a:p>
            </p:txBody>
          </p:sp>
        </mc:Fallback>
      </mc:AlternateContent>
    </p:spTree>
    <p:extLst>
      <p:ext uri="{BB962C8B-B14F-4D97-AF65-F5344CB8AC3E}">
        <p14:creationId xmlns:p14="http://schemas.microsoft.com/office/powerpoint/2010/main" val="4045130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9B699-4770-F2A9-8F3F-E04785848215}"/>
              </a:ext>
            </a:extLst>
          </p:cNvPr>
          <p:cNvSpPr>
            <a:spLocks noGrp="1"/>
          </p:cNvSpPr>
          <p:nvPr>
            <p:ph type="title"/>
          </p:nvPr>
        </p:nvSpPr>
        <p:spPr/>
        <p:txBody>
          <a:bodyPr/>
          <a:lstStyle/>
          <a:p>
            <a:r>
              <a:rPr lang="en-US" dirty="0"/>
              <a:t>Deep Learning: Foundation of Moden AI</a:t>
            </a:r>
          </a:p>
        </p:txBody>
      </p:sp>
      <p:sp>
        <p:nvSpPr>
          <p:cNvPr id="3" name="Content Placeholder 2">
            <a:extLst>
              <a:ext uri="{FF2B5EF4-FFF2-40B4-BE49-F238E27FC236}">
                <a16:creationId xmlns:a16="http://schemas.microsoft.com/office/drawing/2014/main" id="{5E1AD9EF-A989-3ECB-4C9E-4FB8F0327ACF}"/>
              </a:ext>
            </a:extLst>
          </p:cNvPr>
          <p:cNvSpPr>
            <a:spLocks noGrp="1"/>
          </p:cNvSpPr>
          <p:nvPr>
            <p:ph idx="1"/>
          </p:nvPr>
        </p:nvSpPr>
        <p:spPr>
          <a:xfrm>
            <a:off x="838200" y="1401002"/>
            <a:ext cx="10515600" cy="1220613"/>
          </a:xfrm>
        </p:spPr>
        <p:txBody>
          <a:bodyPr>
            <a:normAutofit fontScale="55000" lnSpcReduction="20000"/>
          </a:bodyPr>
          <a:lstStyle/>
          <a:p>
            <a:r>
              <a:rPr lang="en-US" dirty="0"/>
              <a:t>Extends MLPs with </a:t>
            </a:r>
            <a:r>
              <a:rPr lang="en-US" b="1" dirty="0"/>
              <a:t>several hidden layers.</a:t>
            </a:r>
          </a:p>
          <a:p>
            <a:r>
              <a:rPr lang="en-US" dirty="0"/>
              <a:t>Introduces </a:t>
            </a:r>
            <a:r>
              <a:rPr lang="en-US" b="1" dirty="0"/>
              <a:t>layer types </a:t>
            </a:r>
            <a:r>
              <a:rPr lang="en-US" dirty="0"/>
              <a:t>(e.g., convolution layers for image processing) for more efficient learning.</a:t>
            </a:r>
          </a:p>
          <a:p>
            <a:r>
              <a:rPr lang="en-US" b="1" dirty="0"/>
              <a:t>End-to-end learning</a:t>
            </a:r>
            <a:r>
              <a:rPr lang="en-US" dirty="0"/>
              <a:t>: The hidden layers perform “automatic feature engineering” and support transfer learning.</a:t>
            </a:r>
          </a:p>
          <a:p>
            <a:r>
              <a:rPr lang="en-US" dirty="0"/>
              <a:t>Called </a:t>
            </a:r>
            <a:r>
              <a:rPr lang="en-US" b="1" dirty="0" err="1"/>
              <a:t>subsymbolic</a:t>
            </a:r>
            <a:r>
              <a:rPr lang="en-US" b="1" dirty="0"/>
              <a:t> AI </a:t>
            </a:r>
            <a:r>
              <a:rPr lang="en-US" dirty="0"/>
              <a:t>because it is not built on rules about humanly readable symbols, but on patterns stored as weights.</a:t>
            </a:r>
          </a:p>
          <a:p>
            <a:pPr marL="0" indent="0">
              <a:buNone/>
            </a:pPr>
            <a:endParaRPr lang="en-US" dirty="0"/>
          </a:p>
        </p:txBody>
      </p:sp>
      <p:grpSp>
        <p:nvGrpSpPr>
          <p:cNvPr id="25" name="Group 24">
            <a:extLst>
              <a:ext uri="{FF2B5EF4-FFF2-40B4-BE49-F238E27FC236}">
                <a16:creationId xmlns:a16="http://schemas.microsoft.com/office/drawing/2014/main" id="{F1CB3619-AD97-A9A9-FFC0-462E7E824ACF}"/>
              </a:ext>
            </a:extLst>
          </p:cNvPr>
          <p:cNvGrpSpPr/>
          <p:nvPr/>
        </p:nvGrpSpPr>
        <p:grpSpPr>
          <a:xfrm>
            <a:off x="838200" y="2667875"/>
            <a:ext cx="10287000" cy="3741885"/>
            <a:chOff x="838200" y="2667875"/>
            <a:chExt cx="10287000" cy="3741885"/>
          </a:xfrm>
        </p:grpSpPr>
        <p:grpSp>
          <p:nvGrpSpPr>
            <p:cNvPr id="12" name="Group 11">
              <a:extLst>
                <a:ext uri="{FF2B5EF4-FFF2-40B4-BE49-F238E27FC236}">
                  <a16:creationId xmlns:a16="http://schemas.microsoft.com/office/drawing/2014/main" id="{7C5A5B02-A3A9-61AC-E79B-879FBF717B64}"/>
                </a:ext>
              </a:extLst>
            </p:cNvPr>
            <p:cNvGrpSpPr/>
            <p:nvPr/>
          </p:nvGrpSpPr>
          <p:grpSpPr>
            <a:xfrm>
              <a:off x="838200" y="2667875"/>
              <a:ext cx="10287000" cy="3741885"/>
              <a:chOff x="838200" y="2667875"/>
              <a:chExt cx="10287000" cy="3741885"/>
            </a:xfrm>
          </p:grpSpPr>
          <p:grpSp>
            <p:nvGrpSpPr>
              <p:cNvPr id="10" name="Group 9">
                <a:extLst>
                  <a:ext uri="{FF2B5EF4-FFF2-40B4-BE49-F238E27FC236}">
                    <a16:creationId xmlns:a16="http://schemas.microsoft.com/office/drawing/2014/main" id="{611305A4-B3E5-F322-0538-62DD4F093355}"/>
                  </a:ext>
                </a:extLst>
              </p:cNvPr>
              <p:cNvGrpSpPr/>
              <p:nvPr/>
            </p:nvGrpSpPr>
            <p:grpSpPr>
              <a:xfrm>
                <a:off x="1371600" y="3037207"/>
                <a:ext cx="9753600" cy="3372553"/>
                <a:chOff x="990600" y="2987854"/>
                <a:chExt cx="9942319" cy="3677353"/>
              </a:xfrm>
            </p:grpSpPr>
            <p:pic>
              <p:nvPicPr>
                <p:cNvPr id="1026" name="Picture 2" descr="Convolutional_NN 3">
                  <a:extLst>
                    <a:ext uri="{FF2B5EF4-FFF2-40B4-BE49-F238E27FC236}">
                      <a16:creationId xmlns:a16="http://schemas.microsoft.com/office/drawing/2014/main" id="{5ADCBD79-8DAD-479E-37E5-5F3FB611FB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2987854"/>
                  <a:ext cx="4491038" cy="341720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9453A1E-6BB2-1E5B-5D32-BDD6CEFC3125}"/>
                    </a:ext>
                  </a:extLst>
                </p:cNvPr>
                <p:cNvSpPr txBox="1"/>
                <p:nvPr/>
              </p:nvSpPr>
              <p:spPr>
                <a:xfrm>
                  <a:off x="2607730" y="6403597"/>
                  <a:ext cx="7391807" cy="261610"/>
                </a:xfrm>
                <a:prstGeom prst="rect">
                  <a:avLst/>
                </a:prstGeom>
                <a:noFill/>
              </p:spPr>
              <p:txBody>
                <a:bodyPr wrap="square">
                  <a:spAutoFit/>
                </a:bodyPr>
                <a:lstStyle/>
                <a:p>
                  <a:pPr algn="ctr"/>
                  <a:r>
                    <a:rPr lang="en-US" sz="1100" dirty="0"/>
                    <a:t>Source: </a:t>
                  </a:r>
                  <a:r>
                    <a:rPr lang="en-US" sz="1100" dirty="0">
                      <a:hlinkClick r:id="rId3"/>
                    </a:rPr>
                    <a:t>https://robohub.org/artificial-general-intelligence-that-plays-atari-video-games-how-did-deepmind-do-it/</a:t>
                  </a:r>
                  <a:r>
                    <a:rPr lang="en-US" sz="1100" dirty="0"/>
                    <a:t> </a:t>
                  </a:r>
                </a:p>
              </p:txBody>
            </p:sp>
            <p:pic>
              <p:nvPicPr>
                <p:cNvPr id="1030" name="Picture 6" descr="Atari CX40 joystick - Wikipedia">
                  <a:extLst>
                    <a:ext uri="{FF2B5EF4-FFF2-40B4-BE49-F238E27FC236}">
                      <a16:creationId xmlns:a16="http://schemas.microsoft.com/office/drawing/2014/main" id="{CDA4C143-D957-2586-E284-8E018FAED35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445635" y="4163055"/>
                  <a:ext cx="1033462" cy="1066800"/>
                </a:xfrm>
                <a:prstGeom prst="rect">
                  <a:avLst/>
                </a:prstGeom>
                <a:noFill/>
                <a:extLst>
                  <a:ext uri="{909E8E84-426E-40DD-AFC4-6F175D3DCCD1}">
                    <a14:hiddenFill xmlns:a14="http://schemas.microsoft.com/office/drawing/2010/main">
                      <a:solidFill>
                        <a:srgbClr val="FFFFFF"/>
                      </a:solidFill>
                    </a14:hiddenFill>
                  </a:ext>
                </a:extLst>
              </p:spPr>
            </p:pic>
            <p:sp>
              <p:nvSpPr>
                <p:cNvPr id="6" name="Arrow: Right 5">
                  <a:extLst>
                    <a:ext uri="{FF2B5EF4-FFF2-40B4-BE49-F238E27FC236}">
                      <a16:creationId xmlns:a16="http://schemas.microsoft.com/office/drawing/2014/main" id="{DECDA8BF-D112-8C0D-6B8C-3A2F41631A39}"/>
                    </a:ext>
                  </a:extLst>
                </p:cNvPr>
                <p:cNvSpPr/>
                <p:nvPr/>
              </p:nvSpPr>
              <p:spPr>
                <a:xfrm>
                  <a:off x="3386138" y="4239255"/>
                  <a:ext cx="762000" cy="9144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Right 6">
                  <a:extLst>
                    <a:ext uri="{FF2B5EF4-FFF2-40B4-BE49-F238E27FC236}">
                      <a16:creationId xmlns:a16="http://schemas.microsoft.com/office/drawing/2014/main" id="{15260B91-9AE5-8437-9B3F-58C23833A0F1}"/>
                    </a:ext>
                  </a:extLst>
                </p:cNvPr>
                <p:cNvSpPr/>
                <p:nvPr/>
              </p:nvSpPr>
              <p:spPr>
                <a:xfrm>
                  <a:off x="8382000" y="4239255"/>
                  <a:ext cx="762000" cy="9144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2" name="Picture 8" descr="Breakout (Breakaway IV) – October 1978 | Atari Archive">
                  <a:extLst>
                    <a:ext uri="{FF2B5EF4-FFF2-40B4-BE49-F238E27FC236}">
                      <a16:creationId xmlns:a16="http://schemas.microsoft.com/office/drawing/2014/main" id="{71FDAB80-A12D-088D-8E38-AD218A9A5D3F}"/>
                    </a:ext>
                  </a:extLst>
                </p:cNvPr>
                <p:cNvPicPr>
                  <a:picLocks noChangeAspect="1" noChangeArrowheads="1"/>
                </p:cNvPicPr>
                <p:nvPr/>
              </p:nvPicPr>
              <p:blipFill>
                <a:blip r:embed="rId5" cstate="print">
                  <a:extLst>
                    <a:ext uri="{BEBA8EAE-BF5A-486C-A8C5-ECC9F3942E4B}">
                      <a14:imgProps xmlns:a14="http://schemas.microsoft.com/office/drawing/2010/main">
                        <a14:imgLayer r:embed="rId6">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232690" y="3983564"/>
                  <a:ext cx="1733550" cy="142578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4503707F-E44A-F38A-2A8F-0F489817CB73}"/>
                    </a:ext>
                  </a:extLst>
                </p:cNvPr>
                <p:cNvSpPr txBox="1"/>
                <p:nvPr/>
              </p:nvSpPr>
              <p:spPr>
                <a:xfrm>
                  <a:off x="990600" y="5426660"/>
                  <a:ext cx="2133600" cy="704744"/>
                </a:xfrm>
                <a:prstGeom prst="rect">
                  <a:avLst/>
                </a:prstGeom>
                <a:noFill/>
              </p:spPr>
              <p:txBody>
                <a:bodyPr wrap="square" rtlCol="0">
                  <a:spAutoFit/>
                </a:bodyPr>
                <a:lstStyle/>
                <a:p>
                  <a:r>
                    <a:rPr lang="en-US" dirty="0"/>
                    <a:t>Input features: Frame with Pixels</a:t>
                  </a:r>
                </a:p>
              </p:txBody>
            </p:sp>
            <p:sp>
              <p:nvSpPr>
                <p:cNvPr id="9" name="TextBox 8">
                  <a:extLst>
                    <a:ext uri="{FF2B5EF4-FFF2-40B4-BE49-F238E27FC236}">
                      <a16:creationId xmlns:a16="http://schemas.microsoft.com/office/drawing/2014/main" id="{1A020909-1ED5-0C5F-9D03-CA9B28106AE8}"/>
                    </a:ext>
                  </a:extLst>
                </p:cNvPr>
                <p:cNvSpPr txBox="1"/>
                <p:nvPr/>
              </p:nvSpPr>
              <p:spPr>
                <a:xfrm>
                  <a:off x="9218419" y="5218438"/>
                  <a:ext cx="1714500" cy="369332"/>
                </a:xfrm>
                <a:prstGeom prst="rect">
                  <a:avLst/>
                </a:prstGeom>
                <a:noFill/>
              </p:spPr>
              <p:txBody>
                <a:bodyPr wrap="square" rtlCol="0">
                  <a:spAutoFit/>
                </a:bodyPr>
                <a:lstStyle/>
                <a:p>
                  <a:r>
                    <a:rPr lang="en-US" dirty="0"/>
                    <a:t>Output: Actions</a:t>
                  </a:r>
                </a:p>
              </p:txBody>
            </p:sp>
          </p:grpSp>
          <p:sp>
            <p:nvSpPr>
              <p:cNvPr id="11" name="TextBox 10">
                <a:extLst>
                  <a:ext uri="{FF2B5EF4-FFF2-40B4-BE49-F238E27FC236}">
                    <a16:creationId xmlns:a16="http://schemas.microsoft.com/office/drawing/2014/main" id="{BF231605-DE63-0502-89EA-4982AD627732}"/>
                  </a:ext>
                </a:extLst>
              </p:cNvPr>
              <p:cNvSpPr txBox="1"/>
              <p:nvPr/>
            </p:nvSpPr>
            <p:spPr>
              <a:xfrm>
                <a:off x="838200" y="2667875"/>
                <a:ext cx="6097248" cy="369332"/>
              </a:xfrm>
              <a:prstGeom prst="rect">
                <a:avLst/>
              </a:prstGeom>
              <a:noFill/>
            </p:spPr>
            <p:txBody>
              <a:bodyPr wrap="square">
                <a:spAutoFit/>
              </a:bodyPr>
              <a:lstStyle/>
              <a:p>
                <a:pPr marL="0" indent="0">
                  <a:buNone/>
                </a:pPr>
                <a:r>
                  <a:rPr lang="en-US" b="1" dirty="0"/>
                  <a:t>Example</a:t>
                </a:r>
                <a:r>
                  <a:rPr lang="en-US" dirty="0"/>
                  <a:t>: A deep ANN to play Classic Atari Breakout (1978)</a:t>
                </a:r>
              </a:p>
            </p:txBody>
          </p:sp>
        </p:grpSp>
        <p:sp>
          <p:nvSpPr>
            <p:cNvPr id="4" name="TextBox 3">
              <a:extLst>
                <a:ext uri="{FF2B5EF4-FFF2-40B4-BE49-F238E27FC236}">
                  <a16:creationId xmlns:a16="http://schemas.microsoft.com/office/drawing/2014/main" id="{2E53EC8A-8D9C-DE76-C433-D125DD11B7E4}"/>
                </a:ext>
              </a:extLst>
            </p:cNvPr>
            <p:cNvSpPr txBox="1"/>
            <p:nvPr/>
          </p:nvSpPr>
          <p:spPr>
            <a:xfrm>
              <a:off x="8070318" y="3840211"/>
              <a:ext cx="344966" cy="276999"/>
            </a:xfrm>
            <a:prstGeom prst="rect">
              <a:avLst/>
            </a:prstGeom>
            <a:noFill/>
          </p:spPr>
          <p:txBody>
            <a:bodyPr wrap="none" rtlCol="0">
              <a:spAutoFit/>
            </a:bodyPr>
            <a:lstStyle/>
            <a:p>
              <a:r>
                <a:rPr lang="en-US" sz="1200" dirty="0"/>
                <a:t>up</a:t>
              </a:r>
            </a:p>
          </p:txBody>
        </p:sp>
        <p:sp>
          <p:nvSpPr>
            <p:cNvPr id="14" name="TextBox 13">
              <a:extLst>
                <a:ext uri="{FF2B5EF4-FFF2-40B4-BE49-F238E27FC236}">
                  <a16:creationId xmlns:a16="http://schemas.microsoft.com/office/drawing/2014/main" id="{7C5CB063-EDAC-1B09-3216-EA8A661CD724}"/>
                </a:ext>
              </a:extLst>
            </p:cNvPr>
            <p:cNvSpPr txBox="1"/>
            <p:nvPr/>
          </p:nvSpPr>
          <p:spPr>
            <a:xfrm>
              <a:off x="8038602" y="4152218"/>
              <a:ext cx="536750" cy="276999"/>
            </a:xfrm>
            <a:prstGeom prst="rect">
              <a:avLst/>
            </a:prstGeom>
            <a:noFill/>
          </p:spPr>
          <p:txBody>
            <a:bodyPr wrap="none" rtlCol="0">
              <a:spAutoFit/>
            </a:bodyPr>
            <a:lstStyle/>
            <a:p>
              <a:r>
                <a:rPr lang="en-US" sz="1200" dirty="0"/>
                <a:t>down</a:t>
              </a:r>
            </a:p>
          </p:txBody>
        </p:sp>
        <p:sp>
          <p:nvSpPr>
            <p:cNvPr id="16" name="TextBox 15">
              <a:extLst>
                <a:ext uri="{FF2B5EF4-FFF2-40B4-BE49-F238E27FC236}">
                  <a16:creationId xmlns:a16="http://schemas.microsoft.com/office/drawing/2014/main" id="{CE2E31AF-18A1-3B87-17D4-6610C18520C4}"/>
                </a:ext>
              </a:extLst>
            </p:cNvPr>
            <p:cNvSpPr txBox="1"/>
            <p:nvPr/>
          </p:nvSpPr>
          <p:spPr>
            <a:xfrm>
              <a:off x="8053000" y="4413947"/>
              <a:ext cx="475002" cy="276999"/>
            </a:xfrm>
            <a:prstGeom prst="rect">
              <a:avLst/>
            </a:prstGeom>
            <a:noFill/>
          </p:spPr>
          <p:txBody>
            <a:bodyPr wrap="none" rtlCol="0">
              <a:spAutoFit/>
            </a:bodyPr>
            <a:lstStyle/>
            <a:p>
              <a:r>
                <a:rPr lang="en-US" sz="1200" dirty="0"/>
                <a:t>right</a:t>
              </a:r>
            </a:p>
          </p:txBody>
        </p:sp>
        <p:sp>
          <p:nvSpPr>
            <p:cNvPr id="18" name="TextBox 17">
              <a:extLst>
                <a:ext uri="{FF2B5EF4-FFF2-40B4-BE49-F238E27FC236}">
                  <a16:creationId xmlns:a16="http://schemas.microsoft.com/office/drawing/2014/main" id="{8735E323-16BB-8367-89AD-CA375E451187}"/>
                </a:ext>
              </a:extLst>
            </p:cNvPr>
            <p:cNvSpPr txBox="1"/>
            <p:nvPr/>
          </p:nvSpPr>
          <p:spPr>
            <a:xfrm>
              <a:off x="8058416" y="4643215"/>
              <a:ext cx="393313" cy="276999"/>
            </a:xfrm>
            <a:prstGeom prst="rect">
              <a:avLst/>
            </a:prstGeom>
            <a:noFill/>
          </p:spPr>
          <p:txBody>
            <a:bodyPr wrap="none" rtlCol="0">
              <a:spAutoFit/>
            </a:bodyPr>
            <a:lstStyle/>
            <a:p>
              <a:r>
                <a:rPr lang="en-US" sz="1200" dirty="0"/>
                <a:t>left</a:t>
              </a:r>
            </a:p>
          </p:txBody>
        </p:sp>
        <p:sp>
          <p:nvSpPr>
            <p:cNvPr id="20" name="TextBox 19">
              <a:extLst>
                <a:ext uri="{FF2B5EF4-FFF2-40B4-BE49-F238E27FC236}">
                  <a16:creationId xmlns:a16="http://schemas.microsoft.com/office/drawing/2014/main" id="{764BCBC0-2FDC-F1C0-754B-B77DE13A42D8}"/>
                </a:ext>
              </a:extLst>
            </p:cNvPr>
            <p:cNvSpPr txBox="1"/>
            <p:nvPr/>
          </p:nvSpPr>
          <p:spPr>
            <a:xfrm>
              <a:off x="8058416" y="4900257"/>
              <a:ext cx="605807" cy="276999"/>
            </a:xfrm>
            <a:prstGeom prst="rect">
              <a:avLst/>
            </a:prstGeom>
            <a:noFill/>
          </p:spPr>
          <p:txBody>
            <a:bodyPr wrap="none" rtlCol="0">
              <a:spAutoFit/>
            </a:bodyPr>
            <a:lstStyle/>
            <a:p>
              <a:r>
                <a:rPr lang="en-US" sz="1200" dirty="0"/>
                <a:t>button</a:t>
              </a:r>
            </a:p>
          </p:txBody>
        </p:sp>
        <p:pic>
          <p:nvPicPr>
            <p:cNvPr id="22" name="Picture 8" descr="Breakout (Breakaway IV) – October 1978 | Atari Archive">
              <a:extLst>
                <a:ext uri="{FF2B5EF4-FFF2-40B4-BE49-F238E27FC236}">
                  <a16:creationId xmlns:a16="http://schemas.microsoft.com/office/drawing/2014/main" id="{78F2B5C7-4A39-6216-4A24-A2A9D5F676AB}"/>
                </a:ext>
              </a:extLst>
            </p:cNvPr>
            <p:cNvPicPr>
              <a:picLocks noChangeAspect="1" noChangeArrowheads="1"/>
            </p:cNvPicPr>
            <p:nvPr/>
          </p:nvPicPr>
          <p:blipFill>
            <a:blip r:embed="rId5" cstate="print">
              <a:alphaModFix amt="20000"/>
              <a:extLst>
                <a:ext uri="{BEBA8EAE-BF5A-486C-A8C5-ECC9F3942E4B}">
                  <a14:imgProps xmlns:a14="http://schemas.microsoft.com/office/drawing/2010/main">
                    <a14:imgLayer r:embed="rId6">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679503" y="3659990"/>
              <a:ext cx="856515" cy="658564"/>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8" descr="Breakout (Breakaway IV) – October 1978 | Atari Archive">
              <a:extLst>
                <a:ext uri="{FF2B5EF4-FFF2-40B4-BE49-F238E27FC236}">
                  <a16:creationId xmlns:a16="http://schemas.microsoft.com/office/drawing/2014/main" id="{2C4C1F12-9B81-076E-BBDB-BFEE850D6005}"/>
                </a:ext>
              </a:extLst>
            </p:cNvPr>
            <p:cNvPicPr>
              <a:picLocks noChangeAspect="1" noChangeArrowheads="1"/>
            </p:cNvPicPr>
            <p:nvPr/>
          </p:nvPicPr>
          <p:blipFill>
            <a:blip r:embed="rId5" cstate="print">
              <a:alphaModFix amt="20000"/>
              <a:extLst>
                <a:ext uri="{BEBA8EAE-BF5A-486C-A8C5-ECC9F3942E4B}">
                  <a14:imgProps xmlns:a14="http://schemas.microsoft.com/office/drawing/2010/main">
                    <a14:imgLayer r:embed="rId6">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673381" y="4876126"/>
              <a:ext cx="856515" cy="65856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0938771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0B945-E1E2-87DA-1991-C5A6EC835FA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3113DD2-E833-DAAC-BBC0-D572829C0BD6}"/>
              </a:ext>
            </a:extLst>
          </p:cNvPr>
          <p:cNvSpPr>
            <a:spLocks noGrp="1"/>
          </p:cNvSpPr>
          <p:nvPr>
            <p:ph type="title"/>
          </p:nvPr>
        </p:nvSpPr>
        <p:spPr>
          <a:xfrm>
            <a:off x="762000" y="2931915"/>
            <a:ext cx="10515599" cy="876035"/>
          </a:xfrm>
        </p:spPr>
        <p:txBody>
          <a:bodyPr>
            <a:noAutofit/>
          </a:bodyPr>
          <a:lstStyle/>
          <a:p>
            <a:r>
              <a:rPr lang="en-US" sz="3200" b="1" dirty="0">
                <a:latin typeface="+mn-lt"/>
              </a:rPr>
              <a:t>Code example</a:t>
            </a:r>
            <a:r>
              <a:rPr lang="en-US" sz="3200" dirty="0">
                <a:latin typeface="+mn-lt"/>
              </a:rPr>
              <a:t>: Learn to Score a Tic-Tac-Toe Board by Example</a:t>
            </a:r>
          </a:p>
        </p:txBody>
      </p:sp>
      <p:sp>
        <p:nvSpPr>
          <p:cNvPr id="5" name="TextBox 4">
            <a:extLst>
              <a:ext uri="{FF2B5EF4-FFF2-40B4-BE49-F238E27FC236}">
                <a16:creationId xmlns:a16="http://schemas.microsoft.com/office/drawing/2014/main" id="{43DF6E9B-5D96-DA07-AC68-BE7FACB775D6}"/>
              </a:ext>
            </a:extLst>
          </p:cNvPr>
          <p:cNvSpPr txBox="1"/>
          <p:nvPr/>
        </p:nvSpPr>
        <p:spPr>
          <a:xfrm>
            <a:off x="2417299" y="5365946"/>
            <a:ext cx="7477862" cy="253916"/>
          </a:xfrm>
          <a:prstGeom prst="rect">
            <a:avLst/>
          </a:prstGeom>
          <a:noFill/>
        </p:spPr>
        <p:txBody>
          <a:bodyPr wrap="square" rtlCol="0">
            <a:spAutoFit/>
          </a:bodyPr>
          <a:lstStyle/>
          <a:p>
            <a:r>
              <a:rPr lang="en-US" sz="1050" dirty="0"/>
              <a:t>See Code on </a:t>
            </a:r>
            <a:r>
              <a:rPr lang="en-US" sz="1050" dirty="0">
                <a:hlinkClick r:id="rId2"/>
              </a:rPr>
              <a:t>https://michael.hahsler.net/Introduction_to_Artificial_Intelligence/</a:t>
            </a:r>
            <a:r>
              <a:rPr lang="en-US" sz="1050" dirty="0"/>
              <a:t> </a:t>
            </a:r>
          </a:p>
        </p:txBody>
      </p:sp>
    </p:spTree>
    <p:extLst>
      <p:ext uri="{BB962C8B-B14F-4D97-AF65-F5344CB8AC3E}">
        <p14:creationId xmlns:p14="http://schemas.microsoft.com/office/powerpoint/2010/main" val="24924308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831CE-DF87-67E9-77D1-77180DEFF9A8}"/>
              </a:ext>
            </a:extLst>
          </p:cNvPr>
          <p:cNvSpPr>
            <a:spLocks noGrp="1"/>
          </p:cNvSpPr>
          <p:nvPr>
            <p:ph type="title"/>
          </p:nvPr>
        </p:nvSpPr>
        <p:spPr/>
        <p:txBody>
          <a:bodyPr>
            <a:normAutofit/>
          </a:bodyPr>
          <a:lstStyle/>
          <a:p>
            <a:r>
              <a:rPr lang="en-US" sz="4000" dirty="0"/>
              <a:t>Typical Use of Supervised ML for Intelligent Agents</a:t>
            </a:r>
          </a:p>
        </p:txBody>
      </p:sp>
      <p:grpSp>
        <p:nvGrpSpPr>
          <p:cNvPr id="14" name="Group 13">
            <a:extLst>
              <a:ext uri="{FF2B5EF4-FFF2-40B4-BE49-F238E27FC236}">
                <a16:creationId xmlns:a16="http://schemas.microsoft.com/office/drawing/2014/main" id="{FBFC95B7-AC72-42AE-3403-738C2835427B}"/>
              </a:ext>
            </a:extLst>
          </p:cNvPr>
          <p:cNvGrpSpPr/>
          <p:nvPr/>
        </p:nvGrpSpPr>
        <p:grpSpPr>
          <a:xfrm>
            <a:off x="842153" y="1571075"/>
            <a:ext cx="2377306" cy="4104787"/>
            <a:chOff x="842153" y="1571075"/>
            <a:chExt cx="2377306" cy="4104787"/>
          </a:xfrm>
        </p:grpSpPr>
        <p:sp>
          <p:nvSpPr>
            <p:cNvPr id="5" name="Freeform: Shape 4">
              <a:extLst>
                <a:ext uri="{FF2B5EF4-FFF2-40B4-BE49-F238E27FC236}">
                  <a16:creationId xmlns:a16="http://schemas.microsoft.com/office/drawing/2014/main" id="{A48D9C77-C23F-3D28-1270-0C165C201163}"/>
                </a:ext>
              </a:extLst>
            </p:cNvPr>
            <p:cNvSpPr/>
            <p:nvPr/>
          </p:nvSpPr>
          <p:spPr>
            <a:xfrm>
              <a:off x="842153" y="1571075"/>
              <a:ext cx="2377306" cy="460800"/>
            </a:xfrm>
            <a:custGeom>
              <a:avLst/>
              <a:gdLst>
                <a:gd name="connsiteX0" fmla="*/ 0 w 2377306"/>
                <a:gd name="connsiteY0" fmla="*/ 0 h 460800"/>
                <a:gd name="connsiteX1" fmla="*/ 2377306 w 2377306"/>
                <a:gd name="connsiteY1" fmla="*/ 0 h 460800"/>
                <a:gd name="connsiteX2" fmla="*/ 2377306 w 2377306"/>
                <a:gd name="connsiteY2" fmla="*/ 460800 h 460800"/>
                <a:gd name="connsiteX3" fmla="*/ 0 w 2377306"/>
                <a:gd name="connsiteY3" fmla="*/ 460800 h 460800"/>
                <a:gd name="connsiteX4" fmla="*/ 0 w 2377306"/>
                <a:gd name="connsiteY4" fmla="*/ 0 h 460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06" h="460800">
                  <a:moveTo>
                    <a:pt x="0" y="0"/>
                  </a:moveTo>
                  <a:lnTo>
                    <a:pt x="2377306" y="0"/>
                  </a:lnTo>
                  <a:lnTo>
                    <a:pt x="2377306" y="460800"/>
                  </a:lnTo>
                  <a:lnTo>
                    <a:pt x="0" y="460800"/>
                  </a:lnTo>
                  <a:lnTo>
                    <a:pt x="0" y="0"/>
                  </a:lnTo>
                  <a:close/>
                </a:path>
              </a:pathLst>
            </a:custGeom>
          </p:spPr>
          <p:style>
            <a:lnRef idx="1">
              <a:schemeClr val="accent2">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b="1" kern="1200" dirty="0"/>
                <a:t>Learn a Policy</a:t>
              </a:r>
            </a:p>
          </p:txBody>
        </p:sp>
        <mc:AlternateContent xmlns:mc="http://schemas.openxmlformats.org/markup-compatibility/2006" xmlns:a14="http://schemas.microsoft.com/office/drawing/2010/main">
          <mc:Choice Requires="a14">
            <p:sp>
              <p:nvSpPr>
                <p:cNvPr id="7" name="Freeform: Shape 6">
                  <a:extLst>
                    <a:ext uri="{FF2B5EF4-FFF2-40B4-BE49-F238E27FC236}">
                      <a16:creationId xmlns:a16="http://schemas.microsoft.com/office/drawing/2014/main" id="{C495EC0E-13F8-DBF8-EED0-131A05D44445}"/>
                    </a:ext>
                  </a:extLst>
                </p:cNvPr>
                <p:cNvSpPr/>
                <p:nvPr/>
              </p:nvSpPr>
              <p:spPr>
                <a:xfrm>
                  <a:off x="842153" y="2031875"/>
                  <a:ext cx="2377306" cy="3643987"/>
                </a:xfrm>
                <a:custGeom>
                  <a:avLst/>
                  <a:gdLst>
                    <a:gd name="connsiteX0" fmla="*/ 0 w 2377306"/>
                    <a:gd name="connsiteY0" fmla="*/ 0 h 3643987"/>
                    <a:gd name="connsiteX1" fmla="*/ 2377306 w 2377306"/>
                    <a:gd name="connsiteY1" fmla="*/ 0 h 3643987"/>
                    <a:gd name="connsiteX2" fmla="*/ 2377306 w 2377306"/>
                    <a:gd name="connsiteY2" fmla="*/ 3643987 h 3643987"/>
                    <a:gd name="connsiteX3" fmla="*/ 0 w 2377306"/>
                    <a:gd name="connsiteY3" fmla="*/ 3643987 h 3643987"/>
                    <a:gd name="connsiteX4" fmla="*/ 0 w 2377306"/>
                    <a:gd name="connsiteY4" fmla="*/ 0 h 3643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06" h="3643987">
                      <a:moveTo>
                        <a:pt x="0" y="0"/>
                      </a:moveTo>
                      <a:lnTo>
                        <a:pt x="2377306" y="0"/>
                      </a:lnTo>
                      <a:lnTo>
                        <a:pt x="2377306" y="3643987"/>
                      </a:lnTo>
                      <a:lnTo>
                        <a:pt x="0" y="3643987"/>
                      </a:lnTo>
                      <a:lnTo>
                        <a:pt x="0" y="0"/>
                      </a:lnTo>
                      <a:close/>
                    </a:path>
                  </a:pathLst>
                </a:custGeom>
              </p:spPr>
              <p:style>
                <a:lnRef idx="1">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a:t>Classification: Directly learn the best action for each state from examples. </a:t>
                  </a:r>
                  <a:br>
                    <a:rPr lang="en-US" sz="1600" kern="1200" dirty="0"/>
                  </a:br>
                  <a:endParaRPr lang="en-US" sz="1600" kern="1200" dirty="0"/>
                </a:p>
                <a:p>
                  <a:pPr marL="171450" lvl="1" indent="-171450" algn="ctr" defTabSz="711200">
                    <a:lnSpc>
                      <a:spcPct val="90000"/>
                    </a:lnSpc>
                    <a:spcBef>
                      <a:spcPct val="0"/>
                    </a:spcBef>
                    <a:spcAft>
                      <a:spcPct val="15000"/>
                    </a:spcAft>
                    <a:buNone/>
                  </a:pPr>
                  <a14:m>
                    <m:oMathPara xmlns:m="http://schemas.openxmlformats.org/officeDocument/2006/math">
                      <m:oMath>
                        <m:r>
                          <a:rPr lang="en-US" sz="1400" b="0" i="1" kern="1200" smtClean="0">
                            <a:latin typeface="Cambria Math" panose="02040503050406030204" pitchFamily="18" charset="0"/>
                          </a:rPr>
                          <m:t>𝑎</m:t>
                        </m:r>
                        <m:r>
                          <a:rPr lang="en-US" sz="1400" b="0" i="1" kern="1200" smtClean="0">
                            <a:latin typeface="Cambria Math" panose="02040503050406030204" pitchFamily="18" charset="0"/>
                          </a:rPr>
                          <m:t>=</m:t>
                        </m:r>
                        <m:r>
                          <a:rPr lang="en-US" sz="1400" b="0" i="1" kern="1200" smtClean="0">
                            <a:latin typeface="Cambria Math" panose="02040503050406030204" pitchFamily="18" charset="0"/>
                          </a:rPr>
                          <m:t>ℎ</m:t>
                        </m:r>
                        <m:r>
                          <a:rPr lang="en-US" sz="1400" b="0" i="1" kern="1200" smtClean="0">
                            <a:latin typeface="Cambria Math" panose="02040503050406030204" pitchFamily="18" charset="0"/>
                          </a:rPr>
                          <m:t>(</m:t>
                        </m:r>
                        <m:r>
                          <a:rPr lang="en-US" sz="1400" b="0" i="1" kern="1200" smtClean="0">
                            <a:latin typeface="Cambria Math" panose="02040503050406030204" pitchFamily="18" charset="0"/>
                          </a:rPr>
                          <m:t>𝑠𝑡𝑎𝑡𝑒</m:t>
                        </m:r>
                        <m:r>
                          <a:rPr lang="en-US" sz="1400" b="0" i="1" kern="1200" smtClean="0">
                            <a:latin typeface="Cambria Math" panose="02040503050406030204" pitchFamily="18" charset="0"/>
                          </a:rPr>
                          <m:t> </m:t>
                        </m:r>
                        <m:r>
                          <a:rPr lang="en-US" sz="1400" b="0" i="1" kern="1200" smtClean="0">
                            <a:latin typeface="Cambria Math" panose="02040503050406030204" pitchFamily="18" charset="0"/>
                          </a:rPr>
                          <m:t>𝑓𝑒𝑎𝑡𝑢𝑟𝑒𝑠</m:t>
                        </m:r>
                        <m:r>
                          <a:rPr lang="en-US" sz="1400" b="0" i="1" kern="1200" smtClean="0">
                            <a:latin typeface="Cambria Math" panose="02040503050406030204" pitchFamily="18" charset="0"/>
                          </a:rPr>
                          <m:t>)</m:t>
                        </m:r>
                      </m:oMath>
                    </m:oMathPara>
                  </a14:m>
                  <a:endParaRPr lang="en-US" sz="1600" kern="1200" dirty="0"/>
                </a:p>
                <a:p>
                  <a:pPr marL="0" lvl="1" algn="l" defTabSz="711200">
                    <a:lnSpc>
                      <a:spcPct val="90000"/>
                    </a:lnSpc>
                    <a:spcBef>
                      <a:spcPct val="0"/>
                    </a:spcBef>
                    <a:spcAft>
                      <a:spcPct val="15000"/>
                    </a:spcAft>
                  </a:pPr>
                  <a:endParaRPr lang="en-US" sz="1600" kern="1200" dirty="0"/>
                </a:p>
                <a:p>
                  <a:pPr marL="171450" lvl="1" indent="-171450" algn="l" defTabSz="711200">
                    <a:lnSpc>
                      <a:spcPct val="90000"/>
                    </a:lnSpc>
                    <a:spcBef>
                      <a:spcPct val="0"/>
                    </a:spcBef>
                    <a:spcAft>
                      <a:spcPct val="15000"/>
                    </a:spcAft>
                    <a:buFont typeface="Arial" panose="020B0604020202020204" pitchFamily="34" charset="0"/>
                    <a:buChar char="•"/>
                  </a:pPr>
                  <a:r>
                    <a:rPr lang="en-US" sz="1600" kern="1200" dirty="0"/>
                    <a:t>This model can also be used as a </a:t>
                  </a:r>
                  <a:r>
                    <a:rPr lang="en-US" sz="1600" b="1" kern="1200" dirty="0"/>
                    <a:t>playout policy </a:t>
                  </a:r>
                  <a:r>
                    <a:rPr lang="en-US" sz="1600" kern="1200" dirty="0"/>
                    <a:t>for Monte Carlo tree search with data from self-play. </a:t>
                  </a:r>
                </a:p>
              </p:txBody>
            </p:sp>
          </mc:Choice>
          <mc:Fallback xmlns="">
            <p:sp>
              <p:nvSpPr>
                <p:cNvPr id="7" name="Freeform: Shape 6">
                  <a:extLst>
                    <a:ext uri="{FF2B5EF4-FFF2-40B4-BE49-F238E27FC236}">
                      <a16:creationId xmlns:a16="http://schemas.microsoft.com/office/drawing/2014/main" id="{C495EC0E-13F8-DBF8-EED0-131A05D44445}"/>
                    </a:ext>
                  </a:extLst>
                </p:cNvPr>
                <p:cNvSpPr>
                  <a:spLocks noRot="1" noChangeAspect="1" noMove="1" noResize="1" noEditPoints="1" noAdjustHandles="1" noChangeArrowheads="1" noChangeShapeType="1" noTextEdit="1"/>
                </p:cNvSpPr>
                <p:nvPr/>
              </p:nvSpPr>
              <p:spPr>
                <a:xfrm>
                  <a:off x="842153" y="2031875"/>
                  <a:ext cx="2377306" cy="3643987"/>
                </a:xfrm>
                <a:custGeom>
                  <a:avLst/>
                  <a:gdLst>
                    <a:gd name="connsiteX0" fmla="*/ 0 w 2377306"/>
                    <a:gd name="connsiteY0" fmla="*/ 0 h 3643987"/>
                    <a:gd name="connsiteX1" fmla="*/ 2377306 w 2377306"/>
                    <a:gd name="connsiteY1" fmla="*/ 0 h 3643987"/>
                    <a:gd name="connsiteX2" fmla="*/ 2377306 w 2377306"/>
                    <a:gd name="connsiteY2" fmla="*/ 3643987 h 3643987"/>
                    <a:gd name="connsiteX3" fmla="*/ 0 w 2377306"/>
                    <a:gd name="connsiteY3" fmla="*/ 3643987 h 3643987"/>
                    <a:gd name="connsiteX4" fmla="*/ 0 w 2377306"/>
                    <a:gd name="connsiteY4" fmla="*/ 0 h 3643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06" h="3643987">
                      <a:moveTo>
                        <a:pt x="0" y="0"/>
                      </a:moveTo>
                      <a:lnTo>
                        <a:pt x="2377306" y="0"/>
                      </a:lnTo>
                      <a:lnTo>
                        <a:pt x="2377306" y="3643987"/>
                      </a:lnTo>
                      <a:lnTo>
                        <a:pt x="0" y="3643987"/>
                      </a:lnTo>
                      <a:lnTo>
                        <a:pt x="0" y="0"/>
                      </a:lnTo>
                      <a:close/>
                    </a:path>
                  </a:pathLst>
                </a:custGeom>
                <a:blipFill>
                  <a:blip r:embed="rId2"/>
                  <a:stretch>
                    <a:fillRect l="-1535" r="-1535"/>
                  </a:stretch>
                </a:blipFill>
              </p:spPr>
              <p:txBody>
                <a:bodyPr/>
                <a:lstStyle/>
                <a:p>
                  <a:r>
                    <a:rPr lang="en-US">
                      <a:noFill/>
                    </a:rPr>
                    <a:t> </a:t>
                  </a:r>
                </a:p>
              </p:txBody>
            </p:sp>
          </mc:Fallback>
        </mc:AlternateContent>
      </p:grpSp>
      <p:grpSp>
        <p:nvGrpSpPr>
          <p:cNvPr id="15" name="Group 14">
            <a:extLst>
              <a:ext uri="{FF2B5EF4-FFF2-40B4-BE49-F238E27FC236}">
                <a16:creationId xmlns:a16="http://schemas.microsoft.com/office/drawing/2014/main" id="{8CCA252A-7EE5-13D9-E16C-088C229D51D2}"/>
              </a:ext>
            </a:extLst>
          </p:cNvPr>
          <p:cNvGrpSpPr/>
          <p:nvPr/>
        </p:nvGrpSpPr>
        <p:grpSpPr>
          <a:xfrm>
            <a:off x="3552282" y="1571075"/>
            <a:ext cx="2377306" cy="4104787"/>
            <a:chOff x="3552282" y="1571075"/>
            <a:chExt cx="2377306" cy="4104787"/>
          </a:xfrm>
        </p:grpSpPr>
        <p:sp>
          <p:nvSpPr>
            <p:cNvPr id="8" name="Freeform: Shape 7">
              <a:extLst>
                <a:ext uri="{FF2B5EF4-FFF2-40B4-BE49-F238E27FC236}">
                  <a16:creationId xmlns:a16="http://schemas.microsoft.com/office/drawing/2014/main" id="{AAF9D36A-2AD4-9DAC-B437-CFD4B4B3BA4A}"/>
                </a:ext>
              </a:extLst>
            </p:cNvPr>
            <p:cNvSpPr/>
            <p:nvPr/>
          </p:nvSpPr>
          <p:spPr>
            <a:xfrm>
              <a:off x="3552282" y="1571075"/>
              <a:ext cx="2377306" cy="460800"/>
            </a:xfrm>
            <a:custGeom>
              <a:avLst/>
              <a:gdLst>
                <a:gd name="connsiteX0" fmla="*/ 0 w 2377306"/>
                <a:gd name="connsiteY0" fmla="*/ 0 h 460800"/>
                <a:gd name="connsiteX1" fmla="*/ 2377306 w 2377306"/>
                <a:gd name="connsiteY1" fmla="*/ 0 h 460800"/>
                <a:gd name="connsiteX2" fmla="*/ 2377306 w 2377306"/>
                <a:gd name="connsiteY2" fmla="*/ 460800 h 460800"/>
                <a:gd name="connsiteX3" fmla="*/ 0 w 2377306"/>
                <a:gd name="connsiteY3" fmla="*/ 460800 h 460800"/>
                <a:gd name="connsiteX4" fmla="*/ 0 w 2377306"/>
                <a:gd name="connsiteY4" fmla="*/ 0 h 460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06" h="460800">
                  <a:moveTo>
                    <a:pt x="0" y="0"/>
                  </a:moveTo>
                  <a:lnTo>
                    <a:pt x="2377306" y="0"/>
                  </a:lnTo>
                  <a:lnTo>
                    <a:pt x="2377306" y="460800"/>
                  </a:lnTo>
                  <a:lnTo>
                    <a:pt x="0" y="460800"/>
                  </a:lnTo>
                  <a:lnTo>
                    <a:pt x="0" y="0"/>
                  </a:lnTo>
                  <a:close/>
                </a:path>
              </a:pathLst>
            </a:custGeom>
          </p:spPr>
          <p:style>
            <a:lnRef idx="1">
              <a:schemeClr val="accent3">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b="1" kern="1200" dirty="0"/>
                <a:t>Learn Evaluation Functions</a:t>
              </a:r>
            </a:p>
          </p:txBody>
        </p:sp>
        <mc:AlternateContent xmlns:mc="http://schemas.openxmlformats.org/markup-compatibility/2006" xmlns:a14="http://schemas.microsoft.com/office/drawing/2010/main">
          <mc:Choice Requires="a14">
            <p:sp>
              <p:nvSpPr>
                <p:cNvPr id="9" name="Freeform: Shape 8">
                  <a:extLst>
                    <a:ext uri="{FF2B5EF4-FFF2-40B4-BE49-F238E27FC236}">
                      <a16:creationId xmlns:a16="http://schemas.microsoft.com/office/drawing/2014/main" id="{F92DA4CB-84F6-D4AA-448C-800D1FC31E4B}"/>
                    </a:ext>
                  </a:extLst>
                </p:cNvPr>
                <p:cNvSpPr/>
                <p:nvPr/>
              </p:nvSpPr>
              <p:spPr>
                <a:xfrm>
                  <a:off x="3552282" y="2031875"/>
                  <a:ext cx="2377306" cy="3643987"/>
                </a:xfrm>
                <a:custGeom>
                  <a:avLst/>
                  <a:gdLst>
                    <a:gd name="connsiteX0" fmla="*/ 0 w 2377306"/>
                    <a:gd name="connsiteY0" fmla="*/ 0 h 3643987"/>
                    <a:gd name="connsiteX1" fmla="*/ 2377306 w 2377306"/>
                    <a:gd name="connsiteY1" fmla="*/ 0 h 3643987"/>
                    <a:gd name="connsiteX2" fmla="*/ 2377306 w 2377306"/>
                    <a:gd name="connsiteY2" fmla="*/ 3643987 h 3643987"/>
                    <a:gd name="connsiteX3" fmla="*/ 0 w 2377306"/>
                    <a:gd name="connsiteY3" fmla="*/ 3643987 h 3643987"/>
                    <a:gd name="connsiteX4" fmla="*/ 0 w 2377306"/>
                    <a:gd name="connsiteY4" fmla="*/ 0 h 3643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06" h="3643987">
                      <a:moveTo>
                        <a:pt x="0" y="0"/>
                      </a:moveTo>
                      <a:lnTo>
                        <a:pt x="2377306" y="0"/>
                      </a:lnTo>
                      <a:lnTo>
                        <a:pt x="2377306" y="3643987"/>
                      </a:lnTo>
                      <a:lnTo>
                        <a:pt x="0" y="3643987"/>
                      </a:lnTo>
                      <a:lnTo>
                        <a:pt x="0" y="0"/>
                      </a:lnTo>
                      <a:close/>
                    </a:path>
                  </a:pathLst>
                </a:custGeom>
              </p:spPr>
              <p:style>
                <a:lnRef idx="1">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0">
                  <a:schemeClr val="accent3">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a:t>Regression: Learn evaluation functions to estimate state utilities. </a:t>
                  </a:r>
                </a:p>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None/>
                  </a:pPr>
                  <a14:m>
                    <m:oMathPara xmlns:m="http://schemas.openxmlformats.org/officeDocument/2006/math">
                      <m:oMath>
                        <m:r>
                          <a:rPr lang="en-US" sz="1400" b="0" i="1" kern="1200" smtClean="0">
                            <a:latin typeface="Cambria Math" panose="02040503050406030204" pitchFamily="18" charset="0"/>
                          </a:rPr>
                          <m:t>𝑒𝑣𝑎𝑙</m:t>
                        </m:r>
                        <m:r>
                          <a:rPr lang="en-US" sz="1400" b="0" i="1" kern="1200" smtClean="0">
                            <a:latin typeface="Cambria Math" panose="02040503050406030204" pitchFamily="18" charset="0"/>
                          </a:rPr>
                          <m:t>=</m:t>
                        </m:r>
                        <m:r>
                          <a:rPr lang="en-US" sz="1400" b="0" i="1" kern="1200" smtClean="0">
                            <a:latin typeface="Cambria Math" panose="02040503050406030204" pitchFamily="18" charset="0"/>
                          </a:rPr>
                          <m:t>ℎ</m:t>
                        </m:r>
                        <m:r>
                          <a:rPr lang="en-US" sz="1400" b="0" i="1" kern="1200" smtClean="0">
                            <a:latin typeface="Cambria Math" panose="02040503050406030204" pitchFamily="18" charset="0"/>
                          </a:rPr>
                          <m:t>(</m:t>
                        </m:r>
                        <m:r>
                          <a:rPr lang="en-US" sz="1400" b="0" i="1" kern="1200" smtClean="0">
                            <a:latin typeface="Cambria Math" panose="02040503050406030204" pitchFamily="18" charset="0"/>
                          </a:rPr>
                          <m:t>𝑠𝑡𝑎𝑡𝑒</m:t>
                        </m:r>
                        <m:r>
                          <a:rPr lang="en-US" sz="1400" b="0" i="1" kern="1200" smtClean="0">
                            <a:latin typeface="Cambria Math" panose="02040503050406030204" pitchFamily="18" charset="0"/>
                          </a:rPr>
                          <m:t> </m:t>
                        </m:r>
                        <m:r>
                          <a:rPr lang="en-US" sz="1400" b="0" i="1" kern="1200" smtClean="0">
                            <a:latin typeface="Cambria Math" panose="02040503050406030204" pitchFamily="18" charset="0"/>
                          </a:rPr>
                          <m:t>𝑓𝑒𝑎𝑡𝑢𝑟𝑒𝑠</m:t>
                        </m:r>
                        <m:r>
                          <a:rPr lang="en-US" sz="1400" b="0" i="1" kern="1200" smtClean="0">
                            <a:latin typeface="Cambria Math" panose="02040503050406030204" pitchFamily="18" charset="0"/>
                          </a:rPr>
                          <m:t>)</m:t>
                        </m:r>
                      </m:oMath>
                    </m:oMathPara>
                  </a14:m>
                  <a:endParaRPr lang="en-US" sz="1600" kern="1200" dirty="0"/>
                </a:p>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r>
                    <a:rPr lang="en-US" sz="1600" kern="1200" dirty="0"/>
                    <a:t>Can learn a </a:t>
                  </a:r>
                  <a:r>
                    <a:rPr lang="en-US" sz="1600" b="1" kern="1200" dirty="0"/>
                    <a:t>heuristic</a:t>
                  </a:r>
                  <a:r>
                    <a:rPr lang="en-US" sz="1600" kern="1200" dirty="0"/>
                    <a:t> for heuristic alpha-beta search.</a:t>
                  </a:r>
                </a:p>
                <a:p>
                  <a:pPr marL="171450" lvl="1" indent="-171450" algn="l" defTabSz="711200">
                    <a:lnSpc>
                      <a:spcPct val="90000"/>
                    </a:lnSpc>
                    <a:spcBef>
                      <a:spcPct val="0"/>
                    </a:spcBef>
                    <a:spcAft>
                      <a:spcPct val="15000"/>
                    </a:spcAft>
                    <a:buChar char="•"/>
                  </a:pPr>
                  <a:endParaRPr lang="en-US" sz="1600" dirty="0"/>
                </a:p>
                <a:p>
                  <a:pPr marL="171450" lvl="1" indent="-171450" algn="l" defTabSz="711200">
                    <a:lnSpc>
                      <a:spcPct val="90000"/>
                    </a:lnSpc>
                    <a:spcBef>
                      <a:spcPct val="0"/>
                    </a:spcBef>
                    <a:spcAft>
                      <a:spcPct val="15000"/>
                    </a:spcAft>
                    <a:buChar char="•"/>
                  </a:pPr>
                  <a:r>
                    <a:rPr lang="en-US" sz="1600" dirty="0"/>
                    <a:t>For</a:t>
                  </a:r>
                  <a:r>
                    <a:rPr lang="en-US" sz="1600" kern="1200" dirty="0"/>
                    <a:t> reinforcement learning we can learn action values </a:t>
                  </a:r>
                  <a14:m>
                    <m:oMath xmlns:m="http://schemas.openxmlformats.org/officeDocument/2006/math">
                      <m:r>
                        <a:rPr lang="en-US" sz="1400" i="1" kern="1200" dirty="0" smtClean="0">
                          <a:latin typeface="Cambria Math" panose="02040503050406030204" pitchFamily="18" charset="0"/>
                        </a:rPr>
                        <m:t>𝑞</m:t>
                      </m:r>
                      <m:r>
                        <a:rPr lang="en-US" sz="1400" i="1" kern="1200" dirty="0" smtClean="0">
                          <a:latin typeface="Cambria Math" panose="02040503050406030204" pitchFamily="18" charset="0"/>
                        </a:rPr>
                        <m:t>(</m:t>
                      </m:r>
                      <m:r>
                        <a:rPr lang="en-US" sz="1400" i="1" kern="1200" dirty="0" err="1" smtClean="0">
                          <a:latin typeface="Cambria Math" panose="02040503050406030204" pitchFamily="18" charset="0"/>
                        </a:rPr>
                        <m:t>𝑠𝑡𝑎𝑡𝑒</m:t>
                      </m:r>
                      <m:r>
                        <a:rPr lang="en-US" sz="1400" i="1" kern="1200" dirty="0" err="1" smtClean="0">
                          <a:latin typeface="Cambria Math" panose="02040503050406030204" pitchFamily="18" charset="0"/>
                        </a:rPr>
                        <m:t>, </m:t>
                      </m:r>
                      <m:r>
                        <a:rPr lang="en-US" sz="1400" i="1" kern="1200" dirty="0" err="1" smtClean="0">
                          <a:latin typeface="Cambria Math" panose="02040503050406030204" pitchFamily="18" charset="0"/>
                        </a:rPr>
                        <m:t>𝑎𝑐𝑡𝑖𝑜𝑛</m:t>
                      </m:r>
                      <m:r>
                        <a:rPr lang="en-US" sz="1400" i="1" kern="1200" dirty="0" smtClean="0">
                          <a:latin typeface="Cambria Math" panose="02040503050406030204" pitchFamily="18" charset="0"/>
                        </a:rPr>
                        <m:t>)</m:t>
                      </m:r>
                    </m:oMath>
                  </a14:m>
                  <a:r>
                    <a:rPr lang="en-US" sz="1400" kern="1200" dirty="0"/>
                    <a:t>.</a:t>
                  </a:r>
                  <a:endParaRPr lang="en-US" sz="1600" kern="1200" dirty="0"/>
                </a:p>
              </p:txBody>
            </p:sp>
          </mc:Choice>
          <mc:Fallback xmlns="">
            <p:sp>
              <p:nvSpPr>
                <p:cNvPr id="9" name="Freeform: Shape 8">
                  <a:extLst>
                    <a:ext uri="{FF2B5EF4-FFF2-40B4-BE49-F238E27FC236}">
                      <a16:creationId xmlns:a16="http://schemas.microsoft.com/office/drawing/2014/main" id="{F92DA4CB-84F6-D4AA-448C-800D1FC31E4B}"/>
                    </a:ext>
                  </a:extLst>
                </p:cNvPr>
                <p:cNvSpPr>
                  <a:spLocks noRot="1" noChangeAspect="1" noMove="1" noResize="1" noEditPoints="1" noAdjustHandles="1" noChangeArrowheads="1" noChangeShapeType="1" noTextEdit="1"/>
                </p:cNvSpPr>
                <p:nvPr/>
              </p:nvSpPr>
              <p:spPr>
                <a:xfrm>
                  <a:off x="3552282" y="2031875"/>
                  <a:ext cx="2377306" cy="3643987"/>
                </a:xfrm>
                <a:custGeom>
                  <a:avLst/>
                  <a:gdLst>
                    <a:gd name="connsiteX0" fmla="*/ 0 w 2377306"/>
                    <a:gd name="connsiteY0" fmla="*/ 0 h 3643987"/>
                    <a:gd name="connsiteX1" fmla="*/ 2377306 w 2377306"/>
                    <a:gd name="connsiteY1" fmla="*/ 0 h 3643987"/>
                    <a:gd name="connsiteX2" fmla="*/ 2377306 w 2377306"/>
                    <a:gd name="connsiteY2" fmla="*/ 3643987 h 3643987"/>
                    <a:gd name="connsiteX3" fmla="*/ 0 w 2377306"/>
                    <a:gd name="connsiteY3" fmla="*/ 3643987 h 3643987"/>
                    <a:gd name="connsiteX4" fmla="*/ 0 w 2377306"/>
                    <a:gd name="connsiteY4" fmla="*/ 0 h 3643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06" h="3643987">
                      <a:moveTo>
                        <a:pt x="0" y="0"/>
                      </a:moveTo>
                      <a:lnTo>
                        <a:pt x="2377306" y="0"/>
                      </a:lnTo>
                      <a:lnTo>
                        <a:pt x="2377306" y="3643987"/>
                      </a:lnTo>
                      <a:lnTo>
                        <a:pt x="0" y="3643987"/>
                      </a:lnTo>
                      <a:lnTo>
                        <a:pt x="0" y="0"/>
                      </a:lnTo>
                      <a:close/>
                    </a:path>
                  </a:pathLst>
                </a:custGeom>
                <a:blipFill>
                  <a:blip r:embed="rId3"/>
                  <a:stretch>
                    <a:fillRect l="-1790" r="-767"/>
                  </a:stretch>
                </a:blipFill>
              </p:spPr>
              <p:txBody>
                <a:bodyPr/>
                <a:lstStyle/>
                <a:p>
                  <a:r>
                    <a:rPr lang="en-US">
                      <a:noFill/>
                    </a:rPr>
                    <a:t> </a:t>
                  </a:r>
                </a:p>
              </p:txBody>
            </p:sp>
          </mc:Fallback>
        </mc:AlternateContent>
      </p:grpSp>
      <p:grpSp>
        <p:nvGrpSpPr>
          <p:cNvPr id="16" name="Group 15">
            <a:extLst>
              <a:ext uri="{FF2B5EF4-FFF2-40B4-BE49-F238E27FC236}">
                <a16:creationId xmlns:a16="http://schemas.microsoft.com/office/drawing/2014/main" id="{21802172-FED6-A59E-6835-9A0B6DCDFF88}"/>
              </a:ext>
            </a:extLst>
          </p:cNvPr>
          <p:cNvGrpSpPr/>
          <p:nvPr/>
        </p:nvGrpSpPr>
        <p:grpSpPr>
          <a:xfrm>
            <a:off x="6262411" y="1571075"/>
            <a:ext cx="2377306" cy="4104787"/>
            <a:chOff x="6262411" y="1571075"/>
            <a:chExt cx="2377306" cy="4104787"/>
          </a:xfrm>
        </p:grpSpPr>
        <p:sp>
          <p:nvSpPr>
            <p:cNvPr id="10" name="Freeform: Shape 9">
              <a:extLst>
                <a:ext uri="{FF2B5EF4-FFF2-40B4-BE49-F238E27FC236}">
                  <a16:creationId xmlns:a16="http://schemas.microsoft.com/office/drawing/2014/main" id="{671E3106-39A3-A77A-36D8-E7A385B99EAF}"/>
                </a:ext>
              </a:extLst>
            </p:cNvPr>
            <p:cNvSpPr/>
            <p:nvPr/>
          </p:nvSpPr>
          <p:spPr>
            <a:xfrm>
              <a:off x="6262411" y="1571075"/>
              <a:ext cx="2377306" cy="460800"/>
            </a:xfrm>
            <a:custGeom>
              <a:avLst/>
              <a:gdLst>
                <a:gd name="connsiteX0" fmla="*/ 0 w 2377306"/>
                <a:gd name="connsiteY0" fmla="*/ 0 h 460800"/>
                <a:gd name="connsiteX1" fmla="*/ 2377306 w 2377306"/>
                <a:gd name="connsiteY1" fmla="*/ 0 h 460800"/>
                <a:gd name="connsiteX2" fmla="*/ 2377306 w 2377306"/>
                <a:gd name="connsiteY2" fmla="*/ 460800 h 460800"/>
                <a:gd name="connsiteX3" fmla="*/ 0 w 2377306"/>
                <a:gd name="connsiteY3" fmla="*/ 460800 h 460800"/>
                <a:gd name="connsiteX4" fmla="*/ 0 w 2377306"/>
                <a:gd name="connsiteY4" fmla="*/ 0 h 460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06" h="460800">
                  <a:moveTo>
                    <a:pt x="0" y="0"/>
                  </a:moveTo>
                  <a:lnTo>
                    <a:pt x="2377306" y="0"/>
                  </a:lnTo>
                  <a:lnTo>
                    <a:pt x="2377306" y="460800"/>
                  </a:lnTo>
                  <a:lnTo>
                    <a:pt x="0" y="460800"/>
                  </a:lnTo>
                  <a:lnTo>
                    <a:pt x="0" y="0"/>
                  </a:lnTo>
                  <a:close/>
                </a:path>
              </a:pathLst>
            </a:custGeom>
          </p:spPr>
          <p:style>
            <a:lnRef idx="1">
              <a:schemeClr val="accent4">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b="1" kern="1200" dirty="0"/>
                <a:t>Learn Perception </a:t>
              </a:r>
              <a:br>
                <a:rPr lang="en-US" sz="1600" b="1" kern="1200" dirty="0"/>
              </a:br>
              <a:r>
                <a:rPr lang="en-US" sz="1600" b="1" kern="1200" dirty="0"/>
                <a:t>and Actuation</a:t>
              </a:r>
              <a:endParaRPr lang="en-US" sz="1600" kern="1200" dirty="0"/>
            </a:p>
          </p:txBody>
        </p:sp>
        <p:sp>
          <p:nvSpPr>
            <p:cNvPr id="11" name="Freeform: Shape 10">
              <a:extLst>
                <a:ext uri="{FF2B5EF4-FFF2-40B4-BE49-F238E27FC236}">
                  <a16:creationId xmlns:a16="http://schemas.microsoft.com/office/drawing/2014/main" id="{15E01483-3B4C-AB1B-42B3-E27DB0AE5F97}"/>
                </a:ext>
              </a:extLst>
            </p:cNvPr>
            <p:cNvSpPr/>
            <p:nvPr/>
          </p:nvSpPr>
          <p:spPr>
            <a:xfrm>
              <a:off x="6262411" y="2031875"/>
              <a:ext cx="2377306" cy="3643987"/>
            </a:xfrm>
            <a:custGeom>
              <a:avLst/>
              <a:gdLst>
                <a:gd name="connsiteX0" fmla="*/ 0 w 2377306"/>
                <a:gd name="connsiteY0" fmla="*/ 0 h 3643987"/>
                <a:gd name="connsiteX1" fmla="*/ 2377306 w 2377306"/>
                <a:gd name="connsiteY1" fmla="*/ 0 h 3643987"/>
                <a:gd name="connsiteX2" fmla="*/ 2377306 w 2377306"/>
                <a:gd name="connsiteY2" fmla="*/ 3643987 h 3643987"/>
                <a:gd name="connsiteX3" fmla="*/ 0 w 2377306"/>
                <a:gd name="connsiteY3" fmla="*/ 3643987 h 3643987"/>
                <a:gd name="connsiteX4" fmla="*/ 0 w 2377306"/>
                <a:gd name="connsiteY4" fmla="*/ 0 h 3643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06" h="3643987">
                  <a:moveTo>
                    <a:pt x="0" y="0"/>
                  </a:moveTo>
                  <a:lnTo>
                    <a:pt x="2377306" y="0"/>
                  </a:lnTo>
                  <a:lnTo>
                    <a:pt x="2377306" y="3643987"/>
                  </a:lnTo>
                  <a:lnTo>
                    <a:pt x="0" y="3643987"/>
                  </a:lnTo>
                  <a:lnTo>
                    <a:pt x="0" y="0"/>
                  </a:lnTo>
                  <a:close/>
                </a:path>
              </a:pathLst>
            </a:custGeom>
          </p:spPr>
          <p:style>
            <a:lnRef idx="1">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400" b="1" kern="1200" dirty="0"/>
                <a:t>Natural language processing: </a:t>
              </a:r>
              <a:r>
                <a:rPr lang="en-US" sz="1400" kern="1200" dirty="0"/>
                <a:t>Use deep learning / word embeddings / language models to understand concepts, translate between languages, or generate text.</a:t>
              </a:r>
            </a:p>
            <a:p>
              <a:pPr marL="171450" lvl="1" indent="-171450" algn="l" defTabSz="711200">
                <a:lnSpc>
                  <a:spcPct val="90000"/>
                </a:lnSpc>
                <a:spcBef>
                  <a:spcPct val="0"/>
                </a:spcBef>
                <a:spcAft>
                  <a:spcPct val="15000"/>
                </a:spcAft>
                <a:buChar char="•"/>
              </a:pPr>
              <a:r>
                <a:rPr lang="en-US" sz="1400" b="1" kern="1200" dirty="0"/>
                <a:t>Speech recognition</a:t>
              </a:r>
              <a:r>
                <a:rPr lang="en-US" sz="1400" kern="1200" dirty="0"/>
                <a:t>: Identify the most likely sequence of words. </a:t>
              </a:r>
            </a:p>
            <a:p>
              <a:pPr marL="171450" lvl="1" indent="-171450" algn="l" defTabSz="711200">
                <a:lnSpc>
                  <a:spcPct val="90000"/>
                </a:lnSpc>
                <a:spcBef>
                  <a:spcPct val="0"/>
                </a:spcBef>
                <a:spcAft>
                  <a:spcPct val="15000"/>
                </a:spcAft>
                <a:buChar char="•"/>
              </a:pPr>
              <a:r>
                <a:rPr lang="en-US" sz="1400" b="1" kern="1200" dirty="0"/>
                <a:t>Vision</a:t>
              </a:r>
              <a:r>
                <a:rPr lang="en-US" sz="1400" kern="1200" dirty="0"/>
                <a:t>: Object recognition in images/videos. Generate images/video.</a:t>
              </a:r>
            </a:p>
            <a:p>
              <a:pPr marL="171450" lvl="1" indent="-171450" algn="l" defTabSz="711200">
                <a:lnSpc>
                  <a:spcPct val="90000"/>
                </a:lnSpc>
                <a:spcBef>
                  <a:spcPct val="0"/>
                </a:spcBef>
                <a:spcAft>
                  <a:spcPct val="15000"/>
                </a:spcAft>
                <a:buChar char="•"/>
              </a:pPr>
              <a:r>
                <a:rPr lang="en-US" sz="1400" b="1" dirty="0"/>
                <a:t>Robotics</a:t>
              </a:r>
              <a:r>
                <a:rPr lang="en-US" sz="1400" dirty="0"/>
                <a:t>: Learn how to move safely.</a:t>
              </a:r>
              <a:endParaRPr lang="en-US" sz="1400" kern="1200" dirty="0"/>
            </a:p>
          </p:txBody>
        </p:sp>
      </p:grpSp>
      <p:grpSp>
        <p:nvGrpSpPr>
          <p:cNvPr id="17" name="Group 16">
            <a:extLst>
              <a:ext uri="{FF2B5EF4-FFF2-40B4-BE49-F238E27FC236}">
                <a16:creationId xmlns:a16="http://schemas.microsoft.com/office/drawing/2014/main" id="{71BB0827-B0BB-7D23-43AF-6D29B3EF9603}"/>
              </a:ext>
            </a:extLst>
          </p:cNvPr>
          <p:cNvGrpSpPr/>
          <p:nvPr/>
        </p:nvGrpSpPr>
        <p:grpSpPr>
          <a:xfrm>
            <a:off x="8972540" y="1571075"/>
            <a:ext cx="2377306" cy="4104787"/>
            <a:chOff x="8972540" y="1571075"/>
            <a:chExt cx="2377306" cy="4104787"/>
          </a:xfrm>
        </p:grpSpPr>
        <p:sp>
          <p:nvSpPr>
            <p:cNvPr id="12" name="Freeform: Shape 11">
              <a:extLst>
                <a:ext uri="{FF2B5EF4-FFF2-40B4-BE49-F238E27FC236}">
                  <a16:creationId xmlns:a16="http://schemas.microsoft.com/office/drawing/2014/main" id="{6146F0A1-3C1D-DCD2-2525-4DE003D14EB7}"/>
                </a:ext>
              </a:extLst>
            </p:cNvPr>
            <p:cNvSpPr/>
            <p:nvPr/>
          </p:nvSpPr>
          <p:spPr>
            <a:xfrm>
              <a:off x="8972540" y="1571075"/>
              <a:ext cx="2377306" cy="460800"/>
            </a:xfrm>
            <a:custGeom>
              <a:avLst/>
              <a:gdLst>
                <a:gd name="connsiteX0" fmla="*/ 0 w 2377306"/>
                <a:gd name="connsiteY0" fmla="*/ 0 h 460800"/>
                <a:gd name="connsiteX1" fmla="*/ 2377306 w 2377306"/>
                <a:gd name="connsiteY1" fmla="*/ 0 h 460800"/>
                <a:gd name="connsiteX2" fmla="*/ 2377306 w 2377306"/>
                <a:gd name="connsiteY2" fmla="*/ 460800 h 460800"/>
                <a:gd name="connsiteX3" fmla="*/ 0 w 2377306"/>
                <a:gd name="connsiteY3" fmla="*/ 460800 h 460800"/>
                <a:gd name="connsiteX4" fmla="*/ 0 w 2377306"/>
                <a:gd name="connsiteY4" fmla="*/ 0 h 460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06" h="460800">
                  <a:moveTo>
                    <a:pt x="0" y="0"/>
                  </a:moveTo>
                  <a:lnTo>
                    <a:pt x="2377306" y="0"/>
                  </a:lnTo>
                  <a:lnTo>
                    <a:pt x="2377306" y="460800"/>
                  </a:lnTo>
                  <a:lnTo>
                    <a:pt x="0" y="460800"/>
                  </a:lnTo>
                  <a:lnTo>
                    <a:pt x="0" y="0"/>
                  </a:lnTo>
                  <a:close/>
                </a:path>
              </a:pathLst>
            </a:custGeom>
          </p:spPr>
          <p:style>
            <a:lnRef idx="1">
              <a:schemeClr val="accent5">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b="1" kern="1200" dirty="0"/>
                <a:t>Compressing Tables</a:t>
              </a:r>
            </a:p>
          </p:txBody>
        </p:sp>
        <p:sp>
          <p:nvSpPr>
            <p:cNvPr id="13" name="Freeform: Shape 12" descr="ML models can be used to learn actions or an evaluation function from state descriptions. ML is also used in preprocessing percepts (natural language processing, object detection) or to compress large tables like joint probability tables.">
              <a:extLst>
                <a:ext uri="{FF2B5EF4-FFF2-40B4-BE49-F238E27FC236}">
                  <a16:creationId xmlns:a16="http://schemas.microsoft.com/office/drawing/2014/main" id="{A91EE390-CF43-7810-F566-F13B3E450673}"/>
                </a:ext>
              </a:extLst>
            </p:cNvPr>
            <p:cNvSpPr/>
            <p:nvPr/>
          </p:nvSpPr>
          <p:spPr>
            <a:xfrm>
              <a:off x="8972540" y="2031875"/>
              <a:ext cx="2377306" cy="3643987"/>
            </a:xfrm>
            <a:custGeom>
              <a:avLst/>
              <a:gdLst>
                <a:gd name="connsiteX0" fmla="*/ 0 w 2377306"/>
                <a:gd name="connsiteY0" fmla="*/ 0 h 3643987"/>
                <a:gd name="connsiteX1" fmla="*/ 2377306 w 2377306"/>
                <a:gd name="connsiteY1" fmla="*/ 0 h 3643987"/>
                <a:gd name="connsiteX2" fmla="*/ 2377306 w 2377306"/>
                <a:gd name="connsiteY2" fmla="*/ 3643987 h 3643987"/>
                <a:gd name="connsiteX3" fmla="*/ 0 w 2377306"/>
                <a:gd name="connsiteY3" fmla="*/ 3643987 h 3643987"/>
                <a:gd name="connsiteX4" fmla="*/ 0 w 2377306"/>
                <a:gd name="connsiteY4" fmla="*/ 0 h 3643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06" h="3643987">
                  <a:moveTo>
                    <a:pt x="0" y="0"/>
                  </a:moveTo>
                  <a:lnTo>
                    <a:pt x="2377306" y="0"/>
                  </a:lnTo>
                  <a:lnTo>
                    <a:pt x="2377306" y="3643987"/>
                  </a:lnTo>
                  <a:lnTo>
                    <a:pt x="0" y="3643987"/>
                  </a:lnTo>
                  <a:lnTo>
                    <a:pt x="0" y="0"/>
                  </a:lnTo>
                  <a:close/>
                </a:path>
              </a:pathLst>
            </a:custGeom>
          </p:spPr>
          <p:style>
            <a:lnRef idx="1">
              <a:schemeClr val="accent5">
                <a:tint val="40000"/>
                <a:alpha val="90000"/>
                <a:hueOff val="0"/>
                <a:satOff val="0"/>
                <a:lumOff val="0"/>
                <a:alphaOff val="0"/>
              </a:schemeClr>
            </a:lnRef>
            <a:fillRef idx="1">
              <a:schemeClr val="accent5">
                <a:tint val="40000"/>
                <a:alpha val="90000"/>
                <a:hueOff val="0"/>
                <a:satOff val="0"/>
                <a:lumOff val="0"/>
                <a:alphaOff val="0"/>
              </a:schemeClr>
            </a:fillRef>
            <a:effectRef idx="0">
              <a:schemeClr val="accent5">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a:t>Neural networks can be used as a compact representation of tables that do not fit in memory. E.g.,</a:t>
              </a:r>
            </a:p>
            <a:p>
              <a:pPr marL="342900" lvl="2" indent="-171450" algn="l" defTabSz="711200">
                <a:lnSpc>
                  <a:spcPct val="90000"/>
                </a:lnSpc>
                <a:spcBef>
                  <a:spcPct val="0"/>
                </a:spcBef>
                <a:spcAft>
                  <a:spcPct val="15000"/>
                </a:spcAft>
                <a:buChar char="•"/>
              </a:pPr>
              <a:r>
                <a:rPr lang="en-US" sz="1600" kern="1200" dirty="0"/>
                <a:t>Joint and conditional probability tables</a:t>
              </a:r>
            </a:p>
            <a:p>
              <a:pPr marL="342900" lvl="2" indent="-171450" algn="l" defTabSz="711200">
                <a:lnSpc>
                  <a:spcPct val="90000"/>
                </a:lnSpc>
                <a:spcBef>
                  <a:spcPct val="0"/>
                </a:spcBef>
                <a:spcAft>
                  <a:spcPct val="15000"/>
                </a:spcAft>
                <a:buChar char="•"/>
              </a:pPr>
              <a:r>
                <a:rPr lang="en-US" sz="1600" kern="1200" dirty="0"/>
                <a:t>State utility tables (i.e., an evaluation function)</a:t>
              </a:r>
            </a:p>
            <a:p>
              <a:pPr marL="342900" lvl="2" indent="-171450" algn="l" defTabSz="711200">
                <a:lnSpc>
                  <a:spcPct val="90000"/>
                </a:lnSpc>
                <a:spcBef>
                  <a:spcPct val="0"/>
                </a:spcBef>
                <a:spcAft>
                  <a:spcPct val="15000"/>
                </a:spcAft>
                <a:buChar char="•"/>
              </a:pPr>
              <a:r>
                <a:rPr lang="en-US" sz="1600" dirty="0"/>
                <a:t>Q-Value tables in reinforcement learning</a:t>
              </a:r>
              <a:endParaRPr lang="en-US" sz="1600" kern="1200" dirty="0"/>
            </a:p>
          </p:txBody>
        </p:sp>
      </p:grpSp>
      <p:sp>
        <p:nvSpPr>
          <p:cNvPr id="4" name="TextBox 3">
            <a:extLst>
              <a:ext uri="{FF2B5EF4-FFF2-40B4-BE49-F238E27FC236}">
                <a16:creationId xmlns:a16="http://schemas.microsoft.com/office/drawing/2014/main" id="{58DF1805-A227-A014-E656-CA585A157D4A}"/>
              </a:ext>
            </a:extLst>
          </p:cNvPr>
          <p:cNvSpPr txBox="1"/>
          <p:nvPr/>
        </p:nvSpPr>
        <p:spPr>
          <a:xfrm>
            <a:off x="286190" y="5994732"/>
            <a:ext cx="6532184" cy="4616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sz="2400" dirty="0"/>
              <a:t>Deep learning + symbolic AI = Neuro-symbolic AI  </a:t>
            </a:r>
          </a:p>
        </p:txBody>
      </p:sp>
    </p:spTree>
    <p:extLst>
      <p:ext uri="{BB962C8B-B14F-4D97-AF65-F5344CB8AC3E}">
        <p14:creationId xmlns:p14="http://schemas.microsoft.com/office/powerpoint/2010/main" val="3240203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DE397-E20B-2264-79B5-2894F2310AB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ADC654E-2868-60DB-9B6F-058DEA86FD0E}"/>
              </a:ext>
            </a:extLst>
          </p:cNvPr>
          <p:cNvSpPr>
            <a:spLocks noGrp="1"/>
          </p:cNvSpPr>
          <p:nvPr>
            <p:ph type="title"/>
          </p:nvPr>
        </p:nvSpPr>
        <p:spPr>
          <a:xfrm>
            <a:off x="685800" y="2931915"/>
            <a:ext cx="10896600" cy="876035"/>
          </a:xfrm>
        </p:spPr>
        <p:txBody>
          <a:bodyPr>
            <a:noAutofit/>
          </a:bodyPr>
          <a:lstStyle/>
          <a:p>
            <a:r>
              <a:rPr lang="en-US" sz="3200" b="1" dirty="0">
                <a:latin typeface="+mn-lt"/>
              </a:rPr>
              <a:t>Code example</a:t>
            </a:r>
            <a:r>
              <a:rPr lang="en-US" sz="3200" dirty="0">
                <a:latin typeface="+mn-lt"/>
              </a:rPr>
              <a:t>: Machine Learning with Python using scikit-learn</a:t>
            </a:r>
          </a:p>
        </p:txBody>
      </p:sp>
      <p:sp>
        <p:nvSpPr>
          <p:cNvPr id="5" name="TextBox 4">
            <a:extLst>
              <a:ext uri="{FF2B5EF4-FFF2-40B4-BE49-F238E27FC236}">
                <a16:creationId xmlns:a16="http://schemas.microsoft.com/office/drawing/2014/main" id="{CE1AE763-203C-79E6-EB5E-657191307B27}"/>
              </a:ext>
            </a:extLst>
          </p:cNvPr>
          <p:cNvSpPr txBox="1"/>
          <p:nvPr/>
        </p:nvSpPr>
        <p:spPr>
          <a:xfrm>
            <a:off x="2417299" y="5365946"/>
            <a:ext cx="6608298" cy="253916"/>
          </a:xfrm>
          <a:prstGeom prst="rect">
            <a:avLst/>
          </a:prstGeom>
          <a:noFill/>
        </p:spPr>
        <p:txBody>
          <a:bodyPr wrap="square" rtlCol="0">
            <a:spAutoFit/>
          </a:bodyPr>
          <a:lstStyle/>
          <a:p>
            <a:r>
              <a:rPr lang="en-US" sz="1050" dirty="0"/>
              <a:t>See Code on </a:t>
            </a:r>
            <a:r>
              <a:rPr lang="en-US" sz="1050" dirty="0">
                <a:hlinkClick r:id="rId2"/>
              </a:rPr>
              <a:t>https://michael.hahsler.net/Introduction_to_Artificial_Intelligence/</a:t>
            </a:r>
            <a:r>
              <a:rPr lang="en-US" sz="1050" dirty="0"/>
              <a:t> </a:t>
            </a:r>
          </a:p>
        </p:txBody>
      </p:sp>
    </p:spTree>
    <p:extLst>
      <p:ext uri="{BB962C8B-B14F-4D97-AF65-F5344CB8AC3E}">
        <p14:creationId xmlns:p14="http://schemas.microsoft.com/office/powerpoint/2010/main" val="21529893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D558EF-35A4-DDFC-52C1-994856200BC2}"/>
              </a:ext>
            </a:extLst>
          </p:cNvPr>
          <p:cNvSpPr>
            <a:spLocks noGrp="1"/>
          </p:cNvSpPr>
          <p:nvPr>
            <p:ph type="title"/>
          </p:nvPr>
        </p:nvSpPr>
        <p:spPr>
          <a:xfrm>
            <a:off x="411480" y="991443"/>
            <a:ext cx="4443154" cy="1087819"/>
          </a:xfrm>
        </p:spPr>
        <p:txBody>
          <a:bodyPr anchor="b">
            <a:normAutofit/>
          </a:bodyPr>
          <a:lstStyle/>
          <a:p>
            <a:r>
              <a:rPr lang="en-US" sz="3400" dirty="0"/>
              <a:t>What You Should Know</a:t>
            </a:r>
          </a:p>
        </p:txBody>
      </p:sp>
      <p:sp>
        <p:nvSpPr>
          <p:cNvPr id="50" name="Rectangle 49">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2" name="Rectangle 51">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Content Placeholder 2">
            <a:extLst>
              <a:ext uri="{FF2B5EF4-FFF2-40B4-BE49-F238E27FC236}">
                <a16:creationId xmlns:a16="http://schemas.microsoft.com/office/drawing/2014/main" id="{78A33CD8-6DB6-F8AA-0C14-2EE3075AFB5C}"/>
              </a:ext>
            </a:extLst>
          </p:cNvPr>
          <p:cNvSpPr>
            <a:spLocks noGrp="1"/>
          </p:cNvSpPr>
          <p:nvPr>
            <p:ph idx="1"/>
          </p:nvPr>
        </p:nvSpPr>
        <p:spPr>
          <a:xfrm>
            <a:off x="411480" y="2408446"/>
            <a:ext cx="5455920" cy="3916154"/>
          </a:xfrm>
        </p:spPr>
        <p:txBody>
          <a:bodyPr>
            <a:normAutofit fontScale="92500" lnSpcReduction="10000"/>
          </a:bodyPr>
          <a:lstStyle/>
          <a:p>
            <a:r>
              <a:rPr lang="en-US" sz="1600" b="1" dirty="0"/>
              <a:t>Agent design</a:t>
            </a:r>
            <a:r>
              <a:rPr lang="en-US" sz="1600" dirty="0"/>
              <a:t>: Replace hard-coded functions with </a:t>
            </a:r>
            <a:r>
              <a:rPr lang="en-US" sz="1600" b="1" dirty="0"/>
              <a:t>functions learned from training data </a:t>
            </a:r>
            <a:r>
              <a:rPr lang="en-US" sz="1600" dirty="0"/>
              <a:t>to tell the agent:</a:t>
            </a:r>
          </a:p>
          <a:p>
            <a:pPr lvl="1"/>
            <a:r>
              <a:rPr lang="en-US" sz="1600" dirty="0"/>
              <a:t>How to act: Learn a policy.</a:t>
            </a:r>
          </a:p>
          <a:p>
            <a:pPr lvl="1"/>
            <a:r>
              <a:rPr lang="en-US" sz="1600" dirty="0"/>
              <a:t>How to evaluate a situation: Learn an evaluation function.</a:t>
            </a:r>
          </a:p>
          <a:p>
            <a:pPr lvl="1"/>
            <a:r>
              <a:rPr lang="en-US" sz="1600" dirty="0"/>
              <a:t>How to interpret sensors and how to use actuators.</a:t>
            </a:r>
          </a:p>
          <a:p>
            <a:pPr lvl="1"/>
            <a:r>
              <a:rPr lang="en-US" sz="1600" dirty="0"/>
              <a:t>How to store information in an efficient way (compression). </a:t>
            </a:r>
          </a:p>
          <a:p>
            <a:endParaRPr lang="en-US" sz="1600" dirty="0"/>
          </a:p>
          <a:p>
            <a:r>
              <a:rPr lang="en-US" sz="1600" b="1" dirty="0"/>
              <a:t>Performance</a:t>
            </a:r>
            <a:r>
              <a:rPr lang="en-US" sz="1600" dirty="0"/>
              <a:t>: Learned functions often outperform hard-coded functions.</a:t>
            </a:r>
          </a:p>
          <a:p>
            <a:r>
              <a:rPr lang="en-US" sz="1600" b="1" dirty="0"/>
              <a:t>Issue</a:t>
            </a:r>
            <a:r>
              <a:rPr lang="en-US" sz="1600" dirty="0"/>
              <a:t>: Predictability and robustness</a:t>
            </a:r>
          </a:p>
          <a:p>
            <a:pPr lvl="1"/>
            <a:r>
              <a:rPr lang="en-US" sz="1200" dirty="0"/>
              <a:t>Hard-coded functions react predictably.  </a:t>
            </a:r>
          </a:p>
          <a:p>
            <a:pPr lvl="1"/>
            <a:r>
              <a:rPr lang="en-US" sz="1200" dirty="0"/>
              <a:t>For learned functions, we do not always know how they will perform for rare and edge cases!</a:t>
            </a:r>
          </a:p>
          <a:p>
            <a:r>
              <a:rPr lang="en-US" sz="1600" b="1" dirty="0"/>
              <a:t>Reinforcement Learning: </a:t>
            </a:r>
            <a:r>
              <a:rPr lang="en-US" sz="1600" dirty="0"/>
              <a:t>Online learning methods where agents learn directly from interactions with the environment.</a:t>
            </a:r>
          </a:p>
        </p:txBody>
      </p:sp>
      <p:grpSp>
        <p:nvGrpSpPr>
          <p:cNvPr id="5" name="Group 4">
            <a:extLst>
              <a:ext uri="{FF2B5EF4-FFF2-40B4-BE49-F238E27FC236}">
                <a16:creationId xmlns:a16="http://schemas.microsoft.com/office/drawing/2014/main" id="{BA9EA9A9-B237-ACC4-9214-98AD4E47BDFD}"/>
              </a:ext>
              <a:ext uri="{C183D7F6-B498-43B3-948B-1728B52AA6E4}">
                <adec:decorative xmlns:adec="http://schemas.microsoft.com/office/drawing/2017/decorative" val="1"/>
              </a:ext>
            </a:extLst>
          </p:cNvPr>
          <p:cNvGrpSpPr/>
          <p:nvPr/>
        </p:nvGrpSpPr>
        <p:grpSpPr>
          <a:xfrm>
            <a:off x="6248400" y="1143000"/>
            <a:ext cx="5425440" cy="4305224"/>
            <a:chOff x="4914414" y="625683"/>
            <a:chExt cx="6746750" cy="5455380"/>
          </a:xfrm>
        </p:grpSpPr>
        <p:pic>
          <p:nvPicPr>
            <p:cNvPr id="6" name="Picture 2" descr="Presentation Learning icon PNG and SVG Vector Free Download">
              <a:extLst>
                <a:ext uri="{FF2B5EF4-FFF2-40B4-BE49-F238E27FC236}">
                  <a16:creationId xmlns:a16="http://schemas.microsoft.com/office/drawing/2014/main" id="{8C2AF023-DC46-31D0-F255-6F55C2B269E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914414" y="625683"/>
              <a:ext cx="6746750" cy="545538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F0D7467F-33D3-50F9-EA85-4E0636184535}"/>
                </a:ext>
              </a:extLst>
            </p:cNvPr>
            <p:cNvSpPr txBox="1"/>
            <p:nvPr/>
          </p:nvSpPr>
          <p:spPr>
            <a:xfrm>
              <a:off x="8497874" y="2370486"/>
              <a:ext cx="1865324" cy="819001"/>
            </a:xfrm>
            <a:prstGeom prst="rect">
              <a:avLst/>
            </a:prstGeom>
            <a:noFill/>
          </p:spPr>
          <p:txBody>
            <a:bodyPr wrap="square" rtlCol="0">
              <a:spAutoFit/>
            </a:bodyPr>
            <a:lstStyle/>
            <a:p>
              <a:pPr defTabSz="1116778">
                <a:spcAft>
                  <a:spcPts val="719"/>
                </a:spcAft>
              </a:pPr>
              <a:r>
                <a:rPr lang="en-US" sz="3600" b="1" kern="1200">
                  <a:solidFill>
                    <a:srgbClr val="FF0000"/>
                  </a:solidFill>
                  <a:latin typeface="Calibri" panose="020F0502020204030204" pitchFamily="34" charset="0"/>
                  <a:ea typeface="+mn-ea"/>
                  <a:cs typeface="+mn-cs"/>
                </a:rPr>
                <a:t>1+1=2</a:t>
              </a:r>
              <a:endParaRPr lang="en-US" sz="2800" b="1">
                <a:solidFill>
                  <a:srgbClr val="FF0000"/>
                </a:solidFill>
                <a:latin typeface="Calibri" panose="020F0502020204030204" pitchFamily="34" charset="0"/>
              </a:endParaRPr>
            </a:p>
          </p:txBody>
        </p:sp>
      </p:grpSp>
    </p:spTree>
    <p:extLst>
      <p:ext uri="{BB962C8B-B14F-4D97-AF65-F5344CB8AC3E}">
        <p14:creationId xmlns:p14="http://schemas.microsoft.com/office/powerpoint/2010/main" val="2456461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DEFAULTFONTSIZE" val="10"/>
  <p:tag name="DEFAULTWIDTH" val="592"/>
  <p:tag name="DEFAULTHEIGHT" val="422"/>
</p:tagLst>
</file>

<file path=ppt/tags/tag2.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h$&#10;\end{document}&#10;"/>
  <p:tag name="EXTERNALNAME" val="txp_fig"/>
  <p:tag name="BLEND" val="False"/>
  <p:tag name="TRANSPARENT" val="True"/>
  <p:tag name="KEEPFILES" val="False"/>
  <p:tag name="DEBUGPAUSE" val="False"/>
  <p:tag name="RESOLUTION" val="1200"/>
  <p:tag name="TIMEOUT" val="(none)"/>
  <p:tag name="BOXWIDTH" val="592"/>
  <p:tag name="BOXHEIGHT" val="422"/>
  <p:tag name="BOXFONT" val="10"/>
  <p:tag name="BOXWRAP" val="False"/>
  <p:tag name="WORKAROUNDTRANSPARENCYBUG" val="False"/>
  <p:tag name="ALLOWFONTSUBSTITUTION" val="False"/>
  <p:tag name="BITMAPFORMAT" val="pngmono"/>
  <p:tag name="ORIGWIDTH" val="11"/>
  <p:tag name="PICTUREFILESIZE" val="855"/>
</p:tagLst>
</file>

<file path=ppt/tags/tag3.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H$&#10;\end{document}&#10;"/>
  <p:tag name="EXTERNALNAME" val="txp_fig"/>
  <p:tag name="BLEND" val="False"/>
  <p:tag name="TRANSPARENT" val="True"/>
  <p:tag name="KEEPFILES" val="False"/>
  <p:tag name="DEBUGPAUSE" val="False"/>
  <p:tag name="RESOLUTION" val="1200"/>
  <p:tag name="TIMEOUT" val="(none)"/>
  <p:tag name="BOXWIDTH" val="592"/>
  <p:tag name="BOXHEIGHT" val="422"/>
  <p:tag name="BOXFONT" val="10"/>
  <p:tag name="BOXWRAP" val="False"/>
  <p:tag name="WORKAROUNDTRANSPARENCYBUG" val="False"/>
  <p:tag name="ALLOWFONTSUBSTITUTION" val="False"/>
  <p:tag name="BITMAPFORMAT" val="pngmono"/>
  <p:tag name="ORIGWIDTH" val="18"/>
  <p:tag name="PICTUREFILESIZE" val="702"/>
</p:tagLst>
</file>

<file path=ppt/tags/tag4.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H$&#10;\end{document}&#10;"/>
  <p:tag name="EXTERNALNAME" val="txp_fig"/>
  <p:tag name="BLEND" val="False"/>
  <p:tag name="TRANSPARENT" val="True"/>
  <p:tag name="KEEPFILES" val="False"/>
  <p:tag name="DEBUGPAUSE" val="False"/>
  <p:tag name="RESOLUTION" val="1200"/>
  <p:tag name="TIMEOUT" val="(none)"/>
  <p:tag name="BOXWIDTH" val="592"/>
  <p:tag name="BOXHEIGHT" val="422"/>
  <p:tag name="BOXFONT" val="10"/>
  <p:tag name="BOXWRAP" val="False"/>
  <p:tag name="WORKAROUNDTRANSPARENCYBUG" val="False"/>
  <p:tag name="ALLOWFONTSUBSTITUTION" val="False"/>
  <p:tag name="BITMAPFORMAT" val="pngmono"/>
  <p:tag name="ORIGWIDTH" val="18"/>
  <p:tag name="PICTUREFILESIZE" val="702"/>
</p:tagLst>
</file>

<file path=ppt/tags/tag5.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H$&#10;\end{document}&#10;"/>
  <p:tag name="EXTERNALNAME" val="txp_fig"/>
  <p:tag name="BLEND" val="False"/>
  <p:tag name="TRANSPARENT" val="True"/>
  <p:tag name="KEEPFILES" val="False"/>
  <p:tag name="DEBUGPAUSE" val="False"/>
  <p:tag name="RESOLUTION" val="1200"/>
  <p:tag name="TIMEOUT" val="(none)"/>
  <p:tag name="BOXWIDTH" val="592"/>
  <p:tag name="BOXHEIGHT" val="422"/>
  <p:tag name="BOXFONT" val="10"/>
  <p:tag name="BOXWRAP" val="False"/>
  <p:tag name="WORKAROUNDTRANSPARENCYBUG" val="False"/>
  <p:tag name="ALLOWFONTSUBSTITUTION" val="False"/>
  <p:tag name="BITMAPFORMAT" val="pngmono"/>
  <p:tag name="ORIGWIDTH" val="18"/>
  <p:tag name="PICTUREFILESIZE" val="702"/>
</p:tagLst>
</file>

<file path=ppt/theme/theme1.xml><?xml version="1.0" encoding="utf-8"?>
<a:theme xmlns:a="http://schemas.openxmlformats.org/drawingml/2006/main" name="Office Theme">
  <a:themeElements>
    <a:clrScheme name="Custom 3">
      <a:dk1>
        <a:sysClr val="windowText" lastClr="000000"/>
      </a:dk1>
      <a:lt1>
        <a:sysClr val="window" lastClr="FFFFFF"/>
      </a:lt1>
      <a:dk2>
        <a:srgbClr val="0E2841"/>
      </a:dk2>
      <a:lt2>
        <a:srgbClr val="E8E8E8"/>
      </a:lt2>
      <a:accent1>
        <a:srgbClr val="156082"/>
      </a:accent1>
      <a:accent2>
        <a:srgbClr val="BE4D14"/>
      </a:accent2>
      <a:accent3>
        <a:srgbClr val="196B24"/>
      </a:accent3>
      <a:accent4>
        <a:srgbClr val="0B769F"/>
      </a:accent4>
      <a:accent5>
        <a:srgbClr val="A02B93"/>
      </a:accent5>
      <a:accent6>
        <a:srgbClr val="377620"/>
      </a:accent6>
      <a:hlink>
        <a:srgbClr val="467886"/>
      </a:hlink>
      <a:folHlink>
        <a:srgbClr val="96607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3272</TotalTime>
  <Words>3190</Words>
  <Application>Microsoft Office PowerPoint</Application>
  <PresentationFormat>Widescreen</PresentationFormat>
  <Paragraphs>350</Paragraphs>
  <Slides>36</Slides>
  <Notes>3</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Calibri</vt:lpstr>
      <vt:lpstr>Calibri Light</vt:lpstr>
      <vt:lpstr>Cambria Math</vt:lpstr>
      <vt:lpstr>Wingdings</vt:lpstr>
      <vt:lpstr>Office Theme</vt:lpstr>
      <vt:lpstr>CS 5/7320  Artificial Intelligence  Machine Learning: Learning from Examples and Statistical Learning  AIMA Chapters 19-21  Slides by Michael Hahsler    Some slides are based on Dan Klein’s slides (http://ai.berkeley.edu); with figures from the AIMA textbook.</vt:lpstr>
      <vt:lpstr>Topics</vt:lpstr>
      <vt:lpstr>Agents and Machine Learning</vt:lpstr>
      <vt:lpstr>Learning from Examples</vt:lpstr>
      <vt:lpstr>Learning Components of an Agent</vt:lpstr>
      <vt:lpstr>Supervised Learning</vt:lpstr>
      <vt:lpstr>Supervised Learning As Function Approximation</vt:lpstr>
      <vt:lpstr>Consistency vs. Simplicity</vt:lpstr>
      <vt:lpstr>Measuring Consistency using Loss</vt:lpstr>
      <vt:lpstr>Learning Consistent Approximations</vt:lpstr>
      <vt:lpstr>The Most Consistent Classifier</vt:lpstr>
      <vt:lpstr>Simplicity</vt:lpstr>
      <vt:lpstr>Model Selection: Bias vs. Variance</vt:lpstr>
      <vt:lpstr>Training Data</vt:lpstr>
      <vt:lpstr>Training Data in AI</vt:lpstr>
      <vt:lpstr>The Dataset</vt:lpstr>
      <vt:lpstr>Feature Engineering</vt:lpstr>
      <vt:lpstr>Training  and  Testing</vt:lpstr>
      <vt:lpstr>Training a ML Model for AI</vt:lpstr>
      <vt:lpstr>Testing: Evaluating the Final Model</vt:lpstr>
      <vt:lpstr>Learning Curve:  The Effect the Training Data Size</vt:lpstr>
      <vt:lpstr>Comparing to a Baselines</vt:lpstr>
      <vt:lpstr>Types of  Supervised ML Models</vt:lpstr>
      <vt:lpstr>Regression: Linear Regression</vt:lpstr>
      <vt:lpstr>Code example: Line Fitting with Gradient Descent and SGD</vt:lpstr>
      <vt:lpstr>Classification</vt:lpstr>
      <vt:lpstr>Naïve Bayes Classifier</vt:lpstr>
      <vt:lpstr>Decision Tree</vt:lpstr>
      <vt:lpstr>K-Nearest Neighbors Classifier</vt:lpstr>
      <vt:lpstr>Support Vector Machine (SVM)</vt:lpstr>
      <vt:lpstr>MLP: Artificial Neural Network (ANN)</vt:lpstr>
      <vt:lpstr>Deep Learning: Foundation of Moden AI</vt:lpstr>
      <vt:lpstr>Code example: Learn to Score a Tic-Tac-Toe Board by Example</vt:lpstr>
      <vt:lpstr>Typical Use of Supervised ML for Intelligent Agents</vt:lpstr>
      <vt:lpstr>Code example: Machine Learning with Python using scikit-learn</vt:lpstr>
      <vt:lpstr>What You Should Know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5/7320 Artificial Intelligence</dc:title>
  <dc:creator>michael</dc:creator>
  <cp:lastModifiedBy>Hahsler, Michael</cp:lastModifiedBy>
  <cp:revision>104</cp:revision>
  <dcterms:created xsi:type="dcterms:W3CDTF">2020-11-16T22:49:03Z</dcterms:created>
  <dcterms:modified xsi:type="dcterms:W3CDTF">2026-10-23T16:39:35Z</dcterms:modified>
</cp:coreProperties>
</file>