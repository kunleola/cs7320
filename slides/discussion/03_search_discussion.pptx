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4"/>
  </p:notesMasterIdLst>
  <p:sldIdLst>
    <p:sldId id="257" r:id="rId2"/>
    <p:sldId id="451" r:id="rId3"/>
    <p:sldId id="434" r:id="rId4"/>
    <p:sldId id="331" r:id="rId5"/>
    <p:sldId id="436" r:id="rId6"/>
    <p:sldId id="401" r:id="rId7"/>
    <p:sldId id="274" r:id="rId8"/>
    <p:sldId id="415" r:id="rId9"/>
    <p:sldId id="454" r:id="rId10"/>
    <p:sldId id="449" r:id="rId11"/>
    <p:sldId id="450" r:id="rId12"/>
    <p:sldId id="425" r:id="rId13"/>
    <p:sldId id="456" r:id="rId14"/>
    <p:sldId id="431" r:id="rId15"/>
    <p:sldId id="432" r:id="rId16"/>
    <p:sldId id="457" r:id="rId17"/>
    <p:sldId id="455" r:id="rId18"/>
    <p:sldId id="413" r:id="rId19"/>
    <p:sldId id="407" r:id="rId20"/>
    <p:sldId id="414" r:id="rId21"/>
    <p:sldId id="301" r:id="rId22"/>
    <p:sldId id="405" r:id="rId23"/>
    <p:sldId id="435" r:id="rId24"/>
    <p:sldId id="439" r:id="rId25"/>
    <p:sldId id="453" r:id="rId26"/>
    <p:sldId id="440" r:id="rId27"/>
    <p:sldId id="447" r:id="rId28"/>
    <p:sldId id="417" r:id="rId29"/>
    <p:sldId id="404" r:id="rId30"/>
    <p:sldId id="387" r:id="rId31"/>
    <p:sldId id="448" r:id="rId32"/>
    <p:sldId id="458" r:id="rId33"/>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FFC000"/>
    <a:srgbClr val="CC00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072" autoAdjust="0"/>
  </p:normalViewPr>
  <p:slideViewPr>
    <p:cSldViewPr>
      <p:cViewPr varScale="1">
        <p:scale>
          <a:sx n="96" d="100"/>
          <a:sy n="96" d="100"/>
        </p:scale>
        <p:origin x="944" y="5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CB35F0-DD7C-44B7-A5EE-FA5F074BB79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09331C5-3173-479A-991A-130DE1C12DC1}">
      <dgm:prSet custT="1"/>
      <dgm:spPr/>
      <dgm:t>
        <a:bodyPr/>
        <a:lstStyle/>
        <a:p>
          <a:r>
            <a:rPr lang="en-US" sz="1600" dirty="0"/>
            <a:t>Given a search problem definition</a:t>
          </a:r>
        </a:p>
      </dgm:t>
    </dgm:pt>
    <dgm:pt modelId="{FB5829C9-BCE3-4442-951E-C2C9542065F6}" type="parTrans" cxnId="{8C2E26C2-0238-4D88-856A-972958EA1005}">
      <dgm:prSet/>
      <dgm:spPr/>
      <dgm:t>
        <a:bodyPr/>
        <a:lstStyle/>
        <a:p>
          <a:endParaRPr lang="en-US"/>
        </a:p>
      </dgm:t>
    </dgm:pt>
    <dgm:pt modelId="{B0DEE2C9-A5A9-485E-AD79-939446786DF5}" type="sibTrans" cxnId="{8C2E26C2-0238-4D88-856A-972958EA1005}">
      <dgm:prSet/>
      <dgm:spPr/>
      <dgm:t>
        <a:bodyPr/>
        <a:lstStyle/>
        <a:p>
          <a:endParaRPr lang="en-US"/>
        </a:p>
      </dgm:t>
    </dgm:pt>
    <dgm:pt modelId="{7830783F-9F12-4D05-BAAA-4021C7065760}">
      <dgm:prSet custT="1"/>
      <dgm:spPr/>
      <dgm:t>
        <a:bodyPr/>
        <a:lstStyle/>
        <a:p>
          <a:r>
            <a:rPr lang="en-US" sz="1600" dirty="0"/>
            <a:t>Initial state</a:t>
          </a:r>
        </a:p>
      </dgm:t>
    </dgm:pt>
    <dgm:pt modelId="{726606B3-11A0-4651-B4CC-860830C1F0EB}" type="parTrans" cxnId="{08CE92E4-9B06-41DE-83CC-15BCC88653FA}">
      <dgm:prSet/>
      <dgm:spPr/>
      <dgm:t>
        <a:bodyPr/>
        <a:lstStyle/>
        <a:p>
          <a:endParaRPr lang="en-US"/>
        </a:p>
      </dgm:t>
    </dgm:pt>
    <dgm:pt modelId="{EC91F9A7-770B-4D17-ACE1-43AD505FAC78}" type="sibTrans" cxnId="{08CE92E4-9B06-41DE-83CC-15BCC88653FA}">
      <dgm:prSet/>
      <dgm:spPr/>
      <dgm:t>
        <a:bodyPr/>
        <a:lstStyle/>
        <a:p>
          <a:endParaRPr lang="en-US"/>
        </a:p>
      </dgm:t>
    </dgm:pt>
    <dgm:pt modelId="{61D9AF60-CC36-477E-88EB-42B03A7530F7}">
      <dgm:prSet custT="1"/>
      <dgm:spPr/>
      <dgm:t>
        <a:bodyPr/>
        <a:lstStyle/>
        <a:p>
          <a:r>
            <a:rPr lang="en-US" sz="1600" dirty="0"/>
            <a:t>Actions</a:t>
          </a:r>
        </a:p>
      </dgm:t>
    </dgm:pt>
    <dgm:pt modelId="{A083548C-B958-42AF-857A-BA52DBA2DEDD}" type="parTrans" cxnId="{FF63512A-B75F-482B-BD9C-09223D0B54CB}">
      <dgm:prSet/>
      <dgm:spPr/>
      <dgm:t>
        <a:bodyPr/>
        <a:lstStyle/>
        <a:p>
          <a:endParaRPr lang="en-US"/>
        </a:p>
      </dgm:t>
    </dgm:pt>
    <dgm:pt modelId="{427F5599-2440-4B96-AC6B-B68DF4D99358}" type="sibTrans" cxnId="{FF63512A-B75F-482B-BD9C-09223D0B54CB}">
      <dgm:prSet/>
      <dgm:spPr/>
      <dgm:t>
        <a:bodyPr/>
        <a:lstStyle/>
        <a:p>
          <a:endParaRPr lang="en-US"/>
        </a:p>
      </dgm:t>
    </dgm:pt>
    <dgm:pt modelId="{A6D83732-67A5-4F7E-9591-F91564075C9F}">
      <dgm:prSet custT="1"/>
      <dgm:spPr/>
      <dgm:t>
        <a:bodyPr/>
        <a:lstStyle/>
        <a:p>
          <a:r>
            <a:rPr lang="en-US" sz="1600" dirty="0"/>
            <a:t>Transition model</a:t>
          </a:r>
        </a:p>
      </dgm:t>
    </dgm:pt>
    <dgm:pt modelId="{F82C7628-CA4F-4405-8BC8-64EAD12D5907}" type="parTrans" cxnId="{AFEA61F9-CDEC-4207-9D8E-9A2BB126CE48}">
      <dgm:prSet/>
      <dgm:spPr/>
      <dgm:t>
        <a:bodyPr/>
        <a:lstStyle/>
        <a:p>
          <a:endParaRPr lang="en-US"/>
        </a:p>
      </dgm:t>
    </dgm:pt>
    <dgm:pt modelId="{75C393A3-9ADF-4939-A2E3-A1407EC30A5E}" type="sibTrans" cxnId="{AFEA61F9-CDEC-4207-9D8E-9A2BB126CE48}">
      <dgm:prSet/>
      <dgm:spPr/>
      <dgm:t>
        <a:bodyPr/>
        <a:lstStyle/>
        <a:p>
          <a:endParaRPr lang="en-US"/>
        </a:p>
      </dgm:t>
    </dgm:pt>
    <dgm:pt modelId="{F0335D94-D374-41AD-8817-3F88B24B6920}">
      <dgm:prSet custT="1"/>
      <dgm:spPr/>
      <dgm:t>
        <a:bodyPr/>
        <a:lstStyle/>
        <a:p>
          <a:r>
            <a:rPr lang="en-US" sz="1600" dirty="0"/>
            <a:t>Goal state</a:t>
          </a:r>
        </a:p>
      </dgm:t>
    </dgm:pt>
    <dgm:pt modelId="{C5C3229C-26EA-4C2B-ADF5-8CE31BFD2B56}" type="parTrans" cxnId="{7C040ABF-F808-4E1A-BCE9-29A065211413}">
      <dgm:prSet/>
      <dgm:spPr/>
      <dgm:t>
        <a:bodyPr/>
        <a:lstStyle/>
        <a:p>
          <a:endParaRPr lang="en-US"/>
        </a:p>
      </dgm:t>
    </dgm:pt>
    <dgm:pt modelId="{DC5FFA83-1564-44FE-A05D-DEC072FB324A}" type="sibTrans" cxnId="{7C040ABF-F808-4E1A-BCE9-29A065211413}">
      <dgm:prSet/>
      <dgm:spPr/>
      <dgm:t>
        <a:bodyPr/>
        <a:lstStyle/>
        <a:p>
          <a:endParaRPr lang="en-US"/>
        </a:p>
      </dgm:t>
    </dgm:pt>
    <dgm:pt modelId="{27D33799-3B04-4365-B080-7CE7041B6744}">
      <dgm:prSet custT="1"/>
      <dgm:spPr/>
      <dgm:t>
        <a:bodyPr/>
        <a:lstStyle/>
        <a:p>
          <a:r>
            <a:rPr lang="en-US" sz="1600" dirty="0"/>
            <a:t>Path cost</a:t>
          </a:r>
        </a:p>
      </dgm:t>
    </dgm:pt>
    <dgm:pt modelId="{9B34E884-74EA-42FF-BD61-5E46FC81D493}" type="parTrans" cxnId="{201E55EB-D9CE-49F4-AD53-991BAF673B02}">
      <dgm:prSet/>
      <dgm:spPr/>
      <dgm:t>
        <a:bodyPr/>
        <a:lstStyle/>
        <a:p>
          <a:endParaRPr lang="en-US"/>
        </a:p>
      </dgm:t>
    </dgm:pt>
    <dgm:pt modelId="{682E82E2-7787-4B51-9E0C-BE9912162640}" type="sibTrans" cxnId="{201E55EB-D9CE-49F4-AD53-991BAF673B02}">
      <dgm:prSet/>
      <dgm:spPr/>
      <dgm:t>
        <a:bodyPr/>
        <a:lstStyle/>
        <a:p>
          <a:endParaRPr lang="en-US"/>
        </a:p>
      </dgm:t>
    </dgm:pt>
    <dgm:pt modelId="{A474BE47-4AC3-4F4F-A58E-4DCA74DCFC50}" type="pres">
      <dgm:prSet presAssocID="{C4CB35F0-DD7C-44B7-A5EE-FA5F074BB79A}" presName="Name0" presStyleCnt="0">
        <dgm:presLayoutVars>
          <dgm:dir/>
          <dgm:animLvl val="lvl"/>
          <dgm:resizeHandles val="exact"/>
        </dgm:presLayoutVars>
      </dgm:prSet>
      <dgm:spPr/>
    </dgm:pt>
    <dgm:pt modelId="{4F716255-B208-4099-8B7B-F8286980C794}" type="pres">
      <dgm:prSet presAssocID="{B09331C5-3173-479A-991A-130DE1C12DC1}" presName="composite" presStyleCnt="0"/>
      <dgm:spPr/>
    </dgm:pt>
    <dgm:pt modelId="{7AB49BB4-A94C-41D3-94D4-8DEFEB2DB72C}" type="pres">
      <dgm:prSet presAssocID="{B09331C5-3173-479A-991A-130DE1C12DC1}" presName="parTx" presStyleLbl="alignNode1" presStyleIdx="0" presStyleCnt="1">
        <dgm:presLayoutVars>
          <dgm:chMax val="0"/>
          <dgm:chPref val="0"/>
          <dgm:bulletEnabled val="1"/>
        </dgm:presLayoutVars>
      </dgm:prSet>
      <dgm:spPr/>
    </dgm:pt>
    <dgm:pt modelId="{75826E61-882F-4E42-B2DE-53BD198C8B82}" type="pres">
      <dgm:prSet presAssocID="{B09331C5-3173-479A-991A-130DE1C12DC1}" presName="desTx" presStyleLbl="alignAccFollowNode1" presStyleIdx="0" presStyleCnt="1">
        <dgm:presLayoutVars>
          <dgm:bulletEnabled val="1"/>
        </dgm:presLayoutVars>
      </dgm:prSet>
      <dgm:spPr/>
    </dgm:pt>
  </dgm:ptLst>
  <dgm:cxnLst>
    <dgm:cxn modelId="{0B13DE07-506D-430A-8094-3CED932A67DF}" type="presOf" srcId="{A6D83732-67A5-4F7E-9591-F91564075C9F}" destId="{75826E61-882F-4E42-B2DE-53BD198C8B82}" srcOrd="0" destOrd="2" presId="urn:microsoft.com/office/officeart/2005/8/layout/hList1"/>
    <dgm:cxn modelId="{9DF7D512-55FA-41AD-8A0A-4993F081FA96}" type="presOf" srcId="{C4CB35F0-DD7C-44B7-A5EE-FA5F074BB79A}" destId="{A474BE47-4AC3-4F4F-A58E-4DCA74DCFC50}" srcOrd="0" destOrd="0" presId="urn:microsoft.com/office/officeart/2005/8/layout/hList1"/>
    <dgm:cxn modelId="{FF63512A-B75F-482B-BD9C-09223D0B54CB}" srcId="{B09331C5-3173-479A-991A-130DE1C12DC1}" destId="{61D9AF60-CC36-477E-88EB-42B03A7530F7}" srcOrd="1" destOrd="0" parTransId="{A083548C-B958-42AF-857A-BA52DBA2DEDD}" sibTransId="{427F5599-2440-4B96-AC6B-B68DF4D99358}"/>
    <dgm:cxn modelId="{F12F0041-9083-4B2F-9479-8A446A63C24E}" type="presOf" srcId="{61D9AF60-CC36-477E-88EB-42B03A7530F7}" destId="{75826E61-882F-4E42-B2DE-53BD198C8B82}" srcOrd="0" destOrd="1" presId="urn:microsoft.com/office/officeart/2005/8/layout/hList1"/>
    <dgm:cxn modelId="{F7199764-38BE-4EE6-979C-5C83910F2A20}" type="presOf" srcId="{B09331C5-3173-479A-991A-130DE1C12DC1}" destId="{7AB49BB4-A94C-41D3-94D4-8DEFEB2DB72C}" srcOrd="0" destOrd="0" presId="urn:microsoft.com/office/officeart/2005/8/layout/hList1"/>
    <dgm:cxn modelId="{1AAA8F4C-BF24-4E52-9000-8B5339ABF60B}" type="presOf" srcId="{27D33799-3B04-4365-B080-7CE7041B6744}" destId="{75826E61-882F-4E42-B2DE-53BD198C8B82}" srcOrd="0" destOrd="4" presId="urn:microsoft.com/office/officeart/2005/8/layout/hList1"/>
    <dgm:cxn modelId="{3B809D72-991F-4357-B1CB-1A73E0D4BC93}" type="presOf" srcId="{7830783F-9F12-4D05-BAAA-4021C7065760}" destId="{75826E61-882F-4E42-B2DE-53BD198C8B82}" srcOrd="0" destOrd="0" presId="urn:microsoft.com/office/officeart/2005/8/layout/hList1"/>
    <dgm:cxn modelId="{64E6F553-7D23-488F-9FAC-DC596BD9BB59}" type="presOf" srcId="{F0335D94-D374-41AD-8817-3F88B24B6920}" destId="{75826E61-882F-4E42-B2DE-53BD198C8B82}" srcOrd="0" destOrd="3" presId="urn:microsoft.com/office/officeart/2005/8/layout/hList1"/>
    <dgm:cxn modelId="{7C040ABF-F808-4E1A-BCE9-29A065211413}" srcId="{B09331C5-3173-479A-991A-130DE1C12DC1}" destId="{F0335D94-D374-41AD-8817-3F88B24B6920}" srcOrd="3" destOrd="0" parTransId="{C5C3229C-26EA-4C2B-ADF5-8CE31BFD2B56}" sibTransId="{DC5FFA83-1564-44FE-A05D-DEC072FB324A}"/>
    <dgm:cxn modelId="{8C2E26C2-0238-4D88-856A-972958EA1005}" srcId="{C4CB35F0-DD7C-44B7-A5EE-FA5F074BB79A}" destId="{B09331C5-3173-479A-991A-130DE1C12DC1}" srcOrd="0" destOrd="0" parTransId="{FB5829C9-BCE3-4442-951E-C2C9542065F6}" sibTransId="{B0DEE2C9-A5A9-485E-AD79-939446786DF5}"/>
    <dgm:cxn modelId="{08CE92E4-9B06-41DE-83CC-15BCC88653FA}" srcId="{B09331C5-3173-479A-991A-130DE1C12DC1}" destId="{7830783F-9F12-4D05-BAAA-4021C7065760}" srcOrd="0" destOrd="0" parTransId="{726606B3-11A0-4651-B4CC-860830C1F0EB}" sibTransId="{EC91F9A7-770B-4D17-ACE1-43AD505FAC78}"/>
    <dgm:cxn modelId="{201E55EB-D9CE-49F4-AD53-991BAF673B02}" srcId="{B09331C5-3173-479A-991A-130DE1C12DC1}" destId="{27D33799-3B04-4365-B080-7CE7041B6744}" srcOrd="4" destOrd="0" parTransId="{9B34E884-74EA-42FF-BD61-5E46FC81D493}" sibTransId="{682E82E2-7787-4B51-9E0C-BE9912162640}"/>
    <dgm:cxn modelId="{AFEA61F9-CDEC-4207-9D8E-9A2BB126CE48}" srcId="{B09331C5-3173-479A-991A-130DE1C12DC1}" destId="{A6D83732-67A5-4F7E-9591-F91564075C9F}" srcOrd="2" destOrd="0" parTransId="{F82C7628-CA4F-4405-8BC8-64EAD12D5907}" sibTransId="{75C393A3-9ADF-4939-A2E3-A1407EC30A5E}"/>
    <dgm:cxn modelId="{BCFC57D9-065A-419B-A19A-801121FE42A3}" type="presParOf" srcId="{A474BE47-4AC3-4F4F-A58E-4DCA74DCFC50}" destId="{4F716255-B208-4099-8B7B-F8286980C794}" srcOrd="0" destOrd="0" presId="urn:microsoft.com/office/officeart/2005/8/layout/hList1"/>
    <dgm:cxn modelId="{A6DD11C1-FCC1-4ECB-B5C5-17028639224F}" type="presParOf" srcId="{4F716255-B208-4099-8B7B-F8286980C794}" destId="{7AB49BB4-A94C-41D3-94D4-8DEFEB2DB72C}" srcOrd="0" destOrd="0" presId="urn:microsoft.com/office/officeart/2005/8/layout/hList1"/>
    <dgm:cxn modelId="{77FE4B48-19A1-4837-AA93-74A7B27413DD}" type="presParOf" srcId="{4F716255-B208-4099-8B7B-F8286980C794}" destId="{75826E61-882F-4E42-B2DE-53BD198C8B8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B49BB4-A94C-41D3-94D4-8DEFEB2DB72C}">
      <dsp:nvSpPr>
        <dsp:cNvPr id="0" name=""/>
        <dsp:cNvSpPr/>
      </dsp:nvSpPr>
      <dsp:spPr>
        <a:xfrm>
          <a:off x="0" y="3336"/>
          <a:ext cx="2167520" cy="86700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Given a search problem definition</a:t>
          </a:r>
        </a:p>
      </dsp:txBody>
      <dsp:txXfrm>
        <a:off x="0" y="3336"/>
        <a:ext cx="2167520" cy="867008"/>
      </dsp:txXfrm>
    </dsp:sp>
    <dsp:sp modelId="{75826E61-882F-4E42-B2DE-53BD198C8B82}">
      <dsp:nvSpPr>
        <dsp:cNvPr id="0" name=""/>
        <dsp:cNvSpPr/>
      </dsp:nvSpPr>
      <dsp:spPr>
        <a:xfrm>
          <a:off x="0" y="870344"/>
          <a:ext cx="2167520" cy="14932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t>Initial state</a:t>
          </a:r>
        </a:p>
        <a:p>
          <a:pPr marL="171450" lvl="1" indent="-171450" algn="l" defTabSz="711200">
            <a:lnSpc>
              <a:spcPct val="90000"/>
            </a:lnSpc>
            <a:spcBef>
              <a:spcPct val="0"/>
            </a:spcBef>
            <a:spcAft>
              <a:spcPct val="15000"/>
            </a:spcAft>
            <a:buChar char="•"/>
          </a:pPr>
          <a:r>
            <a:rPr lang="en-US" sz="1600" kern="1200" dirty="0"/>
            <a:t>Actions</a:t>
          </a:r>
        </a:p>
        <a:p>
          <a:pPr marL="171450" lvl="1" indent="-171450" algn="l" defTabSz="711200">
            <a:lnSpc>
              <a:spcPct val="90000"/>
            </a:lnSpc>
            <a:spcBef>
              <a:spcPct val="0"/>
            </a:spcBef>
            <a:spcAft>
              <a:spcPct val="15000"/>
            </a:spcAft>
            <a:buChar char="•"/>
          </a:pPr>
          <a:r>
            <a:rPr lang="en-US" sz="1600" kern="1200" dirty="0"/>
            <a:t>Transition model</a:t>
          </a:r>
        </a:p>
        <a:p>
          <a:pPr marL="171450" lvl="1" indent="-171450" algn="l" defTabSz="711200">
            <a:lnSpc>
              <a:spcPct val="90000"/>
            </a:lnSpc>
            <a:spcBef>
              <a:spcPct val="0"/>
            </a:spcBef>
            <a:spcAft>
              <a:spcPct val="15000"/>
            </a:spcAft>
            <a:buChar char="•"/>
          </a:pPr>
          <a:r>
            <a:rPr lang="en-US" sz="1600" kern="1200" dirty="0"/>
            <a:t>Goal state</a:t>
          </a:r>
        </a:p>
        <a:p>
          <a:pPr marL="171450" lvl="1" indent="-171450" algn="l" defTabSz="711200">
            <a:lnSpc>
              <a:spcPct val="90000"/>
            </a:lnSpc>
            <a:spcBef>
              <a:spcPct val="0"/>
            </a:spcBef>
            <a:spcAft>
              <a:spcPct val="15000"/>
            </a:spcAft>
            <a:buChar char="•"/>
          </a:pPr>
          <a:r>
            <a:rPr lang="en-US" sz="1600" kern="1200" dirty="0"/>
            <a:t>Path cost</a:t>
          </a:r>
        </a:p>
      </dsp:txBody>
      <dsp:txXfrm>
        <a:off x="0" y="870344"/>
        <a:ext cx="2167520" cy="149327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21.432"/>
    </inkml:context>
    <inkml:brush xml:id="br0">
      <inkml:brushProperty name="width" value="0.1" units="cm"/>
      <inkml:brushProperty name="height" value="0.1" units="cm"/>
      <inkml:brushProperty name="color" value="#E71224"/>
    </inkml:brush>
  </inkml:definitions>
  <inkml:trace contextRef="#ctx0" brushRef="#br0">105 76 2136,'-6'3'396,"0"0"-1,0 0 0,0 0 0,1 1 0,-1 0 0,1 0 0,0 0 0,0 1 0,0-1 1,1 1-1,0 1 0,0-1 0,0 0 0,1 1 0,-1 0 0,1 0 0,1 0 0,-1 0 1,-2 11-1,1-1 110,1 0 0,0 0 1,1-1-1,1 1 1,1 0-1,0 0 0,3 18 1,-2-25-393,1-1 0,0 1 1,0-1-1,1 0 0,0 0 0,1 0 1,-1-1-1,2 1 0,-1-1 1,1 0-1,0 0 0,0 0 1,1-1-1,0 0 0,0 0 0,0 0 1,1-1-1,7 5 0,-8-6-41,-1-1-1,1 0 0,0 0 0,0-1 1,0 1-1,1-1 0,-1-1 0,1 1 0,-1-1 1,1 0-1,-1 0 0,1-1 0,-1 0 1,1 0-1,-1-1 0,1 0 0,-1 0 0,1 0 1,-1-1-1,1 0 0,-1 0 0,0-1 1,10-5-1,-5 1 75,0-1 0,-1 0 0,0-1 0,0 0 0,-1-1 0,0 0 0,-1 0 0,0-1 0,10-19 0,-8 13 73,-1-2 0,-1 1 0,-1-1 0,0 0 0,6-33 0,-12 43-85,1-1 0,-2 0-1,1 1 1,-1-1 0,-1 0 0,1 0 0,-2 1 0,-2-12 0,3 15-79,-1 1 0,0-1-1,-1 1 1,1-1 0,-1 1 0,0 0 0,0 0-1,-1 0 1,1 0 0,-1 1 0,0-1-1,-1 1 1,1 0 0,-8-5 0,3 3-69,-1 1 1,0 1-1,0 0 0,0 0 1,0 0-1,-1 2 0,0-1 1,1 1-1,-1 1 0,-20-1 1,5 2-532,-1 1 1,1 2-1,-35 7 0,-20 11-467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06.440"/>
    </inkml:context>
    <inkml:brush xml:id="br0">
      <inkml:brushProperty name="width" value="0.1" units="cm"/>
      <inkml:brushProperty name="height" value="0.1" units="cm"/>
      <inkml:brushProperty name="color" value="#E71224"/>
    </inkml:brush>
  </inkml:definitions>
  <inkml:trace contextRef="#ctx0" brushRef="#br0">94 8 2425,'-1'0'277,"1"-1"1,-1 0 0,0 1 0,0-1 0,0 0 0,0 1 0,0-1 0,0 1 0,0-1-1,0 1 1,0 0 0,0-1 0,0 1 0,0 0 0,0 0 0,0 0 0,0 0 0,0 0-1,0 0 1,0 0 0,0 0 0,0 0 0,0 0 0,0 0 0,0 1 0,0-1 0,-2 1-1,-5 14 4697,5 0-4983,-16 224 4302,10 122-2638,6-184-847,-2 395 556,4-254-846,-9-43 83,4 155 90,8-384-651,1 20 69,16 102-1,-18-166-104,7 26 31,-8-27-33,0 0 1,0 0 0,1 0-1,-1-1 1,0 1 0,1 0 0,-1 0-1,1-1 1,-1 1 0,1 0 0,-1-1-1,1 1 1,0 0 0,-1-1 0,1 1-1,0-1 1,-1 1 0,1-1 0,0 1-1,0-1 1,0 0 0,-1 1-1,1-1 1,0 0 0,0 1 0,0-1-1,1 0 1,-1-1 0,0 1-1,0-1 0,0 1 1,0-1-1,0 0 1,0 0-1,-1 0 1,1 1-1,0-1 0,-1 0 1,1 0-1,0 0 1,-1 0-1,1 0 1,-1 0-1,0 0 0,1 0 1,-1 0-1,0 0 1,1 0-1,-1-1 1,0 1-1,0-1 0,4-35-300,-4 28 109,4-33-571,0-11 226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07.267"/>
    </inkml:context>
    <inkml:brush xml:id="br0">
      <inkml:brushProperty name="width" value="0.1" units="cm"/>
      <inkml:brushProperty name="height" value="0.1" units="cm"/>
      <inkml:brushProperty name="color" value="#E71224"/>
    </inkml:brush>
  </inkml:definitions>
  <inkml:trace contextRef="#ctx0" brushRef="#br0">87 5 3425,'-1'-1'266,"-1"0"-1,1 1 1,-1-1 0,1 1 0,-1 0-1,0-1 1,1 1 0,-1 0 0,1 0 0,-1 0-1,0 0 1,1 0 0,-1 0 0,1 0 0,-1 1-1,0-1 1,1 1 0,-1-1 0,1 1 0,-1 0-1,1-1 1,0 1 0,-1 0 0,1 0-1,0 0 1,-1 0 0,1 0 0,0 0 0,0 0-1,0 0 1,0 1 0,0-1 0,0 0 0,0 1-1,0-1 1,1 1 0,-2 2 0,-1 5 280,1 1 1,0 0 0,0 0 0,1-1-1,0 13 1,0-15-415,-3 327 4270,4-84-3076,-5-92-782,-8 556 1132,46 1-643,45-222-293,-76-489-1079,-2-5-121,0-14-634,-1-13-214,6-30 80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08.316"/>
    </inkml:context>
    <inkml:brush xml:id="br0">
      <inkml:brushProperty name="width" value="0.1" units="cm"/>
      <inkml:brushProperty name="height" value="0.1" units="cm"/>
      <inkml:brushProperty name="color" value="#E71224"/>
    </inkml:brush>
  </inkml:definitions>
  <inkml:trace contextRef="#ctx0" brushRef="#br0">13 531 5401,'-4'-15'678,"2"11"457,0-1 1,1 1-1,0-1 1,0 1-1,0-6 1,1 9-966,0 0 1,0 0-1,0 0 1,0 0-1,0 1 1,0-1-1,0 0 1,0 0-1,1 0 1,-1 0-1,0 1 1,1-1-1,-1 0 1,1 0-1,-1 1 1,1-1-1,-1 0 1,1 1-1,-1-1 1,1 0 0,0 1-1,-1-1 1,1 1-1,0-1 1,-1 1-1,1-1 1,0 1-1,0 0 1,0-1-1,-1 1 1,1 0-1,2-1 1,21-3 713,0 1 0,27-1 0,8 0-372,452-96 1529,-62 8-1290,376 26-259,-443 44-390,378-65 93,-330 31 343,-401 53-466,134-13 313,-127 14-161,0 2-1,53 7 1,-70-4 26,-18-3-61,-4 0-7,-34-5-286,-83-2-3270,35 6 1850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09.018"/>
    </inkml:context>
    <inkml:brush xml:id="br0">
      <inkml:brushProperty name="width" value="0.1" units="cm"/>
      <inkml:brushProperty name="height" value="0.1" units="cm"/>
      <inkml:brushProperty name="color" value="#E71224"/>
    </inkml:brush>
  </inkml:definitions>
  <inkml:trace contextRef="#ctx0" brushRef="#br0">8 867 8010,'-1'-1'162,"0"1"1,1-1-1,-1 0 1,0 0-1,1 0 1,-1 1-1,1-1 1,-1 0-1,1 0 1,0 0-1,-1 0 1,1 0-1,0 0 1,0 0-1,-1 0 1,1 0-1,0 0 1,0 0-1,0 0 1,0 0-1,0 0 1,1 0-1,-1 0 1,0-1-1,1 0 39,0 0 0,0 1 0,0-1 0,0 1 0,1-1 0,-1 1 0,0 0 0,1 0 0,-1-1 0,1 1 0,-1 0 0,3-1 0,7-3 390,0 0 0,0 0 1,17-3-1,-24 6-476,97-26 1344,183-61 779,-69 15-1143,2 10 1,273-45 0,459-24-520,-691 101-420,274-43 161,-12-44 343,-508 115-638,12-3 62,0-1 0,34-16 0,-53 21-54,-4 3-18,1-1 0,-1 0 0,1 1-1,-1-1 1,1 0 0,-1 0 0,1 0 0,-1 0 0,0 0 0,0 0-1,1 0 1,-1 0 0,0 0 0,0-1 0,0 1 0,0 0-1,0-1 1,-1 1 0,2-3 0,-2 4-15,0 0 0,0-1 1,0 1-1,0 0 0,0 0 0,0 0 0,0-1 1,0 1-1,0 0 0,0 0 0,-1-1 0,1 1 0,0 0 1,0 0-1,0 0 0,0-1 0,0 1 0,0 0 1,-1 0-1,1 0 0,0 0 0,0-1 0,0 1 1,-1 0-1,1 0 0,0 0 0,0 0 0,0 0 1,-1 0-1,1 0 0,0-1 0,0 1 0,-1 0 0,1 0 1,0 0-1,0 0 0,-1 0 0,-8 0-463,0 0-1,0 0 1,0 0-1,0 1 1,-14 4-1,-43 8-885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16.564"/>
    </inkml:context>
    <inkml:brush xml:id="br0">
      <inkml:brushProperty name="width" value="0.1" units="cm"/>
      <inkml:brushProperty name="height" value="0.1" units="cm"/>
      <inkml:brushProperty name="color" value="#E71224"/>
    </inkml:brush>
  </inkml:definitions>
  <inkml:trace contextRef="#ctx0" brushRef="#br0">48 8 4745,'-7'-2'578,"-34"-4"7068,58 25-3653,48 67-725,-44-56-2793,1-2 0,1 0 0,1-2 0,33 30 0,-21-30-9,39 21 0,-50-33-261,-1 1-1,0 1 0,-1 1 0,40 39 1,-55-50-870,-18-21-3737</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16.786"/>
    </inkml:context>
    <inkml:brush xml:id="br0">
      <inkml:brushProperty name="width" value="0.1" units="cm"/>
      <inkml:brushProperty name="height" value="0.1" units="cm"/>
      <inkml:brushProperty name="color" value="#E71224"/>
    </inkml:brush>
  </inkml:definitions>
  <inkml:trace contextRef="#ctx0" brushRef="#br0">1 528 13139,'17'-27'2016,"7"0"529,9-2-849,0-5-15,6-3-633,3-3-256,3-7-352,5-3-152,8-3-176,-4 0-24,-1 3-608,2 4-912,-13 12 816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18.077"/>
    </inkml:context>
    <inkml:brush xml:id="br0">
      <inkml:brushProperty name="width" value="0.1" units="cm"/>
      <inkml:brushProperty name="height" value="0.1" units="cm"/>
      <inkml:brushProperty name="color" value="#E71224"/>
    </inkml:brush>
  </inkml:definitions>
  <inkml:trace contextRef="#ctx0" brushRef="#br0">0 1 1448,'5'18'14563,"4"-9"-13841,0 1-250,-1 1 1,-1 0-1,0 0 0,0 0 1,-1 1-1,-1 0 0,0 0 1,4 18-1,-2-11-349,0-1 0,17 32 0,-8-22-41,2-2 0,0 0 1,2-2-1,1 0 1,42 38-1,-53-57-2766,-14-8 1597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18.314"/>
    </inkml:context>
    <inkml:brush xml:id="br0">
      <inkml:brushProperty name="width" value="0.1" units="cm"/>
      <inkml:brushProperty name="height" value="0.1" units="cm"/>
      <inkml:brushProperty name="color" value="#E71224"/>
    </inkml:brush>
  </inkml:definitions>
  <inkml:trace contextRef="#ctx0" brushRef="#br0">0 446 9874,'42'-29'1544,"-8"-5"1833,-2 0-1416,-3-3 39,2-3-664,-6-2-720,6-1-127,-5-1-257,-1 2-112,-2 4-512,-1 4-737,2 5 649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36.381"/>
    </inkml:context>
    <inkml:brush xml:id="br0">
      <inkml:brushProperty name="width" value="0.1" units="cm"/>
      <inkml:brushProperty name="height" value="0.1" units="cm"/>
      <inkml:brushProperty name="color" value="#E71224"/>
    </inkml:brush>
  </inkml:definitions>
  <inkml:trace contextRef="#ctx0" brushRef="#br0">277 34 1712,'-6'-2'425,"0"1"-1,0 0 0,0 0 0,0 1 0,0-1 1,0 1-1,-1 1 0,1-1 0,0 1 0,0 0 1,0 0-1,0 1 0,1 0 0,-1 0 0,0 0 1,1 1-1,-1-1 0,1 1 0,0 1 0,0-1 1,0 1-1,0 0 0,1 0 0,0 0 0,-1 1 1,1-1-1,-5 9 0,0 1-128,1-1-1,0 1 1,1 1-1,1-1 1,0 1 0,1 0-1,1 0 1,0 1 0,-3 23-1,4-8 158,1 1-1,1-1 1,4 33 0,-2-54-329,0 0 0,1 0 0,0 0 1,0 0-1,1-1 0,1 1 0,-1-1 1,2 1-1,-1-1 0,1 0 0,1-1 1,-1 1-1,10 9 0,-9-12-56,0-1 0,0-1 0,1 1 0,-1-1-1,1 0 1,0-1 0,0 1 0,1-1 0,-1-1-1,1 1 1,-1-1 0,1-1 0,-1 0 0,1 0 0,0 0-1,0-1 1,0 0 0,0 0 0,-1-1 0,1 0-1,9-3 1,5-1 20,0-1 1,-1-2-1,0 0 0,-1-1 1,0-1-1,24-16 0,-18 9 15,-2 0-1,0-2 1,-1-1 0,37-40-1,-52 52-19,-1-1 0,0 0 0,0-1 0,-1 0 0,0 0 0,-1 0 0,0 0 0,-1-1 0,0 0 0,0 0 0,-1 0 0,-1 0 0,0-1 0,0 1 0,-1-20-1,-2 24-16,0 1 0,0-1 0,0 0 0,-1 1 0,0-1 0,-1 1 0,1 0 0,-1 0 0,0 0 0,-1 0 0,-4-6 0,1 3-10,-1 1 0,0 0-1,0 0 1,0 1 0,-1 0 0,-12-8-1,2 4-30,0 2 0,0-1 0,-1 2 0,0 1 0,-1 0 0,-31-5 0,34 9-37,1 1 1,0 1 0,0 0 0,-1 1-1,1 1 1,-1 1 0,1 1-1,0 0 1,-32 10 0,38-8-111,0-1 0,0 1 0,1 1 0,-1 0 0,1 0 0,1 1-1,-1 0 1,1 1 0,0 0 0,1 0 0,0 1 0,1 0 0,-1 1 0,2 0 0,-10 15 0,9-8-548,0 0 0,1 0 1,-3 18-1,-12 62-1096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39.504"/>
    </inkml:context>
    <inkml:brush xml:id="br0">
      <inkml:brushProperty name="width" value="0.1" units="cm"/>
      <inkml:brushProperty name="height" value="0.1" units="cm"/>
      <inkml:brushProperty name="color" value="#E71224"/>
    </inkml:brush>
  </inkml:definitions>
  <inkml:trace contextRef="#ctx0" brushRef="#br0">206 54 2369,'-4'-4'341,"1"1"0,-1 0 0,1-1 0,0 1 0,0-1 0,0 0 1,0 0-1,1 0 0,0 0 0,-8-12 3907,9 16-4147,-4 6 2014,-1 13-311,0 20-697,1 1-1,3 0 1,1 48-1,1 3-336,-65 842 4055,52-824-4466,-46 568 1137,58-568-1313,0 121-773,0-258-692,3-24 356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0.148"/>
    </inkml:context>
    <inkml:brush xml:id="br0">
      <inkml:brushProperty name="width" value="0.1" units="cm"/>
      <inkml:brushProperty name="height" value="0.1" units="cm"/>
      <inkml:brushProperty name="color" value="#E71224"/>
    </inkml:brush>
  </inkml:definitions>
  <inkml:trace contextRef="#ctx0" brushRef="#br0">254 24 2473,'0'0'58,"0"-1"0,1 0 0,-1 1 0,1-1 0,-1 0 0,0 0 1,0 1-1,1-1 0,-1 0 0,0 0 0,0 1 0,0-1 0,0 0 1,0 0-1,0 0 0,0 1 0,0-1 0,0 0 0,0 0 1,0 0-1,-1 1 0,1-1 0,0-1 0,-1 2 116,0-1-1,1 1 1,-1 0-1,1-1 1,-1 1-1,0-1 1,1 1-1,-1 0 1,0 0-1,1-1 1,-1 1-1,0 0 1,1 0 0,-1 0-1,0 0 1,0 0-1,1 0 1,-1 0-1,0 0 1,0 0-1,-2 0 333,0 1 0,0-1-1,0 1 1,0 0-1,0 0 1,1 0 0,-1 0-1,0 0 1,1 1 0,-1-1-1,1 1 1,-4 2 0,2 1-79,0 0 0,0 0 0,0 1 0,1 0 0,0-1 0,0 1 0,0 0 0,1 1 0,-3 11 0,-1 7 337,-2 30 0,6-41-506,-21 280 2299,15-158-1823,-37 428 1385,-17 266-429,62-824-1685,-12 295 383,21-3-414,-8-294-1203,0-14 654,0 3 261,3-43-572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0.965"/>
    </inkml:context>
    <inkml:brush xml:id="br0">
      <inkml:brushProperty name="width" value="0.1" units="cm"/>
      <inkml:brushProperty name="height" value="0.1" units="cm"/>
      <inkml:brushProperty name="color" value="#E71224"/>
    </inkml:brush>
  </inkml:definitions>
  <inkml:trace contextRef="#ctx0" brushRef="#br0">33 121 3017,'-32'-18'9124,"39"16"-6767,11 0-617,134-11 2817,75-20-2021,96-8-1026,88 29-391,3 27-646,-184-6-354,-136-5-73,1003 55 1029,-782-10-620,-276-41-369,-37-8-112,1 1 0,-1-1-1,1 1 1,-1-1 0,1 0-1,-1 0 1,0 0 0,1-1 0,3 0-1,-6 1 2,1 0 0,-1 0 0,0 0-1,0 0 1,1-1 0,-1 1-1,0 0 1,0 0 0,1 0 0,-1 0-1,0-1 1,0 1 0,0 0-1,0 0 1,1-1 0,-1 1 0,0 0-1,0 0 1,0-1 0,0 1-1,0 0 1,0 0 0,0-1 0,1 1-1,-1 0 1,0-1 0,0 1-1,0-1 1,-7-13-1053,-10-3 359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1.574"/>
    </inkml:context>
    <inkml:brush xml:id="br0">
      <inkml:brushProperty name="width" value="0.1" units="cm"/>
      <inkml:brushProperty name="height" value="0.1" units="cm"/>
      <inkml:brushProperty name="color" value="#E71224"/>
    </inkml:brush>
  </inkml:definitions>
  <inkml:trace contextRef="#ctx0" brushRef="#br0">16 223 5425,'-15'-18'5720,"15"17"-5448,1 1 0,0 0 1,-1-1-1,1 1 0,0 0 0,-1 0 0,1-1 1,0 1-1,0 0 0,-1 0 0,1 0 0,0 0 1,0 0-1,-1 0 0,1 0 0,0 0 0,1 1 1,20-3 560,262-22 5019,149 2-3335,522-16-791,-354 13-1162,-82 1-220,265-8 188,-767 32-535,32-2-47,-46 2-8,-1 0 0,1-1 0,0 1 0,0-1 0,-1 0 0,1 0 0,-1 0 0,1 0 0,0 0 0,-1 0 0,0-1 0,1 1 0,1-3 1,-4 4 37,1 0-1,-1 0 1,0-1 0,0 1 0,0 0 0,0 0 0,0-1 0,0 1 0,0 0 0,1 0 0,-1-1 0,0 1 0,0 0 0,0 0 0,0-1 0,0 1 0,0 0 0,0-1 0,0 1 0,0 0 0,-1 0 0,1-1 0,0 1 0,0 0 0,0 0 0,0-1 0,0 1 0,0 0 0,0 0 0,-1-1-1,1 1 1,0 0 0,0 0 0,0 0 0,-1-1 0,1 1 0,0 0 0,0 0 0,0 0 0,-1 0 0,1 0 0,0-1 0,0 1 0,-1 0 0,-22-8-645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4.458"/>
    </inkml:context>
    <inkml:brush xml:id="br0">
      <inkml:brushProperty name="width" value="0.1" units="cm"/>
      <inkml:brushProperty name="height" value="0.1" units="cm"/>
      <inkml:brushProperty name="color" value="#E71224"/>
    </inkml:brush>
  </inkml:definitions>
  <inkml:trace contextRef="#ctx0" brushRef="#br0">38 5 7098,'-1'-1'184,"1"1"1,-1-1 0,0 1 0,0 0-1,0-1 1,0 1 0,0 0 0,0-1 0,0 1-1,0 0 1,0 0 0,0 0 0,0 0 0,0 0-1,0 0 1,0 0 0,0 0 0,0 0-1,0 0 1,0 1 0,0-1 0,0 0 0,0 1-1,0-1 1,1 1 0,-1-1 0,0 1 0,0-1-1,0 1 1,1 0 0,-1-1 0,0 1-1,0 0 1,1-1 0,-1 1 0,1 0 0,-1 0-1,1 0 1,-1 0 0,1 0 0,-1 1-1,0 1 82,1 0-1,-1-1 0,1 1 0,0 0 0,-1-1 0,1 1 0,1 0 0,-1-1 0,0 1 0,1 0 1,-1-1-1,1 1 0,0 0 0,0-1 0,2 4 0,4 7 15,1-1-1,0-1 0,1 0 1,17 18-1,47 35 321,-37-34-246,-13-10-130,14 12 343,45 49 0,-72-68-477,0-1 0,0 2 0,-1-1 0,-1 1 0,0 1 0,-1 0 0,10 30 0,1 30 73,-22-91-4216,-3-1 2378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4.710"/>
    </inkml:context>
    <inkml:brush xml:id="br0">
      <inkml:brushProperty name="width" value="0.1" units="cm"/>
      <inkml:brushProperty name="height" value="0.1" units="cm"/>
      <inkml:brushProperty name="color" value="#E71224"/>
    </inkml:brush>
  </inkml:definitions>
  <inkml:trace contextRef="#ctx0" brushRef="#br0">1 469 12811,'1'-13'1696,"12"-5"337,2-1-41,6-8-312,-1-2-407,6-7-497,3 1-136,5-7-352,1 2-144,1-2-88,-3 2 0,-2 3-152,-2 3-264,-5 8-1112,2 5-1225,-2 12 1145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6T16:41:46.853"/>
    </inkml:context>
    <inkml:brush xml:id="br0">
      <inkml:brushProperty name="width" value="0.1" units="cm"/>
      <inkml:brushProperty name="height" value="0.1" units="cm"/>
      <inkml:brushProperty name="color" value="#E71224"/>
    </inkml:brush>
  </inkml:definitions>
  <inkml:trace contextRef="#ctx0" brushRef="#br0">76 272 3113,'0'2'154,"1"-1"0,0 1 0,-1 0 1,1-1-1,-1 1 0,0 0 0,1 0 0,-1 0 1,0-1-1,0 1 0,0 0 0,0 0 0,0-1 1,-1 1-1,0 3 0,-11 30 1978,3-8-867,6-15-859,1 0 0,0 0 1,0 0-1,2 0 0,-1 1 1,3 19-1,-2-28-344,1 0 1,0-1 0,-1 1-1,1-1 1,0 1-1,1-1 1,-1 1 0,1-1-1,-1 0 1,1 0-1,0 0 1,0 0 0,1 0-1,-1 0 1,1 0-1,-1-1 1,1 1 0,0-1-1,0 0 1,0 0-1,0 0 1,0 0 0,0 0-1,1-1 1,-1 1-1,7 1 1,-3-2 91,0 0-1,0-1 1,0 0 0,0 0-1,0 0 1,0-1 0,0 0-1,0-1 1,0 1 0,0-1-1,0-1 1,-1 1 0,1-1-1,-1 0 1,0 0 0,0-1-1,0 0 1,0 0 0,6-6 0,4-5 194,0 0 0,-1 0 0,-1-2 0,-1 0 0,12-19 0,-11 14 71,0 0 0,-2-2 0,-1 1-1,12-39 1,-20 52-259,0 0 1,-1 0-1,0 0 1,0 0-1,-1-1 0,-1 1 1,0 0-1,0-1 1,-1 1-1,0 0 0,0 0 1,-1 0-1,-1 0 1,-4-13-1,5 19-115,-1-1 0,1 1 0,-1 0 0,0 0 0,0 0 0,0 0 0,0 0 0,-1 0 0,1 1 0,-1 0 0,0 0 0,0 0 0,0 0 0,-9-4 0,6 4-18,1 1 0,-1 0 0,0 0 0,0 1 0,0 0 0,0 0 0,0 1 0,0-1 0,-12 2 0,2 2-127,1 0-1,-1 1 0,0 0 1,1 1-1,0 1 0,0 1 1,-27 16-1,29-15-203,1 1 1,0 0-1,-19 19 0,18-13 30,1 1 0,-14 22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1" hangingPunct="1">
              <a:defRPr sz="1300">
                <a:latin typeface="Calibri" panose="020F0502020204030204" pitchFamily="34" charset="0"/>
              </a:defRPr>
            </a:lvl1pPr>
          </a:lstStyle>
          <a:p>
            <a:endParaRPr lang="en-US" dirty="0"/>
          </a:p>
        </p:txBody>
      </p:sp>
      <p:sp>
        <p:nvSpPr>
          <p:cNvPr id="109571" name="Rectangle 3"/>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1" hangingPunct="1">
              <a:defRPr sz="1300">
                <a:latin typeface="Calibri" panose="020F0502020204030204" pitchFamily="34" charset="0"/>
              </a:defRPr>
            </a:lvl1pPr>
          </a:lstStyle>
          <a:p>
            <a:endParaRPr lang="en-US" dirty="0"/>
          </a:p>
        </p:txBody>
      </p:sp>
      <p:sp>
        <p:nvSpPr>
          <p:cNvPr id="10957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109573"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9574" name="Rectangle 6"/>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1" hangingPunct="1">
              <a:defRPr sz="1300">
                <a:latin typeface="Calibri" panose="020F0502020204030204" pitchFamily="34" charset="0"/>
              </a:defRPr>
            </a:lvl1pPr>
          </a:lstStyle>
          <a:p>
            <a:endParaRPr lang="en-US" dirty="0"/>
          </a:p>
        </p:txBody>
      </p:sp>
      <p:sp>
        <p:nvSpPr>
          <p:cNvPr id="109575" name="Rectangle 7"/>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1" hangingPunct="1">
              <a:defRPr sz="1300">
                <a:latin typeface="Calibri" panose="020F0502020204030204" pitchFamily="34" charset="0"/>
              </a:defRPr>
            </a:lvl1pPr>
          </a:lstStyle>
          <a:p>
            <a:fld id="{3AED0B83-FA1E-482D-AD89-4E224F76AB55}"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fontAlgn="base">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fontAlgn="base">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fontAlgn="base">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fontAlgn="base">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6</a:t>
            </a:fld>
            <a:endParaRPr lang="en-US"/>
          </a:p>
        </p:txBody>
      </p:sp>
    </p:spTree>
    <p:extLst>
      <p:ext uri="{BB962C8B-B14F-4D97-AF65-F5344CB8AC3E}">
        <p14:creationId xmlns:p14="http://schemas.microsoft.com/office/powerpoint/2010/main" val="552218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10</a:t>
            </a:fld>
            <a:endParaRPr lang="en-US"/>
          </a:p>
        </p:txBody>
      </p:sp>
    </p:spTree>
    <p:extLst>
      <p:ext uri="{BB962C8B-B14F-4D97-AF65-F5344CB8AC3E}">
        <p14:creationId xmlns:p14="http://schemas.microsoft.com/office/powerpoint/2010/main" val="4070255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18</a:t>
            </a:fld>
            <a:endParaRPr lang="en-US"/>
          </a:p>
        </p:txBody>
      </p:sp>
    </p:spTree>
    <p:extLst>
      <p:ext uri="{BB962C8B-B14F-4D97-AF65-F5344CB8AC3E}">
        <p14:creationId xmlns:p14="http://schemas.microsoft.com/office/powerpoint/2010/main" val="1423660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21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AED0B83-FA1E-482D-AD89-4E224F76AB55}" type="slidenum">
              <a:rPr lang="en-US" smtClean="0"/>
              <a:pPr/>
              <a:t>23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5F686-6E56-03C7-C2BD-83EF6CCF8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7BC9A-3E80-A983-3378-A7D5CB2BA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6B7F0-4F63-A189-E736-80CA7A396C2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44C44AE-B217-BE24-48B2-1627739124F3}"/>
              </a:ext>
            </a:extLst>
          </p:cNvPr>
          <p:cNvSpPr>
            <a:spLocks noGrp="1"/>
          </p:cNvSpPr>
          <p:nvPr>
            <p:ph type="sldNum" sz="quarter" idx="10"/>
          </p:nvPr>
        </p:nvSpPr>
        <p:spPr/>
        <p:txBody>
          <a:bodyPr/>
          <a:lstStyle/>
          <a:p>
            <a:fld id="{3AED0B83-FA1E-482D-AD89-4E224F76AB55}" type="slidenum">
              <a:rPr lang="en-US" smtClean="0"/>
              <a:pPr/>
              <a:t>26</a:t>
            </a:fld>
            <a:endParaRPr lang="en-US"/>
          </a:p>
        </p:txBody>
      </p:sp>
    </p:spTree>
    <p:extLst>
      <p:ext uri="{BB962C8B-B14F-4D97-AF65-F5344CB8AC3E}">
        <p14:creationId xmlns:p14="http://schemas.microsoft.com/office/powerpoint/2010/main" val="1908478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28</a:t>
            </a:fld>
            <a:endParaRPr lang="en-US"/>
          </a:p>
        </p:txBody>
      </p:sp>
    </p:spTree>
    <p:extLst>
      <p:ext uri="{BB962C8B-B14F-4D97-AF65-F5344CB8AC3E}">
        <p14:creationId xmlns:p14="http://schemas.microsoft.com/office/powerpoint/2010/main" val="2489896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8F1D18-9638-4932-8910-B6EDCB447AA8}" type="slidenum">
              <a:rPr lang="en-US" smtClean="0"/>
              <a:pPr/>
              <a:t>29</a:t>
            </a:fld>
            <a:endParaRPr lang="en-US"/>
          </a:p>
        </p:txBody>
      </p:sp>
    </p:spTree>
    <p:extLst>
      <p:ext uri="{BB962C8B-B14F-4D97-AF65-F5344CB8AC3E}">
        <p14:creationId xmlns:p14="http://schemas.microsoft.com/office/powerpoint/2010/main" val="8368761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AED0B83-FA1E-482D-AD89-4E224F76AB55}" type="slidenum">
              <a:rPr lang="en-US" smtClean="0"/>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A0A1-3327-45CE-8A21-0BF59E3A9C6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3E0102D-83A5-4E73-A95C-4D3778785FC1}"/>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104584AD-FB15-4D4C-88DE-F352529B24DC}"/>
              </a:ext>
            </a:extLst>
          </p:cNvPr>
          <p:cNvSpPr>
            <a:spLocks noGrp="1"/>
          </p:cNvSpPr>
          <p:nvPr>
            <p:ph type="dt" sz="half" idx="10"/>
          </p:nvPr>
        </p:nvSpPr>
        <p:spPr>
          <a:xfrm>
            <a:off x="628650" y="6356351"/>
            <a:ext cx="2057400" cy="365125"/>
          </a:xfrm>
          <a:prstGeom prst="rect">
            <a:avLst/>
          </a:prstGeom>
        </p:spPr>
        <p:txBody>
          <a:bodyPr/>
          <a:lstStyle/>
          <a:p>
            <a:fld id="{FDB68C03-DCF9-4B87-BBF6-8F2088376604}" type="datetimeFigureOut">
              <a:rPr lang="en-US" smtClean="0"/>
              <a:t>2/19/2026</a:t>
            </a:fld>
            <a:endParaRPr lang="en-US"/>
          </a:p>
        </p:txBody>
      </p:sp>
      <p:sp>
        <p:nvSpPr>
          <p:cNvPr id="5" name="Footer Placeholder 4">
            <a:extLst>
              <a:ext uri="{FF2B5EF4-FFF2-40B4-BE49-F238E27FC236}">
                <a16:creationId xmlns:a16="http://schemas.microsoft.com/office/drawing/2014/main" id="{7920771D-B2B7-4DDB-877A-898A10F45173}"/>
              </a:ext>
            </a:extLst>
          </p:cNvPr>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4EC21AC-5AFD-4F2C-8A31-C0113410E034}"/>
              </a:ext>
            </a:extLst>
          </p:cNvPr>
          <p:cNvSpPr>
            <a:spLocks noGrp="1"/>
          </p:cNvSpPr>
          <p:nvPr>
            <p:ph type="sldNum" sz="quarter" idx="12"/>
          </p:nvPr>
        </p:nvSpPr>
        <p:spPr/>
        <p:txBody>
          <a:bodyPr/>
          <a:lstStyle/>
          <a:p>
            <a:fld id="{E97C47EE-1537-423B-A9B2-96D7BC867AC1}" type="slidenum">
              <a:rPr lang="en-US" smtClean="0"/>
              <a:t>‹#›</a:t>
            </a:fld>
            <a:endParaRPr lang="en-US"/>
          </a:p>
        </p:txBody>
      </p:sp>
    </p:spTree>
    <p:extLst>
      <p:ext uri="{BB962C8B-B14F-4D97-AF65-F5344CB8AC3E}">
        <p14:creationId xmlns:p14="http://schemas.microsoft.com/office/powerpoint/2010/main" val="162016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C4AC9-C37B-4E02-A225-58C9FBB9A2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FE8FA6-09EB-4014-B26B-31EC25B4D3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4426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AF54D-79F1-4FBB-B3D9-325206B99F2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C14BE77-C158-434B-B162-FE8ABAFFD63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378351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D92B-30D0-4376-8CE9-BE73BCA0F1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59DD5-3ACF-4231-89D2-E4FB0944C477}"/>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ADF2D3-5819-4C97-8B69-9A645A43129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058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D962-2DDE-4D90-AFEB-0AF259A4F7D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808309-9304-455B-99E4-537464DDD40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20CD4-2875-48EA-8AF9-496D552469D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F9376-4868-43F4-9A2A-6951C726B35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A610D3E-B0F9-4C1C-A524-F283922CCD2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9886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4B55-C98C-44F3-9E04-75CA1C02A29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53371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504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E4D8C-EFCC-475C-979B-F8686ADCDF7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DC78DC2-BF0A-4078-947A-D8BA3118ADE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FA89E1-4D67-4703-8094-BE925CD311D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17339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34127-5359-425B-85D2-0A5D7A6D961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8AC3F76-0F9D-44B8-B320-5527EED139D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844369F9-7A97-46E8-AFA9-C7017F9427C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111881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A5E47-C049-4A0A-B554-59FD1CB64C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CFED5F-110F-447A-A8E7-7207F8E173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6831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AF2D2E-0472-425C-8625-002334FD0F4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0688C7-213E-4AC0-9CCB-4B37ADE783B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0D742CE-0BD3-4D70-821B-CFCC3B8AA0B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7C47EE-1537-423B-A9B2-96D7BC867AC1}" type="slidenum">
              <a:rPr lang="en-US" smtClean="0"/>
              <a:t>‹#›</a:t>
            </a:fld>
            <a:endParaRPr lang="en-US"/>
          </a:p>
        </p:txBody>
      </p:sp>
    </p:spTree>
    <p:extLst>
      <p:ext uri="{BB962C8B-B14F-4D97-AF65-F5344CB8AC3E}">
        <p14:creationId xmlns:p14="http://schemas.microsoft.com/office/powerpoint/2010/main" val="401062879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7.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9.png"/><Relationship Id="rId10" Type="http://schemas.openxmlformats.org/officeDocument/2006/relationships/image" Target="../media/image13.png"/><Relationship Id="rId4" Type="http://schemas.openxmlformats.org/officeDocument/2006/relationships/image" Target="../media/image8.png"/><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201.png"/><Relationship Id="rId3" Type="http://schemas.openxmlformats.org/officeDocument/2006/relationships/image" Target="../media/image7.png"/><Relationship Id="rId7" Type="http://schemas.openxmlformats.org/officeDocument/2006/relationships/image" Target="../media/image191.png"/><Relationship Id="rId2" Type="http://schemas.openxmlformats.org/officeDocument/2006/relationships/image" Target="../media/image6.png"/><Relationship Id="rId1" Type="http://schemas.openxmlformats.org/officeDocument/2006/relationships/slideLayout" Target="../slideLayouts/slideLayout6.xml"/><Relationship Id="rId6" Type="http://schemas.microsoft.com/office/2007/relationships/hdphoto" Target="../media/hdphoto2.wdp"/><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370.png"/><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Layout" Target="../slideLayouts/slideLayout6.xml"/><Relationship Id="rId6" Type="http://schemas.microsoft.com/office/2007/relationships/hdphoto" Target="../media/hdphoto2.wdp"/><Relationship Id="rId11" Type="http://schemas.openxmlformats.org/officeDocument/2006/relationships/image" Target="../media/image17.png"/><Relationship Id="rId5" Type="http://schemas.openxmlformats.org/officeDocument/2006/relationships/image" Target="../media/image9.png"/><Relationship Id="rId10" Type="http://schemas.openxmlformats.org/officeDocument/2006/relationships/image" Target="../media/image16.png"/><Relationship Id="rId4" Type="http://schemas.openxmlformats.org/officeDocument/2006/relationships/image" Target="../media/image8.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390.png"/></Relationships>
</file>

<file path=ppt/slides/_rels/slide23.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7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79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820.png"/><Relationship Id="rId4" Type="http://schemas.openxmlformats.org/officeDocument/2006/relationships/image" Target="../media/image830.png"/></Relationships>
</file>

<file path=ppt/slides/_rels/slide31.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38.png"/><Relationship Id="rId26" Type="http://schemas.openxmlformats.org/officeDocument/2006/relationships/image" Target="../media/image42.png"/><Relationship Id="rId3" Type="http://schemas.openxmlformats.org/officeDocument/2006/relationships/customXml" Target="../ink/ink1.xml"/><Relationship Id="rId21" Type="http://schemas.openxmlformats.org/officeDocument/2006/relationships/customXml" Target="../ink/ink10.xml"/><Relationship Id="rId34" Type="http://schemas.openxmlformats.org/officeDocument/2006/relationships/image" Target="../media/image46.png"/><Relationship Id="rId7" Type="http://schemas.openxmlformats.org/officeDocument/2006/relationships/customXml" Target="../ink/ink3.xml"/><Relationship Id="rId12" Type="http://schemas.openxmlformats.org/officeDocument/2006/relationships/image" Target="../media/image35.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2" Type="http://schemas.openxmlformats.org/officeDocument/2006/relationships/image" Target="../media/image30.png"/><Relationship Id="rId16" Type="http://schemas.openxmlformats.org/officeDocument/2006/relationships/image" Target="../media/image37.png"/><Relationship Id="rId20" Type="http://schemas.openxmlformats.org/officeDocument/2006/relationships/image" Target="../media/image39.png"/><Relationship Id="rId29" Type="http://schemas.openxmlformats.org/officeDocument/2006/relationships/customXml" Target="../ink/ink14.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customXml" Target="../ink/ink5.xml"/><Relationship Id="rId24" Type="http://schemas.openxmlformats.org/officeDocument/2006/relationships/image" Target="../media/image41.png"/><Relationship Id="rId32" Type="http://schemas.openxmlformats.org/officeDocument/2006/relationships/image" Target="../media/image45.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43.png"/><Relationship Id="rId36" Type="http://schemas.openxmlformats.org/officeDocument/2006/relationships/image" Target="../media/image47.png"/><Relationship Id="rId10" Type="http://schemas.openxmlformats.org/officeDocument/2006/relationships/image" Target="../media/image34.png"/><Relationship Id="rId19" Type="http://schemas.openxmlformats.org/officeDocument/2006/relationships/customXml" Target="../ink/ink9.xml"/><Relationship Id="rId31" Type="http://schemas.openxmlformats.org/officeDocument/2006/relationships/customXml" Target="../ink/ink15.xml"/><Relationship Id="rId4" Type="http://schemas.openxmlformats.org/officeDocument/2006/relationships/image" Target="../media/image31.png"/><Relationship Id="rId9" Type="http://schemas.openxmlformats.org/officeDocument/2006/relationships/customXml" Target="../ink/ink4.xml"/><Relationship Id="rId14" Type="http://schemas.openxmlformats.org/officeDocument/2006/relationships/image" Target="../media/image36.png"/><Relationship Id="rId22" Type="http://schemas.openxmlformats.org/officeDocument/2006/relationships/image" Target="../media/image40.png"/><Relationship Id="rId27" Type="http://schemas.openxmlformats.org/officeDocument/2006/relationships/customXml" Target="../ink/ink13.xml"/><Relationship Id="rId30" Type="http://schemas.openxmlformats.org/officeDocument/2006/relationships/image" Target="../media/image44.png"/><Relationship Id="rId35" Type="http://schemas.openxmlformats.org/officeDocument/2006/relationships/customXml" Target="../ink/ink17.xml"/><Relationship Id="rId8"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7" name="Picture 5"/>
          <p:cNvPicPr>
            <a:picLocks noChangeAspect="1" noChangeArrowheads="1"/>
          </p:cNvPicPr>
          <p:nvPr/>
        </p:nvPicPr>
        <p:blipFill rotWithShape="1">
          <a:blip r:embed="rId3" cstate="print"/>
          <a:srcRect r="5200"/>
          <a:stretch/>
        </p:blipFill>
        <p:spPr bwMode="auto">
          <a:xfrm>
            <a:off x="2642616" y="10"/>
            <a:ext cx="6501384" cy="6857990"/>
          </a:xfrm>
          <a:prstGeom prst="rect">
            <a:avLst/>
          </a:prstGeom>
          <a:noFill/>
        </p:spPr>
      </p:pic>
      <p:sp>
        <p:nvSpPr>
          <p:cNvPr id="76" name="Rectangle 75">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6" name="Rectangle 4"/>
          <p:cNvSpPr>
            <a:spLocks noGrp="1" noChangeArrowheads="1"/>
          </p:cNvSpPr>
          <p:nvPr>
            <p:ph type="ctrTitle"/>
          </p:nvPr>
        </p:nvSpPr>
        <p:spPr>
          <a:xfrm>
            <a:off x="358485" y="1122363"/>
            <a:ext cx="3017520" cy="3204134"/>
          </a:xfrm>
        </p:spPr>
        <p:txBody>
          <a:bodyPr anchor="b">
            <a:noAutofit/>
          </a:bodyPr>
          <a:lstStyle/>
          <a:p>
            <a:pPr algn="l"/>
            <a:r>
              <a:rPr lang="en-US" sz="2400" dirty="0"/>
              <a:t>CS 5/7320 </a:t>
            </a:r>
            <a:br>
              <a:rPr lang="en-US" sz="2400" dirty="0"/>
            </a:br>
            <a:r>
              <a:rPr lang="en-US" sz="2400" dirty="0"/>
              <a:t>Artificial Intelligence</a:t>
            </a:r>
            <a:br>
              <a:rPr lang="en-US" sz="3200" dirty="0"/>
            </a:br>
            <a:br>
              <a:rPr lang="en-US" sz="3200" dirty="0"/>
            </a:br>
            <a:r>
              <a:rPr lang="en-US" sz="3200" dirty="0"/>
              <a:t>Solving problems by searching</a:t>
            </a:r>
            <a:br>
              <a:rPr lang="en-US" sz="3200" dirty="0"/>
            </a:br>
            <a:r>
              <a:rPr lang="en-US" sz="2000" dirty="0"/>
              <a:t>AIMA Chapter 3</a:t>
            </a:r>
            <a:endParaRPr lang="en-US" sz="3200" dirty="0"/>
          </a:p>
        </p:txBody>
      </p:sp>
      <p:sp>
        <p:nvSpPr>
          <p:cNvPr id="3075" name="Rectangle 3"/>
          <p:cNvSpPr>
            <a:spLocks noGrp="1" noChangeArrowheads="1"/>
          </p:cNvSpPr>
          <p:nvPr>
            <p:ph type="subTitle" idx="1"/>
          </p:nvPr>
        </p:nvSpPr>
        <p:spPr>
          <a:xfrm>
            <a:off x="259081" y="4872922"/>
            <a:ext cx="3017519" cy="1208141"/>
          </a:xfrm>
        </p:spPr>
        <p:txBody>
          <a:bodyPr>
            <a:normAutofit/>
          </a:bodyPr>
          <a:lstStyle/>
          <a:p>
            <a:pPr algn="l"/>
            <a:r>
              <a:rPr lang="en-US" dirty="0"/>
              <a:t>Slides by Michael Hahsler</a:t>
            </a:r>
            <a:br>
              <a:rPr lang="en-US" dirty="0"/>
            </a:br>
            <a:r>
              <a:rPr lang="en-US" sz="1400" dirty="0"/>
              <a:t>based on slides by Svetlana </a:t>
            </a:r>
            <a:r>
              <a:rPr lang="en-US" sz="1400" dirty="0" err="1"/>
              <a:t>Lazepnik</a:t>
            </a:r>
            <a:r>
              <a:rPr lang="en-US" sz="1400" dirty="0"/>
              <a:t> with figures from the AIMA textbook.</a:t>
            </a:r>
          </a:p>
        </p:txBody>
      </p:sp>
      <p:sp>
        <p:nvSpPr>
          <p:cNvPr id="78" name="Rectangle 7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0" name="Rectangle 7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4" descr="Creative Commons License">
            <a:extLst>
              <a:ext uri="{FF2B5EF4-FFF2-40B4-BE49-F238E27FC236}">
                <a16:creationId xmlns:a16="http://schemas.microsoft.com/office/drawing/2014/main" id="{DD0046E9-1953-4A65-8AFE-6A01CBC5CF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5785788"/>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6ABB877-EDDD-49CF-96C5-57C1990E3D8A}"/>
              </a:ext>
            </a:extLst>
          </p:cNvPr>
          <p:cNvSpPr txBox="1"/>
          <p:nvPr/>
        </p:nvSpPr>
        <p:spPr>
          <a:xfrm>
            <a:off x="296569" y="6196601"/>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sp>
        <p:nvSpPr>
          <p:cNvPr id="2" name="TextBox 1">
            <a:extLst>
              <a:ext uri="{FF2B5EF4-FFF2-40B4-BE49-F238E27FC236}">
                <a16:creationId xmlns:a16="http://schemas.microsoft.com/office/drawing/2014/main" id="{4A748FB9-A7E3-19CC-D5CD-D5DAAA1E10AA}"/>
              </a:ext>
            </a:extLst>
          </p:cNvPr>
          <p:cNvSpPr txBox="1"/>
          <p:nvPr/>
        </p:nvSpPr>
        <p:spPr>
          <a:xfrm rot="2099715">
            <a:off x="1208326" y="632636"/>
            <a:ext cx="1828800" cy="538609"/>
          </a:xfrm>
          <a:prstGeom prst="rect">
            <a:avLst/>
          </a:prstGeom>
          <a:noFill/>
        </p:spPr>
        <p:txBody>
          <a:bodyPr wrap="square" rtlCol="0">
            <a:spAutoFit/>
          </a:bodyPr>
          <a:lstStyle/>
          <a:p>
            <a:pPr algn="ctr"/>
            <a:r>
              <a:rPr lang="en-US" sz="2900" b="1" dirty="0">
                <a:latin typeface="+mj-lt"/>
                <a:ea typeface="+mj-ea"/>
                <a:cs typeface="+mj-cs"/>
              </a:rPr>
              <a:t>Discussion</a:t>
            </a: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7C69-A2C4-0867-A088-E66A81F55D64}"/>
              </a:ext>
            </a:extLst>
          </p:cNvPr>
          <p:cNvSpPr>
            <a:spLocks noGrp="1"/>
          </p:cNvSpPr>
          <p:nvPr>
            <p:ph type="title"/>
          </p:nvPr>
        </p:nvSpPr>
        <p:spPr/>
        <p:txBody>
          <a:bodyPr/>
          <a:lstStyle/>
          <a:p>
            <a:r>
              <a:rPr lang="en-US" dirty="0"/>
              <a:t>Assignment 1</a:t>
            </a:r>
          </a:p>
        </p:txBody>
      </p:sp>
      <p:sp>
        <p:nvSpPr>
          <p:cNvPr id="3" name="Content Placeholder 2">
            <a:extLst>
              <a:ext uri="{FF2B5EF4-FFF2-40B4-BE49-F238E27FC236}">
                <a16:creationId xmlns:a16="http://schemas.microsoft.com/office/drawing/2014/main" id="{27D3CF98-8492-4A0D-B176-1A71345E62D1}"/>
              </a:ext>
            </a:extLst>
          </p:cNvPr>
          <p:cNvSpPr>
            <a:spLocks noGrp="1"/>
          </p:cNvSpPr>
          <p:nvPr>
            <p:ph type="body" idx="1"/>
          </p:nvPr>
        </p:nvSpPr>
        <p:spPr/>
        <p:txBody>
          <a:bodyPr/>
          <a:lstStyle/>
          <a:p>
            <a:pPr marL="0" indent="0">
              <a:buNone/>
            </a:pPr>
            <a:r>
              <a:rPr lang="en-US" dirty="0"/>
              <a:t>Discuss:</a:t>
            </a:r>
          </a:p>
          <a:p>
            <a:r>
              <a:rPr lang="en-US" dirty="0"/>
              <a:t>	Battery size and </a:t>
            </a:r>
            <a:r>
              <a:rPr lang="en-US" dirty="0" err="1"/>
              <a:t>max_steps</a:t>
            </a:r>
            <a:endParaRPr lang="en-US" dirty="0"/>
          </a:p>
          <a:p>
            <a:r>
              <a:rPr lang="en-US" dirty="0"/>
              <a:t>	Robustness (Obstacles)</a:t>
            </a:r>
          </a:p>
          <a:p>
            <a:r>
              <a:rPr lang="en-US" dirty="0"/>
              <a:t>	Noisy sensors</a:t>
            </a:r>
          </a:p>
        </p:txBody>
      </p:sp>
    </p:spTree>
    <p:extLst>
      <p:ext uri="{BB962C8B-B14F-4D97-AF65-F5344CB8AC3E}">
        <p14:creationId xmlns:p14="http://schemas.microsoft.com/office/powerpoint/2010/main" val="3874391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D402B73-8D2B-AC4D-B9C2-27A0302D2288}"/>
              </a:ext>
            </a:extLst>
          </p:cNvPr>
          <p:cNvSpPr>
            <a:spLocks noGrp="1"/>
          </p:cNvSpPr>
          <p:nvPr>
            <p:ph type="title"/>
          </p:nvPr>
        </p:nvSpPr>
        <p:spPr>
          <a:xfrm>
            <a:off x="482601" y="643467"/>
            <a:ext cx="3465438" cy="4567137"/>
          </a:xfrm>
        </p:spPr>
        <p:txBody>
          <a:bodyPr vert="horz" lIns="91440" tIns="45720" rIns="91440" bIns="45720" rtlCol="0" anchor="b">
            <a:normAutofit/>
          </a:bodyPr>
          <a:lstStyle/>
          <a:p>
            <a:pPr defTabSz="914400"/>
            <a:r>
              <a:rPr lang="en-US" sz="3800" dirty="0"/>
              <a:t>Module Review</a:t>
            </a:r>
          </a:p>
        </p:txBody>
      </p:sp>
      <p:sp>
        <p:nvSpPr>
          <p:cNvPr id="5" name="Text Placeholder 4">
            <a:extLst>
              <a:ext uri="{FF2B5EF4-FFF2-40B4-BE49-F238E27FC236}">
                <a16:creationId xmlns:a16="http://schemas.microsoft.com/office/drawing/2014/main" id="{E6A1CD9E-883B-FB15-C98C-03915A3DBBFF}"/>
              </a:ext>
            </a:extLst>
          </p:cNvPr>
          <p:cNvSpPr>
            <a:spLocks noGrp="1"/>
          </p:cNvSpPr>
          <p:nvPr>
            <p:ph type="body" idx="1"/>
          </p:nvPr>
        </p:nvSpPr>
        <p:spPr>
          <a:xfrm>
            <a:off x="482600" y="5277684"/>
            <a:ext cx="3465438" cy="775494"/>
          </a:xfrm>
        </p:spPr>
        <p:txBody>
          <a:bodyPr vert="horz" lIns="91440" tIns="45720" rIns="91440" bIns="45720" rtlCol="0">
            <a:normAutofit fontScale="85000" lnSpcReduction="10000"/>
          </a:bodyPr>
          <a:lstStyle/>
          <a:p>
            <a:pPr defTabSz="914400">
              <a:spcBef>
                <a:spcPts val="1000"/>
              </a:spcBef>
            </a:pPr>
            <a:r>
              <a:rPr lang="en-US" sz="2400" dirty="0">
                <a:solidFill>
                  <a:schemeClr val="tx1"/>
                </a:solidFill>
              </a:rPr>
              <a:t>Problem Definition, State Space, and Uninformed Search</a:t>
            </a:r>
          </a:p>
        </p:txBody>
      </p:sp>
      <p:pic>
        <p:nvPicPr>
          <p:cNvPr id="6" name="Picture 5">
            <a:extLst>
              <a:ext uri="{FF2B5EF4-FFF2-40B4-BE49-F238E27FC236}">
                <a16:creationId xmlns:a16="http://schemas.microsoft.com/office/drawing/2014/main" id="{6098F7EC-70BD-266C-082F-62F6A9522A1D}"/>
              </a:ext>
            </a:extLst>
          </p:cNvPr>
          <p:cNvPicPr>
            <a:picLocks noChangeAspect="1" noChangeArrowheads="1"/>
          </p:cNvPicPr>
          <p:nvPr/>
        </p:nvPicPr>
        <p:blipFill rotWithShape="1">
          <a:blip r:embed="rId2" cstate="print"/>
          <a:srcRect l="14795" r="19995"/>
          <a:stretch>
            <a:fillRect/>
          </a:stretch>
        </p:blipFill>
        <p:spPr bwMode="auto">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p:spPr>
      </p:pic>
    </p:spTree>
    <p:extLst>
      <p:ext uri="{BB962C8B-B14F-4D97-AF65-F5344CB8AC3E}">
        <p14:creationId xmlns:p14="http://schemas.microsoft.com/office/powerpoint/2010/main" val="40663139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2">
            <a:extLst>
              <a:ext uri="{FF2B5EF4-FFF2-40B4-BE49-F238E27FC236}">
                <a16:creationId xmlns:a16="http://schemas.microsoft.com/office/drawing/2014/main" id="{BB2C9399-489E-4F3C-BA01-A07DCA723D38}"/>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5421460" y="2133600"/>
            <a:ext cx="2667000" cy="2706574"/>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Definition of a Search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0689" y="2172243"/>
                <a:ext cx="4508847" cy="2722802"/>
              </a:xfrm>
            </p:spPr>
            <p:txBody>
              <a:bodyPr>
                <a:normAutofit lnSpcReduction="10000"/>
              </a:bodyPr>
              <a:lstStyle/>
              <a:p>
                <a:r>
                  <a:rPr lang="en-US" sz="2400" b="1" dirty="0">
                    <a:solidFill>
                      <a:srgbClr val="FF0000"/>
                    </a:solidFill>
                  </a:rPr>
                  <a:t>Initial state: </a:t>
                </a:r>
                <a:r>
                  <a:rPr lang="en-US" dirty="0"/>
                  <a:t>state description</a:t>
                </a:r>
                <a:endParaRPr lang="en-US" sz="2400" b="1" dirty="0">
                  <a:solidFill>
                    <a:srgbClr val="CC0099"/>
                  </a:solidFill>
                </a:endParaRPr>
              </a:p>
              <a:p>
                <a:r>
                  <a:rPr lang="en-US" sz="2400" b="1" dirty="0">
                    <a:solidFill>
                      <a:srgbClr val="FF0000"/>
                    </a:solidFill>
                  </a:rPr>
                  <a:t>Actions: </a:t>
                </a:r>
                <a:r>
                  <a:rPr lang="en-US" dirty="0"/>
                  <a:t>set of possible actions </a:t>
                </a:r>
                <a14:m>
                  <m:oMath xmlns:m="http://schemas.openxmlformats.org/officeDocument/2006/math">
                    <m:r>
                      <a:rPr lang="en-US" b="0" i="1" smtClean="0">
                        <a:latin typeface="Cambria Math" panose="02040503050406030204" pitchFamily="18" charset="0"/>
                      </a:rPr>
                      <m:t>𝐴</m:t>
                    </m:r>
                  </m:oMath>
                </a14:m>
                <a:endParaRPr lang="en-US" dirty="0"/>
              </a:p>
              <a:p>
                <a:r>
                  <a:rPr lang="en-US" sz="2400" b="1" dirty="0">
                    <a:solidFill>
                      <a:srgbClr val="FF0000"/>
                    </a:solidFill>
                  </a:rPr>
                  <a:t>Transition model: </a:t>
                </a:r>
                <a:r>
                  <a:rPr lang="en-US" sz="2000" dirty="0"/>
                  <a:t>a function that defines the new state resulting from performing an action in the current state</a:t>
                </a:r>
              </a:p>
              <a:p>
                <a:r>
                  <a:rPr lang="en-US" sz="2400" b="1" dirty="0">
                    <a:solidFill>
                      <a:srgbClr val="FF0000"/>
                    </a:solidFill>
                  </a:rPr>
                  <a:t>Goal state: </a:t>
                </a:r>
                <a:r>
                  <a:rPr lang="en-US" dirty="0"/>
                  <a:t>state description</a:t>
                </a:r>
                <a:endParaRPr lang="en-US" sz="2400" b="1" dirty="0">
                  <a:solidFill>
                    <a:srgbClr val="CC0099"/>
                  </a:solidFill>
                </a:endParaRPr>
              </a:p>
              <a:p>
                <a:r>
                  <a:rPr lang="en-US" sz="2400" b="1" dirty="0">
                    <a:solidFill>
                      <a:srgbClr val="FF0000"/>
                    </a:solidFill>
                  </a:rPr>
                  <a:t>Path cost: </a:t>
                </a:r>
                <a:r>
                  <a:rPr lang="en-US" sz="2000" dirty="0"/>
                  <a:t>the sum of </a:t>
                </a:r>
                <a:r>
                  <a:rPr lang="en-US" sz="2000" i="1" dirty="0"/>
                  <a:t>step costs</a:t>
                </a: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70689" y="2172243"/>
                <a:ext cx="4508847" cy="2722802"/>
              </a:xfrm>
              <a:blipFill>
                <a:blip r:embed="rId5"/>
                <a:stretch>
                  <a:fillRect l="-1757" t="-4251" b="-4251"/>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FF089EAF-5603-4020-A011-DB456AC78F44}"/>
              </a:ext>
            </a:extLst>
          </p:cNvPr>
          <p:cNvSpPr/>
          <p:nvPr/>
        </p:nvSpPr>
        <p:spPr>
          <a:xfrm>
            <a:off x="628650" y="5492564"/>
            <a:ext cx="8153400" cy="923330"/>
          </a:xfrm>
          <a:prstGeom prst="rect">
            <a:avLst/>
          </a:prstGeom>
        </p:spPr>
        <p:txBody>
          <a:bodyPr wrap="square">
            <a:spAutoFit/>
          </a:bodyPr>
          <a:lstStyle/>
          <a:p>
            <a:r>
              <a:rPr lang="en-US" b="1" dirty="0"/>
              <a:t>Important</a:t>
            </a:r>
            <a:r>
              <a:rPr lang="en-US" dirty="0"/>
              <a:t>: The</a:t>
            </a:r>
            <a:r>
              <a:rPr lang="en-US" b="1" dirty="0"/>
              <a:t> </a:t>
            </a:r>
            <a:r>
              <a:rPr lang="en-US" b="1" dirty="0">
                <a:solidFill>
                  <a:srgbClr val="FF0000"/>
                </a:solidFill>
              </a:rPr>
              <a:t>state space </a:t>
            </a:r>
            <a:r>
              <a:rPr lang="en-US" dirty="0"/>
              <a:t>is typically too large to </a:t>
            </a:r>
            <a:r>
              <a:rPr lang="en-US"/>
              <a:t>be enumerated, </a:t>
            </a:r>
            <a:r>
              <a:rPr lang="en-US" dirty="0"/>
              <a:t>or it is continuous. Therefore, the problem is defined by initial state, actions and the transition model and not the set of all possible states.</a:t>
            </a:r>
          </a:p>
        </p:txBody>
      </p:sp>
      <p:sp>
        <p:nvSpPr>
          <p:cNvPr id="20" name="Oval 19">
            <a:extLst>
              <a:ext uri="{FF2B5EF4-FFF2-40B4-BE49-F238E27FC236}">
                <a16:creationId xmlns:a16="http://schemas.microsoft.com/office/drawing/2014/main" id="{631C85B5-5EBA-401A-B072-48103AE4F82C}"/>
              </a:ext>
            </a:extLst>
          </p:cNvPr>
          <p:cNvSpPr/>
          <p:nvPr/>
        </p:nvSpPr>
        <p:spPr>
          <a:xfrm>
            <a:off x="6414984" y="2259763"/>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g</a:t>
            </a:r>
          </a:p>
        </p:txBody>
      </p:sp>
      <p:cxnSp>
        <p:nvCxnSpPr>
          <p:cNvPr id="23" name="Straight Arrow Connector 22">
            <a:extLst>
              <a:ext uri="{FF2B5EF4-FFF2-40B4-BE49-F238E27FC236}">
                <a16:creationId xmlns:a16="http://schemas.microsoft.com/office/drawing/2014/main" id="{A5906607-DFD0-4CA7-A1C8-A23F69CF93E6}"/>
              </a:ext>
            </a:extLst>
          </p:cNvPr>
          <p:cNvCxnSpPr>
            <a:cxnSpLocks/>
          </p:cNvCxnSpPr>
          <p:nvPr/>
        </p:nvCxnSpPr>
        <p:spPr>
          <a:xfrm>
            <a:off x="5922537" y="3258332"/>
            <a:ext cx="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C7DA1FB-0A25-44FA-821F-8ADD503ABA32}"/>
              </a:ext>
            </a:extLst>
          </p:cNvPr>
          <p:cNvSpPr/>
          <p:nvPr/>
        </p:nvSpPr>
        <p:spPr>
          <a:xfrm>
            <a:off x="6676013" y="2281768"/>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err="1"/>
              <a:t>i</a:t>
            </a:r>
            <a:endParaRPr lang="en-US" sz="1400" dirty="0"/>
          </a:p>
        </p:txBody>
      </p:sp>
      <p:grpSp>
        <p:nvGrpSpPr>
          <p:cNvPr id="6" name="Group 5">
            <a:extLst>
              <a:ext uri="{FF2B5EF4-FFF2-40B4-BE49-F238E27FC236}">
                <a16:creationId xmlns:a16="http://schemas.microsoft.com/office/drawing/2014/main" id="{7E3F831D-7D4F-3B99-3CF0-D67BC5383826}"/>
              </a:ext>
            </a:extLst>
          </p:cNvPr>
          <p:cNvGrpSpPr/>
          <p:nvPr/>
        </p:nvGrpSpPr>
        <p:grpSpPr>
          <a:xfrm>
            <a:off x="6612532" y="1737879"/>
            <a:ext cx="1459863" cy="369332"/>
            <a:chOff x="6759181" y="1447800"/>
            <a:chExt cx="1459863" cy="369332"/>
          </a:xfrm>
        </p:grpSpPr>
        <p:cxnSp>
          <p:nvCxnSpPr>
            <p:cNvPr id="22" name="Straight Arrow Connector 21">
              <a:extLst>
                <a:ext uri="{FF2B5EF4-FFF2-40B4-BE49-F238E27FC236}">
                  <a16:creationId xmlns:a16="http://schemas.microsoft.com/office/drawing/2014/main" id="{65673889-0999-4224-AE70-F37A3481AF62}"/>
                </a:ext>
              </a:extLst>
            </p:cNvPr>
            <p:cNvCxnSpPr>
              <a:cxnSpLocks/>
            </p:cNvCxnSpPr>
            <p:nvPr/>
          </p:nvCxnSpPr>
          <p:spPr>
            <a:xfrm>
              <a:off x="7977811" y="1634580"/>
              <a:ext cx="24123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571BA5E-860F-497F-B1C2-6AA8B09C1901}"/>
                </a:ext>
              </a:extLst>
            </p:cNvPr>
            <p:cNvSpPr txBox="1"/>
            <p:nvPr/>
          </p:nvSpPr>
          <p:spPr>
            <a:xfrm>
              <a:off x="6759181" y="1447800"/>
              <a:ext cx="1231263" cy="369332"/>
            </a:xfrm>
            <a:prstGeom prst="rect">
              <a:avLst/>
            </a:prstGeom>
            <a:noFill/>
          </p:spPr>
          <p:txBody>
            <a:bodyPr wrap="square" rtlCol="0">
              <a:spAutoFit/>
            </a:bodyPr>
            <a:lstStyle/>
            <a:p>
              <a:r>
                <a:rPr lang="en-US" dirty="0">
                  <a:solidFill>
                    <a:srgbClr val="0070C0"/>
                  </a:solidFill>
                </a:rPr>
                <a:t>Transitions</a:t>
              </a:r>
            </a:p>
          </p:txBody>
        </p:sp>
      </p:grpSp>
      <p:sp>
        <p:nvSpPr>
          <p:cNvPr id="26" name="TextBox 25">
            <a:extLst>
              <a:ext uri="{FF2B5EF4-FFF2-40B4-BE49-F238E27FC236}">
                <a16:creationId xmlns:a16="http://schemas.microsoft.com/office/drawing/2014/main" id="{7A0BC9ED-5B8D-4565-A622-5EE8EBBD0DDC}"/>
              </a:ext>
            </a:extLst>
          </p:cNvPr>
          <p:cNvSpPr txBox="1"/>
          <p:nvPr/>
        </p:nvSpPr>
        <p:spPr>
          <a:xfrm>
            <a:off x="6609471" y="1435194"/>
            <a:ext cx="2461020" cy="369332"/>
          </a:xfrm>
          <a:prstGeom prst="rect">
            <a:avLst/>
          </a:prstGeom>
          <a:noFill/>
        </p:spPr>
        <p:txBody>
          <a:bodyPr wrap="square" rtlCol="0">
            <a:spAutoFit/>
          </a:bodyPr>
          <a:lstStyle/>
          <a:p>
            <a:r>
              <a:rPr lang="en-US" dirty="0">
                <a:solidFill>
                  <a:srgbClr val="0070C0"/>
                </a:solidFill>
              </a:rPr>
              <a:t>Actions: {N, E, S, W}</a:t>
            </a:r>
          </a:p>
        </p:txBody>
      </p:sp>
      <p:cxnSp>
        <p:nvCxnSpPr>
          <p:cNvPr id="17" name="Straight Connector 16">
            <a:extLst>
              <a:ext uri="{FF2B5EF4-FFF2-40B4-BE49-F238E27FC236}">
                <a16:creationId xmlns:a16="http://schemas.microsoft.com/office/drawing/2014/main" id="{29687937-4135-4287-8ED0-00C110B5596F}"/>
              </a:ext>
            </a:extLst>
          </p:cNvPr>
          <p:cNvCxnSpPr/>
          <p:nvPr/>
        </p:nvCxnSpPr>
        <p:spPr>
          <a:xfrm>
            <a:off x="5421460" y="2259763"/>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Connector 26">
            <a:extLst>
              <a:ext uri="{FF2B5EF4-FFF2-40B4-BE49-F238E27FC236}">
                <a16:creationId xmlns:a16="http://schemas.microsoft.com/office/drawing/2014/main" id="{469C5812-42DE-40DC-BDBD-1FFFCE448FCA}"/>
              </a:ext>
            </a:extLst>
          </p:cNvPr>
          <p:cNvCxnSpPr/>
          <p:nvPr/>
        </p:nvCxnSpPr>
        <p:spPr>
          <a:xfrm>
            <a:off x="5421460" y="2412163"/>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8337C082-C11C-4A5E-8046-ABC50F3CE1D3}"/>
              </a:ext>
            </a:extLst>
          </p:cNvPr>
          <p:cNvCxnSpPr/>
          <p:nvPr/>
        </p:nvCxnSpPr>
        <p:spPr>
          <a:xfrm>
            <a:off x="5394903" y="255027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Straight Connector 28">
            <a:extLst>
              <a:ext uri="{FF2B5EF4-FFF2-40B4-BE49-F238E27FC236}">
                <a16:creationId xmlns:a16="http://schemas.microsoft.com/office/drawing/2014/main" id="{10128FD0-995C-44C6-BC82-E8B6DD8664B1}"/>
              </a:ext>
            </a:extLst>
          </p:cNvPr>
          <p:cNvCxnSpPr/>
          <p:nvPr/>
        </p:nvCxnSpPr>
        <p:spPr>
          <a:xfrm>
            <a:off x="5410200" y="270267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EE473A66-8C99-435D-89ED-C3CB92A4D343}"/>
              </a:ext>
            </a:extLst>
          </p:cNvPr>
          <p:cNvCxnSpPr/>
          <p:nvPr/>
        </p:nvCxnSpPr>
        <p:spPr>
          <a:xfrm>
            <a:off x="5410200" y="2855074"/>
            <a:ext cx="2682297"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Straight Connector 30">
            <a:extLst>
              <a:ext uri="{FF2B5EF4-FFF2-40B4-BE49-F238E27FC236}">
                <a16:creationId xmlns:a16="http://schemas.microsoft.com/office/drawing/2014/main" id="{2D4C0013-827F-43B0-B1C5-F1F166FC5150}"/>
              </a:ext>
            </a:extLst>
          </p:cNvPr>
          <p:cNvCxnSpPr>
            <a:cxnSpLocks/>
          </p:cNvCxnSpPr>
          <p:nvPr/>
        </p:nvCxnSpPr>
        <p:spPr>
          <a:xfrm>
            <a:off x="5552796" y="2129368"/>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8317EB5F-59B7-4B98-AAD0-4F438034304A}"/>
              </a:ext>
            </a:extLst>
          </p:cNvPr>
          <p:cNvCxnSpPr>
            <a:cxnSpLocks/>
          </p:cNvCxnSpPr>
          <p:nvPr/>
        </p:nvCxnSpPr>
        <p:spPr>
          <a:xfrm>
            <a:off x="5715000" y="2113473"/>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5" name="Straight Connector 34">
            <a:extLst>
              <a:ext uri="{FF2B5EF4-FFF2-40B4-BE49-F238E27FC236}">
                <a16:creationId xmlns:a16="http://schemas.microsoft.com/office/drawing/2014/main" id="{EAAE9D7B-1F76-48F2-BA81-C37C75D16EEA}"/>
              </a:ext>
            </a:extLst>
          </p:cNvPr>
          <p:cNvCxnSpPr>
            <a:cxnSpLocks/>
          </p:cNvCxnSpPr>
          <p:nvPr/>
        </p:nvCxnSpPr>
        <p:spPr>
          <a:xfrm>
            <a:off x="5863599" y="2113473"/>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6" name="Straight Connector 35">
            <a:extLst>
              <a:ext uri="{FF2B5EF4-FFF2-40B4-BE49-F238E27FC236}">
                <a16:creationId xmlns:a16="http://schemas.microsoft.com/office/drawing/2014/main" id="{23F52CD6-6A81-4DA4-BEEC-59386F2D6FDA}"/>
              </a:ext>
            </a:extLst>
          </p:cNvPr>
          <p:cNvCxnSpPr>
            <a:cxnSpLocks/>
          </p:cNvCxnSpPr>
          <p:nvPr/>
        </p:nvCxnSpPr>
        <p:spPr>
          <a:xfrm>
            <a:off x="6015999" y="2093074"/>
            <a:ext cx="0" cy="2722801"/>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58AFD909-C193-49F1-A066-9C45405DA878}"/>
              </a:ext>
            </a:extLst>
          </p:cNvPr>
          <p:cNvCxnSpPr>
            <a:cxnSpLocks/>
          </p:cNvCxnSpPr>
          <p:nvPr/>
        </p:nvCxnSpPr>
        <p:spPr>
          <a:xfrm>
            <a:off x="5394903" y="5014074"/>
            <a:ext cx="260924" cy="0"/>
          </a:xfrm>
          <a:prstGeom prst="line">
            <a:avLst/>
          </a:prstGeom>
          <a:ln w="19050" cap="flat" cmpd="sng" algn="ctr">
            <a:solidFill>
              <a:schemeClr val="accent2"/>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5" name="TextBox 44">
            <a:extLst>
              <a:ext uri="{FF2B5EF4-FFF2-40B4-BE49-F238E27FC236}">
                <a16:creationId xmlns:a16="http://schemas.microsoft.com/office/drawing/2014/main" id="{E68A1506-39CD-4A5C-83C9-2ACC7F826366}"/>
              </a:ext>
            </a:extLst>
          </p:cNvPr>
          <p:cNvSpPr txBox="1"/>
          <p:nvPr/>
        </p:nvSpPr>
        <p:spPr>
          <a:xfrm>
            <a:off x="5628996" y="4879970"/>
            <a:ext cx="1309526" cy="276999"/>
          </a:xfrm>
          <a:prstGeom prst="rect">
            <a:avLst/>
          </a:prstGeom>
          <a:noFill/>
        </p:spPr>
        <p:txBody>
          <a:bodyPr wrap="none" rtlCol="0">
            <a:spAutoFit/>
          </a:bodyPr>
          <a:lstStyle/>
          <a:p>
            <a:r>
              <a:rPr lang="en-US" sz="1200" dirty="0">
                <a:solidFill>
                  <a:schemeClr val="accent2"/>
                </a:solidFill>
              </a:rPr>
              <a:t>Discretization grid</a:t>
            </a:r>
          </a:p>
        </p:txBody>
      </p:sp>
      <p:sp>
        <p:nvSpPr>
          <p:cNvPr id="38" name="Down Arrow 4">
            <a:extLst>
              <a:ext uri="{FF2B5EF4-FFF2-40B4-BE49-F238E27FC236}">
                <a16:creationId xmlns:a16="http://schemas.microsoft.com/office/drawing/2014/main" id="{9B86BD56-3633-4A66-BC43-D6E0BE064858}"/>
              </a:ext>
            </a:extLst>
          </p:cNvPr>
          <p:cNvSpPr/>
          <p:nvPr/>
        </p:nvSpPr>
        <p:spPr>
          <a:xfrm>
            <a:off x="5514696" y="1787432"/>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277BC777-037B-4AB0-AEB7-53A9DF889355}"/>
              </a:ext>
            </a:extLst>
          </p:cNvPr>
          <p:cNvSpPr txBox="1"/>
          <p:nvPr/>
        </p:nvSpPr>
        <p:spPr>
          <a:xfrm>
            <a:off x="4810833" y="1447800"/>
            <a:ext cx="1483925" cy="369332"/>
          </a:xfrm>
          <a:prstGeom prst="rect">
            <a:avLst/>
          </a:prstGeom>
          <a:noFill/>
        </p:spPr>
        <p:txBody>
          <a:bodyPr wrap="square" rtlCol="0">
            <a:spAutoFit/>
          </a:bodyPr>
          <a:lstStyle/>
          <a:p>
            <a:pPr algn="ctr"/>
            <a:r>
              <a:rPr lang="en-US" dirty="0">
                <a:solidFill>
                  <a:srgbClr val="0070C0"/>
                </a:solidFill>
              </a:rPr>
              <a:t>Initial state</a:t>
            </a:r>
          </a:p>
        </p:txBody>
      </p:sp>
      <p:sp>
        <p:nvSpPr>
          <p:cNvPr id="40" name="Oval 39">
            <a:extLst>
              <a:ext uri="{FF2B5EF4-FFF2-40B4-BE49-F238E27FC236}">
                <a16:creationId xmlns:a16="http://schemas.microsoft.com/office/drawing/2014/main" id="{591E3298-22B0-4212-90A8-E1A0D2EEBE2B}"/>
              </a:ext>
            </a:extLst>
          </p:cNvPr>
          <p:cNvSpPr/>
          <p:nvPr/>
        </p:nvSpPr>
        <p:spPr>
          <a:xfrm>
            <a:off x="5558615" y="2128526"/>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1</a:t>
            </a:r>
          </a:p>
        </p:txBody>
      </p:sp>
      <p:sp>
        <p:nvSpPr>
          <p:cNvPr id="44" name="Oval 43">
            <a:extLst>
              <a:ext uri="{FF2B5EF4-FFF2-40B4-BE49-F238E27FC236}">
                <a16:creationId xmlns:a16="http://schemas.microsoft.com/office/drawing/2014/main" id="{2DC0CDDF-A4C1-406D-AE6F-F91B19B419D9}"/>
              </a:ext>
            </a:extLst>
          </p:cNvPr>
          <p:cNvSpPr/>
          <p:nvPr/>
        </p:nvSpPr>
        <p:spPr>
          <a:xfrm>
            <a:off x="5555160" y="2557923"/>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4</a:t>
            </a:r>
          </a:p>
        </p:txBody>
      </p:sp>
      <p:sp>
        <p:nvSpPr>
          <p:cNvPr id="46" name="Oval 45">
            <a:extLst>
              <a:ext uri="{FF2B5EF4-FFF2-40B4-BE49-F238E27FC236}">
                <a16:creationId xmlns:a16="http://schemas.microsoft.com/office/drawing/2014/main" id="{984B5B67-6D05-4485-ADD9-072D535E7789}"/>
              </a:ext>
            </a:extLst>
          </p:cNvPr>
          <p:cNvSpPr/>
          <p:nvPr/>
        </p:nvSpPr>
        <p:spPr>
          <a:xfrm>
            <a:off x="5846337" y="3410732"/>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a</a:t>
            </a:r>
          </a:p>
        </p:txBody>
      </p:sp>
      <p:cxnSp>
        <p:nvCxnSpPr>
          <p:cNvPr id="47" name="Straight Arrow Connector 46">
            <a:extLst>
              <a:ext uri="{FF2B5EF4-FFF2-40B4-BE49-F238E27FC236}">
                <a16:creationId xmlns:a16="http://schemas.microsoft.com/office/drawing/2014/main" id="{2E4ED78A-43EA-4C5D-81B3-EE4117FDC788}"/>
              </a:ext>
            </a:extLst>
          </p:cNvPr>
          <p:cNvCxnSpPr>
            <a:cxnSpLocks/>
          </p:cNvCxnSpPr>
          <p:nvPr/>
        </p:nvCxnSpPr>
        <p:spPr>
          <a:xfrm>
            <a:off x="5629733" y="2259510"/>
            <a:ext cx="0" cy="174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5234026-4A72-40D5-A45D-467527A6F844}"/>
              </a:ext>
            </a:extLst>
          </p:cNvPr>
          <p:cNvCxnSpPr>
            <a:cxnSpLocks/>
          </p:cNvCxnSpPr>
          <p:nvPr/>
        </p:nvCxnSpPr>
        <p:spPr>
          <a:xfrm>
            <a:off x="5628996" y="2767745"/>
            <a:ext cx="0" cy="204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63CF492-00EA-448F-8BF3-26C164A7AD88}"/>
              </a:ext>
            </a:extLst>
          </p:cNvPr>
          <p:cNvCxnSpPr>
            <a:cxnSpLocks/>
          </p:cNvCxnSpPr>
          <p:nvPr/>
        </p:nvCxnSpPr>
        <p:spPr>
          <a:xfrm>
            <a:off x="5619745" y="3200400"/>
            <a:ext cx="1905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Down Arrow 6">
            <a:extLst>
              <a:ext uri="{FF2B5EF4-FFF2-40B4-BE49-F238E27FC236}">
                <a16:creationId xmlns:a16="http://schemas.microsoft.com/office/drawing/2014/main" id="{56072883-650A-4C0E-80EC-F512D4DB22FD}"/>
              </a:ext>
            </a:extLst>
          </p:cNvPr>
          <p:cNvSpPr/>
          <p:nvPr/>
        </p:nvSpPr>
        <p:spPr>
          <a:xfrm rot="5400000">
            <a:off x="8190663" y="4497989"/>
            <a:ext cx="2286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5AD0C5CE-DA21-48E5-8865-6144965F8A03}"/>
              </a:ext>
            </a:extLst>
          </p:cNvPr>
          <p:cNvSpPr txBox="1"/>
          <p:nvPr/>
        </p:nvSpPr>
        <p:spPr>
          <a:xfrm>
            <a:off x="8463130" y="4346958"/>
            <a:ext cx="668773" cy="646331"/>
          </a:xfrm>
          <a:prstGeom prst="rect">
            <a:avLst/>
          </a:prstGeom>
          <a:noFill/>
        </p:spPr>
        <p:txBody>
          <a:bodyPr wrap="none" rtlCol="0">
            <a:spAutoFit/>
          </a:bodyPr>
          <a:lstStyle/>
          <a:p>
            <a:r>
              <a:rPr lang="en-US" dirty="0">
                <a:solidFill>
                  <a:srgbClr val="0070C0"/>
                </a:solidFill>
              </a:rPr>
              <a:t>Goal </a:t>
            </a:r>
            <a:br>
              <a:rPr lang="en-US" dirty="0">
                <a:solidFill>
                  <a:srgbClr val="0070C0"/>
                </a:solidFill>
              </a:rPr>
            </a:br>
            <a:r>
              <a:rPr lang="en-US" dirty="0">
                <a:solidFill>
                  <a:srgbClr val="0070C0"/>
                </a:solidFill>
              </a:rPr>
              <a:t>state</a:t>
            </a:r>
          </a:p>
        </p:txBody>
      </p:sp>
      <p:sp>
        <p:nvSpPr>
          <p:cNvPr id="56" name="Oval 55">
            <a:extLst>
              <a:ext uri="{FF2B5EF4-FFF2-40B4-BE49-F238E27FC236}">
                <a16:creationId xmlns:a16="http://schemas.microsoft.com/office/drawing/2014/main" id="{27F92480-ACCD-4408-BFAD-29C5DBE0B302}"/>
              </a:ext>
            </a:extLst>
          </p:cNvPr>
          <p:cNvSpPr/>
          <p:nvPr/>
        </p:nvSpPr>
        <p:spPr>
          <a:xfrm>
            <a:off x="7939260" y="4536089"/>
            <a:ext cx="152400" cy="152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t>z</a:t>
            </a:r>
          </a:p>
        </p:txBody>
      </p:sp>
      <p:sp>
        <p:nvSpPr>
          <p:cNvPr id="4" name="Freeform: Shape 3">
            <a:extLst>
              <a:ext uri="{FF2B5EF4-FFF2-40B4-BE49-F238E27FC236}">
                <a16:creationId xmlns:a16="http://schemas.microsoft.com/office/drawing/2014/main" id="{283C8E63-C221-496D-3FD8-F7E9C8FB4B3A}"/>
              </a:ext>
            </a:extLst>
          </p:cNvPr>
          <p:cNvSpPr/>
          <p:nvPr/>
        </p:nvSpPr>
        <p:spPr>
          <a:xfrm>
            <a:off x="5596420" y="2286000"/>
            <a:ext cx="2365551" cy="2275128"/>
          </a:xfrm>
          <a:custGeom>
            <a:avLst/>
            <a:gdLst>
              <a:gd name="connsiteX0" fmla="*/ 23795 w 2365551"/>
              <a:gd name="connsiteY0" fmla="*/ 0 h 2275128"/>
              <a:gd name="connsiteX1" fmla="*/ 34946 w 2365551"/>
              <a:gd name="connsiteY1" fmla="*/ 312234 h 2275128"/>
              <a:gd name="connsiteX2" fmla="*/ 336029 w 2365551"/>
              <a:gd name="connsiteY2" fmla="*/ 66908 h 2275128"/>
              <a:gd name="connsiteX3" fmla="*/ 1150068 w 2365551"/>
              <a:gd name="connsiteY3" fmla="*/ 78059 h 2275128"/>
              <a:gd name="connsiteX4" fmla="*/ 1172370 w 2365551"/>
              <a:gd name="connsiteY4" fmla="*/ 323386 h 2275128"/>
              <a:gd name="connsiteX5" fmla="*/ 2242887 w 2365551"/>
              <a:gd name="connsiteY5" fmla="*/ 334537 h 2275128"/>
              <a:gd name="connsiteX6" fmla="*/ 1997560 w 2365551"/>
              <a:gd name="connsiteY6" fmla="*/ 914400 h 2275128"/>
              <a:gd name="connsiteX7" fmla="*/ 1975258 w 2365551"/>
              <a:gd name="connsiteY7" fmla="*/ 936703 h 2275128"/>
              <a:gd name="connsiteX8" fmla="*/ 1964107 w 2365551"/>
              <a:gd name="connsiteY8" fmla="*/ 1449659 h 2275128"/>
              <a:gd name="connsiteX9" fmla="*/ 1674175 w 2365551"/>
              <a:gd name="connsiteY9" fmla="*/ 1438508 h 2275128"/>
              <a:gd name="connsiteX10" fmla="*/ 1462302 w 2365551"/>
              <a:gd name="connsiteY10" fmla="*/ 613317 h 2275128"/>
              <a:gd name="connsiteX11" fmla="*/ 782078 w 2365551"/>
              <a:gd name="connsiteY11" fmla="*/ 635620 h 2275128"/>
              <a:gd name="connsiteX12" fmla="*/ 770926 w 2365551"/>
              <a:gd name="connsiteY12" fmla="*/ 869795 h 2275128"/>
              <a:gd name="connsiteX13" fmla="*/ 692868 w 2365551"/>
              <a:gd name="connsiteY13" fmla="*/ 880947 h 2275128"/>
              <a:gd name="connsiteX14" fmla="*/ 659414 w 2365551"/>
              <a:gd name="connsiteY14" fmla="*/ 892098 h 2275128"/>
              <a:gd name="connsiteX15" fmla="*/ 625960 w 2365551"/>
              <a:gd name="connsiteY15" fmla="*/ 1471961 h 2275128"/>
              <a:gd name="connsiteX16" fmla="*/ 871287 w 2365551"/>
              <a:gd name="connsiteY16" fmla="*/ 1460810 h 2275128"/>
              <a:gd name="connsiteX17" fmla="*/ 882439 w 2365551"/>
              <a:gd name="connsiteY17" fmla="*/ 1237786 h 2275128"/>
              <a:gd name="connsiteX18" fmla="*/ 1216975 w 2365551"/>
              <a:gd name="connsiteY18" fmla="*/ 1248937 h 2275128"/>
              <a:gd name="connsiteX19" fmla="*/ 1228126 w 2365551"/>
              <a:gd name="connsiteY19" fmla="*/ 2007220 h 2275128"/>
              <a:gd name="connsiteX20" fmla="*/ 1406546 w 2365551"/>
              <a:gd name="connsiteY20" fmla="*/ 1996068 h 2275128"/>
              <a:gd name="connsiteX21" fmla="*/ 1428848 w 2365551"/>
              <a:gd name="connsiteY21" fmla="*/ 1572322 h 2275128"/>
              <a:gd name="connsiteX22" fmla="*/ 1518058 w 2365551"/>
              <a:gd name="connsiteY22" fmla="*/ 1594625 h 2275128"/>
              <a:gd name="connsiteX23" fmla="*/ 1685326 w 2365551"/>
              <a:gd name="connsiteY23" fmla="*/ 1661532 h 2275128"/>
              <a:gd name="connsiteX24" fmla="*/ 2265190 w 2365551"/>
              <a:gd name="connsiteY24" fmla="*/ 1750742 h 2275128"/>
              <a:gd name="connsiteX25" fmla="*/ 2365551 w 2365551"/>
              <a:gd name="connsiteY25" fmla="*/ 2274849 h 227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65551" h="2275128">
                <a:moveTo>
                  <a:pt x="23795" y="0"/>
                </a:moveTo>
                <a:cubicBezTo>
                  <a:pt x="27512" y="104078"/>
                  <a:pt x="-38695" y="238593"/>
                  <a:pt x="34946" y="312234"/>
                </a:cubicBezTo>
                <a:cubicBezTo>
                  <a:pt x="385596" y="662884"/>
                  <a:pt x="334314" y="102925"/>
                  <a:pt x="336029" y="66908"/>
                </a:cubicBezTo>
                <a:cubicBezTo>
                  <a:pt x="607375" y="70625"/>
                  <a:pt x="890622" y="-1505"/>
                  <a:pt x="1150068" y="78059"/>
                </a:cubicBezTo>
                <a:cubicBezTo>
                  <a:pt x="1228572" y="102134"/>
                  <a:pt x="1092429" y="304624"/>
                  <a:pt x="1172370" y="323386"/>
                </a:cubicBezTo>
                <a:cubicBezTo>
                  <a:pt x="1519788" y="404923"/>
                  <a:pt x="1886048" y="330820"/>
                  <a:pt x="2242887" y="334537"/>
                </a:cubicBezTo>
                <a:cubicBezTo>
                  <a:pt x="2228259" y="1139118"/>
                  <a:pt x="2434942" y="933416"/>
                  <a:pt x="1997560" y="914400"/>
                </a:cubicBezTo>
                <a:cubicBezTo>
                  <a:pt x="1987056" y="913943"/>
                  <a:pt x="1982692" y="929269"/>
                  <a:pt x="1975258" y="936703"/>
                </a:cubicBezTo>
                <a:cubicBezTo>
                  <a:pt x="1971541" y="1107688"/>
                  <a:pt x="2052099" y="1303006"/>
                  <a:pt x="1964107" y="1449659"/>
                </a:cubicBezTo>
                <a:cubicBezTo>
                  <a:pt x="1914347" y="1532592"/>
                  <a:pt x="1710542" y="1528126"/>
                  <a:pt x="1674175" y="1438508"/>
                </a:cubicBezTo>
                <a:cubicBezTo>
                  <a:pt x="1287360" y="485286"/>
                  <a:pt x="1986401" y="798295"/>
                  <a:pt x="1462302" y="613317"/>
                </a:cubicBezTo>
                <a:cubicBezTo>
                  <a:pt x="1235561" y="620751"/>
                  <a:pt x="994777" y="556715"/>
                  <a:pt x="782078" y="635620"/>
                </a:cubicBezTo>
                <a:cubicBezTo>
                  <a:pt x="708810" y="662800"/>
                  <a:pt x="797632" y="796353"/>
                  <a:pt x="770926" y="869795"/>
                </a:cubicBezTo>
                <a:cubicBezTo>
                  <a:pt x="761944" y="894496"/>
                  <a:pt x="718887" y="877230"/>
                  <a:pt x="692868" y="880947"/>
                </a:cubicBezTo>
                <a:cubicBezTo>
                  <a:pt x="681717" y="884664"/>
                  <a:pt x="670420" y="887971"/>
                  <a:pt x="659414" y="892098"/>
                </a:cubicBezTo>
                <a:cubicBezTo>
                  <a:pt x="430734" y="977851"/>
                  <a:pt x="604950" y="946689"/>
                  <a:pt x="625960" y="1471961"/>
                </a:cubicBezTo>
                <a:cubicBezTo>
                  <a:pt x="707736" y="1468244"/>
                  <a:pt x="810834" y="1516006"/>
                  <a:pt x="871287" y="1460810"/>
                </a:cubicBezTo>
                <a:cubicBezTo>
                  <a:pt x="926256" y="1410621"/>
                  <a:pt x="818976" y="1276682"/>
                  <a:pt x="882439" y="1237786"/>
                </a:cubicBezTo>
                <a:cubicBezTo>
                  <a:pt x="977567" y="1179482"/>
                  <a:pt x="1105463" y="1245220"/>
                  <a:pt x="1216975" y="1248937"/>
                </a:cubicBezTo>
                <a:cubicBezTo>
                  <a:pt x="1220692" y="1501698"/>
                  <a:pt x="1165956" y="1762196"/>
                  <a:pt x="1228126" y="2007220"/>
                </a:cubicBezTo>
                <a:cubicBezTo>
                  <a:pt x="1242781" y="2064979"/>
                  <a:pt x="1381575" y="2050173"/>
                  <a:pt x="1406546" y="1996068"/>
                </a:cubicBezTo>
                <a:cubicBezTo>
                  <a:pt x="1465819" y="1867642"/>
                  <a:pt x="1421414" y="1713571"/>
                  <a:pt x="1428848" y="1572322"/>
                </a:cubicBezTo>
                <a:cubicBezTo>
                  <a:pt x="1458585" y="1579756"/>
                  <a:pt x="1489449" y="1583622"/>
                  <a:pt x="1518058" y="1594625"/>
                </a:cubicBezTo>
                <a:cubicBezTo>
                  <a:pt x="1655933" y="1647654"/>
                  <a:pt x="1465602" y="1622549"/>
                  <a:pt x="1685326" y="1661532"/>
                </a:cubicBezTo>
                <a:cubicBezTo>
                  <a:pt x="1877881" y="1695695"/>
                  <a:pt x="2071902" y="1721005"/>
                  <a:pt x="2265190" y="1750742"/>
                </a:cubicBezTo>
                <a:cubicBezTo>
                  <a:pt x="2276974" y="2304579"/>
                  <a:pt x="2101599" y="2274849"/>
                  <a:pt x="2365551" y="2274849"/>
                </a:cubicBezTo>
              </a:path>
            </a:pathLst>
          </a:cu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8F475D2A-AF34-6688-6C09-D1F0D640DB67}"/>
              </a:ext>
            </a:extLst>
          </p:cNvPr>
          <p:cNvCxnSpPr>
            <a:cxnSpLocks/>
          </p:cNvCxnSpPr>
          <p:nvPr/>
        </p:nvCxnSpPr>
        <p:spPr>
          <a:xfrm>
            <a:off x="5628996" y="2357968"/>
            <a:ext cx="0" cy="174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2B9670E-D744-66E0-8741-906EBFC92A5A}"/>
              </a:ext>
            </a:extLst>
          </p:cNvPr>
          <p:cNvCxnSpPr>
            <a:cxnSpLocks/>
          </p:cNvCxnSpPr>
          <p:nvPr/>
        </p:nvCxnSpPr>
        <p:spPr>
          <a:xfrm>
            <a:off x="5628996" y="2996345"/>
            <a:ext cx="0" cy="204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46D190C-E2C5-EF90-53AC-89D4D0B11A5D}"/>
              </a:ext>
            </a:extLst>
          </p:cNvPr>
          <p:cNvCxnSpPr>
            <a:cxnSpLocks/>
          </p:cNvCxnSpPr>
          <p:nvPr/>
        </p:nvCxnSpPr>
        <p:spPr>
          <a:xfrm>
            <a:off x="5792539" y="3200400"/>
            <a:ext cx="1421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46A6517F-3FB9-C86B-8B20-EE453B10B6A9}"/>
              </a:ext>
            </a:extLst>
          </p:cNvPr>
          <p:cNvSpPr/>
          <p:nvPr/>
        </p:nvSpPr>
        <p:spPr>
          <a:xfrm>
            <a:off x="575434" y="2057400"/>
            <a:ext cx="4479551" cy="2956669"/>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8D72-99B9-A207-E474-95FE2AEE3379}"/>
              </a:ext>
            </a:extLst>
          </p:cNvPr>
          <p:cNvSpPr>
            <a:spLocks noGrp="1"/>
          </p:cNvSpPr>
          <p:nvPr>
            <p:ph type="title"/>
          </p:nvPr>
        </p:nvSpPr>
        <p:spPr>
          <a:xfrm>
            <a:off x="628650" y="365127"/>
            <a:ext cx="7886700" cy="1035110"/>
          </a:xfrm>
        </p:spPr>
        <p:txBody>
          <a:bodyPr>
            <a:normAutofit/>
          </a:bodyPr>
          <a:lstStyle/>
          <a:p>
            <a:r>
              <a:rPr lang="en-US" sz="2800" dirty="0"/>
              <a:t>Complete Planning Agent to Solve a Maze</a:t>
            </a:r>
          </a:p>
        </p:txBody>
      </p:sp>
      <p:sp>
        <p:nvSpPr>
          <p:cNvPr id="81" name="TextBox 80">
            <a:extLst>
              <a:ext uri="{FF2B5EF4-FFF2-40B4-BE49-F238E27FC236}">
                <a16:creationId xmlns:a16="http://schemas.microsoft.com/office/drawing/2014/main" id="{13822271-07B3-F1D4-8308-615D8DE88316}"/>
              </a:ext>
            </a:extLst>
          </p:cNvPr>
          <p:cNvSpPr txBox="1"/>
          <p:nvPr/>
        </p:nvSpPr>
        <p:spPr>
          <a:xfrm>
            <a:off x="432690" y="5856889"/>
            <a:ext cx="8413577"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t>The event loop calls the agent function for the next action.</a:t>
            </a:r>
          </a:p>
          <a:p>
            <a:pPr marL="285750" indent="-285750">
              <a:buFont typeface="Arial" panose="020B0604020202020204" pitchFamily="34" charset="0"/>
              <a:buChar char="•"/>
            </a:pPr>
            <a:r>
              <a:rPr lang="en-US" sz="1600" dirty="0"/>
              <a:t>The agent function follows the plan or calls the planning function if there is no plan yet or it thinks the current plan does not work based on the percepts (replanning).</a:t>
            </a:r>
          </a:p>
        </p:txBody>
      </p:sp>
      <p:grpSp>
        <p:nvGrpSpPr>
          <p:cNvPr id="6" name="Group 5">
            <a:extLst>
              <a:ext uri="{FF2B5EF4-FFF2-40B4-BE49-F238E27FC236}">
                <a16:creationId xmlns:a16="http://schemas.microsoft.com/office/drawing/2014/main" id="{B35FBD37-E1A8-6E2B-5B8B-42EA3697236B}"/>
              </a:ext>
            </a:extLst>
          </p:cNvPr>
          <p:cNvGrpSpPr/>
          <p:nvPr/>
        </p:nvGrpSpPr>
        <p:grpSpPr>
          <a:xfrm>
            <a:off x="914400" y="1371600"/>
            <a:ext cx="7086600" cy="4453794"/>
            <a:chOff x="838200" y="1371600"/>
            <a:chExt cx="7086600" cy="4453794"/>
          </a:xfrm>
        </p:grpSpPr>
        <p:sp>
          <p:nvSpPr>
            <p:cNvPr id="4" name="Rectangle 3">
              <a:extLst>
                <a:ext uri="{FF2B5EF4-FFF2-40B4-BE49-F238E27FC236}">
                  <a16:creationId xmlns:a16="http://schemas.microsoft.com/office/drawing/2014/main" id="{47EE04EB-FDAD-F984-D610-9EC783632DAA}"/>
                </a:ext>
              </a:extLst>
            </p:cNvPr>
            <p:cNvSpPr/>
            <p:nvPr/>
          </p:nvSpPr>
          <p:spPr>
            <a:xfrm>
              <a:off x="838200" y="2260852"/>
              <a:ext cx="4565477" cy="304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2F070FF-4D65-E7C9-1ACB-B36EF1F4C786}"/>
                </a:ext>
              </a:extLst>
            </p:cNvPr>
            <p:cNvSpPr/>
            <p:nvPr/>
          </p:nvSpPr>
          <p:spPr>
            <a:xfrm>
              <a:off x="6477000" y="2260852"/>
              <a:ext cx="1447800" cy="304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tx1"/>
                  </a:solidFill>
                </a:rPr>
                <a:t>Environment</a:t>
              </a: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Physical Maze</a:t>
              </a:r>
            </a:p>
          </p:txBody>
        </p:sp>
        <p:sp>
          <p:nvSpPr>
            <p:cNvPr id="12" name="TextBox 11">
              <a:extLst>
                <a:ext uri="{FF2B5EF4-FFF2-40B4-BE49-F238E27FC236}">
                  <a16:creationId xmlns:a16="http://schemas.microsoft.com/office/drawing/2014/main" id="{A79A5B77-0753-3C80-0701-85ED846E29E5}"/>
                </a:ext>
              </a:extLst>
            </p:cNvPr>
            <p:cNvSpPr txBox="1"/>
            <p:nvPr/>
          </p:nvSpPr>
          <p:spPr>
            <a:xfrm>
              <a:off x="3388701" y="1371600"/>
              <a:ext cx="1898478" cy="738664"/>
            </a:xfrm>
            <a:prstGeom prst="rect">
              <a:avLst/>
            </a:prstGeom>
            <a:noFill/>
          </p:spPr>
          <p:txBody>
            <a:bodyPr wrap="square" rtlCol="0">
              <a:spAutoFit/>
            </a:bodyPr>
            <a:lstStyle/>
            <a:p>
              <a:r>
                <a:rPr lang="en-US" sz="1400" dirty="0"/>
                <a:t>Map </a:t>
              </a:r>
              <a:br>
                <a:rPr lang="en-US" sz="1400" dirty="0"/>
              </a:br>
              <a:r>
                <a:rPr lang="en-US" sz="1400" dirty="0"/>
                <a:t>= Transition function + initial and goal state</a:t>
              </a:r>
            </a:p>
          </p:txBody>
        </p:sp>
        <p:cxnSp>
          <p:nvCxnSpPr>
            <p:cNvPr id="14" name="Straight Arrow Connector 13">
              <a:extLst>
                <a:ext uri="{FF2B5EF4-FFF2-40B4-BE49-F238E27FC236}">
                  <a16:creationId xmlns:a16="http://schemas.microsoft.com/office/drawing/2014/main" id="{00F7312F-513F-182C-CCBF-62BEAC8F8370}"/>
                </a:ext>
              </a:extLst>
            </p:cNvPr>
            <p:cNvCxnSpPr>
              <a:cxnSpLocks/>
              <a:endCxn id="24" idx="3"/>
            </p:cNvCxnSpPr>
            <p:nvPr/>
          </p:nvCxnSpPr>
          <p:spPr>
            <a:xfrm flipH="1">
              <a:off x="5098877" y="2700477"/>
              <a:ext cx="153052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2" name="Straight Arrow Connector 21">
              <a:extLst>
                <a:ext uri="{FF2B5EF4-FFF2-40B4-BE49-F238E27FC236}">
                  <a16:creationId xmlns:a16="http://schemas.microsoft.com/office/drawing/2014/main" id="{D078E14E-CE8B-4CAA-DD9E-B4F589A9AB0D}"/>
                </a:ext>
              </a:extLst>
            </p:cNvPr>
            <p:cNvCxnSpPr>
              <a:cxnSpLocks/>
              <a:stCxn id="25" idx="3"/>
            </p:cNvCxnSpPr>
            <p:nvPr/>
          </p:nvCxnSpPr>
          <p:spPr>
            <a:xfrm>
              <a:off x="5201581" y="4991775"/>
              <a:ext cx="158021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4" name="TextBox 23">
              <a:extLst>
                <a:ext uri="{FF2B5EF4-FFF2-40B4-BE49-F238E27FC236}">
                  <a16:creationId xmlns:a16="http://schemas.microsoft.com/office/drawing/2014/main" id="{4AA1C588-96F1-EE94-0BDE-75EB05E5E306}"/>
                </a:ext>
              </a:extLst>
            </p:cNvPr>
            <p:cNvSpPr txBox="1"/>
            <p:nvPr/>
          </p:nvSpPr>
          <p:spPr>
            <a:xfrm>
              <a:off x="4184477" y="2515811"/>
              <a:ext cx="914400" cy="369332"/>
            </a:xfrm>
            <a:prstGeom prst="rect">
              <a:avLst/>
            </a:prstGeom>
            <a:noFill/>
          </p:spPr>
          <p:txBody>
            <a:bodyPr wrap="square" rtlCol="0">
              <a:spAutoFit/>
            </a:bodyPr>
            <a:lstStyle/>
            <a:p>
              <a:r>
                <a:rPr lang="en-US" dirty="0"/>
                <a:t>Sensors</a:t>
              </a:r>
            </a:p>
          </p:txBody>
        </p:sp>
        <p:sp>
          <p:nvSpPr>
            <p:cNvPr id="25" name="TextBox 24">
              <a:extLst>
                <a:ext uri="{FF2B5EF4-FFF2-40B4-BE49-F238E27FC236}">
                  <a16:creationId xmlns:a16="http://schemas.microsoft.com/office/drawing/2014/main" id="{EA083DFE-4C36-0C94-8302-313F526159A3}"/>
                </a:ext>
              </a:extLst>
            </p:cNvPr>
            <p:cNvSpPr txBox="1"/>
            <p:nvPr/>
          </p:nvSpPr>
          <p:spPr>
            <a:xfrm>
              <a:off x="4081772" y="4807109"/>
              <a:ext cx="1119809" cy="369332"/>
            </a:xfrm>
            <a:prstGeom prst="rect">
              <a:avLst/>
            </a:prstGeom>
            <a:noFill/>
          </p:spPr>
          <p:txBody>
            <a:bodyPr wrap="square" rtlCol="0">
              <a:spAutoFit/>
            </a:bodyPr>
            <a:lstStyle/>
            <a:p>
              <a:r>
                <a:rPr lang="en-US" dirty="0"/>
                <a:t>Actuators</a:t>
              </a:r>
            </a:p>
          </p:txBody>
        </p:sp>
        <p:sp>
          <p:nvSpPr>
            <p:cNvPr id="26" name="Flowchart: Document 25">
              <a:extLst>
                <a:ext uri="{FF2B5EF4-FFF2-40B4-BE49-F238E27FC236}">
                  <a16:creationId xmlns:a16="http://schemas.microsoft.com/office/drawing/2014/main" id="{A1D0D1DE-2930-B85A-AEA6-1BA5C797D282}"/>
                </a:ext>
              </a:extLst>
            </p:cNvPr>
            <p:cNvSpPr/>
            <p:nvPr/>
          </p:nvSpPr>
          <p:spPr>
            <a:xfrm>
              <a:off x="2671633" y="3634091"/>
              <a:ext cx="609600" cy="937591"/>
            </a:xfrm>
            <a:prstGeom prst="flowChartDocumen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Plan</a:t>
              </a:r>
            </a:p>
          </p:txBody>
        </p:sp>
        <p:sp>
          <p:nvSpPr>
            <p:cNvPr id="27" name="Rectangle 26">
              <a:extLst>
                <a:ext uri="{FF2B5EF4-FFF2-40B4-BE49-F238E27FC236}">
                  <a16:creationId xmlns:a16="http://schemas.microsoft.com/office/drawing/2014/main" id="{4B335A07-30C7-7F2F-6DE2-F2603A478600}"/>
                </a:ext>
              </a:extLst>
            </p:cNvPr>
            <p:cNvSpPr/>
            <p:nvPr/>
          </p:nvSpPr>
          <p:spPr>
            <a:xfrm>
              <a:off x="2328733" y="2476546"/>
              <a:ext cx="1295400" cy="63541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Planning function</a:t>
              </a:r>
            </a:p>
          </p:txBody>
        </p:sp>
        <p:sp>
          <p:nvSpPr>
            <p:cNvPr id="29" name="Rectangle 28">
              <a:extLst>
                <a:ext uri="{FF2B5EF4-FFF2-40B4-BE49-F238E27FC236}">
                  <a16:creationId xmlns:a16="http://schemas.microsoft.com/office/drawing/2014/main" id="{8B8FE497-FD5A-414F-B390-B1A3A187D04A}"/>
                </a:ext>
              </a:extLst>
            </p:cNvPr>
            <p:cNvSpPr/>
            <p:nvPr/>
          </p:nvSpPr>
          <p:spPr>
            <a:xfrm>
              <a:off x="3991779" y="3569242"/>
              <a:ext cx="1295400" cy="63541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Agent function</a:t>
              </a:r>
            </a:p>
          </p:txBody>
        </p:sp>
        <p:cxnSp>
          <p:nvCxnSpPr>
            <p:cNvPr id="30" name="Straight Arrow Connector 29">
              <a:extLst>
                <a:ext uri="{FF2B5EF4-FFF2-40B4-BE49-F238E27FC236}">
                  <a16:creationId xmlns:a16="http://schemas.microsoft.com/office/drawing/2014/main" id="{A148EE61-3EA1-E3B4-4B55-BEEC9867BF7E}"/>
                </a:ext>
              </a:extLst>
            </p:cNvPr>
            <p:cNvCxnSpPr>
              <a:cxnSpLocks/>
              <a:stCxn id="75" idx="2"/>
              <a:endCxn id="27" idx="0"/>
            </p:cNvCxnSpPr>
            <p:nvPr/>
          </p:nvCxnSpPr>
          <p:spPr>
            <a:xfrm>
              <a:off x="2976433" y="2155611"/>
              <a:ext cx="0" cy="3209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Straight Arrow Connector 34">
              <a:extLst>
                <a:ext uri="{FF2B5EF4-FFF2-40B4-BE49-F238E27FC236}">
                  <a16:creationId xmlns:a16="http://schemas.microsoft.com/office/drawing/2014/main" id="{0AEBF7BB-9215-C0AF-2072-EF71F603943A}"/>
                </a:ext>
              </a:extLst>
            </p:cNvPr>
            <p:cNvCxnSpPr>
              <a:stCxn id="24" idx="2"/>
              <a:endCxn id="29" idx="0"/>
            </p:cNvCxnSpPr>
            <p:nvPr/>
          </p:nvCxnSpPr>
          <p:spPr>
            <a:xfrm flipH="1">
              <a:off x="4639479" y="2885143"/>
              <a:ext cx="2198" cy="68409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0" name="Straight Arrow Connector 39">
              <a:extLst>
                <a:ext uri="{FF2B5EF4-FFF2-40B4-BE49-F238E27FC236}">
                  <a16:creationId xmlns:a16="http://schemas.microsoft.com/office/drawing/2014/main" id="{CB43D0F8-D6D4-A99A-BDBD-1CB85F0EF0AB}"/>
                </a:ext>
              </a:extLst>
            </p:cNvPr>
            <p:cNvCxnSpPr>
              <a:cxnSpLocks/>
              <a:stCxn id="29" idx="2"/>
              <a:endCxn id="25" idx="0"/>
            </p:cNvCxnSpPr>
            <p:nvPr/>
          </p:nvCxnSpPr>
          <p:spPr>
            <a:xfrm>
              <a:off x="4639479" y="4204653"/>
              <a:ext cx="2198" cy="6024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0" name="Straight Arrow Connector 49">
              <a:extLst>
                <a:ext uri="{FF2B5EF4-FFF2-40B4-BE49-F238E27FC236}">
                  <a16:creationId xmlns:a16="http://schemas.microsoft.com/office/drawing/2014/main" id="{4EFB613D-1690-C492-C50D-D118275F3CAF}"/>
                </a:ext>
              </a:extLst>
            </p:cNvPr>
            <p:cNvCxnSpPr>
              <a:cxnSpLocks/>
              <a:stCxn id="27" idx="2"/>
              <a:endCxn id="26" idx="0"/>
            </p:cNvCxnSpPr>
            <p:nvPr/>
          </p:nvCxnSpPr>
          <p:spPr>
            <a:xfrm>
              <a:off x="2976433" y="3111957"/>
              <a:ext cx="0" cy="52213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54" name="Rectangle 53">
              <a:extLst>
                <a:ext uri="{FF2B5EF4-FFF2-40B4-BE49-F238E27FC236}">
                  <a16:creationId xmlns:a16="http://schemas.microsoft.com/office/drawing/2014/main" id="{0B7C1EE7-71F7-6B4F-D34C-379DCC7C376F}"/>
                </a:ext>
              </a:extLst>
            </p:cNvPr>
            <p:cNvSpPr/>
            <p:nvPr/>
          </p:nvSpPr>
          <p:spPr>
            <a:xfrm>
              <a:off x="2471120" y="4673049"/>
              <a:ext cx="898563" cy="413479"/>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Current step in plan</a:t>
              </a:r>
            </a:p>
          </p:txBody>
        </p:sp>
        <p:cxnSp>
          <p:nvCxnSpPr>
            <p:cNvPr id="58" name="Straight Arrow Connector 57">
              <a:extLst>
                <a:ext uri="{FF2B5EF4-FFF2-40B4-BE49-F238E27FC236}">
                  <a16:creationId xmlns:a16="http://schemas.microsoft.com/office/drawing/2014/main" id="{153297F0-3177-04CD-16C2-36C9AB8FDEB0}"/>
                </a:ext>
              </a:extLst>
            </p:cNvPr>
            <p:cNvCxnSpPr>
              <a:cxnSpLocks/>
            </p:cNvCxnSpPr>
            <p:nvPr/>
          </p:nvCxnSpPr>
          <p:spPr>
            <a:xfrm flipH="1" flipV="1">
              <a:off x="3624133" y="2794251"/>
              <a:ext cx="384261" cy="79164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1" name="Straight Arrow Connector 60">
              <a:extLst>
                <a:ext uri="{FF2B5EF4-FFF2-40B4-BE49-F238E27FC236}">
                  <a16:creationId xmlns:a16="http://schemas.microsoft.com/office/drawing/2014/main" id="{2AC11F8C-0F28-1F74-A8AC-B78E269513FC}"/>
                </a:ext>
              </a:extLst>
            </p:cNvPr>
            <p:cNvCxnSpPr>
              <a:stCxn id="26" idx="3"/>
              <a:endCxn id="29" idx="1"/>
            </p:cNvCxnSpPr>
            <p:nvPr/>
          </p:nvCxnSpPr>
          <p:spPr>
            <a:xfrm flipV="1">
              <a:off x="3281233" y="3886948"/>
              <a:ext cx="710546" cy="21593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65" name="Straight Arrow Connector 64">
              <a:extLst>
                <a:ext uri="{FF2B5EF4-FFF2-40B4-BE49-F238E27FC236}">
                  <a16:creationId xmlns:a16="http://schemas.microsoft.com/office/drawing/2014/main" id="{C2DC9E51-BDEE-14E6-1A5F-B87C11A51AD9}"/>
                </a:ext>
              </a:extLst>
            </p:cNvPr>
            <p:cNvCxnSpPr>
              <a:cxnSpLocks/>
              <a:stCxn id="54" idx="3"/>
              <a:endCxn id="29" idx="1"/>
            </p:cNvCxnSpPr>
            <p:nvPr/>
          </p:nvCxnSpPr>
          <p:spPr>
            <a:xfrm flipV="1">
              <a:off x="3369683" y="3886948"/>
              <a:ext cx="622096" cy="992841"/>
            </a:xfrm>
            <a:prstGeom prst="straightConnector1">
              <a:avLst/>
            </a:prstGeom>
            <a:ln>
              <a:headEnd type="triangl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66" name="TextBox 65">
              <a:extLst>
                <a:ext uri="{FF2B5EF4-FFF2-40B4-BE49-F238E27FC236}">
                  <a16:creationId xmlns:a16="http://schemas.microsoft.com/office/drawing/2014/main" id="{A832D720-62A7-875A-50E7-2D1B1CF429F3}"/>
                </a:ext>
              </a:extLst>
            </p:cNvPr>
            <p:cNvSpPr txBox="1"/>
            <p:nvPr/>
          </p:nvSpPr>
          <p:spPr>
            <a:xfrm>
              <a:off x="903192" y="2428726"/>
              <a:ext cx="1495996" cy="2000548"/>
            </a:xfrm>
            <a:prstGeom prst="rect">
              <a:avLst/>
            </a:prstGeom>
            <a:noFill/>
          </p:spPr>
          <p:txBody>
            <a:bodyPr wrap="square" rtlCol="0">
              <a:spAutoFit/>
            </a:bodyPr>
            <a:lstStyle/>
            <a:p>
              <a:r>
                <a:rPr lang="en-US" sz="1600" b="1" dirty="0"/>
                <a:t>Physical agent </a:t>
              </a:r>
            </a:p>
            <a:p>
              <a:endParaRPr lang="en-US" sz="1200" dirty="0"/>
            </a:p>
            <a:p>
              <a:r>
                <a:rPr lang="en-US" sz="1200" dirty="0"/>
                <a:t>has an event loop:</a:t>
              </a:r>
            </a:p>
            <a:p>
              <a:pPr marL="285750" indent="-285750">
                <a:buFont typeface="Arial" panose="020B0604020202020204" pitchFamily="34" charset="0"/>
                <a:buChar char="•"/>
              </a:pPr>
              <a:r>
                <a:rPr lang="en-US" sz="1200" dirty="0"/>
                <a:t>Read sensors</a:t>
              </a:r>
            </a:p>
            <a:p>
              <a:pPr marL="285750" indent="-285750">
                <a:buFont typeface="Arial" panose="020B0604020202020204" pitchFamily="34" charset="0"/>
                <a:buChar char="•"/>
              </a:pPr>
              <a:r>
                <a:rPr lang="en-US" sz="1200" dirty="0"/>
                <a:t>Call agent function</a:t>
              </a:r>
            </a:p>
            <a:p>
              <a:pPr marL="285750" indent="-285750">
                <a:buFont typeface="Arial" panose="020B0604020202020204" pitchFamily="34" charset="0"/>
                <a:buChar char="•"/>
              </a:pPr>
              <a:r>
                <a:rPr lang="en-US" sz="1200" dirty="0"/>
                <a:t>Execute action in the physical environment</a:t>
              </a:r>
            </a:p>
            <a:p>
              <a:pPr marL="285750" indent="-285750">
                <a:buFont typeface="Arial" panose="020B0604020202020204" pitchFamily="34" charset="0"/>
                <a:buChar char="•"/>
              </a:pPr>
              <a:r>
                <a:rPr lang="en-US" sz="1200" dirty="0"/>
                <a:t>Repeat</a:t>
              </a:r>
            </a:p>
          </p:txBody>
        </p:sp>
        <p:sp>
          <p:nvSpPr>
            <p:cNvPr id="67" name="TextBox 66">
              <a:extLst>
                <a:ext uri="{FF2B5EF4-FFF2-40B4-BE49-F238E27FC236}">
                  <a16:creationId xmlns:a16="http://schemas.microsoft.com/office/drawing/2014/main" id="{E2D8A0B5-2575-659B-3EB2-DB7A163D7D89}"/>
                </a:ext>
              </a:extLst>
            </p:cNvPr>
            <p:cNvSpPr txBox="1"/>
            <p:nvPr/>
          </p:nvSpPr>
          <p:spPr>
            <a:xfrm rot="3894451">
              <a:off x="3599472" y="2892076"/>
              <a:ext cx="912202" cy="415498"/>
            </a:xfrm>
            <a:prstGeom prst="rect">
              <a:avLst/>
            </a:prstGeom>
            <a:noFill/>
          </p:spPr>
          <p:txBody>
            <a:bodyPr wrap="square" rtlCol="0">
              <a:spAutoFit/>
            </a:bodyPr>
            <a:lstStyle/>
            <a:p>
              <a:pPr algn="ctr"/>
              <a:r>
                <a:rPr lang="en-US" sz="1050" dirty="0"/>
                <a:t>Need  to plan or replan</a:t>
              </a:r>
            </a:p>
          </p:txBody>
        </p:sp>
        <p:sp>
          <p:nvSpPr>
            <p:cNvPr id="68" name="TextBox 67">
              <a:extLst>
                <a:ext uri="{FF2B5EF4-FFF2-40B4-BE49-F238E27FC236}">
                  <a16:creationId xmlns:a16="http://schemas.microsoft.com/office/drawing/2014/main" id="{A03AB979-D3AE-7A42-908A-FCE005D22F76}"/>
                </a:ext>
              </a:extLst>
            </p:cNvPr>
            <p:cNvSpPr txBox="1"/>
            <p:nvPr/>
          </p:nvSpPr>
          <p:spPr>
            <a:xfrm rot="18182195">
              <a:off x="3389483" y="4406195"/>
              <a:ext cx="912202" cy="415498"/>
            </a:xfrm>
            <a:prstGeom prst="rect">
              <a:avLst/>
            </a:prstGeom>
            <a:noFill/>
          </p:spPr>
          <p:txBody>
            <a:bodyPr wrap="square" rtlCol="0">
              <a:spAutoFit/>
            </a:bodyPr>
            <a:lstStyle/>
            <a:p>
              <a:pPr algn="ctr"/>
              <a:r>
                <a:rPr lang="en-US" sz="1050" dirty="0"/>
                <a:t>Follow the plan</a:t>
              </a:r>
            </a:p>
          </p:txBody>
        </p:sp>
        <p:sp>
          <p:nvSpPr>
            <p:cNvPr id="69" name="TextBox 68">
              <a:extLst>
                <a:ext uri="{FF2B5EF4-FFF2-40B4-BE49-F238E27FC236}">
                  <a16:creationId xmlns:a16="http://schemas.microsoft.com/office/drawing/2014/main" id="{375EE33E-FB2C-721F-EF76-2A3EC3DE72A8}"/>
                </a:ext>
              </a:extLst>
            </p:cNvPr>
            <p:cNvSpPr txBox="1"/>
            <p:nvPr/>
          </p:nvSpPr>
          <p:spPr>
            <a:xfrm>
              <a:off x="4607549" y="3001602"/>
              <a:ext cx="726737" cy="276999"/>
            </a:xfrm>
            <a:prstGeom prst="rect">
              <a:avLst/>
            </a:prstGeom>
            <a:noFill/>
          </p:spPr>
          <p:txBody>
            <a:bodyPr wrap="none" rtlCol="0">
              <a:spAutoFit/>
            </a:bodyPr>
            <a:lstStyle/>
            <a:p>
              <a:r>
                <a:rPr lang="en-US" sz="1200" dirty="0"/>
                <a:t>percepts</a:t>
              </a:r>
            </a:p>
          </p:txBody>
        </p:sp>
        <p:sp>
          <p:nvSpPr>
            <p:cNvPr id="70" name="TextBox 69">
              <a:extLst>
                <a:ext uri="{FF2B5EF4-FFF2-40B4-BE49-F238E27FC236}">
                  <a16:creationId xmlns:a16="http://schemas.microsoft.com/office/drawing/2014/main" id="{E3E2FC15-F2AD-3226-002B-6DD69A27664D}"/>
                </a:ext>
              </a:extLst>
            </p:cNvPr>
            <p:cNvSpPr txBox="1"/>
            <p:nvPr/>
          </p:nvSpPr>
          <p:spPr>
            <a:xfrm>
              <a:off x="4591957" y="4237669"/>
              <a:ext cx="572593" cy="461665"/>
            </a:xfrm>
            <a:prstGeom prst="rect">
              <a:avLst/>
            </a:prstGeom>
            <a:noFill/>
          </p:spPr>
          <p:txBody>
            <a:bodyPr wrap="none" rtlCol="0">
              <a:spAutoFit/>
            </a:bodyPr>
            <a:lstStyle/>
            <a:p>
              <a:pPr algn="ctr"/>
              <a:r>
                <a:rPr lang="en-US" sz="1200" dirty="0"/>
                <a:t>next </a:t>
              </a:r>
              <a:br>
                <a:rPr lang="en-US" sz="1200" dirty="0"/>
              </a:br>
              <a:r>
                <a:rPr lang="en-US" sz="1200" dirty="0"/>
                <a:t>action</a:t>
              </a:r>
            </a:p>
          </p:txBody>
        </p:sp>
        <p:sp>
          <p:nvSpPr>
            <p:cNvPr id="71" name="TextBox 70">
              <a:extLst>
                <a:ext uri="{FF2B5EF4-FFF2-40B4-BE49-F238E27FC236}">
                  <a16:creationId xmlns:a16="http://schemas.microsoft.com/office/drawing/2014/main" id="{75455819-E475-3473-AEA6-95B408637968}"/>
                </a:ext>
              </a:extLst>
            </p:cNvPr>
            <p:cNvSpPr txBox="1"/>
            <p:nvPr/>
          </p:nvSpPr>
          <p:spPr>
            <a:xfrm>
              <a:off x="5456762" y="2423478"/>
              <a:ext cx="970137" cy="276999"/>
            </a:xfrm>
            <a:prstGeom prst="rect">
              <a:avLst/>
            </a:prstGeom>
            <a:noFill/>
          </p:spPr>
          <p:txBody>
            <a:bodyPr wrap="none" rtlCol="0">
              <a:spAutoFit/>
            </a:bodyPr>
            <a:lstStyle/>
            <a:p>
              <a:r>
                <a:rPr lang="en-US" sz="1200" dirty="0"/>
                <a:t>Sensor input</a:t>
              </a:r>
            </a:p>
          </p:txBody>
        </p:sp>
        <p:sp>
          <p:nvSpPr>
            <p:cNvPr id="72" name="TextBox 71">
              <a:extLst>
                <a:ext uri="{FF2B5EF4-FFF2-40B4-BE49-F238E27FC236}">
                  <a16:creationId xmlns:a16="http://schemas.microsoft.com/office/drawing/2014/main" id="{2614B56B-CD77-296C-B1E6-448390DE68FC}"/>
                </a:ext>
              </a:extLst>
            </p:cNvPr>
            <p:cNvSpPr txBox="1"/>
            <p:nvPr/>
          </p:nvSpPr>
          <p:spPr>
            <a:xfrm>
              <a:off x="5423878" y="4994397"/>
              <a:ext cx="1045502" cy="830997"/>
            </a:xfrm>
            <a:prstGeom prst="rect">
              <a:avLst/>
            </a:prstGeom>
            <a:noFill/>
          </p:spPr>
          <p:txBody>
            <a:bodyPr wrap="square" rtlCol="0">
              <a:spAutoFit/>
            </a:bodyPr>
            <a:lstStyle/>
            <a:p>
              <a:pPr algn="ctr"/>
              <a:r>
                <a:rPr lang="en-US" sz="1200" dirty="0"/>
                <a:t>Execute action in the physical environment</a:t>
              </a:r>
            </a:p>
          </p:txBody>
        </p:sp>
        <p:sp>
          <p:nvSpPr>
            <p:cNvPr id="73" name="Rectangle 72">
              <a:extLst>
                <a:ext uri="{FF2B5EF4-FFF2-40B4-BE49-F238E27FC236}">
                  <a16:creationId xmlns:a16="http://schemas.microsoft.com/office/drawing/2014/main" id="{8D4F1B72-E637-F0D7-7C26-AC6CB57F21D9}"/>
                </a:ext>
              </a:extLst>
            </p:cNvPr>
            <p:cNvSpPr/>
            <p:nvPr/>
          </p:nvSpPr>
          <p:spPr>
            <a:xfrm>
              <a:off x="2388085" y="3347702"/>
              <a:ext cx="1073323" cy="1828740"/>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TextBox 73">
              <a:extLst>
                <a:ext uri="{FF2B5EF4-FFF2-40B4-BE49-F238E27FC236}">
                  <a16:creationId xmlns:a16="http://schemas.microsoft.com/office/drawing/2014/main" id="{FEF9495C-D846-7623-5728-7AED271C7AC4}"/>
                </a:ext>
              </a:extLst>
            </p:cNvPr>
            <p:cNvSpPr txBox="1"/>
            <p:nvPr/>
          </p:nvSpPr>
          <p:spPr>
            <a:xfrm>
              <a:off x="2376361" y="3336782"/>
              <a:ext cx="795466" cy="307777"/>
            </a:xfrm>
            <a:prstGeom prst="rect">
              <a:avLst/>
            </a:prstGeom>
            <a:noFill/>
          </p:spPr>
          <p:txBody>
            <a:bodyPr wrap="square" rtlCol="0">
              <a:spAutoFit/>
            </a:bodyPr>
            <a:lstStyle/>
            <a:p>
              <a:r>
                <a:rPr lang="en-US" sz="1400" dirty="0"/>
                <a:t>State</a:t>
              </a:r>
            </a:p>
          </p:txBody>
        </p:sp>
        <p:grpSp>
          <p:nvGrpSpPr>
            <p:cNvPr id="78" name="Group 77">
              <a:extLst>
                <a:ext uri="{FF2B5EF4-FFF2-40B4-BE49-F238E27FC236}">
                  <a16:creationId xmlns:a16="http://schemas.microsoft.com/office/drawing/2014/main" id="{66D5FF0F-4FBC-B030-AAAE-0C75628DC924}"/>
                </a:ext>
              </a:extLst>
            </p:cNvPr>
            <p:cNvGrpSpPr/>
            <p:nvPr/>
          </p:nvGrpSpPr>
          <p:grpSpPr>
            <a:xfrm>
              <a:off x="2627138" y="1395210"/>
              <a:ext cx="698589" cy="814231"/>
              <a:chOff x="1359385" y="1371600"/>
              <a:chExt cx="1022177" cy="1209520"/>
            </a:xfrm>
          </p:grpSpPr>
          <p:pic>
            <p:nvPicPr>
              <p:cNvPr id="7" name="Picture 2">
                <a:extLst>
                  <a:ext uri="{FF2B5EF4-FFF2-40B4-BE49-F238E27FC236}">
                    <a16:creationId xmlns:a16="http://schemas.microsoft.com/office/drawing/2014/main" id="{FC0755DE-063C-ECDE-1711-46875EE34DEB}"/>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Lst>
              </a:blip>
              <a:srcRect/>
              <a:stretch>
                <a:fillRect/>
              </a:stretch>
            </p:blipFill>
            <p:spPr bwMode="auto">
              <a:xfrm>
                <a:off x="1505352" y="1462344"/>
                <a:ext cx="746844" cy="746844"/>
              </a:xfrm>
              <a:prstGeom prst="rect">
                <a:avLst/>
              </a:prstGeom>
              <a:noFill/>
              <a:ln w="9525">
                <a:noFill/>
                <a:miter lim="800000"/>
                <a:headEnd/>
                <a:tailEnd/>
              </a:ln>
            </p:spPr>
          </p:pic>
          <p:sp>
            <p:nvSpPr>
              <p:cNvPr id="75" name="Flowchart: Document 74">
                <a:extLst>
                  <a:ext uri="{FF2B5EF4-FFF2-40B4-BE49-F238E27FC236}">
                    <a16:creationId xmlns:a16="http://schemas.microsoft.com/office/drawing/2014/main" id="{A964E517-F8C7-5FEE-1FFC-CA4C4093CD32}"/>
                  </a:ext>
                </a:extLst>
              </p:cNvPr>
              <p:cNvSpPr/>
              <p:nvPr/>
            </p:nvSpPr>
            <p:spPr>
              <a:xfrm>
                <a:off x="1359385" y="1371600"/>
                <a:ext cx="1022177" cy="1209520"/>
              </a:xfrm>
              <a:prstGeom prst="flowChartDocumen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a:extLst>
                <a:ext uri="{FF2B5EF4-FFF2-40B4-BE49-F238E27FC236}">
                  <a16:creationId xmlns:a16="http://schemas.microsoft.com/office/drawing/2014/main" id="{DC28649C-EF41-DD3B-A5E5-3F6A9950446C}"/>
                </a:ext>
              </a:extLst>
            </p:cNvPr>
            <p:cNvPicPr>
              <a:picLocks noChangeAspect="1" noChangeArrowheads="1"/>
            </p:cNvPicPr>
            <p:nvPr/>
          </p:nvPicPr>
          <p:blipFill>
            <a:blip r:embed="rId2" cstate="print">
              <a:extLst>
                <a:ext uri="{BEBA8EAE-BF5A-486C-A8C5-ECC9F3942E4B}">
                  <a14:imgProps xmlns:a14="http://schemas.microsoft.com/office/drawing/2010/main">
                    <a14:imgLayer r:embed="rId3">
                      <a14:imgEffect>
                        <a14:artisticPencilSketch/>
                      </a14:imgEffect>
                    </a14:imgLayer>
                  </a14:imgProps>
                </a:ext>
              </a:extLst>
            </a:blip>
            <a:srcRect/>
            <a:stretch>
              <a:fillRect/>
            </a:stretch>
          </p:blipFill>
          <p:spPr bwMode="auto">
            <a:xfrm>
              <a:off x="6715161" y="3179744"/>
              <a:ext cx="971478" cy="956912"/>
            </a:xfrm>
            <a:prstGeom prst="rect">
              <a:avLst/>
            </a:prstGeom>
            <a:noFill/>
            <a:ln w="9525">
              <a:noFill/>
              <a:miter lim="800000"/>
              <a:headEnd/>
              <a:tailEnd/>
            </a:ln>
          </p:spPr>
        </p:pic>
      </p:grpSp>
    </p:spTree>
    <p:extLst>
      <p:ext uri="{BB962C8B-B14F-4D97-AF65-F5344CB8AC3E}">
        <p14:creationId xmlns:p14="http://schemas.microsoft.com/office/powerpoint/2010/main" val="3928293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Search Problems</a:t>
            </a:r>
          </a:p>
        </p:txBody>
      </p:sp>
      <p:graphicFrame>
        <p:nvGraphicFramePr>
          <p:cNvPr id="8" name="Content Placeholder 7">
            <a:extLst>
              <a:ext uri="{FF2B5EF4-FFF2-40B4-BE49-F238E27FC236}">
                <a16:creationId xmlns:a16="http://schemas.microsoft.com/office/drawing/2014/main" id="{1A6D5AF7-114F-4BD9-9A5D-050071A97E56}"/>
              </a:ext>
            </a:extLst>
          </p:cNvPr>
          <p:cNvGraphicFramePr>
            <a:graphicFrameLocks noGrp="1"/>
          </p:cNvGraphicFramePr>
          <p:nvPr>
            <p:ph idx="4294967295"/>
          </p:nvPr>
        </p:nvGraphicFramePr>
        <p:xfrm>
          <a:off x="735014" y="1455829"/>
          <a:ext cx="2167520" cy="23669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Rectangle 8">
            <a:extLst>
              <a:ext uri="{FF2B5EF4-FFF2-40B4-BE49-F238E27FC236}">
                <a16:creationId xmlns:a16="http://schemas.microsoft.com/office/drawing/2014/main" id="{35909678-34B1-4086-BE16-74D3C62031C2}"/>
              </a:ext>
            </a:extLst>
          </p:cNvPr>
          <p:cNvSpPr/>
          <p:nvPr/>
        </p:nvSpPr>
        <p:spPr>
          <a:xfrm>
            <a:off x="3249906" y="1876713"/>
            <a:ext cx="2332169" cy="1323439"/>
          </a:xfrm>
          <a:prstGeom prst="rect">
            <a:avLst/>
          </a:prstGeom>
        </p:spPr>
        <p:txBody>
          <a:bodyPr wrap="square">
            <a:spAutoFit/>
          </a:bodyPr>
          <a:lstStyle/>
          <a:p>
            <a:r>
              <a:rPr lang="en-US" sz="2000" dirty="0"/>
              <a:t>How do we find the optimal solution (sequence of actions/states)?</a:t>
            </a:r>
          </a:p>
        </p:txBody>
      </p:sp>
      <p:sp>
        <p:nvSpPr>
          <p:cNvPr id="3" name="TextBox 2">
            <a:extLst>
              <a:ext uri="{FF2B5EF4-FFF2-40B4-BE49-F238E27FC236}">
                <a16:creationId xmlns:a16="http://schemas.microsoft.com/office/drawing/2014/main" id="{75C77B91-470E-4D83-B04D-01194B871D1C}"/>
              </a:ext>
            </a:extLst>
          </p:cNvPr>
          <p:cNvSpPr txBox="1"/>
          <p:nvPr/>
        </p:nvSpPr>
        <p:spPr>
          <a:xfrm>
            <a:off x="6827837" y="1748989"/>
            <a:ext cx="1581149" cy="132343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US" sz="2000" dirty="0"/>
              <a:t>Construct a search tree for the state space graph!</a:t>
            </a:r>
          </a:p>
        </p:txBody>
      </p:sp>
      <p:sp>
        <p:nvSpPr>
          <p:cNvPr id="4" name="Arrow: Right 3">
            <a:extLst>
              <a:ext uri="{FF2B5EF4-FFF2-40B4-BE49-F238E27FC236}">
                <a16:creationId xmlns:a16="http://schemas.microsoft.com/office/drawing/2014/main" id="{8E275448-7194-49A8-9718-B24D47A51189}"/>
              </a:ext>
            </a:extLst>
          </p:cNvPr>
          <p:cNvSpPr/>
          <p:nvPr/>
        </p:nvSpPr>
        <p:spPr>
          <a:xfrm>
            <a:off x="5614687" y="2182109"/>
            <a:ext cx="629520" cy="457200"/>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F18EA982-9CB9-BAED-368B-97D2222517D5}"/>
              </a:ext>
            </a:extLst>
          </p:cNvPr>
          <p:cNvGrpSpPr/>
          <p:nvPr/>
        </p:nvGrpSpPr>
        <p:grpSpPr>
          <a:xfrm>
            <a:off x="1721672" y="3657849"/>
            <a:ext cx="5700655" cy="3071394"/>
            <a:chOff x="3443345" y="3786606"/>
            <a:chExt cx="5700655" cy="3071394"/>
          </a:xfrm>
        </p:grpSpPr>
        <p:pic>
          <p:nvPicPr>
            <p:cNvPr id="6" name="Picture 6">
              <a:extLst>
                <a:ext uri="{FF2B5EF4-FFF2-40B4-BE49-F238E27FC236}">
                  <a16:creationId xmlns:a16="http://schemas.microsoft.com/office/drawing/2014/main" id="{D4175709-7E24-4889-BB5C-3F5FE1A911FA}"/>
                </a:ext>
              </a:extLst>
            </p:cNvPr>
            <p:cNvPicPr>
              <a:picLocks noChangeAspect="1" noChangeArrowheads="1"/>
            </p:cNvPicPr>
            <p:nvPr/>
          </p:nvPicPr>
          <p:blipFill>
            <a:blip r:embed="rId8" cstate="print"/>
            <a:srcRect/>
            <a:stretch>
              <a:fillRect/>
            </a:stretch>
          </p:blipFill>
          <p:spPr bwMode="auto">
            <a:xfrm>
              <a:off x="3443345" y="4142196"/>
              <a:ext cx="5700655" cy="2715804"/>
            </a:xfrm>
            <a:prstGeom prst="rect">
              <a:avLst/>
            </a:prstGeom>
            <a:noFill/>
            <a:ln w="9525">
              <a:noFill/>
              <a:miter lim="800000"/>
              <a:headEnd/>
              <a:tailEnd/>
            </a:ln>
          </p:spPr>
        </p:pic>
        <p:cxnSp>
          <p:nvCxnSpPr>
            <p:cNvPr id="10" name="Straight Arrow Connector 9">
              <a:extLst>
                <a:ext uri="{FF2B5EF4-FFF2-40B4-BE49-F238E27FC236}">
                  <a16:creationId xmlns:a16="http://schemas.microsoft.com/office/drawing/2014/main" id="{60BFCA0D-F803-47D3-BFF3-549E7B288DC8}"/>
                </a:ext>
              </a:extLst>
            </p:cNvPr>
            <p:cNvCxnSpPr/>
            <p:nvPr/>
          </p:nvCxnSpPr>
          <p:spPr>
            <a:xfrm flipH="1">
              <a:off x="3976745" y="4588005"/>
              <a:ext cx="1676400" cy="631566"/>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FD2844A0-0C70-41CD-A70E-CE2ABC45F44C}"/>
                </a:ext>
              </a:extLst>
            </p:cNvPr>
            <p:cNvCxnSpPr/>
            <p:nvPr/>
          </p:nvCxnSpPr>
          <p:spPr>
            <a:xfrm>
              <a:off x="4510145" y="5328854"/>
              <a:ext cx="609600" cy="0"/>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812997ED-3FB6-43AF-B3BC-17BD86472D1E}"/>
                </a:ext>
              </a:extLst>
            </p:cNvPr>
            <p:cNvCxnSpPr/>
            <p:nvPr/>
          </p:nvCxnSpPr>
          <p:spPr>
            <a:xfrm>
              <a:off x="5386445" y="5500098"/>
              <a:ext cx="1638300" cy="633873"/>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17" name="Rectangle 16">
              <a:extLst>
                <a:ext uri="{FF2B5EF4-FFF2-40B4-BE49-F238E27FC236}">
                  <a16:creationId xmlns:a16="http://schemas.microsoft.com/office/drawing/2014/main" id="{0A3F790A-73EE-4E53-B55A-5BE346E6B01C}"/>
                </a:ext>
              </a:extLst>
            </p:cNvPr>
            <p:cNvSpPr/>
            <p:nvPr/>
          </p:nvSpPr>
          <p:spPr>
            <a:xfrm>
              <a:off x="5195947" y="4180435"/>
              <a:ext cx="990598"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8" name="Rectangle 17">
              <a:extLst>
                <a:ext uri="{FF2B5EF4-FFF2-40B4-BE49-F238E27FC236}">
                  <a16:creationId xmlns:a16="http://schemas.microsoft.com/office/drawing/2014/main" id="{0B78AC21-C75B-4C15-AC11-ABD2538E14C3}"/>
                </a:ext>
              </a:extLst>
            </p:cNvPr>
            <p:cNvSpPr/>
            <p:nvPr/>
          </p:nvSpPr>
          <p:spPr>
            <a:xfrm>
              <a:off x="5195945" y="6009235"/>
              <a:ext cx="2133600"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21" name="TextBox 20">
              <a:extLst>
                <a:ext uri="{FF2B5EF4-FFF2-40B4-BE49-F238E27FC236}">
                  <a16:creationId xmlns:a16="http://schemas.microsoft.com/office/drawing/2014/main" id="{C819F4C7-5C99-4CB1-B4CA-2D9228EB892A}"/>
                </a:ext>
              </a:extLst>
            </p:cNvPr>
            <p:cNvSpPr txBox="1"/>
            <p:nvPr/>
          </p:nvSpPr>
          <p:spPr>
            <a:xfrm>
              <a:off x="5106832" y="3786606"/>
              <a:ext cx="1255344" cy="369332"/>
            </a:xfrm>
            <a:prstGeom prst="rect">
              <a:avLst/>
            </a:prstGeom>
            <a:noFill/>
          </p:spPr>
          <p:txBody>
            <a:bodyPr wrap="none" rtlCol="0">
              <a:spAutoFit/>
            </a:bodyPr>
            <a:lstStyle/>
            <a:p>
              <a:r>
                <a:rPr lang="en-US" b="1" dirty="0">
                  <a:solidFill>
                    <a:schemeClr val="accent2">
                      <a:lumMod val="50000"/>
                    </a:schemeClr>
                  </a:solidFill>
                </a:rPr>
                <a:t>Initial state</a:t>
              </a:r>
            </a:p>
          </p:txBody>
        </p:sp>
        <p:sp>
          <p:nvSpPr>
            <p:cNvPr id="22" name="TextBox 21">
              <a:extLst>
                <a:ext uri="{FF2B5EF4-FFF2-40B4-BE49-F238E27FC236}">
                  <a16:creationId xmlns:a16="http://schemas.microsoft.com/office/drawing/2014/main" id="{0EBD072D-4232-47C8-AB5E-6B5B2261D0DC}"/>
                </a:ext>
              </a:extLst>
            </p:cNvPr>
            <p:cNvSpPr txBox="1"/>
            <p:nvPr/>
          </p:nvSpPr>
          <p:spPr>
            <a:xfrm>
              <a:off x="3734781" y="6096000"/>
              <a:ext cx="1240917" cy="369332"/>
            </a:xfrm>
            <a:prstGeom prst="rect">
              <a:avLst/>
            </a:prstGeom>
            <a:noFill/>
          </p:spPr>
          <p:txBody>
            <a:bodyPr wrap="none" rtlCol="0">
              <a:spAutoFit/>
            </a:bodyPr>
            <a:lstStyle/>
            <a:p>
              <a:r>
                <a:rPr lang="en-US" b="1" dirty="0">
                  <a:solidFill>
                    <a:schemeClr val="accent2">
                      <a:lumMod val="50000"/>
                    </a:schemeClr>
                  </a:solidFill>
                </a:rPr>
                <a:t>Goal states</a:t>
              </a:r>
            </a:p>
          </p:txBody>
        </p:sp>
      </p:grpSp>
      <p:sp>
        <p:nvSpPr>
          <p:cNvPr id="19" name="TextBox 18">
            <a:extLst>
              <a:ext uri="{FF2B5EF4-FFF2-40B4-BE49-F238E27FC236}">
                <a16:creationId xmlns:a16="http://schemas.microsoft.com/office/drawing/2014/main" id="{BB1FA59E-D51B-462E-80A8-BBD43C78A614}"/>
              </a:ext>
            </a:extLst>
          </p:cNvPr>
          <p:cNvSpPr txBox="1"/>
          <p:nvPr/>
        </p:nvSpPr>
        <p:spPr>
          <a:xfrm>
            <a:off x="1397483" y="4070442"/>
            <a:ext cx="1752600" cy="400110"/>
          </a:xfrm>
          <a:prstGeom prst="rect">
            <a:avLst/>
          </a:prstGeom>
          <a:noFill/>
        </p:spPr>
        <p:txBody>
          <a:bodyPr wrap="square" rtlCol="0">
            <a:spAutoFit/>
          </a:bodyPr>
          <a:lstStyle/>
          <a:p>
            <a:pPr algn="ctr"/>
            <a:r>
              <a:rPr lang="en-US" sz="2000" b="1" dirty="0"/>
              <a:t>State space</a:t>
            </a:r>
          </a:p>
        </p:txBody>
      </p:sp>
      <p:sp>
        <p:nvSpPr>
          <p:cNvPr id="7" name="TextBox 6">
            <a:extLst>
              <a:ext uri="{FF2B5EF4-FFF2-40B4-BE49-F238E27FC236}">
                <a16:creationId xmlns:a16="http://schemas.microsoft.com/office/drawing/2014/main" id="{3E55CB6B-D195-EB3C-B015-2B175D0AF6EC}"/>
              </a:ext>
            </a:extLst>
          </p:cNvPr>
          <p:cNvSpPr txBox="1"/>
          <p:nvPr/>
        </p:nvSpPr>
        <p:spPr>
          <a:xfrm rot="19538169">
            <a:off x="1399347" y="4843858"/>
            <a:ext cx="5483887" cy="27699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1200" dirty="0"/>
              <a:t>Graphs for real problems do not fit into memory. Can’t use shortest path algorithms!</a:t>
            </a:r>
          </a:p>
        </p:txBody>
      </p:sp>
    </p:spTree>
    <p:extLst>
      <p:ext uri="{BB962C8B-B14F-4D97-AF65-F5344CB8AC3E}">
        <p14:creationId xmlns:p14="http://schemas.microsoft.com/office/powerpoint/2010/main" val="993168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Creating a Search Tree</a:t>
            </a:r>
          </a:p>
        </p:txBody>
      </p:sp>
      <p:sp>
        <p:nvSpPr>
          <p:cNvPr id="20483" name="Rectangle 3"/>
          <p:cNvSpPr>
            <a:spLocks noGrp="1" noChangeArrowheads="1"/>
          </p:cNvSpPr>
          <p:nvPr>
            <p:ph idx="1"/>
          </p:nvPr>
        </p:nvSpPr>
        <p:spPr>
          <a:xfrm>
            <a:off x="588210" y="1467732"/>
            <a:ext cx="4400550" cy="4933068"/>
          </a:xfrm>
        </p:spPr>
        <p:txBody>
          <a:bodyPr>
            <a:normAutofit fontScale="77500" lnSpcReduction="20000"/>
          </a:bodyPr>
          <a:lstStyle/>
          <a:p>
            <a:r>
              <a:rPr lang="en-US" dirty="0"/>
              <a:t>Superimpose a “what if” tree of possible actions and outcomes (states) on the state space graph.</a:t>
            </a:r>
          </a:p>
          <a:p>
            <a:r>
              <a:rPr lang="en-US" dirty="0"/>
              <a:t>The</a:t>
            </a:r>
            <a:r>
              <a:rPr lang="en-US" b="1" dirty="0">
                <a:solidFill>
                  <a:srgbClr val="FF0000"/>
                </a:solidFill>
              </a:rPr>
              <a:t> Root node</a:t>
            </a:r>
            <a:r>
              <a:rPr lang="en-US" dirty="0"/>
              <a:t> represents the initial stare.</a:t>
            </a:r>
          </a:p>
          <a:p>
            <a:r>
              <a:rPr lang="en-US" dirty="0"/>
              <a:t>An action child node is reached by an </a:t>
            </a:r>
            <a:r>
              <a:rPr lang="en-US" b="1" dirty="0">
                <a:solidFill>
                  <a:srgbClr val="FF0000"/>
                </a:solidFill>
              </a:rPr>
              <a:t>edge</a:t>
            </a:r>
            <a:r>
              <a:rPr lang="en-US" dirty="0"/>
              <a:t> representing an action. The corresponding state is defined by the transition model.</a:t>
            </a:r>
          </a:p>
          <a:p>
            <a:r>
              <a:rPr lang="en-US" dirty="0"/>
              <a:t>Trees cannot have </a:t>
            </a:r>
            <a:r>
              <a:rPr lang="en-US" b="1" dirty="0">
                <a:solidFill>
                  <a:srgbClr val="FF0000"/>
                </a:solidFill>
              </a:rPr>
              <a:t>cycles (loops). </a:t>
            </a:r>
            <a:r>
              <a:rPr lang="en-US" dirty="0"/>
              <a:t>Cycles in the search space must be broken to prevent infinite loops.</a:t>
            </a:r>
            <a:endParaRPr lang="en-US" b="1" dirty="0">
              <a:solidFill>
                <a:srgbClr val="FF0000"/>
              </a:solidFill>
            </a:endParaRPr>
          </a:p>
          <a:p>
            <a:r>
              <a:rPr lang="en-US" dirty="0"/>
              <a:t>Trees</a:t>
            </a:r>
            <a:r>
              <a:rPr lang="en-US" b="1" dirty="0"/>
              <a:t> </a:t>
            </a:r>
            <a:r>
              <a:rPr lang="en-US" dirty="0"/>
              <a:t>cannot have </a:t>
            </a:r>
            <a:r>
              <a:rPr lang="en-US" dirty="0">
                <a:solidFill>
                  <a:srgbClr val="FF0000"/>
                </a:solidFill>
              </a:rPr>
              <a:t> </a:t>
            </a:r>
            <a:r>
              <a:rPr lang="en-US" b="1" dirty="0">
                <a:solidFill>
                  <a:srgbClr val="FF0000"/>
                </a:solidFill>
              </a:rPr>
              <a:t>multiple paths to the same state.</a:t>
            </a:r>
            <a:r>
              <a:rPr lang="en-US" dirty="0"/>
              <a:t> These are called redundant paths. Removing other redundant paths improves search efficiency.</a:t>
            </a:r>
          </a:p>
          <a:p>
            <a:r>
              <a:rPr lang="en-US" dirty="0"/>
              <a:t>A </a:t>
            </a:r>
            <a:r>
              <a:rPr lang="en-US" b="1" dirty="0">
                <a:solidFill>
                  <a:srgbClr val="FF0000"/>
                </a:solidFill>
              </a:rPr>
              <a:t>path</a:t>
            </a:r>
            <a:r>
              <a:rPr lang="en-US" dirty="0"/>
              <a:t> through the tree corresponds to a sequence of actions (states).</a:t>
            </a:r>
          </a:p>
          <a:p>
            <a:r>
              <a:rPr lang="en-US" dirty="0"/>
              <a:t>A </a:t>
            </a:r>
            <a:r>
              <a:rPr lang="en-US" b="1" dirty="0">
                <a:solidFill>
                  <a:srgbClr val="FF0000"/>
                </a:solidFill>
              </a:rPr>
              <a:t>solution</a:t>
            </a:r>
            <a:r>
              <a:rPr lang="en-US" dirty="0"/>
              <a:t> is a path ending in a node representing a goal state.</a:t>
            </a:r>
          </a:p>
          <a:p>
            <a:r>
              <a:rPr lang="en-US" b="1" dirty="0">
                <a:solidFill>
                  <a:srgbClr val="FF0000"/>
                </a:solidFill>
              </a:rPr>
              <a:t>Nodes vs. states</a:t>
            </a:r>
            <a:r>
              <a:rPr lang="en-US" b="1" dirty="0"/>
              <a:t>: </a:t>
            </a:r>
            <a:r>
              <a:rPr lang="en-US" dirty="0"/>
              <a:t>Each tree node represents a state of the system. If redundant path cannot be prevented then state can be represented by multiple nodes in the tree.</a:t>
            </a:r>
          </a:p>
        </p:txBody>
      </p:sp>
      <p:grpSp>
        <p:nvGrpSpPr>
          <p:cNvPr id="8" name="Group 7"/>
          <p:cNvGrpSpPr/>
          <p:nvPr/>
        </p:nvGrpSpPr>
        <p:grpSpPr>
          <a:xfrm>
            <a:off x="5413756" y="1371600"/>
            <a:ext cx="2991909" cy="4646588"/>
            <a:chOff x="2748904" y="1792069"/>
            <a:chExt cx="2991909" cy="4646588"/>
          </a:xfrm>
        </p:grpSpPr>
        <p:sp>
          <p:nvSpPr>
            <p:cNvPr id="10" name="TextBox 9"/>
            <p:cNvSpPr txBox="1"/>
            <p:nvPr/>
          </p:nvSpPr>
          <p:spPr>
            <a:xfrm>
              <a:off x="3429000" y="4572000"/>
              <a:ext cx="676788" cy="923330"/>
            </a:xfrm>
            <a:prstGeom prst="rect">
              <a:avLst/>
            </a:prstGeom>
            <a:noFill/>
          </p:spPr>
          <p:txBody>
            <a:bodyPr wrap="none" rtlCol="0">
              <a:spAutoFit/>
            </a:bodyPr>
            <a:lstStyle/>
            <a:p>
              <a:r>
                <a:rPr lang="en-US" sz="5400" dirty="0">
                  <a:solidFill>
                    <a:srgbClr val="0070C0"/>
                  </a:solidFill>
                  <a:latin typeface="+mn-lt"/>
                </a:rPr>
                <a:t>…</a:t>
              </a:r>
            </a:p>
          </p:txBody>
        </p:sp>
        <p:sp>
          <p:nvSpPr>
            <p:cNvPr id="11" name="TextBox 10"/>
            <p:cNvSpPr txBox="1"/>
            <p:nvPr/>
          </p:nvSpPr>
          <p:spPr>
            <a:xfrm>
              <a:off x="4200012" y="4572000"/>
              <a:ext cx="676788" cy="923330"/>
            </a:xfrm>
            <a:prstGeom prst="rect">
              <a:avLst/>
            </a:prstGeom>
            <a:noFill/>
          </p:spPr>
          <p:txBody>
            <a:bodyPr wrap="none" rtlCol="0">
              <a:spAutoFit/>
            </a:bodyPr>
            <a:lstStyle/>
            <a:p>
              <a:r>
                <a:rPr lang="en-US" sz="5400" dirty="0">
                  <a:solidFill>
                    <a:srgbClr val="0070C0"/>
                  </a:solidFill>
                  <a:latin typeface="+mn-lt"/>
                </a:rPr>
                <a:t>…</a:t>
              </a:r>
            </a:p>
          </p:txBody>
        </p:sp>
        <p:sp>
          <p:nvSpPr>
            <p:cNvPr id="13" name="Oval 12"/>
            <p:cNvSpPr/>
            <p:nvPr/>
          </p:nvSpPr>
          <p:spPr>
            <a:xfrm>
              <a:off x="4419600" y="2438400"/>
              <a:ext cx="304800" cy="30480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14" name="Straight Arrow Connector 13"/>
            <p:cNvCxnSpPr/>
            <p:nvPr/>
          </p:nvCxnSpPr>
          <p:spPr>
            <a:xfrm rot="5400000">
              <a:off x="3955863" y="2812863"/>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3346262" y="3771900"/>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2949480" y="4670517"/>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308162" y="5931686"/>
              <a:ext cx="304800" cy="3048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f</a:t>
              </a:r>
            </a:p>
          </p:txBody>
        </p:sp>
        <p:cxnSp>
          <p:nvCxnSpPr>
            <p:cNvPr id="18" name="Straight Arrow Connector 17"/>
            <p:cNvCxnSpPr/>
            <p:nvPr/>
          </p:nvCxnSpPr>
          <p:spPr>
            <a:xfrm rot="5400000">
              <a:off x="3389953" y="5453115"/>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6200000" flipH="1">
              <a:off x="4533900" y="2812863"/>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flipH="1">
              <a:off x="3924300" y="3771900"/>
              <a:ext cx="654237" cy="42563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6200000" flipH="1">
              <a:off x="3406680" y="4702080"/>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4092484" y="4702080"/>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16200000" flipH="1">
              <a:off x="4549683" y="4702080"/>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cxnSpLocks/>
            </p:cNvCxnSpPr>
            <p:nvPr/>
          </p:nvCxnSpPr>
          <p:spPr>
            <a:xfrm>
              <a:off x="5257799" y="3657601"/>
              <a:ext cx="258564" cy="63278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3962400" y="1792069"/>
              <a:ext cx="1447800" cy="646331"/>
            </a:xfrm>
            <a:prstGeom prst="rect">
              <a:avLst/>
            </a:prstGeom>
          </p:spPr>
          <p:txBody>
            <a:bodyPr wrap="square">
              <a:spAutoFit/>
            </a:bodyPr>
            <a:lstStyle/>
            <a:p>
              <a:pPr algn="ctr"/>
              <a:r>
                <a:rPr lang="en-US" dirty="0"/>
                <a:t>Root node  = </a:t>
              </a:r>
              <a:r>
                <a:rPr lang="en-US" b="1" dirty="0">
                  <a:solidFill>
                    <a:schemeClr val="accent1"/>
                  </a:solidFill>
                </a:rPr>
                <a:t>Initial state</a:t>
              </a:r>
            </a:p>
          </p:txBody>
        </p:sp>
        <p:sp>
          <p:nvSpPr>
            <p:cNvPr id="27" name="Rectangle 26"/>
            <p:cNvSpPr/>
            <p:nvPr/>
          </p:nvSpPr>
          <p:spPr>
            <a:xfrm>
              <a:off x="2748904" y="3087821"/>
              <a:ext cx="1226312" cy="369332"/>
            </a:xfrm>
            <a:prstGeom prst="rect">
              <a:avLst/>
            </a:prstGeom>
          </p:spPr>
          <p:txBody>
            <a:bodyPr wrap="square">
              <a:spAutoFit/>
            </a:bodyPr>
            <a:lstStyle/>
            <a:p>
              <a:pPr algn="ctr"/>
              <a:r>
                <a:rPr lang="en-US" dirty="0"/>
                <a:t>Child node</a:t>
              </a:r>
            </a:p>
          </p:txBody>
        </p:sp>
        <p:sp>
          <p:nvSpPr>
            <p:cNvPr id="28" name="Rectangle 27"/>
            <p:cNvSpPr/>
            <p:nvPr/>
          </p:nvSpPr>
          <p:spPr>
            <a:xfrm>
              <a:off x="2826153" y="2657053"/>
              <a:ext cx="1477777" cy="369332"/>
            </a:xfrm>
            <a:prstGeom prst="rect">
              <a:avLst/>
            </a:prstGeom>
          </p:spPr>
          <p:txBody>
            <a:bodyPr wrap="none">
              <a:spAutoFit/>
            </a:bodyPr>
            <a:lstStyle/>
            <a:p>
              <a:r>
                <a:rPr lang="en-US" dirty="0"/>
                <a:t>Edge = </a:t>
              </a:r>
              <a:r>
                <a:rPr lang="en-US" b="1" dirty="0">
                  <a:solidFill>
                    <a:schemeClr val="accent1"/>
                  </a:solidFill>
                </a:rPr>
                <a:t>Action</a:t>
              </a:r>
            </a:p>
          </p:txBody>
        </p:sp>
        <p:sp>
          <p:nvSpPr>
            <p:cNvPr id="29" name="Rectangle 28"/>
            <p:cNvSpPr/>
            <p:nvPr/>
          </p:nvSpPr>
          <p:spPr>
            <a:xfrm>
              <a:off x="3749690" y="5792326"/>
              <a:ext cx="1991123" cy="646331"/>
            </a:xfrm>
            <a:prstGeom prst="rect">
              <a:avLst/>
            </a:prstGeom>
          </p:spPr>
          <p:txBody>
            <a:bodyPr wrap="none">
              <a:spAutoFit/>
            </a:bodyPr>
            <a:lstStyle/>
            <a:p>
              <a:r>
                <a:rPr lang="en-US" dirty="0"/>
                <a:t>Node representing </a:t>
              </a:r>
              <a:br>
                <a:rPr lang="en-US" dirty="0"/>
              </a:br>
              <a:r>
                <a:rPr lang="en-US" dirty="0"/>
                <a:t>a </a:t>
              </a:r>
              <a:r>
                <a:rPr lang="en-US" b="1" dirty="0">
                  <a:solidFill>
                    <a:schemeClr val="accent2"/>
                  </a:solidFill>
                </a:rPr>
                <a:t>Goal state</a:t>
              </a:r>
            </a:p>
          </p:txBody>
        </p:sp>
        <p:sp>
          <p:nvSpPr>
            <p:cNvPr id="30" name="Oval 29"/>
            <p:cNvSpPr/>
            <p:nvPr/>
          </p:nvSpPr>
          <p:spPr>
            <a:xfrm>
              <a:off x="3810000" y="3352800"/>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31" name="Oval 30"/>
            <p:cNvSpPr/>
            <p:nvPr/>
          </p:nvSpPr>
          <p:spPr>
            <a:xfrm>
              <a:off x="3276600" y="4311837"/>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32" name="Oval 31"/>
            <p:cNvSpPr/>
            <p:nvPr/>
          </p:nvSpPr>
          <p:spPr>
            <a:xfrm>
              <a:off x="5029200" y="3352800"/>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33" name="Oval 32"/>
            <p:cNvSpPr/>
            <p:nvPr/>
          </p:nvSpPr>
          <p:spPr>
            <a:xfrm>
              <a:off x="4419600" y="4311837"/>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grpSp>
      <p:grpSp>
        <p:nvGrpSpPr>
          <p:cNvPr id="9" name="Group 8">
            <a:extLst>
              <a:ext uri="{FF2B5EF4-FFF2-40B4-BE49-F238E27FC236}">
                <a16:creationId xmlns:a16="http://schemas.microsoft.com/office/drawing/2014/main" id="{8D287CE2-4FFC-75A4-EB2C-3DFCB1A37CF6}"/>
              </a:ext>
            </a:extLst>
          </p:cNvPr>
          <p:cNvGrpSpPr/>
          <p:nvPr/>
        </p:nvGrpSpPr>
        <p:grpSpPr>
          <a:xfrm>
            <a:off x="7738689" y="2685535"/>
            <a:ext cx="1364113" cy="970815"/>
            <a:chOff x="7738689" y="2685535"/>
            <a:chExt cx="1364113" cy="970820"/>
          </a:xfrm>
        </p:grpSpPr>
        <p:sp>
          <p:nvSpPr>
            <p:cNvPr id="42" name="Rectangle 41">
              <a:extLst>
                <a:ext uri="{FF2B5EF4-FFF2-40B4-BE49-F238E27FC236}">
                  <a16:creationId xmlns:a16="http://schemas.microsoft.com/office/drawing/2014/main" id="{B22A040B-3919-4942-B7C7-64E7EB35E7F9}"/>
                </a:ext>
              </a:extLst>
            </p:cNvPr>
            <p:cNvSpPr/>
            <p:nvPr/>
          </p:nvSpPr>
          <p:spPr>
            <a:xfrm>
              <a:off x="7876490" y="2685535"/>
              <a:ext cx="1226312" cy="738664"/>
            </a:xfrm>
            <a:prstGeom prst="rect">
              <a:avLst/>
            </a:prstGeom>
          </p:spPr>
          <p:txBody>
            <a:bodyPr wrap="square">
              <a:spAutoFit/>
            </a:bodyPr>
            <a:lstStyle/>
            <a:p>
              <a:pPr algn="ctr"/>
              <a:r>
                <a:rPr lang="en-US" sz="1400" dirty="0"/>
                <a:t>Non-cycle redundant</a:t>
              </a:r>
            </a:p>
            <a:p>
              <a:pPr algn="ctr"/>
              <a:r>
                <a:rPr lang="en-US" sz="1400" dirty="0"/>
                <a:t>path</a:t>
              </a:r>
            </a:p>
          </p:txBody>
        </p:sp>
        <p:grpSp>
          <p:nvGrpSpPr>
            <p:cNvPr id="43" name="Group 42">
              <a:extLst>
                <a:ext uri="{FF2B5EF4-FFF2-40B4-BE49-F238E27FC236}">
                  <a16:creationId xmlns:a16="http://schemas.microsoft.com/office/drawing/2014/main" id="{55989EFE-E4C9-4186-8D71-597B85C68F60}"/>
                </a:ext>
              </a:extLst>
            </p:cNvPr>
            <p:cNvGrpSpPr/>
            <p:nvPr/>
          </p:nvGrpSpPr>
          <p:grpSpPr>
            <a:xfrm>
              <a:off x="7738689" y="3424523"/>
              <a:ext cx="626533" cy="231832"/>
              <a:chOff x="1219200" y="5045084"/>
              <a:chExt cx="2289484" cy="431902"/>
            </a:xfrm>
          </p:grpSpPr>
          <p:cxnSp>
            <p:nvCxnSpPr>
              <p:cNvPr id="44" name="Straight Connector 43">
                <a:extLst>
                  <a:ext uri="{FF2B5EF4-FFF2-40B4-BE49-F238E27FC236}">
                    <a16:creationId xmlns:a16="http://schemas.microsoft.com/office/drawing/2014/main" id="{BD597AAC-0047-4B0F-894D-F6241ACEEBDE}"/>
                  </a:ext>
                </a:extLst>
              </p:cNvPr>
              <p:cNvCxnSpPr>
                <a:cxnSpLocks/>
              </p:cNvCxnSpPr>
              <p:nvPr/>
            </p:nvCxnSpPr>
            <p:spPr>
              <a:xfrm>
                <a:off x="1219200" y="5045084"/>
                <a:ext cx="2209800"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C9E55B2-4647-400B-A3B5-90BA76DA7834}"/>
                  </a:ext>
                </a:extLst>
              </p:cNvPr>
              <p:cNvCxnSpPr>
                <a:cxnSpLocks/>
              </p:cNvCxnSpPr>
              <p:nvPr/>
            </p:nvCxnSpPr>
            <p:spPr>
              <a:xfrm flipH="1">
                <a:off x="1219200" y="5045084"/>
                <a:ext cx="2289484"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38" name="Group 37">
            <a:extLst>
              <a:ext uri="{FF2B5EF4-FFF2-40B4-BE49-F238E27FC236}">
                <a16:creationId xmlns:a16="http://schemas.microsoft.com/office/drawing/2014/main" id="{5531DEB8-606C-CF93-4E17-6138B33E1DF5}"/>
              </a:ext>
            </a:extLst>
          </p:cNvPr>
          <p:cNvGrpSpPr/>
          <p:nvPr/>
        </p:nvGrpSpPr>
        <p:grpSpPr>
          <a:xfrm>
            <a:off x="6246252" y="2391043"/>
            <a:ext cx="1786890" cy="3092721"/>
            <a:chOff x="6246252" y="2391043"/>
            <a:chExt cx="1786890" cy="3092721"/>
          </a:xfrm>
        </p:grpSpPr>
        <p:sp>
          <p:nvSpPr>
            <p:cNvPr id="39" name="Rectangle 38">
              <a:extLst>
                <a:ext uri="{FF2B5EF4-FFF2-40B4-BE49-F238E27FC236}">
                  <a16:creationId xmlns:a16="http://schemas.microsoft.com/office/drawing/2014/main" id="{9105FE34-4611-45AF-B2C8-50E2984917BF}"/>
                </a:ext>
              </a:extLst>
            </p:cNvPr>
            <p:cNvSpPr/>
            <p:nvPr/>
          </p:nvSpPr>
          <p:spPr>
            <a:xfrm>
              <a:off x="6500133" y="4975605"/>
              <a:ext cx="1533009" cy="369332"/>
            </a:xfrm>
            <a:prstGeom prst="rect">
              <a:avLst/>
            </a:prstGeom>
          </p:spPr>
          <p:txBody>
            <a:bodyPr wrap="square">
              <a:spAutoFit/>
            </a:bodyPr>
            <a:lstStyle/>
            <a:p>
              <a:pPr algn="ctr"/>
              <a:r>
                <a:rPr lang="en-US" dirty="0">
                  <a:solidFill>
                    <a:schemeClr val="accent2"/>
                  </a:solidFill>
                </a:rPr>
                <a:t>Solution path</a:t>
              </a:r>
            </a:p>
          </p:txBody>
        </p:sp>
        <p:grpSp>
          <p:nvGrpSpPr>
            <p:cNvPr id="24" name="Group 23">
              <a:extLst>
                <a:ext uri="{FF2B5EF4-FFF2-40B4-BE49-F238E27FC236}">
                  <a16:creationId xmlns:a16="http://schemas.microsoft.com/office/drawing/2014/main" id="{BDECA28C-240E-7496-3D52-131939943F61}"/>
                </a:ext>
              </a:extLst>
            </p:cNvPr>
            <p:cNvGrpSpPr/>
            <p:nvPr/>
          </p:nvGrpSpPr>
          <p:grpSpPr>
            <a:xfrm>
              <a:off x="6246252" y="2391043"/>
              <a:ext cx="957006" cy="3092721"/>
              <a:chOff x="6246252" y="2391043"/>
              <a:chExt cx="957006" cy="3092721"/>
            </a:xfrm>
          </p:grpSpPr>
          <p:cxnSp>
            <p:nvCxnSpPr>
              <p:cNvPr id="3" name="Straight Arrow Connector 2">
                <a:extLst>
                  <a:ext uri="{FF2B5EF4-FFF2-40B4-BE49-F238E27FC236}">
                    <a16:creationId xmlns:a16="http://schemas.microsoft.com/office/drawing/2014/main" id="{59FEBE58-4685-386B-C6A7-3FCF7BF2B1BC}"/>
                  </a:ext>
                </a:extLst>
              </p:cNvPr>
              <p:cNvCxnSpPr>
                <a:cxnSpLocks/>
              </p:cNvCxnSpPr>
              <p:nvPr/>
            </p:nvCxnSpPr>
            <p:spPr>
              <a:xfrm flipH="1">
                <a:off x="6277814" y="4812064"/>
                <a:ext cx="402461" cy="671700"/>
              </a:xfrm>
              <a:prstGeom prst="straightConnector1">
                <a:avLst/>
              </a:prstGeom>
              <a:ln w="57150">
                <a:tailEnd type="arrow"/>
              </a:ln>
            </p:spPr>
            <p:style>
              <a:lnRef idx="3">
                <a:schemeClr val="accent2"/>
              </a:lnRef>
              <a:fillRef idx="0">
                <a:schemeClr val="accent2"/>
              </a:fillRef>
              <a:effectRef idx="2">
                <a:schemeClr val="accent2"/>
              </a:effectRef>
              <a:fontRef idx="minor">
                <a:schemeClr val="tx1"/>
              </a:fontRef>
            </p:style>
          </p:cxnSp>
          <p:cxnSp>
            <p:nvCxnSpPr>
              <p:cNvPr id="40" name="Straight Connector 39">
                <a:extLst>
                  <a:ext uri="{FF2B5EF4-FFF2-40B4-BE49-F238E27FC236}">
                    <a16:creationId xmlns:a16="http://schemas.microsoft.com/office/drawing/2014/main" id="{66652061-1483-0B6B-D242-4D99CEB6E2C5}"/>
                  </a:ext>
                </a:extLst>
              </p:cNvPr>
              <p:cNvCxnSpPr>
                <a:cxnSpLocks/>
                <a:endCxn id="31" idx="6"/>
              </p:cNvCxnSpPr>
              <p:nvPr/>
            </p:nvCxnSpPr>
            <p:spPr>
              <a:xfrm flipH="1">
                <a:off x="6246252" y="2391043"/>
                <a:ext cx="957006" cy="1652725"/>
              </a:xfrm>
              <a:prstGeom prst="line">
                <a:avLst/>
              </a:prstGeom>
              <a:ln w="57150"/>
            </p:spPr>
            <p:style>
              <a:lnRef idx="3">
                <a:schemeClr val="accent2"/>
              </a:lnRef>
              <a:fillRef idx="0">
                <a:schemeClr val="accent2"/>
              </a:fillRef>
              <a:effectRef idx="2">
                <a:schemeClr val="accent2"/>
              </a:effectRef>
              <a:fontRef idx="minor">
                <a:schemeClr val="tx1"/>
              </a:fontRef>
            </p:style>
          </p:cxnSp>
          <p:cxnSp>
            <p:nvCxnSpPr>
              <p:cNvPr id="41" name="Straight Connector 40">
                <a:extLst>
                  <a:ext uri="{FF2B5EF4-FFF2-40B4-BE49-F238E27FC236}">
                    <a16:creationId xmlns:a16="http://schemas.microsoft.com/office/drawing/2014/main" id="{C40584B3-7C87-585A-C5D4-0C685F7A8CAC}"/>
                  </a:ext>
                </a:extLst>
              </p:cNvPr>
              <p:cNvCxnSpPr>
                <a:cxnSpLocks/>
                <a:stCxn id="31" idx="6"/>
              </p:cNvCxnSpPr>
              <p:nvPr/>
            </p:nvCxnSpPr>
            <p:spPr>
              <a:xfrm>
                <a:off x="6246252" y="4043768"/>
                <a:ext cx="426289" cy="777941"/>
              </a:xfrm>
              <a:prstGeom prst="line">
                <a:avLst/>
              </a:prstGeom>
              <a:ln w="57150"/>
            </p:spPr>
            <p:style>
              <a:lnRef idx="3">
                <a:schemeClr val="accent2"/>
              </a:lnRef>
              <a:fillRef idx="0">
                <a:schemeClr val="accent2"/>
              </a:fillRef>
              <a:effectRef idx="2">
                <a:schemeClr val="accent2"/>
              </a:effectRef>
              <a:fontRef idx="minor">
                <a:schemeClr val="tx1"/>
              </a:fontRef>
            </p:style>
          </p:cxnSp>
        </p:grpSp>
      </p:grpSp>
      <p:grpSp>
        <p:nvGrpSpPr>
          <p:cNvPr id="12" name="Group 11">
            <a:extLst>
              <a:ext uri="{FF2B5EF4-FFF2-40B4-BE49-F238E27FC236}">
                <a16:creationId xmlns:a16="http://schemas.microsoft.com/office/drawing/2014/main" id="{C26CB06A-D585-3262-E226-F6BC2B4FFAE2}"/>
              </a:ext>
            </a:extLst>
          </p:cNvPr>
          <p:cNvGrpSpPr/>
          <p:nvPr/>
        </p:nvGrpSpPr>
        <p:grpSpPr>
          <a:xfrm>
            <a:off x="4800600" y="4174800"/>
            <a:ext cx="1447623" cy="397239"/>
            <a:chOff x="4800600" y="4174800"/>
            <a:chExt cx="1447623" cy="397239"/>
          </a:xfrm>
        </p:grpSpPr>
        <p:sp>
          <p:nvSpPr>
            <p:cNvPr id="34" name="Rectangle 33">
              <a:extLst>
                <a:ext uri="{FF2B5EF4-FFF2-40B4-BE49-F238E27FC236}">
                  <a16:creationId xmlns:a16="http://schemas.microsoft.com/office/drawing/2014/main" id="{018F8CBD-0FF9-413A-B4D5-AAC5A8B148C2}"/>
                </a:ext>
              </a:extLst>
            </p:cNvPr>
            <p:cNvSpPr/>
            <p:nvPr/>
          </p:nvSpPr>
          <p:spPr>
            <a:xfrm>
              <a:off x="4800600" y="4203842"/>
              <a:ext cx="1226312" cy="307777"/>
            </a:xfrm>
            <a:prstGeom prst="rect">
              <a:avLst/>
            </a:prstGeom>
          </p:spPr>
          <p:txBody>
            <a:bodyPr wrap="square">
              <a:spAutoFit/>
            </a:bodyPr>
            <a:lstStyle/>
            <a:p>
              <a:pPr algn="ctr"/>
              <a:r>
                <a:rPr lang="en-US" sz="1400" dirty="0"/>
                <a:t>Cycle</a:t>
              </a:r>
              <a:endParaRPr lang="en-US" dirty="0"/>
            </a:p>
          </p:txBody>
        </p:sp>
        <p:grpSp>
          <p:nvGrpSpPr>
            <p:cNvPr id="35" name="Group 34">
              <a:extLst>
                <a:ext uri="{FF2B5EF4-FFF2-40B4-BE49-F238E27FC236}">
                  <a16:creationId xmlns:a16="http://schemas.microsoft.com/office/drawing/2014/main" id="{935FE1E2-6862-4B7C-9BCA-FCC147456DF1}"/>
                </a:ext>
              </a:extLst>
            </p:cNvPr>
            <p:cNvGrpSpPr/>
            <p:nvPr/>
          </p:nvGrpSpPr>
          <p:grpSpPr>
            <a:xfrm>
              <a:off x="5482280" y="4174800"/>
              <a:ext cx="765943" cy="397239"/>
              <a:chOff x="1219200" y="5045074"/>
              <a:chExt cx="2289484" cy="431902"/>
            </a:xfrm>
          </p:grpSpPr>
          <p:cxnSp>
            <p:nvCxnSpPr>
              <p:cNvPr id="36" name="Straight Connector 35">
                <a:extLst>
                  <a:ext uri="{FF2B5EF4-FFF2-40B4-BE49-F238E27FC236}">
                    <a16:creationId xmlns:a16="http://schemas.microsoft.com/office/drawing/2014/main" id="{33E656F0-7E44-4750-A40B-08B26E1C2881}"/>
                  </a:ext>
                </a:extLst>
              </p:cNvPr>
              <p:cNvCxnSpPr>
                <a:cxnSpLocks/>
              </p:cNvCxnSpPr>
              <p:nvPr/>
            </p:nvCxnSpPr>
            <p:spPr>
              <a:xfrm>
                <a:off x="1219200" y="5045074"/>
                <a:ext cx="2209800"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98E7255-DDDF-4DB3-B9D7-63987FDC9C4F}"/>
                  </a:ext>
                </a:extLst>
              </p:cNvPr>
              <p:cNvCxnSpPr>
                <a:cxnSpLocks/>
              </p:cNvCxnSpPr>
              <p:nvPr/>
            </p:nvCxnSpPr>
            <p:spPr>
              <a:xfrm flipH="1">
                <a:off x="1219200" y="5045074"/>
                <a:ext cx="2289484" cy="431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sp>
        <p:nvSpPr>
          <p:cNvPr id="4" name="Oval 3">
            <a:extLst>
              <a:ext uri="{FF2B5EF4-FFF2-40B4-BE49-F238E27FC236}">
                <a16:creationId xmlns:a16="http://schemas.microsoft.com/office/drawing/2014/main" id="{0187AC6C-39F3-24CA-7924-BFFADDDF6F49}"/>
              </a:ext>
            </a:extLst>
          </p:cNvPr>
          <p:cNvSpPr/>
          <p:nvPr/>
        </p:nvSpPr>
        <p:spPr>
          <a:xfrm>
            <a:off x="5468468" y="4614889"/>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cxnSp>
        <p:nvCxnSpPr>
          <p:cNvPr id="2" name="Straight Arrow Connector 1">
            <a:extLst>
              <a:ext uri="{FF2B5EF4-FFF2-40B4-BE49-F238E27FC236}">
                <a16:creationId xmlns:a16="http://schemas.microsoft.com/office/drawing/2014/main" id="{8C6F20CA-AACE-BF99-E049-030955EC0712}"/>
              </a:ext>
            </a:extLst>
          </p:cNvPr>
          <p:cNvCxnSpPr/>
          <p:nvPr/>
        </p:nvCxnSpPr>
        <p:spPr>
          <a:xfrm rot="5400000">
            <a:off x="7714339" y="4314347"/>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99FEA737-8951-0217-5767-65D2896A9500}"/>
              </a:ext>
            </a:extLst>
          </p:cNvPr>
          <p:cNvCxnSpPr/>
          <p:nvPr/>
        </p:nvCxnSpPr>
        <p:spPr>
          <a:xfrm rot="16200000" flipH="1">
            <a:off x="8171538" y="4314347"/>
            <a:ext cx="501837" cy="30480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1C4F03D7-FD9F-B0E7-C75A-3E3F547A1C57}"/>
              </a:ext>
            </a:extLst>
          </p:cNvPr>
          <p:cNvSpPr/>
          <p:nvPr/>
        </p:nvSpPr>
        <p:spPr>
          <a:xfrm>
            <a:off x="8041455" y="3924104"/>
            <a:ext cx="304800" cy="3048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7" name="TextBox 6">
            <a:extLst>
              <a:ext uri="{FF2B5EF4-FFF2-40B4-BE49-F238E27FC236}">
                <a16:creationId xmlns:a16="http://schemas.microsoft.com/office/drawing/2014/main" id="{2CE28A43-022F-2733-AE6A-DC930EC0DEDC}"/>
              </a:ext>
            </a:extLst>
          </p:cNvPr>
          <p:cNvSpPr txBox="1"/>
          <p:nvPr/>
        </p:nvSpPr>
        <p:spPr>
          <a:xfrm>
            <a:off x="7889755" y="4127852"/>
            <a:ext cx="676788" cy="923330"/>
          </a:xfrm>
          <a:prstGeom prst="rect">
            <a:avLst/>
          </a:prstGeom>
          <a:noFill/>
        </p:spPr>
        <p:txBody>
          <a:bodyPr wrap="none" rtlCol="0">
            <a:spAutoFit/>
          </a:bodyPr>
          <a:lstStyle/>
          <a:p>
            <a:r>
              <a:rPr lang="en-US" sz="5400" dirty="0">
                <a:solidFill>
                  <a:srgbClr val="0070C0"/>
                </a:solidFill>
                <a:latin typeface="+mn-lt"/>
              </a:rPr>
              <a:t>…</a:t>
            </a:r>
          </a:p>
        </p:txBody>
      </p:sp>
      <p:sp>
        <p:nvSpPr>
          <p:cNvPr id="46" name="Rectangle 45">
            <a:extLst>
              <a:ext uri="{FF2B5EF4-FFF2-40B4-BE49-F238E27FC236}">
                <a16:creationId xmlns:a16="http://schemas.microsoft.com/office/drawing/2014/main" id="{58672B10-4FBD-4724-DC42-E81160B8A38D}"/>
              </a:ext>
            </a:extLst>
          </p:cNvPr>
          <p:cNvSpPr/>
          <p:nvPr/>
        </p:nvSpPr>
        <p:spPr>
          <a:xfrm>
            <a:off x="575434" y="2743201"/>
            <a:ext cx="4479551" cy="1431600"/>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9027-A669-4E9F-88BB-9B65EE4BFAAE}"/>
              </a:ext>
            </a:extLst>
          </p:cNvPr>
          <p:cNvSpPr>
            <a:spLocks noGrp="1"/>
          </p:cNvSpPr>
          <p:nvPr>
            <p:ph type="title"/>
          </p:nvPr>
        </p:nvSpPr>
        <p:spPr/>
        <p:txBody>
          <a:bodyPr/>
          <a:lstStyle/>
          <a:p>
            <a:r>
              <a:rPr lang="en-US" dirty="0"/>
              <a:t>Differences Between Typical Tree Search and AI Search</a:t>
            </a:r>
          </a:p>
        </p:txBody>
      </p:sp>
      <p:sp>
        <p:nvSpPr>
          <p:cNvPr id="4" name="Content Placeholder 3">
            <a:extLst>
              <a:ext uri="{FF2B5EF4-FFF2-40B4-BE49-F238E27FC236}">
                <a16:creationId xmlns:a16="http://schemas.microsoft.com/office/drawing/2014/main" id="{416DDDA6-AE40-4D9F-B2FA-432DA7239574}"/>
              </a:ext>
            </a:extLst>
          </p:cNvPr>
          <p:cNvSpPr>
            <a:spLocks noGrp="1"/>
          </p:cNvSpPr>
          <p:nvPr>
            <p:ph sz="half" idx="1"/>
          </p:nvPr>
        </p:nvSpPr>
        <p:spPr>
          <a:xfrm>
            <a:off x="628650" y="1825625"/>
            <a:ext cx="3257550" cy="4351338"/>
          </a:xfrm>
        </p:spPr>
        <p:txBody>
          <a:bodyPr>
            <a:normAutofit fontScale="85000" lnSpcReduction="20000"/>
          </a:bodyPr>
          <a:lstStyle/>
          <a:p>
            <a:pPr marL="0" indent="0" algn="ctr">
              <a:buNone/>
            </a:pPr>
            <a:r>
              <a:rPr lang="en-US" b="1" dirty="0"/>
              <a:t>Typical tree search</a:t>
            </a:r>
          </a:p>
          <a:p>
            <a:pPr marL="0" indent="0" algn="ctr">
              <a:buNone/>
            </a:pPr>
            <a:endParaRPr lang="en-US" b="1" dirty="0"/>
          </a:p>
          <a:p>
            <a:r>
              <a:rPr lang="en-US" dirty="0"/>
              <a:t>Assumes a given tree that fits in memory.</a:t>
            </a:r>
          </a:p>
          <a:p>
            <a:endParaRPr lang="en-US" dirty="0"/>
          </a:p>
          <a:p>
            <a:endParaRPr lang="en-US" dirty="0"/>
          </a:p>
          <a:p>
            <a:pPr marL="0" indent="0">
              <a:buNone/>
            </a:pPr>
            <a:endParaRPr lang="en-US" dirty="0"/>
          </a:p>
          <a:p>
            <a:pPr marL="0" indent="0">
              <a:buNone/>
            </a:pPr>
            <a:endParaRPr lang="en-US" dirty="0"/>
          </a:p>
          <a:p>
            <a:r>
              <a:rPr lang="en-US" dirty="0"/>
              <a:t>Trees have by construction no cycles or redundant paths.</a:t>
            </a:r>
          </a:p>
          <a:p>
            <a:endParaRPr lang="en-US" dirty="0"/>
          </a:p>
          <a:p>
            <a:endParaRPr lang="en-US" dirty="0"/>
          </a:p>
        </p:txBody>
      </p:sp>
      <p:sp>
        <p:nvSpPr>
          <p:cNvPr id="5" name="Content Placeholder 4">
            <a:extLst>
              <a:ext uri="{FF2B5EF4-FFF2-40B4-BE49-F238E27FC236}">
                <a16:creationId xmlns:a16="http://schemas.microsoft.com/office/drawing/2014/main" id="{06DAD876-9AB5-424E-B7CE-A6A6D5E3C7D0}"/>
              </a:ext>
            </a:extLst>
          </p:cNvPr>
          <p:cNvSpPr>
            <a:spLocks noGrp="1"/>
          </p:cNvSpPr>
          <p:nvPr>
            <p:ph sz="half" idx="2"/>
          </p:nvPr>
        </p:nvSpPr>
        <p:spPr>
          <a:xfrm>
            <a:off x="4629150" y="1825624"/>
            <a:ext cx="3886200" cy="4498975"/>
          </a:xfrm>
        </p:spPr>
        <p:txBody>
          <a:bodyPr>
            <a:normAutofit fontScale="85000" lnSpcReduction="20000"/>
          </a:bodyPr>
          <a:lstStyle/>
          <a:p>
            <a:pPr marL="0" indent="0" algn="ctr">
              <a:buNone/>
            </a:pPr>
            <a:r>
              <a:rPr lang="en-US" b="1" dirty="0"/>
              <a:t>AI tree/graph search</a:t>
            </a:r>
          </a:p>
          <a:p>
            <a:pPr marL="0" indent="0" algn="ctr">
              <a:buNone/>
            </a:pPr>
            <a:endParaRPr lang="en-US" b="1" dirty="0"/>
          </a:p>
          <a:p>
            <a:r>
              <a:rPr lang="en-US" dirty="0"/>
              <a:t>The search tree is too large to fit into </a:t>
            </a:r>
            <a:r>
              <a:rPr lang="en-US" b="1" dirty="0">
                <a:solidFill>
                  <a:srgbClr val="FF0000"/>
                </a:solidFill>
              </a:rPr>
              <a:t>memory</a:t>
            </a:r>
            <a:r>
              <a:rPr lang="en-US" dirty="0"/>
              <a:t>. </a:t>
            </a:r>
          </a:p>
          <a:p>
            <a:pPr marL="685800" lvl="1" indent="-342900">
              <a:buFont typeface="+mj-lt"/>
              <a:buAutoNum type="alphaLcPeriod"/>
            </a:pPr>
            <a:r>
              <a:rPr lang="en-US" b="1" dirty="0"/>
              <a:t>Builds parts of  the tree </a:t>
            </a:r>
            <a:r>
              <a:rPr lang="en-US" dirty="0"/>
              <a:t>from the initial state using the transition function representing the graph.</a:t>
            </a:r>
          </a:p>
          <a:p>
            <a:pPr marL="685800" lvl="1" indent="-342900">
              <a:buFont typeface="+mj-lt"/>
              <a:buAutoNum type="alphaLcPeriod"/>
            </a:pPr>
            <a:r>
              <a:rPr lang="en-US" b="1" dirty="0"/>
              <a:t>Memory management </a:t>
            </a:r>
            <a:r>
              <a:rPr lang="en-US" dirty="0"/>
              <a:t>is very important.</a:t>
            </a:r>
          </a:p>
          <a:p>
            <a:pPr marL="0" indent="0">
              <a:buNone/>
            </a:pPr>
            <a:endParaRPr lang="en-US" dirty="0"/>
          </a:p>
          <a:p>
            <a:r>
              <a:rPr lang="en-US" dirty="0"/>
              <a:t>The search space is typically a very large and complicated graph. Memory-efficient </a:t>
            </a:r>
            <a:r>
              <a:rPr lang="en-US" b="1" dirty="0">
                <a:solidFill>
                  <a:srgbClr val="FF0000"/>
                </a:solidFill>
              </a:rPr>
              <a:t>cycle checking</a:t>
            </a:r>
            <a:r>
              <a:rPr lang="en-US" dirty="0">
                <a:solidFill>
                  <a:srgbClr val="FF0000"/>
                </a:solidFill>
              </a:rPr>
              <a:t> </a:t>
            </a:r>
            <a:r>
              <a:rPr lang="en-US" dirty="0"/>
              <a:t>is very important to avoid infinite loops or minimize searching parts of the search space multiple times. </a:t>
            </a:r>
          </a:p>
          <a:p>
            <a:r>
              <a:rPr lang="en-US" dirty="0"/>
              <a:t>Checking redundant paths often requires too much memory and we accept searching the same part multiple times.</a:t>
            </a:r>
          </a:p>
        </p:txBody>
      </p:sp>
    </p:spTree>
    <p:extLst>
      <p:ext uri="{BB962C8B-B14F-4D97-AF65-F5344CB8AC3E}">
        <p14:creationId xmlns:p14="http://schemas.microsoft.com/office/powerpoint/2010/main" val="631091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C60801-AB72-DA06-6A32-0E1736549017}"/>
              </a:ext>
            </a:extLst>
          </p:cNvPr>
          <p:cNvSpPr>
            <a:spLocks noGrp="1"/>
          </p:cNvSpPr>
          <p:nvPr>
            <p:ph type="title"/>
          </p:nvPr>
        </p:nvSpPr>
        <p:spPr/>
        <p:txBody>
          <a:bodyPr/>
          <a:lstStyle/>
          <a:p>
            <a:r>
              <a:rPr lang="en-US" dirty="0"/>
              <a:t>State Space</a:t>
            </a:r>
          </a:p>
        </p:txBody>
      </p:sp>
      <p:sp>
        <p:nvSpPr>
          <p:cNvPr id="6" name="Text Placeholder 5">
            <a:extLst>
              <a:ext uri="{FF2B5EF4-FFF2-40B4-BE49-F238E27FC236}">
                <a16:creationId xmlns:a16="http://schemas.microsoft.com/office/drawing/2014/main" id="{8E6DAC63-FC9E-E872-8178-72042FD946B7}"/>
              </a:ext>
            </a:extLst>
          </p:cNvPr>
          <p:cNvSpPr>
            <a:spLocks noGrp="1"/>
          </p:cNvSpPr>
          <p:nvPr>
            <p:ph type="body" idx="1"/>
          </p:nvPr>
        </p:nvSpPr>
        <p:spPr/>
        <p:txBody>
          <a:bodyPr/>
          <a:lstStyle/>
          <a:p>
            <a:r>
              <a:rPr lang="en-US" dirty="0"/>
              <a:t>Defines the problem size. Determines:</a:t>
            </a:r>
          </a:p>
          <a:p>
            <a:pPr marL="285750" indent="-285750">
              <a:buFont typeface="Arial" panose="020B0604020202020204" pitchFamily="34" charset="0"/>
              <a:buChar char="•"/>
            </a:pPr>
            <a:r>
              <a:rPr lang="en-US" dirty="0"/>
              <a:t>Memory requirement: How big will the search tree get?</a:t>
            </a:r>
          </a:p>
          <a:p>
            <a:pPr marL="285750" indent="-285750">
              <a:buFont typeface="Arial" panose="020B0604020202020204" pitchFamily="34" charset="0"/>
              <a:buChar char="•"/>
            </a:pPr>
            <a:r>
              <a:rPr lang="en-US" dirty="0"/>
              <a:t>Run time: How long will the search take?</a:t>
            </a:r>
          </a:p>
        </p:txBody>
      </p:sp>
    </p:spTree>
    <p:extLst>
      <p:ext uri="{BB962C8B-B14F-4D97-AF65-F5344CB8AC3E}">
        <p14:creationId xmlns:p14="http://schemas.microsoft.com/office/powerpoint/2010/main" val="3588327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28650" y="365127"/>
            <a:ext cx="7886700" cy="930274"/>
          </a:xfrm>
        </p:spPr>
        <p:txBody>
          <a:bodyPr/>
          <a:lstStyle/>
          <a:p>
            <a:r>
              <a:rPr lang="en-US" dirty="0"/>
              <a:t>State Space vs. Search Tree Size</a:t>
            </a:r>
          </a:p>
        </p:txBody>
      </p:sp>
      <mc:AlternateContent xmlns:mc="http://schemas.openxmlformats.org/markup-compatibility/2006" xmlns:a14="http://schemas.microsoft.com/office/drawing/2010/main">
        <mc:Choice Requires="a14">
          <p:sp>
            <p:nvSpPr>
              <p:cNvPr id="24579" name="Rectangle 3"/>
              <p:cNvSpPr>
                <a:spLocks noGrp="1" noChangeArrowheads="1"/>
              </p:cNvSpPr>
              <p:nvPr>
                <p:ph idx="1"/>
              </p:nvPr>
            </p:nvSpPr>
            <p:spPr>
              <a:xfrm>
                <a:off x="628650" y="1219200"/>
                <a:ext cx="7886700" cy="5105399"/>
              </a:xfrm>
            </p:spPr>
            <p:txBody>
              <a:bodyPr>
                <a:normAutofit fontScale="92500" lnSpcReduction="20000"/>
              </a:bodyPr>
              <a:lstStyle/>
              <a:p>
                <a:pPr>
                  <a:lnSpc>
                    <a:spcPct val="90000"/>
                  </a:lnSpc>
                </a:pPr>
                <a:r>
                  <a:rPr lang="en-US" dirty="0"/>
                  <a:t>Space and time complexity depend on the </a:t>
                </a:r>
                <a:r>
                  <a:rPr lang="en-US" b="1" dirty="0">
                    <a:solidFill>
                      <a:srgbClr val="FF0000"/>
                    </a:solidFill>
                  </a:rPr>
                  <a:t>number of tree nodes </a:t>
                </a:r>
                <a:r>
                  <a:rPr lang="en-US" dirty="0"/>
                  <a:t>searched (created and visited) till a goal node is found. For a tree with </a:t>
                </a:r>
                <a14:m>
                  <m:oMath xmlns:m="http://schemas.openxmlformats.org/officeDocument/2006/math">
                    <m:r>
                      <a:rPr lang="en-US" b="0" i="1" smtClean="0">
                        <a:latin typeface="Cambria Math" panose="02040503050406030204" pitchFamily="18" charset="0"/>
                      </a:rPr>
                      <m:t>𝑛</m:t>
                    </m:r>
                  </m:oMath>
                </a14:m>
                <a:r>
                  <a:rPr lang="en-US" dirty="0"/>
                  <a:t> nodes we have:</a:t>
                </a:r>
                <a:br>
                  <a:rPr lang="en-US" dirty="0"/>
                </a:br>
                <a14:m>
                  <m:oMath xmlns:m="http://schemas.openxmlformats.org/officeDocument/2006/math">
                    <m:r>
                      <a:rPr lang="en-US" i="1">
                        <a:latin typeface="Cambria Math" panose="02040503050406030204" pitchFamily="18" charset="0"/>
                      </a:rPr>
                      <m:t>𝑂</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endParaRPr lang="en-US" dirty="0"/>
              </a:p>
              <a:p>
                <a:pPr marL="0" indent="0">
                  <a:lnSpc>
                    <a:spcPct val="90000"/>
                  </a:lnSpc>
                  <a:buNone/>
                </a:pPr>
                <a:endParaRPr lang="en-US" dirty="0"/>
              </a:p>
              <a:p>
                <a:r>
                  <a:rPr lang="en-US" b="1" dirty="0"/>
                  <a:t>Remember</a:t>
                </a:r>
                <a:r>
                  <a:rPr lang="en-US" dirty="0"/>
                  <a:t>: For perfect cycle checking and redundant path elimination, we have a 1:1 mapping between nodes and states:</a:t>
                </a:r>
              </a:p>
              <a:p>
                <a:pPr marL="0" indent="0" algn="ctr">
                  <a:buNone/>
                </a:pPr>
                <a:r>
                  <a:rPr lang="en-US" dirty="0"/>
                  <a:t>Nodes in the search tree </a:t>
                </a:r>
                <a14:m>
                  <m:oMath xmlns:m="http://schemas.openxmlformats.org/officeDocument/2006/math">
                    <m:r>
                      <a:rPr lang="en-US" i="1">
                        <a:latin typeface="Cambria Math" panose="02040503050406030204" pitchFamily="18" charset="0"/>
                      </a:rPr>
                      <m:t>=</m:t>
                    </m:r>
                  </m:oMath>
                </a14:m>
                <a:r>
                  <a:rPr lang="en-US" dirty="0"/>
                  <a:t> states in the search space</a:t>
                </a:r>
              </a:p>
              <a:p>
                <a:pPr marL="342900" lvl="1" indent="0">
                  <a:buNone/>
                </a:pPr>
                <a:r>
                  <a:rPr lang="en-US" dirty="0"/>
                  <a:t>Otherwise, we may have multiple nodes representing a state.</a:t>
                </a:r>
              </a:p>
              <a:p>
                <a:pPr marL="0" indent="0">
                  <a:lnSpc>
                    <a:spcPct val="90000"/>
                  </a:lnSpc>
                  <a:buNone/>
                </a:pPr>
                <a:endParaRPr lang="en-US" dirty="0"/>
              </a:p>
              <a:p>
                <a:r>
                  <a:rPr lang="en-US" dirty="0"/>
                  <a:t>We have the following options to estimate </a:t>
                </a:r>
                <a14:m>
                  <m:oMath xmlns:m="http://schemas.openxmlformats.org/officeDocument/2006/math">
                    <m:r>
                      <a:rPr lang="en-US" b="0" i="1" smtClean="0">
                        <a:latin typeface="Cambria Math" panose="02040503050406030204" pitchFamily="18" charset="0"/>
                      </a:rPr>
                      <m:t>𝑛</m:t>
                    </m:r>
                  </m:oMath>
                </a14:m>
                <a:r>
                  <a:rPr lang="en-US" dirty="0"/>
                  <a:t> for a search problem:</a:t>
                </a:r>
              </a:p>
              <a:p>
                <a:pPr marL="685800" lvl="1" indent="-342900">
                  <a:buFont typeface="+mj-lt"/>
                  <a:buAutoNum type="alphaLcPeriod"/>
                </a:pPr>
                <a:r>
                  <a:rPr lang="en-US" b="1" dirty="0">
                    <a:solidFill>
                      <a:srgbClr val="FF0000"/>
                    </a:solidFill>
                  </a:rPr>
                  <a:t>Estimate the reachable state space size.</a:t>
                </a:r>
                <a:endParaRPr lang="en-US" dirty="0"/>
              </a:p>
              <a:p>
                <a:pPr marL="685800" lvl="1" indent="-342900">
                  <a:buFont typeface="+mj-lt"/>
                  <a:buAutoNum type="alphaLcPeriod"/>
                </a:pPr>
                <a:r>
                  <a:rPr lang="en-US" b="1" dirty="0">
                    <a:solidFill>
                      <a:srgbClr val="FF0000"/>
                    </a:solidFill>
                  </a:rPr>
                  <a:t>Estimate the number of searched tree nodes.</a:t>
                </a:r>
                <a:endParaRPr lang="en-US" dirty="0"/>
              </a:p>
              <a:p>
                <a:endParaRPr lang="en-US" sz="3000" dirty="0"/>
              </a:p>
              <a:p>
                <a:r>
                  <a:rPr lang="en-US" dirty="0"/>
                  <a:t>Estimating the complexity is important to judge:</a:t>
                </a:r>
              </a:p>
              <a:p>
                <a:pPr lvl="1">
                  <a:buFont typeface="Wingdings" panose="05000000000000000000" pitchFamily="2" charset="2"/>
                  <a:buChar char="§"/>
                </a:pPr>
                <a:r>
                  <a:rPr lang="en-US" dirty="0"/>
                  <a:t>How difficult is the problem?</a:t>
                </a:r>
              </a:p>
              <a:p>
                <a:pPr lvl="1">
                  <a:buFont typeface="Wingdings" panose="05000000000000000000" pitchFamily="2" charset="2"/>
                  <a:buChar char="§"/>
                </a:pPr>
                <a:r>
                  <a:rPr lang="en-US" dirty="0"/>
                  <a:t>What algorithm will fit in memory?</a:t>
                </a:r>
              </a:p>
              <a:p>
                <a:pPr lvl="1">
                  <a:buFont typeface="Wingdings" panose="05000000000000000000" pitchFamily="2" charset="2"/>
                  <a:buChar char="§"/>
                </a:pPr>
                <a:r>
                  <a:rPr lang="en-US" dirty="0"/>
                  <a:t>Can we find a solution fast enough?</a:t>
                </a:r>
              </a:p>
              <a:p>
                <a:pPr lvl="1">
                  <a:buFont typeface="Wingdings" panose="05000000000000000000" pitchFamily="2" charset="2"/>
                  <a:buChar char="§"/>
                </a:pPr>
                <a:r>
                  <a:rPr lang="en-US" dirty="0"/>
                  <a:t>Can we find the optimal solution, or do we need to use a heuristic?</a:t>
                </a:r>
              </a:p>
            </p:txBody>
          </p:sp>
        </mc:Choice>
        <mc:Fallback xmlns="">
          <p:sp>
            <p:nvSpPr>
              <p:cNvPr id="24579" name="Rectangle 3"/>
              <p:cNvSpPr>
                <a:spLocks noGrp="1" noRot="1" noChangeAspect="1" noMove="1" noResize="1" noEditPoints="1" noAdjustHandles="1" noChangeArrowheads="1" noChangeShapeType="1" noTextEdit="1"/>
              </p:cNvSpPr>
              <p:nvPr>
                <p:ph idx="1"/>
              </p:nvPr>
            </p:nvSpPr>
            <p:spPr>
              <a:xfrm>
                <a:off x="628650" y="1219200"/>
                <a:ext cx="7886700" cy="5105399"/>
              </a:xfrm>
              <a:blipFill>
                <a:blip r:embed="rId3"/>
                <a:stretch>
                  <a:fillRect l="-541" t="-2031"/>
                </a:stretch>
              </a:blipFill>
            </p:spPr>
            <p:txBody>
              <a:bodyPr/>
              <a:lstStyle/>
              <a:p>
                <a:r>
                  <a:rPr lang="en-US">
                    <a:noFill/>
                  </a:rPr>
                  <a:t> </a:t>
                </a:r>
              </a:p>
            </p:txBody>
          </p:sp>
        </mc:Fallback>
      </mc:AlternateContent>
    </p:spTree>
    <p:extLst>
      <p:ext uri="{BB962C8B-B14F-4D97-AF65-F5344CB8AC3E}">
        <p14:creationId xmlns:p14="http://schemas.microsoft.com/office/powerpoint/2010/main" val="1136128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8118D6-875C-4F36-B0D3-613393EA516B}"/>
              </a:ext>
            </a:extLst>
          </p:cNvPr>
          <p:cNvSpPr>
            <a:spLocks noGrp="1"/>
          </p:cNvSpPr>
          <p:nvPr>
            <p:ph type="title"/>
          </p:nvPr>
        </p:nvSpPr>
        <p:spPr/>
        <p:txBody>
          <a:bodyPr>
            <a:normAutofit/>
          </a:bodyPr>
          <a:lstStyle/>
          <a:p>
            <a:r>
              <a:rPr lang="en-US" dirty="0"/>
              <a:t>State Space Size Estimation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85DDB57-3B13-4459-BDD1-8D24C72653BF}"/>
                  </a:ext>
                </a:extLst>
              </p:cNvPr>
              <p:cNvSpPr>
                <a:spLocks noGrp="1"/>
              </p:cNvSpPr>
              <p:nvPr>
                <p:ph idx="1"/>
              </p:nvPr>
            </p:nvSpPr>
            <p:spPr>
              <a:xfrm>
                <a:off x="628650" y="1494944"/>
                <a:ext cx="4723935" cy="4753455"/>
              </a:xfrm>
            </p:spPr>
            <p:txBody>
              <a:bodyPr>
                <a:normAutofit fontScale="85000" lnSpcReduction="20000"/>
              </a:bodyPr>
              <a:lstStyle/>
              <a:p>
                <a:pPr marL="0" indent="0">
                  <a:buNone/>
                </a:pPr>
                <a:r>
                  <a:rPr lang="en-US" sz="2400" b="1" dirty="0"/>
                  <a:t>State Space</a:t>
                </a:r>
                <a:endParaRPr lang="en-US" dirty="0"/>
              </a:p>
              <a:p>
                <a:r>
                  <a:rPr lang="en-US" dirty="0"/>
                  <a:t>Number of different states the agent and environment can be in.</a:t>
                </a:r>
              </a:p>
              <a:p>
                <a:r>
                  <a:rPr lang="en-US" b="1" dirty="0">
                    <a:solidFill>
                      <a:srgbClr val="FF0000"/>
                    </a:solidFill>
                  </a:rPr>
                  <a:t>Reachable states </a:t>
                </a:r>
                <a:r>
                  <a:rPr lang="en-US" dirty="0"/>
                  <a:t>are defined by the initial state and the transition model. Only reachable states are important for search.</a:t>
                </a:r>
              </a:p>
              <a:p>
                <a:pPr marL="0" indent="0">
                  <a:buNone/>
                </a:pPr>
                <a:endParaRPr lang="en-US" dirty="0"/>
              </a:p>
              <a:p>
                <a:pPr marL="0" indent="0">
                  <a:buNone/>
                </a:pPr>
                <a:r>
                  <a:rPr lang="en-US" sz="2600" b="1" dirty="0"/>
                  <a:t>Estimation</a:t>
                </a:r>
                <a:endParaRPr lang="en-US" dirty="0"/>
              </a:p>
              <a:p>
                <a:r>
                  <a:rPr lang="en-US" dirty="0"/>
                  <a:t>Even if the used algorithm represents the state space using atomic states, we may know the internal (factored) representation. It can be used to estimate the problem size. </a:t>
                </a:r>
              </a:p>
              <a:p>
                <a:r>
                  <a:rPr lang="en-US" dirty="0"/>
                  <a:t>The basic rule is to estimate the state space size for factored state representation with </a:t>
                </a:r>
                <a14:m>
                  <m:oMath xmlns:m="http://schemas.openxmlformats.org/officeDocument/2006/math">
                    <m:r>
                      <a:rPr lang="en-US" b="0" i="1" smtClean="0">
                        <a:latin typeface="Cambria Math" panose="02040503050406030204" pitchFamily="18" charset="0"/>
                      </a:rPr>
                      <m:t>𝑙</m:t>
                    </m:r>
                  </m:oMath>
                </a14:m>
                <a:r>
                  <a:rPr lang="en-US" dirty="0"/>
                  <a:t> fluents (variables) as:</a:t>
                </a:r>
                <a:br>
                  <a:rPr lang="en-US" dirty="0"/>
                </a:br>
                <a:br>
                  <a:rPr lang="en-US" dirty="0"/>
                </a:br>
                <a:r>
                  <a:rPr lang="en-US" dirty="0"/>
                  <a:t>		</a:t>
                </a:r>
                <a14:m>
                  <m:oMath xmlns:m="http://schemas.openxmlformats.org/officeDocument/2006/math">
                    <m:r>
                      <a:rPr lang="en-US" i="1">
                        <a:latin typeface="Cambria Math" panose="02040503050406030204" pitchFamily="18" charset="0"/>
                      </a:rPr>
                      <m:t>𝑛</m:t>
                    </m:r>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m:rPr>
                        <m:lit/>
                      </m:rP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𝑙</m:t>
                            </m:r>
                          </m:sub>
                        </m:sSub>
                      </m:e>
                    </m:d>
                  </m:oMath>
                </a14:m>
                <a:r>
                  <a:rPr lang="en-US" dirty="0"/>
                  <a:t> </a:t>
                </a:r>
                <a:br>
                  <a:rPr lang="en-US" dirty="0"/>
                </a:br>
                <a:br>
                  <a:rPr lang="en-US" dirty="0"/>
                </a:br>
                <a:r>
                  <a:rPr lang="en-US" dirty="0"/>
                  <a:t>where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e>
                    </m:d>
                  </m:oMath>
                </a14:m>
                <a:r>
                  <a:rPr lang="en-US" dirty="0"/>
                  <a:t> is the number of possible values.</a:t>
                </a:r>
              </a:p>
            </p:txBody>
          </p:sp>
        </mc:Choice>
        <mc:Fallback xmlns="">
          <p:sp>
            <p:nvSpPr>
              <p:cNvPr id="5" name="Content Placeholder 4">
                <a:extLst>
                  <a:ext uri="{FF2B5EF4-FFF2-40B4-BE49-F238E27FC236}">
                    <a16:creationId xmlns:a16="http://schemas.microsoft.com/office/drawing/2014/main" id="{185DDB57-3B13-4459-BDD1-8D24C72653BF}"/>
                  </a:ext>
                </a:extLst>
              </p:cNvPr>
              <p:cNvSpPr>
                <a:spLocks noGrp="1" noRot="1" noChangeAspect="1" noMove="1" noResize="1" noEditPoints="1" noAdjustHandles="1" noChangeArrowheads="1" noChangeShapeType="1" noTextEdit="1"/>
              </p:cNvSpPr>
              <p:nvPr>
                <p:ph idx="1"/>
              </p:nvPr>
            </p:nvSpPr>
            <p:spPr>
              <a:xfrm>
                <a:off x="628650" y="1494944"/>
                <a:ext cx="4723935" cy="4753455"/>
              </a:xfrm>
              <a:blipFill>
                <a:blip r:embed="rId2"/>
                <a:stretch>
                  <a:fillRect l="-1677" t="-2308" r="-167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7419CB3-A5F5-45B5-9B50-CC14E55695EE}"/>
              </a:ext>
            </a:extLst>
          </p:cNvPr>
          <p:cNvPicPr>
            <a:picLocks noChangeAspect="1"/>
          </p:cNvPicPr>
          <p:nvPr/>
        </p:nvPicPr>
        <p:blipFill rotWithShape="1">
          <a:blip r:embed="rId3"/>
          <a:srcRect r="40771" b="29953"/>
          <a:stretch/>
        </p:blipFill>
        <p:spPr>
          <a:xfrm>
            <a:off x="5537974" y="1771944"/>
            <a:ext cx="2741806" cy="1682146"/>
          </a:xfrm>
          <a:prstGeom prst="rect">
            <a:avLst/>
          </a:prstGeom>
        </p:spPr>
      </p:pic>
      <p:sp>
        <p:nvSpPr>
          <p:cNvPr id="2" name="TextBox 1">
            <a:extLst>
              <a:ext uri="{FF2B5EF4-FFF2-40B4-BE49-F238E27FC236}">
                <a16:creationId xmlns:a16="http://schemas.microsoft.com/office/drawing/2014/main" id="{4A56BBB3-48CE-435F-8293-AE90174BDE8A}"/>
              </a:ext>
            </a:extLst>
          </p:cNvPr>
          <p:cNvSpPr txBox="1"/>
          <p:nvPr/>
        </p:nvSpPr>
        <p:spPr>
          <a:xfrm>
            <a:off x="5963810" y="1494945"/>
            <a:ext cx="1890132" cy="300082"/>
          </a:xfrm>
          <a:prstGeom prst="rect">
            <a:avLst/>
          </a:prstGeom>
          <a:noFill/>
        </p:spPr>
        <p:txBody>
          <a:bodyPr wrap="square" rtlCol="0">
            <a:spAutoFit/>
          </a:bodyPr>
          <a:lstStyle/>
          <a:p>
            <a:pPr algn="ctr"/>
            <a:r>
              <a:rPr lang="en-US" sz="1350" b="1" dirty="0"/>
              <a:t>State representation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CB8FA8-E2DA-13C1-9414-6862763E35F4}"/>
                  </a:ext>
                </a:extLst>
              </p:cNvPr>
              <p:cNvSpPr txBox="1"/>
              <p:nvPr/>
            </p:nvSpPr>
            <p:spPr>
              <a:xfrm>
                <a:off x="6934200" y="2057400"/>
                <a:ext cx="30480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1</m:t>
                          </m:r>
                        </m:sub>
                      </m:sSub>
                    </m:oMath>
                  </m:oMathPara>
                </a14:m>
                <a:endParaRPr lang="en-US" sz="1200" dirty="0"/>
              </a:p>
            </p:txBody>
          </p:sp>
        </mc:Choice>
        <mc:Fallback xmlns="">
          <p:sp>
            <p:nvSpPr>
              <p:cNvPr id="7" name="TextBox 6">
                <a:extLst>
                  <a:ext uri="{FF2B5EF4-FFF2-40B4-BE49-F238E27FC236}">
                    <a16:creationId xmlns:a16="http://schemas.microsoft.com/office/drawing/2014/main" id="{FACB8FA8-E2DA-13C1-9414-6862763E35F4}"/>
                  </a:ext>
                </a:extLst>
              </p:cNvPr>
              <p:cNvSpPr txBox="1">
                <a:spLocks noRot="1" noChangeAspect="1" noMove="1" noResize="1" noEditPoints="1" noAdjustHandles="1" noChangeArrowheads="1" noChangeShapeType="1" noTextEdit="1"/>
              </p:cNvSpPr>
              <p:nvPr/>
            </p:nvSpPr>
            <p:spPr>
              <a:xfrm>
                <a:off x="6934200" y="2057400"/>
                <a:ext cx="304800"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2F16EB7-8877-146A-1634-D751ED618037}"/>
                  </a:ext>
                </a:extLst>
              </p:cNvPr>
              <p:cNvSpPr txBox="1"/>
              <p:nvPr/>
            </p:nvSpPr>
            <p:spPr>
              <a:xfrm>
                <a:off x="6934200" y="2195899"/>
                <a:ext cx="30480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𝑥</m:t>
                          </m:r>
                        </m:e>
                        <m:sub>
                          <m:r>
                            <a:rPr lang="en-US" sz="1200" b="0" i="1" smtClean="0">
                              <a:latin typeface="Cambria Math" panose="02040503050406030204" pitchFamily="18" charset="0"/>
                            </a:rPr>
                            <m:t>2</m:t>
                          </m:r>
                        </m:sub>
                      </m:sSub>
                    </m:oMath>
                  </m:oMathPara>
                </a14:m>
                <a:endParaRPr lang="en-US" sz="1200" dirty="0"/>
              </a:p>
            </p:txBody>
          </p:sp>
        </mc:Choice>
        <mc:Fallback xmlns="">
          <p:sp>
            <p:nvSpPr>
              <p:cNvPr id="8" name="TextBox 7">
                <a:extLst>
                  <a:ext uri="{FF2B5EF4-FFF2-40B4-BE49-F238E27FC236}">
                    <a16:creationId xmlns:a16="http://schemas.microsoft.com/office/drawing/2014/main" id="{32F16EB7-8877-146A-1634-D751ED618037}"/>
                  </a:ext>
                </a:extLst>
              </p:cNvPr>
              <p:cNvSpPr txBox="1">
                <a:spLocks noRot="1" noChangeAspect="1" noMove="1" noResize="1" noEditPoints="1" noAdjustHandles="1" noChangeArrowheads="1" noChangeShapeType="1" noTextEdit="1"/>
              </p:cNvSpPr>
              <p:nvPr/>
            </p:nvSpPr>
            <p:spPr>
              <a:xfrm>
                <a:off x="6934200" y="2195899"/>
                <a:ext cx="304800" cy="276999"/>
              </a:xfrm>
              <a:prstGeom prst="rect">
                <a:avLst/>
              </a:prstGeom>
              <a:blipFill>
                <a:blip r:embed="rId5"/>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CE6445D-9DD9-2056-455D-AD2119014BF2}"/>
              </a:ext>
            </a:extLst>
          </p:cNvPr>
          <p:cNvSpPr txBox="1"/>
          <p:nvPr/>
        </p:nvSpPr>
        <p:spPr>
          <a:xfrm>
            <a:off x="6938554" y="2334398"/>
            <a:ext cx="304800" cy="276999"/>
          </a:xfrm>
          <a:prstGeom prst="rect">
            <a:avLst/>
          </a:prstGeom>
          <a:noFill/>
        </p:spPr>
        <p:txBody>
          <a:bodyPr wrap="square">
            <a:spAutoFit/>
          </a:bodyPr>
          <a:lstStyle/>
          <a:p>
            <a:r>
              <a:rPr lang="en-US" sz="1200" dirty="0"/>
              <a:t>…</a:t>
            </a:r>
          </a:p>
        </p:txBody>
      </p:sp>
      <p:sp>
        <p:nvSpPr>
          <p:cNvPr id="3" name="TextBox 2">
            <a:extLst>
              <a:ext uri="{FF2B5EF4-FFF2-40B4-BE49-F238E27FC236}">
                <a16:creationId xmlns:a16="http://schemas.microsoft.com/office/drawing/2014/main" id="{636DE728-A071-5DDA-9E07-4BBBA5BF67B6}"/>
              </a:ext>
            </a:extLst>
          </p:cNvPr>
          <p:cNvSpPr txBox="1"/>
          <p:nvPr/>
        </p:nvSpPr>
        <p:spPr>
          <a:xfrm>
            <a:off x="6781800" y="3535345"/>
            <a:ext cx="1597237" cy="1200329"/>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sz="1200" dirty="0"/>
              <a:t>The factored state consists of variables called </a:t>
            </a:r>
            <a:r>
              <a:rPr lang="en-US" sz="1200" dirty="0" err="1"/>
              <a:t>fluents</a:t>
            </a:r>
            <a:r>
              <a:rPr lang="en-US" sz="1200" dirty="0"/>
              <a:t> that represent conditions that can change over time.</a:t>
            </a:r>
          </a:p>
        </p:txBody>
      </p:sp>
    </p:spTree>
    <p:extLst>
      <p:ext uri="{BB962C8B-B14F-4D97-AF65-F5344CB8AC3E}">
        <p14:creationId xmlns:p14="http://schemas.microsoft.com/office/powerpoint/2010/main" val="2487589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2571153B-B059-4858-BF01-466BDD0CE4B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08B44E6-866D-4A5E-AFB3-D9DCA58C75D3}"/>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9FC19A06-CBF6-4819-B189-F9D337D6FC1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4677E2A-E997-42CC-B03B-6B72B6934E54}"/>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BEECF329-1304-4A9B-905D-61E6EC1956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6680FC1-2E9B-4D1E-BE6C-BA13EF788FB4}"/>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C8966331-BED0-4CC1-988D-8EF4F768252A}"/>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2506F6E-739D-46C1-AF74-95E930538CAD}"/>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Examples: What is the State Space Size?</a:t>
            </a:r>
          </a:p>
        </p:txBody>
      </p:sp>
      <p:sp>
        <p:nvSpPr>
          <p:cNvPr id="4" name="TextBox 3">
            <a:extLst>
              <a:ext uri="{FF2B5EF4-FFF2-40B4-BE49-F238E27FC236}">
                <a16:creationId xmlns:a16="http://schemas.microsoft.com/office/drawing/2014/main" id="{8FCC58D6-DB77-4484-9D8D-2B3CEA578693}"/>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p:spTree>
    <p:extLst>
      <p:ext uri="{BB962C8B-B14F-4D97-AF65-F5344CB8AC3E}">
        <p14:creationId xmlns:p14="http://schemas.microsoft.com/office/powerpoint/2010/main" val="3336624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09B0-C3B3-4372-8611-9599815018B5}"/>
            </a:ext>
          </a:extLst>
        </p:cNvPr>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919FC951-B8E8-5127-A904-DE8A7AF32B7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DA3F89B-1168-673A-0662-D7E903AC24FB}"/>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4DBDC790-C2DE-54FB-0690-FAADFEB2522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0581061-96C1-8410-9D29-EB45FBCEAB2F}"/>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CB0CAEA0-4BD4-D1B6-4861-331017057E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25794C8-869A-4446-ED77-AA84F07764F7}"/>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414EA962-7633-FF8E-D45A-CD621CE39C0C}"/>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3731585-6367-DB65-4FDC-B99E58BC7526}"/>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C32EB4C7-5944-5D61-664F-D8ECDA4D36EC}"/>
              </a:ext>
            </a:extLst>
          </p:cNvPr>
          <p:cNvSpPr>
            <a:spLocks noGrp="1"/>
          </p:cNvSpPr>
          <p:nvPr>
            <p:ph type="title"/>
          </p:nvPr>
        </p:nvSpPr>
        <p:spPr/>
        <p:txBody>
          <a:bodyPr vert="horz" lIns="68580" tIns="34290" rIns="68580" bIns="34290" rtlCol="0" anchor="ctr">
            <a:normAutofit/>
          </a:bodyPr>
          <a:lstStyle/>
          <a:p>
            <a:r>
              <a:rPr lang="en-US" sz="3000" dirty="0"/>
              <a:t>Examples: What is the State Space Size?</a:t>
            </a:r>
          </a:p>
        </p:txBody>
      </p:sp>
      <p:sp>
        <p:nvSpPr>
          <p:cNvPr id="4" name="TextBox 3">
            <a:extLst>
              <a:ext uri="{FF2B5EF4-FFF2-40B4-BE49-F238E27FC236}">
                <a16:creationId xmlns:a16="http://schemas.microsoft.com/office/drawing/2014/main" id="{95CDD5FF-CBDC-A4B1-03FE-A5241EEC062C}"/>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78B2A05-8718-D264-3F91-B1C48EDD3534}"/>
                  </a:ext>
                </a:extLst>
              </p:cNvPr>
              <p:cNvSpPr txBox="1"/>
              <p:nvPr/>
            </p:nvSpPr>
            <p:spPr>
              <a:xfrm>
                <a:off x="990600" y="4343400"/>
                <a:ext cx="1600200" cy="1200329"/>
              </a:xfrm>
              <a:prstGeom prst="rect">
                <a:avLst/>
              </a:prstGeom>
              <a:noFill/>
            </p:spPr>
            <p:txBody>
              <a:bodyPr wrap="square" rtlCol="0">
                <a:spAutoFit/>
              </a:bodyPr>
              <a:lstStyle/>
              <a:p>
                <a:r>
                  <a:rPr lang="en-US" sz="1200" dirty="0"/>
                  <a:t>State: Positions the agent can be in. </a:t>
                </a:r>
              </a:p>
              <a:p>
                <a:endParaRPr lang="en-US" sz="1200" dirty="0"/>
              </a:p>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 </m:t>
                      </m:r>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m:t>
                      </m:r>
                    </m:oMath>
                  </m:oMathPara>
                </a14:m>
                <a:endParaRPr lang="en-US" sz="1200" dirty="0"/>
              </a:p>
              <a:p>
                <a:endParaRPr lang="en-US" sz="1200" dirty="0"/>
              </a:p>
              <a:p>
                <a14:m>
                  <m:oMath xmlns:m="http://schemas.openxmlformats.org/officeDocument/2006/math">
                    <m:r>
                      <a:rPr lang="en-US" sz="1200" i="1" dirty="0" smtClean="0">
                        <a:latin typeface="Cambria Math" panose="02040503050406030204" pitchFamily="18" charset="0"/>
                      </a:rPr>
                      <m:t>𝑛</m:t>
                    </m:r>
                    <m:r>
                      <a:rPr lang="en-US" sz="1200" i="1" dirty="0" smtClean="0">
                        <a:latin typeface="Cambria Math" panose="02040503050406030204" pitchFamily="18" charset="0"/>
                      </a:rPr>
                      <m:t> =#</m:t>
                    </m:r>
                  </m:oMath>
                </a14:m>
                <a:r>
                  <a:rPr lang="en-US" sz="1200" dirty="0"/>
                  <a:t> white squares.</a:t>
                </a:r>
              </a:p>
            </p:txBody>
          </p:sp>
        </mc:Choice>
        <mc:Fallback xmlns="">
          <p:sp>
            <p:nvSpPr>
              <p:cNvPr id="3" name="TextBox 2">
                <a:extLst>
                  <a:ext uri="{FF2B5EF4-FFF2-40B4-BE49-F238E27FC236}">
                    <a16:creationId xmlns:a16="http://schemas.microsoft.com/office/drawing/2014/main" id="{A78B2A05-8718-D264-3F91-B1C48EDD3534}"/>
                  </a:ext>
                </a:extLst>
              </p:cNvPr>
              <p:cNvSpPr txBox="1">
                <a:spLocks noRot="1" noChangeAspect="1" noMove="1" noResize="1" noEditPoints="1" noAdjustHandles="1" noChangeArrowheads="1" noChangeShapeType="1" noTextEdit="1"/>
              </p:cNvSpPr>
              <p:nvPr/>
            </p:nvSpPr>
            <p:spPr>
              <a:xfrm>
                <a:off x="990600" y="4343400"/>
                <a:ext cx="1600200" cy="1200329"/>
              </a:xfrm>
              <a:prstGeom prst="rect">
                <a:avLst/>
              </a:prstGeom>
              <a:blipFill>
                <a:blip r:embed="rId7"/>
                <a:stretch>
                  <a:fillRect l="-382" t="-510" b="-3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2A165D8-8BE5-9430-2C62-8F2EC4CF31CA}"/>
                  </a:ext>
                </a:extLst>
              </p:cNvPr>
              <p:cNvSpPr txBox="1"/>
              <p:nvPr/>
            </p:nvSpPr>
            <p:spPr>
              <a:xfrm>
                <a:off x="2693194" y="4343400"/>
                <a:ext cx="1860945" cy="2347053"/>
              </a:xfrm>
              <a:prstGeom prst="rect">
                <a:avLst/>
              </a:prstGeom>
              <a:noFill/>
            </p:spPr>
            <p:txBody>
              <a:bodyPr wrap="square" rtlCol="0">
                <a:spAutoFit/>
              </a:bodyPr>
              <a:lstStyle/>
              <a:p>
                <a:r>
                  <a:rPr lang="en-US" sz="1200" dirty="0"/>
                  <a:t>State: Board</a:t>
                </a:r>
              </a:p>
              <a:p>
                <a:r>
                  <a:rPr lang="en-US" sz="1200" dirty="0"/>
                  <a:t>Action: Move one queen at a time</a:t>
                </a:r>
              </a:p>
              <a:p>
                <a:endParaRPr lang="en-US" sz="1200" dirty="0"/>
              </a:p>
              <a:p>
                <a:r>
                  <a:rPr lang="en-US" sz="1200" dirty="0"/>
                  <a:t>Each square can have a queen:</a:t>
                </a:r>
              </a:p>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𝑛</m:t>
                      </m:r>
                      <m:r>
                        <a:rPr lang="en-US" sz="1200" i="1" dirty="0" smtClean="0">
                          <a:latin typeface="Cambria Math" panose="02040503050406030204" pitchFamily="18" charset="0"/>
                        </a:rPr>
                        <m:t> &lt;</m:t>
                      </m:r>
                      <m:sSup>
                        <m:sSupPr>
                          <m:ctrlPr>
                            <a:rPr lang="en-US" sz="1200" b="0" i="1" dirty="0" smtClean="0">
                              <a:latin typeface="Cambria Math" panose="02040503050406030204" pitchFamily="18" charset="0"/>
                            </a:rPr>
                          </m:ctrlPr>
                        </m:sSupPr>
                        <m:e>
                          <m:r>
                            <a:rPr lang="en-US" sz="1200" b="0" i="1" dirty="0" smtClean="0">
                              <a:latin typeface="Cambria Math" panose="02040503050406030204" pitchFamily="18" charset="0"/>
                            </a:rPr>
                            <m:t>2</m:t>
                          </m:r>
                        </m:e>
                        <m:sup>
                          <m:r>
                            <a:rPr lang="en-US" sz="1200" b="0" i="1" dirty="0" smtClean="0">
                              <a:latin typeface="Cambria Math" panose="02040503050406030204" pitchFamily="18" charset="0"/>
                            </a:rPr>
                            <m:t>64</m:t>
                          </m:r>
                        </m:sup>
                      </m:sSup>
                      <m:r>
                        <a:rPr lang="en-US" sz="1200" b="0" i="1" dirty="0" smtClean="0">
                          <a:latin typeface="Cambria Math" panose="02040503050406030204" pitchFamily="18" charset="0"/>
                        </a:rPr>
                        <m:t>≈1.8×</m:t>
                      </m:r>
                      <m:sSup>
                        <m:sSupPr>
                          <m:ctrlPr>
                            <a:rPr lang="en-US" sz="1200" b="0" i="1" dirty="0" smtClean="0">
                              <a:latin typeface="Cambria Math" panose="02040503050406030204" pitchFamily="18" charset="0"/>
                            </a:rPr>
                          </m:ctrlPr>
                        </m:sSupPr>
                        <m:e>
                          <m:r>
                            <a:rPr lang="en-US" sz="1200" b="0" i="1" dirty="0" smtClean="0">
                              <a:latin typeface="Cambria Math" panose="02040503050406030204" pitchFamily="18" charset="0"/>
                            </a:rPr>
                            <m:t>10</m:t>
                          </m:r>
                        </m:e>
                        <m:sup>
                          <m:r>
                            <a:rPr lang="en-US" sz="1200" b="0" i="1" dirty="0" smtClean="0">
                              <a:latin typeface="Cambria Math" panose="02040503050406030204" pitchFamily="18" charset="0"/>
                            </a:rPr>
                            <m:t>19</m:t>
                          </m:r>
                        </m:sup>
                      </m:sSup>
                    </m:oMath>
                  </m:oMathPara>
                </a14:m>
                <a:endParaRPr lang="en-US" sz="1200" b="0" dirty="0"/>
              </a:p>
              <a:p>
                <a:r>
                  <a:rPr lang="en-US" sz="1200" dirty="0"/>
                  <a:t>Each queen chooses a square:</a:t>
                </a:r>
              </a:p>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&lt;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64</m:t>
                          </m:r>
                        </m:e>
                        <m:sup>
                          <m:r>
                            <a:rPr lang="en-US" sz="1200" b="0" i="1" smtClean="0">
                              <a:latin typeface="Cambria Math" panose="02040503050406030204" pitchFamily="18" charset="0"/>
                            </a:rPr>
                            <m:t>8</m:t>
                          </m:r>
                        </m:sup>
                      </m:sSup>
                      <m:r>
                        <a:rPr lang="en-US" sz="1200" b="0" i="1" smtClean="0">
                          <a:latin typeface="Cambria Math" panose="02040503050406030204" pitchFamily="18" charset="0"/>
                        </a:rPr>
                        <m:t>≈2.9×</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14</m:t>
                          </m:r>
                        </m:sup>
                      </m:sSup>
                    </m:oMath>
                  </m:oMathPara>
                </a14:m>
                <a:endParaRPr lang="en-US" sz="1200" b="0" dirty="0"/>
              </a:p>
              <a:p>
                <a:r>
                  <a:rPr lang="en-US" sz="1200" dirty="0"/>
                  <a:t>Choose 8 squares</a:t>
                </a:r>
                <a:r>
                  <a:rPr lang="en-US" sz="1200" b="0" dirty="0"/>
                  <a:t>:</a:t>
                </a:r>
                <a:endParaRPr lang="en-US" sz="1200" dirty="0"/>
              </a:p>
              <a:p>
                <a:pPr algn="ctr"/>
                <a14:m>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 </m:t>
                    </m:r>
                    <m:d>
                      <m:dPr>
                        <m:ctrlPr>
                          <a:rPr lang="en-US" sz="1200" b="0" i="1" smtClean="0">
                            <a:latin typeface="Cambria Math" panose="02040503050406030204" pitchFamily="18" charset="0"/>
                          </a:rPr>
                        </m:ctrlPr>
                      </m:dPr>
                      <m:e>
                        <m:f>
                          <m:fPr>
                            <m:type m:val="noBar"/>
                            <m:ctrlPr>
                              <a:rPr lang="en-US" sz="1200" b="0" i="1" smtClean="0">
                                <a:latin typeface="Cambria Math" panose="02040503050406030204" pitchFamily="18" charset="0"/>
                              </a:rPr>
                            </m:ctrlPr>
                          </m:fPr>
                          <m:num>
                            <m:r>
                              <a:rPr lang="en-US" sz="1200" b="0" i="1" smtClean="0">
                                <a:latin typeface="Cambria Math" panose="02040503050406030204" pitchFamily="18" charset="0"/>
                              </a:rPr>
                              <m:t>64</m:t>
                            </m:r>
                          </m:num>
                          <m:den>
                            <m:r>
                              <a:rPr lang="en-US" sz="1200" b="0" i="1" smtClean="0">
                                <a:latin typeface="Cambria Math" panose="02040503050406030204" pitchFamily="18" charset="0"/>
                              </a:rPr>
                              <m:t>8</m:t>
                            </m:r>
                          </m:den>
                        </m:f>
                      </m:e>
                    </m:d>
                    <m:r>
                      <a:rPr lang="en-US" sz="1200" b="0" i="1" smtClean="0">
                        <a:latin typeface="Cambria Math" panose="02040503050406030204" pitchFamily="18" charset="0"/>
                      </a:rPr>
                      <m:t>≈4.4×</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10</m:t>
                        </m:r>
                      </m:e>
                      <m:sup>
                        <m:r>
                          <a:rPr lang="en-US" sz="1200" b="0" i="1" smtClean="0">
                            <a:latin typeface="Cambria Math" panose="02040503050406030204" pitchFamily="18" charset="0"/>
                          </a:rPr>
                          <m:t>9</m:t>
                        </m:r>
                      </m:sup>
                    </m:sSup>
                  </m:oMath>
                </a14:m>
                <a:r>
                  <a:rPr lang="en-US" sz="1200" dirty="0"/>
                  <a:t> </a:t>
                </a:r>
              </a:p>
            </p:txBody>
          </p:sp>
        </mc:Choice>
        <mc:Fallback xmlns="">
          <p:sp>
            <p:nvSpPr>
              <p:cNvPr id="9" name="TextBox 8">
                <a:extLst>
                  <a:ext uri="{FF2B5EF4-FFF2-40B4-BE49-F238E27FC236}">
                    <a16:creationId xmlns:a16="http://schemas.microsoft.com/office/drawing/2014/main" id="{E2A165D8-8BE5-9430-2C62-8F2EC4CF31CA}"/>
                  </a:ext>
                </a:extLst>
              </p:cNvPr>
              <p:cNvSpPr txBox="1">
                <a:spLocks noRot="1" noChangeAspect="1" noMove="1" noResize="1" noEditPoints="1" noAdjustHandles="1" noChangeArrowheads="1" noChangeShapeType="1" noTextEdit="1"/>
              </p:cNvSpPr>
              <p:nvPr/>
            </p:nvSpPr>
            <p:spPr>
              <a:xfrm>
                <a:off x="2693194" y="4343400"/>
                <a:ext cx="1860945" cy="2347053"/>
              </a:xfrm>
              <a:prstGeom prst="rect">
                <a:avLst/>
              </a:prstGeom>
              <a:blipFill>
                <a:blip r:embed="rId8"/>
                <a:stretch>
                  <a:fillRect l="-328" t="-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0027BE1-A7EB-7C07-29B2-A714C3981D16}"/>
                  </a:ext>
                </a:extLst>
              </p:cNvPr>
              <p:cNvSpPr txBox="1"/>
              <p:nvPr/>
            </p:nvSpPr>
            <p:spPr>
              <a:xfrm>
                <a:off x="4720830" y="4343400"/>
                <a:ext cx="1600200" cy="2099998"/>
              </a:xfrm>
              <a:prstGeom prst="rect">
                <a:avLst/>
              </a:prstGeom>
              <a:noFill/>
            </p:spPr>
            <p:txBody>
              <a:bodyPr wrap="square" rtlCol="0">
                <a:spAutoFit/>
              </a:bodyPr>
              <a:lstStyle/>
              <a:p>
                <a:r>
                  <a:rPr lang="en-US" sz="1200" dirty="0"/>
                  <a:t>State: Tile arrangement</a:t>
                </a:r>
              </a:p>
              <a:p>
                <a:endParaRPr lang="en-US" sz="1200" dirty="0"/>
              </a:p>
              <a:p>
                <a:r>
                  <a:rPr lang="en-US" sz="1200" dirty="0"/>
                  <a:t>All arrangements of 9 elements.</a:t>
                </a:r>
              </a:p>
              <a:p>
                <a:endParaRPr lang="en-US" sz="1200" dirty="0"/>
              </a:p>
              <a:p>
                <a:pPr/>
                <a14:m>
                  <m:oMathPara xmlns:m="http://schemas.openxmlformats.org/officeDocument/2006/math">
                    <m:oMathParaPr>
                      <m:jc m:val="centerGroup"/>
                    </m:oMathParaPr>
                    <m:oMath xmlns:m="http://schemas.openxmlformats.org/officeDocument/2006/math">
                      <m:r>
                        <a:rPr lang="en-US" sz="1200" i="1" dirty="0" smtClean="0">
                          <a:latin typeface="Cambria Math" panose="02040503050406030204" pitchFamily="18" charset="0"/>
                        </a:rPr>
                        <m:t>𝑛</m:t>
                      </m:r>
                      <m:r>
                        <a:rPr lang="en-US" sz="1200" b="0" i="1" dirty="0" smtClean="0">
                          <a:latin typeface="Cambria Math" panose="02040503050406030204" pitchFamily="18" charset="0"/>
                        </a:rPr>
                        <m:t>≤9!</m:t>
                      </m:r>
                    </m:oMath>
                  </m:oMathPara>
                </a14:m>
                <a:endParaRPr lang="en-US" sz="1200" b="0" dirty="0"/>
              </a:p>
              <a:p>
                <a:pPr/>
                <a:br>
                  <a:rPr lang="en-US" sz="1200" b="0" dirty="0"/>
                </a:br>
                <a:r>
                  <a:rPr lang="en-US" sz="1200" b="0" dirty="0"/>
                  <a:t>Half is unreachable:</a:t>
                </a:r>
                <a:br>
                  <a:rPr lang="en-US" sz="1200" b="0" dirty="0"/>
                </a:b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9!</m:t>
                          </m:r>
                        </m:num>
                        <m:den>
                          <m:r>
                            <a:rPr lang="en-US" sz="1200" b="0" i="1" smtClean="0">
                              <a:latin typeface="Cambria Math" panose="02040503050406030204" pitchFamily="18" charset="0"/>
                            </a:rPr>
                            <m:t>2</m:t>
                          </m:r>
                        </m:den>
                      </m:f>
                      <m:r>
                        <a:rPr lang="en-US" sz="1200" b="0" i="1" smtClean="0">
                          <a:latin typeface="Cambria Math" panose="02040503050406030204" pitchFamily="18" charset="0"/>
                        </a:rPr>
                        <m:t>=</m:t>
                      </m:r>
                      <m:r>
                        <a:rPr lang="en-US" sz="1200" i="1" dirty="0">
                          <a:latin typeface="Cambria Math" panose="02040503050406030204" pitchFamily="18" charset="0"/>
                        </a:rPr>
                        <m:t>181,440</m:t>
                      </m:r>
                    </m:oMath>
                  </m:oMathPara>
                </a14:m>
                <a:endParaRPr lang="en-US" sz="1200" dirty="0"/>
              </a:p>
            </p:txBody>
          </p:sp>
        </mc:Choice>
        <mc:Fallback xmlns="">
          <p:sp>
            <p:nvSpPr>
              <p:cNvPr id="10" name="TextBox 9">
                <a:extLst>
                  <a:ext uri="{FF2B5EF4-FFF2-40B4-BE49-F238E27FC236}">
                    <a16:creationId xmlns:a16="http://schemas.microsoft.com/office/drawing/2014/main" id="{80027BE1-A7EB-7C07-29B2-A714C3981D16}"/>
                  </a:ext>
                </a:extLst>
              </p:cNvPr>
              <p:cNvSpPr txBox="1">
                <a:spLocks noRot="1" noChangeAspect="1" noMove="1" noResize="1" noEditPoints="1" noAdjustHandles="1" noChangeArrowheads="1" noChangeShapeType="1" noTextEdit="1"/>
              </p:cNvSpPr>
              <p:nvPr/>
            </p:nvSpPr>
            <p:spPr>
              <a:xfrm>
                <a:off x="4720830" y="4343400"/>
                <a:ext cx="1600200" cy="2099998"/>
              </a:xfrm>
              <a:prstGeom prst="rect">
                <a:avLst/>
              </a:prstGeom>
              <a:blipFill>
                <a:blip r:embed="rId9"/>
                <a:stretch>
                  <a:fillRect t="-2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7531B30-85E0-5207-115C-CF4ED7E58208}"/>
                  </a:ext>
                </a:extLst>
              </p:cNvPr>
              <p:cNvSpPr txBox="1"/>
              <p:nvPr/>
            </p:nvSpPr>
            <p:spPr>
              <a:xfrm>
                <a:off x="6558096" y="4367293"/>
                <a:ext cx="1823903" cy="1938992"/>
              </a:xfrm>
              <a:prstGeom prst="rect">
                <a:avLst/>
              </a:prstGeom>
              <a:noFill/>
            </p:spPr>
            <p:txBody>
              <a:bodyPr wrap="square" rtlCol="0">
                <a:spAutoFit/>
              </a:bodyPr>
              <a:lstStyle/>
              <a:p>
                <a:r>
                  <a:rPr lang="en-US" sz="1200" dirty="0"/>
                  <a:t>State: Board</a:t>
                </a:r>
              </a:p>
              <a:p>
                <a:pPr/>
                <a:br>
                  <a:rPr lang="en-US" sz="1200" b="0" dirty="0"/>
                </a:b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&lt;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3</m:t>
                          </m:r>
                        </m:e>
                        <m:sup>
                          <m:r>
                            <a:rPr lang="en-US" sz="1200" b="0" i="1" smtClean="0">
                              <a:latin typeface="Cambria Math" panose="02040503050406030204" pitchFamily="18" charset="0"/>
                            </a:rPr>
                            <m:t>9</m:t>
                          </m:r>
                        </m:sup>
                      </m:sSup>
                      <m:r>
                        <a:rPr lang="en-US" sz="1200" b="0" i="1" smtClean="0">
                          <a:latin typeface="Cambria Math" panose="02040503050406030204" pitchFamily="18" charset="0"/>
                        </a:rPr>
                        <m:t>=19,683</m:t>
                      </m:r>
                    </m:oMath>
                  </m:oMathPara>
                </a14:m>
                <a:endParaRPr lang="en-US" sz="1200" dirty="0"/>
              </a:p>
              <a:p>
                <a:endParaRPr lang="en-US" sz="1200" dirty="0"/>
              </a:p>
              <a:p>
                <a:r>
                  <a:rPr lang="en-US" sz="1200" dirty="0"/>
                  <a:t>Many boards are not legal (e.g., all x’s)</a:t>
                </a:r>
              </a:p>
              <a:p>
                <a:endParaRPr lang="en-US" sz="1200" dirty="0"/>
              </a:p>
              <a:p>
                <a:r>
                  <a:rPr lang="en-US" sz="1200" dirty="0"/>
                  <a:t>The actual number can be obtained by a depth-first traversal of the game tree.</a:t>
                </a:r>
              </a:p>
            </p:txBody>
          </p:sp>
        </mc:Choice>
        <mc:Fallback xmlns="">
          <p:sp>
            <p:nvSpPr>
              <p:cNvPr id="11" name="TextBox 10">
                <a:extLst>
                  <a:ext uri="{FF2B5EF4-FFF2-40B4-BE49-F238E27FC236}">
                    <a16:creationId xmlns:a16="http://schemas.microsoft.com/office/drawing/2014/main" id="{27531B30-85E0-5207-115C-CF4ED7E58208}"/>
                  </a:ext>
                </a:extLst>
              </p:cNvPr>
              <p:cNvSpPr txBox="1">
                <a:spLocks noRot="1" noChangeAspect="1" noMove="1" noResize="1" noEditPoints="1" noAdjustHandles="1" noChangeArrowheads="1" noChangeShapeType="1" noTextEdit="1"/>
              </p:cNvSpPr>
              <p:nvPr/>
            </p:nvSpPr>
            <p:spPr>
              <a:xfrm>
                <a:off x="6558096" y="4367293"/>
                <a:ext cx="1823903" cy="1938992"/>
              </a:xfrm>
              <a:prstGeom prst="rect">
                <a:avLst/>
              </a:prstGeom>
              <a:blipFill>
                <a:blip r:embed="rId10"/>
                <a:stretch>
                  <a:fillRect l="-334" r="-334" b="-1572"/>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3D01DA36-F4F3-A135-DF09-7FB207F88BFC}"/>
              </a:ext>
            </a:extLst>
          </p:cNvPr>
          <p:cNvCxnSpPr/>
          <p:nvPr/>
        </p:nvCxnSpPr>
        <p:spPr>
          <a:xfrm>
            <a:off x="2693194"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8CF66C1F-4B47-8B1B-8497-94886E691E2B}"/>
              </a:ext>
            </a:extLst>
          </p:cNvPr>
          <p:cNvCxnSpPr/>
          <p:nvPr/>
        </p:nvCxnSpPr>
        <p:spPr>
          <a:xfrm>
            <a:off x="4554139"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82AC0B37-DD12-F003-69A2-759148500B35}"/>
              </a:ext>
            </a:extLst>
          </p:cNvPr>
          <p:cNvCxnSpPr/>
          <p:nvPr/>
        </p:nvCxnSpPr>
        <p:spPr>
          <a:xfrm>
            <a:off x="6479381"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01420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 What determines the Search Tree Size?</a:t>
            </a:r>
          </a:p>
        </p:txBody>
      </p:sp>
      <mc:AlternateContent xmlns:mc="http://schemas.openxmlformats.org/markup-compatibility/2006" xmlns:a14="http://schemas.microsoft.com/office/drawing/2010/main">
        <mc:Choice Requires="a14">
          <p:sp>
            <p:nvSpPr>
              <p:cNvPr id="21" name="Content Placeholder 20">
                <a:extLst>
                  <a:ext uri="{FF2B5EF4-FFF2-40B4-BE49-F238E27FC236}">
                    <a16:creationId xmlns:a16="http://schemas.microsoft.com/office/drawing/2014/main" id="{39A5693D-07D0-6814-1463-F5C269E85442}"/>
                  </a:ext>
                </a:extLst>
              </p:cNvPr>
              <p:cNvSpPr>
                <a:spLocks noGrp="1"/>
              </p:cNvSpPr>
              <p:nvPr>
                <p:ph sz="half" idx="1"/>
              </p:nvPr>
            </p:nvSpPr>
            <p:spPr/>
            <p:txBody>
              <a:bodyPr>
                <a:normAutofit fontScale="85000" lnSpcReduction="20000"/>
              </a:bodyPr>
              <a:lstStyle/>
              <a:p>
                <a14:m>
                  <m:oMath xmlns:m="http://schemas.openxmlformats.org/officeDocument/2006/math">
                    <m:r>
                      <a:rPr lang="en-US" sz="2700" i="1" dirty="0" smtClean="0">
                        <a:latin typeface="Cambria Math" panose="02040503050406030204" pitchFamily="18" charset="0"/>
                      </a:rPr>
                      <m:t>𝑏</m:t>
                    </m:r>
                  </m:oMath>
                </a14:m>
                <a:r>
                  <a:rPr lang="en-US" sz="2700" i="1" dirty="0"/>
                  <a:t>:</a:t>
                </a:r>
                <a:r>
                  <a:rPr lang="en-US" sz="2700" dirty="0"/>
                  <a:t> maximum branching factor = number of available actions?</a:t>
                </a:r>
                <a:br>
                  <a:rPr lang="en-US" sz="2700" dirty="0"/>
                </a:br>
                <a:endParaRPr lang="en-US" sz="2700" dirty="0"/>
              </a:p>
              <a:p>
                <a:pPr marL="342900" lvl="1" indent="0">
                  <a:buNone/>
                </a:pPr>
                <a:r>
                  <a:rPr lang="en-US" sz="2400" dirty="0"/>
                  <a:t>3</a:t>
                </a:r>
                <a:br>
                  <a:rPr lang="en-US" sz="2400" dirty="0"/>
                </a:br>
                <a:endParaRPr lang="en-US" sz="2400" b="1" i="1" dirty="0"/>
              </a:p>
              <a:p>
                <a14:m>
                  <m:oMath xmlns:m="http://schemas.openxmlformats.org/officeDocument/2006/math">
                    <m:r>
                      <a:rPr lang="en-US" sz="2700" i="1" dirty="0">
                        <a:latin typeface="Cambria Math" panose="02040503050406030204" pitchFamily="18" charset="0"/>
                      </a:rPr>
                      <m:t>𝑚</m:t>
                    </m:r>
                  </m:oMath>
                </a14:m>
                <a:r>
                  <a:rPr lang="en-US" sz="2700" i="1" dirty="0"/>
                  <a:t>: </a:t>
                </a:r>
                <a:r>
                  <a:rPr lang="en-US" sz="2700" dirty="0"/>
                  <a:t>the number of actions in any path? Without loops!</a:t>
                </a:r>
                <a:br>
                  <a:rPr lang="en-US" sz="2700" dirty="0"/>
                </a:br>
                <a:endParaRPr lang="en-US" sz="2700" dirty="0"/>
              </a:p>
              <a:p>
                <a:pPr marL="342900" lvl="1" indent="0">
                  <a:buNone/>
                </a:pPr>
                <a:r>
                  <a:rPr lang="en-US" sz="2400" dirty="0"/>
                  <a:t>4</a:t>
                </a:r>
                <a:br>
                  <a:rPr lang="en-US" sz="2400" dirty="0"/>
                </a:br>
                <a:endParaRPr lang="en-US" sz="2400" dirty="0"/>
              </a:p>
              <a:p>
                <a14:m>
                  <m:oMath xmlns:m="http://schemas.openxmlformats.org/officeDocument/2006/math">
                    <m:r>
                      <a:rPr lang="en-US" sz="2700" i="1" dirty="0" smtClean="0">
                        <a:latin typeface="Cambria Math" panose="02040503050406030204" pitchFamily="18" charset="0"/>
                      </a:rPr>
                      <m:t>𝑑</m:t>
                    </m:r>
                  </m:oMath>
                </a14:m>
                <a:r>
                  <a:rPr lang="en-US" sz="2700" i="1" dirty="0"/>
                  <a:t>: </a:t>
                </a:r>
                <a:r>
                  <a:rPr lang="en-US" sz="2700" dirty="0"/>
                  <a:t>depth of the optimal solution?</a:t>
                </a:r>
                <a:br>
                  <a:rPr lang="en-US" sz="2700" dirty="0"/>
                </a:br>
                <a:endParaRPr lang="en-US" sz="2700" dirty="0"/>
              </a:p>
              <a:p>
                <a:pPr marL="342900" lvl="1" indent="0">
                  <a:buNone/>
                </a:pPr>
                <a:r>
                  <a:rPr lang="en-US" sz="2400" dirty="0"/>
                  <a:t>3</a:t>
                </a:r>
                <a:br>
                  <a:rPr lang="en-US" sz="2400" dirty="0"/>
                </a:br>
                <a:endParaRPr lang="en-US" dirty="0"/>
              </a:p>
            </p:txBody>
          </p:sp>
        </mc:Choice>
        <mc:Fallback xmlns="">
          <p:sp>
            <p:nvSpPr>
              <p:cNvPr id="21" name="Content Placeholder 20">
                <a:extLst>
                  <a:ext uri="{FF2B5EF4-FFF2-40B4-BE49-F238E27FC236}">
                    <a16:creationId xmlns:a16="http://schemas.microsoft.com/office/drawing/2014/main" id="{39A5693D-07D0-6814-1463-F5C269E85442}"/>
                  </a:ext>
                </a:extLst>
              </p:cNvPr>
              <p:cNvSpPr>
                <a:spLocks noGrp="1" noRot="1" noChangeAspect="1" noMove="1" noResize="1" noEditPoints="1" noAdjustHandles="1" noChangeArrowheads="1" noChangeShapeType="1" noTextEdit="1"/>
              </p:cNvSpPr>
              <p:nvPr>
                <p:ph sz="half" idx="1"/>
              </p:nvPr>
            </p:nvSpPr>
            <p:spPr>
              <a:blipFill>
                <a:blip r:embed="rId2"/>
                <a:stretch>
                  <a:fillRect l="-1881" t="-3081" r="-3292"/>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AE29FF94-932F-99E0-EC33-B30357C17189}"/>
              </a:ext>
            </a:extLst>
          </p:cNvPr>
          <p:cNvGrpSpPr/>
          <p:nvPr/>
        </p:nvGrpSpPr>
        <p:grpSpPr>
          <a:xfrm>
            <a:off x="5181599" y="2338557"/>
            <a:ext cx="3562601" cy="2157243"/>
            <a:chOff x="3443345" y="3786606"/>
            <a:chExt cx="5700655" cy="3071394"/>
          </a:xfrm>
        </p:grpSpPr>
        <p:pic>
          <p:nvPicPr>
            <p:cNvPr id="12" name="Picture 6">
              <a:extLst>
                <a:ext uri="{FF2B5EF4-FFF2-40B4-BE49-F238E27FC236}">
                  <a16:creationId xmlns:a16="http://schemas.microsoft.com/office/drawing/2014/main" id="{C47B5471-F4C2-5D4B-0E0B-3E432E733C1D}"/>
                </a:ext>
              </a:extLst>
            </p:cNvPr>
            <p:cNvPicPr>
              <a:picLocks noChangeAspect="1" noChangeArrowheads="1"/>
            </p:cNvPicPr>
            <p:nvPr/>
          </p:nvPicPr>
          <p:blipFill>
            <a:blip r:embed="rId3" cstate="print"/>
            <a:srcRect/>
            <a:stretch>
              <a:fillRect/>
            </a:stretch>
          </p:blipFill>
          <p:spPr bwMode="auto">
            <a:xfrm>
              <a:off x="3443345" y="4142196"/>
              <a:ext cx="5700655" cy="2715804"/>
            </a:xfrm>
            <a:prstGeom prst="rect">
              <a:avLst/>
            </a:prstGeom>
            <a:noFill/>
            <a:ln w="9525">
              <a:noFill/>
              <a:miter lim="800000"/>
              <a:headEnd/>
              <a:tailEnd/>
            </a:ln>
          </p:spPr>
        </p:pic>
        <p:sp>
          <p:nvSpPr>
            <p:cNvPr id="18" name="Rectangle 17">
              <a:extLst>
                <a:ext uri="{FF2B5EF4-FFF2-40B4-BE49-F238E27FC236}">
                  <a16:creationId xmlns:a16="http://schemas.microsoft.com/office/drawing/2014/main" id="{87E4871E-1C38-FE1D-0C87-EB6B7FBF36B9}"/>
                </a:ext>
              </a:extLst>
            </p:cNvPr>
            <p:cNvSpPr/>
            <p:nvPr/>
          </p:nvSpPr>
          <p:spPr>
            <a:xfrm>
              <a:off x="5195945" y="6009235"/>
              <a:ext cx="2133600" cy="5057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sz="1200"/>
            </a:p>
          </p:txBody>
        </p:sp>
        <p:sp>
          <p:nvSpPr>
            <p:cNvPr id="19" name="TextBox 18">
              <a:extLst>
                <a:ext uri="{FF2B5EF4-FFF2-40B4-BE49-F238E27FC236}">
                  <a16:creationId xmlns:a16="http://schemas.microsoft.com/office/drawing/2014/main" id="{AE270D5F-3798-5A7A-89E4-58DBA42598C4}"/>
                </a:ext>
              </a:extLst>
            </p:cNvPr>
            <p:cNvSpPr txBox="1"/>
            <p:nvPr/>
          </p:nvSpPr>
          <p:spPr>
            <a:xfrm>
              <a:off x="5106831" y="3786606"/>
              <a:ext cx="1441955" cy="394380"/>
            </a:xfrm>
            <a:prstGeom prst="rect">
              <a:avLst/>
            </a:prstGeom>
            <a:noFill/>
          </p:spPr>
          <p:txBody>
            <a:bodyPr wrap="none" rtlCol="0">
              <a:spAutoFit/>
            </a:bodyPr>
            <a:lstStyle/>
            <a:p>
              <a:r>
                <a:rPr lang="en-US" sz="1200" b="1" dirty="0">
                  <a:solidFill>
                    <a:schemeClr val="accent2">
                      <a:lumMod val="50000"/>
                    </a:schemeClr>
                  </a:solidFill>
                </a:rPr>
                <a:t>Initial state</a:t>
              </a:r>
            </a:p>
          </p:txBody>
        </p:sp>
        <p:sp>
          <p:nvSpPr>
            <p:cNvPr id="20" name="TextBox 19">
              <a:extLst>
                <a:ext uri="{FF2B5EF4-FFF2-40B4-BE49-F238E27FC236}">
                  <a16:creationId xmlns:a16="http://schemas.microsoft.com/office/drawing/2014/main" id="{BDA9B98B-A967-CB14-C48B-C9D0922C3C05}"/>
                </a:ext>
              </a:extLst>
            </p:cNvPr>
            <p:cNvSpPr txBox="1"/>
            <p:nvPr/>
          </p:nvSpPr>
          <p:spPr>
            <a:xfrm>
              <a:off x="3734781" y="6096000"/>
              <a:ext cx="1421435" cy="394380"/>
            </a:xfrm>
            <a:prstGeom prst="rect">
              <a:avLst/>
            </a:prstGeom>
            <a:noFill/>
          </p:spPr>
          <p:txBody>
            <a:bodyPr wrap="none" rtlCol="0">
              <a:spAutoFit/>
            </a:bodyPr>
            <a:lstStyle/>
            <a:p>
              <a:r>
                <a:rPr lang="en-US" sz="1200" b="1" dirty="0">
                  <a:solidFill>
                    <a:schemeClr val="accent2">
                      <a:lumMod val="50000"/>
                    </a:schemeClr>
                  </a:solidFill>
                </a:rPr>
                <a:t>Goal states</a:t>
              </a:r>
            </a:p>
          </p:txBody>
        </p:sp>
      </p:grpSp>
      <p:sp>
        <p:nvSpPr>
          <p:cNvPr id="28" name="TextBox 27">
            <a:extLst>
              <a:ext uri="{FF2B5EF4-FFF2-40B4-BE49-F238E27FC236}">
                <a16:creationId xmlns:a16="http://schemas.microsoft.com/office/drawing/2014/main" id="{77679CBA-ABAB-A930-AE02-106964BF8603}"/>
              </a:ext>
            </a:extLst>
          </p:cNvPr>
          <p:cNvSpPr txBox="1"/>
          <p:nvPr/>
        </p:nvSpPr>
        <p:spPr>
          <a:xfrm>
            <a:off x="5181599" y="1842870"/>
            <a:ext cx="3486401" cy="369332"/>
          </a:xfrm>
          <a:prstGeom prst="rect">
            <a:avLst/>
          </a:prstGeom>
          <a:noFill/>
        </p:spPr>
        <p:txBody>
          <a:bodyPr wrap="square" rtlCol="0">
            <a:spAutoFit/>
          </a:bodyPr>
          <a:lstStyle/>
          <a:p>
            <a:r>
              <a:rPr lang="en-US" dirty="0"/>
              <a:t>State Space with Transition Model</a:t>
            </a:r>
          </a:p>
        </p:txBody>
      </p:sp>
    </p:spTree>
    <p:extLst>
      <p:ext uri="{BB962C8B-B14F-4D97-AF65-F5344CB8AC3E}">
        <p14:creationId xmlns:p14="http://schemas.microsoft.com/office/powerpoint/2010/main" val="143468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2571153B-B059-4858-BF01-466BDD0CE4B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B08B44E6-866D-4A5E-AFB3-D9DCA58C75D3}"/>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9FC19A06-CBF6-4819-B189-F9D337D6FC1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4677E2A-E997-42CC-B03B-6B72B6934E54}"/>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BEECF329-1304-4A9B-905D-61E6EC19569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6680FC1-2E9B-4D1E-BE6C-BA13EF788FB4}"/>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C8966331-BED0-4CC1-988D-8EF4F768252A}"/>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02506F6E-739D-46C1-AF74-95E930538CAD}"/>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E0F39E30-6893-4BA5-A7BD-8CE03B569160}"/>
              </a:ext>
            </a:extLst>
          </p:cNvPr>
          <p:cNvSpPr>
            <a:spLocks noGrp="1"/>
          </p:cNvSpPr>
          <p:nvPr>
            <p:ph type="title"/>
          </p:nvPr>
        </p:nvSpPr>
        <p:spPr/>
        <p:txBody>
          <a:bodyPr vert="horz" lIns="68580" tIns="34290" rIns="68580" bIns="34290" rtlCol="0" anchor="ctr">
            <a:normAutofit/>
          </a:bodyPr>
          <a:lstStyle/>
          <a:p>
            <a:r>
              <a:rPr lang="en-US" sz="3000" dirty="0"/>
              <a:t>Examples: What determines the </a:t>
            </a:r>
            <a:br>
              <a:rPr lang="en-US" sz="3000" dirty="0"/>
            </a:br>
            <a:r>
              <a:rPr lang="en-US" sz="3000" dirty="0"/>
              <a:t>Search Tree Size?</a:t>
            </a:r>
          </a:p>
        </p:txBody>
      </p:sp>
      <p:sp>
        <p:nvSpPr>
          <p:cNvPr id="4" name="TextBox 3">
            <a:extLst>
              <a:ext uri="{FF2B5EF4-FFF2-40B4-BE49-F238E27FC236}">
                <a16:creationId xmlns:a16="http://schemas.microsoft.com/office/drawing/2014/main" id="{8FCC58D6-DB77-4484-9D8D-2B3CEA578693}"/>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BAAA905-860A-94E6-E3CF-51870995A788}"/>
                  </a:ext>
                </a:extLst>
              </p:cNvPr>
              <p:cNvSpPr txBox="1"/>
              <p:nvPr/>
            </p:nvSpPr>
            <p:spPr>
              <a:xfrm>
                <a:off x="646942" y="4428647"/>
                <a:ext cx="1143000"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r>
                        <a:rPr lang="en-US" b="0" i="1" smtClean="0">
                          <a:latin typeface="Cambria Math" panose="02040503050406030204" pitchFamily="18" charset="0"/>
                        </a:rPr>
                        <m:t> =</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oMath>
                  </m:oMathPara>
                </a14:m>
                <a:endParaRPr lang="en-US" b="0" dirty="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𝑑</m:t>
                      </m:r>
                      <m:r>
                        <a:rPr lang="en-US" b="0" i="1" smtClean="0">
                          <a:latin typeface="Cambria Math" panose="02040503050406030204" pitchFamily="18" charset="0"/>
                        </a:rPr>
                        <m:t> =</m:t>
                      </m:r>
                    </m:oMath>
                  </m:oMathPara>
                </a14:m>
                <a:endParaRPr lang="en-US" dirty="0"/>
              </a:p>
            </p:txBody>
          </p:sp>
        </mc:Choice>
        <mc:Fallback xmlns="">
          <p:sp>
            <p:nvSpPr>
              <p:cNvPr id="3" name="TextBox 2">
                <a:extLst>
                  <a:ext uri="{FF2B5EF4-FFF2-40B4-BE49-F238E27FC236}">
                    <a16:creationId xmlns:a16="http://schemas.microsoft.com/office/drawing/2014/main" id="{9BAAA905-860A-94E6-E3CF-51870995A788}"/>
                  </a:ext>
                </a:extLst>
              </p:cNvPr>
              <p:cNvSpPr txBox="1">
                <a:spLocks noRot="1" noChangeAspect="1" noMove="1" noResize="1" noEditPoints="1" noAdjustHandles="1" noChangeArrowheads="1" noChangeShapeType="1" noTextEdit="1"/>
              </p:cNvSpPr>
              <p:nvPr/>
            </p:nvSpPr>
            <p:spPr>
              <a:xfrm>
                <a:off x="646942" y="4428647"/>
                <a:ext cx="1143000" cy="92333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E7B21E8-57C0-5AD0-E7B5-27323CF7027D}"/>
                  </a:ext>
                </a:extLst>
              </p:cNvPr>
              <p:cNvSpPr/>
              <p:nvPr/>
            </p:nvSpPr>
            <p:spPr>
              <a:xfrm>
                <a:off x="5867400" y="607328"/>
                <a:ext cx="2514600" cy="6740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nSpc>
                    <a:spcPct val="90000"/>
                  </a:lnSpc>
                </a:pPr>
                <a14:m>
                  <m:oMath xmlns:m="http://schemas.openxmlformats.org/officeDocument/2006/math">
                    <m:r>
                      <a:rPr lang="en-US" sz="1400" i="1" dirty="0" smtClean="0">
                        <a:latin typeface="Cambria Math" panose="02040503050406030204" pitchFamily="18" charset="0"/>
                      </a:rPr>
                      <m:t>𝑏</m:t>
                    </m:r>
                  </m:oMath>
                </a14:m>
                <a:r>
                  <a:rPr lang="en-US" sz="1400" i="1" dirty="0"/>
                  <a:t>:</a:t>
                </a:r>
                <a:r>
                  <a:rPr lang="en-US" sz="1400" dirty="0"/>
                  <a:t> maximum branching factor</a:t>
                </a:r>
                <a:endParaRPr lang="en-US" sz="1400" i="1" dirty="0"/>
              </a:p>
              <a:p>
                <a:pPr>
                  <a:lnSpc>
                    <a:spcPct val="90000"/>
                  </a:lnSpc>
                </a:pPr>
                <a14:m>
                  <m:oMath xmlns:m="http://schemas.openxmlformats.org/officeDocument/2006/math">
                    <m:r>
                      <a:rPr lang="en-US" sz="1400" i="1" dirty="0" smtClean="0">
                        <a:latin typeface="Cambria Math" panose="02040503050406030204" pitchFamily="18" charset="0"/>
                      </a:rPr>
                      <m:t>𝑚</m:t>
                    </m:r>
                  </m:oMath>
                </a14:m>
                <a:r>
                  <a:rPr lang="en-US" sz="1400" i="1" dirty="0"/>
                  <a:t>: </a:t>
                </a:r>
                <a:r>
                  <a:rPr lang="en-US" sz="1400" dirty="0"/>
                  <a:t>max. depth of tree</a:t>
                </a:r>
              </a:p>
              <a:p>
                <a:pPr>
                  <a:lnSpc>
                    <a:spcPct val="90000"/>
                  </a:lnSpc>
                </a:pPr>
                <a14:m>
                  <m:oMath xmlns:m="http://schemas.openxmlformats.org/officeDocument/2006/math">
                    <m:r>
                      <a:rPr lang="en-US" sz="1400" i="1" dirty="0" smtClean="0">
                        <a:latin typeface="Cambria Math" panose="02040503050406030204" pitchFamily="18" charset="0"/>
                      </a:rPr>
                      <m:t>𝑑</m:t>
                    </m:r>
                  </m:oMath>
                </a14:m>
                <a:r>
                  <a:rPr lang="en-US" sz="1400" i="1" dirty="0"/>
                  <a:t>: </a:t>
                </a:r>
                <a:r>
                  <a:rPr lang="en-US" sz="1400" dirty="0"/>
                  <a:t>depth of the optimal solution</a:t>
                </a:r>
              </a:p>
            </p:txBody>
          </p:sp>
        </mc:Choice>
        <mc:Fallback xmlns="">
          <p:sp>
            <p:nvSpPr>
              <p:cNvPr id="10" name="Rectangle 9">
                <a:extLst>
                  <a:ext uri="{FF2B5EF4-FFF2-40B4-BE49-F238E27FC236}">
                    <a16:creationId xmlns:a16="http://schemas.microsoft.com/office/drawing/2014/main" id="{EE7B21E8-57C0-5AD0-E7B5-27323CF7027D}"/>
                  </a:ext>
                </a:extLst>
              </p:cNvPr>
              <p:cNvSpPr>
                <a:spLocks noRot="1" noChangeAspect="1" noMove="1" noResize="1" noEditPoints="1" noAdjustHandles="1" noChangeArrowheads="1" noChangeShapeType="1" noTextEdit="1"/>
              </p:cNvSpPr>
              <p:nvPr/>
            </p:nvSpPr>
            <p:spPr>
              <a:xfrm>
                <a:off x="5867400" y="607328"/>
                <a:ext cx="2514600" cy="674031"/>
              </a:xfrm>
              <a:prstGeom prst="rect">
                <a:avLst/>
              </a:prstGeom>
              <a:blipFill>
                <a:blip r:embed="rId8"/>
                <a:stretch>
                  <a:fillRect t="-3571" b="-8036"/>
                </a:stretch>
              </a:blipFill>
            </p:spPr>
            <p:txBody>
              <a:bodyPr/>
              <a:lstStyle/>
              <a:p>
                <a:r>
                  <a:rPr lang="en-US">
                    <a:noFill/>
                  </a:rPr>
                  <a:t> </a:t>
                </a:r>
              </a:p>
            </p:txBody>
          </p:sp>
        </mc:Fallback>
      </mc:AlternateContent>
    </p:spTree>
    <p:extLst>
      <p:ext uri="{BB962C8B-B14F-4D97-AF65-F5344CB8AC3E}">
        <p14:creationId xmlns:p14="http://schemas.microsoft.com/office/powerpoint/2010/main" val="4185064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009B0-C3B3-4372-8611-9599815018B5}"/>
            </a:ext>
          </a:extLst>
        </p:cNvPr>
        <p:cNvGrpSpPr/>
        <p:nvPr/>
      </p:nvGrpSpPr>
      <p:grpSpPr>
        <a:xfrm>
          <a:off x="0" y="0"/>
          <a:ext cx="0" cy="0"/>
          <a:chOff x="0" y="0"/>
          <a:chExt cx="0" cy="0"/>
        </a:xfrm>
      </p:grpSpPr>
      <p:pic>
        <p:nvPicPr>
          <p:cNvPr id="1032" name="Picture 8" descr="MAZE. In Black and White.&quot; Art Board Print by TOMSREDBUBBLE | Redbubble">
            <a:extLst>
              <a:ext uri="{FF2B5EF4-FFF2-40B4-BE49-F238E27FC236}">
                <a16:creationId xmlns:a16="http://schemas.microsoft.com/office/drawing/2014/main" id="{919FC951-B8E8-5127-A904-DE8A7AF32B7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3335" b="12480"/>
          <a:stretch/>
        </p:blipFill>
        <p:spPr bwMode="auto">
          <a:xfrm>
            <a:off x="914400" y="2133600"/>
            <a:ext cx="1778794" cy="1758554"/>
          </a:xfrm>
          <a:prstGeom prst="rect">
            <a:avLst/>
          </a:prstGeom>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1DA3F89B-1168-673A-0662-D7E903AC24FB}"/>
              </a:ext>
            </a:extLst>
          </p:cNvPr>
          <p:cNvSpPr/>
          <p:nvPr/>
        </p:nvSpPr>
        <p:spPr>
          <a:xfrm>
            <a:off x="914400" y="3908908"/>
            <a:ext cx="177879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a:solidFill>
                  <a:srgbClr val="FFFFFF"/>
                </a:solidFill>
              </a:rPr>
              <a:t>Maze</a:t>
            </a:r>
          </a:p>
        </p:txBody>
      </p:sp>
      <p:pic>
        <p:nvPicPr>
          <p:cNvPr id="1028" name="Picture 4" descr="The eight queens puzzle in Python | Solarian Programmer">
            <a:extLst>
              <a:ext uri="{FF2B5EF4-FFF2-40B4-BE49-F238E27FC236}">
                <a16:creationId xmlns:a16="http://schemas.microsoft.com/office/drawing/2014/main" id="{4DBDC790-C2DE-54FB-0690-FAADFEB2522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743200" y="2133600"/>
            <a:ext cx="1759744" cy="1758554"/>
          </a:xfrm>
          <a:prstGeom prst="rect">
            <a:avLst/>
          </a:prstGeom>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00581061-96C1-8410-9D29-EB45FBCEAB2F}"/>
              </a:ext>
            </a:extLst>
          </p:cNvPr>
          <p:cNvSpPr/>
          <p:nvPr/>
        </p:nvSpPr>
        <p:spPr>
          <a:xfrm>
            <a:off x="2743200" y="3908908"/>
            <a:ext cx="175974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8-queens problem</a:t>
            </a:r>
          </a:p>
        </p:txBody>
      </p:sp>
      <p:pic>
        <p:nvPicPr>
          <p:cNvPr id="1026" name="Picture 2">
            <a:extLst>
              <a:ext uri="{FF2B5EF4-FFF2-40B4-BE49-F238E27FC236}">
                <a16:creationId xmlns:a16="http://schemas.microsoft.com/office/drawing/2014/main" id="{CB0CAEA0-4BD4-D1B6-4861-331017057E0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4439"/>
          <a:stretch/>
        </p:blipFill>
        <p:spPr bwMode="auto">
          <a:xfrm>
            <a:off x="4554139" y="2133600"/>
            <a:ext cx="1872854" cy="1758554"/>
          </a:xfrm>
          <a:prstGeom prst="rect">
            <a:avLst/>
          </a:prstGeom>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25794C8-869A-4446-ED77-AA84F07764F7}"/>
              </a:ext>
            </a:extLst>
          </p:cNvPr>
          <p:cNvSpPr/>
          <p:nvPr/>
        </p:nvSpPr>
        <p:spPr>
          <a:xfrm>
            <a:off x="4554139" y="3908908"/>
            <a:ext cx="1872854"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8-puzzle problem</a:t>
            </a:r>
          </a:p>
        </p:txBody>
      </p:sp>
      <p:pic>
        <p:nvPicPr>
          <p:cNvPr id="1030" name="Picture 6" descr="Tic-tac-toe - Wikipedia">
            <a:extLst>
              <a:ext uri="{FF2B5EF4-FFF2-40B4-BE49-F238E27FC236}">
                <a16:creationId xmlns:a16="http://schemas.microsoft.com/office/drawing/2014/main" id="{414EA962-7633-FF8E-D45A-CD621CE39C0C}"/>
              </a:ext>
            </a:extLst>
          </p:cNvPr>
          <p:cNvPicPr>
            <a:picLocks noChangeAspect="1" noChangeArrowheads="1"/>
          </p:cNvPicPr>
          <p:nvPr/>
        </p:nvPicPr>
        <p:blipFill>
          <a:blip r:embed="rId5" cstate="print">
            <a:biLevel thresh="25000"/>
            <a:extLst>
              <a:ext uri="{BEBA8EAE-BF5A-486C-A8C5-ECC9F3942E4B}">
                <a14:imgProps xmlns:a14="http://schemas.microsoft.com/office/drawing/2010/main">
                  <a14:imgLayer r:embed="rId6">
                    <a14:imgEffect>
                      <a14:saturation sat="33000"/>
                    </a14:imgEffect>
                  </a14:imgLayer>
                </a14:imgProps>
              </a:ext>
              <a:ext uri="{28A0092B-C50C-407E-A947-70E740481C1C}">
                <a14:useLocalDpi xmlns:a14="http://schemas.microsoft.com/office/drawing/2010/main" val="0"/>
              </a:ext>
            </a:extLst>
          </a:blip>
          <a:stretch>
            <a:fillRect/>
          </a:stretch>
        </p:blipFill>
        <p:spPr bwMode="auto">
          <a:xfrm>
            <a:off x="6479381" y="2133600"/>
            <a:ext cx="1983581" cy="1758554"/>
          </a:xfrm>
          <a:prstGeom prst="rect">
            <a:avLst/>
          </a:prstGeom>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3731585-6367-DB65-4FDC-B99E58BC7526}"/>
              </a:ext>
            </a:extLst>
          </p:cNvPr>
          <p:cNvSpPr/>
          <p:nvPr/>
        </p:nvSpPr>
        <p:spPr>
          <a:xfrm>
            <a:off x="6479381" y="3908908"/>
            <a:ext cx="1983581" cy="351235"/>
          </a:xfrm>
          <a:prstGeom prst="rect">
            <a:avLst/>
          </a:prstGeom>
          <a:solidFill>
            <a:srgbClr val="000000">
              <a:alpha val="50000"/>
            </a:srgbClr>
          </a:solidFill>
          <a:ln>
            <a:noFill/>
          </a:ln>
        </p:spPr>
        <p:txBody>
          <a:bodyPr wrap="square" anchor="ctr">
            <a:noAutofit/>
          </a:bodyPr>
          <a:lstStyle/>
          <a:p>
            <a:pPr algn="ctr">
              <a:spcAft>
                <a:spcPts val="450"/>
              </a:spcAft>
            </a:pPr>
            <a:r>
              <a:rPr lang="en-US" sz="1200" dirty="0">
                <a:solidFill>
                  <a:srgbClr val="FFFFFF"/>
                </a:solidFill>
              </a:rPr>
              <a:t>Tic-tac-toe</a:t>
            </a:r>
          </a:p>
        </p:txBody>
      </p:sp>
      <p:sp>
        <p:nvSpPr>
          <p:cNvPr id="2" name="Title 1">
            <a:extLst>
              <a:ext uri="{FF2B5EF4-FFF2-40B4-BE49-F238E27FC236}">
                <a16:creationId xmlns:a16="http://schemas.microsoft.com/office/drawing/2014/main" id="{C32EB4C7-5944-5D61-664F-D8ECDA4D36EC}"/>
              </a:ext>
            </a:extLst>
          </p:cNvPr>
          <p:cNvSpPr>
            <a:spLocks noGrp="1"/>
          </p:cNvSpPr>
          <p:nvPr>
            <p:ph type="title"/>
          </p:nvPr>
        </p:nvSpPr>
        <p:spPr/>
        <p:txBody>
          <a:bodyPr vert="horz" lIns="68580" tIns="34290" rIns="68580" bIns="34290" rtlCol="0" anchor="ctr">
            <a:normAutofit/>
          </a:bodyPr>
          <a:lstStyle/>
          <a:p>
            <a:r>
              <a:rPr lang="en-US" sz="3000" dirty="0"/>
              <a:t>Examples: What is the </a:t>
            </a:r>
            <a:br>
              <a:rPr lang="en-US" sz="3000" dirty="0"/>
            </a:br>
            <a:r>
              <a:rPr lang="en-US" sz="3000" dirty="0"/>
              <a:t>Search Complexity?</a:t>
            </a:r>
          </a:p>
        </p:txBody>
      </p:sp>
      <p:sp>
        <p:nvSpPr>
          <p:cNvPr id="4" name="TextBox 3">
            <a:extLst>
              <a:ext uri="{FF2B5EF4-FFF2-40B4-BE49-F238E27FC236}">
                <a16:creationId xmlns:a16="http://schemas.microsoft.com/office/drawing/2014/main" id="{95CDD5FF-CBDC-A4B1-03FE-A5241EEC062C}"/>
              </a:ext>
            </a:extLst>
          </p:cNvPr>
          <p:cNvSpPr txBox="1"/>
          <p:nvPr/>
        </p:nvSpPr>
        <p:spPr>
          <a:xfrm>
            <a:off x="628650" y="1506023"/>
            <a:ext cx="8058150" cy="369332"/>
          </a:xfrm>
          <a:prstGeom prst="rect">
            <a:avLst/>
          </a:prstGeom>
          <a:noFill/>
        </p:spPr>
        <p:txBody>
          <a:bodyPr wrap="square" rtlCol="0">
            <a:spAutoFit/>
          </a:bodyPr>
          <a:lstStyle/>
          <a:p>
            <a:r>
              <a:rPr lang="en-US" dirty="0"/>
              <a:t>Often a rough upper limit is sufficient to determine how hard the search problem is.</a:t>
            </a:r>
          </a:p>
        </p:txBody>
      </p:sp>
      <p:cxnSp>
        <p:nvCxnSpPr>
          <p:cNvPr id="15" name="Straight Connector 14">
            <a:extLst>
              <a:ext uri="{FF2B5EF4-FFF2-40B4-BE49-F238E27FC236}">
                <a16:creationId xmlns:a16="http://schemas.microsoft.com/office/drawing/2014/main" id="{3D01DA36-F4F3-A135-DF09-7FB207F88BFC}"/>
              </a:ext>
            </a:extLst>
          </p:cNvPr>
          <p:cNvCxnSpPr/>
          <p:nvPr/>
        </p:nvCxnSpPr>
        <p:spPr>
          <a:xfrm>
            <a:off x="2693194"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6" name="Straight Connector 15">
            <a:extLst>
              <a:ext uri="{FF2B5EF4-FFF2-40B4-BE49-F238E27FC236}">
                <a16:creationId xmlns:a16="http://schemas.microsoft.com/office/drawing/2014/main" id="{8CF66C1F-4B47-8B1B-8497-94886E691E2B}"/>
              </a:ext>
            </a:extLst>
          </p:cNvPr>
          <p:cNvCxnSpPr/>
          <p:nvPr/>
        </p:nvCxnSpPr>
        <p:spPr>
          <a:xfrm>
            <a:off x="4554139"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7" name="Straight Connector 16">
            <a:extLst>
              <a:ext uri="{FF2B5EF4-FFF2-40B4-BE49-F238E27FC236}">
                <a16:creationId xmlns:a16="http://schemas.microsoft.com/office/drawing/2014/main" id="{82AC0B37-DD12-F003-69A2-759148500B35}"/>
              </a:ext>
            </a:extLst>
          </p:cNvPr>
          <p:cNvCxnSpPr/>
          <p:nvPr/>
        </p:nvCxnSpPr>
        <p:spPr>
          <a:xfrm>
            <a:off x="6479381" y="4343400"/>
            <a:ext cx="0" cy="1981200"/>
          </a:xfrm>
          <a:prstGeom prst="line">
            <a:avLst/>
          </a:prstGeom>
          <a:ln w="12700"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84B0078-B220-5B9D-D9C6-448A9B7D1D41}"/>
                  </a:ext>
                </a:extLst>
              </p:cNvPr>
              <p:cNvSpPr txBox="1"/>
              <p:nvPr/>
            </p:nvSpPr>
            <p:spPr>
              <a:xfrm>
                <a:off x="879387" y="4329545"/>
                <a:ext cx="1702373" cy="2062103"/>
              </a:xfrm>
              <a:prstGeom prst="rect">
                <a:avLst/>
              </a:prstGeom>
              <a:noFill/>
            </p:spPr>
            <p:txBody>
              <a:bodyPr wrap="square" rtlCol="0">
                <a:spAutoFit/>
              </a:bodyPr>
              <a:lstStyle/>
              <a:p>
                <a:pPr indent="-457200">
                  <a:spcBef>
                    <a:spcPts val="600"/>
                  </a:spcBef>
                </a:pPr>
                <a14:m>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 =4</m:t>
                    </m:r>
                  </m:oMath>
                </a14:m>
                <a:r>
                  <a:rPr lang="en-US" sz="1200" b="0" dirty="0"/>
                  <a:t> actions</a:t>
                </a:r>
                <a:endParaRPr lang="en-US" sz="1200" b="0" i="1" dirty="0">
                  <a:latin typeface="Cambria Math" panose="02040503050406030204" pitchFamily="18" charset="0"/>
                </a:endParaRPr>
              </a:p>
              <a:p>
                <a:pPr indent="-457200">
                  <a:spcBef>
                    <a:spcPts val="600"/>
                  </a:spcBef>
                </a:pPr>
                <a:endParaRPr lang="en-US" sz="1200" b="0" i="1" dirty="0">
                  <a:latin typeface="Cambria Math" panose="02040503050406030204" pitchFamily="18" charset="0"/>
                </a:endParaRPr>
              </a:p>
              <a:p>
                <a:pPr indent="-457200">
                  <a:spcBef>
                    <a:spcPts val="600"/>
                  </a:spcBef>
                </a:pPr>
                <a14:m>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m:t>
                    </m:r>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m:t>
                    </m:r>
                  </m:oMath>
                </a14:m>
                <a:r>
                  <a:rPr lang="en-US" sz="1200" b="0" dirty="0"/>
                  <a:t> </a:t>
                </a:r>
              </a:p>
              <a:p>
                <a:pPr indent="-457200">
                  <a:spcBef>
                    <a:spcPts val="600"/>
                  </a:spcBef>
                </a:pPr>
                <a:r>
                  <a:rPr lang="en-US" sz="1200" b="0" dirty="0"/>
                  <a:t>(the longest path to the goal or a dead end is bounded by the state space size.)</a:t>
                </a:r>
              </a:p>
              <a:p>
                <a:pPr indent="-457200">
                  <a:spcBef>
                    <a:spcPts val="600"/>
                  </a:spcBef>
                </a:pPr>
                <a:endParaRPr lang="en-US" sz="1200" b="0" i="1" dirty="0">
                  <a:latin typeface="Cambria Math" panose="02040503050406030204" pitchFamily="18" charset="0"/>
                </a:endParaRPr>
              </a:p>
              <a:p>
                <a:pPr indent="-457200">
                  <a:spcBef>
                    <a:spcPts val="600"/>
                  </a:spcBef>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𝑑</m:t>
                      </m:r>
                      <m:r>
                        <a:rPr lang="en-US" sz="1200" b="0" i="1" smtClean="0">
                          <a:latin typeface="Cambria Math" panose="02040503050406030204" pitchFamily="18" charset="0"/>
                        </a:rPr>
                        <m:t>≤</m:t>
                      </m:r>
                      <m:r>
                        <a:rPr lang="en-US" sz="1200" b="0" i="1" smtClean="0">
                          <a:latin typeface="Cambria Math" panose="02040503050406030204" pitchFamily="18" charset="0"/>
                        </a:rPr>
                        <m:t>𝑚</m:t>
                      </m:r>
                    </m:oMath>
                  </m:oMathPara>
                </a14:m>
                <a:endParaRPr lang="en-US" sz="1200" dirty="0"/>
              </a:p>
            </p:txBody>
          </p:sp>
        </mc:Choice>
        <mc:Fallback xmlns="">
          <p:sp>
            <p:nvSpPr>
              <p:cNvPr id="14" name="TextBox 13">
                <a:extLst>
                  <a:ext uri="{FF2B5EF4-FFF2-40B4-BE49-F238E27FC236}">
                    <a16:creationId xmlns:a16="http://schemas.microsoft.com/office/drawing/2014/main" id="{684B0078-B220-5B9D-D9C6-448A9B7D1D41}"/>
                  </a:ext>
                </a:extLst>
              </p:cNvPr>
              <p:cNvSpPr txBox="1">
                <a:spLocks noRot="1" noChangeAspect="1" noMove="1" noResize="1" noEditPoints="1" noAdjustHandles="1" noChangeArrowheads="1" noChangeShapeType="1" noTextEdit="1"/>
              </p:cNvSpPr>
              <p:nvPr/>
            </p:nvSpPr>
            <p:spPr>
              <a:xfrm>
                <a:off x="879387" y="4329545"/>
                <a:ext cx="1702373" cy="206210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9AC0A6CC-6376-B0F7-C367-66E0CD02877C}"/>
                  </a:ext>
                </a:extLst>
              </p:cNvPr>
              <p:cNvSpPr/>
              <p:nvPr/>
            </p:nvSpPr>
            <p:spPr>
              <a:xfrm>
                <a:off x="5867400" y="607328"/>
                <a:ext cx="2514600" cy="6740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nSpc>
                    <a:spcPct val="90000"/>
                  </a:lnSpc>
                </a:pPr>
                <a14:m>
                  <m:oMath xmlns:m="http://schemas.openxmlformats.org/officeDocument/2006/math">
                    <m:r>
                      <a:rPr lang="en-US" sz="1400" i="1" dirty="0" smtClean="0">
                        <a:latin typeface="Cambria Math" panose="02040503050406030204" pitchFamily="18" charset="0"/>
                      </a:rPr>
                      <m:t>𝑏</m:t>
                    </m:r>
                  </m:oMath>
                </a14:m>
                <a:r>
                  <a:rPr lang="en-US" sz="1400" i="1" dirty="0"/>
                  <a:t>:</a:t>
                </a:r>
                <a:r>
                  <a:rPr lang="en-US" sz="1400" dirty="0"/>
                  <a:t> maximum branching factor</a:t>
                </a:r>
                <a:endParaRPr lang="en-US" sz="1400" i="1" dirty="0"/>
              </a:p>
              <a:p>
                <a:pPr>
                  <a:lnSpc>
                    <a:spcPct val="90000"/>
                  </a:lnSpc>
                </a:pPr>
                <a14:m>
                  <m:oMath xmlns:m="http://schemas.openxmlformats.org/officeDocument/2006/math">
                    <m:r>
                      <a:rPr lang="en-US" sz="1400" i="1" dirty="0" smtClean="0">
                        <a:latin typeface="Cambria Math" panose="02040503050406030204" pitchFamily="18" charset="0"/>
                      </a:rPr>
                      <m:t>𝑚</m:t>
                    </m:r>
                  </m:oMath>
                </a14:m>
                <a:r>
                  <a:rPr lang="en-US" sz="1400" i="1" dirty="0"/>
                  <a:t>: </a:t>
                </a:r>
                <a:r>
                  <a:rPr lang="en-US" sz="1400" dirty="0"/>
                  <a:t>max. depth of tree</a:t>
                </a:r>
              </a:p>
              <a:p>
                <a:pPr>
                  <a:lnSpc>
                    <a:spcPct val="90000"/>
                  </a:lnSpc>
                </a:pPr>
                <a14:m>
                  <m:oMath xmlns:m="http://schemas.openxmlformats.org/officeDocument/2006/math">
                    <m:r>
                      <a:rPr lang="en-US" sz="1400" i="1" dirty="0" smtClean="0">
                        <a:latin typeface="Cambria Math" panose="02040503050406030204" pitchFamily="18" charset="0"/>
                      </a:rPr>
                      <m:t>𝑑</m:t>
                    </m:r>
                  </m:oMath>
                </a14:m>
                <a:r>
                  <a:rPr lang="en-US" sz="1400" i="1" dirty="0"/>
                  <a:t>: </a:t>
                </a:r>
                <a:r>
                  <a:rPr lang="en-US" sz="1400" dirty="0"/>
                  <a:t>depth of the optimal solution</a:t>
                </a:r>
              </a:p>
            </p:txBody>
          </p:sp>
        </mc:Choice>
        <mc:Fallback xmlns="">
          <p:sp>
            <p:nvSpPr>
              <p:cNvPr id="18" name="Rectangle 17">
                <a:extLst>
                  <a:ext uri="{FF2B5EF4-FFF2-40B4-BE49-F238E27FC236}">
                    <a16:creationId xmlns:a16="http://schemas.microsoft.com/office/drawing/2014/main" id="{9AC0A6CC-6376-B0F7-C367-66E0CD02877C}"/>
                  </a:ext>
                </a:extLst>
              </p:cNvPr>
              <p:cNvSpPr>
                <a:spLocks noRot="1" noChangeAspect="1" noMove="1" noResize="1" noEditPoints="1" noAdjustHandles="1" noChangeArrowheads="1" noChangeShapeType="1" noTextEdit="1"/>
              </p:cNvSpPr>
              <p:nvPr/>
            </p:nvSpPr>
            <p:spPr>
              <a:xfrm>
                <a:off x="5867400" y="607328"/>
                <a:ext cx="2514600" cy="674031"/>
              </a:xfrm>
              <a:prstGeom prst="rect">
                <a:avLst/>
              </a:prstGeom>
              <a:blipFill>
                <a:blip r:embed="rId8"/>
                <a:stretch>
                  <a:fillRect t="-3571" b="-80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631E8F9-1073-FF1A-EDB4-BCE6243CB0B3}"/>
                  </a:ext>
                </a:extLst>
              </p:cNvPr>
              <p:cNvSpPr txBox="1"/>
              <p:nvPr/>
            </p:nvSpPr>
            <p:spPr>
              <a:xfrm>
                <a:off x="2779407" y="4329544"/>
                <a:ext cx="1702373" cy="1900777"/>
              </a:xfrm>
              <a:prstGeom prst="rect">
                <a:avLst/>
              </a:prstGeom>
              <a:noFill/>
            </p:spPr>
            <p:txBody>
              <a:bodyPr wrap="square" rtlCol="0">
                <a:spAutoFit/>
              </a:bodyPr>
              <a:lstStyle/>
              <a:p>
                <a:pPr indent="-457200">
                  <a:spcBef>
                    <a:spcPts val="600"/>
                  </a:spcBef>
                </a:pPr>
                <a:r>
                  <a:rPr lang="en-US" sz="1200" dirty="0"/>
                  <a:t>Action: Move one queen at a time:</a:t>
                </a:r>
              </a:p>
              <a:p>
                <a:pPr indent="-457200">
                  <a:spcBef>
                    <a:spcPts val="600"/>
                  </a:spcBef>
                </a:pPr>
                <a14:m>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 =</m:t>
                    </m:r>
                  </m:oMath>
                </a14:m>
                <a:r>
                  <a:rPr lang="en-US" sz="1200" dirty="0"/>
                  <a:t> </a:t>
                </a:r>
                <a14:m>
                  <m:oMath xmlns:m="http://schemas.openxmlformats.org/officeDocument/2006/math">
                    <m:r>
                      <a:rPr lang="en-US" sz="1100" b="0" i="0" dirty="0" smtClean="0">
                        <a:latin typeface="Cambria Math" panose="02040503050406030204" pitchFamily="18" charset="0"/>
                      </a:rPr>
                      <m:t>8</m:t>
                    </m:r>
                    <m:r>
                      <a:rPr lang="en-US" sz="1100" b="0" i="1" dirty="0" smtClean="0">
                        <a:latin typeface="Cambria Math" panose="02040503050406030204" pitchFamily="18" charset="0"/>
                      </a:rPr>
                      <m:t>×(</m:t>
                    </m:r>
                    <m:r>
                      <a:rPr lang="en-US" sz="1100" i="1" dirty="0" smtClean="0">
                        <a:latin typeface="Cambria Math" panose="02040503050406030204" pitchFamily="18" charset="0"/>
                      </a:rPr>
                      <m:t>64−</m:t>
                    </m:r>
                    <m:r>
                      <a:rPr lang="en-US" sz="1100" b="0" i="1" dirty="0" smtClean="0">
                        <a:latin typeface="Cambria Math" panose="02040503050406030204" pitchFamily="18" charset="0"/>
                      </a:rPr>
                      <m:t>8)</m:t>
                    </m:r>
                    <m:r>
                      <a:rPr lang="en-US" sz="1100" i="1" dirty="0" smtClean="0">
                        <a:latin typeface="Cambria Math" panose="02040503050406030204" pitchFamily="18" charset="0"/>
                      </a:rPr>
                      <m:t>=</m:t>
                    </m:r>
                    <m:r>
                      <a:rPr lang="en-US" sz="1100" b="0" i="1" dirty="0" smtClean="0">
                        <a:latin typeface="Cambria Math" panose="02040503050406030204" pitchFamily="18" charset="0"/>
                      </a:rPr>
                      <m:t>448</m:t>
                    </m:r>
                  </m:oMath>
                </a14:m>
                <a:endParaRPr lang="en-US" sz="1200" b="0" i="1" dirty="0">
                  <a:latin typeface="Cambria Math" panose="02040503050406030204" pitchFamily="18" charset="0"/>
                </a:endParaRPr>
              </a:p>
              <a:p>
                <a:pPr indent="-457200">
                  <a:spcBef>
                    <a:spcPts val="600"/>
                  </a:spcBef>
                </a:pPr>
                <a14:m>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m:t>
                    </m:r>
                    <m:d>
                      <m:dPr>
                        <m:ctrlPr>
                          <a:rPr lang="en-US" sz="1200" i="1">
                            <a:latin typeface="Cambria Math" panose="02040503050406030204" pitchFamily="18" charset="0"/>
                          </a:rPr>
                        </m:ctrlPr>
                      </m:dPr>
                      <m:e>
                        <m:f>
                          <m:fPr>
                            <m:type m:val="noBar"/>
                            <m:ctrlPr>
                              <a:rPr lang="en-US" sz="1200" i="1">
                                <a:latin typeface="Cambria Math" panose="02040503050406030204" pitchFamily="18" charset="0"/>
                              </a:rPr>
                            </m:ctrlPr>
                          </m:fPr>
                          <m:num>
                            <m:r>
                              <a:rPr lang="en-US" sz="1200" i="1">
                                <a:latin typeface="Cambria Math" panose="02040503050406030204" pitchFamily="18" charset="0"/>
                              </a:rPr>
                              <m:t>64</m:t>
                            </m:r>
                          </m:num>
                          <m:den>
                            <m:r>
                              <a:rPr lang="en-US" sz="1200" i="1">
                                <a:latin typeface="Cambria Math" panose="02040503050406030204" pitchFamily="18" charset="0"/>
                              </a:rPr>
                              <m:t>8</m:t>
                            </m:r>
                          </m:den>
                        </m:f>
                      </m:e>
                    </m:d>
                    <m:r>
                      <a:rPr lang="en-US" sz="1200" i="1">
                        <a:latin typeface="Cambria Math" panose="02040503050406030204" pitchFamily="18" charset="0"/>
                      </a:rPr>
                      <m:t>≈4.4×</m:t>
                    </m:r>
                    <m:sSup>
                      <m:sSupPr>
                        <m:ctrlPr>
                          <a:rPr lang="en-US" sz="1200" i="1">
                            <a:latin typeface="Cambria Math" panose="02040503050406030204" pitchFamily="18" charset="0"/>
                          </a:rPr>
                        </m:ctrlPr>
                      </m:sSupPr>
                      <m:e>
                        <m:r>
                          <a:rPr lang="en-US" sz="1200" i="1">
                            <a:latin typeface="Cambria Math" panose="02040503050406030204" pitchFamily="18" charset="0"/>
                          </a:rPr>
                          <m:t>10</m:t>
                        </m:r>
                      </m:e>
                      <m:sup>
                        <m:r>
                          <a:rPr lang="en-US" sz="1200" i="1">
                            <a:latin typeface="Cambria Math" panose="02040503050406030204" pitchFamily="18" charset="0"/>
                          </a:rPr>
                          <m:t>9</m:t>
                        </m:r>
                      </m:sup>
                    </m:sSup>
                  </m:oMath>
                </a14:m>
                <a:r>
                  <a:rPr lang="en-US" sz="1200" b="0" i="1" dirty="0">
                    <a:latin typeface="Cambria Math" panose="02040503050406030204" pitchFamily="18" charset="0"/>
                  </a:rPr>
                  <a:t> </a:t>
                </a:r>
                <a:r>
                  <a:rPr lang="en-US" sz="1200" dirty="0"/>
                  <a:t>(we may have to try all states)</a:t>
                </a:r>
              </a:p>
              <a:p>
                <a:pPr indent="-457200">
                  <a:spcBef>
                    <a:spcPts val="600"/>
                  </a:spcBef>
                </a:pPr>
                <a14:m>
                  <m:oMath xmlns:m="http://schemas.openxmlformats.org/officeDocument/2006/math">
                    <m:r>
                      <a:rPr lang="en-US" sz="1200" b="0" i="1" smtClean="0">
                        <a:latin typeface="Cambria Math" panose="02040503050406030204" pitchFamily="18" charset="0"/>
                      </a:rPr>
                      <m:t>𝑑</m:t>
                    </m:r>
                    <m:r>
                      <a:rPr lang="en-US" sz="1200" b="0" i="1" smtClean="0">
                        <a:latin typeface="Cambria Math" panose="02040503050406030204" pitchFamily="18" charset="0"/>
                      </a:rPr>
                      <m:t> =8</m:t>
                    </m:r>
                  </m:oMath>
                </a14:m>
                <a:r>
                  <a:rPr lang="en-US" sz="1200" dirty="0"/>
                  <a:t> (move each queen to the right spot) </a:t>
                </a:r>
              </a:p>
            </p:txBody>
          </p:sp>
        </mc:Choice>
        <mc:Fallback xmlns="">
          <p:sp>
            <p:nvSpPr>
              <p:cNvPr id="19" name="TextBox 18">
                <a:extLst>
                  <a:ext uri="{FF2B5EF4-FFF2-40B4-BE49-F238E27FC236}">
                    <a16:creationId xmlns:a16="http://schemas.microsoft.com/office/drawing/2014/main" id="{8631E8F9-1073-FF1A-EDB4-BCE6243CB0B3}"/>
                  </a:ext>
                </a:extLst>
              </p:cNvPr>
              <p:cNvSpPr txBox="1">
                <a:spLocks noRot="1" noChangeAspect="1" noMove="1" noResize="1" noEditPoints="1" noAdjustHandles="1" noChangeArrowheads="1" noChangeShapeType="1" noTextEdit="1"/>
              </p:cNvSpPr>
              <p:nvPr/>
            </p:nvSpPr>
            <p:spPr>
              <a:xfrm>
                <a:off x="2779407" y="4329544"/>
                <a:ext cx="1702373" cy="1900777"/>
              </a:xfrm>
              <a:prstGeom prst="rect">
                <a:avLst/>
              </a:prstGeom>
              <a:blipFill>
                <a:blip r:embed="rId9"/>
                <a:stretch>
                  <a:fillRect l="-3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6E0F7A5-7640-A82C-C1F5-61327201BE17}"/>
                  </a:ext>
                </a:extLst>
              </p:cNvPr>
              <p:cNvSpPr txBox="1"/>
              <p:nvPr/>
            </p:nvSpPr>
            <p:spPr>
              <a:xfrm>
                <a:off x="4589862" y="4304606"/>
                <a:ext cx="1702373" cy="1249894"/>
              </a:xfrm>
              <a:prstGeom prst="rect">
                <a:avLst/>
              </a:prstGeom>
              <a:noFill/>
            </p:spPr>
            <p:txBody>
              <a:bodyPr wrap="square" rtlCol="0">
                <a:spAutoFit/>
              </a:bodyPr>
              <a:lstStyle/>
              <a:p>
                <a:pPr indent="-457200">
                  <a:spcBef>
                    <a:spcPts val="600"/>
                  </a:spcBef>
                </a:pPr>
                <a14:m>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 =4</m:t>
                    </m:r>
                  </m:oMath>
                </a14:m>
                <a:r>
                  <a:rPr lang="en-US" sz="1200" b="0" dirty="0"/>
                  <a:t> actions to move the empty tile.</a:t>
                </a:r>
                <a:endParaRPr lang="en-US" sz="1200" b="0" i="1" dirty="0">
                  <a:latin typeface="Cambria Math" panose="02040503050406030204" pitchFamily="18" charset="0"/>
                </a:endParaRPr>
              </a:p>
              <a:p>
                <a:pPr indent="-457200">
                  <a:spcBef>
                    <a:spcPts val="600"/>
                  </a:spcBef>
                </a:pPr>
                <a14:m>
                  <m:oMath xmlns:m="http://schemas.openxmlformats.org/officeDocument/2006/math">
                    <m:r>
                      <a:rPr lang="en-US" sz="1200" b="0" i="1" smtClean="0">
                        <a:latin typeface="Cambria Math" panose="02040503050406030204" pitchFamily="18" charset="0"/>
                      </a:rPr>
                      <m:t>𝑚</m:t>
                    </m:r>
                    <m:r>
                      <a:rPr lang="en-US" sz="1200" i="1">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9!</m:t>
                        </m:r>
                      </m:num>
                      <m:den>
                        <m:r>
                          <a:rPr lang="en-US" sz="1200" b="0" i="1" smtClean="0">
                            <a:latin typeface="Cambria Math" panose="02040503050406030204" pitchFamily="18" charset="0"/>
                          </a:rPr>
                          <m:t>2</m:t>
                        </m:r>
                      </m:den>
                    </m:f>
                  </m:oMath>
                </a14:m>
                <a:r>
                  <a:rPr lang="en-US" sz="1200" b="0" dirty="0"/>
                  <a:t> (state space)</a:t>
                </a:r>
              </a:p>
              <a:p>
                <a:pPr indent="-457200">
                  <a:spcBef>
                    <a:spcPts val="600"/>
                  </a:spcBef>
                </a:pPr>
                <a:endParaRPr lang="en-US" sz="1200" b="0" dirty="0"/>
              </a:p>
              <a:p>
                <a:pPr indent="-457200">
                  <a:spcBef>
                    <a:spcPts val="600"/>
                  </a:spcBef>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𝑑</m:t>
                      </m:r>
                      <m:r>
                        <a:rPr lang="en-US" sz="1200" i="1">
                          <a:latin typeface="Cambria Math" panose="02040503050406030204" pitchFamily="18" charset="0"/>
                        </a:rPr>
                        <m:t>≤</m:t>
                      </m:r>
                      <m:r>
                        <a:rPr lang="en-US" sz="1200" i="1">
                          <a:latin typeface="Cambria Math" panose="02040503050406030204" pitchFamily="18" charset="0"/>
                        </a:rPr>
                        <m:t>𝑚</m:t>
                      </m:r>
                    </m:oMath>
                  </m:oMathPara>
                </a14:m>
                <a:endParaRPr lang="en-US" sz="1200" dirty="0"/>
              </a:p>
            </p:txBody>
          </p:sp>
        </mc:Choice>
        <mc:Fallback xmlns="">
          <p:sp>
            <p:nvSpPr>
              <p:cNvPr id="20" name="TextBox 19">
                <a:extLst>
                  <a:ext uri="{FF2B5EF4-FFF2-40B4-BE49-F238E27FC236}">
                    <a16:creationId xmlns:a16="http://schemas.microsoft.com/office/drawing/2014/main" id="{96E0F7A5-7640-A82C-C1F5-61327201BE17}"/>
                  </a:ext>
                </a:extLst>
              </p:cNvPr>
              <p:cNvSpPr txBox="1">
                <a:spLocks noRot="1" noChangeAspect="1" noMove="1" noResize="1" noEditPoints="1" noAdjustHandles="1" noChangeArrowheads="1" noChangeShapeType="1" noTextEdit="1"/>
              </p:cNvSpPr>
              <p:nvPr/>
            </p:nvSpPr>
            <p:spPr>
              <a:xfrm>
                <a:off x="4589862" y="4304606"/>
                <a:ext cx="1702373" cy="1249894"/>
              </a:xfrm>
              <a:prstGeom prst="rect">
                <a:avLst/>
              </a:prstGeom>
              <a:blipFill>
                <a:blip r:embed="rId10"/>
                <a:stretch>
                  <a:fillRect l="-3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376000C-EFEB-4AAB-EC0B-1DEC37DB63B2}"/>
                  </a:ext>
                </a:extLst>
              </p:cNvPr>
              <p:cNvSpPr txBox="1"/>
              <p:nvPr/>
            </p:nvSpPr>
            <p:spPr>
              <a:xfrm>
                <a:off x="6514017" y="4311533"/>
                <a:ext cx="1702373" cy="1615827"/>
              </a:xfrm>
              <a:prstGeom prst="rect">
                <a:avLst/>
              </a:prstGeom>
              <a:noFill/>
            </p:spPr>
            <p:txBody>
              <a:bodyPr wrap="square" rtlCol="0">
                <a:spAutoFit/>
              </a:bodyPr>
              <a:lstStyle/>
              <a:p>
                <a:pPr indent="-457200">
                  <a:spcBef>
                    <a:spcPts val="600"/>
                  </a:spcBef>
                </a:pPr>
                <a14:m>
                  <m:oMath xmlns:m="http://schemas.openxmlformats.org/officeDocument/2006/math">
                    <m:r>
                      <a:rPr lang="en-US" sz="1200" b="0" i="1" smtClean="0">
                        <a:latin typeface="Cambria Math" panose="02040503050406030204" pitchFamily="18" charset="0"/>
                      </a:rPr>
                      <m:t>𝑏</m:t>
                    </m:r>
                    <m:r>
                      <a:rPr lang="en-US" sz="1200" b="0" i="1" smtClean="0">
                        <a:latin typeface="Cambria Math" panose="02040503050406030204" pitchFamily="18" charset="0"/>
                      </a:rPr>
                      <m:t> =9</m:t>
                    </m:r>
                  </m:oMath>
                </a14:m>
                <a:r>
                  <a:rPr lang="en-US" sz="1200" b="0" dirty="0"/>
                  <a:t> actions for the first move.</a:t>
                </a:r>
                <a:endParaRPr lang="en-US" sz="1200" b="0" i="1" dirty="0">
                  <a:latin typeface="Cambria Math" panose="02040503050406030204" pitchFamily="18" charset="0"/>
                </a:endParaRPr>
              </a:p>
              <a:p>
                <a:pPr indent="-457200">
                  <a:spcBef>
                    <a:spcPts val="600"/>
                  </a:spcBef>
                </a:pPr>
                <a:endParaRPr lang="en-US" sz="1200" b="0" i="1" dirty="0">
                  <a:latin typeface="Cambria Math" panose="02040503050406030204" pitchFamily="18" charset="0"/>
                </a:endParaRPr>
              </a:p>
              <a:p>
                <a:pPr indent="-457200">
                  <a:spcBef>
                    <a:spcPts val="600"/>
                  </a:spcBef>
                </a:pPr>
                <a14:m>
                  <m:oMathPara xmlns:m="http://schemas.openxmlformats.org/officeDocument/2006/math">
                    <m:oMathParaPr>
                      <m:jc m:val="left"/>
                    </m:oMathParaPr>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=9</m:t>
                      </m:r>
                    </m:oMath>
                  </m:oMathPara>
                </a14:m>
                <a:endParaRPr lang="en-US" sz="1200" b="0" dirty="0"/>
              </a:p>
              <a:p>
                <a:pPr indent="-457200">
                  <a:spcBef>
                    <a:spcPts val="600"/>
                  </a:spcBef>
                </a:pPr>
                <a:endParaRPr lang="en-US" sz="1200" b="0" i="1" dirty="0">
                  <a:latin typeface="Cambria Math" panose="02040503050406030204" pitchFamily="18" charset="0"/>
                </a:endParaRPr>
              </a:p>
              <a:p>
                <a:pPr indent="-457200">
                  <a:spcBef>
                    <a:spcPts val="600"/>
                  </a:spcBef>
                </a:pPr>
                <a14:m>
                  <m:oMath xmlns:m="http://schemas.openxmlformats.org/officeDocument/2006/math">
                    <m:r>
                      <a:rPr lang="en-US" sz="1200" b="0" i="1" smtClean="0">
                        <a:latin typeface="Cambria Math" panose="02040503050406030204" pitchFamily="18" charset="0"/>
                      </a:rPr>
                      <m:t>𝑑</m:t>
                    </m:r>
                    <m:r>
                      <a:rPr lang="en-US" sz="1200" b="0" i="1" smtClean="0">
                        <a:latin typeface="Cambria Math" panose="02040503050406030204" pitchFamily="18" charset="0"/>
                      </a:rPr>
                      <m:t> =9</m:t>
                    </m:r>
                  </m:oMath>
                </a14:m>
                <a:r>
                  <a:rPr lang="en-US" sz="1200" dirty="0"/>
                  <a:t> (both play optimal)</a:t>
                </a:r>
              </a:p>
            </p:txBody>
          </p:sp>
        </mc:Choice>
        <mc:Fallback xmlns="">
          <p:sp>
            <p:nvSpPr>
              <p:cNvPr id="21" name="TextBox 20">
                <a:extLst>
                  <a:ext uri="{FF2B5EF4-FFF2-40B4-BE49-F238E27FC236}">
                    <a16:creationId xmlns:a16="http://schemas.microsoft.com/office/drawing/2014/main" id="{F376000C-EFEB-4AAB-EC0B-1DEC37DB63B2}"/>
                  </a:ext>
                </a:extLst>
              </p:cNvPr>
              <p:cNvSpPr txBox="1">
                <a:spLocks noRot="1" noChangeAspect="1" noMove="1" noResize="1" noEditPoints="1" noAdjustHandles="1" noChangeArrowheads="1" noChangeShapeType="1" noTextEdit="1"/>
              </p:cNvSpPr>
              <p:nvPr/>
            </p:nvSpPr>
            <p:spPr>
              <a:xfrm>
                <a:off x="6514017" y="4311533"/>
                <a:ext cx="1702373" cy="1615827"/>
              </a:xfrm>
              <a:prstGeom prst="rect">
                <a:avLst/>
              </a:prstGeom>
              <a:blipFill>
                <a:blip r:embed="rId11"/>
                <a:stretch>
                  <a:fillRect l="-358" b="-2264"/>
                </a:stretch>
              </a:blipFill>
            </p:spPr>
            <p:txBody>
              <a:bodyPr/>
              <a:lstStyle/>
              <a:p>
                <a:r>
                  <a:rPr lang="en-US">
                    <a:noFill/>
                  </a:rPr>
                  <a:t> </a:t>
                </a:r>
              </a:p>
            </p:txBody>
          </p:sp>
        </mc:Fallback>
      </mc:AlternateContent>
    </p:spTree>
    <p:extLst>
      <p:ext uri="{BB962C8B-B14F-4D97-AF65-F5344CB8AC3E}">
        <p14:creationId xmlns:p14="http://schemas.microsoft.com/office/powerpoint/2010/main" val="39194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9" grpId="0"/>
      <p:bldP spid="20" grpId="0"/>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C7E0-EDF4-6FDF-F8E2-19EF118654C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7C04739-EFD4-44A2-34DB-75D2EB7B5083}"/>
              </a:ext>
            </a:extLst>
          </p:cNvPr>
          <p:cNvSpPr>
            <a:spLocks noGrp="1"/>
          </p:cNvSpPr>
          <p:nvPr>
            <p:ph type="title"/>
          </p:nvPr>
        </p:nvSpPr>
        <p:spPr/>
        <p:txBody>
          <a:bodyPr/>
          <a:lstStyle/>
          <a:p>
            <a:r>
              <a:rPr lang="en-US" dirty="0"/>
              <a:t>Uninformed Algorithms</a:t>
            </a:r>
          </a:p>
        </p:txBody>
      </p:sp>
      <p:sp>
        <p:nvSpPr>
          <p:cNvPr id="6" name="Text Placeholder 5">
            <a:extLst>
              <a:ext uri="{FF2B5EF4-FFF2-40B4-BE49-F238E27FC236}">
                <a16:creationId xmlns:a16="http://schemas.microsoft.com/office/drawing/2014/main" id="{B60CAF69-948C-759D-E6B4-2EB872EA7E32}"/>
              </a:ext>
            </a:extLst>
          </p:cNvPr>
          <p:cNvSpPr>
            <a:spLocks noGrp="1"/>
          </p:cNvSpPr>
          <p:nvPr>
            <p:ph type="body" idx="1"/>
          </p:nvPr>
        </p:nvSpPr>
        <p:spPr/>
        <p:txBody>
          <a:bodyPr/>
          <a:lstStyle/>
          <a:p>
            <a:r>
              <a:rPr lang="en-US" dirty="0"/>
              <a:t>Breadth-first vs. Depth-first Search</a:t>
            </a:r>
          </a:p>
        </p:txBody>
      </p:sp>
    </p:spTree>
    <p:extLst>
      <p:ext uri="{BB962C8B-B14F-4D97-AF65-F5344CB8AC3E}">
        <p14:creationId xmlns:p14="http://schemas.microsoft.com/office/powerpoint/2010/main" val="1902512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dirty="0"/>
              <a:t>Breadth-First Search (BFS)</a:t>
            </a:r>
          </a:p>
        </p:txBody>
      </p:sp>
      <p:sp>
        <p:nvSpPr>
          <p:cNvPr id="25603" name="Rectangle 3"/>
          <p:cNvSpPr>
            <a:spLocks noGrp="1" noChangeArrowheads="1"/>
          </p:cNvSpPr>
          <p:nvPr>
            <p:ph idx="1"/>
          </p:nvPr>
        </p:nvSpPr>
        <p:spPr>
          <a:xfrm>
            <a:off x="628650" y="1825625"/>
            <a:ext cx="7886700" cy="820303"/>
          </a:xfrm>
        </p:spPr>
        <p:txBody>
          <a:bodyPr>
            <a:normAutofit/>
          </a:bodyPr>
          <a:lstStyle/>
          <a:p>
            <a:pPr marL="0" indent="0">
              <a:buNone/>
            </a:pPr>
            <a:r>
              <a:rPr lang="en-US" b="1" dirty="0"/>
              <a:t>Expansion rule: </a:t>
            </a:r>
            <a:r>
              <a:rPr lang="en-US" dirty="0"/>
              <a:t>Expand shallowest unexpanded node in the frontier (=</a:t>
            </a:r>
            <a:r>
              <a:rPr lang="en-US" b="1" dirty="0"/>
              <a:t>FIFO</a:t>
            </a:r>
            <a:r>
              <a:rPr lang="en-US" dirty="0"/>
              <a:t>). </a:t>
            </a:r>
          </a:p>
        </p:txBody>
      </p:sp>
      <p:pic>
        <p:nvPicPr>
          <p:cNvPr id="2" name="Picture 1">
            <a:extLst>
              <a:ext uri="{FF2B5EF4-FFF2-40B4-BE49-F238E27FC236}">
                <a16:creationId xmlns:a16="http://schemas.microsoft.com/office/drawing/2014/main" id="{50478804-D19B-42CB-9174-573046574EBF}"/>
              </a:ext>
            </a:extLst>
          </p:cNvPr>
          <p:cNvPicPr>
            <a:picLocks noChangeAspect="1"/>
          </p:cNvPicPr>
          <p:nvPr/>
        </p:nvPicPr>
        <p:blipFill>
          <a:blip r:embed="rId3"/>
          <a:stretch>
            <a:fillRect/>
          </a:stretch>
        </p:blipFill>
        <p:spPr>
          <a:xfrm>
            <a:off x="254062" y="2514600"/>
            <a:ext cx="8635876" cy="2047906"/>
          </a:xfrm>
          <a:prstGeom prst="rect">
            <a:avLst/>
          </a:prstGeom>
        </p:spPr>
      </p:pic>
      <p:sp>
        <p:nvSpPr>
          <p:cNvPr id="3" name="Rectangle 2">
            <a:extLst>
              <a:ext uri="{FF2B5EF4-FFF2-40B4-BE49-F238E27FC236}">
                <a16:creationId xmlns:a16="http://schemas.microsoft.com/office/drawing/2014/main" id="{6586C735-C78E-442B-A9DB-C9383AB15207}"/>
              </a:ext>
            </a:extLst>
          </p:cNvPr>
          <p:cNvSpPr/>
          <p:nvPr/>
        </p:nvSpPr>
        <p:spPr>
          <a:xfrm>
            <a:off x="381000" y="4731922"/>
            <a:ext cx="8382000"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b="1" dirty="0"/>
              <a:t>Data Structures</a:t>
            </a:r>
          </a:p>
          <a:p>
            <a:pPr marL="285750" indent="-285750">
              <a:buFont typeface="Arial" panose="020B0604020202020204" pitchFamily="34" charset="0"/>
              <a:buChar char="•"/>
            </a:pPr>
            <a:r>
              <a:rPr lang="en-US" b="1" dirty="0"/>
              <a:t>Frontier </a:t>
            </a:r>
            <a:r>
              <a:rPr lang="en-US" dirty="0"/>
              <a:t>data structure: holds references to the green nodes (green) and is implemented as a FIFO </a:t>
            </a:r>
            <a:r>
              <a:rPr lang="en-US" b="1" dirty="0"/>
              <a:t>queue</a:t>
            </a:r>
            <a:r>
              <a:rPr lang="en-US" dirty="0"/>
              <a:t>.</a:t>
            </a:r>
          </a:p>
          <a:p>
            <a:pPr marL="285750" indent="-285750">
              <a:buFont typeface="Arial" panose="020B0604020202020204" pitchFamily="34" charset="0"/>
              <a:buChar char="•"/>
            </a:pPr>
            <a:r>
              <a:rPr lang="en-US" b="1" dirty="0"/>
              <a:t>Reached</a:t>
            </a:r>
            <a:r>
              <a:rPr lang="en-US" dirty="0"/>
              <a:t> data structure: holds references to all visited nodes (gray and green) and is used to prevent visiting nodes more than once (cycle and redundant path checking).</a:t>
            </a:r>
          </a:p>
          <a:p>
            <a:pPr marL="285750" indent="-285750">
              <a:buFont typeface="Arial" panose="020B0604020202020204" pitchFamily="34" charset="0"/>
              <a:buChar char="•"/>
            </a:pPr>
            <a:r>
              <a:rPr lang="en-US" dirty="0"/>
              <a:t>Builds a</a:t>
            </a:r>
            <a:r>
              <a:rPr lang="en-US" b="1" dirty="0"/>
              <a:t> complete tree </a:t>
            </a:r>
            <a:r>
              <a:rPr lang="en-US" dirty="0"/>
              <a:t>with links between parent and child.</a:t>
            </a:r>
            <a:endParaRPr lang="en-US" b="1" dirty="0"/>
          </a:p>
        </p:txBody>
      </p:sp>
      <p:sp>
        <p:nvSpPr>
          <p:cNvPr id="4" name="Speech Bubble: Rectangle with Corners Rounded 3">
            <a:extLst>
              <a:ext uri="{FF2B5EF4-FFF2-40B4-BE49-F238E27FC236}">
                <a16:creationId xmlns:a16="http://schemas.microsoft.com/office/drawing/2014/main" id="{FE6813BC-EDC6-FB5E-4B0B-4D556B3CBA74}"/>
              </a:ext>
            </a:extLst>
          </p:cNvPr>
          <p:cNvSpPr/>
          <p:nvPr/>
        </p:nvSpPr>
        <p:spPr>
          <a:xfrm>
            <a:off x="7162800" y="990599"/>
            <a:ext cx="1752600" cy="665609"/>
          </a:xfrm>
          <a:prstGeom prst="wedgeRoundRectCallout">
            <a:avLst>
              <a:gd name="adj1" fmla="val 6010"/>
              <a:gd name="adj2" fmla="val 225126"/>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All nodes are in memory!</a:t>
            </a:r>
          </a:p>
        </p:txBody>
      </p:sp>
    </p:spTree>
    <p:extLst>
      <p:ext uri="{BB962C8B-B14F-4D97-AF65-F5344CB8AC3E}">
        <p14:creationId xmlns:p14="http://schemas.microsoft.com/office/powerpoint/2010/main" val="3460953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C778E-116C-4A58-BEA9-76E3144E1FE8}"/>
              </a:ext>
            </a:extLst>
          </p:cNvPr>
          <p:cNvSpPr>
            <a:spLocks noGrp="1"/>
          </p:cNvSpPr>
          <p:nvPr>
            <p:ph type="title"/>
          </p:nvPr>
        </p:nvSpPr>
        <p:spPr/>
        <p:txBody>
          <a:bodyPr/>
          <a:lstStyle/>
          <a:p>
            <a:r>
              <a:rPr lang="en-US" dirty="0"/>
              <a:t>Implementation: Best-First Search Strategy</a:t>
            </a:r>
          </a:p>
        </p:txBody>
      </p:sp>
      <p:sp>
        <p:nvSpPr>
          <p:cNvPr id="6" name="Slide Number Placeholder 5">
            <a:extLst>
              <a:ext uri="{FF2B5EF4-FFF2-40B4-BE49-F238E27FC236}">
                <a16:creationId xmlns:a16="http://schemas.microsoft.com/office/drawing/2014/main" id="{44E064F9-98BA-4E2A-A11B-578018FD1F64}"/>
              </a:ext>
            </a:extLst>
          </p:cNvPr>
          <p:cNvSpPr>
            <a:spLocks noGrp="1"/>
          </p:cNvSpPr>
          <p:nvPr>
            <p:ph type="sldNum" sz="quarter" idx="4294967295"/>
          </p:nvPr>
        </p:nvSpPr>
        <p:spPr>
          <a:xfrm>
            <a:off x="6457950" y="5499221"/>
            <a:ext cx="2057400" cy="365125"/>
          </a:xfrm>
        </p:spPr>
        <p:txBody>
          <a:bodyPr/>
          <a:lstStyle/>
          <a:p>
            <a:fld id="{E97C47EE-1537-423B-A9B2-96D7BC867AC1}" type="slidenum">
              <a:rPr lang="en-US" smtClean="0"/>
              <a:t>19</a:t>
            </a:fld>
            <a:endParaRPr lang="en-US"/>
          </a:p>
        </p:txBody>
      </p:sp>
      <p:pic>
        <p:nvPicPr>
          <p:cNvPr id="7" name="Picture 6">
            <a:extLst>
              <a:ext uri="{FF2B5EF4-FFF2-40B4-BE49-F238E27FC236}">
                <a16:creationId xmlns:a16="http://schemas.microsoft.com/office/drawing/2014/main" id="{6F7C17AE-CAAB-437C-963E-1F1ED4EF3F4F}"/>
              </a:ext>
            </a:extLst>
          </p:cNvPr>
          <p:cNvPicPr>
            <a:picLocks noChangeAspect="1"/>
          </p:cNvPicPr>
          <p:nvPr/>
        </p:nvPicPr>
        <p:blipFill rotWithShape="1">
          <a:blip r:embed="rId2"/>
          <a:srcRect b="32419"/>
          <a:stretch/>
        </p:blipFill>
        <p:spPr>
          <a:xfrm>
            <a:off x="800101" y="1905000"/>
            <a:ext cx="6896100" cy="3197346"/>
          </a:xfrm>
          <a:prstGeom prst="rect">
            <a:avLst/>
          </a:prstGeom>
        </p:spPr>
        <p:style>
          <a:lnRef idx="2">
            <a:schemeClr val="accent2"/>
          </a:lnRef>
          <a:fillRef idx="1">
            <a:schemeClr val="lt1"/>
          </a:fillRef>
          <a:effectRef idx="0">
            <a:schemeClr val="accent2"/>
          </a:effectRef>
          <a:fontRef idx="minor">
            <a:schemeClr val="dk1"/>
          </a:fontRef>
        </p:style>
      </p:pic>
      <p:pic>
        <p:nvPicPr>
          <p:cNvPr id="9" name="Picture 8">
            <a:extLst>
              <a:ext uri="{FF2B5EF4-FFF2-40B4-BE49-F238E27FC236}">
                <a16:creationId xmlns:a16="http://schemas.microsoft.com/office/drawing/2014/main" id="{438F9036-57F1-4C99-AE93-8BB0D0007B5B}"/>
              </a:ext>
            </a:extLst>
          </p:cNvPr>
          <p:cNvPicPr>
            <a:picLocks noChangeAspect="1"/>
          </p:cNvPicPr>
          <p:nvPr/>
        </p:nvPicPr>
        <p:blipFill>
          <a:blip r:embed="rId3"/>
          <a:stretch>
            <a:fillRect/>
          </a:stretch>
        </p:blipFill>
        <p:spPr>
          <a:xfrm>
            <a:off x="800102" y="1255541"/>
            <a:ext cx="6896099" cy="708873"/>
          </a:xfrm>
          <a:prstGeom prst="rect">
            <a:avLst/>
          </a:prstGeom>
        </p:spPr>
        <p:style>
          <a:lnRef idx="2">
            <a:schemeClr val="accent2"/>
          </a:lnRef>
          <a:fillRef idx="1">
            <a:schemeClr val="lt1"/>
          </a:fillRef>
          <a:effectRef idx="0">
            <a:schemeClr val="accent2"/>
          </a:effectRef>
          <a:fontRef idx="minor">
            <a:schemeClr val="dk1"/>
          </a:fontRef>
        </p:style>
      </p:pic>
      <p:sp>
        <p:nvSpPr>
          <p:cNvPr id="4" name="Rectangle 3">
            <a:extLst>
              <a:ext uri="{FF2B5EF4-FFF2-40B4-BE49-F238E27FC236}">
                <a16:creationId xmlns:a16="http://schemas.microsoft.com/office/drawing/2014/main" id="{0E198654-E598-446C-949F-CE7BB79A8003}"/>
              </a:ext>
            </a:extLst>
          </p:cNvPr>
          <p:cNvSpPr/>
          <p:nvPr/>
        </p:nvSpPr>
        <p:spPr>
          <a:xfrm>
            <a:off x="2133600" y="2416295"/>
            <a:ext cx="1143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863B32-1384-4BAF-80CC-FCB326C1908A}"/>
              </a:ext>
            </a:extLst>
          </p:cNvPr>
          <p:cNvSpPr/>
          <p:nvPr/>
        </p:nvSpPr>
        <p:spPr>
          <a:xfrm>
            <a:off x="3352800" y="4016495"/>
            <a:ext cx="34290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7F7389-B3C3-48CD-B248-7F7007C75B76}"/>
              </a:ext>
            </a:extLst>
          </p:cNvPr>
          <p:cNvSpPr/>
          <p:nvPr/>
        </p:nvSpPr>
        <p:spPr>
          <a:xfrm>
            <a:off x="4114800" y="1959095"/>
            <a:ext cx="228600" cy="2286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B8D264A-08AF-4F7D-BAF2-F6130A073787}"/>
              </a:ext>
            </a:extLst>
          </p:cNvPr>
          <p:cNvSpPr/>
          <p:nvPr/>
        </p:nvSpPr>
        <p:spPr>
          <a:xfrm>
            <a:off x="4276724" y="1582216"/>
            <a:ext cx="1009652" cy="23971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4" name="Speech Bubble: Rectangle with Corners Rounded 13">
            <a:extLst>
              <a:ext uri="{FF2B5EF4-FFF2-40B4-BE49-F238E27FC236}">
                <a16:creationId xmlns:a16="http://schemas.microsoft.com/office/drawing/2014/main" id="{CA625B60-3F86-43F3-886B-B90F8A7C31AA}"/>
              </a:ext>
            </a:extLst>
          </p:cNvPr>
          <p:cNvSpPr/>
          <p:nvPr/>
        </p:nvSpPr>
        <p:spPr>
          <a:xfrm>
            <a:off x="6275349" y="2924667"/>
            <a:ext cx="2705100" cy="1018682"/>
          </a:xfrm>
          <a:prstGeom prst="wedgeRoundRectCallout">
            <a:avLst>
              <a:gd name="adj1" fmla="val -128283"/>
              <a:gd name="adj2" fmla="val -8456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The order for expanding the frontier is  determined by </a:t>
            </a:r>
            <a:r>
              <a:rPr lang="en-US" sz="1600" i="1" dirty="0"/>
              <a:t>f(n) </a:t>
            </a:r>
            <a:r>
              <a:rPr lang="en-US" sz="1600" dirty="0"/>
              <a:t>= path cost from the initial state to node </a:t>
            </a:r>
            <a:r>
              <a:rPr lang="en-US" sz="1600" i="1" dirty="0"/>
              <a:t>n</a:t>
            </a:r>
            <a:r>
              <a:rPr lang="en-US" sz="1600" dirty="0"/>
              <a:t>.</a:t>
            </a:r>
          </a:p>
        </p:txBody>
      </p:sp>
      <p:cxnSp>
        <p:nvCxnSpPr>
          <p:cNvPr id="5" name="Straight Arrow Connector 4">
            <a:extLst>
              <a:ext uri="{FF2B5EF4-FFF2-40B4-BE49-F238E27FC236}">
                <a16:creationId xmlns:a16="http://schemas.microsoft.com/office/drawing/2014/main" id="{F5E84C67-3438-4AA3-8F22-60E274BA8027}"/>
              </a:ext>
            </a:extLst>
          </p:cNvPr>
          <p:cNvCxnSpPr>
            <a:cxnSpLocks/>
            <a:endCxn id="12" idx="0"/>
          </p:cNvCxnSpPr>
          <p:nvPr/>
        </p:nvCxnSpPr>
        <p:spPr>
          <a:xfrm flipH="1">
            <a:off x="4229100" y="1821929"/>
            <a:ext cx="342900" cy="1371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 name="TextBox 2">
            <a:extLst>
              <a:ext uri="{FF2B5EF4-FFF2-40B4-BE49-F238E27FC236}">
                <a16:creationId xmlns:a16="http://schemas.microsoft.com/office/drawing/2014/main" id="{BE24C076-547E-05DC-DEFE-AC8754A7B5D4}"/>
              </a:ext>
            </a:extLst>
          </p:cNvPr>
          <p:cNvSpPr txBox="1"/>
          <p:nvPr/>
        </p:nvSpPr>
        <p:spPr>
          <a:xfrm>
            <a:off x="495300" y="149346"/>
            <a:ext cx="7696200"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This is a generalization of Breadth-first search that expands the search based on cost and not on the number of steps.</a:t>
            </a:r>
          </a:p>
        </p:txBody>
      </p:sp>
      <p:pic>
        <p:nvPicPr>
          <p:cNvPr id="15" name="Picture 14">
            <a:extLst>
              <a:ext uri="{FF2B5EF4-FFF2-40B4-BE49-F238E27FC236}">
                <a16:creationId xmlns:a16="http://schemas.microsoft.com/office/drawing/2014/main" id="{B0A3A127-F2B7-579A-B07B-FC06C4BB01FC}"/>
              </a:ext>
            </a:extLst>
          </p:cNvPr>
          <p:cNvPicPr>
            <a:picLocks noChangeAspect="1"/>
          </p:cNvPicPr>
          <p:nvPr/>
        </p:nvPicPr>
        <p:blipFill>
          <a:blip r:embed="rId4"/>
          <a:stretch>
            <a:fillRect/>
          </a:stretch>
        </p:blipFill>
        <p:spPr>
          <a:xfrm>
            <a:off x="800101" y="5029563"/>
            <a:ext cx="6896100" cy="1599837"/>
          </a:xfrm>
          <a:prstGeom prst="rect">
            <a:avLst/>
          </a:prstGeom>
        </p:spPr>
        <p:style>
          <a:lnRef idx="2">
            <a:schemeClr val="accent2"/>
          </a:lnRef>
          <a:fillRef idx="1">
            <a:schemeClr val="lt1"/>
          </a:fillRef>
          <a:effectRef idx="0">
            <a:schemeClr val="accent2"/>
          </a:effectRef>
          <a:fontRef idx="minor">
            <a:schemeClr val="dk1"/>
          </a:fontRef>
        </p:style>
      </p:pic>
      <p:sp>
        <p:nvSpPr>
          <p:cNvPr id="10" name="Speech Bubble: Rectangle with Corners Rounded 9">
            <a:extLst>
              <a:ext uri="{FF2B5EF4-FFF2-40B4-BE49-F238E27FC236}">
                <a16:creationId xmlns:a16="http://schemas.microsoft.com/office/drawing/2014/main" id="{1CCC5912-F481-427C-8D65-4F8A17B66501}"/>
              </a:ext>
            </a:extLst>
          </p:cNvPr>
          <p:cNvSpPr/>
          <p:nvPr/>
        </p:nvSpPr>
        <p:spPr>
          <a:xfrm>
            <a:off x="6275349" y="4568946"/>
            <a:ext cx="2705100" cy="1222375"/>
          </a:xfrm>
          <a:prstGeom prst="wedgeRoundRectCallout">
            <a:avLst>
              <a:gd name="adj1" fmla="val -69529"/>
              <a:gd name="adj2" fmla="val -7130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This check is added to BFS! It visits a node again if it can be reached by a better (cheaper) path.</a:t>
            </a:r>
          </a:p>
        </p:txBody>
      </p:sp>
      <p:sp>
        <p:nvSpPr>
          <p:cNvPr id="8" name="Speech Bubble: Rectangle with Corners Rounded 7">
            <a:extLst>
              <a:ext uri="{FF2B5EF4-FFF2-40B4-BE49-F238E27FC236}">
                <a16:creationId xmlns:a16="http://schemas.microsoft.com/office/drawing/2014/main" id="{5F4FF304-E63B-840C-985C-18EF948C31A3}"/>
              </a:ext>
            </a:extLst>
          </p:cNvPr>
          <p:cNvSpPr/>
          <p:nvPr/>
        </p:nvSpPr>
        <p:spPr>
          <a:xfrm>
            <a:off x="7223981" y="1527268"/>
            <a:ext cx="1767619" cy="1091897"/>
          </a:xfrm>
          <a:prstGeom prst="wedgeRoundRectCallout">
            <a:avLst>
              <a:gd name="adj1" fmla="val -159390"/>
              <a:gd name="adj2" fmla="val -3491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Path cost with a cost of 1 per action makes the priority queue behave like a FIFO queue!</a:t>
            </a:r>
          </a:p>
        </p:txBody>
      </p:sp>
    </p:spTree>
    <p:extLst>
      <p:ext uri="{BB962C8B-B14F-4D97-AF65-F5344CB8AC3E}">
        <p14:creationId xmlns:p14="http://schemas.microsoft.com/office/powerpoint/2010/main" val="726737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EDE0D-C919-424A-9D58-734DBE89FA8C}"/>
              </a:ext>
            </a:extLst>
          </p:cNvPr>
          <p:cNvSpPr>
            <a:spLocks noGrp="1"/>
          </p:cNvSpPr>
          <p:nvPr>
            <p:ph type="title"/>
          </p:nvPr>
        </p:nvSpPr>
        <p:spPr>
          <a:xfrm>
            <a:off x="628650" y="365126"/>
            <a:ext cx="2343150" cy="1325563"/>
          </a:xfrm>
        </p:spPr>
        <p:txBody>
          <a:bodyPr/>
          <a:lstStyle/>
          <a:p>
            <a:r>
              <a:rPr lang="en-US" dirty="0"/>
              <a:t>Depth-First Search (DFS)</a:t>
            </a:r>
          </a:p>
        </p:txBody>
      </p:sp>
      <p:sp>
        <p:nvSpPr>
          <p:cNvPr id="3" name="Content Placeholder 2">
            <a:extLst>
              <a:ext uri="{FF2B5EF4-FFF2-40B4-BE49-F238E27FC236}">
                <a16:creationId xmlns:a16="http://schemas.microsoft.com/office/drawing/2014/main" id="{3A70A56C-8F9C-4D35-94FD-EAECDC56E6A8}"/>
              </a:ext>
            </a:extLst>
          </p:cNvPr>
          <p:cNvSpPr>
            <a:spLocks noGrp="1"/>
          </p:cNvSpPr>
          <p:nvPr>
            <p:ph idx="1"/>
          </p:nvPr>
        </p:nvSpPr>
        <p:spPr>
          <a:xfrm>
            <a:off x="628650" y="1825625"/>
            <a:ext cx="2114550" cy="4351338"/>
          </a:xfrm>
        </p:spPr>
        <p:txBody>
          <a:bodyPr>
            <a:normAutofit fontScale="85000" lnSpcReduction="10000"/>
          </a:bodyPr>
          <a:lstStyle/>
          <a:p>
            <a:r>
              <a:rPr lang="en-US" sz="2000" b="1" dirty="0"/>
              <a:t>Expansion rule</a:t>
            </a:r>
            <a:r>
              <a:rPr lang="en-US" sz="2000" dirty="0"/>
              <a:t>: Expand deepest unexpanded node in the frontier (last added).</a:t>
            </a:r>
          </a:p>
          <a:p>
            <a:r>
              <a:rPr lang="en-US" sz="2000" b="1" dirty="0"/>
              <a:t>Frontier</a:t>
            </a:r>
            <a:r>
              <a:rPr lang="en-US" sz="2000" dirty="0"/>
              <a:t>: </a:t>
            </a:r>
            <a:r>
              <a:rPr lang="en-US" sz="2000" b="1" dirty="0"/>
              <a:t>stack</a:t>
            </a:r>
            <a:r>
              <a:rPr lang="en-US" sz="2000" dirty="0"/>
              <a:t> (LIFO)</a:t>
            </a:r>
          </a:p>
          <a:p>
            <a:r>
              <a:rPr lang="en-US" sz="2000" b="1" dirty="0">
                <a:solidFill>
                  <a:srgbClr val="FF0000"/>
                </a:solidFill>
              </a:rPr>
              <a:t>No reached data structure! </a:t>
            </a:r>
            <a:br>
              <a:rPr lang="en-US" sz="2000" b="1" dirty="0">
                <a:solidFill>
                  <a:srgbClr val="FF0000"/>
                </a:solidFill>
              </a:rPr>
            </a:br>
            <a:endParaRPr lang="en-US" sz="2000" b="1" dirty="0">
              <a:solidFill>
                <a:srgbClr val="FF0000"/>
              </a:solidFill>
            </a:endParaRPr>
          </a:p>
          <a:p>
            <a:r>
              <a:rPr lang="en-US" sz="2000" b="1" dirty="0">
                <a:solidFill>
                  <a:srgbClr val="FF0000"/>
                </a:solidFill>
              </a:rPr>
              <a:t>Cycle checking </a:t>
            </a:r>
            <a:r>
              <a:rPr lang="en-US" sz="2000" dirty="0">
                <a:solidFill>
                  <a:srgbClr val="FF0000"/>
                </a:solidFill>
              </a:rPr>
              <a:t>checks only the current path. </a:t>
            </a:r>
            <a:br>
              <a:rPr lang="en-US" sz="2000" dirty="0">
                <a:solidFill>
                  <a:srgbClr val="FF0000"/>
                </a:solidFill>
              </a:rPr>
            </a:br>
            <a:endParaRPr lang="en-US" sz="2000" dirty="0">
              <a:solidFill>
                <a:srgbClr val="FF0000"/>
              </a:solidFill>
            </a:endParaRPr>
          </a:p>
          <a:p>
            <a:r>
              <a:rPr lang="en-US" sz="2000" b="1" dirty="0">
                <a:solidFill>
                  <a:srgbClr val="FF0000"/>
                </a:solidFill>
              </a:rPr>
              <a:t>Redundant paths </a:t>
            </a:r>
            <a:r>
              <a:rPr lang="en-US" sz="2000" dirty="0">
                <a:solidFill>
                  <a:srgbClr val="FF0000"/>
                </a:solidFill>
              </a:rPr>
              <a:t>can not be identified and lead to replicated work. </a:t>
            </a:r>
            <a:endParaRPr lang="en-US" sz="2400" dirty="0">
              <a:solidFill>
                <a:srgbClr val="FF0000"/>
              </a:solidFill>
            </a:endParaRPr>
          </a:p>
          <a:p>
            <a:endParaRPr lang="en-US" dirty="0"/>
          </a:p>
        </p:txBody>
      </p:sp>
      <p:pic>
        <p:nvPicPr>
          <p:cNvPr id="4" name="Picture 3">
            <a:extLst>
              <a:ext uri="{FF2B5EF4-FFF2-40B4-BE49-F238E27FC236}">
                <a16:creationId xmlns:a16="http://schemas.microsoft.com/office/drawing/2014/main" id="{4F3E8888-6463-47FB-AB16-25AF11291810}"/>
              </a:ext>
            </a:extLst>
          </p:cNvPr>
          <p:cNvPicPr>
            <a:picLocks noChangeAspect="1"/>
          </p:cNvPicPr>
          <p:nvPr/>
        </p:nvPicPr>
        <p:blipFill>
          <a:blip r:embed="rId2"/>
          <a:stretch>
            <a:fillRect/>
          </a:stretch>
        </p:blipFill>
        <p:spPr>
          <a:xfrm>
            <a:off x="2819400" y="457200"/>
            <a:ext cx="6165376" cy="5943600"/>
          </a:xfrm>
          <a:prstGeom prst="rect">
            <a:avLst/>
          </a:prstGeom>
        </p:spPr>
      </p:pic>
      <p:sp>
        <p:nvSpPr>
          <p:cNvPr id="6" name="Speech Bubble: Rectangle with Corners Rounded 5">
            <a:extLst>
              <a:ext uri="{FF2B5EF4-FFF2-40B4-BE49-F238E27FC236}">
                <a16:creationId xmlns:a16="http://schemas.microsoft.com/office/drawing/2014/main" id="{9826D1D5-85A6-CAA5-60FC-9BA4256C1D28}"/>
              </a:ext>
            </a:extLst>
          </p:cNvPr>
          <p:cNvSpPr/>
          <p:nvPr/>
        </p:nvSpPr>
        <p:spPr>
          <a:xfrm>
            <a:off x="6248400" y="5486400"/>
            <a:ext cx="1600200" cy="757237"/>
          </a:xfrm>
          <a:prstGeom prst="wedgeRoundRectCallout">
            <a:avLst>
              <a:gd name="adj1" fmla="val 22434"/>
              <a:gd name="adj2" fmla="val -85381"/>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100" dirty="0"/>
              <a:t>Memory management: only the current path is in memory!</a:t>
            </a:r>
          </a:p>
        </p:txBody>
      </p:sp>
    </p:spTree>
    <p:extLst>
      <p:ext uri="{BB962C8B-B14F-4D97-AF65-F5344CB8AC3E}">
        <p14:creationId xmlns:p14="http://schemas.microsoft.com/office/powerpoint/2010/main" val="65194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628650" y="304800"/>
            <a:ext cx="1809750" cy="2225674"/>
          </a:xfrm>
        </p:spPr>
        <p:txBody>
          <a:bodyPr>
            <a:noAutofit/>
          </a:bodyPr>
          <a:lstStyle/>
          <a:p>
            <a:r>
              <a:rPr lang="en-US" sz="2800" dirty="0"/>
              <a:t>Iterative Deepening Search (IDS)</a:t>
            </a:r>
          </a:p>
        </p:txBody>
      </p:sp>
      <p:pic>
        <p:nvPicPr>
          <p:cNvPr id="2" name="Picture 1">
            <a:extLst>
              <a:ext uri="{FF2B5EF4-FFF2-40B4-BE49-F238E27FC236}">
                <a16:creationId xmlns:a16="http://schemas.microsoft.com/office/drawing/2014/main" id="{9A793F5F-7E17-4BCF-BDFC-AD093FF0BEC5}"/>
              </a:ext>
            </a:extLst>
          </p:cNvPr>
          <p:cNvPicPr>
            <a:picLocks noChangeAspect="1"/>
          </p:cNvPicPr>
          <p:nvPr/>
        </p:nvPicPr>
        <p:blipFill>
          <a:blip r:embed="rId3"/>
          <a:stretch>
            <a:fillRect/>
          </a:stretch>
        </p:blipFill>
        <p:spPr>
          <a:xfrm>
            <a:off x="2329211" y="411512"/>
            <a:ext cx="6838950" cy="6294088"/>
          </a:xfrm>
          <a:prstGeom prst="rect">
            <a:avLst/>
          </a:prstGeom>
        </p:spPr>
      </p:pic>
      <p:sp>
        <p:nvSpPr>
          <p:cNvPr id="3" name="TextBox 2">
            <a:extLst>
              <a:ext uri="{FF2B5EF4-FFF2-40B4-BE49-F238E27FC236}">
                <a16:creationId xmlns:a16="http://schemas.microsoft.com/office/drawing/2014/main" id="{6A0CD7BA-46F0-29B4-BA7F-02A623FDDB33}"/>
              </a:ext>
            </a:extLst>
          </p:cNvPr>
          <p:cNvSpPr txBox="1"/>
          <p:nvPr/>
        </p:nvSpPr>
        <p:spPr>
          <a:xfrm rot="19472353">
            <a:off x="196847" y="3645605"/>
            <a:ext cx="39624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This is a very important algorithm in AI!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6AD6C-AEE9-4E04-B1F4-A923B66B8685}"/>
              </a:ext>
            </a:extLst>
          </p:cNvPr>
          <p:cNvSpPr>
            <a:spLocks noGrp="1"/>
          </p:cNvSpPr>
          <p:nvPr>
            <p:ph type="title"/>
          </p:nvPr>
        </p:nvSpPr>
        <p:spPr>
          <a:xfrm>
            <a:off x="628650" y="365126"/>
            <a:ext cx="8020050" cy="1325563"/>
          </a:xfrm>
        </p:spPr>
        <p:txBody>
          <a:bodyPr/>
          <a:lstStyle/>
          <a:p>
            <a:r>
              <a:rPr lang="en-US" dirty="0"/>
              <a:t>Implementation: DFS (called iteratively by IDS)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01765E-906E-4BF3-A57E-5E064501538F}"/>
                  </a:ext>
                </a:extLst>
              </p:cNvPr>
              <p:cNvSpPr>
                <a:spLocks noGrp="1"/>
              </p:cNvSpPr>
              <p:nvPr>
                <p:ph idx="1"/>
              </p:nvPr>
            </p:nvSpPr>
            <p:spPr>
              <a:xfrm>
                <a:off x="628650" y="1453732"/>
                <a:ext cx="7886700" cy="1822501"/>
              </a:xfrm>
            </p:spPr>
            <p:txBody>
              <a:bodyPr>
                <a:normAutofit fontScale="77500" lnSpcReduction="20000"/>
              </a:bodyPr>
              <a:lstStyle/>
              <a:p>
                <a:r>
                  <a:rPr lang="en-US" dirty="0"/>
                  <a:t>DFS could be implemented like BFS/Best-first search, just taking the last element from the frontier (LIFO). However, to reduce the space complexity to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r>
                      <a:rPr lang="en-US" i="1" dirty="0" smtClean="0">
                        <a:latin typeface="Cambria Math" panose="02040503050406030204" pitchFamily="18" charset="0"/>
                      </a:rPr>
                      <m:t>𝑏𝑚</m:t>
                    </m:r>
                    <m:r>
                      <a:rPr lang="en-US" i="1" dirty="0" smtClean="0">
                        <a:latin typeface="Cambria Math" panose="02040503050406030204" pitchFamily="18" charset="0"/>
                      </a:rPr>
                      <m:t>)</m:t>
                    </m:r>
                  </m:oMath>
                </a14:m>
                <a:r>
                  <a:rPr lang="en-US" i="1" dirty="0"/>
                  <a:t>, </a:t>
                </a:r>
                <a:r>
                  <a:rPr lang="en-US" b="1" dirty="0">
                    <a:solidFill>
                      <a:srgbClr val="FF0000"/>
                    </a:solidFill>
                  </a:rPr>
                  <a:t>no reached data structure can be used!</a:t>
                </a:r>
                <a:r>
                  <a:rPr lang="en-US" dirty="0"/>
                  <a:t> </a:t>
                </a:r>
              </a:p>
              <a:p>
                <a:r>
                  <a:rPr lang="en-US" dirty="0"/>
                  <a:t>Options: </a:t>
                </a:r>
              </a:p>
              <a:p>
                <a:pPr lvl="1"/>
                <a:r>
                  <a:rPr lang="en-US" b="1" dirty="0"/>
                  <a:t>Iterative implementation</a:t>
                </a:r>
                <a:r>
                  <a:rPr lang="en-US" dirty="0"/>
                  <a:t>: Build the tree, and abandoned branches are removed from memory. Cycle checking is only done against the current path. This is similar to Backtracking search.</a:t>
                </a:r>
              </a:p>
              <a:p>
                <a:pPr lvl="1"/>
                <a:r>
                  <a:rPr lang="en-US" dirty="0"/>
                  <a:t>Recursive implementation: Cycle checking is an issue because the current path is stored in the function call stack, which is not accessible to the function. An additional data structure that contains the nodes in the current path can be used.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3301765E-906E-4BF3-A57E-5E064501538F}"/>
                  </a:ext>
                </a:extLst>
              </p:cNvPr>
              <p:cNvSpPr>
                <a:spLocks noGrp="1" noRot="1" noChangeAspect="1" noMove="1" noResize="1" noEditPoints="1" noAdjustHandles="1" noChangeArrowheads="1" noChangeShapeType="1" noTextEdit="1"/>
              </p:cNvSpPr>
              <p:nvPr>
                <p:ph idx="1"/>
              </p:nvPr>
            </p:nvSpPr>
            <p:spPr>
              <a:xfrm>
                <a:off x="628650" y="1453732"/>
                <a:ext cx="7886700" cy="1822501"/>
              </a:xfrm>
              <a:blipFill>
                <a:blip r:embed="rId2"/>
                <a:stretch>
                  <a:fillRect l="-309" t="-4348"/>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E61C5808-93A6-4647-A076-DB3072D09DEF}"/>
              </a:ext>
            </a:extLst>
          </p:cNvPr>
          <p:cNvPicPr>
            <a:picLocks noChangeAspect="1"/>
          </p:cNvPicPr>
          <p:nvPr/>
        </p:nvPicPr>
        <p:blipFill>
          <a:blip r:embed="rId3"/>
          <a:stretch>
            <a:fillRect/>
          </a:stretch>
        </p:blipFill>
        <p:spPr>
          <a:xfrm>
            <a:off x="678831" y="3352800"/>
            <a:ext cx="7524750" cy="3090812"/>
          </a:xfrm>
          <a:prstGeom prst="rect">
            <a:avLst/>
          </a:prstGeom>
        </p:spPr>
        <p:style>
          <a:lnRef idx="2">
            <a:schemeClr val="accent2"/>
          </a:lnRef>
          <a:fillRef idx="1">
            <a:schemeClr val="lt1"/>
          </a:fillRef>
          <a:effectRef idx="0">
            <a:schemeClr val="accent2"/>
          </a:effectRef>
          <a:fontRef idx="minor">
            <a:schemeClr val="dk1"/>
          </a:fontRef>
        </p:style>
      </p:pic>
      <p:sp>
        <p:nvSpPr>
          <p:cNvPr id="9" name="Speech Bubble: Rectangle with Corners Rounded 8">
            <a:extLst>
              <a:ext uri="{FF2B5EF4-FFF2-40B4-BE49-F238E27FC236}">
                <a16:creationId xmlns:a16="http://schemas.microsoft.com/office/drawing/2014/main" id="{0509AEDD-D45E-4C06-BAE9-2996AF55A9CA}"/>
              </a:ext>
            </a:extLst>
          </p:cNvPr>
          <p:cNvSpPr/>
          <p:nvPr/>
        </p:nvSpPr>
        <p:spPr>
          <a:xfrm>
            <a:off x="5867400" y="4673133"/>
            <a:ext cx="3200400" cy="1693913"/>
          </a:xfrm>
          <a:prstGeom prst="wedgeRoundRectCallout">
            <a:avLst>
              <a:gd name="adj1" fmla="val -128276"/>
              <a:gd name="adj2" fmla="val -833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t>Cycles</a:t>
            </a:r>
            <a:r>
              <a:rPr lang="en-US" sz="1400" dirty="0"/>
              <a:t>: Prevent cycles by checking against the current path. We also need to ensure that the frontier does not contain the same state more than once.</a:t>
            </a:r>
          </a:p>
          <a:p>
            <a:endParaRPr lang="en-US" sz="1400" dirty="0"/>
          </a:p>
          <a:p>
            <a:r>
              <a:rPr lang="en-US" sz="1400" b="1" dirty="0"/>
              <a:t>Redundant paths</a:t>
            </a:r>
            <a:r>
              <a:rPr lang="en-US" sz="1400" dirty="0"/>
              <a:t>: We cannot prevent other redundant paths.</a:t>
            </a:r>
          </a:p>
        </p:txBody>
      </p:sp>
      <p:sp>
        <p:nvSpPr>
          <p:cNvPr id="20" name="TextBox 19">
            <a:extLst>
              <a:ext uri="{FF2B5EF4-FFF2-40B4-BE49-F238E27FC236}">
                <a16:creationId xmlns:a16="http://schemas.microsoft.com/office/drawing/2014/main" id="{3FC2994C-6D52-4ABE-B3F7-03E4BECDA0BD}"/>
              </a:ext>
            </a:extLst>
          </p:cNvPr>
          <p:cNvSpPr txBox="1"/>
          <p:nvPr/>
        </p:nvSpPr>
        <p:spPr>
          <a:xfrm>
            <a:off x="628650" y="6367046"/>
            <a:ext cx="4572000" cy="338554"/>
          </a:xfrm>
          <a:prstGeom prst="rect">
            <a:avLst/>
          </a:prstGeom>
          <a:noFill/>
        </p:spPr>
        <p:txBody>
          <a:bodyPr wrap="square">
            <a:spAutoFit/>
          </a:bodyPr>
          <a:lstStyle/>
          <a:p>
            <a:r>
              <a:rPr lang="en-US" sz="1600" dirty="0"/>
              <a:t>See BFS for function EXPAND.</a:t>
            </a:r>
          </a:p>
        </p:txBody>
      </p:sp>
      <mc:AlternateContent xmlns:mc="http://schemas.openxmlformats.org/markup-compatibility/2006" xmlns:a14="http://schemas.microsoft.com/office/drawing/2010/main">
        <mc:Choice Requires="a14">
          <p:sp>
            <p:nvSpPr>
              <p:cNvPr id="21" name="Speech Bubble: Rectangle with Corners Rounded 20">
                <a:extLst>
                  <a:ext uri="{FF2B5EF4-FFF2-40B4-BE49-F238E27FC236}">
                    <a16:creationId xmlns:a16="http://schemas.microsoft.com/office/drawing/2014/main" id="{B6482B3F-9441-443F-8FD6-D9E33B5552AA}"/>
                  </a:ext>
                </a:extLst>
              </p:cNvPr>
              <p:cNvSpPr/>
              <p:nvPr/>
            </p:nvSpPr>
            <p:spPr>
              <a:xfrm>
                <a:off x="5638800" y="3081388"/>
                <a:ext cx="1742842" cy="271412"/>
              </a:xfrm>
              <a:prstGeom prst="wedgeRoundRectCallout">
                <a:avLst>
                  <a:gd name="adj1" fmla="val -95083"/>
                  <a:gd name="adj2" fmla="val 839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DFS uses </a:t>
                </a:r>
                <a:r>
                  <a:rPr lang="en-US" sz="1600" dirty="0">
                    <a:latin typeface="Cambria Math" panose="02040503050406030204" pitchFamily="18" charset="0"/>
                    <a:ea typeface="Cambria Math" panose="02040503050406030204" pitchFamily="18" charset="0"/>
                  </a:rPr>
                  <a:t>ℓ </a:t>
                </a:r>
                <a14:m>
                  <m:oMath xmlns:m="http://schemas.openxmlformats.org/officeDocument/2006/math">
                    <m:r>
                      <a:rPr lang="en-US" sz="1600" b="0" i="1" smtClean="0">
                        <a:latin typeface="Cambria Math" panose="02040503050406030204" pitchFamily="18" charset="0"/>
                      </a:rPr>
                      <m:t>=∞</m:t>
                    </m:r>
                  </m:oMath>
                </a14:m>
                <a:endParaRPr lang="en-US" sz="1600" dirty="0"/>
              </a:p>
            </p:txBody>
          </p:sp>
        </mc:Choice>
        <mc:Fallback xmlns="">
          <p:sp>
            <p:nvSpPr>
              <p:cNvPr id="21" name="Speech Bubble: Rectangle with Corners Rounded 20">
                <a:extLst>
                  <a:ext uri="{FF2B5EF4-FFF2-40B4-BE49-F238E27FC236}">
                    <a16:creationId xmlns:a16="http://schemas.microsoft.com/office/drawing/2014/main" id="{B6482B3F-9441-443F-8FD6-D9E33B5552AA}"/>
                  </a:ext>
                </a:extLst>
              </p:cNvPr>
              <p:cNvSpPr>
                <a:spLocks noRot="1" noChangeAspect="1" noMove="1" noResize="1" noEditPoints="1" noAdjustHandles="1" noChangeArrowheads="1" noChangeShapeType="1" noTextEdit="1"/>
              </p:cNvSpPr>
              <p:nvPr/>
            </p:nvSpPr>
            <p:spPr>
              <a:xfrm>
                <a:off x="5638800" y="3081388"/>
                <a:ext cx="1742842" cy="271412"/>
              </a:xfrm>
              <a:prstGeom prst="wedgeRoundRectCallout">
                <a:avLst>
                  <a:gd name="adj1" fmla="val -95083"/>
                  <a:gd name="adj2" fmla="val 83958"/>
                  <a:gd name="adj3" fmla="val 16667"/>
                </a:avLst>
              </a:prstGeom>
              <a:blipFill>
                <a:blip r:embed="rId4"/>
                <a:stretch>
                  <a:fillRect t="-14063"/>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F8F1B3D2-0835-BF3E-7767-B737E560C40E}"/>
              </a:ext>
            </a:extLst>
          </p:cNvPr>
          <p:cNvSpPr/>
          <p:nvPr/>
        </p:nvSpPr>
        <p:spPr>
          <a:xfrm>
            <a:off x="2152650" y="5334000"/>
            <a:ext cx="895350" cy="30480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8C33DF3-50DC-30B2-5B44-8E50DDA828C3}"/>
              </a:ext>
            </a:extLst>
          </p:cNvPr>
          <p:cNvSpPr/>
          <p:nvPr/>
        </p:nvSpPr>
        <p:spPr>
          <a:xfrm>
            <a:off x="2152650" y="3671889"/>
            <a:ext cx="1657350" cy="257124"/>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Speech Bubble: Rectangle with Corners Rounded 5">
            <a:extLst>
              <a:ext uri="{FF2B5EF4-FFF2-40B4-BE49-F238E27FC236}">
                <a16:creationId xmlns:a16="http://schemas.microsoft.com/office/drawing/2014/main" id="{EC9D3023-FE19-6A56-0EEC-558872B9A97C}"/>
              </a:ext>
            </a:extLst>
          </p:cNvPr>
          <p:cNvSpPr/>
          <p:nvPr/>
        </p:nvSpPr>
        <p:spPr>
          <a:xfrm>
            <a:off x="5851070" y="3959878"/>
            <a:ext cx="3200399" cy="584667"/>
          </a:xfrm>
          <a:prstGeom prst="wedgeRoundRectCallout">
            <a:avLst>
              <a:gd name="adj1" fmla="val -141829"/>
              <a:gd name="adj2" fmla="val 3076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Memory management: remove nodes for abandoned branches here!</a:t>
            </a:r>
          </a:p>
        </p:txBody>
      </p:sp>
      <p:sp>
        <p:nvSpPr>
          <p:cNvPr id="8" name="TextBox 7">
            <a:extLst>
              <a:ext uri="{FF2B5EF4-FFF2-40B4-BE49-F238E27FC236}">
                <a16:creationId xmlns:a16="http://schemas.microsoft.com/office/drawing/2014/main" id="{C81E2620-59AD-CB4A-51C7-42C548871CBF}"/>
              </a:ext>
            </a:extLst>
          </p:cNvPr>
          <p:cNvSpPr txBox="1"/>
          <p:nvPr/>
        </p:nvSpPr>
        <p:spPr>
          <a:xfrm>
            <a:off x="495300" y="149346"/>
            <a:ext cx="769620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DFS is implemented very differently to BFS!</a:t>
            </a:r>
          </a:p>
        </p:txBody>
      </p:sp>
    </p:spTree>
    <p:extLst>
      <p:ext uri="{BB962C8B-B14F-4D97-AF65-F5344CB8AC3E}">
        <p14:creationId xmlns:p14="http://schemas.microsoft.com/office/powerpoint/2010/main" val="15194027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736879" y="358746"/>
            <a:ext cx="8229600" cy="868362"/>
          </a:xfrm>
        </p:spPr>
        <p:txBody>
          <a:bodyPr>
            <a:normAutofit fontScale="90000"/>
          </a:bodyPr>
          <a:lstStyle/>
          <a:p>
            <a:r>
              <a:rPr lang="en-US" dirty="0">
                <a:latin typeface="+mn-lt"/>
              </a:rPr>
              <a:t>Summary: </a:t>
            </a:r>
            <a:br>
              <a:rPr lang="en-US" dirty="0">
                <a:latin typeface="+mn-lt"/>
              </a:rPr>
            </a:br>
            <a:r>
              <a:rPr lang="en-US" dirty="0">
                <a:latin typeface="+mn-lt"/>
              </a:rPr>
              <a:t>All Search Strategies</a:t>
            </a: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592125">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27583">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14:m>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b="0" i="1" dirty="0" smtClean="0">
                                      <a:latin typeface="Cambria Math" panose="02040503050406030204" pitchFamily="18" charset="0"/>
                                      <a:cs typeface="Arial" pitchFamily="34"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2"/>
                      </a:ext>
                    </a:extLst>
                  </a:tr>
                  <a:tr h="698004">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𝑏𝑚</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smtClean="0">
                                    <a:latin typeface="Cambria Math" panose="02040503050406030204" pitchFamily="18" charset="0"/>
                                  </a:rPr>
                                  <m:t>𝑏𝑑</m:t>
                                </m:r>
                                <m:r>
                                  <a:rPr lang="en-US" sz="1600" i="1" dirty="0" smtClean="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85744">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pPr algn="ctr"/>
                          <a:r>
                            <a:rPr lang="en-US" sz="1600" dirty="0"/>
                            <a:t>Depends on heuristic</a:t>
                          </a:r>
                          <a:br>
                            <a:rPr lang="en-US" sz="1600" dirty="0"/>
                          </a:br>
                          <a14:m>
                            <m:oMathPara xmlns:m="http://schemas.openxmlformats.org/officeDocument/2006/math">
                              <m:oMathParaPr>
                                <m:jc m:val="center"/>
                              </m:oMathParaPr>
                              <m:oMath xmlns:m="http://schemas.openxmlformats.org/officeDocument/2006/math">
                                <m:r>
                                  <m:rPr>
                                    <m:nor/>
                                  </m:rPr>
                                  <a:rPr lang="en-US" sz="1600" dirty="0" smtClean="0"/>
                                  <m:t>Best</m:t>
                                </m:r>
                                <m:r>
                                  <m:rPr>
                                    <m:nor/>
                                  </m:rPr>
                                  <a:rPr lang="en-US" sz="1600" dirty="0" smtClean="0"/>
                                  <m:t> </m:t>
                                </m:r>
                                <m:r>
                                  <m:rPr>
                                    <m:nor/>
                                  </m:rPr>
                                  <a:rPr lang="en-US" sz="1600" dirty="0" smtClean="0"/>
                                  <m:t>case</m:t>
                                </m:r>
                                <m:r>
                                  <m:rPr>
                                    <m:nor/>
                                  </m:rPr>
                                  <a:rPr lang="en-US" sz="1600" dirty="0" smtClean="0"/>
                                  <m:t>: </m:t>
                                </m:r>
                                <m:r>
                                  <a:rPr lang="en-US" sz="1600" i="1" dirty="0">
                                    <a:latin typeface="Cambria Math" panose="02040503050406030204" pitchFamily="18" charset="0"/>
                                  </a:rPr>
                                  <m:t>𝑂</m:t>
                                </m:r>
                                <m:r>
                                  <a:rPr lang="en-US" sz="1600" i="1" dirty="0">
                                    <a:latin typeface="Cambria Math" panose="02040503050406030204" pitchFamily="18" charset="0"/>
                                  </a:rPr>
                                  <m:t>(</m:t>
                                </m:r>
                                <m:r>
                                  <a:rPr lang="en-US" sz="1600" i="1" dirty="0" err="1">
                                    <a:latin typeface="Cambria Math" panose="02040503050406030204" pitchFamily="18" charset="0"/>
                                  </a:rPr>
                                  <m:t>𝑏𝑑</m:t>
                                </m:r>
                                <m:r>
                                  <a:rPr lang="en-US" sz="1600" i="1" dirty="0">
                                    <a:latin typeface="Cambria Math" panose="02040503050406030204" pitchFamily="18" charset="0"/>
                                  </a:rPr>
                                  <m:t>)</m:t>
                                </m:r>
                              </m:oMath>
                            </m:oMathPara>
                          </a14:m>
                          <a:endParaRPr lang="en-US" sz="1600" dirty="0"/>
                        </a:p>
                        <a:p>
                          <a:pPr algn="ctr"/>
                          <a:r>
                            <a:rPr lang="en-US" sz="1600" dirty="0">
                              <a:latin typeface="+mn-lt"/>
                            </a:rPr>
                            <a:t>Worst case: </a:t>
                          </a:r>
                          <a14:m>
                            <m:oMath xmlns:m="http://schemas.openxmlformats.org/officeDocument/2006/math">
                              <m:r>
                                <a:rPr lang="en-US" sz="1600" i="1" dirty="0" smtClean="0">
                                  <a:latin typeface="Cambria Math" panose="02040503050406030204" pitchFamily="18" charset="0"/>
                                </a:rPr>
                                <m:t>𝑂</m:t>
                              </m:r>
                              <m:d>
                                <m:dPr>
                                  <m:ctrlPr>
                                    <a:rPr lang="en-US" sz="1600" i="1" dirty="0" smtClean="0">
                                      <a:latin typeface="Cambria Math" panose="02040503050406030204" pitchFamily="18" charset="0"/>
                                    </a:rPr>
                                  </m:ctrlPr>
                                </m:dPr>
                                <m:e>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e>
                              </m:d>
                            </m:oMath>
                          </a14:m>
                          <a:endParaRPr lang="en-US" sz="1600" dirty="0"/>
                        </a:p>
                      </a:txBody>
                      <a:tcPr anchor="ctr">
                        <a:lnT w="38100" cap="flat" cmpd="sng" algn="ctr">
                          <a:solidFill>
                            <a:schemeClr val="tx1"/>
                          </a:solidFill>
                          <a:prstDash val="solid"/>
                          <a:round/>
                          <a:headEnd type="none" w="med" len="med"/>
                          <a:tailEnd type="none" w="med" len="med"/>
                        </a:lnT>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br>
                            <a:rPr lang="en-US" sz="1600" dirty="0">
                              <a:latin typeface="+mn-lt"/>
                            </a:rPr>
                          </a:b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r>
                                  <a:rPr lang="en-US" sz="1600" i="1" dirty="0" smtClean="0">
                                    <a:latin typeface="Cambria Math" panose="02040503050406030204" pitchFamily="18" charset="0"/>
                                  </a:rPr>
                                  <m:t>h</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b="0" i="1" dirty="0" smtClean="0">
                                        <a:latin typeface="Cambria Math" panose="02040503050406030204" pitchFamily="18" charset="0"/>
                                        <a:cs typeface="Arial" pitchFamily="34"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m:oMathPara>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4164794686"/>
                  </p:ext>
                </p:extLst>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640080">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40080">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endParaRPr lang="en-US"/>
                        </a:p>
                      </a:txBody>
                      <a:tcPr anchor="ctr">
                        <a:blipFill>
                          <a:blip r:embed="rId3"/>
                          <a:stretch>
                            <a:fillRect l="-300769" t="-104762" r="-101923" b="-581905"/>
                          </a:stretch>
                        </a:blipFill>
                      </a:tcPr>
                    </a:tc>
                    <a:tc>
                      <a:txBody>
                        <a:bodyPr/>
                        <a:lstStyle/>
                        <a:p>
                          <a:endParaRPr lang="en-US"/>
                        </a:p>
                      </a:txBody>
                      <a:tcPr anchor="ctr">
                        <a:blipFill>
                          <a:blip r:embed="rId3"/>
                          <a:stretch>
                            <a:fillRect l="-400769" t="-104762" r="-1923" b="-581905"/>
                          </a:stretch>
                        </a:blipFill>
                      </a:tcP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193694" r="-962" b="-450450"/>
                          </a:stretch>
                        </a:blipFill>
                      </a:tcPr>
                    </a:tc>
                    <a:tc hMerge="1">
                      <a:txBody>
                        <a:bodyPr/>
                        <a:lstStyle/>
                        <a:p>
                          <a:endParaRPr lang="en-US" dirty="0"/>
                        </a:p>
                      </a:txBody>
                      <a:tcPr anchor="ctr"/>
                    </a:tc>
                    <a:extLst>
                      <a:ext uri="{0D108BD9-81ED-4DB2-BD59-A6C34878D82A}">
                        <a16:rowId xmlns:a16="http://schemas.microsoft.com/office/drawing/2014/main" val="10002"/>
                      </a:ext>
                    </a:extLst>
                  </a:tr>
                  <a:tr h="822960">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endParaRPr lang="en-US"/>
                        </a:p>
                      </a:txBody>
                      <a:tcPr anchor="ctr">
                        <a:blipFill>
                          <a:blip r:embed="rId3"/>
                          <a:stretch>
                            <a:fillRect l="-300769" t="-241481" r="-101923" b="-270370"/>
                          </a:stretch>
                        </a:blipFill>
                      </a:tcPr>
                    </a:tc>
                    <a:tc>
                      <a:txBody>
                        <a:bodyPr/>
                        <a:lstStyle/>
                        <a:p>
                          <a:endParaRPr lang="en-US"/>
                        </a:p>
                      </a:txBody>
                      <a:tcPr anchor="ctr">
                        <a:blipFill>
                          <a:blip r:embed="rId3"/>
                          <a:stretch>
                            <a:fillRect l="-400769" t="-241481" r="-1923" b="-270370"/>
                          </a:stretch>
                        </a:blipFill>
                      </a:tcP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300769" t="-411607" r="-101923" b="-225893"/>
                          </a:stretch>
                        </a:blipFill>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400769" t="-411607" r="-1923" b="-225893"/>
                          </a:stretch>
                        </a:blipFill>
                      </a:tcPr>
                    </a:tc>
                    <a:extLst>
                      <a:ext uri="{0D108BD9-81ED-4DB2-BD59-A6C34878D82A}">
                        <a16:rowId xmlns:a16="http://schemas.microsoft.com/office/drawing/2014/main" val="10004"/>
                      </a:ext>
                    </a:extLst>
                  </a:tr>
                  <a:tr h="822960">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endParaRPr lang="en-US"/>
                        </a:p>
                      </a:txBody>
                      <a:tcPr anchor="ctr">
                        <a:lnT w="38100" cap="flat" cmpd="sng" algn="ctr">
                          <a:solidFill>
                            <a:schemeClr val="tx1"/>
                          </a:solidFill>
                          <a:prstDash val="solid"/>
                          <a:round/>
                          <a:headEnd type="none" w="med" len="med"/>
                          <a:tailEnd type="none" w="med" len="med"/>
                        </a:lnT>
                        <a:blipFill>
                          <a:blip r:embed="rId3"/>
                          <a:stretch>
                            <a:fillRect l="-150385" t="-424444" r="-962" b="-87407"/>
                          </a:stretch>
                        </a:blipFill>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626549" r="-962" b="-4425"/>
                          </a:stretch>
                        </a:blipFill>
                      </a:tcP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Fallback>
      </mc:AlternateContent>
      <p:sp>
        <p:nvSpPr>
          <p:cNvPr id="3" name="Rectangle 2">
            <a:extLst>
              <a:ext uri="{FF2B5EF4-FFF2-40B4-BE49-F238E27FC236}">
                <a16:creationId xmlns:a16="http://schemas.microsoft.com/office/drawing/2014/main" id="{B8F6266B-B6E3-46D0-8870-F1AFB7596898}"/>
              </a:ext>
            </a:extLst>
          </p:cNvPr>
          <p:cNvSpPr/>
          <p:nvPr/>
        </p:nvSpPr>
        <p:spPr>
          <a:xfrm>
            <a:off x="4343400" y="254318"/>
            <a:ext cx="4442647" cy="1077218"/>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r>
              <a:rPr lang="en-US" sz="1600" dirty="0">
                <a:latin typeface="+mn-lt"/>
              </a:rPr>
              <a:t>b:    maximum branching factor of the search tree</a:t>
            </a:r>
          </a:p>
          <a:p>
            <a:r>
              <a:rPr lang="en-US" sz="1600" dirty="0">
                <a:latin typeface="+mn-lt"/>
              </a:rPr>
              <a:t>d:    depth of the optimal solution</a:t>
            </a:r>
          </a:p>
          <a:p>
            <a:r>
              <a:rPr lang="en-US" sz="1600" dirty="0">
                <a:latin typeface="+mn-lt"/>
              </a:rPr>
              <a:t>m:   maximum length of any path in the state space</a:t>
            </a:r>
          </a:p>
          <a:p>
            <a:r>
              <a:rPr lang="en-US" sz="1600" dirty="0">
                <a:latin typeface="+mn-lt"/>
              </a:rPr>
              <a:t>C*:  cost of optimal solution</a:t>
            </a:r>
          </a:p>
        </p:txBody>
      </p:sp>
      <p:sp>
        <p:nvSpPr>
          <p:cNvPr id="4" name="Rectangle 3">
            <a:extLst>
              <a:ext uri="{FF2B5EF4-FFF2-40B4-BE49-F238E27FC236}">
                <a16:creationId xmlns:a16="http://schemas.microsoft.com/office/drawing/2014/main" id="{CDF61E80-4B55-8979-0EEC-874E5C0C9D98}"/>
              </a:ext>
            </a:extLst>
          </p:cNvPr>
          <p:cNvSpPr/>
          <p:nvPr/>
        </p:nvSpPr>
        <p:spPr>
          <a:xfrm>
            <a:off x="7162800" y="3657600"/>
            <a:ext cx="1371600" cy="12954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F0DA85-90AE-4AAC-7555-21DC3B1F4A14}"/>
              </a:ext>
            </a:extLst>
          </p:cNvPr>
          <p:cNvSpPr/>
          <p:nvPr/>
        </p:nvSpPr>
        <p:spPr>
          <a:xfrm>
            <a:off x="4165879" y="5867400"/>
            <a:ext cx="4368521" cy="7362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With a good heuristic</a:t>
            </a:r>
          </a:p>
        </p:txBody>
      </p:sp>
      <p:sp>
        <p:nvSpPr>
          <p:cNvPr id="2" name="TextBox 1">
            <a:extLst>
              <a:ext uri="{FF2B5EF4-FFF2-40B4-BE49-F238E27FC236}">
                <a16:creationId xmlns:a16="http://schemas.microsoft.com/office/drawing/2014/main" id="{30FCA22C-6475-6D3F-FD6D-06300F05764A}"/>
              </a:ext>
            </a:extLst>
          </p:cNvPr>
          <p:cNvSpPr txBox="1"/>
          <p:nvPr/>
        </p:nvSpPr>
        <p:spPr>
          <a:xfrm rot="16200000">
            <a:off x="-531769" y="3369223"/>
            <a:ext cx="2028184" cy="369332"/>
          </a:xfrm>
          <a:prstGeom prst="rect">
            <a:avLst/>
          </a:prstGeom>
          <a:noFill/>
        </p:spPr>
        <p:txBody>
          <a:bodyPr wrap="none" rtlCol="0">
            <a:spAutoFit/>
          </a:bodyPr>
          <a:lstStyle/>
          <a:p>
            <a:r>
              <a:rPr lang="en-US" b="1" dirty="0"/>
              <a:t>Uninformed Search</a:t>
            </a:r>
          </a:p>
        </p:txBody>
      </p:sp>
      <p:sp>
        <p:nvSpPr>
          <p:cNvPr id="5" name="TextBox 4">
            <a:extLst>
              <a:ext uri="{FF2B5EF4-FFF2-40B4-BE49-F238E27FC236}">
                <a16:creationId xmlns:a16="http://schemas.microsoft.com/office/drawing/2014/main" id="{02C75F14-5241-EB60-0704-66951872A773}"/>
              </a:ext>
            </a:extLst>
          </p:cNvPr>
          <p:cNvSpPr txBox="1"/>
          <p:nvPr/>
        </p:nvSpPr>
        <p:spPr>
          <a:xfrm rot="16200000">
            <a:off x="-397118" y="5558787"/>
            <a:ext cx="1758879" cy="369332"/>
          </a:xfrm>
          <a:prstGeom prst="rect">
            <a:avLst/>
          </a:prstGeom>
          <a:noFill/>
        </p:spPr>
        <p:txBody>
          <a:bodyPr wrap="none" rtlCol="0">
            <a:spAutoFit/>
          </a:bodyPr>
          <a:lstStyle/>
          <a:p>
            <a:r>
              <a:rPr lang="en-US" b="1" dirty="0"/>
              <a:t>Informed Search</a:t>
            </a:r>
          </a:p>
        </p:txBody>
      </p:sp>
      <p:sp>
        <p:nvSpPr>
          <p:cNvPr id="8" name="Rectangle 7">
            <a:extLst>
              <a:ext uri="{FF2B5EF4-FFF2-40B4-BE49-F238E27FC236}">
                <a16:creationId xmlns:a16="http://schemas.microsoft.com/office/drawing/2014/main" id="{6F8D541E-22AC-DC9F-4D8B-2166330491CC}"/>
              </a:ext>
            </a:extLst>
          </p:cNvPr>
          <p:cNvSpPr/>
          <p:nvPr/>
        </p:nvSpPr>
        <p:spPr>
          <a:xfrm>
            <a:off x="-135980" y="5010888"/>
            <a:ext cx="9508579" cy="1999511"/>
          </a:xfrm>
          <a:prstGeom prst="rect">
            <a:avLst/>
          </a:prstGeom>
          <a:solidFill>
            <a:srgbClr val="7F7F7F">
              <a:alpha val="7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34F7F-1FDD-5A4B-BAE5-D2C50D216A7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FB18190-7F4D-1142-48DC-84A331416C9E}"/>
              </a:ext>
            </a:extLst>
          </p:cNvPr>
          <p:cNvSpPr>
            <a:spLocks noGrp="1"/>
          </p:cNvSpPr>
          <p:nvPr>
            <p:ph type="title"/>
          </p:nvPr>
        </p:nvSpPr>
        <p:spPr>
          <a:xfrm>
            <a:off x="482601" y="643467"/>
            <a:ext cx="3465438" cy="4567137"/>
          </a:xfrm>
        </p:spPr>
        <p:txBody>
          <a:bodyPr vert="horz" lIns="91440" tIns="45720" rIns="91440" bIns="45720" rtlCol="0" anchor="b">
            <a:normAutofit/>
          </a:bodyPr>
          <a:lstStyle/>
          <a:p>
            <a:pPr defTabSz="914400"/>
            <a:r>
              <a:rPr lang="en-US" sz="3800"/>
              <a:t>Module Review</a:t>
            </a:r>
          </a:p>
        </p:txBody>
      </p:sp>
      <p:sp>
        <p:nvSpPr>
          <p:cNvPr id="5" name="Text Placeholder 4">
            <a:extLst>
              <a:ext uri="{FF2B5EF4-FFF2-40B4-BE49-F238E27FC236}">
                <a16:creationId xmlns:a16="http://schemas.microsoft.com/office/drawing/2014/main" id="{F08E1D7A-94DE-145B-2647-387B92DC4521}"/>
              </a:ext>
            </a:extLst>
          </p:cNvPr>
          <p:cNvSpPr>
            <a:spLocks noGrp="1"/>
          </p:cNvSpPr>
          <p:nvPr>
            <p:ph type="body" idx="1"/>
          </p:nvPr>
        </p:nvSpPr>
        <p:spPr>
          <a:xfrm>
            <a:off x="482600" y="5277684"/>
            <a:ext cx="3465438" cy="775494"/>
          </a:xfrm>
        </p:spPr>
        <p:txBody>
          <a:bodyPr vert="horz" lIns="91440" tIns="45720" rIns="91440" bIns="45720" rtlCol="0">
            <a:normAutofit/>
          </a:bodyPr>
          <a:lstStyle/>
          <a:p>
            <a:pPr defTabSz="914400">
              <a:spcBef>
                <a:spcPts val="1000"/>
              </a:spcBef>
            </a:pPr>
            <a:r>
              <a:rPr lang="en-US" sz="2400" dirty="0">
                <a:solidFill>
                  <a:schemeClr val="tx1"/>
                </a:solidFill>
              </a:rPr>
              <a:t>Informed Search</a:t>
            </a:r>
          </a:p>
        </p:txBody>
      </p:sp>
      <p:pic>
        <p:nvPicPr>
          <p:cNvPr id="6" name="Picture 5">
            <a:extLst>
              <a:ext uri="{FF2B5EF4-FFF2-40B4-BE49-F238E27FC236}">
                <a16:creationId xmlns:a16="http://schemas.microsoft.com/office/drawing/2014/main" id="{2DC509B4-5F4A-8F29-0500-0004B412859F}"/>
              </a:ext>
            </a:extLst>
          </p:cNvPr>
          <p:cNvPicPr>
            <a:picLocks noChangeAspect="1" noChangeArrowheads="1"/>
          </p:cNvPicPr>
          <p:nvPr/>
        </p:nvPicPr>
        <p:blipFill rotWithShape="1">
          <a:blip r:embed="rId2" cstate="print"/>
          <a:srcRect l="14795" r="19995"/>
          <a:stretch>
            <a:fillRect/>
          </a:stretch>
        </p:blipFill>
        <p:spPr bwMode="auto">
          <a:xfrm>
            <a:off x="4671911" y="10"/>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p:spPr>
      </p:pic>
    </p:spTree>
    <p:extLst>
      <p:ext uri="{BB962C8B-B14F-4D97-AF65-F5344CB8AC3E}">
        <p14:creationId xmlns:p14="http://schemas.microsoft.com/office/powerpoint/2010/main" val="2603292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9FA568-5BE3-3072-9C9F-3F554B6F2BBF}"/>
              </a:ext>
            </a:extLst>
          </p:cNvPr>
          <p:cNvSpPr>
            <a:spLocks noGrp="1"/>
          </p:cNvSpPr>
          <p:nvPr>
            <p:ph type="title"/>
          </p:nvPr>
        </p:nvSpPr>
        <p:spPr/>
        <p:txBody>
          <a:bodyPr/>
          <a:lstStyle/>
          <a:p>
            <a:r>
              <a:rPr lang="en-US" dirty="0"/>
              <a:t>Assignment 2</a:t>
            </a:r>
          </a:p>
        </p:txBody>
      </p:sp>
      <p:sp>
        <p:nvSpPr>
          <p:cNvPr id="7" name="Text Placeholder 6">
            <a:extLst>
              <a:ext uri="{FF2B5EF4-FFF2-40B4-BE49-F238E27FC236}">
                <a16:creationId xmlns:a16="http://schemas.microsoft.com/office/drawing/2014/main" id="{BF176CC6-2F00-39D1-76C5-1AF70CFED0CF}"/>
              </a:ext>
            </a:extLst>
          </p:cNvPr>
          <p:cNvSpPr>
            <a:spLocks noGrp="1"/>
          </p:cNvSpPr>
          <p:nvPr>
            <p:ph type="body" idx="1"/>
          </p:nvPr>
        </p:nvSpPr>
        <p:spPr/>
        <p:txBody>
          <a:bodyPr/>
          <a:lstStyle/>
          <a:p>
            <a:r>
              <a:rPr lang="en-US" dirty="0"/>
              <a:t>Introduction</a:t>
            </a:r>
          </a:p>
          <a:p>
            <a:r>
              <a:rPr lang="en-US" dirty="0"/>
              <a:t>How to implement a tree data structure </a:t>
            </a:r>
            <a:r>
              <a:rPr lang="en-US"/>
              <a:t>in Python</a:t>
            </a:r>
            <a:endParaRPr lang="en-US" dirty="0"/>
          </a:p>
        </p:txBody>
      </p:sp>
    </p:spTree>
    <p:extLst>
      <p:ext uri="{BB962C8B-B14F-4D97-AF65-F5344CB8AC3E}">
        <p14:creationId xmlns:p14="http://schemas.microsoft.com/office/powerpoint/2010/main" val="2716248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33853-8FA3-C7AE-B4FC-A53CFBD49BD5}"/>
            </a:ext>
          </a:extLst>
        </p:cNvPr>
        <p:cNvGrpSpPr/>
        <p:nvPr/>
      </p:nvGrpSpPr>
      <p:grpSpPr>
        <a:xfrm>
          <a:off x="0" y="0"/>
          <a:ext cx="0" cy="0"/>
          <a:chOff x="0" y="0"/>
          <a:chExt cx="0" cy="0"/>
        </a:xfrm>
      </p:grpSpPr>
      <p:sp>
        <p:nvSpPr>
          <p:cNvPr id="54274" name="Rectangle 2">
            <a:extLst>
              <a:ext uri="{FF2B5EF4-FFF2-40B4-BE49-F238E27FC236}">
                <a16:creationId xmlns:a16="http://schemas.microsoft.com/office/drawing/2014/main" id="{BFFAFEC0-1B6F-EEDF-7861-25295C0F387F}"/>
              </a:ext>
            </a:extLst>
          </p:cNvPr>
          <p:cNvSpPr>
            <a:spLocks noGrp="1" noChangeArrowheads="1"/>
          </p:cNvSpPr>
          <p:nvPr>
            <p:ph type="title"/>
          </p:nvPr>
        </p:nvSpPr>
        <p:spPr>
          <a:xfrm>
            <a:off x="736879" y="358746"/>
            <a:ext cx="8229600" cy="868362"/>
          </a:xfrm>
        </p:spPr>
        <p:txBody>
          <a:bodyPr>
            <a:normAutofit fontScale="90000"/>
          </a:bodyPr>
          <a:lstStyle/>
          <a:p>
            <a:r>
              <a:rPr lang="en-US" dirty="0">
                <a:latin typeface="+mn-lt"/>
              </a:rPr>
              <a:t>Summary: </a:t>
            </a:r>
            <a:br>
              <a:rPr lang="en-US" dirty="0">
                <a:latin typeface="+mn-lt"/>
              </a:rPr>
            </a:br>
            <a:r>
              <a:rPr lang="en-US" dirty="0">
                <a:latin typeface="+mn-lt"/>
              </a:rPr>
              <a:t>All Search Strategies</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E44D041-53DA-9BAB-9C8C-799D56602899}"/>
                  </a:ext>
                </a:extLst>
              </p:cNvPr>
              <p:cNvGraphicFramePr>
                <a:graphicFrameLocks noGrp="1"/>
              </p:cNvGraphicFramePr>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592125">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27583">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14:m>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b="0" i="1" dirty="0" smtClean="0">
                                      <a:latin typeface="Cambria Math" panose="02040503050406030204" pitchFamily="18" charset="0"/>
                                      <a:cs typeface="Arial" pitchFamily="34"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2"/>
                      </a:ext>
                    </a:extLst>
                  </a:tr>
                  <a:tr h="698004">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r>
                                  <a:rPr lang="en-US" sz="1600" i="1" dirty="0">
                                    <a:latin typeface="Cambria Math" panose="02040503050406030204" pitchFamily="18" charset="0"/>
                                  </a:rPr>
                                  <m:t>)</m:t>
                                </m:r>
                              </m:oMath>
                            </m:oMathPara>
                          </a14:m>
                          <a:endParaRPr lang="en-US" sz="1600" dirty="0">
                            <a:latin typeface="+mn-lt"/>
                          </a:endParaRP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𝑏𝑚</m:t>
                                </m:r>
                                <m:r>
                                  <a:rPr lang="en-US" sz="1600" i="1" dirty="0">
                                    <a:latin typeface="Cambria Math" panose="02040503050406030204" pitchFamily="18" charset="0"/>
                                  </a:rPr>
                                  <m:t>)</m:t>
                                </m:r>
                              </m:oMath>
                            </m:oMathPara>
                          </a14:m>
                          <a:endParaRPr lang="en-US" sz="1600" dirty="0">
                            <a:latin typeface="+mn-lt"/>
                          </a:endParaRPr>
                        </a:p>
                      </a:txBody>
                      <a:tcPr anchor="ct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err="1">
                                    <a:latin typeface="Cambria Math" panose="02040503050406030204" pitchFamily="18" charset="0"/>
                                  </a:rPr>
                                  <m:t>𝑏</m:t>
                                </m:r>
                                <m:r>
                                  <a:rPr lang="en-US" sz="1600" i="1" baseline="30000" dirty="0" err="1">
                                    <a:latin typeface="Cambria Math" panose="02040503050406030204" pitchFamily="18" charset="0"/>
                                  </a:rPr>
                                  <m:t>𝑑</m:t>
                                </m:r>
                                <m:r>
                                  <a:rPr lang="en-US" sz="1600" i="1" dirty="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𝑂</m:t>
                                </m:r>
                                <m:r>
                                  <a:rPr lang="en-US" sz="1600" i="1" dirty="0" smtClean="0">
                                    <a:latin typeface="Cambria Math" panose="02040503050406030204" pitchFamily="18" charset="0"/>
                                  </a:rPr>
                                  <m:t>(</m:t>
                                </m:r>
                                <m:r>
                                  <a:rPr lang="en-US" sz="1600" i="1" dirty="0" smtClean="0">
                                    <a:latin typeface="Cambria Math" panose="02040503050406030204" pitchFamily="18" charset="0"/>
                                  </a:rPr>
                                  <m:t>𝑏𝑑</m:t>
                                </m:r>
                                <m:r>
                                  <a:rPr lang="en-US" sz="1600" i="1" dirty="0" smtClean="0">
                                    <a:latin typeface="Cambria Math" panose="02040503050406030204" pitchFamily="18" charset="0"/>
                                  </a:rPr>
                                  <m:t>)</m:t>
                                </m:r>
                              </m:oMath>
                            </m:oMathPara>
                          </a14:m>
                          <a:endParaRPr lang="en-US" sz="1600" dirty="0">
                            <a:latin typeface="+mn-lt"/>
                          </a:endParaRPr>
                        </a:p>
                      </a:txBody>
                      <a:tcPr anchor="ct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85744">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pPr algn="ctr"/>
                          <a:r>
                            <a:rPr lang="en-US" sz="1600" dirty="0"/>
                            <a:t>Depends on heuristic</a:t>
                          </a:r>
                          <a:br>
                            <a:rPr lang="en-US" sz="1600" dirty="0"/>
                          </a:br>
                          <a14:m>
                            <m:oMathPara xmlns:m="http://schemas.openxmlformats.org/officeDocument/2006/math">
                              <m:oMathParaPr>
                                <m:jc m:val="center"/>
                              </m:oMathParaPr>
                              <m:oMath xmlns:m="http://schemas.openxmlformats.org/officeDocument/2006/math">
                                <m:r>
                                  <m:rPr>
                                    <m:nor/>
                                  </m:rPr>
                                  <a:rPr lang="en-US" sz="1600" dirty="0" smtClean="0"/>
                                  <m:t>Best</m:t>
                                </m:r>
                                <m:r>
                                  <m:rPr>
                                    <m:nor/>
                                  </m:rPr>
                                  <a:rPr lang="en-US" sz="1600" dirty="0" smtClean="0"/>
                                  <m:t> </m:t>
                                </m:r>
                                <m:r>
                                  <m:rPr>
                                    <m:nor/>
                                  </m:rPr>
                                  <a:rPr lang="en-US" sz="1600" dirty="0" smtClean="0"/>
                                  <m:t>case</m:t>
                                </m:r>
                                <m:r>
                                  <m:rPr>
                                    <m:nor/>
                                  </m:rPr>
                                  <a:rPr lang="en-US" sz="1600" dirty="0" smtClean="0"/>
                                  <m:t>: </m:t>
                                </m:r>
                                <m:r>
                                  <a:rPr lang="en-US" sz="1600" i="1" dirty="0">
                                    <a:latin typeface="Cambria Math" panose="02040503050406030204" pitchFamily="18" charset="0"/>
                                  </a:rPr>
                                  <m:t>𝑂</m:t>
                                </m:r>
                                <m:r>
                                  <a:rPr lang="en-US" sz="1600" i="1" dirty="0">
                                    <a:latin typeface="Cambria Math" panose="02040503050406030204" pitchFamily="18" charset="0"/>
                                  </a:rPr>
                                  <m:t>(</m:t>
                                </m:r>
                                <m:r>
                                  <a:rPr lang="en-US" sz="1600" i="1" dirty="0" err="1">
                                    <a:latin typeface="Cambria Math" panose="02040503050406030204" pitchFamily="18" charset="0"/>
                                  </a:rPr>
                                  <m:t>𝑏𝑑</m:t>
                                </m:r>
                                <m:r>
                                  <a:rPr lang="en-US" sz="1600" i="1" dirty="0">
                                    <a:latin typeface="Cambria Math" panose="02040503050406030204" pitchFamily="18" charset="0"/>
                                  </a:rPr>
                                  <m:t>)</m:t>
                                </m:r>
                              </m:oMath>
                            </m:oMathPara>
                          </a14:m>
                          <a:endParaRPr lang="en-US" sz="1600" dirty="0"/>
                        </a:p>
                        <a:p>
                          <a:pPr algn="ctr"/>
                          <a:r>
                            <a:rPr lang="en-US" sz="1600" dirty="0">
                              <a:latin typeface="+mn-lt"/>
                            </a:rPr>
                            <a:t>Worst case: </a:t>
                          </a:r>
                          <a14:m>
                            <m:oMath xmlns:m="http://schemas.openxmlformats.org/officeDocument/2006/math">
                              <m:r>
                                <a:rPr lang="en-US" sz="1600" i="1" dirty="0" smtClean="0">
                                  <a:latin typeface="Cambria Math" panose="02040503050406030204" pitchFamily="18" charset="0"/>
                                </a:rPr>
                                <m:t>𝑂</m:t>
                              </m:r>
                              <m:d>
                                <m:dPr>
                                  <m:ctrlPr>
                                    <a:rPr lang="en-US" sz="1600" i="1" dirty="0" smtClean="0">
                                      <a:latin typeface="Cambria Math" panose="02040503050406030204" pitchFamily="18" charset="0"/>
                                    </a:rPr>
                                  </m:ctrlPr>
                                </m:dPr>
                                <m:e>
                                  <m:r>
                                    <a:rPr lang="en-US" sz="1600" i="1" dirty="0" err="1">
                                      <a:latin typeface="Cambria Math" panose="02040503050406030204" pitchFamily="18" charset="0"/>
                                    </a:rPr>
                                    <m:t>𝑏</m:t>
                                  </m:r>
                                  <m:r>
                                    <a:rPr lang="en-US" sz="1600" i="1" baseline="30000" dirty="0" err="1">
                                      <a:latin typeface="Cambria Math" panose="02040503050406030204" pitchFamily="18" charset="0"/>
                                    </a:rPr>
                                    <m:t>𝑚</m:t>
                                  </m:r>
                                </m:e>
                              </m:d>
                            </m:oMath>
                          </a14:m>
                          <a:endParaRPr lang="en-US" sz="1600" dirty="0"/>
                        </a:p>
                      </a:txBody>
                      <a:tcPr anchor="ctr">
                        <a:lnT w="38100" cap="flat" cmpd="sng" algn="ctr">
                          <a:solidFill>
                            <a:schemeClr val="tx1"/>
                          </a:solidFill>
                          <a:prstDash val="solid"/>
                          <a:round/>
                          <a:headEnd type="none" w="med" len="med"/>
                          <a:tailEnd type="none" w="med" len="med"/>
                        </a:lnT>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Number of nodes with </a:t>
                          </a:r>
                          <a:br>
                            <a:rPr lang="en-US" sz="1600" dirty="0">
                              <a:latin typeface="+mn-lt"/>
                            </a:rPr>
                          </a:b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rPr>
                                  <m:t>𝑔</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m:t>
                                </m:r>
                                <m:r>
                                  <a:rPr lang="en-US" sz="1600" i="1" dirty="0" smtClean="0">
                                    <a:latin typeface="Cambria Math" panose="02040503050406030204" pitchFamily="18" charset="0"/>
                                  </a:rPr>
                                  <m:t>h</m:t>
                                </m:r>
                                <m:r>
                                  <a:rPr lang="en-US" sz="1600" i="1" dirty="0" smtClean="0">
                                    <a:latin typeface="Cambria Math" panose="02040503050406030204" pitchFamily="18" charset="0"/>
                                  </a:rPr>
                                  <m:t>(</m:t>
                                </m:r>
                                <m:r>
                                  <a:rPr lang="en-US" sz="1600" i="1" dirty="0" smtClean="0">
                                    <a:latin typeface="Cambria Math" panose="02040503050406030204" pitchFamily="18" charset="0"/>
                                  </a:rPr>
                                  <m:t>𝑛</m:t>
                                </m:r>
                                <m:r>
                                  <a:rPr lang="en-US" sz="1600" i="1" dirty="0" smtClean="0">
                                    <a:latin typeface="Cambria Math" panose="02040503050406030204" pitchFamily="18" charset="0"/>
                                  </a:rPr>
                                  <m:t>) ≤ </m:t>
                                </m:r>
                                <m:sSup>
                                  <m:sSupPr>
                                    <m:ctrlPr>
                                      <a:rPr lang="en-US" sz="1600" b="0" i="1" dirty="0" smtClean="0">
                                        <a:latin typeface="Cambria Math" panose="02040503050406030204" pitchFamily="18" charset="0"/>
                                        <a:cs typeface="Arial" pitchFamily="34" charset="0"/>
                                      </a:rPr>
                                    </m:ctrlPr>
                                  </m:sSupPr>
                                  <m:e>
                                    <m:r>
                                      <a:rPr lang="en-US" sz="1600" i="1" dirty="0">
                                        <a:latin typeface="Cambria Math" panose="02040503050406030204" pitchFamily="18" charset="0"/>
                                      </a:rPr>
                                      <m:t>𝐶</m:t>
                                    </m:r>
                                  </m:e>
                                  <m:sup>
                                    <m:r>
                                      <a:rPr lang="en-US" sz="1600" b="0" i="1" dirty="0" smtClean="0">
                                        <a:latin typeface="Cambria Math" panose="02040503050406030204" pitchFamily="18" charset="0"/>
                                      </a:rPr>
                                      <m:t>∗</m:t>
                                    </m:r>
                                  </m:sup>
                                </m:sSup>
                              </m:oMath>
                            </m:oMathPara>
                          </a14:m>
                          <a:endParaRPr lang="en-US" sz="1600" dirty="0">
                            <a:latin typeface="+mn-lt"/>
                          </a:endParaRPr>
                        </a:p>
                      </a:txBody>
                      <a:tcPr anchor="ct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4164794686"/>
                  </p:ext>
                </p:extLst>
              </p:nvPr>
            </p:nvGraphicFramePr>
            <p:xfrm>
              <a:off x="736879" y="1600200"/>
              <a:ext cx="7924800" cy="4970825"/>
            </p:xfrm>
            <a:graphic>
              <a:graphicData uri="http://schemas.openxmlformats.org/drawingml/2006/table">
                <a:tbl>
                  <a:tblPr firstRow="1" bandRow="1">
                    <a:tableStyleId>{5C22544A-7EE6-4342-B048-85BDC9FD1C3A}</a:tableStyleId>
                  </a:tblPr>
                  <a:tblGrid>
                    <a:gridCol w="1584960">
                      <a:extLst>
                        <a:ext uri="{9D8B030D-6E8A-4147-A177-3AD203B41FA5}">
                          <a16:colId xmlns:a16="http://schemas.microsoft.com/office/drawing/2014/main" val="20000"/>
                        </a:ext>
                      </a:extLst>
                    </a:gridCol>
                    <a:gridCol w="158496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1584960">
                      <a:extLst>
                        <a:ext uri="{9D8B030D-6E8A-4147-A177-3AD203B41FA5}">
                          <a16:colId xmlns:a16="http://schemas.microsoft.com/office/drawing/2014/main" val="20004"/>
                        </a:ext>
                      </a:extLst>
                    </a:gridCol>
                  </a:tblGrid>
                  <a:tr h="640080">
                    <a:tc>
                      <a:txBody>
                        <a:bodyPr/>
                        <a:lstStyle/>
                        <a:p>
                          <a:pPr algn="ctr"/>
                          <a:r>
                            <a:rPr lang="en-US" sz="1800" dirty="0"/>
                            <a:t>Algorithm</a:t>
                          </a:r>
                        </a:p>
                      </a:txBody>
                      <a:tcPr anchor="ctr">
                        <a:lnR w="38100" cap="flat" cmpd="sng" algn="ctr">
                          <a:solidFill>
                            <a:schemeClr val="bg1"/>
                          </a:solidFill>
                          <a:prstDash val="solid"/>
                          <a:round/>
                          <a:headEnd type="none" w="med" len="med"/>
                          <a:tailEnd type="none" w="med" len="med"/>
                        </a:lnR>
                      </a:tcPr>
                    </a:tc>
                    <a:tc>
                      <a:txBody>
                        <a:bodyPr/>
                        <a:lstStyle/>
                        <a:p>
                          <a:pPr algn="ctr"/>
                          <a:r>
                            <a:rPr lang="en-US" sz="1800" dirty="0"/>
                            <a:t>Complete?</a:t>
                          </a:r>
                        </a:p>
                      </a:txBody>
                      <a:tcPr anchor="ctr">
                        <a:lnL w="38100" cap="flat" cmpd="sng" algn="ctr">
                          <a:solidFill>
                            <a:schemeClr val="bg1"/>
                          </a:solidFill>
                          <a:prstDash val="solid"/>
                          <a:round/>
                          <a:headEnd type="none" w="med" len="med"/>
                          <a:tailEnd type="none" w="med" len="med"/>
                        </a:lnL>
                      </a:tcPr>
                    </a:tc>
                    <a:tc>
                      <a:txBody>
                        <a:bodyPr/>
                        <a:lstStyle/>
                        <a:p>
                          <a:pPr algn="ctr"/>
                          <a:r>
                            <a:rPr lang="en-US" sz="1800" dirty="0"/>
                            <a:t>Optimal?</a:t>
                          </a:r>
                        </a:p>
                      </a:txBody>
                      <a:tcPr anchor="ctr"/>
                    </a:tc>
                    <a:tc>
                      <a:txBody>
                        <a:bodyPr/>
                        <a:lstStyle/>
                        <a:p>
                          <a:pPr algn="ctr"/>
                          <a:r>
                            <a:rPr lang="en-US" sz="1800" dirty="0"/>
                            <a:t>Time complexity</a:t>
                          </a:r>
                        </a:p>
                      </a:txBody>
                      <a:tcPr anchor="ctr"/>
                    </a:tc>
                    <a:tc>
                      <a:txBody>
                        <a:bodyPr/>
                        <a:lstStyle/>
                        <a:p>
                          <a:pPr algn="ctr"/>
                          <a:r>
                            <a:rPr lang="en-US" sz="1800" dirty="0"/>
                            <a:t>Space complexity</a:t>
                          </a:r>
                        </a:p>
                      </a:txBody>
                      <a:tcPr anchor="ctr"/>
                    </a:tc>
                    <a:extLst>
                      <a:ext uri="{0D108BD9-81ED-4DB2-BD59-A6C34878D82A}">
                        <a16:rowId xmlns:a16="http://schemas.microsoft.com/office/drawing/2014/main" val="10000"/>
                      </a:ext>
                    </a:extLst>
                  </a:tr>
                  <a:tr h="640080">
                    <a:tc>
                      <a:txBody>
                        <a:bodyPr/>
                        <a:lstStyle/>
                        <a:p>
                          <a:pPr algn="ctr"/>
                          <a:r>
                            <a:rPr lang="en-US" sz="1800" b="1" dirty="0"/>
                            <a:t>BFS (Breadth-first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tc>
                    <a:tc>
                      <a:txBody>
                        <a:bodyPr/>
                        <a:lstStyle/>
                        <a:p>
                          <a:endParaRPr lang="en-US"/>
                        </a:p>
                      </a:txBody>
                      <a:tcPr anchor="ctr">
                        <a:blipFill>
                          <a:blip r:embed="rId3"/>
                          <a:stretch>
                            <a:fillRect l="-300769" t="-104762" r="-101923" b="-581905"/>
                          </a:stretch>
                        </a:blipFill>
                      </a:tcPr>
                    </a:tc>
                    <a:tc>
                      <a:txBody>
                        <a:bodyPr/>
                        <a:lstStyle/>
                        <a:p>
                          <a:endParaRPr lang="en-US"/>
                        </a:p>
                      </a:txBody>
                      <a:tcPr anchor="ctr">
                        <a:blipFill>
                          <a:blip r:embed="rId3"/>
                          <a:stretch>
                            <a:fillRect l="-400769" t="-104762" r="-1923" b="-581905"/>
                          </a:stretch>
                        </a:blipFill>
                      </a:tcPr>
                    </a:tc>
                    <a:extLst>
                      <a:ext uri="{0D108BD9-81ED-4DB2-BD59-A6C34878D82A}">
                        <a16:rowId xmlns:a16="http://schemas.microsoft.com/office/drawing/2014/main" val="10001"/>
                      </a:ext>
                    </a:extLst>
                  </a:tr>
                  <a:tr h="673257">
                    <a:tc>
                      <a:txBody>
                        <a:bodyPr/>
                        <a:lstStyle/>
                        <a:p>
                          <a:pPr algn="ctr"/>
                          <a:r>
                            <a:rPr lang="en-US" sz="1800" b="1" dirty="0"/>
                            <a:t>Uniform-cost</a:t>
                          </a:r>
                          <a:br>
                            <a:rPr lang="en-US" sz="1800" b="1" dirty="0"/>
                          </a:br>
                          <a:r>
                            <a:rPr lang="en-US" sz="1800" b="1" dirty="0"/>
                            <a:t>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193694" r="-962" b="-450450"/>
                          </a:stretch>
                        </a:blipFill>
                      </a:tcPr>
                    </a:tc>
                    <a:tc hMerge="1">
                      <a:txBody>
                        <a:bodyPr/>
                        <a:lstStyle/>
                        <a:p>
                          <a:endParaRPr lang="en-US" dirty="0"/>
                        </a:p>
                      </a:txBody>
                      <a:tcPr anchor="ctr"/>
                    </a:tc>
                    <a:extLst>
                      <a:ext uri="{0D108BD9-81ED-4DB2-BD59-A6C34878D82A}">
                        <a16:rowId xmlns:a16="http://schemas.microsoft.com/office/drawing/2014/main" val="10002"/>
                      </a:ext>
                    </a:extLst>
                  </a:tr>
                  <a:tr h="822960">
                    <a:tc>
                      <a:txBody>
                        <a:bodyPr/>
                        <a:lstStyle/>
                        <a:p>
                          <a:pPr algn="ctr"/>
                          <a:r>
                            <a:rPr lang="en-US" sz="1800" b="1" dirty="0"/>
                            <a:t>DFS</a:t>
                          </a:r>
                        </a:p>
                      </a:txBody>
                      <a:tcPr anchor="ctr">
                        <a:lnR w="3810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tcPr>
                    </a:tc>
                    <a:tc>
                      <a:txBody>
                        <a:bodyPr/>
                        <a:lstStyle/>
                        <a:p>
                          <a:pPr algn="ctr"/>
                          <a:r>
                            <a:rPr lang="en-US" sz="1600" b="1" dirty="0"/>
                            <a:t>No</a:t>
                          </a:r>
                        </a:p>
                      </a:txBody>
                      <a:tcPr anchor="ctr"/>
                    </a:tc>
                    <a:tc>
                      <a:txBody>
                        <a:bodyPr/>
                        <a:lstStyle/>
                        <a:p>
                          <a:endParaRPr lang="en-US"/>
                        </a:p>
                      </a:txBody>
                      <a:tcPr anchor="ctr">
                        <a:blipFill>
                          <a:blip r:embed="rId3"/>
                          <a:stretch>
                            <a:fillRect l="-300769" t="-241481" r="-101923" b="-270370"/>
                          </a:stretch>
                        </a:blipFill>
                      </a:tcPr>
                    </a:tc>
                    <a:tc>
                      <a:txBody>
                        <a:bodyPr/>
                        <a:lstStyle/>
                        <a:p>
                          <a:endParaRPr lang="en-US"/>
                        </a:p>
                      </a:txBody>
                      <a:tcPr anchor="ctr">
                        <a:blipFill>
                          <a:blip r:embed="rId3"/>
                          <a:stretch>
                            <a:fillRect l="-400769" t="-241481" r="-1923" b="-270370"/>
                          </a:stretch>
                        </a:blipFill>
                      </a:tcPr>
                    </a:tc>
                    <a:extLst>
                      <a:ext uri="{0D108BD9-81ED-4DB2-BD59-A6C34878D82A}">
                        <a16:rowId xmlns:a16="http://schemas.microsoft.com/office/drawing/2014/main" val="10003"/>
                      </a:ext>
                    </a:extLst>
                  </a:tr>
                  <a:tr h="685744">
                    <a:tc>
                      <a:txBody>
                        <a:bodyPr/>
                        <a:lstStyle/>
                        <a:p>
                          <a:pPr algn="ctr"/>
                          <a:r>
                            <a:rPr lang="en-US" sz="1800" b="1" dirty="0"/>
                            <a:t>IDS</a:t>
                          </a:r>
                        </a:p>
                      </a:txBody>
                      <a:tcPr anchor="ctr">
                        <a:lnR w="38100" cap="flat" cmpd="sng" algn="ctr">
                          <a:solidFill>
                            <a:schemeClr val="bg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If all step </a:t>
                          </a:r>
                          <a:br>
                            <a:rPr lang="en-US" sz="1600" dirty="0">
                              <a:latin typeface="+mn-lt"/>
                            </a:rPr>
                          </a:br>
                          <a:r>
                            <a:rPr lang="en-US" sz="1600" dirty="0">
                              <a:latin typeface="+mn-lt"/>
                            </a:rPr>
                            <a:t>costs are equal</a:t>
                          </a:r>
                        </a:p>
                      </a:txBody>
                      <a:tcPr anchor="ctr">
                        <a:lnB w="38100" cap="flat" cmpd="sng" algn="ctr">
                          <a:solidFill>
                            <a:schemeClr val="tx1"/>
                          </a:solidFill>
                          <a:prstDash val="solid"/>
                          <a:round/>
                          <a:headEnd type="none" w="med" len="med"/>
                          <a:tailEnd type="none" w="med" len="med"/>
                        </a:lnB>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300769" t="-411607" r="-101923" b="-225893"/>
                          </a:stretch>
                        </a:blipFill>
                      </a:tcPr>
                    </a:tc>
                    <a:tc>
                      <a:txBody>
                        <a:bodyPr/>
                        <a:lstStyle/>
                        <a:p>
                          <a:endParaRPr lang="en-US"/>
                        </a:p>
                      </a:txBody>
                      <a:tcPr anchor="ctr">
                        <a:lnB w="38100" cap="flat" cmpd="sng" algn="ctr">
                          <a:solidFill>
                            <a:schemeClr val="tx1"/>
                          </a:solidFill>
                          <a:prstDash val="solid"/>
                          <a:round/>
                          <a:headEnd type="none" w="med" len="med"/>
                          <a:tailEnd type="none" w="med" len="med"/>
                        </a:lnB>
                        <a:blipFill>
                          <a:blip r:embed="rId3"/>
                          <a:stretch>
                            <a:fillRect l="-400769" t="-411607" r="-1923" b="-225893"/>
                          </a:stretch>
                        </a:blipFill>
                      </a:tcPr>
                    </a:tc>
                    <a:extLst>
                      <a:ext uri="{0D108BD9-81ED-4DB2-BD59-A6C34878D82A}">
                        <a16:rowId xmlns:a16="http://schemas.microsoft.com/office/drawing/2014/main" val="10004"/>
                      </a:ext>
                    </a:extLst>
                  </a:tr>
                  <a:tr h="822960">
                    <a:tc>
                      <a:txBody>
                        <a:bodyPr/>
                        <a:lstStyle/>
                        <a:p>
                          <a:pPr algn="ctr"/>
                          <a:r>
                            <a:rPr lang="en-US" sz="1800" b="1" dirty="0"/>
                            <a:t>Greedy best-first Search</a:t>
                          </a:r>
                        </a:p>
                      </a:txBody>
                      <a:tcPr anchor="ctr">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600" dirty="0">
                              <a:latin typeface="+mn-lt"/>
                            </a:rPr>
                            <a:t>In finite spaces </a:t>
                          </a:r>
                          <a:br>
                            <a:rPr lang="en-US" sz="1600" dirty="0">
                              <a:latin typeface="+mn-lt"/>
                            </a:rPr>
                          </a:br>
                          <a:r>
                            <a:rPr lang="en-US" sz="1600" dirty="0">
                              <a:latin typeface="+mn-lt"/>
                            </a:rPr>
                            <a:t>(cycles checking)</a:t>
                          </a:r>
                        </a:p>
                        <a:p>
                          <a:pPr algn="ctr"/>
                          <a:endParaRPr lang="en-US" sz="1600" dirty="0"/>
                        </a:p>
                      </a:txBody>
                      <a:tcPr anchor="ctr">
                        <a:lnL w="38100" cap="flat" cmpd="sng" algn="ctr">
                          <a:solidFill>
                            <a:schemeClr val="bg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en-US" sz="1600" dirty="0"/>
                            <a:t>No</a:t>
                          </a:r>
                        </a:p>
                      </a:txBody>
                      <a:tcPr anchor="ctr">
                        <a:lnT w="38100" cap="flat" cmpd="sng" algn="ctr">
                          <a:solidFill>
                            <a:schemeClr val="tx1"/>
                          </a:solidFill>
                          <a:prstDash val="solid"/>
                          <a:round/>
                          <a:headEnd type="none" w="med" len="med"/>
                          <a:tailEnd type="none" w="med" len="med"/>
                        </a:lnT>
                      </a:tcPr>
                    </a:tc>
                    <a:tc gridSpan="2">
                      <a:txBody>
                        <a:bodyPr/>
                        <a:lstStyle/>
                        <a:p>
                          <a:endParaRPr lang="en-US"/>
                        </a:p>
                      </a:txBody>
                      <a:tcPr anchor="ctr">
                        <a:lnT w="38100" cap="flat" cmpd="sng" algn="ctr">
                          <a:solidFill>
                            <a:schemeClr val="tx1"/>
                          </a:solidFill>
                          <a:prstDash val="solid"/>
                          <a:round/>
                          <a:headEnd type="none" w="med" len="med"/>
                          <a:tailEnd type="none" w="med" len="med"/>
                        </a:lnT>
                        <a:blipFill>
                          <a:blip r:embed="rId3"/>
                          <a:stretch>
                            <a:fillRect l="-150385" t="-424444" r="-962" b="-87407"/>
                          </a:stretch>
                        </a:blipFill>
                      </a:tcPr>
                    </a:tc>
                    <a:tc hMerge="1">
                      <a:txBody>
                        <a:bodyPr/>
                        <a:lstStyle/>
                        <a:p>
                          <a:endParaRPr lang="en-US" dirty="0"/>
                        </a:p>
                      </a:txBody>
                      <a:tcPr anchor="ct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685744">
                    <a:tc>
                      <a:txBody>
                        <a:bodyPr/>
                        <a:lstStyle/>
                        <a:p>
                          <a:pPr algn="ctr"/>
                          <a:r>
                            <a:rPr lang="en-US" sz="1800" b="1" dirty="0"/>
                            <a:t>A* Search</a:t>
                          </a:r>
                        </a:p>
                      </a:txBody>
                      <a:tcPr anchor="ctr">
                        <a:lnR w="38100" cap="flat" cmpd="sng" algn="ctr">
                          <a:solidFill>
                            <a:schemeClr val="bg1"/>
                          </a:solidFill>
                          <a:prstDash val="solid"/>
                          <a:round/>
                          <a:headEnd type="none" w="med" len="med"/>
                          <a:tailEnd type="none" w="med" len="med"/>
                        </a:lnR>
                      </a:tcPr>
                    </a:tc>
                    <a:tc>
                      <a:txBody>
                        <a:bodyPr/>
                        <a:lstStyle/>
                        <a:p>
                          <a:pPr algn="ctr"/>
                          <a:r>
                            <a:rPr lang="en-US" sz="1600" dirty="0"/>
                            <a:t>Yes</a:t>
                          </a:r>
                        </a:p>
                      </a:txBody>
                      <a:tcPr anchor="ctr">
                        <a:lnL w="38100" cap="flat" cmpd="sng" algn="ctr">
                          <a:solidFill>
                            <a:schemeClr val="bg1"/>
                          </a:solidFill>
                          <a:prstDash val="solid"/>
                          <a:round/>
                          <a:headEnd type="none" w="med" len="med"/>
                          <a:tailEnd type="none" w="med" len="med"/>
                        </a:lnL>
                      </a:tcPr>
                    </a:tc>
                    <a:tc>
                      <a:txBody>
                        <a:bodyPr/>
                        <a:lstStyle/>
                        <a:p>
                          <a:pPr algn="ctr"/>
                          <a:r>
                            <a:rPr lang="en-US" sz="1600" dirty="0"/>
                            <a:t>Yes</a:t>
                          </a:r>
                        </a:p>
                      </a:txBody>
                      <a:tcPr anchor="ctr"/>
                    </a:tc>
                    <a:tc gridSpan="2">
                      <a:txBody>
                        <a:bodyPr/>
                        <a:lstStyle/>
                        <a:p>
                          <a:endParaRPr lang="en-US"/>
                        </a:p>
                      </a:txBody>
                      <a:tcPr anchor="ctr">
                        <a:blipFill>
                          <a:blip r:embed="rId3"/>
                          <a:stretch>
                            <a:fillRect l="-150385" t="-626549" r="-962" b="-4425"/>
                          </a:stretch>
                        </a:blipFill>
                      </a:tcPr>
                    </a:tc>
                    <a:tc hMerge="1">
                      <a:txBody>
                        <a:bodyPr/>
                        <a:lstStyle/>
                        <a:p>
                          <a:endParaRPr lang="en-US" dirty="0"/>
                        </a:p>
                      </a:txBody>
                      <a:tcPr anchor="ctr"/>
                    </a:tc>
                    <a:extLst>
                      <a:ext uri="{0D108BD9-81ED-4DB2-BD59-A6C34878D82A}">
                        <a16:rowId xmlns:a16="http://schemas.microsoft.com/office/drawing/2014/main" val="10006"/>
                      </a:ext>
                    </a:extLst>
                  </a:tr>
                </a:tbl>
              </a:graphicData>
            </a:graphic>
          </p:graphicFrame>
        </mc:Fallback>
      </mc:AlternateContent>
      <p:sp>
        <p:nvSpPr>
          <p:cNvPr id="3" name="Rectangle 2">
            <a:extLst>
              <a:ext uri="{FF2B5EF4-FFF2-40B4-BE49-F238E27FC236}">
                <a16:creationId xmlns:a16="http://schemas.microsoft.com/office/drawing/2014/main" id="{87E7632D-827C-FD99-8F8F-37E2E0EE06D7}"/>
              </a:ext>
            </a:extLst>
          </p:cNvPr>
          <p:cNvSpPr/>
          <p:nvPr/>
        </p:nvSpPr>
        <p:spPr>
          <a:xfrm>
            <a:off x="4343400" y="254318"/>
            <a:ext cx="4442647" cy="1077218"/>
          </a:xfrm>
          <a:prstGeom prst="rect">
            <a:avLst/>
          </a:prstGeom>
        </p:spPr>
        <p:style>
          <a:lnRef idx="3">
            <a:schemeClr val="lt1"/>
          </a:lnRef>
          <a:fillRef idx="1">
            <a:schemeClr val="accent3"/>
          </a:fillRef>
          <a:effectRef idx="1">
            <a:schemeClr val="accent3"/>
          </a:effectRef>
          <a:fontRef idx="minor">
            <a:schemeClr val="lt1"/>
          </a:fontRef>
        </p:style>
        <p:txBody>
          <a:bodyPr wrap="square">
            <a:spAutoFit/>
          </a:bodyPr>
          <a:lstStyle/>
          <a:p>
            <a:r>
              <a:rPr lang="en-US" sz="1600" dirty="0">
                <a:latin typeface="+mn-lt"/>
              </a:rPr>
              <a:t>b:    maximum branching factor of the search tree</a:t>
            </a:r>
          </a:p>
          <a:p>
            <a:r>
              <a:rPr lang="en-US" sz="1600" dirty="0">
                <a:latin typeface="+mn-lt"/>
              </a:rPr>
              <a:t>d:    depth of the optimal solution</a:t>
            </a:r>
          </a:p>
          <a:p>
            <a:r>
              <a:rPr lang="en-US" sz="1600" dirty="0">
                <a:latin typeface="+mn-lt"/>
              </a:rPr>
              <a:t>m:   maximum length of any path in the state space</a:t>
            </a:r>
          </a:p>
          <a:p>
            <a:r>
              <a:rPr lang="en-US" sz="1600" dirty="0">
                <a:latin typeface="+mn-lt"/>
              </a:rPr>
              <a:t>C*:  cost of optimal solution</a:t>
            </a:r>
          </a:p>
        </p:txBody>
      </p:sp>
      <p:sp>
        <p:nvSpPr>
          <p:cNvPr id="4" name="Rectangle 3">
            <a:extLst>
              <a:ext uri="{FF2B5EF4-FFF2-40B4-BE49-F238E27FC236}">
                <a16:creationId xmlns:a16="http://schemas.microsoft.com/office/drawing/2014/main" id="{34CEFBDD-A18B-78B1-F512-6FB45F86DD24}"/>
              </a:ext>
            </a:extLst>
          </p:cNvPr>
          <p:cNvSpPr/>
          <p:nvPr/>
        </p:nvSpPr>
        <p:spPr>
          <a:xfrm>
            <a:off x="7162800" y="3657600"/>
            <a:ext cx="1371600" cy="12954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4BBDD9E-D231-FFE6-F1EF-D9A0DF8B7B0C}"/>
              </a:ext>
            </a:extLst>
          </p:cNvPr>
          <p:cNvSpPr/>
          <p:nvPr/>
        </p:nvSpPr>
        <p:spPr>
          <a:xfrm>
            <a:off x="4165879" y="5867400"/>
            <a:ext cx="4368521" cy="7362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With a good heuristic</a:t>
            </a:r>
          </a:p>
        </p:txBody>
      </p:sp>
      <p:sp>
        <p:nvSpPr>
          <p:cNvPr id="2" name="TextBox 1">
            <a:extLst>
              <a:ext uri="{FF2B5EF4-FFF2-40B4-BE49-F238E27FC236}">
                <a16:creationId xmlns:a16="http://schemas.microsoft.com/office/drawing/2014/main" id="{F0963B7C-DB6D-4796-E9A3-CE4AA892B73E}"/>
              </a:ext>
            </a:extLst>
          </p:cNvPr>
          <p:cNvSpPr txBox="1"/>
          <p:nvPr/>
        </p:nvSpPr>
        <p:spPr>
          <a:xfrm rot="16200000">
            <a:off x="-531769" y="3369223"/>
            <a:ext cx="2028184" cy="369332"/>
          </a:xfrm>
          <a:prstGeom prst="rect">
            <a:avLst/>
          </a:prstGeom>
          <a:noFill/>
        </p:spPr>
        <p:txBody>
          <a:bodyPr wrap="none" rtlCol="0">
            <a:spAutoFit/>
          </a:bodyPr>
          <a:lstStyle/>
          <a:p>
            <a:r>
              <a:rPr lang="en-US" b="1" dirty="0"/>
              <a:t>Uninformed Search</a:t>
            </a:r>
          </a:p>
        </p:txBody>
      </p:sp>
      <p:sp>
        <p:nvSpPr>
          <p:cNvPr id="5" name="TextBox 4">
            <a:extLst>
              <a:ext uri="{FF2B5EF4-FFF2-40B4-BE49-F238E27FC236}">
                <a16:creationId xmlns:a16="http://schemas.microsoft.com/office/drawing/2014/main" id="{5F0B4D82-CFDF-0641-24DB-E02B1429E005}"/>
              </a:ext>
            </a:extLst>
          </p:cNvPr>
          <p:cNvSpPr txBox="1"/>
          <p:nvPr/>
        </p:nvSpPr>
        <p:spPr>
          <a:xfrm rot="16200000">
            <a:off x="-397118" y="5558787"/>
            <a:ext cx="1758879" cy="369332"/>
          </a:xfrm>
          <a:prstGeom prst="rect">
            <a:avLst/>
          </a:prstGeom>
          <a:noFill/>
        </p:spPr>
        <p:txBody>
          <a:bodyPr wrap="none" rtlCol="0">
            <a:spAutoFit/>
          </a:bodyPr>
          <a:lstStyle/>
          <a:p>
            <a:r>
              <a:rPr lang="en-US" b="1" dirty="0"/>
              <a:t>Informed Search</a:t>
            </a:r>
          </a:p>
        </p:txBody>
      </p:sp>
      <p:sp>
        <p:nvSpPr>
          <p:cNvPr id="8" name="Rectangle 7">
            <a:extLst>
              <a:ext uri="{FF2B5EF4-FFF2-40B4-BE49-F238E27FC236}">
                <a16:creationId xmlns:a16="http://schemas.microsoft.com/office/drawing/2014/main" id="{F6B31849-AC2E-34C7-5F42-3BE83376584F}"/>
              </a:ext>
            </a:extLst>
          </p:cNvPr>
          <p:cNvSpPr/>
          <p:nvPr/>
        </p:nvSpPr>
        <p:spPr>
          <a:xfrm>
            <a:off x="-55011" y="2243765"/>
            <a:ext cx="9508579" cy="2785435"/>
          </a:xfrm>
          <a:prstGeom prst="rect">
            <a:avLst/>
          </a:prstGeom>
          <a:solidFill>
            <a:srgbClr val="7F7F7F">
              <a:alpha val="7098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044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951ED-B6A5-FD24-140F-BB4AF8737AD0}"/>
              </a:ext>
            </a:extLst>
          </p:cNvPr>
          <p:cNvSpPr>
            <a:spLocks noGrp="1"/>
          </p:cNvSpPr>
          <p:nvPr>
            <p:ph type="title"/>
          </p:nvPr>
        </p:nvSpPr>
        <p:spPr/>
        <p:txBody>
          <a:bodyPr/>
          <a:lstStyle/>
          <a:p>
            <a:r>
              <a:rPr lang="en-US" dirty="0"/>
              <a:t>Properties of Heuristic Functions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95C978-A9EE-C452-8DAF-9CAC5BEEC1E9}"/>
                  </a:ext>
                </a:extLst>
              </p:cNvPr>
              <p:cNvSpPr>
                <a:spLocks noGrp="1"/>
              </p:cNvSpPr>
              <p:nvPr>
                <p:ph idx="1"/>
              </p:nvPr>
            </p:nvSpPr>
            <p:spPr/>
            <p:txBody>
              <a:bodyPr/>
              <a:lstStyle/>
              <a:p>
                <a:r>
                  <a:rPr lang="en-US" dirty="0"/>
                  <a:t>Evaluates a given node </a:t>
                </a:r>
                <a14:m>
                  <m:oMath xmlns:m="http://schemas.openxmlformats.org/officeDocument/2006/math">
                    <m:r>
                      <a:rPr lang="en-US" i="1" dirty="0">
                        <a:latin typeface="Cambria Math" panose="02040503050406030204" pitchFamily="18" charset="0"/>
                      </a:rPr>
                      <m:t>𝑛</m:t>
                    </m:r>
                  </m:oMath>
                </a14:m>
                <a:r>
                  <a:rPr lang="en-US" dirty="0"/>
                  <a:t>.</a:t>
                </a:r>
              </a:p>
              <a:p>
                <a:r>
                  <a:rPr lang="en-US" dirty="0"/>
                  <a:t>Provide a </a:t>
                </a:r>
                <a:r>
                  <a:rPr lang="en-US" b="1" dirty="0"/>
                  <a:t>good approximation </a:t>
                </a:r>
                <a:r>
                  <a:rPr lang="en-US" dirty="0"/>
                  <a:t>of the actual cost from node </a:t>
                </a:r>
                <a14:m>
                  <m:oMath xmlns:m="http://schemas.openxmlformats.org/officeDocument/2006/math">
                    <m:r>
                      <a:rPr lang="en-US" i="1" dirty="0" smtClean="0">
                        <a:latin typeface="Cambria Math" panose="02040503050406030204" pitchFamily="18" charset="0"/>
                      </a:rPr>
                      <m:t>𝑛</m:t>
                    </m:r>
                  </m:oMath>
                </a14:m>
                <a:r>
                  <a:rPr lang="en-US" dirty="0"/>
                  <a:t> to the goal state.</a:t>
                </a:r>
              </a:p>
              <a:p>
                <a:r>
                  <a:rPr lang="en-US" dirty="0"/>
                  <a:t>Can be computed using additional </a:t>
                </a:r>
                <a:r>
                  <a:rPr lang="en-US" b="1" dirty="0"/>
                  <a:t>information that is known </a:t>
                </a:r>
                <a:r>
                  <a:rPr lang="en-US" dirty="0"/>
                  <a:t>to the agent or can be obtained via percepts.</a:t>
                </a:r>
              </a:p>
              <a:p>
                <a:r>
                  <a:rPr lang="en-US" dirty="0"/>
                  <a:t>Are </a:t>
                </a:r>
                <a:r>
                  <a:rPr lang="en-US" b="1" dirty="0"/>
                  <a:t>fast to compute </a:t>
                </a:r>
                <a:r>
                  <a:rPr lang="en-US" dirty="0"/>
                  <a:t>(compared to solving the problem).</a:t>
                </a:r>
              </a:p>
              <a:p>
                <a:endParaRPr lang="en-US" dirty="0"/>
              </a:p>
              <a:p>
                <a:r>
                  <a:rPr lang="en-US" dirty="0"/>
                  <a:t>For A* Search: be </a:t>
                </a:r>
                <a:r>
                  <a:rPr lang="en-US" b="1" dirty="0"/>
                  <a:t>admissible</a:t>
                </a:r>
                <a:r>
                  <a:rPr lang="en-US" dirty="0"/>
                  <a:t> </a:t>
                </a:r>
                <a:br>
                  <a:rPr lang="en-US" dirty="0"/>
                </a:br>
                <a:r>
                  <a:rPr lang="en-US" dirty="0"/>
                  <a:t>(=never overestimate the true cost to the goal)</a:t>
                </a:r>
              </a:p>
              <a:p>
                <a:endParaRPr lang="en-US" dirty="0"/>
              </a:p>
              <a:p>
                <a:r>
                  <a:rPr lang="en-US" dirty="0"/>
                  <a:t>Search algorithms use the heuristic to expand nodes with better heuristic values/estimated total cost first.</a:t>
                </a:r>
              </a:p>
            </p:txBody>
          </p:sp>
        </mc:Choice>
        <mc:Fallback xmlns="">
          <p:sp>
            <p:nvSpPr>
              <p:cNvPr id="3" name="Content Placeholder 2">
                <a:extLst>
                  <a:ext uri="{FF2B5EF4-FFF2-40B4-BE49-F238E27FC236}">
                    <a16:creationId xmlns:a16="http://schemas.microsoft.com/office/drawing/2014/main" id="{6E95C978-A9EE-C452-8DAF-9CAC5BEEC1E9}"/>
                  </a:ext>
                </a:extLst>
              </p:cNvPr>
              <p:cNvSpPr>
                <a:spLocks noGrp="1" noRot="1" noChangeAspect="1" noMove="1" noResize="1" noEditPoints="1" noAdjustHandles="1" noChangeArrowheads="1" noChangeShapeType="1" noTextEdit="1"/>
              </p:cNvSpPr>
              <p:nvPr>
                <p:ph idx="1"/>
              </p:nvPr>
            </p:nvSpPr>
            <p:spPr>
              <a:blipFill>
                <a:blip r:embed="rId2"/>
                <a:stretch>
                  <a:fillRect l="-773" t="-1541" b="-700"/>
                </a:stretch>
              </a:blipFill>
            </p:spPr>
            <p:txBody>
              <a:bodyPr/>
              <a:lstStyle/>
              <a:p>
                <a:r>
                  <a:rPr lang="en-US">
                    <a:noFill/>
                  </a:rPr>
                  <a:t> </a:t>
                </a:r>
              </a:p>
            </p:txBody>
          </p:sp>
        </mc:Fallback>
      </mc:AlternateContent>
    </p:spTree>
    <p:extLst>
      <p:ext uri="{BB962C8B-B14F-4D97-AF65-F5344CB8AC3E}">
        <p14:creationId xmlns:p14="http://schemas.microsoft.com/office/powerpoint/2010/main" val="2054899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t>Implementation</a:t>
            </a:r>
          </a:p>
        </p:txBody>
      </p:sp>
      <p:grpSp>
        <p:nvGrpSpPr>
          <p:cNvPr id="13" name="Group 12">
            <a:extLst>
              <a:ext uri="{FF2B5EF4-FFF2-40B4-BE49-F238E27FC236}">
                <a16:creationId xmlns:a16="http://schemas.microsoft.com/office/drawing/2014/main" id="{5466C610-B0DE-F0D4-E43E-EE76B3CDC267}"/>
              </a:ext>
            </a:extLst>
          </p:cNvPr>
          <p:cNvGrpSpPr/>
          <p:nvPr/>
        </p:nvGrpSpPr>
        <p:grpSpPr>
          <a:xfrm>
            <a:off x="867152" y="2108196"/>
            <a:ext cx="7562094" cy="1216028"/>
            <a:chOff x="819906" y="1676400"/>
            <a:chExt cx="7562094" cy="1216028"/>
          </a:xfrm>
        </p:grpSpPr>
        <p:sp>
          <p:nvSpPr>
            <p:cNvPr id="6" name="Freeform: Shape 5">
              <a:extLst>
                <a:ext uri="{FF2B5EF4-FFF2-40B4-BE49-F238E27FC236}">
                  <a16:creationId xmlns:a16="http://schemas.microsoft.com/office/drawing/2014/main" id="{B8279877-CA45-299A-0360-14208751DC77}"/>
                </a:ext>
              </a:extLst>
            </p:cNvPr>
            <p:cNvSpPr/>
            <p:nvPr/>
          </p:nvSpPr>
          <p:spPr>
            <a:xfrm>
              <a:off x="819906" y="1676400"/>
              <a:ext cx="2868113" cy="1216028"/>
            </a:xfrm>
            <a:custGeom>
              <a:avLst/>
              <a:gdLst>
                <a:gd name="connsiteX0" fmla="*/ 0 w 2839212"/>
                <a:gd name="connsiteY0" fmla="*/ 353766 h 2122552"/>
                <a:gd name="connsiteX1" fmla="*/ 353766 w 2839212"/>
                <a:gd name="connsiteY1" fmla="*/ 0 h 2122552"/>
                <a:gd name="connsiteX2" fmla="*/ 2485446 w 2839212"/>
                <a:gd name="connsiteY2" fmla="*/ 0 h 2122552"/>
                <a:gd name="connsiteX3" fmla="*/ 2839212 w 2839212"/>
                <a:gd name="connsiteY3" fmla="*/ 353766 h 2122552"/>
                <a:gd name="connsiteX4" fmla="*/ 2839212 w 2839212"/>
                <a:gd name="connsiteY4" fmla="*/ 1768786 h 2122552"/>
                <a:gd name="connsiteX5" fmla="*/ 2485446 w 2839212"/>
                <a:gd name="connsiteY5" fmla="*/ 2122552 h 2122552"/>
                <a:gd name="connsiteX6" fmla="*/ 353766 w 2839212"/>
                <a:gd name="connsiteY6" fmla="*/ 2122552 h 2122552"/>
                <a:gd name="connsiteX7" fmla="*/ 0 w 2839212"/>
                <a:gd name="connsiteY7" fmla="*/ 1768786 h 2122552"/>
                <a:gd name="connsiteX8" fmla="*/ 0 w 2839212"/>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9212" h="2122552">
                  <a:moveTo>
                    <a:pt x="0" y="353766"/>
                  </a:moveTo>
                  <a:cubicBezTo>
                    <a:pt x="0" y="158386"/>
                    <a:pt x="158386" y="0"/>
                    <a:pt x="353766" y="0"/>
                  </a:cubicBezTo>
                  <a:lnTo>
                    <a:pt x="2485446" y="0"/>
                  </a:lnTo>
                  <a:cubicBezTo>
                    <a:pt x="2680826" y="0"/>
                    <a:pt x="2839212" y="158386"/>
                    <a:pt x="2839212" y="353766"/>
                  </a:cubicBezTo>
                  <a:lnTo>
                    <a:pt x="2839212" y="1768786"/>
                  </a:lnTo>
                  <a:cubicBezTo>
                    <a:pt x="2839212" y="1964166"/>
                    <a:pt x="2680826" y="2122552"/>
                    <a:pt x="2485446" y="2122552"/>
                  </a:cubicBezTo>
                  <a:lnTo>
                    <a:pt x="353766" y="2122552"/>
                  </a:lnTo>
                  <a:cubicBezTo>
                    <a:pt x="158386" y="2122552"/>
                    <a:pt x="0" y="1964166"/>
                    <a:pt x="0" y="1768786"/>
                  </a:cubicBezTo>
                  <a:lnTo>
                    <a:pt x="0" y="3537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2684" tIns="193149" rIns="282684" bIns="193149" numCol="1" spcCol="1270" anchor="ctr" anchorCtr="0">
              <a:noAutofit/>
            </a:bodyPr>
            <a:lstStyle/>
            <a:p>
              <a:pPr marL="0" lvl="0" indent="0" algn="ctr" defTabSz="2089150">
                <a:lnSpc>
                  <a:spcPct val="90000"/>
                </a:lnSpc>
                <a:spcBef>
                  <a:spcPct val="0"/>
                </a:spcBef>
                <a:spcAft>
                  <a:spcPct val="35000"/>
                </a:spcAft>
                <a:buNone/>
              </a:pPr>
              <a:r>
                <a:rPr lang="en-US" sz="4700" kern="1200" dirty="0"/>
                <a:t>Best-First Search</a:t>
              </a:r>
            </a:p>
          </p:txBody>
        </p:sp>
        <mc:AlternateContent xmlns:mc="http://schemas.openxmlformats.org/markup-compatibility/2006" xmlns:a14="http://schemas.microsoft.com/office/drawing/2010/main">
          <mc:Choice Requires="a14">
            <p:sp>
              <p:nvSpPr>
                <p:cNvPr id="7" name="Freeform: Shape 6">
                  <a:extLst>
                    <a:ext uri="{FF2B5EF4-FFF2-40B4-BE49-F238E27FC236}">
                      <a16:creationId xmlns:a16="http://schemas.microsoft.com/office/drawing/2014/main" id="{F8846F45-E43D-FA8C-292D-02FC5E67071F}"/>
                    </a:ext>
                  </a:extLst>
                </p:cNvPr>
                <p:cNvSpPr/>
                <p:nvPr/>
              </p:nvSpPr>
              <p:spPr>
                <a:xfrm>
                  <a:off x="5207516" y="1676400"/>
                  <a:ext cx="3174484" cy="1216028"/>
                </a:xfrm>
                <a:custGeom>
                  <a:avLst/>
                  <a:gdLst>
                    <a:gd name="connsiteX0" fmla="*/ 0 w 3142496"/>
                    <a:gd name="connsiteY0" fmla="*/ 353766 h 2122552"/>
                    <a:gd name="connsiteX1" fmla="*/ 353766 w 3142496"/>
                    <a:gd name="connsiteY1" fmla="*/ 0 h 2122552"/>
                    <a:gd name="connsiteX2" fmla="*/ 2788730 w 3142496"/>
                    <a:gd name="connsiteY2" fmla="*/ 0 h 2122552"/>
                    <a:gd name="connsiteX3" fmla="*/ 3142496 w 3142496"/>
                    <a:gd name="connsiteY3" fmla="*/ 353766 h 2122552"/>
                    <a:gd name="connsiteX4" fmla="*/ 3142496 w 3142496"/>
                    <a:gd name="connsiteY4" fmla="*/ 1768786 h 2122552"/>
                    <a:gd name="connsiteX5" fmla="*/ 2788730 w 3142496"/>
                    <a:gd name="connsiteY5" fmla="*/ 2122552 h 2122552"/>
                    <a:gd name="connsiteX6" fmla="*/ 353766 w 3142496"/>
                    <a:gd name="connsiteY6" fmla="*/ 2122552 h 2122552"/>
                    <a:gd name="connsiteX7" fmla="*/ 0 w 3142496"/>
                    <a:gd name="connsiteY7" fmla="*/ 1768786 h 2122552"/>
                    <a:gd name="connsiteX8" fmla="*/ 0 w 3142496"/>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2496" h="2122552">
                      <a:moveTo>
                        <a:pt x="0" y="353766"/>
                      </a:moveTo>
                      <a:cubicBezTo>
                        <a:pt x="0" y="158386"/>
                        <a:pt x="158386" y="0"/>
                        <a:pt x="353766" y="0"/>
                      </a:cubicBezTo>
                      <a:lnTo>
                        <a:pt x="2788730" y="0"/>
                      </a:lnTo>
                      <a:cubicBezTo>
                        <a:pt x="2984110" y="0"/>
                        <a:pt x="3142496" y="158386"/>
                        <a:pt x="3142496" y="353766"/>
                      </a:cubicBezTo>
                      <a:lnTo>
                        <a:pt x="3142496" y="1768786"/>
                      </a:lnTo>
                      <a:cubicBezTo>
                        <a:pt x="3142496" y="1964166"/>
                        <a:pt x="2984110" y="2122552"/>
                        <a:pt x="2788730" y="2122552"/>
                      </a:cubicBezTo>
                      <a:lnTo>
                        <a:pt x="353766" y="2122552"/>
                      </a:lnTo>
                      <a:cubicBezTo>
                        <a:pt x="158386" y="2122552"/>
                        <a:pt x="0" y="1964166"/>
                        <a:pt x="0" y="1768786"/>
                      </a:cubicBezTo>
                      <a:lnTo>
                        <a:pt x="0" y="3537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5054" tIns="149334" rIns="195054" bIns="149334" numCol="1" spcCol="1270" anchor="ctr" anchorCtr="0">
                  <a:noAutofit/>
                </a:bodyPr>
                <a:lstStyle/>
                <a:p>
                  <a:pPr marL="0" lvl="0" indent="0" algn="ctr" defTabSz="1066800">
                    <a:lnSpc>
                      <a:spcPct val="90000"/>
                    </a:lnSpc>
                    <a:spcBef>
                      <a:spcPct val="0"/>
                    </a:spcBef>
                    <a:spcAft>
                      <a:spcPct val="35000"/>
                    </a:spcAft>
                    <a:buNone/>
                  </a:pPr>
                  <a:r>
                    <a:rPr lang="en-US" sz="2400" kern="1200" dirty="0"/>
                    <a:t>Expand the frontier using</a:t>
                  </a:r>
                  <a:br>
                    <a:rPr lang="en-US" sz="2400" kern="1200" dirty="0"/>
                  </a:br>
                  <a14:m>
                    <m:oMathPara xmlns:m="http://schemas.openxmlformats.org/officeDocument/2006/math">
                      <m:oMathParaPr>
                        <m:jc m:val="centerGroup"/>
                      </m:oMathParaPr>
                      <m:oMath xmlns:m="http://schemas.openxmlformats.org/officeDocument/2006/math">
                        <m:r>
                          <a:rPr lang="en-US" sz="2400" b="0" i="1" kern="1200" smtClean="0">
                            <a:latin typeface="Cambria Math" panose="02040503050406030204" pitchFamily="18" charset="0"/>
                          </a:rPr>
                          <m:t> </m:t>
                        </m:r>
                        <m:r>
                          <a:rPr lang="en-US" sz="2400" b="0" i="1" kern="1200" smtClean="0">
                            <a:latin typeface="Cambria Math" panose="02040503050406030204" pitchFamily="18" charset="0"/>
                          </a:rPr>
                          <m:t>𝑓</m:t>
                        </m:r>
                        <m:d>
                          <m:dPr>
                            <m:ctrlPr>
                              <a:rPr lang="en-US" sz="2400" b="0" i="1" kern="1200" smtClean="0">
                                <a:latin typeface="Cambria Math" panose="02040503050406030204" pitchFamily="18" charset="0"/>
                              </a:rPr>
                            </m:ctrlPr>
                          </m:dPr>
                          <m:e>
                            <m:r>
                              <a:rPr lang="en-US" sz="2400" b="0" i="1" kern="1200" smtClean="0">
                                <a:latin typeface="Cambria Math" panose="02040503050406030204" pitchFamily="18" charset="0"/>
                              </a:rPr>
                              <m:t>𝑛</m:t>
                            </m:r>
                          </m:e>
                        </m:d>
                        <m:r>
                          <a:rPr lang="en-US" sz="2400" b="0" i="1" kern="1200" smtClean="0">
                            <a:latin typeface="Cambria Math" panose="02040503050406030204" pitchFamily="18" charset="0"/>
                          </a:rPr>
                          <m:t>=</m:t>
                        </m:r>
                        <m:r>
                          <a:rPr lang="en-US" sz="2400" b="0" i="1" kern="1200" smtClean="0">
                            <a:latin typeface="Cambria Math" panose="02040503050406030204" pitchFamily="18" charset="0"/>
                          </a:rPr>
                          <m:t>h</m:t>
                        </m:r>
                        <m:r>
                          <a:rPr lang="en-US" sz="2400" b="0" i="1" kern="1200" smtClean="0">
                            <a:latin typeface="Cambria Math" panose="02040503050406030204" pitchFamily="18" charset="0"/>
                          </a:rPr>
                          <m:t>(</m:t>
                        </m:r>
                        <m:r>
                          <a:rPr lang="en-US" sz="2400" b="0" i="1" kern="1200" smtClean="0">
                            <a:latin typeface="Cambria Math" panose="02040503050406030204" pitchFamily="18" charset="0"/>
                          </a:rPr>
                          <m:t>𝑛</m:t>
                        </m:r>
                        <m:r>
                          <a:rPr lang="en-US" sz="2400" b="0" i="1" kern="1200" smtClean="0">
                            <a:latin typeface="Cambria Math" panose="02040503050406030204" pitchFamily="18" charset="0"/>
                          </a:rPr>
                          <m:t>)</m:t>
                        </m:r>
                      </m:oMath>
                    </m:oMathPara>
                  </a14:m>
                  <a:endParaRPr lang="en-US" sz="2400" kern="1200" dirty="0"/>
                </a:p>
              </p:txBody>
            </p:sp>
          </mc:Choice>
          <mc:Fallback xmlns="">
            <p:sp>
              <p:nvSpPr>
                <p:cNvPr id="7" name="Freeform: Shape 6">
                  <a:extLst>
                    <a:ext uri="{FF2B5EF4-FFF2-40B4-BE49-F238E27FC236}">
                      <a16:creationId xmlns:a16="http://schemas.microsoft.com/office/drawing/2014/main" id="{F8846F45-E43D-FA8C-292D-02FC5E67071F}"/>
                    </a:ext>
                  </a:extLst>
                </p:cNvPr>
                <p:cNvSpPr>
                  <a:spLocks noRot="1" noChangeAspect="1" noMove="1" noResize="1" noEditPoints="1" noAdjustHandles="1" noChangeArrowheads="1" noChangeShapeType="1" noTextEdit="1"/>
                </p:cNvSpPr>
                <p:nvPr/>
              </p:nvSpPr>
              <p:spPr>
                <a:xfrm>
                  <a:off x="5207516" y="1676400"/>
                  <a:ext cx="3174484" cy="1216028"/>
                </a:xfrm>
                <a:custGeom>
                  <a:avLst/>
                  <a:gdLst>
                    <a:gd name="connsiteX0" fmla="*/ 0 w 3142496"/>
                    <a:gd name="connsiteY0" fmla="*/ 353766 h 2122552"/>
                    <a:gd name="connsiteX1" fmla="*/ 353766 w 3142496"/>
                    <a:gd name="connsiteY1" fmla="*/ 0 h 2122552"/>
                    <a:gd name="connsiteX2" fmla="*/ 2788730 w 3142496"/>
                    <a:gd name="connsiteY2" fmla="*/ 0 h 2122552"/>
                    <a:gd name="connsiteX3" fmla="*/ 3142496 w 3142496"/>
                    <a:gd name="connsiteY3" fmla="*/ 353766 h 2122552"/>
                    <a:gd name="connsiteX4" fmla="*/ 3142496 w 3142496"/>
                    <a:gd name="connsiteY4" fmla="*/ 1768786 h 2122552"/>
                    <a:gd name="connsiteX5" fmla="*/ 2788730 w 3142496"/>
                    <a:gd name="connsiteY5" fmla="*/ 2122552 h 2122552"/>
                    <a:gd name="connsiteX6" fmla="*/ 353766 w 3142496"/>
                    <a:gd name="connsiteY6" fmla="*/ 2122552 h 2122552"/>
                    <a:gd name="connsiteX7" fmla="*/ 0 w 3142496"/>
                    <a:gd name="connsiteY7" fmla="*/ 1768786 h 2122552"/>
                    <a:gd name="connsiteX8" fmla="*/ 0 w 3142496"/>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2496" h="2122552">
                      <a:moveTo>
                        <a:pt x="0" y="353766"/>
                      </a:moveTo>
                      <a:cubicBezTo>
                        <a:pt x="0" y="158386"/>
                        <a:pt x="158386" y="0"/>
                        <a:pt x="353766" y="0"/>
                      </a:cubicBezTo>
                      <a:lnTo>
                        <a:pt x="2788730" y="0"/>
                      </a:lnTo>
                      <a:cubicBezTo>
                        <a:pt x="2984110" y="0"/>
                        <a:pt x="3142496" y="158386"/>
                        <a:pt x="3142496" y="353766"/>
                      </a:cubicBezTo>
                      <a:lnTo>
                        <a:pt x="3142496" y="1768786"/>
                      </a:lnTo>
                      <a:cubicBezTo>
                        <a:pt x="3142496" y="1964166"/>
                        <a:pt x="2984110" y="2122552"/>
                        <a:pt x="2788730" y="2122552"/>
                      </a:cubicBezTo>
                      <a:lnTo>
                        <a:pt x="353766" y="2122552"/>
                      </a:lnTo>
                      <a:cubicBezTo>
                        <a:pt x="158386" y="2122552"/>
                        <a:pt x="0" y="1964166"/>
                        <a:pt x="0" y="1768786"/>
                      </a:cubicBezTo>
                      <a:lnTo>
                        <a:pt x="0" y="353766"/>
                      </a:lnTo>
                      <a:close/>
                    </a:path>
                  </a:pathLst>
                </a:custGeom>
                <a:blipFill>
                  <a:blip r:embed="rId3"/>
                  <a:stretch>
                    <a:fillRect t="-5970"/>
                  </a:stretch>
                </a:blipFill>
              </p:spPr>
              <p:txBody>
                <a:bodyPr/>
                <a:lstStyle/>
                <a:p>
                  <a:r>
                    <a:rPr lang="en-US">
                      <a:noFill/>
                    </a:rPr>
                    <a:t> </a:t>
                  </a:r>
                </a:p>
              </p:txBody>
            </p:sp>
          </mc:Fallback>
        </mc:AlternateContent>
        <p:sp>
          <p:nvSpPr>
            <p:cNvPr id="5" name="Cross 4">
              <a:extLst>
                <a:ext uri="{FF2B5EF4-FFF2-40B4-BE49-F238E27FC236}">
                  <a16:creationId xmlns:a16="http://schemas.microsoft.com/office/drawing/2014/main" id="{5ED469A2-3E33-4204-B1C5-2D50F4C69902}"/>
                </a:ext>
              </a:extLst>
            </p:cNvPr>
            <p:cNvSpPr/>
            <p:nvPr/>
          </p:nvSpPr>
          <p:spPr>
            <a:xfrm>
              <a:off x="4114800" y="1978028"/>
              <a:ext cx="635515" cy="609600"/>
            </a:xfrm>
            <a:prstGeom prst="plus">
              <a:avLst>
                <a:gd name="adj" fmla="val 43293"/>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14824760-C71E-8564-F481-6C4325170E2B}"/>
              </a:ext>
            </a:extLst>
          </p:cNvPr>
          <p:cNvGrpSpPr/>
          <p:nvPr/>
        </p:nvGrpSpPr>
        <p:grpSpPr>
          <a:xfrm>
            <a:off x="867152" y="4556125"/>
            <a:ext cx="7562094" cy="1216028"/>
            <a:chOff x="717790" y="4557711"/>
            <a:chExt cx="7562094" cy="1216028"/>
          </a:xfrm>
        </p:grpSpPr>
        <p:sp>
          <p:nvSpPr>
            <p:cNvPr id="8" name="Freeform: Shape 7">
              <a:extLst>
                <a:ext uri="{FF2B5EF4-FFF2-40B4-BE49-F238E27FC236}">
                  <a16:creationId xmlns:a16="http://schemas.microsoft.com/office/drawing/2014/main" id="{1230E871-6E5A-4924-7A46-C5B2A995E9E8}"/>
                </a:ext>
              </a:extLst>
            </p:cNvPr>
            <p:cNvSpPr/>
            <p:nvPr/>
          </p:nvSpPr>
          <p:spPr>
            <a:xfrm>
              <a:off x="717790" y="4557711"/>
              <a:ext cx="2868113" cy="1216028"/>
            </a:xfrm>
            <a:custGeom>
              <a:avLst/>
              <a:gdLst>
                <a:gd name="connsiteX0" fmla="*/ 0 w 2839212"/>
                <a:gd name="connsiteY0" fmla="*/ 353766 h 2122552"/>
                <a:gd name="connsiteX1" fmla="*/ 353766 w 2839212"/>
                <a:gd name="connsiteY1" fmla="*/ 0 h 2122552"/>
                <a:gd name="connsiteX2" fmla="*/ 2485446 w 2839212"/>
                <a:gd name="connsiteY2" fmla="*/ 0 h 2122552"/>
                <a:gd name="connsiteX3" fmla="*/ 2839212 w 2839212"/>
                <a:gd name="connsiteY3" fmla="*/ 353766 h 2122552"/>
                <a:gd name="connsiteX4" fmla="*/ 2839212 w 2839212"/>
                <a:gd name="connsiteY4" fmla="*/ 1768786 h 2122552"/>
                <a:gd name="connsiteX5" fmla="*/ 2485446 w 2839212"/>
                <a:gd name="connsiteY5" fmla="*/ 2122552 h 2122552"/>
                <a:gd name="connsiteX6" fmla="*/ 353766 w 2839212"/>
                <a:gd name="connsiteY6" fmla="*/ 2122552 h 2122552"/>
                <a:gd name="connsiteX7" fmla="*/ 0 w 2839212"/>
                <a:gd name="connsiteY7" fmla="*/ 1768786 h 2122552"/>
                <a:gd name="connsiteX8" fmla="*/ 0 w 2839212"/>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9212" h="2122552">
                  <a:moveTo>
                    <a:pt x="0" y="353766"/>
                  </a:moveTo>
                  <a:cubicBezTo>
                    <a:pt x="0" y="158386"/>
                    <a:pt x="158386" y="0"/>
                    <a:pt x="353766" y="0"/>
                  </a:cubicBezTo>
                  <a:lnTo>
                    <a:pt x="2485446" y="0"/>
                  </a:lnTo>
                  <a:cubicBezTo>
                    <a:pt x="2680826" y="0"/>
                    <a:pt x="2839212" y="158386"/>
                    <a:pt x="2839212" y="353766"/>
                  </a:cubicBezTo>
                  <a:lnTo>
                    <a:pt x="2839212" y="1768786"/>
                  </a:lnTo>
                  <a:cubicBezTo>
                    <a:pt x="2839212" y="1964166"/>
                    <a:pt x="2680826" y="2122552"/>
                    <a:pt x="2485446" y="2122552"/>
                  </a:cubicBezTo>
                  <a:lnTo>
                    <a:pt x="353766" y="2122552"/>
                  </a:lnTo>
                  <a:cubicBezTo>
                    <a:pt x="158386" y="2122552"/>
                    <a:pt x="0" y="1964166"/>
                    <a:pt x="0" y="1768786"/>
                  </a:cubicBezTo>
                  <a:lnTo>
                    <a:pt x="0" y="3537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2684" tIns="193149" rIns="282684" bIns="193149" numCol="1" spcCol="1270" anchor="ctr" anchorCtr="0">
              <a:noAutofit/>
            </a:bodyPr>
            <a:lstStyle/>
            <a:p>
              <a:pPr marL="0" lvl="0" indent="0" algn="ctr" defTabSz="2089150">
                <a:lnSpc>
                  <a:spcPct val="90000"/>
                </a:lnSpc>
                <a:spcBef>
                  <a:spcPct val="0"/>
                </a:spcBef>
                <a:spcAft>
                  <a:spcPct val="35000"/>
                </a:spcAft>
                <a:buNone/>
              </a:pPr>
              <a:r>
                <a:rPr lang="en-US" sz="4700" kern="1200" dirty="0"/>
                <a:t>Best-First Search</a:t>
              </a:r>
            </a:p>
          </p:txBody>
        </p:sp>
        <mc:AlternateContent xmlns:mc="http://schemas.openxmlformats.org/markup-compatibility/2006" xmlns:a14="http://schemas.microsoft.com/office/drawing/2010/main">
          <mc:Choice Requires="a14">
            <p:sp>
              <p:nvSpPr>
                <p:cNvPr id="9" name="Freeform: Shape 8">
                  <a:extLst>
                    <a:ext uri="{FF2B5EF4-FFF2-40B4-BE49-F238E27FC236}">
                      <a16:creationId xmlns:a16="http://schemas.microsoft.com/office/drawing/2014/main" id="{E9138DA5-B2BE-934F-D73A-30BB99F511D4}"/>
                    </a:ext>
                  </a:extLst>
                </p:cNvPr>
                <p:cNvSpPr/>
                <p:nvPr/>
              </p:nvSpPr>
              <p:spPr>
                <a:xfrm>
                  <a:off x="5105400" y="4557711"/>
                  <a:ext cx="3174484" cy="1216028"/>
                </a:xfrm>
                <a:custGeom>
                  <a:avLst/>
                  <a:gdLst>
                    <a:gd name="connsiteX0" fmla="*/ 0 w 3142496"/>
                    <a:gd name="connsiteY0" fmla="*/ 353766 h 2122552"/>
                    <a:gd name="connsiteX1" fmla="*/ 353766 w 3142496"/>
                    <a:gd name="connsiteY1" fmla="*/ 0 h 2122552"/>
                    <a:gd name="connsiteX2" fmla="*/ 2788730 w 3142496"/>
                    <a:gd name="connsiteY2" fmla="*/ 0 h 2122552"/>
                    <a:gd name="connsiteX3" fmla="*/ 3142496 w 3142496"/>
                    <a:gd name="connsiteY3" fmla="*/ 353766 h 2122552"/>
                    <a:gd name="connsiteX4" fmla="*/ 3142496 w 3142496"/>
                    <a:gd name="connsiteY4" fmla="*/ 1768786 h 2122552"/>
                    <a:gd name="connsiteX5" fmla="*/ 2788730 w 3142496"/>
                    <a:gd name="connsiteY5" fmla="*/ 2122552 h 2122552"/>
                    <a:gd name="connsiteX6" fmla="*/ 353766 w 3142496"/>
                    <a:gd name="connsiteY6" fmla="*/ 2122552 h 2122552"/>
                    <a:gd name="connsiteX7" fmla="*/ 0 w 3142496"/>
                    <a:gd name="connsiteY7" fmla="*/ 1768786 h 2122552"/>
                    <a:gd name="connsiteX8" fmla="*/ 0 w 3142496"/>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2496" h="2122552">
                      <a:moveTo>
                        <a:pt x="0" y="353766"/>
                      </a:moveTo>
                      <a:cubicBezTo>
                        <a:pt x="0" y="158386"/>
                        <a:pt x="158386" y="0"/>
                        <a:pt x="353766" y="0"/>
                      </a:cubicBezTo>
                      <a:lnTo>
                        <a:pt x="2788730" y="0"/>
                      </a:lnTo>
                      <a:cubicBezTo>
                        <a:pt x="2984110" y="0"/>
                        <a:pt x="3142496" y="158386"/>
                        <a:pt x="3142496" y="353766"/>
                      </a:cubicBezTo>
                      <a:lnTo>
                        <a:pt x="3142496" y="1768786"/>
                      </a:lnTo>
                      <a:cubicBezTo>
                        <a:pt x="3142496" y="1964166"/>
                        <a:pt x="2984110" y="2122552"/>
                        <a:pt x="2788730" y="2122552"/>
                      </a:cubicBezTo>
                      <a:lnTo>
                        <a:pt x="353766" y="2122552"/>
                      </a:lnTo>
                      <a:cubicBezTo>
                        <a:pt x="158386" y="2122552"/>
                        <a:pt x="0" y="1964166"/>
                        <a:pt x="0" y="1768786"/>
                      </a:cubicBezTo>
                      <a:lnTo>
                        <a:pt x="0" y="35376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95054" tIns="149334" rIns="195054" bIns="149334" numCol="1" spcCol="1270" anchor="ctr" anchorCtr="0">
                  <a:noAutofit/>
                </a:bodyPr>
                <a:lstStyle/>
                <a:p>
                  <a:pPr marL="0" lvl="0" indent="0" algn="ctr" defTabSz="1066800">
                    <a:lnSpc>
                      <a:spcPct val="90000"/>
                    </a:lnSpc>
                    <a:spcBef>
                      <a:spcPct val="0"/>
                    </a:spcBef>
                    <a:spcAft>
                      <a:spcPct val="35000"/>
                    </a:spcAft>
                    <a:buNone/>
                  </a:pPr>
                  <a:r>
                    <a:rPr lang="en-US" sz="2400" kern="1200" dirty="0"/>
                    <a:t>Expand the frontier using</a:t>
                  </a:r>
                  <a:br>
                    <a:rPr lang="en-US" sz="2400" kern="1200" dirty="0"/>
                  </a:br>
                  <a14:m>
                    <m:oMath xmlns:m="http://schemas.openxmlformats.org/officeDocument/2006/math">
                      <m:r>
                        <a:rPr lang="en-US" sz="2400" b="0" i="1" kern="1200" smtClean="0">
                          <a:latin typeface="Cambria Math" panose="02040503050406030204" pitchFamily="18" charset="0"/>
                        </a:rPr>
                        <m:t> </m:t>
                      </m:r>
                      <m:r>
                        <a:rPr lang="en-US" sz="2400" b="0" i="1" kern="1200" smtClean="0">
                          <a:latin typeface="Cambria Math" panose="02040503050406030204" pitchFamily="18" charset="0"/>
                        </a:rPr>
                        <m:t>𝑓</m:t>
                      </m:r>
                      <m:d>
                        <m:dPr>
                          <m:ctrlPr>
                            <a:rPr lang="en-US" sz="2400" b="0" i="1" kern="1200" smtClean="0">
                              <a:latin typeface="Cambria Math" panose="02040503050406030204" pitchFamily="18" charset="0"/>
                            </a:rPr>
                          </m:ctrlPr>
                        </m:dPr>
                        <m:e>
                          <m:r>
                            <a:rPr lang="en-US" sz="2400" b="0" i="1" kern="1200" smtClean="0">
                              <a:latin typeface="Cambria Math" panose="02040503050406030204" pitchFamily="18" charset="0"/>
                            </a:rPr>
                            <m:t>𝑛</m:t>
                          </m:r>
                        </m:e>
                      </m:d>
                      <m:r>
                        <a:rPr lang="en-US" sz="2400" b="0" i="1" kern="1200" smtClean="0">
                          <a:latin typeface="Cambria Math" panose="02040503050406030204" pitchFamily="18" charset="0"/>
                        </a:rPr>
                        <m:t>=</m:t>
                      </m:r>
                      <m:r>
                        <a:rPr lang="en-US" sz="2400" b="0" i="1" kern="1200" smtClean="0">
                          <a:latin typeface="Cambria Math" panose="02040503050406030204" pitchFamily="18" charset="0"/>
                        </a:rPr>
                        <m:t>h</m:t>
                      </m:r>
                      <m:d>
                        <m:dPr>
                          <m:ctrlPr>
                            <a:rPr lang="en-US" sz="2400" b="0" i="1" kern="1200" smtClean="0">
                              <a:latin typeface="Cambria Math" panose="02040503050406030204" pitchFamily="18" charset="0"/>
                            </a:rPr>
                          </m:ctrlPr>
                        </m:dPr>
                        <m:e>
                          <m:r>
                            <a:rPr lang="en-US" sz="2400" b="0" i="1" kern="1200" smtClean="0">
                              <a:latin typeface="Cambria Math" panose="02040503050406030204" pitchFamily="18" charset="0"/>
                            </a:rPr>
                            <m:t>𝑛</m:t>
                          </m:r>
                        </m:e>
                      </m:d>
                      <m:r>
                        <a:rPr lang="en-US" sz="2400" b="1" i="1" kern="1200" smtClean="0">
                          <a:solidFill>
                            <a:srgbClr val="FF0000"/>
                          </a:solidFill>
                          <a:latin typeface="Cambria Math" panose="02040503050406030204" pitchFamily="18" charset="0"/>
                        </a:rPr>
                        <m:t>+</m:t>
                      </m:r>
                      <m:r>
                        <a:rPr lang="en-US" sz="2400" b="1" i="1" kern="1200" smtClean="0">
                          <a:solidFill>
                            <a:srgbClr val="FF0000"/>
                          </a:solidFill>
                          <a:latin typeface="Cambria Math" panose="02040503050406030204" pitchFamily="18" charset="0"/>
                        </a:rPr>
                        <m:t>𝒈</m:t>
                      </m:r>
                      <m:r>
                        <a:rPr lang="en-US" sz="2400" b="1" i="1" kern="1200" smtClean="0">
                          <a:solidFill>
                            <a:srgbClr val="FF0000"/>
                          </a:solidFill>
                          <a:latin typeface="Cambria Math" panose="02040503050406030204" pitchFamily="18" charset="0"/>
                        </a:rPr>
                        <m:t>(</m:t>
                      </m:r>
                      <m:r>
                        <a:rPr lang="en-US" sz="2400" b="1" i="1" kern="1200" smtClean="0">
                          <a:solidFill>
                            <a:srgbClr val="FF0000"/>
                          </a:solidFill>
                          <a:latin typeface="Cambria Math" panose="02040503050406030204" pitchFamily="18" charset="0"/>
                        </a:rPr>
                        <m:t>𝒏</m:t>
                      </m:r>
                      <m:r>
                        <a:rPr lang="en-US" sz="2400" b="1" i="1" kern="1200" smtClean="0">
                          <a:solidFill>
                            <a:srgbClr val="FF0000"/>
                          </a:solidFill>
                          <a:latin typeface="Cambria Math" panose="02040503050406030204" pitchFamily="18" charset="0"/>
                        </a:rPr>
                        <m:t>)</m:t>
                      </m:r>
                    </m:oMath>
                  </a14:m>
                  <a:r>
                    <a:rPr lang="en-US" sz="2400" b="1" kern="1200" dirty="0">
                      <a:solidFill>
                        <a:srgbClr val="FF0000"/>
                      </a:solidFill>
                    </a:rPr>
                    <a:t> </a:t>
                  </a:r>
                  <a:endParaRPr lang="en-US" sz="2400" b="1" kern="1200" dirty="0"/>
                </a:p>
              </p:txBody>
            </p:sp>
          </mc:Choice>
          <mc:Fallback xmlns="">
            <p:sp>
              <p:nvSpPr>
                <p:cNvPr id="9" name="Freeform: Shape 8">
                  <a:extLst>
                    <a:ext uri="{FF2B5EF4-FFF2-40B4-BE49-F238E27FC236}">
                      <a16:creationId xmlns:a16="http://schemas.microsoft.com/office/drawing/2014/main" id="{E9138DA5-B2BE-934F-D73A-30BB99F511D4}"/>
                    </a:ext>
                  </a:extLst>
                </p:cNvPr>
                <p:cNvSpPr>
                  <a:spLocks noRot="1" noChangeAspect="1" noMove="1" noResize="1" noEditPoints="1" noAdjustHandles="1" noChangeArrowheads="1" noChangeShapeType="1" noTextEdit="1"/>
                </p:cNvSpPr>
                <p:nvPr/>
              </p:nvSpPr>
              <p:spPr>
                <a:xfrm>
                  <a:off x="5105400" y="4557711"/>
                  <a:ext cx="3174484" cy="1216028"/>
                </a:xfrm>
                <a:custGeom>
                  <a:avLst/>
                  <a:gdLst>
                    <a:gd name="connsiteX0" fmla="*/ 0 w 3142496"/>
                    <a:gd name="connsiteY0" fmla="*/ 353766 h 2122552"/>
                    <a:gd name="connsiteX1" fmla="*/ 353766 w 3142496"/>
                    <a:gd name="connsiteY1" fmla="*/ 0 h 2122552"/>
                    <a:gd name="connsiteX2" fmla="*/ 2788730 w 3142496"/>
                    <a:gd name="connsiteY2" fmla="*/ 0 h 2122552"/>
                    <a:gd name="connsiteX3" fmla="*/ 3142496 w 3142496"/>
                    <a:gd name="connsiteY3" fmla="*/ 353766 h 2122552"/>
                    <a:gd name="connsiteX4" fmla="*/ 3142496 w 3142496"/>
                    <a:gd name="connsiteY4" fmla="*/ 1768786 h 2122552"/>
                    <a:gd name="connsiteX5" fmla="*/ 2788730 w 3142496"/>
                    <a:gd name="connsiteY5" fmla="*/ 2122552 h 2122552"/>
                    <a:gd name="connsiteX6" fmla="*/ 353766 w 3142496"/>
                    <a:gd name="connsiteY6" fmla="*/ 2122552 h 2122552"/>
                    <a:gd name="connsiteX7" fmla="*/ 0 w 3142496"/>
                    <a:gd name="connsiteY7" fmla="*/ 1768786 h 2122552"/>
                    <a:gd name="connsiteX8" fmla="*/ 0 w 3142496"/>
                    <a:gd name="connsiteY8" fmla="*/ 353766 h 2122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2496" h="2122552">
                      <a:moveTo>
                        <a:pt x="0" y="353766"/>
                      </a:moveTo>
                      <a:cubicBezTo>
                        <a:pt x="0" y="158386"/>
                        <a:pt x="158386" y="0"/>
                        <a:pt x="353766" y="0"/>
                      </a:cubicBezTo>
                      <a:lnTo>
                        <a:pt x="2788730" y="0"/>
                      </a:lnTo>
                      <a:cubicBezTo>
                        <a:pt x="2984110" y="0"/>
                        <a:pt x="3142496" y="158386"/>
                        <a:pt x="3142496" y="353766"/>
                      </a:cubicBezTo>
                      <a:lnTo>
                        <a:pt x="3142496" y="1768786"/>
                      </a:lnTo>
                      <a:cubicBezTo>
                        <a:pt x="3142496" y="1964166"/>
                        <a:pt x="2984110" y="2122552"/>
                        <a:pt x="2788730" y="2122552"/>
                      </a:cubicBezTo>
                      <a:lnTo>
                        <a:pt x="353766" y="2122552"/>
                      </a:lnTo>
                      <a:cubicBezTo>
                        <a:pt x="158386" y="2122552"/>
                        <a:pt x="0" y="1964166"/>
                        <a:pt x="0" y="1768786"/>
                      </a:cubicBezTo>
                      <a:lnTo>
                        <a:pt x="0" y="353766"/>
                      </a:lnTo>
                      <a:close/>
                    </a:path>
                  </a:pathLst>
                </a:custGeom>
                <a:blipFill>
                  <a:blip r:embed="rId4"/>
                  <a:stretch>
                    <a:fillRect t="-495" b="-990"/>
                  </a:stretch>
                </a:blipFill>
              </p:spPr>
              <p:txBody>
                <a:bodyPr/>
                <a:lstStyle/>
                <a:p>
                  <a:r>
                    <a:rPr lang="en-US">
                      <a:noFill/>
                    </a:rPr>
                    <a:t> </a:t>
                  </a:r>
                </a:p>
              </p:txBody>
            </p:sp>
          </mc:Fallback>
        </mc:AlternateContent>
        <p:sp>
          <p:nvSpPr>
            <p:cNvPr id="10" name="Cross 9">
              <a:extLst>
                <a:ext uri="{FF2B5EF4-FFF2-40B4-BE49-F238E27FC236}">
                  <a16:creationId xmlns:a16="http://schemas.microsoft.com/office/drawing/2014/main" id="{0C101B1A-7CC3-DFA0-70B6-120F75C5DA98}"/>
                </a:ext>
              </a:extLst>
            </p:cNvPr>
            <p:cNvSpPr/>
            <p:nvPr/>
          </p:nvSpPr>
          <p:spPr>
            <a:xfrm>
              <a:off x="4012684" y="4859339"/>
              <a:ext cx="635515" cy="609600"/>
            </a:xfrm>
            <a:prstGeom prst="plus">
              <a:avLst>
                <a:gd name="adj" fmla="val 43293"/>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grpSp>
      <p:sp>
        <p:nvSpPr>
          <p:cNvPr id="11" name="Title 1">
            <a:extLst>
              <a:ext uri="{FF2B5EF4-FFF2-40B4-BE49-F238E27FC236}">
                <a16:creationId xmlns:a16="http://schemas.microsoft.com/office/drawing/2014/main" id="{F15FD8C6-1635-6761-7836-E19829187DD7}"/>
              </a:ext>
            </a:extLst>
          </p:cNvPr>
          <p:cNvSpPr txBox="1">
            <a:spLocks/>
          </p:cNvSpPr>
          <p:nvPr/>
        </p:nvSpPr>
        <p:spPr>
          <a:xfrm>
            <a:off x="635276" y="3429000"/>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2800" dirty="0"/>
              <a:t>A* Search</a:t>
            </a:r>
          </a:p>
        </p:txBody>
      </p:sp>
      <p:sp>
        <p:nvSpPr>
          <p:cNvPr id="12" name="Title 1">
            <a:extLst>
              <a:ext uri="{FF2B5EF4-FFF2-40B4-BE49-F238E27FC236}">
                <a16:creationId xmlns:a16="http://schemas.microsoft.com/office/drawing/2014/main" id="{5228C7B4-384E-0C22-4D50-173E541AF9E6}"/>
              </a:ext>
            </a:extLst>
          </p:cNvPr>
          <p:cNvSpPr txBox="1">
            <a:spLocks/>
          </p:cNvSpPr>
          <p:nvPr/>
        </p:nvSpPr>
        <p:spPr>
          <a:xfrm>
            <a:off x="495300" y="1027907"/>
            <a:ext cx="7886700" cy="1325563"/>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2800" dirty="0"/>
              <a:t>Greedy Best-First search</a:t>
            </a:r>
          </a:p>
        </p:txBody>
      </p:sp>
    </p:spTree>
    <p:extLst>
      <p:ext uri="{BB962C8B-B14F-4D97-AF65-F5344CB8AC3E}">
        <p14:creationId xmlns:p14="http://schemas.microsoft.com/office/powerpoint/2010/main" val="878665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Heuristics from Relaxed Problems</a:t>
            </a:r>
          </a:p>
        </p:txBody>
      </p:sp>
      <p:sp>
        <p:nvSpPr>
          <p:cNvPr id="3" name="Content Placeholder 2"/>
          <p:cNvSpPr>
            <a:spLocks noGrp="1"/>
          </p:cNvSpPr>
          <p:nvPr>
            <p:ph idx="1"/>
          </p:nvPr>
        </p:nvSpPr>
        <p:spPr>
          <a:xfrm>
            <a:off x="457200" y="1219200"/>
            <a:ext cx="8229600" cy="4525963"/>
          </a:xfrm>
        </p:spPr>
        <p:txBody>
          <a:bodyPr>
            <a:normAutofit/>
          </a:bodyPr>
          <a:lstStyle/>
          <a:p>
            <a:pPr marL="0" indent="0" algn="ctr">
              <a:buNone/>
            </a:pPr>
            <a:r>
              <a:rPr lang="en-US" sz="2400" b="1" dirty="0"/>
              <a:t>What relaxations are used in these two cases?</a:t>
            </a:r>
          </a:p>
        </p:txBody>
      </p:sp>
      <p:pic>
        <p:nvPicPr>
          <p:cNvPr id="5"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652534" y="2678960"/>
            <a:ext cx="3272163" cy="3272163"/>
          </a:xfrm>
          <a:prstGeom prst="rect">
            <a:avLst/>
          </a:prstGeom>
          <a:noFill/>
          <a:ln w="9525">
            <a:noFill/>
            <a:miter lim="800000"/>
            <a:headEnd/>
            <a:tailEnd/>
          </a:ln>
        </p:spPr>
      </p:pic>
      <p:sp>
        <p:nvSpPr>
          <p:cNvPr id="6" name="Down Arrow 5"/>
          <p:cNvSpPr/>
          <p:nvPr/>
        </p:nvSpPr>
        <p:spPr>
          <a:xfrm>
            <a:off x="834321" y="2427299"/>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57200" y="2133600"/>
            <a:ext cx="983077" cy="293699"/>
          </a:xfrm>
          <a:prstGeom prst="rect">
            <a:avLst/>
          </a:prstGeom>
          <a:noFill/>
        </p:spPr>
        <p:txBody>
          <a:bodyPr wrap="none" rtlCol="0">
            <a:spAutoFit/>
          </a:bodyPr>
          <a:lstStyle/>
          <a:p>
            <a:r>
              <a:rPr lang="en-US" dirty="0"/>
              <a:t>Start state</a:t>
            </a:r>
          </a:p>
        </p:txBody>
      </p:sp>
      <p:sp>
        <p:nvSpPr>
          <p:cNvPr id="8" name="Down Arrow 7"/>
          <p:cNvSpPr/>
          <p:nvPr/>
        </p:nvSpPr>
        <p:spPr>
          <a:xfrm rot="5400000">
            <a:off x="4068898" y="5547973"/>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3372562" y="5974746"/>
            <a:ext cx="983077" cy="293699"/>
          </a:xfrm>
          <a:prstGeom prst="rect">
            <a:avLst/>
          </a:prstGeom>
          <a:noFill/>
        </p:spPr>
        <p:txBody>
          <a:bodyPr wrap="none" rtlCol="0">
            <a:spAutoFit/>
          </a:bodyPr>
          <a:lstStyle/>
          <a:p>
            <a:r>
              <a:rPr lang="en-US" dirty="0"/>
              <a:t>Goal state</a:t>
            </a:r>
          </a:p>
        </p:txBody>
      </p:sp>
      <p:sp>
        <p:nvSpPr>
          <p:cNvPr id="10" name="5-Point Star 9"/>
          <p:cNvSpPr/>
          <p:nvPr/>
        </p:nvSpPr>
        <p:spPr>
          <a:xfrm>
            <a:off x="1864446" y="4920998"/>
            <a:ext cx="181787" cy="181787"/>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1985637" y="5042189"/>
            <a:ext cx="1878464" cy="666552"/>
          </a:xfrm>
          <a:prstGeom prst="line">
            <a:avLst/>
          </a:prstGeom>
          <a:ln w="381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pic>
        <p:nvPicPr>
          <p:cNvPr id="12" name="Picture 2">
            <a:extLst>
              <a:ext uri="{FF2B5EF4-FFF2-40B4-BE49-F238E27FC236}">
                <a16:creationId xmlns:a16="http://schemas.microsoft.com/office/drawing/2014/main" id="{DF9E533F-BB9B-4439-8E8F-5DED1104394F}"/>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artisticPencilSketch/>
                    </a14:imgEffect>
                  </a14:imgLayer>
                </a14:imgProps>
              </a:ext>
            </a:extLst>
          </a:blip>
          <a:srcRect/>
          <a:stretch>
            <a:fillRect/>
          </a:stretch>
        </p:blipFill>
        <p:spPr bwMode="auto">
          <a:xfrm>
            <a:off x="4843534" y="2650385"/>
            <a:ext cx="3272163" cy="3272163"/>
          </a:xfrm>
          <a:prstGeom prst="rect">
            <a:avLst/>
          </a:prstGeom>
          <a:noFill/>
          <a:ln w="9525">
            <a:noFill/>
            <a:miter lim="800000"/>
            <a:headEnd/>
            <a:tailEnd/>
          </a:ln>
        </p:spPr>
      </p:pic>
      <p:sp>
        <p:nvSpPr>
          <p:cNvPr id="13" name="Down Arrow 5">
            <a:extLst>
              <a:ext uri="{FF2B5EF4-FFF2-40B4-BE49-F238E27FC236}">
                <a16:creationId xmlns:a16="http://schemas.microsoft.com/office/drawing/2014/main" id="{B3F9EDDE-1211-49CC-AE28-0DEA8B67AF1F}"/>
              </a:ext>
            </a:extLst>
          </p:cNvPr>
          <p:cNvSpPr/>
          <p:nvPr/>
        </p:nvSpPr>
        <p:spPr>
          <a:xfrm>
            <a:off x="5025321" y="2398724"/>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A4A6DB-BDAD-44F5-B13C-B4880EE656EE}"/>
              </a:ext>
            </a:extLst>
          </p:cNvPr>
          <p:cNvSpPr txBox="1"/>
          <p:nvPr/>
        </p:nvSpPr>
        <p:spPr>
          <a:xfrm>
            <a:off x="4648200" y="2105025"/>
            <a:ext cx="983077" cy="293699"/>
          </a:xfrm>
          <a:prstGeom prst="rect">
            <a:avLst/>
          </a:prstGeom>
          <a:noFill/>
        </p:spPr>
        <p:txBody>
          <a:bodyPr wrap="none" rtlCol="0">
            <a:spAutoFit/>
          </a:bodyPr>
          <a:lstStyle/>
          <a:p>
            <a:r>
              <a:rPr lang="en-US" dirty="0"/>
              <a:t>Start state</a:t>
            </a:r>
          </a:p>
        </p:txBody>
      </p:sp>
      <p:sp>
        <p:nvSpPr>
          <p:cNvPr id="15" name="Down Arrow 7">
            <a:extLst>
              <a:ext uri="{FF2B5EF4-FFF2-40B4-BE49-F238E27FC236}">
                <a16:creationId xmlns:a16="http://schemas.microsoft.com/office/drawing/2014/main" id="{6552566B-6F41-412F-BD9D-8B255E817642}"/>
              </a:ext>
            </a:extLst>
          </p:cNvPr>
          <p:cNvSpPr/>
          <p:nvPr/>
        </p:nvSpPr>
        <p:spPr>
          <a:xfrm rot="5400000">
            <a:off x="8236888" y="5519398"/>
            <a:ext cx="181787" cy="2423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7F9CFA2-F858-4809-8B7D-A3225899B45B}"/>
              </a:ext>
            </a:extLst>
          </p:cNvPr>
          <p:cNvSpPr txBox="1"/>
          <p:nvPr/>
        </p:nvSpPr>
        <p:spPr>
          <a:xfrm>
            <a:off x="7836242" y="5961230"/>
            <a:ext cx="983077" cy="293699"/>
          </a:xfrm>
          <a:prstGeom prst="rect">
            <a:avLst/>
          </a:prstGeom>
          <a:noFill/>
        </p:spPr>
        <p:txBody>
          <a:bodyPr wrap="none" rtlCol="0">
            <a:spAutoFit/>
          </a:bodyPr>
          <a:lstStyle/>
          <a:p>
            <a:r>
              <a:rPr lang="en-US" dirty="0"/>
              <a:t>Goal state</a:t>
            </a:r>
          </a:p>
        </p:txBody>
      </p:sp>
      <p:sp>
        <p:nvSpPr>
          <p:cNvPr id="17" name="5-Point Star 9">
            <a:extLst>
              <a:ext uri="{FF2B5EF4-FFF2-40B4-BE49-F238E27FC236}">
                <a16:creationId xmlns:a16="http://schemas.microsoft.com/office/drawing/2014/main" id="{C5FBD971-D576-46B5-B778-F31D90E6A82B}"/>
              </a:ext>
            </a:extLst>
          </p:cNvPr>
          <p:cNvSpPr/>
          <p:nvPr/>
        </p:nvSpPr>
        <p:spPr>
          <a:xfrm>
            <a:off x="6055446" y="4892423"/>
            <a:ext cx="181787" cy="181787"/>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FFB86754-9901-4B12-8CBE-445BFFF5B1E5}"/>
              </a:ext>
            </a:extLst>
          </p:cNvPr>
          <p:cNvCxnSpPr/>
          <p:nvPr/>
        </p:nvCxnSpPr>
        <p:spPr>
          <a:xfrm>
            <a:off x="6176637" y="5013614"/>
            <a:ext cx="1878464" cy="666552"/>
          </a:xfrm>
          <a:prstGeom prst="bentConnector3">
            <a:avLst>
              <a:gd name="adj1" fmla="val 308"/>
            </a:avLst>
          </a:prstGeom>
          <a:ln w="381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4" name="Rectangle 3">
            <a:extLst>
              <a:ext uri="{FF2B5EF4-FFF2-40B4-BE49-F238E27FC236}">
                <a16:creationId xmlns:a16="http://schemas.microsoft.com/office/drawing/2014/main" id="{19042422-30D2-4FB5-9682-F3AE7571F65B}"/>
              </a:ext>
            </a:extLst>
          </p:cNvPr>
          <p:cNvSpPr/>
          <p:nvPr/>
        </p:nvSpPr>
        <p:spPr>
          <a:xfrm>
            <a:off x="1325338" y="1828800"/>
            <a:ext cx="1952779" cy="369332"/>
          </a:xfrm>
          <a:prstGeom prst="rect">
            <a:avLst/>
          </a:prstGeom>
        </p:spPr>
        <p:txBody>
          <a:bodyPr wrap="none">
            <a:spAutoFit/>
          </a:bodyPr>
          <a:lstStyle/>
          <a:p>
            <a:r>
              <a:rPr lang="en-US" b="1" dirty="0"/>
              <a:t>Euclidean distance</a:t>
            </a:r>
          </a:p>
        </p:txBody>
      </p:sp>
      <p:sp>
        <p:nvSpPr>
          <p:cNvPr id="19" name="Rectangle 18">
            <a:extLst>
              <a:ext uri="{FF2B5EF4-FFF2-40B4-BE49-F238E27FC236}">
                <a16:creationId xmlns:a16="http://schemas.microsoft.com/office/drawing/2014/main" id="{6B0D99D0-DFBD-4069-8820-82E7E0CAE9B6}"/>
              </a:ext>
            </a:extLst>
          </p:cNvPr>
          <p:cNvSpPr/>
          <p:nvPr/>
        </p:nvSpPr>
        <p:spPr>
          <a:xfrm>
            <a:off x="5514821" y="1840468"/>
            <a:ext cx="2099614" cy="369332"/>
          </a:xfrm>
          <a:prstGeom prst="rect">
            <a:avLst/>
          </a:prstGeom>
        </p:spPr>
        <p:txBody>
          <a:bodyPr wrap="none">
            <a:spAutoFit/>
          </a:bodyPr>
          <a:lstStyle/>
          <a:p>
            <a:r>
              <a:rPr lang="en-US" b="1" dirty="0"/>
              <a:t>Manhattan distance</a:t>
            </a:r>
          </a:p>
        </p:txBody>
      </p:sp>
      <p:sp>
        <p:nvSpPr>
          <p:cNvPr id="21" name="TextBox 20">
            <a:extLst>
              <a:ext uri="{FF2B5EF4-FFF2-40B4-BE49-F238E27FC236}">
                <a16:creationId xmlns:a16="http://schemas.microsoft.com/office/drawing/2014/main" id="{47BB72C0-4DFE-5997-5FAD-F8E06F9281B2}"/>
              </a:ext>
            </a:extLst>
          </p:cNvPr>
          <p:cNvSpPr txBox="1"/>
          <p:nvPr/>
        </p:nvSpPr>
        <p:spPr>
          <a:xfrm>
            <a:off x="2362200" y="6372536"/>
            <a:ext cx="4572000" cy="369332"/>
          </a:xfrm>
          <a:prstGeom prst="rect">
            <a:avLst/>
          </a:prstGeom>
          <a:noFill/>
        </p:spPr>
        <p:txBody>
          <a:bodyPr wrap="square">
            <a:spAutoFit/>
          </a:bodyPr>
          <a:lstStyle/>
          <a:p>
            <a:pPr marL="0" indent="0" algn="ctr">
              <a:buNone/>
            </a:pPr>
            <a:r>
              <a:rPr lang="en-US" sz="1800" b="1" dirty="0"/>
              <a:t>Which heuristic is admissible for A* search?</a:t>
            </a:r>
          </a:p>
        </p:txBody>
      </p:sp>
    </p:spTree>
    <p:extLst>
      <p:ext uri="{BB962C8B-B14F-4D97-AF65-F5344CB8AC3E}">
        <p14:creationId xmlns:p14="http://schemas.microsoft.com/office/powerpoint/2010/main" val="746709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Satisficing Search: Weighted A* Search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5"/>
                <a:ext cx="7886700" cy="2289175"/>
              </a:xfrm>
            </p:spPr>
            <p:txBody>
              <a:bodyPr>
                <a:normAutofit fontScale="92500" lnSpcReduction="20000"/>
              </a:bodyPr>
              <a:lstStyle/>
              <a:p>
                <a:r>
                  <a:rPr lang="en-US" dirty="0"/>
                  <a:t>Often it is sufficient to find a </a:t>
                </a:r>
                <a:r>
                  <a:rPr lang="en-US" b="1" dirty="0">
                    <a:solidFill>
                      <a:srgbClr val="FF0000"/>
                    </a:solidFill>
                  </a:rPr>
                  <a:t>“good enough” solution </a:t>
                </a:r>
                <a:r>
                  <a:rPr lang="en-US" dirty="0"/>
                  <a:t>if it can be found very quickly or with way less computational resources. I.e., </a:t>
                </a:r>
                <a:r>
                  <a:rPr lang="en-US" dirty="0">
                    <a:solidFill>
                      <a:srgbClr val="FF0000"/>
                    </a:solidFill>
                  </a:rPr>
                  <a:t>expanding fewer nodes</a:t>
                </a:r>
                <a:r>
                  <a:rPr lang="en-US" dirty="0"/>
                  <a:t>.</a:t>
                </a:r>
              </a:p>
              <a:p>
                <a:endParaRPr lang="en-US" dirty="0"/>
              </a:p>
              <a:p>
                <a:r>
                  <a:rPr lang="en-US" dirty="0"/>
                  <a:t>We could use inadmissible heuristics in A* search (e.g., by multiplying </a:t>
                </a:r>
                <a14:m>
                  <m:oMath xmlns:m="http://schemas.openxmlformats.org/officeDocument/2006/math">
                    <m:r>
                      <a:rPr lang="en-US" i="1" dirty="0" smtClean="0">
                        <a:latin typeface="Cambria Math" panose="02040503050406030204" pitchFamily="18" charset="0"/>
                      </a:rPr>
                      <m:t>h</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a14:m>
                <a:r>
                  <a:rPr lang="en-US" dirty="0"/>
                  <a:t> with a factor </a:t>
                </a:r>
                <a14:m>
                  <m:oMath xmlns:m="http://schemas.openxmlformats.org/officeDocument/2006/math">
                    <m:r>
                      <a:rPr lang="en-US" i="1" dirty="0" smtClean="0">
                        <a:latin typeface="Cambria Math" panose="02040503050406030204" pitchFamily="18" charset="0"/>
                      </a:rPr>
                      <m:t>𝑊</m:t>
                    </m:r>
                  </m:oMath>
                </a14:m>
                <a:r>
                  <a:rPr lang="en-US" dirty="0"/>
                  <a:t>) that sometimes overestimate the optimal cost to the goal slightly. </a:t>
                </a:r>
              </a:p>
              <a:p>
                <a:pPr marL="685800" lvl="1" indent="-342900">
                  <a:buFont typeface="+mj-lt"/>
                  <a:buAutoNum type="arabicPeriod"/>
                </a:pPr>
                <a:r>
                  <a:rPr lang="en-US" dirty="0"/>
                  <a:t>It potentially reduces the number of expanded nodes significantly.</a:t>
                </a:r>
              </a:p>
              <a:p>
                <a:pPr marL="685800" lvl="1" indent="-342900">
                  <a:buFont typeface="+mj-lt"/>
                  <a:buAutoNum type="arabicPeriod"/>
                </a:pPr>
                <a:r>
                  <a:rPr lang="en-US" b="1" dirty="0">
                    <a:solidFill>
                      <a:srgbClr val="FF0000"/>
                    </a:solidFill>
                  </a:rPr>
                  <a:t>This will break the algorithm’s optimality guaranty!</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5"/>
                <a:ext cx="7886700" cy="2289175"/>
              </a:xfrm>
              <a:blipFill>
                <a:blip r:embed="rId3"/>
                <a:stretch>
                  <a:fillRect l="-541" t="-45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0B30838-AD7A-4533-8D6F-5E87E3D8C415}"/>
                  </a:ext>
                </a:extLst>
              </p:cNvPr>
              <p:cNvSpPr txBox="1"/>
              <p:nvPr/>
            </p:nvSpPr>
            <p:spPr>
              <a:xfrm>
                <a:off x="990600" y="4191000"/>
                <a:ext cx="7162800" cy="95410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marL="342900" lvl="1" indent="0" algn="ctr">
                  <a:buNone/>
                </a:pPr>
                <a14:m>
                  <m:oMathPara xmlns:m="http://schemas.openxmlformats.org/officeDocument/2006/math">
                    <m:oMathParaPr>
                      <m:jc m:val="center"/>
                    </m:oMathParaPr>
                    <m:oMath xmlns:m="http://schemas.openxmlformats.org/officeDocument/2006/math">
                      <m:r>
                        <m:rPr>
                          <m:sty m:val="p"/>
                        </m:rPr>
                        <a:rPr lang="en-US" sz="2000" b="0" i="0" smtClean="0">
                          <a:latin typeface="Cambria Math" panose="02040503050406030204" pitchFamily="18" charset="0"/>
                        </a:rPr>
                        <m:t>f</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𝑛</m:t>
                          </m:r>
                        </m:e>
                      </m:d>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i="1" smtClean="0">
                              <a:latin typeface="Cambria Math" panose="02040503050406030204" pitchFamily="18" charset="0"/>
                            </a:rPr>
                          </m:ctrlPr>
                        </m:dPr>
                        <m:e>
                          <m:r>
                            <a:rPr lang="en-US" sz="2000" b="0" i="1" smtClean="0">
                              <a:latin typeface="Cambria Math" panose="02040503050406030204" pitchFamily="18" charset="0"/>
                            </a:rPr>
                            <m:t>𝑛</m:t>
                          </m:r>
                        </m:e>
                      </m:d>
                      <m:r>
                        <a:rPr lang="en-US" sz="2000" b="0" i="1" smtClean="0">
                          <a:latin typeface="Cambria Math" panose="02040503050406030204" pitchFamily="18" charset="0"/>
                        </a:rPr>
                        <m:t>+</m:t>
                      </m:r>
                      <m:r>
                        <a:rPr lang="en-US" sz="2000" b="0" i="1" smtClean="0">
                          <a:latin typeface="Cambria Math" panose="02040503050406030204" pitchFamily="18" charset="0"/>
                        </a:rPr>
                        <m:t>𝑊</m:t>
                      </m:r>
                      <m:r>
                        <a:rPr lang="en-US" sz="2000" b="0" i="1" smtClean="0">
                          <a:latin typeface="Cambria Math" panose="02040503050406030204" pitchFamily="18" charset="0"/>
                        </a:rPr>
                        <m:t>×</m:t>
                      </m:r>
                      <m:r>
                        <a:rPr lang="en-US" sz="2000" b="0" i="1" smtClean="0">
                          <a:latin typeface="Cambria Math" panose="02040503050406030204" pitchFamily="18" charset="0"/>
                        </a:rPr>
                        <m:t>h</m:t>
                      </m:r>
                      <m:r>
                        <a:rPr lang="en-US" sz="2000" b="0" i="1" smtClean="0">
                          <a:latin typeface="Cambria Math" panose="02040503050406030204" pitchFamily="18" charset="0"/>
                        </a:rPr>
                        <m:t>(</m:t>
                      </m:r>
                      <m:r>
                        <a:rPr lang="en-US" sz="2000" b="0" i="1" smtClean="0">
                          <a:latin typeface="Cambria Math" panose="02040503050406030204" pitchFamily="18" charset="0"/>
                        </a:rPr>
                        <m:t>𝑛</m:t>
                      </m:r>
                      <m:r>
                        <a:rPr lang="en-US" sz="2000" b="0" i="1" smtClean="0">
                          <a:latin typeface="Cambria Math" panose="02040503050406030204" pitchFamily="18" charset="0"/>
                        </a:rPr>
                        <m:t>)</m:t>
                      </m:r>
                    </m:oMath>
                  </m:oMathPara>
                </a14:m>
                <a:endParaRPr lang="en-US" sz="1400" dirty="0"/>
              </a:p>
              <a:p>
                <a:endParaRPr lang="en-US" b="1" dirty="0"/>
              </a:p>
              <a:p>
                <a:r>
                  <a:rPr lang="en-US" b="1" dirty="0"/>
                  <a:t>Weighted A* search:	</a:t>
                </a:r>
                <a14:m>
                  <m:oMath xmlns:m="http://schemas.openxmlformats.org/officeDocument/2006/math">
                    <m:r>
                      <a:rPr lang="en-US" b="1" i="1">
                        <a:latin typeface="Cambria Math" panose="02040503050406030204" pitchFamily="18" charset="0"/>
                      </a:rPr>
                      <m:t>𝒈</m:t>
                    </m:r>
                    <m:d>
                      <m:dPr>
                        <m:ctrlPr>
                          <a:rPr lang="en-US" b="1" i="1">
                            <a:latin typeface="Cambria Math" panose="02040503050406030204" pitchFamily="18" charset="0"/>
                          </a:rPr>
                        </m:ctrlPr>
                      </m:dPr>
                      <m:e>
                        <m:r>
                          <a:rPr lang="en-US" b="1" i="1">
                            <a:latin typeface="Cambria Math" panose="02040503050406030204" pitchFamily="18" charset="0"/>
                          </a:rPr>
                          <m:t>𝒏</m:t>
                        </m:r>
                      </m:e>
                    </m:d>
                    <m:r>
                      <a:rPr lang="en-US" b="1" i="1">
                        <a:latin typeface="Cambria Math" panose="02040503050406030204" pitchFamily="18" charset="0"/>
                      </a:rPr>
                      <m:t>+</m:t>
                    </m:r>
                    <m:r>
                      <a:rPr lang="en-US" b="1" i="1" smtClean="0">
                        <a:latin typeface="Cambria Math" panose="02040503050406030204" pitchFamily="18" charset="0"/>
                      </a:rPr>
                      <m:t>𝑾</m:t>
                    </m:r>
                    <m:r>
                      <a:rPr lang="en-US" b="1" i="1" smtClean="0">
                        <a:latin typeface="Cambria Math" panose="02040503050406030204" pitchFamily="18" charset="0"/>
                      </a:rPr>
                      <m:t>×</m:t>
                    </m:r>
                    <m:r>
                      <a:rPr lang="en-US" b="1" i="1">
                        <a:latin typeface="Cambria Math" panose="02040503050406030204" pitchFamily="18" charset="0"/>
                      </a:rPr>
                      <m:t>𝒉</m:t>
                    </m:r>
                    <m:d>
                      <m:dPr>
                        <m:ctrlPr>
                          <a:rPr lang="en-US" b="1" i="1">
                            <a:latin typeface="Cambria Math" panose="02040503050406030204" pitchFamily="18" charset="0"/>
                          </a:rPr>
                        </m:ctrlPr>
                      </m:dPr>
                      <m:e>
                        <m:r>
                          <a:rPr lang="en-US" b="1" i="1">
                            <a:latin typeface="Cambria Math" panose="02040503050406030204" pitchFamily="18" charset="0"/>
                          </a:rPr>
                          <m:t>𝒏</m:t>
                        </m:r>
                      </m:e>
                    </m:d>
                  </m:oMath>
                </a14:m>
                <a:r>
                  <a:rPr lang="en-US" b="1" dirty="0"/>
                  <a:t>		</a:t>
                </a:r>
                <a14:m>
                  <m:oMath xmlns:m="http://schemas.openxmlformats.org/officeDocument/2006/math">
                    <m:r>
                      <a:rPr lang="en-US" b="1" i="1">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&lt;</m:t>
                    </m:r>
                    <m:r>
                      <a:rPr lang="en-US" b="1" i="1">
                        <a:latin typeface="Cambria Math" panose="02040503050406030204" pitchFamily="18" charset="0"/>
                      </a:rPr>
                      <m:t>𝑾</m:t>
                    </m:r>
                    <m:r>
                      <a:rPr lang="en-US" b="1" i="1" smtClean="0">
                        <a:latin typeface="Cambria Math" panose="02040503050406030204" pitchFamily="18" charset="0"/>
                      </a:rPr>
                      <m:t>&lt;∞)</m:t>
                    </m:r>
                  </m:oMath>
                </a14:m>
                <a:endParaRPr lang="en-US" b="1" dirty="0"/>
              </a:p>
            </p:txBody>
          </p:sp>
        </mc:Choice>
        <mc:Fallback xmlns="">
          <p:sp>
            <p:nvSpPr>
              <p:cNvPr id="6" name="TextBox 5">
                <a:extLst>
                  <a:ext uri="{FF2B5EF4-FFF2-40B4-BE49-F238E27FC236}">
                    <a16:creationId xmlns:a16="http://schemas.microsoft.com/office/drawing/2014/main" id="{50B30838-AD7A-4533-8D6F-5E87E3D8C415}"/>
                  </a:ext>
                </a:extLst>
              </p:cNvPr>
              <p:cNvSpPr txBox="1">
                <a:spLocks noRot="1" noChangeAspect="1" noMove="1" noResize="1" noEditPoints="1" noAdjustHandles="1" noChangeArrowheads="1" noChangeShapeType="1" noTextEdit="1"/>
              </p:cNvSpPr>
              <p:nvPr/>
            </p:nvSpPr>
            <p:spPr>
              <a:xfrm>
                <a:off x="990600" y="4191000"/>
                <a:ext cx="7162800" cy="954107"/>
              </a:xfrm>
              <a:prstGeom prst="rect">
                <a:avLst/>
              </a:prstGeom>
              <a:blipFill>
                <a:blip r:embed="rId4"/>
                <a:stretch>
                  <a:fillRect l="-680" b="-82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AB469F3-CD7F-44FA-97E0-41223E774AE1}"/>
                  </a:ext>
                </a:extLst>
              </p:cNvPr>
              <p:cNvSpPr txBox="1"/>
              <p:nvPr/>
            </p:nvSpPr>
            <p:spPr>
              <a:xfrm>
                <a:off x="990600" y="5145107"/>
                <a:ext cx="7162800" cy="1477328"/>
              </a:xfrm>
              <a:prstGeom prst="rect">
                <a:avLst/>
              </a:prstGeom>
              <a:noFill/>
            </p:spPr>
            <p:txBody>
              <a:bodyPr wrap="square">
                <a:spAutoFit/>
              </a:bodyPr>
              <a:lstStyle/>
              <a:p>
                <a:pPr marL="0" indent="0">
                  <a:buNone/>
                </a:pPr>
                <a:endParaRPr lang="en-US" dirty="0"/>
              </a:p>
              <a:p>
                <a:pPr marL="0" indent="0">
                  <a:buNone/>
                </a:pPr>
                <a:r>
                  <a:rPr lang="en-US" dirty="0"/>
                  <a:t>The presented algorithms are special cases:</a:t>
                </a:r>
              </a:p>
              <a:p>
                <a:pPr marL="0" indent="0">
                  <a:buNone/>
                </a:pPr>
                <a:r>
                  <a:rPr lang="en-US" dirty="0"/>
                  <a:t>A* search:		</a:t>
                </a:r>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r>
                  <a:rPr lang="en-US"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𝑊</m:t>
                    </m:r>
                    <m:r>
                      <a:rPr lang="en-US" b="0" i="1" smtClean="0">
                        <a:latin typeface="Cambria Math" panose="02040503050406030204" pitchFamily="18" charset="0"/>
                      </a:rPr>
                      <m:t>=1)</m:t>
                    </m:r>
                  </m:oMath>
                </a14:m>
                <a:endParaRPr lang="en-US" dirty="0"/>
              </a:p>
              <a:p>
                <a:pPr marL="0" indent="0">
                  <a:buNone/>
                </a:pPr>
                <a:r>
                  <a:rPr lang="en-US" dirty="0"/>
                  <a:t>Uniform cost search/BFS:	</a:t>
                </a:r>
                <a14:m>
                  <m:oMath xmlns:m="http://schemas.openxmlformats.org/officeDocument/2006/math">
                    <m:r>
                      <a:rPr lang="en-US" i="1">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dirty="0"/>
                  <a:t>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𝑊</m:t>
                    </m:r>
                    <m:r>
                      <a:rPr lang="en-US" i="1">
                        <a:latin typeface="Cambria Math" panose="02040503050406030204" pitchFamily="18" charset="0"/>
                      </a:rPr>
                      <m:t>=0)</m:t>
                    </m:r>
                  </m:oMath>
                </a14:m>
                <a:endParaRPr lang="en-US" dirty="0"/>
              </a:p>
              <a:p>
                <a:pPr marL="0" indent="0">
                  <a:buNone/>
                </a:pPr>
                <a:r>
                  <a:rPr lang="en-US" dirty="0"/>
                  <a:t>Greedy best-first search:	</a:t>
                </a:r>
                <a14:m>
                  <m:oMath xmlns:m="http://schemas.openxmlformats.org/officeDocument/2006/math">
                    <m:r>
                      <a:rPr lang="en-US" i="1">
                        <a:latin typeface="Cambria Math" panose="02040503050406030204" pitchFamily="18" charset="0"/>
                      </a:rPr>
                      <m:t>h</m:t>
                    </m:r>
                    <m:d>
                      <m:dPr>
                        <m:ctrlPr>
                          <a:rPr lang="en-US" i="1">
                            <a:latin typeface="Cambria Math" panose="02040503050406030204" pitchFamily="18" charset="0"/>
                          </a:rPr>
                        </m:ctrlPr>
                      </m:dPr>
                      <m:e>
                        <m:r>
                          <a:rPr lang="en-US" i="1">
                            <a:latin typeface="Cambria Math" panose="02040503050406030204" pitchFamily="18" charset="0"/>
                          </a:rPr>
                          <m:t>𝑛</m:t>
                        </m:r>
                      </m:e>
                    </m:d>
                  </m:oMath>
                </a14:m>
                <a:r>
                  <a:rPr lang="en-US" dirty="0"/>
                  <a: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𝑊</m:t>
                        </m:r>
                        <m:r>
                          <a:rPr lang="en-US" i="1">
                            <a:latin typeface="Cambria Math" panose="02040503050406030204" pitchFamily="18" charset="0"/>
                          </a:rPr>
                          <m:t>=∞</m:t>
                        </m:r>
                      </m:e>
                    </m:d>
                  </m:oMath>
                </a14:m>
                <a:endParaRPr lang="en-US" dirty="0"/>
              </a:p>
            </p:txBody>
          </p:sp>
        </mc:Choice>
        <mc:Fallback xmlns="">
          <p:sp>
            <p:nvSpPr>
              <p:cNvPr id="7" name="TextBox 6">
                <a:extLst>
                  <a:ext uri="{FF2B5EF4-FFF2-40B4-BE49-F238E27FC236}">
                    <a16:creationId xmlns:a16="http://schemas.microsoft.com/office/drawing/2014/main" id="{4AB469F3-CD7F-44FA-97E0-41223E774AE1}"/>
                  </a:ext>
                </a:extLst>
              </p:cNvPr>
              <p:cNvSpPr txBox="1">
                <a:spLocks noRot="1" noChangeAspect="1" noMove="1" noResize="1" noEditPoints="1" noAdjustHandles="1" noChangeArrowheads="1" noChangeShapeType="1" noTextEdit="1"/>
              </p:cNvSpPr>
              <p:nvPr/>
            </p:nvSpPr>
            <p:spPr>
              <a:xfrm>
                <a:off x="990600" y="5145107"/>
                <a:ext cx="7162800" cy="1477328"/>
              </a:xfrm>
              <a:prstGeom prst="rect">
                <a:avLst/>
              </a:prstGeom>
              <a:blipFill>
                <a:blip r:embed="rId5"/>
                <a:stretch>
                  <a:fillRect l="-766" b="-5785"/>
                </a:stretch>
              </a:blipFill>
            </p:spPr>
            <p:txBody>
              <a:bodyPr/>
              <a:lstStyle/>
              <a:p>
                <a:r>
                  <a:rPr 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9C00-93C9-2008-6BCD-97A963432E13}"/>
              </a:ext>
            </a:extLst>
          </p:cNvPr>
          <p:cNvSpPr>
            <a:spLocks noGrp="1"/>
          </p:cNvSpPr>
          <p:nvPr>
            <p:ph type="title"/>
          </p:nvPr>
        </p:nvSpPr>
        <p:spPr>
          <a:xfrm>
            <a:off x="628650" y="365126"/>
            <a:ext cx="4629150" cy="1325563"/>
          </a:xfrm>
        </p:spPr>
        <p:txBody>
          <a:bodyPr/>
          <a:lstStyle/>
          <a:p>
            <a:r>
              <a:rPr lang="en-US" dirty="0"/>
              <a:t>Case Study: A Heuristic for Tic-Tac-Toe</a:t>
            </a:r>
          </a:p>
        </p:txBody>
      </p:sp>
      <p:sp>
        <p:nvSpPr>
          <p:cNvPr id="3" name="Content Placeholder 2">
            <a:extLst>
              <a:ext uri="{FF2B5EF4-FFF2-40B4-BE49-F238E27FC236}">
                <a16:creationId xmlns:a16="http://schemas.microsoft.com/office/drawing/2014/main" id="{6A70D98F-5CCB-E759-5107-43E17418E681}"/>
              </a:ext>
            </a:extLst>
          </p:cNvPr>
          <p:cNvSpPr>
            <a:spLocks noGrp="1"/>
          </p:cNvSpPr>
          <p:nvPr>
            <p:ph idx="1"/>
          </p:nvPr>
        </p:nvSpPr>
        <p:spPr>
          <a:xfrm>
            <a:off x="628650" y="1524000"/>
            <a:ext cx="7886700" cy="4932778"/>
          </a:xfrm>
        </p:spPr>
        <p:txBody>
          <a:bodyPr>
            <a:normAutofit/>
          </a:bodyPr>
          <a:lstStyle/>
          <a:p>
            <a:r>
              <a:rPr lang="en-US" sz="1600" dirty="0"/>
              <a:t>Define the goal states:</a:t>
            </a:r>
          </a:p>
          <a:p>
            <a:endParaRPr lang="en-US" sz="1600" dirty="0"/>
          </a:p>
          <a:p>
            <a:r>
              <a:rPr lang="en-US" sz="1600" dirty="0"/>
              <a:t>What is the cost that needs to be estimated?</a:t>
            </a:r>
          </a:p>
          <a:p>
            <a:pPr marL="0" indent="0">
              <a:buNone/>
            </a:pPr>
            <a:endParaRPr lang="en-US" sz="1600" dirty="0"/>
          </a:p>
          <a:p>
            <a:r>
              <a:rPr lang="en-US" sz="1600" dirty="0"/>
              <a:t>Assume you play x: What could be used as a heuristic value for these boards?</a:t>
            </a:r>
          </a:p>
          <a:p>
            <a:endParaRPr lang="en-US" sz="1600" dirty="0"/>
          </a:p>
          <a:p>
            <a:endParaRPr lang="en-US" sz="1600" dirty="0"/>
          </a:p>
          <a:p>
            <a:endParaRPr lang="en-US" sz="1600" dirty="0"/>
          </a:p>
          <a:p>
            <a:endParaRPr lang="en-US" sz="1600" dirty="0"/>
          </a:p>
          <a:p>
            <a:endParaRPr lang="en-US" sz="1600" dirty="0"/>
          </a:p>
          <a:p>
            <a:r>
              <a:rPr lang="en-US" sz="1600" dirty="0"/>
              <a:t>How do you calculate the heuristic value?</a:t>
            </a:r>
          </a:p>
          <a:p>
            <a:endParaRPr lang="en-US" sz="1600" dirty="0"/>
          </a:p>
          <a:p>
            <a:r>
              <a:rPr lang="en-US" sz="1600" dirty="0"/>
              <a:t>Is the heuristic admissible (never overestimates the true cost)?</a:t>
            </a:r>
          </a:p>
          <a:p>
            <a:endParaRPr lang="en-US" sz="1600" dirty="0"/>
          </a:p>
          <a:p>
            <a:r>
              <a:rPr lang="en-US" sz="1600" dirty="0"/>
              <a:t>Does the heuristic use a relaxation? </a:t>
            </a:r>
          </a:p>
          <a:p>
            <a:pPr marL="0" indent="0">
              <a:buNone/>
            </a:pPr>
            <a:endParaRPr lang="en-US" sz="1600" dirty="0"/>
          </a:p>
        </p:txBody>
      </p:sp>
      <p:pic>
        <p:nvPicPr>
          <p:cNvPr id="4" name="Picture 2">
            <a:extLst>
              <a:ext uri="{FF2B5EF4-FFF2-40B4-BE49-F238E27FC236}">
                <a16:creationId xmlns:a16="http://schemas.microsoft.com/office/drawing/2014/main" id="{7BB5D8EA-F691-FFBF-E2D2-6C156B1EEFFF}"/>
              </a:ex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3555" y="401222"/>
            <a:ext cx="1601795" cy="142440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470E4FC5-7661-B6A8-F1ED-7A81EB6B745B}"/>
                  </a:ext>
                </a:extLst>
              </p14:cNvPr>
              <p14:cNvContentPartPr/>
              <p14:nvPr/>
            </p14:nvContentPartPr>
            <p14:xfrm>
              <a:off x="1485000" y="3882070"/>
              <a:ext cx="150120" cy="177120"/>
            </p14:xfrm>
          </p:contentPart>
        </mc:Choice>
        <mc:Fallback xmlns="">
          <p:pic>
            <p:nvPicPr>
              <p:cNvPr id="16" name="Ink 15">
                <a:extLst>
                  <a:ext uri="{FF2B5EF4-FFF2-40B4-BE49-F238E27FC236}">
                    <a16:creationId xmlns:a16="http://schemas.microsoft.com/office/drawing/2014/main" id="{470E4FC5-7661-B6A8-F1ED-7A81EB6B745B}"/>
                  </a:ext>
                </a:extLst>
              </p:cNvPr>
              <p:cNvPicPr/>
              <p:nvPr/>
            </p:nvPicPr>
            <p:blipFill>
              <a:blip r:embed="rId4"/>
              <a:stretch>
                <a:fillRect/>
              </a:stretch>
            </p:blipFill>
            <p:spPr>
              <a:xfrm>
                <a:off x="1467000" y="3864430"/>
                <a:ext cx="185760" cy="212760"/>
              </a:xfrm>
              <a:prstGeom prst="rect">
                <a:avLst/>
              </a:prstGeom>
            </p:spPr>
          </p:pic>
        </mc:Fallback>
      </mc:AlternateContent>
      <p:grpSp>
        <p:nvGrpSpPr>
          <p:cNvPr id="19" name="Group 18">
            <a:extLst>
              <a:ext uri="{FF2B5EF4-FFF2-40B4-BE49-F238E27FC236}">
                <a16:creationId xmlns:a16="http://schemas.microsoft.com/office/drawing/2014/main" id="{857FDD65-45DF-110C-FECD-9FC7F49B94A3}"/>
              </a:ext>
            </a:extLst>
          </p:cNvPr>
          <p:cNvGrpSpPr/>
          <p:nvPr/>
        </p:nvGrpSpPr>
        <p:grpSpPr>
          <a:xfrm>
            <a:off x="892080" y="3373750"/>
            <a:ext cx="1420920" cy="1173960"/>
            <a:chOff x="892080" y="3373750"/>
            <a:chExt cx="1420920" cy="117396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59F92192-EF55-EE04-A71A-BF09A65BE2D1}"/>
                    </a:ext>
                  </a:extLst>
                </p14:cNvPr>
                <p14:cNvContentPartPr/>
                <p14:nvPr/>
              </p14:nvContentPartPr>
              <p14:xfrm>
                <a:off x="1330200" y="3373750"/>
                <a:ext cx="33840" cy="983160"/>
              </p14:xfrm>
            </p:contentPart>
          </mc:Choice>
          <mc:Fallback xmlns="">
            <p:pic>
              <p:nvPicPr>
                <p:cNvPr id="5" name="Ink 4">
                  <a:extLst>
                    <a:ext uri="{FF2B5EF4-FFF2-40B4-BE49-F238E27FC236}">
                      <a16:creationId xmlns:a16="http://schemas.microsoft.com/office/drawing/2014/main" id="{59F92192-EF55-EE04-A71A-BF09A65BE2D1}"/>
                    </a:ext>
                  </a:extLst>
                </p:cNvPr>
                <p:cNvPicPr/>
                <p:nvPr/>
              </p:nvPicPr>
              <p:blipFill>
                <a:blip r:embed="rId6"/>
                <a:stretch>
                  <a:fillRect/>
                </a:stretch>
              </p:blipFill>
              <p:spPr>
                <a:xfrm>
                  <a:off x="1312560" y="3356110"/>
                  <a:ext cx="69480" cy="1018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8D367862-5AFC-7862-60CF-35485CF6063F}"/>
                    </a:ext>
                  </a:extLst>
                </p14:cNvPr>
                <p14:cNvContentPartPr/>
                <p14:nvPr/>
              </p14:nvContentPartPr>
              <p14:xfrm>
                <a:off x="1776240" y="3427750"/>
                <a:ext cx="42480" cy="998280"/>
              </p14:xfrm>
            </p:contentPart>
          </mc:Choice>
          <mc:Fallback xmlns="">
            <p:pic>
              <p:nvPicPr>
                <p:cNvPr id="6" name="Ink 5">
                  <a:extLst>
                    <a:ext uri="{FF2B5EF4-FFF2-40B4-BE49-F238E27FC236}">
                      <a16:creationId xmlns:a16="http://schemas.microsoft.com/office/drawing/2014/main" id="{8D367862-5AFC-7862-60CF-35485CF6063F}"/>
                    </a:ext>
                  </a:extLst>
                </p:cNvPr>
                <p:cNvPicPr/>
                <p:nvPr/>
              </p:nvPicPr>
              <p:blipFill>
                <a:blip r:embed="rId8"/>
                <a:stretch>
                  <a:fillRect/>
                </a:stretch>
              </p:blipFill>
              <p:spPr>
                <a:xfrm>
                  <a:off x="1758600" y="3410110"/>
                  <a:ext cx="78120" cy="10339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6AD2626D-5BDD-F944-E730-1B73565AFCF3}"/>
                    </a:ext>
                  </a:extLst>
                </p14:cNvPr>
                <p14:cNvContentPartPr/>
                <p14:nvPr/>
              </p14:nvContentPartPr>
              <p14:xfrm>
                <a:off x="892080" y="3663910"/>
                <a:ext cx="1406160" cy="191520"/>
              </p14:xfrm>
            </p:contentPart>
          </mc:Choice>
          <mc:Fallback xmlns="">
            <p:pic>
              <p:nvPicPr>
                <p:cNvPr id="7" name="Ink 6">
                  <a:extLst>
                    <a:ext uri="{FF2B5EF4-FFF2-40B4-BE49-F238E27FC236}">
                      <a16:creationId xmlns:a16="http://schemas.microsoft.com/office/drawing/2014/main" id="{6AD2626D-5BDD-F944-E730-1B73565AFCF3}"/>
                    </a:ext>
                  </a:extLst>
                </p:cNvPr>
                <p:cNvPicPr/>
                <p:nvPr/>
              </p:nvPicPr>
              <p:blipFill>
                <a:blip r:embed="rId10"/>
                <a:stretch>
                  <a:fillRect/>
                </a:stretch>
              </p:blipFill>
              <p:spPr>
                <a:xfrm>
                  <a:off x="874440" y="3645910"/>
                  <a:ext cx="14418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4F2E6162-00C3-7782-72DB-7CA8BC3EAD15}"/>
                    </a:ext>
                  </a:extLst>
                </p14:cNvPr>
                <p14:cNvContentPartPr/>
                <p14:nvPr/>
              </p14:nvContentPartPr>
              <p14:xfrm>
                <a:off x="945000" y="3977110"/>
                <a:ext cx="1368000" cy="312480"/>
              </p14:xfrm>
            </p:contentPart>
          </mc:Choice>
          <mc:Fallback xmlns="">
            <p:pic>
              <p:nvPicPr>
                <p:cNvPr id="8" name="Ink 7">
                  <a:extLst>
                    <a:ext uri="{FF2B5EF4-FFF2-40B4-BE49-F238E27FC236}">
                      <a16:creationId xmlns:a16="http://schemas.microsoft.com/office/drawing/2014/main" id="{4F2E6162-00C3-7782-72DB-7CA8BC3EAD15}"/>
                    </a:ext>
                  </a:extLst>
                </p:cNvPr>
                <p:cNvPicPr/>
                <p:nvPr/>
              </p:nvPicPr>
              <p:blipFill>
                <a:blip r:embed="rId12"/>
                <a:stretch>
                  <a:fillRect/>
                </a:stretch>
              </p:blipFill>
              <p:spPr>
                <a:xfrm>
                  <a:off x="927000" y="3959470"/>
                  <a:ext cx="140364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D97A87EE-6539-4BAB-4B8C-DC09466F56EA}"/>
                    </a:ext>
                  </a:extLst>
                </p14:cNvPr>
                <p14:cNvContentPartPr/>
                <p14:nvPr/>
              </p14:nvContentPartPr>
              <p14:xfrm>
                <a:off x="1019520" y="3505870"/>
                <a:ext cx="182520" cy="169560"/>
              </p14:xfrm>
            </p:contentPart>
          </mc:Choice>
          <mc:Fallback xmlns="">
            <p:pic>
              <p:nvPicPr>
                <p:cNvPr id="10" name="Ink 9">
                  <a:extLst>
                    <a:ext uri="{FF2B5EF4-FFF2-40B4-BE49-F238E27FC236}">
                      <a16:creationId xmlns:a16="http://schemas.microsoft.com/office/drawing/2014/main" id="{D97A87EE-6539-4BAB-4B8C-DC09466F56EA}"/>
                    </a:ext>
                  </a:extLst>
                </p:cNvPr>
                <p:cNvPicPr/>
                <p:nvPr/>
              </p:nvPicPr>
              <p:blipFill>
                <a:blip r:embed="rId14"/>
                <a:stretch>
                  <a:fillRect/>
                </a:stretch>
              </p:blipFill>
              <p:spPr>
                <a:xfrm>
                  <a:off x="1001520" y="3487870"/>
                  <a:ext cx="21816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D1D272D5-810D-60CB-135F-259889E91B17}"/>
                    </a:ext>
                  </a:extLst>
                </p14:cNvPr>
                <p14:cNvContentPartPr/>
                <p14:nvPr/>
              </p14:nvContentPartPr>
              <p14:xfrm>
                <a:off x="1032120" y="3504430"/>
                <a:ext cx="196560" cy="190440"/>
              </p14:xfrm>
            </p:contentPart>
          </mc:Choice>
          <mc:Fallback xmlns="">
            <p:pic>
              <p:nvPicPr>
                <p:cNvPr id="11" name="Ink 10">
                  <a:extLst>
                    <a:ext uri="{FF2B5EF4-FFF2-40B4-BE49-F238E27FC236}">
                      <a16:creationId xmlns:a16="http://schemas.microsoft.com/office/drawing/2014/main" id="{D1D272D5-810D-60CB-135F-259889E91B17}"/>
                    </a:ext>
                  </a:extLst>
                </p:cNvPr>
                <p:cNvPicPr/>
                <p:nvPr/>
              </p:nvPicPr>
              <p:blipFill>
                <a:blip r:embed="rId16"/>
                <a:stretch>
                  <a:fillRect/>
                </a:stretch>
              </p:blipFill>
              <p:spPr>
                <a:xfrm>
                  <a:off x="1014480" y="3486790"/>
                  <a:ext cx="2322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5DD65B0D-928D-B364-A5C6-0B2FAF216173}"/>
                    </a:ext>
                  </a:extLst>
                </p14:cNvPr>
                <p14:cNvContentPartPr/>
                <p14:nvPr/>
              </p14:nvContentPartPr>
              <p14:xfrm>
                <a:off x="1521000" y="3506230"/>
                <a:ext cx="101520" cy="154800"/>
              </p14:xfrm>
            </p:contentPart>
          </mc:Choice>
          <mc:Fallback xmlns="">
            <p:pic>
              <p:nvPicPr>
                <p:cNvPr id="13" name="Ink 12">
                  <a:extLst>
                    <a:ext uri="{FF2B5EF4-FFF2-40B4-BE49-F238E27FC236}">
                      <a16:creationId xmlns:a16="http://schemas.microsoft.com/office/drawing/2014/main" id="{5DD65B0D-928D-B364-A5C6-0B2FAF216173}"/>
                    </a:ext>
                  </a:extLst>
                </p:cNvPr>
                <p:cNvPicPr/>
                <p:nvPr/>
              </p:nvPicPr>
              <p:blipFill>
                <a:blip r:embed="rId18"/>
                <a:stretch>
                  <a:fillRect/>
                </a:stretch>
              </p:blipFill>
              <p:spPr>
                <a:xfrm>
                  <a:off x="1503000" y="3488590"/>
                  <a:ext cx="1371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9467BDD5-7E5B-5EDD-8174-AA77F10AFC55}"/>
                    </a:ext>
                  </a:extLst>
                </p14:cNvPr>
                <p14:cNvContentPartPr/>
                <p14:nvPr/>
              </p14:nvContentPartPr>
              <p14:xfrm>
                <a:off x="1511640" y="3495430"/>
                <a:ext cx="124200" cy="160560"/>
              </p14:xfrm>
            </p:contentPart>
          </mc:Choice>
          <mc:Fallback xmlns="">
            <p:pic>
              <p:nvPicPr>
                <p:cNvPr id="14" name="Ink 13">
                  <a:extLst>
                    <a:ext uri="{FF2B5EF4-FFF2-40B4-BE49-F238E27FC236}">
                      <a16:creationId xmlns:a16="http://schemas.microsoft.com/office/drawing/2014/main" id="{9467BDD5-7E5B-5EDD-8174-AA77F10AFC55}"/>
                    </a:ext>
                  </a:extLst>
                </p:cNvPr>
                <p:cNvPicPr/>
                <p:nvPr/>
              </p:nvPicPr>
              <p:blipFill>
                <a:blip r:embed="rId20"/>
                <a:stretch>
                  <a:fillRect/>
                </a:stretch>
              </p:blipFill>
              <p:spPr>
                <a:xfrm>
                  <a:off x="1493640" y="3477430"/>
                  <a:ext cx="1598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6D90A01A-1316-810C-FD9A-ABF5B857B49C}"/>
                    </a:ext>
                  </a:extLst>
                </p14:cNvPr>
                <p14:cNvContentPartPr/>
                <p14:nvPr/>
              </p14:nvContentPartPr>
              <p14:xfrm>
                <a:off x="1040400" y="4327390"/>
                <a:ext cx="244800" cy="220320"/>
              </p14:xfrm>
            </p:contentPart>
          </mc:Choice>
          <mc:Fallback xmlns="">
            <p:pic>
              <p:nvPicPr>
                <p:cNvPr id="18" name="Ink 17">
                  <a:extLst>
                    <a:ext uri="{FF2B5EF4-FFF2-40B4-BE49-F238E27FC236}">
                      <a16:creationId xmlns:a16="http://schemas.microsoft.com/office/drawing/2014/main" id="{6D90A01A-1316-810C-FD9A-ABF5B857B49C}"/>
                    </a:ext>
                  </a:extLst>
                </p:cNvPr>
                <p:cNvPicPr/>
                <p:nvPr/>
              </p:nvPicPr>
              <p:blipFill>
                <a:blip r:embed="rId22"/>
                <a:stretch>
                  <a:fillRect/>
                </a:stretch>
              </p:blipFill>
              <p:spPr>
                <a:xfrm>
                  <a:off x="1022400" y="4309390"/>
                  <a:ext cx="280440" cy="255960"/>
                </a:xfrm>
                <a:prstGeom prst="rect">
                  <a:avLst/>
                </a:prstGeom>
              </p:spPr>
            </p:pic>
          </mc:Fallback>
        </mc:AlternateContent>
      </p:grpSp>
      <p:grpSp>
        <p:nvGrpSpPr>
          <p:cNvPr id="29" name="Group 28">
            <a:extLst>
              <a:ext uri="{FF2B5EF4-FFF2-40B4-BE49-F238E27FC236}">
                <a16:creationId xmlns:a16="http://schemas.microsoft.com/office/drawing/2014/main" id="{19F4FC3F-A78D-965F-0FB6-8FF54B50510C}"/>
              </a:ext>
            </a:extLst>
          </p:cNvPr>
          <p:cNvGrpSpPr/>
          <p:nvPr/>
        </p:nvGrpSpPr>
        <p:grpSpPr>
          <a:xfrm>
            <a:off x="3562200" y="3432790"/>
            <a:ext cx="1346400" cy="957600"/>
            <a:chOff x="3562200" y="3432790"/>
            <a:chExt cx="1346400" cy="957600"/>
          </a:xfrm>
        </p:grpSpPr>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1BD8BB71-A483-D62A-5532-B7AFC3443C3C}"/>
                    </a:ext>
                  </a:extLst>
                </p14:cNvPr>
                <p14:cNvContentPartPr/>
                <p14:nvPr/>
              </p14:nvContentPartPr>
              <p14:xfrm>
                <a:off x="3962160" y="3432790"/>
                <a:ext cx="74160" cy="857520"/>
              </p14:xfrm>
            </p:contentPart>
          </mc:Choice>
          <mc:Fallback xmlns="">
            <p:pic>
              <p:nvPicPr>
                <p:cNvPr id="20" name="Ink 19">
                  <a:extLst>
                    <a:ext uri="{FF2B5EF4-FFF2-40B4-BE49-F238E27FC236}">
                      <a16:creationId xmlns:a16="http://schemas.microsoft.com/office/drawing/2014/main" id="{1BD8BB71-A483-D62A-5532-B7AFC3443C3C}"/>
                    </a:ext>
                  </a:extLst>
                </p:cNvPr>
                <p:cNvPicPr/>
                <p:nvPr/>
              </p:nvPicPr>
              <p:blipFill>
                <a:blip r:embed="rId24"/>
                <a:stretch>
                  <a:fillRect/>
                </a:stretch>
              </p:blipFill>
              <p:spPr>
                <a:xfrm>
                  <a:off x="3944160" y="3415150"/>
                  <a:ext cx="109800" cy="893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9F9156FA-400D-6E53-A302-751E754B732F}"/>
                    </a:ext>
                  </a:extLst>
                </p14:cNvPr>
                <p14:cNvContentPartPr/>
                <p14:nvPr/>
              </p14:nvContentPartPr>
              <p14:xfrm>
                <a:off x="4275000" y="3449710"/>
                <a:ext cx="92880" cy="940680"/>
              </p14:xfrm>
            </p:contentPart>
          </mc:Choice>
          <mc:Fallback xmlns="">
            <p:pic>
              <p:nvPicPr>
                <p:cNvPr id="21" name="Ink 20">
                  <a:extLst>
                    <a:ext uri="{FF2B5EF4-FFF2-40B4-BE49-F238E27FC236}">
                      <a16:creationId xmlns:a16="http://schemas.microsoft.com/office/drawing/2014/main" id="{9F9156FA-400D-6E53-A302-751E754B732F}"/>
                    </a:ext>
                  </a:extLst>
                </p:cNvPr>
                <p:cNvPicPr/>
                <p:nvPr/>
              </p:nvPicPr>
              <p:blipFill>
                <a:blip r:embed="rId26"/>
                <a:stretch>
                  <a:fillRect/>
                </a:stretch>
              </p:blipFill>
              <p:spPr>
                <a:xfrm>
                  <a:off x="4257360" y="3432070"/>
                  <a:ext cx="128520" cy="976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2A95A9EC-C801-524A-6203-9CE43A5C31B9}"/>
                    </a:ext>
                  </a:extLst>
                </p14:cNvPr>
                <p14:cNvContentPartPr/>
                <p14:nvPr/>
              </p14:nvContentPartPr>
              <p14:xfrm>
                <a:off x="3562200" y="3819070"/>
                <a:ext cx="1209960" cy="52560"/>
              </p14:xfrm>
            </p:contentPart>
          </mc:Choice>
          <mc:Fallback xmlns="">
            <p:pic>
              <p:nvPicPr>
                <p:cNvPr id="22" name="Ink 21">
                  <a:extLst>
                    <a:ext uri="{FF2B5EF4-FFF2-40B4-BE49-F238E27FC236}">
                      <a16:creationId xmlns:a16="http://schemas.microsoft.com/office/drawing/2014/main" id="{2A95A9EC-C801-524A-6203-9CE43A5C31B9}"/>
                    </a:ext>
                  </a:extLst>
                </p:cNvPr>
                <p:cNvPicPr/>
                <p:nvPr/>
              </p:nvPicPr>
              <p:blipFill>
                <a:blip r:embed="rId28"/>
                <a:stretch>
                  <a:fillRect/>
                </a:stretch>
              </p:blipFill>
              <p:spPr>
                <a:xfrm>
                  <a:off x="3544560" y="3801070"/>
                  <a:ext cx="12456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A5EF5BC4-37CF-9CDE-EA2D-57FF7A60A458}"/>
                    </a:ext>
                  </a:extLst>
                </p14:cNvPr>
                <p14:cNvContentPartPr/>
                <p14:nvPr/>
              </p14:nvContentPartPr>
              <p14:xfrm>
                <a:off x="3569760" y="4056310"/>
                <a:ext cx="1338840" cy="80280"/>
              </p14:xfrm>
            </p:contentPart>
          </mc:Choice>
          <mc:Fallback xmlns="">
            <p:pic>
              <p:nvPicPr>
                <p:cNvPr id="23" name="Ink 22">
                  <a:extLst>
                    <a:ext uri="{FF2B5EF4-FFF2-40B4-BE49-F238E27FC236}">
                      <a16:creationId xmlns:a16="http://schemas.microsoft.com/office/drawing/2014/main" id="{A5EF5BC4-37CF-9CDE-EA2D-57FF7A60A458}"/>
                    </a:ext>
                  </a:extLst>
                </p:cNvPr>
                <p:cNvPicPr/>
                <p:nvPr/>
              </p:nvPicPr>
              <p:blipFill>
                <a:blip r:embed="rId30"/>
                <a:stretch>
                  <a:fillRect/>
                </a:stretch>
              </p:blipFill>
              <p:spPr>
                <a:xfrm>
                  <a:off x="3552120" y="4038670"/>
                  <a:ext cx="137448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E80E5085-8A8B-90C9-30ED-D8937126B4A6}"/>
                    </a:ext>
                  </a:extLst>
                </p14:cNvPr>
                <p14:cNvContentPartPr/>
                <p14:nvPr/>
              </p14:nvContentPartPr>
              <p14:xfrm>
                <a:off x="3752640" y="3514510"/>
                <a:ext cx="149400" cy="209880"/>
              </p14:xfrm>
            </p:contentPart>
          </mc:Choice>
          <mc:Fallback xmlns="">
            <p:pic>
              <p:nvPicPr>
                <p:cNvPr id="25" name="Ink 24">
                  <a:extLst>
                    <a:ext uri="{FF2B5EF4-FFF2-40B4-BE49-F238E27FC236}">
                      <a16:creationId xmlns:a16="http://schemas.microsoft.com/office/drawing/2014/main" id="{E80E5085-8A8B-90C9-30ED-D8937126B4A6}"/>
                    </a:ext>
                  </a:extLst>
                </p:cNvPr>
                <p:cNvPicPr/>
                <p:nvPr/>
              </p:nvPicPr>
              <p:blipFill>
                <a:blip r:embed="rId32"/>
                <a:stretch>
                  <a:fillRect/>
                </a:stretch>
              </p:blipFill>
              <p:spPr>
                <a:xfrm>
                  <a:off x="3734640" y="3496870"/>
                  <a:ext cx="18504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77D0064B-781E-DD56-9EC9-A14DA03FB11F}"/>
                    </a:ext>
                  </a:extLst>
                </p14:cNvPr>
                <p14:cNvContentPartPr/>
                <p14:nvPr/>
              </p14:nvContentPartPr>
              <p14:xfrm>
                <a:off x="3749400" y="3554830"/>
                <a:ext cx="143280" cy="168840"/>
              </p14:xfrm>
            </p:contentPart>
          </mc:Choice>
          <mc:Fallback xmlns="">
            <p:pic>
              <p:nvPicPr>
                <p:cNvPr id="26" name="Ink 25">
                  <a:extLst>
                    <a:ext uri="{FF2B5EF4-FFF2-40B4-BE49-F238E27FC236}">
                      <a16:creationId xmlns:a16="http://schemas.microsoft.com/office/drawing/2014/main" id="{77D0064B-781E-DD56-9EC9-A14DA03FB11F}"/>
                    </a:ext>
                  </a:extLst>
                </p:cNvPr>
                <p:cNvPicPr/>
                <p:nvPr/>
              </p:nvPicPr>
              <p:blipFill>
                <a:blip r:embed="rId34"/>
                <a:stretch>
                  <a:fillRect/>
                </a:stretch>
              </p:blipFill>
              <p:spPr>
                <a:xfrm>
                  <a:off x="3731760" y="3537190"/>
                  <a:ext cx="17892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600B9DA1-ECBF-48D9-6A3D-CEF2C54E7F12}"/>
                    </a:ext>
                  </a:extLst>
                </p14:cNvPr>
                <p14:cNvContentPartPr/>
                <p14:nvPr/>
              </p14:nvContentPartPr>
              <p14:xfrm>
                <a:off x="4106880" y="3549790"/>
                <a:ext cx="158040" cy="197640"/>
              </p14:xfrm>
            </p:contentPart>
          </mc:Choice>
          <mc:Fallback xmlns="">
            <p:pic>
              <p:nvPicPr>
                <p:cNvPr id="28" name="Ink 27">
                  <a:extLst>
                    <a:ext uri="{FF2B5EF4-FFF2-40B4-BE49-F238E27FC236}">
                      <a16:creationId xmlns:a16="http://schemas.microsoft.com/office/drawing/2014/main" id="{600B9DA1-ECBF-48D9-6A3D-CEF2C54E7F12}"/>
                    </a:ext>
                  </a:extLst>
                </p:cNvPr>
                <p:cNvPicPr/>
                <p:nvPr/>
              </p:nvPicPr>
              <p:blipFill>
                <a:blip r:embed="rId36"/>
                <a:stretch>
                  <a:fillRect/>
                </a:stretch>
              </p:blipFill>
              <p:spPr>
                <a:xfrm>
                  <a:off x="4088880" y="3531790"/>
                  <a:ext cx="193680" cy="233280"/>
                </a:xfrm>
                <a:prstGeom prst="rect">
                  <a:avLst/>
                </a:prstGeom>
              </p:spPr>
            </p:pic>
          </mc:Fallback>
        </mc:AlternateContent>
      </p:grpSp>
    </p:spTree>
    <p:extLst>
      <p:ext uri="{BB962C8B-B14F-4D97-AF65-F5344CB8AC3E}">
        <p14:creationId xmlns:p14="http://schemas.microsoft.com/office/powerpoint/2010/main" val="177818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432E8-3C86-3215-9660-A7694BFD923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F159D0-18E4-4B44-C094-86643C385BBD}"/>
              </a:ext>
            </a:extLst>
          </p:cNvPr>
          <p:cNvSpPr>
            <a:spLocks noGrp="1"/>
          </p:cNvSpPr>
          <p:nvPr>
            <p:ph type="title"/>
          </p:nvPr>
        </p:nvSpPr>
        <p:spPr/>
        <p:txBody>
          <a:bodyPr/>
          <a:lstStyle/>
          <a:p>
            <a:r>
              <a:rPr lang="en-US" dirty="0"/>
              <a:t>Comparison on Mazes</a:t>
            </a:r>
          </a:p>
        </p:txBody>
      </p:sp>
      <p:sp>
        <p:nvSpPr>
          <p:cNvPr id="7" name="Text Placeholder 6">
            <a:extLst>
              <a:ext uri="{FF2B5EF4-FFF2-40B4-BE49-F238E27FC236}">
                <a16:creationId xmlns:a16="http://schemas.microsoft.com/office/drawing/2014/main" id="{A3A7EFAC-8C93-3395-D3FC-C3B761DFA322}"/>
              </a:ext>
            </a:extLst>
          </p:cNvPr>
          <p:cNvSpPr>
            <a:spLocks noGrp="1"/>
          </p:cNvSpPr>
          <p:nvPr>
            <p:ph type="body" idx="1"/>
          </p:nvPr>
        </p:nvSpPr>
        <p:spPr/>
        <p:txBody>
          <a:bodyPr/>
          <a:lstStyle/>
          <a:p>
            <a:r>
              <a:rPr lang="en-US" dirty="0"/>
              <a:t>See Code for Chapter 3</a:t>
            </a:r>
          </a:p>
        </p:txBody>
      </p:sp>
    </p:spTree>
    <p:extLst>
      <p:ext uri="{BB962C8B-B14F-4D97-AF65-F5344CB8AC3E}">
        <p14:creationId xmlns:p14="http://schemas.microsoft.com/office/powerpoint/2010/main" val="31332350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21057</TotalTime>
  <Words>2761</Words>
  <Application>Microsoft Office PowerPoint</Application>
  <PresentationFormat>On-screen Show (4:3)</PresentationFormat>
  <Paragraphs>437</Paragraphs>
  <Slides>32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Cambria Math</vt:lpstr>
      <vt:lpstr>Wingdings</vt:lpstr>
      <vt:lpstr>Office Theme</vt:lpstr>
      <vt:lpstr>CS 5/7320  Artificial Intelligence  Solving problems by searching AIMA Chapter 3</vt:lpstr>
      <vt:lpstr>Assignment 1</vt:lpstr>
      <vt:lpstr>Module Review</vt:lpstr>
      <vt:lpstr>Definition of a Search Problem</vt:lpstr>
      <vt:lpstr>Complete Planning Agent to Solve a Maze</vt:lpstr>
      <vt:lpstr>Solving Search Problems</vt:lpstr>
      <vt:lpstr>Creating a Search Tree</vt:lpstr>
      <vt:lpstr>Differences Between Typical Tree Search and AI Search</vt:lpstr>
      <vt:lpstr>State Space</vt:lpstr>
      <vt:lpstr>State Space vs. Search Tree Size</vt:lpstr>
      <vt:lpstr>State Space Size Estimation</vt:lpstr>
      <vt:lpstr>Examples: What is the State Space Size?</vt:lpstr>
      <vt:lpstr>Examples: What is the State Space Size?</vt:lpstr>
      <vt:lpstr>Example: What determines the Search Tree Size?</vt:lpstr>
      <vt:lpstr>Examples: What determines the  Search Tree Size?</vt:lpstr>
      <vt:lpstr>Examples: What is the  Search Complexity?</vt:lpstr>
      <vt:lpstr>Uninformed Algorithms</vt:lpstr>
      <vt:lpstr>Breadth-First Search (BFS)</vt:lpstr>
      <vt:lpstr>Implementation: Best-First Search Strategy</vt:lpstr>
      <vt:lpstr>Depth-First Search (DFS)</vt:lpstr>
      <vt:lpstr>Iterative Deepening Search (IDS)</vt:lpstr>
      <vt:lpstr>Implementation: DFS (called iteratively by IDS)</vt:lpstr>
      <vt:lpstr>Summary:  All Search Strategies</vt:lpstr>
      <vt:lpstr>Module Review</vt:lpstr>
      <vt:lpstr>Assignment 2</vt:lpstr>
      <vt:lpstr>Summary:  All Search Strategies</vt:lpstr>
      <vt:lpstr>Properties of Heuristic Functions</vt:lpstr>
      <vt:lpstr>Implementation</vt:lpstr>
      <vt:lpstr>Heuristics from Relaxed Problems</vt:lpstr>
      <vt:lpstr>Satisficing Search: Weighted A* Search</vt:lpstr>
      <vt:lpstr>Case Study: A Heuristic for Tic-Tac-Toe</vt:lpstr>
      <vt:lpstr>Comparison on Mazes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Solving problems by searching</dc:title>
  <dc:creator>michael</dc:creator>
  <cp:lastModifiedBy>Hahsler, Michael</cp:lastModifiedBy>
  <cp:revision>176</cp:revision>
  <dcterms:created xsi:type="dcterms:W3CDTF">2020-09-15T14:04:03Z</dcterms:created>
  <dcterms:modified xsi:type="dcterms:W3CDTF">2026-02-19T23:55:56Z</dcterms:modified>
</cp:coreProperties>
</file>