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6.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diagrams/data2.xml" ContentType="application/vnd.openxmlformats-officedocument.drawingml.diagramData+xml"/>
  <Override PartName="/ppt/diagrams/data5.xml" ContentType="application/vnd.openxmlformats-officedocument.drawingml.diagramData+xml"/>
  <Override PartName="/ppt/diagrams/data7.xml" ContentType="application/vnd.openxmlformats-officedocument.drawingml.diagramData+xml"/>
  <Override PartName="/ppt/diagrams/data9.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2"/>
  </p:notesMasterIdLst>
  <p:sldIdLst>
    <p:sldId id="256" r:id="rId2"/>
    <p:sldId id="357" r:id="rId3"/>
    <p:sldId id="259" r:id="rId4"/>
    <p:sldId id="257" r:id="rId5"/>
    <p:sldId id="258" r:id="rId6"/>
    <p:sldId id="260" r:id="rId7"/>
    <p:sldId id="261" r:id="rId8"/>
    <p:sldId id="262" r:id="rId9"/>
    <p:sldId id="263" r:id="rId10"/>
    <p:sldId id="290" r:id="rId11"/>
    <p:sldId id="264" r:id="rId12"/>
    <p:sldId id="288" r:id="rId13"/>
    <p:sldId id="265" r:id="rId14"/>
    <p:sldId id="266" r:id="rId15"/>
    <p:sldId id="289" r:id="rId16"/>
    <p:sldId id="267" r:id="rId17"/>
    <p:sldId id="268" r:id="rId18"/>
    <p:sldId id="269" r:id="rId19"/>
    <p:sldId id="275" r:id="rId20"/>
    <p:sldId id="270" r:id="rId21"/>
    <p:sldId id="358" r:id="rId22"/>
    <p:sldId id="271" r:id="rId23"/>
    <p:sldId id="272" r:id="rId24"/>
    <p:sldId id="273" r:id="rId25"/>
    <p:sldId id="274" r:id="rId26"/>
    <p:sldId id="276" r:id="rId27"/>
    <p:sldId id="285" r:id="rId28"/>
    <p:sldId id="286" r:id="rId29"/>
    <p:sldId id="287" r:id="rId30"/>
    <p:sldId id="277" r:id="rId31"/>
    <p:sldId id="278" r:id="rId32"/>
    <p:sldId id="279" r:id="rId33"/>
    <p:sldId id="280" r:id="rId34"/>
    <p:sldId id="281" r:id="rId35"/>
    <p:sldId id="360" r:id="rId36"/>
    <p:sldId id="282" r:id="rId37"/>
    <p:sldId id="283" r:id="rId38"/>
    <p:sldId id="359" r:id="rId39"/>
    <p:sldId id="361" r:id="rId40"/>
    <p:sldId id="284" r:id="rId41"/>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EC85BEA-7A3C-4002-893F-860879DD1A28}">
          <p14:sldIdLst>
            <p14:sldId id="256"/>
            <p14:sldId id="357"/>
            <p14:sldId id="259"/>
            <p14:sldId id="257"/>
          </p14:sldIdLst>
        </p14:section>
        <p14:section name="Nondeterministic Actions" id="{32B4160F-C19D-41CC-AEB1-806BB89458E8}">
          <p14:sldIdLst>
            <p14:sldId id="258"/>
            <p14:sldId id="260"/>
            <p14:sldId id="261"/>
            <p14:sldId id="262"/>
            <p14:sldId id="263"/>
            <p14:sldId id="290"/>
            <p14:sldId id="264"/>
            <p14:sldId id="288"/>
          </p14:sldIdLst>
        </p14:section>
        <p14:section name="Search With No Observations" id="{608C75CC-26D7-4CB3-8056-C9FF3F6F5BB1}">
          <p14:sldIdLst>
            <p14:sldId id="265"/>
            <p14:sldId id="266"/>
            <p14:sldId id="289"/>
            <p14:sldId id="267"/>
            <p14:sldId id="268"/>
            <p14:sldId id="269"/>
            <p14:sldId id="275"/>
            <p14:sldId id="270"/>
            <p14:sldId id="358"/>
          </p14:sldIdLst>
        </p14:section>
        <p14:section name="Partially Observable Environments" id="{365DABEF-50B9-43CF-8596-7B8691A7DE0E}">
          <p14:sldIdLst>
            <p14:sldId id="271"/>
            <p14:sldId id="272"/>
            <p14:sldId id="273"/>
            <p14:sldId id="274"/>
            <p14:sldId id="276"/>
            <p14:sldId id="285"/>
            <p14:sldId id="286"/>
            <p14:sldId id="287"/>
            <p14:sldId id="277"/>
            <p14:sldId id="278"/>
            <p14:sldId id="279"/>
          </p14:sldIdLst>
        </p14:section>
        <p14:section name="Unknown Environments" id="{63DD6671-61CD-4D43-A2AB-35AB76E52D03}">
          <p14:sldIdLst>
            <p14:sldId id="280"/>
            <p14:sldId id="281"/>
            <p14:sldId id="360"/>
            <p14:sldId id="282"/>
            <p14:sldId id="283"/>
            <p14:sldId id="359"/>
          </p14:sldIdLst>
        </p14:section>
        <p14:section name="Wrap up" id="{15B469C1-23AC-4739-AD2B-58F7F7D44EBD}">
          <p14:sldIdLst>
            <p14:sldId id="361"/>
            <p14:sldId id="28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0000"/>
    <a:srgbClr val="A5A5A5"/>
    <a:srgbClr val="7030A0"/>
    <a:srgbClr val="ED7D31"/>
    <a:srgbClr val="CC0099"/>
    <a:srgbClr val="595959"/>
    <a:srgbClr val="767171"/>
    <a:srgbClr val="FF0000"/>
    <a:srgbClr val="8497B0"/>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99" autoAdjust="0"/>
    <p:restoredTop sz="86427" autoAdjust="0"/>
  </p:normalViewPr>
  <p:slideViewPr>
    <p:cSldViewPr>
      <p:cViewPr varScale="1">
        <p:scale>
          <a:sx n="139" d="100"/>
          <a:sy n="139" d="100"/>
        </p:scale>
        <p:origin x="1656" y="8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_rels/data2.xml.rels><?xml version="1.0" encoding="UTF-8" standalone="yes"?>
<Relationships xmlns="http://schemas.openxmlformats.org/package/2006/relationships"><Relationship Id="rId1" Type="http://schemas.openxmlformats.org/officeDocument/2006/relationships/image" Target="../media/image40.png"/></Relationships>
</file>

<file path=ppt/diagrams/_rels/data5.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image" Target="../media/image300.png"/></Relationships>
</file>

<file path=ppt/diagrams/_rels/data7.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image" Target="../media/image360.png"/></Relationships>
</file>

<file path=ppt/diagrams/_rels/data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image" Target="../media/image40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CB35F0-DD7C-44B7-A5EE-FA5F074BB79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09331C5-3173-479A-991A-130DE1C12DC1}">
      <dgm:prSet custT="1"/>
      <dgm:spPr/>
      <dgm:t>
        <a:bodyPr/>
        <a:lstStyle/>
        <a:p>
          <a:r>
            <a:rPr lang="en-US" sz="1800" b="1" dirty="0"/>
            <a:t>No Uncertainty</a:t>
          </a:r>
        </a:p>
      </dgm:t>
    </dgm:pt>
    <dgm:pt modelId="{FB5829C9-BCE3-4442-951E-C2C9542065F6}" type="parTrans" cxnId="{8C2E26C2-0238-4D88-856A-972958EA1005}">
      <dgm:prSet/>
      <dgm:spPr/>
      <dgm:t>
        <a:bodyPr/>
        <a:lstStyle/>
        <a:p>
          <a:endParaRPr lang="en-US"/>
        </a:p>
      </dgm:t>
    </dgm:pt>
    <dgm:pt modelId="{B0DEE2C9-A5A9-485E-AD79-939446786DF5}" type="sibTrans" cxnId="{8C2E26C2-0238-4D88-856A-972958EA1005}">
      <dgm:prSet/>
      <dgm:spPr/>
      <dgm:t>
        <a:bodyPr/>
        <a:lstStyle/>
        <a:p>
          <a:endParaRPr lang="en-US"/>
        </a:p>
      </dgm:t>
    </dgm:pt>
    <dgm:pt modelId="{FC13E979-3777-435E-86EB-EBD141CA7A7F}">
      <dgm:prSet custT="1"/>
      <dgm:spPr/>
      <dgm:t>
        <a:bodyPr/>
        <a:lstStyle/>
        <a:p>
          <a:r>
            <a:rPr lang="en-US" sz="1600" b="1" dirty="0"/>
            <a:t>Full observability</a:t>
          </a:r>
          <a:r>
            <a:rPr lang="en-US" sz="1600" dirty="0"/>
            <a:t>: The agent always knows (=can observe) the state.</a:t>
          </a:r>
        </a:p>
      </dgm:t>
    </dgm:pt>
    <dgm:pt modelId="{FAA6F78C-40C9-4A12-A2B0-9AB2AEEB60BA}" type="parTrans" cxnId="{9FDE8EBF-79C2-41F0-976D-A13E0D89C3B2}">
      <dgm:prSet/>
      <dgm:spPr/>
      <dgm:t>
        <a:bodyPr/>
        <a:lstStyle/>
        <a:p>
          <a:endParaRPr lang="en-US"/>
        </a:p>
      </dgm:t>
    </dgm:pt>
    <dgm:pt modelId="{ED93C902-2E64-4A90-ABBF-7C85B2FB2616}" type="sibTrans" cxnId="{9FDE8EBF-79C2-41F0-976D-A13E0D89C3B2}">
      <dgm:prSet/>
      <dgm:spPr/>
      <dgm:t>
        <a:bodyPr/>
        <a:lstStyle/>
        <a:p>
          <a:endParaRPr lang="en-US"/>
        </a:p>
      </dgm:t>
    </dgm:pt>
    <mc:AlternateContent xmlns:mc="http://schemas.openxmlformats.org/markup-compatibility/2006" xmlns:a14="http://schemas.microsoft.com/office/drawing/2010/main">
      <mc:Choice Requires="a14">
        <dgm:pt modelId="{C75B761E-18EF-4908-A642-EA1A38C8F31D}">
          <dgm:prSet custT="1"/>
          <dgm:spPr/>
          <dgm:t>
            <a:bodyPr/>
            <a:lstStyle/>
            <a:p>
              <a:pPr/>
              <a:r>
                <a:rPr lang="en-US" sz="1600" b="1" dirty="0"/>
                <a:t>Deterministic environment </a:t>
              </a:r>
              <a:r>
                <a:rPr lang="en-US" sz="1600" dirty="0"/>
                <a:t>with a known transition model</a:t>
              </a:r>
              <a:br>
                <a:rPr lang="en-US" sz="1600" dirty="0"/>
              </a:br>
              <a14:m>
                <m:oMathPara xmlns:m="http://schemas.openxmlformats.org/officeDocument/2006/math">
                  <m:oMath>
                    <m:r>
                      <a:rPr lang="en-US" sz="1600" b="0" i="1" smtClean="0">
                        <a:latin typeface="Cambria Math" panose="02040503050406030204" pitchFamily="18" charset="0"/>
                      </a:rPr>
                      <m:t>𝑅𝑒𝑠𝑢𝑙𝑡</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𝑠</m:t>
                        </m:r>
                        <m:r>
                          <a:rPr lang="en-US" sz="1600" b="0" i="1" smtClean="0">
                            <a:latin typeface="Cambria Math" panose="02040503050406030204" pitchFamily="18" charset="0"/>
                          </a:rPr>
                          <m:t>,</m:t>
                        </m:r>
                        <m:r>
                          <a:rPr lang="en-US" sz="1600" b="0" i="1" smtClean="0">
                            <a:latin typeface="Cambria Math" panose="02040503050406030204" pitchFamily="18" charset="0"/>
                          </a:rPr>
                          <m:t>𝑎</m:t>
                        </m:r>
                      </m:e>
                    </m:d>
                    <m:r>
                      <a:rPr lang="en-US" sz="1600" b="0" i="1" smtClean="0">
                        <a:latin typeface="Cambria Math" panose="02040503050406030204" pitchFamily="18" charset="0"/>
                      </a:rPr>
                      <m:t>=</m:t>
                    </m:r>
                    <m:sSup>
                      <m:sSupPr>
                        <m:ctrlPr>
                          <a:rPr lang="en-US" sz="1600" i="1" smtClean="0">
                            <a:latin typeface="Cambria Math" panose="02040503050406030204" pitchFamily="18" charset="0"/>
                          </a:rPr>
                        </m:ctrlPr>
                      </m:sSupPr>
                      <m:e>
                        <m:r>
                          <a:rPr lang="en-US" sz="1600" i="1" smtClean="0">
                            <a:latin typeface="Cambria Math" panose="02040503050406030204" pitchFamily="18" charset="0"/>
                          </a:rPr>
                          <m:t>𝑠</m:t>
                        </m:r>
                      </m:e>
                      <m:sup>
                        <m:r>
                          <a:rPr lang="en-US" sz="1600" b="0" i="1" smtClean="0">
                            <a:latin typeface="Cambria Math" panose="02040503050406030204" pitchFamily="18" charset="0"/>
                          </a:rPr>
                          <m:t>′</m:t>
                        </m:r>
                      </m:sup>
                    </m:sSup>
                  </m:oMath>
                </m:oMathPara>
              </a14:m>
              <a:br>
                <a:rPr lang="en-US" sz="1600" dirty="0"/>
              </a:br>
              <a:r>
                <a:rPr lang="en-US" sz="1600" dirty="0"/>
                <a:t>The agent can predict the outcome of its actions.</a:t>
              </a:r>
            </a:p>
          </dgm:t>
        </dgm:pt>
      </mc:Choice>
      <mc:Fallback xmlns="">
        <dgm:pt modelId="{C75B761E-18EF-4908-A642-EA1A38C8F31D}">
          <dgm:prSet custT="1"/>
          <dgm:spPr/>
          <dgm:t>
            <a:bodyPr/>
            <a:lstStyle/>
            <a:p>
              <a:pPr/>
              <a:r>
                <a:rPr lang="en-US" sz="1600" b="1" dirty="0"/>
                <a:t>Deterministic environment </a:t>
              </a:r>
              <a:r>
                <a:rPr lang="en-US" sz="1600" dirty="0"/>
                <a:t>with a known transition model</a:t>
              </a:r>
              <a:br>
                <a:rPr lang="en-US" sz="1600" dirty="0"/>
              </a:br>
              <a:r>
                <a:rPr lang="en-US" sz="1600" b="0" i="0">
                  <a:latin typeface="Cambria Math" panose="02040503050406030204" pitchFamily="18" charset="0"/>
                </a:rPr>
                <a:t>𝑅𝑒𝑠𝑢𝑙𝑡(𝑠,𝑎)=</a:t>
              </a:r>
              <a:r>
                <a:rPr lang="en-US" sz="1600" i="0">
                  <a:latin typeface="Cambria Math" panose="02040503050406030204" pitchFamily="18" charset="0"/>
                </a:rPr>
                <a:t>𝑠</a:t>
              </a:r>
              <a:r>
                <a:rPr lang="en-US" sz="1600" b="0" i="0">
                  <a:latin typeface="Cambria Math" panose="02040503050406030204" pitchFamily="18" charset="0"/>
                </a:rPr>
                <a:t>^′</a:t>
              </a:r>
              <a:br>
                <a:rPr lang="en-US" sz="1600" dirty="0"/>
              </a:br>
              <a:r>
                <a:rPr lang="en-US" sz="1600" dirty="0"/>
                <a:t>The agent can predict the outcome of its actions.</a:t>
              </a:r>
            </a:p>
          </dgm:t>
        </dgm:pt>
      </mc:Fallback>
    </mc:AlternateContent>
    <dgm:pt modelId="{E8774C41-81D5-4F87-A198-4DE6FCFB619B}" type="parTrans" cxnId="{1D83ED09-7D9E-433C-A74E-DEB72820A8D9}">
      <dgm:prSet/>
      <dgm:spPr/>
      <dgm:t>
        <a:bodyPr/>
        <a:lstStyle/>
        <a:p>
          <a:endParaRPr lang="en-US"/>
        </a:p>
      </dgm:t>
    </dgm:pt>
    <dgm:pt modelId="{F70A4C3A-EC94-4CDA-AD56-0BE27A2DA03E}" type="sibTrans" cxnId="{1D83ED09-7D9E-433C-A74E-DEB72820A8D9}">
      <dgm:prSet/>
      <dgm:spPr/>
      <dgm:t>
        <a:bodyPr/>
        <a:lstStyle/>
        <a:p>
          <a:endParaRPr lang="en-US"/>
        </a:p>
      </dgm:t>
    </dgm:pt>
    <dgm:pt modelId="{03D1EED6-2BF3-4355-84F0-E21C4AFAC955}">
      <dgm:prSet custT="1"/>
      <dgm:spPr/>
      <dgm:t>
        <a:bodyPr/>
        <a:lstStyle/>
        <a:p>
          <a:endParaRPr lang="en-US" sz="1600" dirty="0"/>
        </a:p>
      </dgm:t>
    </dgm:pt>
    <dgm:pt modelId="{D6D10CCF-20B6-4456-B825-FB3E6EB4721A}" type="parTrans" cxnId="{9665328D-9380-4EB4-AD57-FB712BECF5DA}">
      <dgm:prSet/>
      <dgm:spPr/>
      <dgm:t>
        <a:bodyPr/>
        <a:lstStyle/>
        <a:p>
          <a:endParaRPr lang="en-US"/>
        </a:p>
      </dgm:t>
    </dgm:pt>
    <dgm:pt modelId="{47427126-7E40-443B-A68B-8B4BE4B6F402}" type="sibTrans" cxnId="{9665328D-9380-4EB4-AD57-FB712BECF5DA}">
      <dgm:prSet/>
      <dgm:spPr/>
      <dgm:t>
        <a:bodyPr/>
        <a:lstStyle/>
        <a:p>
          <a:endParaRPr lang="en-US"/>
        </a:p>
      </dgm:t>
    </dgm:pt>
    <dgm:pt modelId="{A474BE47-4AC3-4F4F-A58E-4DCA74DCFC50}" type="pres">
      <dgm:prSet presAssocID="{C4CB35F0-DD7C-44B7-A5EE-FA5F074BB79A}" presName="Name0" presStyleCnt="0">
        <dgm:presLayoutVars>
          <dgm:dir/>
          <dgm:animLvl val="lvl"/>
          <dgm:resizeHandles val="exact"/>
        </dgm:presLayoutVars>
      </dgm:prSet>
      <dgm:spPr/>
    </dgm:pt>
    <dgm:pt modelId="{4F716255-B208-4099-8B7B-F8286980C794}" type="pres">
      <dgm:prSet presAssocID="{B09331C5-3173-479A-991A-130DE1C12DC1}" presName="composite" presStyleCnt="0"/>
      <dgm:spPr/>
    </dgm:pt>
    <dgm:pt modelId="{7AB49BB4-A94C-41D3-94D4-8DEFEB2DB72C}" type="pres">
      <dgm:prSet presAssocID="{B09331C5-3173-479A-991A-130DE1C12DC1}" presName="parTx" presStyleLbl="alignNode1" presStyleIdx="0" presStyleCnt="1" custLinFactNeighborX="1124" custLinFactNeighborY="-25123">
        <dgm:presLayoutVars>
          <dgm:chMax val="0"/>
          <dgm:chPref val="0"/>
          <dgm:bulletEnabled val="1"/>
        </dgm:presLayoutVars>
      </dgm:prSet>
      <dgm:spPr/>
    </dgm:pt>
    <dgm:pt modelId="{75826E61-882F-4E42-B2DE-53BD198C8B82}" type="pres">
      <dgm:prSet presAssocID="{B09331C5-3173-479A-991A-130DE1C12DC1}" presName="desTx" presStyleLbl="alignAccFollowNode1" presStyleIdx="0" presStyleCnt="1" custScaleY="100000" custLinFactNeighborX="9818" custLinFactNeighborY="50753">
        <dgm:presLayoutVars>
          <dgm:bulletEnabled val="1"/>
        </dgm:presLayoutVars>
      </dgm:prSet>
      <dgm:spPr/>
    </dgm:pt>
  </dgm:ptLst>
  <dgm:cxnLst>
    <dgm:cxn modelId="{1D83ED09-7D9E-433C-A74E-DEB72820A8D9}" srcId="{B09331C5-3173-479A-991A-130DE1C12DC1}" destId="{C75B761E-18EF-4908-A642-EA1A38C8F31D}" srcOrd="2" destOrd="0" parTransId="{E8774C41-81D5-4F87-A198-4DE6FCFB619B}" sibTransId="{F70A4C3A-EC94-4CDA-AD56-0BE27A2DA03E}"/>
    <dgm:cxn modelId="{9DF7D512-55FA-41AD-8A0A-4993F081FA96}" type="presOf" srcId="{C4CB35F0-DD7C-44B7-A5EE-FA5F074BB79A}" destId="{A474BE47-4AC3-4F4F-A58E-4DCA74DCFC50}" srcOrd="0" destOrd="0" presId="urn:microsoft.com/office/officeart/2005/8/layout/hList1"/>
    <dgm:cxn modelId="{F7199764-38BE-4EE6-979C-5C83910F2A20}" type="presOf" srcId="{B09331C5-3173-479A-991A-130DE1C12DC1}" destId="{7AB49BB4-A94C-41D3-94D4-8DEFEB2DB72C}" srcOrd="0" destOrd="0" presId="urn:microsoft.com/office/officeart/2005/8/layout/hList1"/>
    <dgm:cxn modelId="{FB4B848A-EF6A-4B34-8D30-AB33E0DB005A}" type="presOf" srcId="{FC13E979-3777-435E-86EB-EBD141CA7A7F}" destId="{75826E61-882F-4E42-B2DE-53BD198C8B82}" srcOrd="0" destOrd="0" presId="urn:microsoft.com/office/officeart/2005/8/layout/hList1"/>
    <dgm:cxn modelId="{ECA7368C-FF61-4B4F-9599-123782AFB107}" type="presOf" srcId="{C75B761E-18EF-4908-A642-EA1A38C8F31D}" destId="{75826E61-882F-4E42-B2DE-53BD198C8B82}" srcOrd="0" destOrd="2" presId="urn:microsoft.com/office/officeart/2005/8/layout/hList1"/>
    <dgm:cxn modelId="{9665328D-9380-4EB4-AD57-FB712BECF5DA}" srcId="{B09331C5-3173-479A-991A-130DE1C12DC1}" destId="{03D1EED6-2BF3-4355-84F0-E21C4AFAC955}" srcOrd="1" destOrd="0" parTransId="{D6D10CCF-20B6-4456-B825-FB3E6EB4721A}" sibTransId="{47427126-7E40-443B-A68B-8B4BE4B6F402}"/>
    <dgm:cxn modelId="{9FDE8EBF-79C2-41F0-976D-A13E0D89C3B2}" srcId="{B09331C5-3173-479A-991A-130DE1C12DC1}" destId="{FC13E979-3777-435E-86EB-EBD141CA7A7F}" srcOrd="0" destOrd="0" parTransId="{FAA6F78C-40C9-4A12-A2B0-9AB2AEEB60BA}" sibTransId="{ED93C902-2E64-4A90-ABBF-7C85B2FB2616}"/>
    <dgm:cxn modelId="{8C2E26C2-0238-4D88-856A-972958EA1005}" srcId="{C4CB35F0-DD7C-44B7-A5EE-FA5F074BB79A}" destId="{B09331C5-3173-479A-991A-130DE1C12DC1}" srcOrd="0" destOrd="0" parTransId="{FB5829C9-BCE3-4442-951E-C2C9542065F6}" sibTransId="{B0DEE2C9-A5A9-485E-AD79-939446786DF5}"/>
    <dgm:cxn modelId="{70DDDAE5-D1F7-4065-A8F5-2EE15F95E61B}" type="presOf" srcId="{03D1EED6-2BF3-4355-84F0-E21C4AFAC955}" destId="{75826E61-882F-4E42-B2DE-53BD198C8B82}" srcOrd="0" destOrd="1" presId="urn:microsoft.com/office/officeart/2005/8/layout/hList1"/>
    <dgm:cxn modelId="{BCFC57D9-065A-419B-A19A-801121FE42A3}" type="presParOf" srcId="{A474BE47-4AC3-4F4F-A58E-4DCA74DCFC50}" destId="{4F716255-B208-4099-8B7B-F8286980C794}" srcOrd="0" destOrd="0" presId="urn:microsoft.com/office/officeart/2005/8/layout/hList1"/>
    <dgm:cxn modelId="{A6DD11C1-FCC1-4ECB-B5C5-17028639224F}" type="presParOf" srcId="{4F716255-B208-4099-8B7B-F8286980C794}" destId="{7AB49BB4-A94C-41D3-94D4-8DEFEB2DB72C}" srcOrd="0" destOrd="0" presId="urn:microsoft.com/office/officeart/2005/8/layout/hList1"/>
    <dgm:cxn modelId="{77FE4B48-19A1-4837-AA93-74A7B27413DD}" type="presParOf" srcId="{4F716255-B208-4099-8B7B-F8286980C794}" destId="{75826E61-882F-4E42-B2DE-53BD198C8B8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CB35F0-DD7C-44B7-A5EE-FA5F074BB79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09331C5-3173-479A-991A-130DE1C12DC1}">
      <dgm:prSet custT="1"/>
      <dgm:spPr/>
      <dgm:t>
        <a:bodyPr/>
        <a:lstStyle/>
        <a:p>
          <a:r>
            <a:rPr lang="en-US" sz="1800" b="1" dirty="0"/>
            <a:t>No Uncertainty</a:t>
          </a:r>
        </a:p>
      </dgm:t>
    </dgm:pt>
    <dgm:pt modelId="{FB5829C9-BCE3-4442-951E-C2C9542065F6}" type="parTrans" cxnId="{8C2E26C2-0238-4D88-856A-972958EA1005}">
      <dgm:prSet/>
      <dgm:spPr/>
      <dgm:t>
        <a:bodyPr/>
        <a:lstStyle/>
        <a:p>
          <a:endParaRPr lang="en-US"/>
        </a:p>
      </dgm:t>
    </dgm:pt>
    <dgm:pt modelId="{B0DEE2C9-A5A9-485E-AD79-939446786DF5}" type="sibTrans" cxnId="{8C2E26C2-0238-4D88-856A-972958EA1005}">
      <dgm:prSet/>
      <dgm:spPr/>
      <dgm:t>
        <a:bodyPr/>
        <a:lstStyle/>
        <a:p>
          <a:endParaRPr lang="en-US"/>
        </a:p>
      </dgm:t>
    </dgm:pt>
    <dgm:pt modelId="{FC13E979-3777-435E-86EB-EBD141CA7A7F}">
      <dgm:prSet custT="1"/>
      <dgm:spPr>
        <a:blipFill>
          <a:blip xmlns:r="http://schemas.openxmlformats.org/officeDocument/2006/relationships" r:embed="rId1"/>
          <a:stretch>
            <a:fillRect l="-1478"/>
          </a:stretch>
        </a:blipFill>
      </dgm:spPr>
      <dgm:t>
        <a:bodyPr/>
        <a:lstStyle/>
        <a:p>
          <a:r>
            <a:rPr lang="en-US">
              <a:noFill/>
            </a:rPr>
            <a:t> </a:t>
          </a:r>
        </a:p>
      </dgm:t>
    </dgm:pt>
    <dgm:pt modelId="{FAA6F78C-40C9-4A12-A2B0-9AB2AEEB60BA}" type="parTrans" cxnId="{9FDE8EBF-79C2-41F0-976D-A13E0D89C3B2}">
      <dgm:prSet/>
      <dgm:spPr/>
      <dgm:t>
        <a:bodyPr/>
        <a:lstStyle/>
        <a:p>
          <a:endParaRPr lang="en-US"/>
        </a:p>
      </dgm:t>
    </dgm:pt>
    <dgm:pt modelId="{ED93C902-2E64-4A90-ABBF-7C85B2FB2616}" type="sibTrans" cxnId="{9FDE8EBF-79C2-41F0-976D-A13E0D89C3B2}">
      <dgm:prSet/>
      <dgm:spPr/>
      <dgm:t>
        <a:bodyPr/>
        <a:lstStyle/>
        <a:p>
          <a:endParaRPr lang="en-US"/>
        </a:p>
      </dgm:t>
    </dgm:pt>
    <dgm:pt modelId="{C75B761E-18EF-4908-A642-EA1A38C8F31D}">
      <dgm:prSet custT="1"/>
      <dgm:spPr/>
      <dgm:t>
        <a:bodyPr/>
        <a:lstStyle/>
        <a:p>
          <a:r>
            <a:rPr lang="en-US">
              <a:noFill/>
            </a:rPr>
            <a:t> </a:t>
          </a:r>
        </a:p>
      </dgm:t>
    </dgm:pt>
    <dgm:pt modelId="{E8774C41-81D5-4F87-A198-4DE6FCFB619B}" type="parTrans" cxnId="{1D83ED09-7D9E-433C-A74E-DEB72820A8D9}">
      <dgm:prSet/>
      <dgm:spPr/>
      <dgm:t>
        <a:bodyPr/>
        <a:lstStyle/>
        <a:p>
          <a:endParaRPr lang="en-US"/>
        </a:p>
      </dgm:t>
    </dgm:pt>
    <dgm:pt modelId="{F70A4C3A-EC94-4CDA-AD56-0BE27A2DA03E}" type="sibTrans" cxnId="{1D83ED09-7D9E-433C-A74E-DEB72820A8D9}">
      <dgm:prSet/>
      <dgm:spPr/>
      <dgm:t>
        <a:bodyPr/>
        <a:lstStyle/>
        <a:p>
          <a:endParaRPr lang="en-US"/>
        </a:p>
      </dgm:t>
    </dgm:pt>
    <dgm:pt modelId="{03D1EED6-2BF3-4355-84F0-E21C4AFAC955}">
      <dgm:prSet custT="1"/>
      <dgm:spPr/>
      <dgm:t>
        <a:bodyPr/>
        <a:lstStyle/>
        <a:p>
          <a:r>
            <a:rPr lang="en-US">
              <a:noFill/>
            </a:rPr>
            <a:t> </a:t>
          </a:r>
        </a:p>
      </dgm:t>
    </dgm:pt>
    <dgm:pt modelId="{D6D10CCF-20B6-4456-B825-FB3E6EB4721A}" type="parTrans" cxnId="{9665328D-9380-4EB4-AD57-FB712BECF5DA}">
      <dgm:prSet/>
      <dgm:spPr/>
      <dgm:t>
        <a:bodyPr/>
        <a:lstStyle/>
        <a:p>
          <a:endParaRPr lang="en-US"/>
        </a:p>
      </dgm:t>
    </dgm:pt>
    <dgm:pt modelId="{47427126-7E40-443B-A68B-8B4BE4B6F402}" type="sibTrans" cxnId="{9665328D-9380-4EB4-AD57-FB712BECF5DA}">
      <dgm:prSet/>
      <dgm:spPr/>
      <dgm:t>
        <a:bodyPr/>
        <a:lstStyle/>
        <a:p>
          <a:endParaRPr lang="en-US"/>
        </a:p>
      </dgm:t>
    </dgm:pt>
    <dgm:pt modelId="{A474BE47-4AC3-4F4F-A58E-4DCA74DCFC50}" type="pres">
      <dgm:prSet presAssocID="{C4CB35F0-DD7C-44B7-A5EE-FA5F074BB79A}" presName="Name0" presStyleCnt="0">
        <dgm:presLayoutVars>
          <dgm:dir/>
          <dgm:animLvl val="lvl"/>
          <dgm:resizeHandles val="exact"/>
        </dgm:presLayoutVars>
      </dgm:prSet>
      <dgm:spPr/>
    </dgm:pt>
    <dgm:pt modelId="{4F716255-B208-4099-8B7B-F8286980C794}" type="pres">
      <dgm:prSet presAssocID="{B09331C5-3173-479A-991A-130DE1C12DC1}" presName="composite" presStyleCnt="0"/>
      <dgm:spPr/>
    </dgm:pt>
    <dgm:pt modelId="{7AB49BB4-A94C-41D3-94D4-8DEFEB2DB72C}" type="pres">
      <dgm:prSet presAssocID="{B09331C5-3173-479A-991A-130DE1C12DC1}" presName="parTx" presStyleLbl="alignNode1" presStyleIdx="0" presStyleCnt="1" custLinFactNeighborX="1124" custLinFactNeighborY="-25123">
        <dgm:presLayoutVars>
          <dgm:chMax val="0"/>
          <dgm:chPref val="0"/>
          <dgm:bulletEnabled val="1"/>
        </dgm:presLayoutVars>
      </dgm:prSet>
      <dgm:spPr/>
    </dgm:pt>
    <dgm:pt modelId="{75826E61-882F-4E42-B2DE-53BD198C8B82}" type="pres">
      <dgm:prSet presAssocID="{B09331C5-3173-479A-991A-130DE1C12DC1}" presName="desTx" presStyleLbl="alignAccFollowNode1" presStyleIdx="0" presStyleCnt="1" custScaleY="100000" custLinFactNeighborX="9818" custLinFactNeighborY="50753">
        <dgm:presLayoutVars>
          <dgm:bulletEnabled val="1"/>
        </dgm:presLayoutVars>
      </dgm:prSet>
      <dgm:spPr/>
    </dgm:pt>
  </dgm:ptLst>
  <dgm:cxnLst>
    <dgm:cxn modelId="{1D83ED09-7D9E-433C-A74E-DEB72820A8D9}" srcId="{B09331C5-3173-479A-991A-130DE1C12DC1}" destId="{C75B761E-18EF-4908-A642-EA1A38C8F31D}" srcOrd="2" destOrd="0" parTransId="{E8774C41-81D5-4F87-A198-4DE6FCFB619B}" sibTransId="{F70A4C3A-EC94-4CDA-AD56-0BE27A2DA03E}"/>
    <dgm:cxn modelId="{9DF7D512-55FA-41AD-8A0A-4993F081FA96}" type="presOf" srcId="{C4CB35F0-DD7C-44B7-A5EE-FA5F074BB79A}" destId="{A474BE47-4AC3-4F4F-A58E-4DCA74DCFC50}" srcOrd="0" destOrd="0" presId="urn:microsoft.com/office/officeart/2005/8/layout/hList1"/>
    <dgm:cxn modelId="{F7199764-38BE-4EE6-979C-5C83910F2A20}" type="presOf" srcId="{B09331C5-3173-479A-991A-130DE1C12DC1}" destId="{7AB49BB4-A94C-41D3-94D4-8DEFEB2DB72C}" srcOrd="0" destOrd="0" presId="urn:microsoft.com/office/officeart/2005/8/layout/hList1"/>
    <dgm:cxn modelId="{FB4B848A-EF6A-4B34-8D30-AB33E0DB005A}" type="presOf" srcId="{FC13E979-3777-435E-86EB-EBD141CA7A7F}" destId="{75826E61-882F-4E42-B2DE-53BD198C8B82}" srcOrd="0" destOrd="0" presId="urn:microsoft.com/office/officeart/2005/8/layout/hList1"/>
    <dgm:cxn modelId="{ECA7368C-FF61-4B4F-9599-123782AFB107}" type="presOf" srcId="{C75B761E-18EF-4908-A642-EA1A38C8F31D}" destId="{75826E61-882F-4E42-B2DE-53BD198C8B82}" srcOrd="0" destOrd="2" presId="urn:microsoft.com/office/officeart/2005/8/layout/hList1"/>
    <dgm:cxn modelId="{9665328D-9380-4EB4-AD57-FB712BECF5DA}" srcId="{B09331C5-3173-479A-991A-130DE1C12DC1}" destId="{03D1EED6-2BF3-4355-84F0-E21C4AFAC955}" srcOrd="1" destOrd="0" parTransId="{D6D10CCF-20B6-4456-B825-FB3E6EB4721A}" sibTransId="{47427126-7E40-443B-A68B-8B4BE4B6F402}"/>
    <dgm:cxn modelId="{9FDE8EBF-79C2-41F0-976D-A13E0D89C3B2}" srcId="{B09331C5-3173-479A-991A-130DE1C12DC1}" destId="{FC13E979-3777-435E-86EB-EBD141CA7A7F}" srcOrd="0" destOrd="0" parTransId="{FAA6F78C-40C9-4A12-A2B0-9AB2AEEB60BA}" sibTransId="{ED93C902-2E64-4A90-ABBF-7C85B2FB2616}"/>
    <dgm:cxn modelId="{8C2E26C2-0238-4D88-856A-972958EA1005}" srcId="{C4CB35F0-DD7C-44B7-A5EE-FA5F074BB79A}" destId="{B09331C5-3173-479A-991A-130DE1C12DC1}" srcOrd="0" destOrd="0" parTransId="{FB5829C9-BCE3-4442-951E-C2C9542065F6}" sibTransId="{B0DEE2C9-A5A9-485E-AD79-939446786DF5}"/>
    <dgm:cxn modelId="{70DDDAE5-D1F7-4065-A8F5-2EE15F95E61B}" type="presOf" srcId="{03D1EED6-2BF3-4355-84F0-E21C4AFAC955}" destId="{75826E61-882F-4E42-B2DE-53BD198C8B82}" srcOrd="0" destOrd="1" presId="urn:microsoft.com/office/officeart/2005/8/layout/hList1"/>
    <dgm:cxn modelId="{BCFC57D9-065A-419B-A19A-801121FE42A3}" type="presParOf" srcId="{A474BE47-4AC3-4F4F-A58E-4DCA74DCFC50}" destId="{4F716255-B208-4099-8B7B-F8286980C794}" srcOrd="0" destOrd="0" presId="urn:microsoft.com/office/officeart/2005/8/layout/hList1"/>
    <dgm:cxn modelId="{A6DD11C1-FCC1-4ECB-B5C5-17028639224F}" type="presParOf" srcId="{4F716255-B208-4099-8B7B-F8286980C794}" destId="{7AB49BB4-A94C-41D3-94D4-8DEFEB2DB72C}" srcOrd="0" destOrd="0" presId="urn:microsoft.com/office/officeart/2005/8/layout/hList1"/>
    <dgm:cxn modelId="{77FE4B48-19A1-4837-AA93-74A7B27413DD}" type="presParOf" srcId="{4F716255-B208-4099-8B7B-F8286980C794}" destId="{75826E61-882F-4E42-B2DE-53BD198C8B8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B6E255B-A9B8-44EA-A139-33C10DCD3B15}" type="doc">
      <dgm:prSet loTypeId="urn:microsoft.com/office/officeart/2005/8/layout/cycle1" loCatId="cycle" qsTypeId="urn:microsoft.com/office/officeart/2005/8/quickstyle/simple1" qsCatId="simple" csTypeId="urn:microsoft.com/office/officeart/2005/8/colors/colorful4" csCatId="colorful" phldr="1"/>
      <dgm:spPr/>
      <dgm:t>
        <a:bodyPr/>
        <a:lstStyle/>
        <a:p>
          <a:endParaRPr lang="en-US"/>
        </a:p>
      </dgm:t>
    </dgm:pt>
    <mc:AlternateContent xmlns:mc="http://schemas.openxmlformats.org/markup-compatibility/2006" xmlns:a14="http://schemas.microsoft.com/office/drawing/2010/main">
      <mc:Choice Requires="a14">
        <dgm:pt modelId="{79BFA5E0-4D2C-4D43-9577-F4680DC313F7}">
          <dgm:prSet phldrT="[Text]" custT="1"/>
          <dgm:spPr/>
          <dgm:t>
            <a:bodyPr/>
            <a:lstStyle/>
            <a:p>
              <a:r>
                <a:rPr lang="en-US" sz="1400" dirty="0"/>
                <a:t>Prediction for action </a:t>
              </a:r>
              <a14:m>
                <m:oMath xmlns:m="http://schemas.openxmlformats.org/officeDocument/2006/math">
                  <m:r>
                    <a:rPr lang="en-US" sz="1400" i="1" dirty="0" smtClean="0">
                      <a:latin typeface="Cambria Math" panose="02040503050406030204" pitchFamily="18" charset="0"/>
                    </a:rPr>
                    <m:t>𝑎</m:t>
                  </m:r>
                </m:oMath>
              </a14:m>
              <a:endParaRPr lang="en-US" sz="1400" dirty="0"/>
            </a:p>
          </dgm:t>
        </dgm:pt>
      </mc:Choice>
      <mc:Fallback xmlns="">
        <dgm:pt modelId="{79BFA5E0-4D2C-4D43-9577-F4680DC313F7}">
          <dgm:prSet phldrT="[Text]" custT="1"/>
          <dgm:spPr/>
          <dgm:t>
            <a:bodyPr/>
            <a:lstStyle/>
            <a:p>
              <a:r>
                <a:rPr lang="en-US" sz="1400" dirty="0"/>
                <a:t>Prediction for action </a:t>
              </a:r>
              <a:r>
                <a:rPr lang="en-US" sz="1400" i="0" dirty="0">
                  <a:latin typeface="Cambria Math" panose="02040503050406030204" pitchFamily="18" charset="0"/>
                </a:rPr>
                <a:t>𝑎</a:t>
              </a:r>
              <a:endParaRPr lang="en-US" sz="1400" dirty="0"/>
            </a:p>
          </dgm:t>
        </dgm:pt>
      </mc:Fallback>
    </mc:AlternateContent>
    <dgm:pt modelId="{3DE34370-ED92-4177-B8F9-D84B9CC7E7A5}" type="parTrans" cxnId="{8497563A-C354-43D2-AD9E-C3FB2E2D7E6A}">
      <dgm:prSet/>
      <dgm:spPr/>
      <dgm:t>
        <a:bodyPr/>
        <a:lstStyle/>
        <a:p>
          <a:endParaRPr lang="en-US"/>
        </a:p>
      </dgm:t>
    </dgm:pt>
    <dgm:pt modelId="{26D21B62-3B3E-46D9-B3D0-E5D9864E25D0}" type="sibTrans" cxnId="{8497563A-C354-43D2-AD9E-C3FB2E2D7E6A}">
      <dgm:prSet/>
      <dgm:spPr/>
      <dgm:t>
        <a:bodyPr/>
        <a:lstStyle/>
        <a:p>
          <a:endParaRPr lang="en-US"/>
        </a:p>
      </dgm:t>
    </dgm:pt>
    <mc:AlternateContent xmlns:mc="http://schemas.openxmlformats.org/markup-compatibility/2006" xmlns:a14="http://schemas.microsoft.com/office/drawing/2010/main">
      <mc:Choice Requires="a14">
        <dgm:pt modelId="{ECA75D4D-899A-4EE0-B16C-50091C22B8BD}">
          <dgm:prSet phldrT="[Text]" custT="1"/>
          <dgm:spPr/>
          <dgm:t>
            <a:bodyPr/>
            <a:lstStyle/>
            <a:p>
              <a:r>
                <a:rPr lang="en-US" sz="1400" dirty="0"/>
                <a:t>Update with observation </a:t>
              </a:r>
              <a14:m>
                <m:oMath xmlns:m="http://schemas.openxmlformats.org/officeDocument/2006/math">
                  <m:r>
                    <a:rPr lang="en-US" sz="1400" i="1" dirty="0" smtClean="0">
                      <a:latin typeface="Cambria Math" panose="02040503050406030204" pitchFamily="18" charset="0"/>
                    </a:rPr>
                    <m:t>𝑜</m:t>
                  </m:r>
                </m:oMath>
              </a14:m>
              <a:endParaRPr lang="en-US" sz="1400" dirty="0"/>
            </a:p>
          </dgm:t>
        </dgm:pt>
      </mc:Choice>
      <mc:Fallback xmlns="">
        <dgm:pt modelId="{ECA75D4D-899A-4EE0-B16C-50091C22B8BD}">
          <dgm:prSet phldrT="[Text]" custT="1"/>
          <dgm:spPr/>
          <dgm:t>
            <a:bodyPr/>
            <a:lstStyle/>
            <a:p>
              <a:r>
                <a:rPr lang="en-US" sz="1400" dirty="0"/>
                <a:t>Update with observation </a:t>
              </a:r>
              <a:r>
                <a:rPr lang="en-US" sz="1400" i="0" dirty="0">
                  <a:latin typeface="Cambria Math" panose="02040503050406030204" pitchFamily="18" charset="0"/>
                </a:rPr>
                <a:t>𝑜</a:t>
              </a:r>
              <a:endParaRPr lang="en-US" sz="1400" dirty="0"/>
            </a:p>
          </dgm:t>
        </dgm:pt>
      </mc:Fallback>
    </mc:AlternateContent>
    <dgm:pt modelId="{512058A7-5D54-4DE4-9557-5C8039F189DE}" type="parTrans" cxnId="{CE26B399-92A7-48C9-BD0C-122266B7248C}">
      <dgm:prSet/>
      <dgm:spPr/>
      <dgm:t>
        <a:bodyPr/>
        <a:lstStyle/>
        <a:p>
          <a:endParaRPr lang="en-US"/>
        </a:p>
      </dgm:t>
    </dgm:pt>
    <dgm:pt modelId="{BFBE0FD8-2F3C-4A84-8E8C-C7E8A260BE2D}" type="sibTrans" cxnId="{CE26B399-92A7-48C9-BD0C-122266B7248C}">
      <dgm:prSet/>
      <dgm:spPr/>
      <dgm:t>
        <a:bodyPr/>
        <a:lstStyle/>
        <a:p>
          <a:endParaRPr lang="en-US"/>
        </a:p>
      </dgm:t>
    </dgm:pt>
    <dgm:pt modelId="{F44B5E09-DF94-4CF4-933C-428652064DCF}" type="pres">
      <dgm:prSet presAssocID="{8B6E255B-A9B8-44EA-A139-33C10DCD3B15}" presName="cycle" presStyleCnt="0">
        <dgm:presLayoutVars>
          <dgm:dir/>
          <dgm:resizeHandles val="exact"/>
        </dgm:presLayoutVars>
      </dgm:prSet>
      <dgm:spPr/>
    </dgm:pt>
    <dgm:pt modelId="{08BDA440-1763-4014-964E-0F601088932C}" type="pres">
      <dgm:prSet presAssocID="{ECA75D4D-899A-4EE0-B16C-50091C22B8BD}" presName="dummy" presStyleCnt="0"/>
      <dgm:spPr/>
    </dgm:pt>
    <dgm:pt modelId="{59C62E99-BE18-4FC7-A1BF-CCD9DBAD5A09}" type="pres">
      <dgm:prSet presAssocID="{ECA75D4D-899A-4EE0-B16C-50091C22B8BD}" presName="node" presStyleLbl="revTx" presStyleIdx="0" presStyleCnt="2" custScaleX="115063">
        <dgm:presLayoutVars>
          <dgm:bulletEnabled val="1"/>
        </dgm:presLayoutVars>
      </dgm:prSet>
      <dgm:spPr/>
    </dgm:pt>
    <dgm:pt modelId="{2768B556-4316-44C8-9173-88A06C423158}" type="pres">
      <dgm:prSet presAssocID="{BFBE0FD8-2F3C-4A84-8E8C-C7E8A260BE2D}" presName="sibTrans" presStyleLbl="node1" presStyleIdx="0" presStyleCnt="2"/>
      <dgm:spPr/>
    </dgm:pt>
    <dgm:pt modelId="{FC35A221-5405-4869-8AE4-902A8F6A2964}" type="pres">
      <dgm:prSet presAssocID="{79BFA5E0-4D2C-4D43-9577-F4680DC313F7}" presName="dummy" presStyleCnt="0"/>
      <dgm:spPr/>
    </dgm:pt>
    <dgm:pt modelId="{D85D4D25-4F5E-4D7A-B631-047DE7DEEADA}" type="pres">
      <dgm:prSet presAssocID="{79BFA5E0-4D2C-4D43-9577-F4680DC313F7}" presName="node" presStyleLbl="revTx" presStyleIdx="1" presStyleCnt="2" custScaleX="115063">
        <dgm:presLayoutVars>
          <dgm:bulletEnabled val="1"/>
        </dgm:presLayoutVars>
      </dgm:prSet>
      <dgm:spPr/>
    </dgm:pt>
    <dgm:pt modelId="{A427F1F6-96C1-4BD8-8DD8-AD8545D18E0A}" type="pres">
      <dgm:prSet presAssocID="{26D21B62-3B3E-46D9-B3D0-E5D9864E25D0}" presName="sibTrans" presStyleLbl="node1" presStyleIdx="1" presStyleCnt="2"/>
      <dgm:spPr/>
    </dgm:pt>
  </dgm:ptLst>
  <dgm:cxnLst>
    <dgm:cxn modelId="{8497563A-C354-43D2-AD9E-C3FB2E2D7E6A}" srcId="{8B6E255B-A9B8-44EA-A139-33C10DCD3B15}" destId="{79BFA5E0-4D2C-4D43-9577-F4680DC313F7}" srcOrd="1" destOrd="0" parTransId="{3DE34370-ED92-4177-B8F9-D84B9CC7E7A5}" sibTransId="{26D21B62-3B3E-46D9-B3D0-E5D9864E25D0}"/>
    <dgm:cxn modelId="{CC11FC4F-4EFE-4D06-9F9B-9EB2AA5C04B2}" type="presOf" srcId="{79BFA5E0-4D2C-4D43-9577-F4680DC313F7}" destId="{D85D4D25-4F5E-4D7A-B631-047DE7DEEADA}" srcOrd="0" destOrd="0" presId="urn:microsoft.com/office/officeart/2005/8/layout/cycle1"/>
    <dgm:cxn modelId="{D7E41572-D935-4371-BD27-2CDAB2E6B781}" type="presOf" srcId="{8B6E255B-A9B8-44EA-A139-33C10DCD3B15}" destId="{F44B5E09-DF94-4CF4-933C-428652064DCF}" srcOrd="0" destOrd="0" presId="urn:microsoft.com/office/officeart/2005/8/layout/cycle1"/>
    <dgm:cxn modelId="{CE26B399-92A7-48C9-BD0C-122266B7248C}" srcId="{8B6E255B-A9B8-44EA-A139-33C10DCD3B15}" destId="{ECA75D4D-899A-4EE0-B16C-50091C22B8BD}" srcOrd="0" destOrd="0" parTransId="{512058A7-5D54-4DE4-9557-5C8039F189DE}" sibTransId="{BFBE0FD8-2F3C-4A84-8E8C-C7E8A260BE2D}"/>
    <dgm:cxn modelId="{9DC2BCAB-FBE6-4FED-BB00-8D5E8F8149DE}" type="presOf" srcId="{BFBE0FD8-2F3C-4A84-8E8C-C7E8A260BE2D}" destId="{2768B556-4316-44C8-9173-88A06C423158}" srcOrd="0" destOrd="0" presId="urn:microsoft.com/office/officeart/2005/8/layout/cycle1"/>
    <dgm:cxn modelId="{8CCE18B6-C2B0-4916-8165-78965ECCFF20}" type="presOf" srcId="{ECA75D4D-899A-4EE0-B16C-50091C22B8BD}" destId="{59C62E99-BE18-4FC7-A1BF-CCD9DBAD5A09}" srcOrd="0" destOrd="0" presId="urn:microsoft.com/office/officeart/2005/8/layout/cycle1"/>
    <dgm:cxn modelId="{D03D8EF8-151F-4C35-847E-E2D7A05BA1F3}" type="presOf" srcId="{26D21B62-3B3E-46D9-B3D0-E5D9864E25D0}" destId="{A427F1F6-96C1-4BD8-8DD8-AD8545D18E0A}" srcOrd="0" destOrd="0" presId="urn:microsoft.com/office/officeart/2005/8/layout/cycle1"/>
    <dgm:cxn modelId="{59A42C3B-82DF-4B97-B9C8-7BE14D320209}" type="presParOf" srcId="{F44B5E09-DF94-4CF4-933C-428652064DCF}" destId="{08BDA440-1763-4014-964E-0F601088932C}" srcOrd="0" destOrd="0" presId="urn:microsoft.com/office/officeart/2005/8/layout/cycle1"/>
    <dgm:cxn modelId="{45F3E394-A278-44B4-B218-5B5C4A80A5CA}" type="presParOf" srcId="{F44B5E09-DF94-4CF4-933C-428652064DCF}" destId="{59C62E99-BE18-4FC7-A1BF-CCD9DBAD5A09}" srcOrd="1" destOrd="0" presId="urn:microsoft.com/office/officeart/2005/8/layout/cycle1"/>
    <dgm:cxn modelId="{01331533-DEBE-4643-B5AF-C86D9DC1CE84}" type="presParOf" srcId="{F44B5E09-DF94-4CF4-933C-428652064DCF}" destId="{2768B556-4316-44C8-9173-88A06C423158}" srcOrd="2" destOrd="0" presId="urn:microsoft.com/office/officeart/2005/8/layout/cycle1"/>
    <dgm:cxn modelId="{2A9CAD55-5446-4AF0-AEAF-2D5DD4C7E414}" type="presParOf" srcId="{F44B5E09-DF94-4CF4-933C-428652064DCF}" destId="{FC35A221-5405-4869-8AE4-902A8F6A2964}" srcOrd="3" destOrd="0" presId="urn:microsoft.com/office/officeart/2005/8/layout/cycle1"/>
    <dgm:cxn modelId="{79609096-CC9E-4F6B-97A3-E6705B5552C2}" type="presParOf" srcId="{F44B5E09-DF94-4CF4-933C-428652064DCF}" destId="{D85D4D25-4F5E-4D7A-B631-047DE7DEEADA}" srcOrd="4" destOrd="0" presId="urn:microsoft.com/office/officeart/2005/8/layout/cycle1"/>
    <dgm:cxn modelId="{A52EE87E-5159-45E4-853D-AF07BD00E26F}" type="presParOf" srcId="{F44B5E09-DF94-4CF4-933C-428652064DCF}" destId="{A427F1F6-96C1-4BD8-8DD8-AD8545D18E0A}" srcOrd="5"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B6E255B-A9B8-44EA-A139-33C10DCD3B15}" type="doc">
      <dgm:prSet loTypeId="urn:microsoft.com/office/officeart/2005/8/layout/cycle1" loCatId="cycle" qsTypeId="urn:microsoft.com/office/officeart/2005/8/quickstyle/simple1" qsCatId="simple" csTypeId="urn:microsoft.com/office/officeart/2005/8/colors/colorful4" csCatId="colorful" phldr="1"/>
      <dgm:spPr/>
      <dgm:t>
        <a:bodyPr/>
        <a:lstStyle/>
        <a:p>
          <a:endParaRPr lang="en-US"/>
        </a:p>
      </dgm:t>
    </dgm:pt>
    <mc:AlternateContent xmlns:mc="http://schemas.openxmlformats.org/markup-compatibility/2006" xmlns:a14="http://schemas.microsoft.com/office/drawing/2010/main">
      <mc:Choice Requires="a14">
        <dgm:pt modelId="{79BFA5E0-4D2C-4D43-9577-F4680DC313F7}">
          <dgm:prSet phldrT="[Text]" custT="1"/>
          <dgm:spPr/>
          <dgm:t>
            <a:bodyPr/>
            <a:lstStyle/>
            <a:p>
              <a:r>
                <a:rPr lang="en-US" sz="1400" dirty="0"/>
                <a:t>Prediction for action </a:t>
              </a:r>
              <a14:m>
                <m:oMath xmlns:m="http://schemas.openxmlformats.org/officeDocument/2006/math">
                  <m:r>
                    <a:rPr lang="en-US" sz="1400" i="1" dirty="0" smtClean="0">
                      <a:latin typeface="Cambria Math" panose="02040503050406030204" pitchFamily="18" charset="0"/>
                    </a:rPr>
                    <m:t>𝑎</m:t>
                  </m:r>
                </m:oMath>
              </a14:m>
              <a:endParaRPr lang="en-US" sz="1400" dirty="0"/>
            </a:p>
          </dgm:t>
        </dgm:pt>
      </mc:Choice>
      <mc:Fallback xmlns="">
        <dgm:pt modelId="{79BFA5E0-4D2C-4D43-9577-F4680DC313F7}">
          <dgm:prSet phldrT="[Text]" custT="1"/>
          <dgm:spPr/>
          <dgm:t>
            <a:bodyPr/>
            <a:lstStyle/>
            <a:p>
              <a:r>
                <a:rPr lang="en-US" sz="1400" dirty="0"/>
                <a:t>Prediction for action </a:t>
              </a:r>
              <a:r>
                <a:rPr lang="en-US" sz="1400" i="0" dirty="0">
                  <a:latin typeface="Cambria Math" panose="02040503050406030204" pitchFamily="18" charset="0"/>
                </a:rPr>
                <a:t>𝑎</a:t>
              </a:r>
              <a:endParaRPr lang="en-US" sz="1400" dirty="0"/>
            </a:p>
          </dgm:t>
        </dgm:pt>
      </mc:Fallback>
    </mc:AlternateContent>
    <dgm:pt modelId="{3DE34370-ED92-4177-B8F9-D84B9CC7E7A5}" type="parTrans" cxnId="{8497563A-C354-43D2-AD9E-C3FB2E2D7E6A}">
      <dgm:prSet/>
      <dgm:spPr/>
      <dgm:t>
        <a:bodyPr/>
        <a:lstStyle/>
        <a:p>
          <a:endParaRPr lang="en-US"/>
        </a:p>
      </dgm:t>
    </dgm:pt>
    <dgm:pt modelId="{26D21B62-3B3E-46D9-B3D0-E5D9864E25D0}" type="sibTrans" cxnId="{8497563A-C354-43D2-AD9E-C3FB2E2D7E6A}">
      <dgm:prSet/>
      <dgm:spPr/>
      <dgm:t>
        <a:bodyPr/>
        <a:lstStyle/>
        <a:p>
          <a:endParaRPr lang="en-US"/>
        </a:p>
      </dgm:t>
    </dgm:pt>
    <mc:AlternateContent xmlns:mc="http://schemas.openxmlformats.org/markup-compatibility/2006" xmlns:a14="http://schemas.microsoft.com/office/drawing/2010/main">
      <mc:Choice Requires="a14">
        <dgm:pt modelId="{ECA75D4D-899A-4EE0-B16C-50091C22B8BD}">
          <dgm:prSet phldrT="[Text]" custT="1"/>
          <dgm:spPr/>
          <dgm:t>
            <a:bodyPr/>
            <a:lstStyle/>
            <a:p>
              <a:r>
                <a:rPr lang="en-US" sz="1400" dirty="0"/>
                <a:t>Update with observation </a:t>
              </a:r>
              <a14:m>
                <m:oMath xmlns:m="http://schemas.openxmlformats.org/officeDocument/2006/math">
                  <m:r>
                    <a:rPr lang="en-US" sz="1400" i="1" dirty="0" smtClean="0">
                      <a:latin typeface="Cambria Math" panose="02040503050406030204" pitchFamily="18" charset="0"/>
                    </a:rPr>
                    <m:t>𝑜</m:t>
                  </m:r>
                </m:oMath>
              </a14:m>
              <a:endParaRPr lang="en-US" sz="1400" dirty="0"/>
            </a:p>
          </dgm:t>
        </dgm:pt>
      </mc:Choice>
      <mc:Fallback xmlns="">
        <dgm:pt modelId="{ECA75D4D-899A-4EE0-B16C-50091C22B8BD}">
          <dgm:prSet phldrT="[Text]" custT="1"/>
          <dgm:spPr/>
          <dgm:t>
            <a:bodyPr/>
            <a:lstStyle/>
            <a:p>
              <a:r>
                <a:rPr lang="en-US" sz="1400" dirty="0"/>
                <a:t>Update with observation </a:t>
              </a:r>
              <a:r>
                <a:rPr lang="en-US" sz="1400" i="0" dirty="0">
                  <a:latin typeface="Cambria Math" panose="02040503050406030204" pitchFamily="18" charset="0"/>
                </a:rPr>
                <a:t>𝑜</a:t>
              </a:r>
              <a:endParaRPr lang="en-US" sz="1400" dirty="0"/>
            </a:p>
          </dgm:t>
        </dgm:pt>
      </mc:Fallback>
    </mc:AlternateContent>
    <dgm:pt modelId="{512058A7-5D54-4DE4-9557-5C8039F189DE}" type="parTrans" cxnId="{CE26B399-92A7-48C9-BD0C-122266B7248C}">
      <dgm:prSet/>
      <dgm:spPr/>
      <dgm:t>
        <a:bodyPr/>
        <a:lstStyle/>
        <a:p>
          <a:endParaRPr lang="en-US"/>
        </a:p>
      </dgm:t>
    </dgm:pt>
    <dgm:pt modelId="{BFBE0FD8-2F3C-4A84-8E8C-C7E8A260BE2D}" type="sibTrans" cxnId="{CE26B399-92A7-48C9-BD0C-122266B7248C}">
      <dgm:prSet/>
      <dgm:spPr/>
      <dgm:t>
        <a:bodyPr/>
        <a:lstStyle/>
        <a:p>
          <a:endParaRPr lang="en-US"/>
        </a:p>
      </dgm:t>
    </dgm:pt>
    <dgm:pt modelId="{F44B5E09-DF94-4CF4-933C-428652064DCF}" type="pres">
      <dgm:prSet presAssocID="{8B6E255B-A9B8-44EA-A139-33C10DCD3B15}" presName="cycle" presStyleCnt="0">
        <dgm:presLayoutVars>
          <dgm:dir/>
          <dgm:resizeHandles val="exact"/>
        </dgm:presLayoutVars>
      </dgm:prSet>
      <dgm:spPr/>
    </dgm:pt>
    <dgm:pt modelId="{08BDA440-1763-4014-964E-0F601088932C}" type="pres">
      <dgm:prSet presAssocID="{ECA75D4D-899A-4EE0-B16C-50091C22B8BD}" presName="dummy" presStyleCnt="0"/>
      <dgm:spPr/>
    </dgm:pt>
    <dgm:pt modelId="{59C62E99-BE18-4FC7-A1BF-CCD9DBAD5A09}" type="pres">
      <dgm:prSet presAssocID="{ECA75D4D-899A-4EE0-B16C-50091C22B8BD}" presName="node" presStyleLbl="revTx" presStyleIdx="0" presStyleCnt="2" custScaleX="115063">
        <dgm:presLayoutVars>
          <dgm:bulletEnabled val="1"/>
        </dgm:presLayoutVars>
      </dgm:prSet>
      <dgm:spPr/>
    </dgm:pt>
    <dgm:pt modelId="{2768B556-4316-44C8-9173-88A06C423158}" type="pres">
      <dgm:prSet presAssocID="{BFBE0FD8-2F3C-4A84-8E8C-C7E8A260BE2D}" presName="sibTrans" presStyleLbl="node1" presStyleIdx="0" presStyleCnt="2"/>
      <dgm:spPr/>
    </dgm:pt>
    <dgm:pt modelId="{FC35A221-5405-4869-8AE4-902A8F6A2964}" type="pres">
      <dgm:prSet presAssocID="{79BFA5E0-4D2C-4D43-9577-F4680DC313F7}" presName="dummy" presStyleCnt="0"/>
      <dgm:spPr/>
    </dgm:pt>
    <dgm:pt modelId="{D85D4D25-4F5E-4D7A-B631-047DE7DEEADA}" type="pres">
      <dgm:prSet presAssocID="{79BFA5E0-4D2C-4D43-9577-F4680DC313F7}" presName="node" presStyleLbl="revTx" presStyleIdx="1" presStyleCnt="2" custScaleX="115063">
        <dgm:presLayoutVars>
          <dgm:bulletEnabled val="1"/>
        </dgm:presLayoutVars>
      </dgm:prSet>
      <dgm:spPr/>
    </dgm:pt>
    <dgm:pt modelId="{A427F1F6-96C1-4BD8-8DD8-AD8545D18E0A}" type="pres">
      <dgm:prSet presAssocID="{26D21B62-3B3E-46D9-B3D0-E5D9864E25D0}" presName="sibTrans" presStyleLbl="node1" presStyleIdx="1" presStyleCnt="2"/>
      <dgm:spPr/>
    </dgm:pt>
  </dgm:ptLst>
  <dgm:cxnLst>
    <dgm:cxn modelId="{8497563A-C354-43D2-AD9E-C3FB2E2D7E6A}" srcId="{8B6E255B-A9B8-44EA-A139-33C10DCD3B15}" destId="{79BFA5E0-4D2C-4D43-9577-F4680DC313F7}" srcOrd="1" destOrd="0" parTransId="{3DE34370-ED92-4177-B8F9-D84B9CC7E7A5}" sibTransId="{26D21B62-3B3E-46D9-B3D0-E5D9864E25D0}"/>
    <dgm:cxn modelId="{CC11FC4F-4EFE-4D06-9F9B-9EB2AA5C04B2}" type="presOf" srcId="{79BFA5E0-4D2C-4D43-9577-F4680DC313F7}" destId="{D85D4D25-4F5E-4D7A-B631-047DE7DEEADA}" srcOrd="0" destOrd="0" presId="urn:microsoft.com/office/officeart/2005/8/layout/cycle1"/>
    <dgm:cxn modelId="{D7E41572-D935-4371-BD27-2CDAB2E6B781}" type="presOf" srcId="{8B6E255B-A9B8-44EA-A139-33C10DCD3B15}" destId="{F44B5E09-DF94-4CF4-933C-428652064DCF}" srcOrd="0" destOrd="0" presId="urn:microsoft.com/office/officeart/2005/8/layout/cycle1"/>
    <dgm:cxn modelId="{CE26B399-92A7-48C9-BD0C-122266B7248C}" srcId="{8B6E255B-A9B8-44EA-A139-33C10DCD3B15}" destId="{ECA75D4D-899A-4EE0-B16C-50091C22B8BD}" srcOrd="0" destOrd="0" parTransId="{512058A7-5D54-4DE4-9557-5C8039F189DE}" sibTransId="{BFBE0FD8-2F3C-4A84-8E8C-C7E8A260BE2D}"/>
    <dgm:cxn modelId="{9DC2BCAB-FBE6-4FED-BB00-8D5E8F8149DE}" type="presOf" srcId="{BFBE0FD8-2F3C-4A84-8E8C-C7E8A260BE2D}" destId="{2768B556-4316-44C8-9173-88A06C423158}" srcOrd="0" destOrd="0" presId="urn:microsoft.com/office/officeart/2005/8/layout/cycle1"/>
    <dgm:cxn modelId="{8CCE18B6-C2B0-4916-8165-78965ECCFF20}" type="presOf" srcId="{ECA75D4D-899A-4EE0-B16C-50091C22B8BD}" destId="{59C62E99-BE18-4FC7-A1BF-CCD9DBAD5A09}" srcOrd="0" destOrd="0" presId="urn:microsoft.com/office/officeart/2005/8/layout/cycle1"/>
    <dgm:cxn modelId="{D03D8EF8-151F-4C35-847E-E2D7A05BA1F3}" type="presOf" srcId="{26D21B62-3B3E-46D9-B3D0-E5D9864E25D0}" destId="{A427F1F6-96C1-4BD8-8DD8-AD8545D18E0A}" srcOrd="0" destOrd="0" presId="urn:microsoft.com/office/officeart/2005/8/layout/cycle1"/>
    <dgm:cxn modelId="{59A42C3B-82DF-4B97-B9C8-7BE14D320209}" type="presParOf" srcId="{F44B5E09-DF94-4CF4-933C-428652064DCF}" destId="{08BDA440-1763-4014-964E-0F601088932C}" srcOrd="0" destOrd="0" presId="urn:microsoft.com/office/officeart/2005/8/layout/cycle1"/>
    <dgm:cxn modelId="{45F3E394-A278-44B4-B218-5B5C4A80A5CA}" type="presParOf" srcId="{F44B5E09-DF94-4CF4-933C-428652064DCF}" destId="{59C62E99-BE18-4FC7-A1BF-CCD9DBAD5A09}" srcOrd="1" destOrd="0" presId="urn:microsoft.com/office/officeart/2005/8/layout/cycle1"/>
    <dgm:cxn modelId="{01331533-DEBE-4643-B5AF-C86D9DC1CE84}" type="presParOf" srcId="{F44B5E09-DF94-4CF4-933C-428652064DCF}" destId="{2768B556-4316-44C8-9173-88A06C423158}" srcOrd="2" destOrd="0" presId="urn:microsoft.com/office/officeart/2005/8/layout/cycle1"/>
    <dgm:cxn modelId="{2A9CAD55-5446-4AF0-AEAF-2D5DD4C7E414}" type="presParOf" srcId="{F44B5E09-DF94-4CF4-933C-428652064DCF}" destId="{FC35A221-5405-4869-8AE4-902A8F6A2964}" srcOrd="3" destOrd="0" presId="urn:microsoft.com/office/officeart/2005/8/layout/cycle1"/>
    <dgm:cxn modelId="{79609096-CC9E-4F6B-97A3-E6705B5552C2}" type="presParOf" srcId="{F44B5E09-DF94-4CF4-933C-428652064DCF}" destId="{D85D4D25-4F5E-4D7A-B631-047DE7DEEADA}" srcOrd="4" destOrd="0" presId="urn:microsoft.com/office/officeart/2005/8/layout/cycle1"/>
    <dgm:cxn modelId="{A52EE87E-5159-45E4-853D-AF07BD00E26F}" type="presParOf" srcId="{F44B5E09-DF94-4CF4-933C-428652064DCF}" destId="{A427F1F6-96C1-4BD8-8DD8-AD8545D18E0A}" srcOrd="5" destOrd="0" presId="urn:microsoft.com/office/officeart/2005/8/layout/cycle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B6E255B-A9B8-44EA-A139-33C10DCD3B15}" type="doc">
      <dgm:prSet loTypeId="urn:microsoft.com/office/officeart/2005/8/layout/cycle1" loCatId="cycle" qsTypeId="urn:microsoft.com/office/officeart/2005/8/quickstyle/simple1" qsCatId="simple" csTypeId="urn:microsoft.com/office/officeart/2005/8/colors/colorful4" csCatId="colorful" phldr="1"/>
      <dgm:spPr/>
      <dgm:t>
        <a:bodyPr/>
        <a:lstStyle/>
        <a:p>
          <a:endParaRPr lang="en-US"/>
        </a:p>
      </dgm:t>
    </dgm:pt>
    <dgm:pt modelId="{79BFA5E0-4D2C-4D43-9577-F4680DC313F7}">
      <dgm:prSet phldrT="[Text]" custT="1"/>
      <dgm:spPr>
        <a:blipFill>
          <a:blip xmlns:r="http://schemas.openxmlformats.org/officeDocument/2006/relationships" r:embed="rId1"/>
          <a:stretch>
            <a:fillRect l="-8284" r="-13018"/>
          </a:stretch>
        </a:blipFill>
      </dgm:spPr>
      <dgm:t>
        <a:bodyPr/>
        <a:lstStyle/>
        <a:p>
          <a:r>
            <a:rPr lang="en-US">
              <a:noFill/>
            </a:rPr>
            <a:t> </a:t>
          </a:r>
        </a:p>
      </dgm:t>
    </dgm:pt>
    <dgm:pt modelId="{3DE34370-ED92-4177-B8F9-D84B9CC7E7A5}" type="parTrans" cxnId="{8497563A-C354-43D2-AD9E-C3FB2E2D7E6A}">
      <dgm:prSet/>
      <dgm:spPr/>
      <dgm:t>
        <a:bodyPr/>
        <a:lstStyle/>
        <a:p>
          <a:endParaRPr lang="en-US"/>
        </a:p>
      </dgm:t>
    </dgm:pt>
    <dgm:pt modelId="{26D21B62-3B3E-46D9-B3D0-E5D9864E25D0}" type="sibTrans" cxnId="{8497563A-C354-43D2-AD9E-C3FB2E2D7E6A}">
      <dgm:prSet/>
      <dgm:spPr/>
      <dgm:t>
        <a:bodyPr/>
        <a:lstStyle/>
        <a:p>
          <a:endParaRPr lang="en-US"/>
        </a:p>
      </dgm:t>
    </dgm:pt>
    <dgm:pt modelId="{ECA75D4D-899A-4EE0-B16C-50091C22B8BD}">
      <dgm:prSet phldrT="[Text]" custT="1"/>
      <dgm:spPr>
        <a:blipFill>
          <a:blip xmlns:r="http://schemas.openxmlformats.org/officeDocument/2006/relationships" r:embed="rId2"/>
          <a:stretch>
            <a:fillRect l="-9467" r="-7692"/>
          </a:stretch>
        </a:blipFill>
      </dgm:spPr>
      <dgm:t>
        <a:bodyPr/>
        <a:lstStyle/>
        <a:p>
          <a:r>
            <a:rPr lang="en-US">
              <a:noFill/>
            </a:rPr>
            <a:t> </a:t>
          </a:r>
        </a:p>
      </dgm:t>
    </dgm:pt>
    <dgm:pt modelId="{512058A7-5D54-4DE4-9557-5C8039F189DE}" type="parTrans" cxnId="{CE26B399-92A7-48C9-BD0C-122266B7248C}">
      <dgm:prSet/>
      <dgm:spPr/>
      <dgm:t>
        <a:bodyPr/>
        <a:lstStyle/>
        <a:p>
          <a:endParaRPr lang="en-US"/>
        </a:p>
      </dgm:t>
    </dgm:pt>
    <dgm:pt modelId="{BFBE0FD8-2F3C-4A84-8E8C-C7E8A260BE2D}" type="sibTrans" cxnId="{CE26B399-92A7-48C9-BD0C-122266B7248C}">
      <dgm:prSet/>
      <dgm:spPr/>
      <dgm:t>
        <a:bodyPr/>
        <a:lstStyle/>
        <a:p>
          <a:endParaRPr lang="en-US"/>
        </a:p>
      </dgm:t>
    </dgm:pt>
    <dgm:pt modelId="{F44B5E09-DF94-4CF4-933C-428652064DCF}" type="pres">
      <dgm:prSet presAssocID="{8B6E255B-A9B8-44EA-A139-33C10DCD3B15}" presName="cycle" presStyleCnt="0">
        <dgm:presLayoutVars>
          <dgm:dir/>
          <dgm:resizeHandles val="exact"/>
        </dgm:presLayoutVars>
      </dgm:prSet>
      <dgm:spPr/>
    </dgm:pt>
    <dgm:pt modelId="{08BDA440-1763-4014-964E-0F601088932C}" type="pres">
      <dgm:prSet presAssocID="{ECA75D4D-899A-4EE0-B16C-50091C22B8BD}" presName="dummy" presStyleCnt="0"/>
      <dgm:spPr/>
    </dgm:pt>
    <dgm:pt modelId="{59C62E99-BE18-4FC7-A1BF-CCD9DBAD5A09}" type="pres">
      <dgm:prSet presAssocID="{ECA75D4D-899A-4EE0-B16C-50091C22B8BD}" presName="node" presStyleLbl="revTx" presStyleIdx="0" presStyleCnt="2" custScaleX="115063">
        <dgm:presLayoutVars>
          <dgm:bulletEnabled val="1"/>
        </dgm:presLayoutVars>
      </dgm:prSet>
      <dgm:spPr/>
    </dgm:pt>
    <dgm:pt modelId="{2768B556-4316-44C8-9173-88A06C423158}" type="pres">
      <dgm:prSet presAssocID="{BFBE0FD8-2F3C-4A84-8E8C-C7E8A260BE2D}" presName="sibTrans" presStyleLbl="node1" presStyleIdx="0" presStyleCnt="2"/>
      <dgm:spPr/>
    </dgm:pt>
    <dgm:pt modelId="{FC35A221-5405-4869-8AE4-902A8F6A2964}" type="pres">
      <dgm:prSet presAssocID="{79BFA5E0-4D2C-4D43-9577-F4680DC313F7}" presName="dummy" presStyleCnt="0"/>
      <dgm:spPr/>
    </dgm:pt>
    <dgm:pt modelId="{D85D4D25-4F5E-4D7A-B631-047DE7DEEADA}" type="pres">
      <dgm:prSet presAssocID="{79BFA5E0-4D2C-4D43-9577-F4680DC313F7}" presName="node" presStyleLbl="revTx" presStyleIdx="1" presStyleCnt="2" custScaleX="115063">
        <dgm:presLayoutVars>
          <dgm:bulletEnabled val="1"/>
        </dgm:presLayoutVars>
      </dgm:prSet>
      <dgm:spPr/>
    </dgm:pt>
    <dgm:pt modelId="{A427F1F6-96C1-4BD8-8DD8-AD8545D18E0A}" type="pres">
      <dgm:prSet presAssocID="{26D21B62-3B3E-46D9-B3D0-E5D9864E25D0}" presName="sibTrans" presStyleLbl="node1" presStyleIdx="1" presStyleCnt="2"/>
      <dgm:spPr/>
    </dgm:pt>
  </dgm:ptLst>
  <dgm:cxnLst>
    <dgm:cxn modelId="{8497563A-C354-43D2-AD9E-C3FB2E2D7E6A}" srcId="{8B6E255B-A9B8-44EA-A139-33C10DCD3B15}" destId="{79BFA5E0-4D2C-4D43-9577-F4680DC313F7}" srcOrd="1" destOrd="0" parTransId="{3DE34370-ED92-4177-B8F9-D84B9CC7E7A5}" sibTransId="{26D21B62-3B3E-46D9-B3D0-E5D9864E25D0}"/>
    <dgm:cxn modelId="{CC11FC4F-4EFE-4D06-9F9B-9EB2AA5C04B2}" type="presOf" srcId="{79BFA5E0-4D2C-4D43-9577-F4680DC313F7}" destId="{D85D4D25-4F5E-4D7A-B631-047DE7DEEADA}" srcOrd="0" destOrd="0" presId="urn:microsoft.com/office/officeart/2005/8/layout/cycle1"/>
    <dgm:cxn modelId="{D7E41572-D935-4371-BD27-2CDAB2E6B781}" type="presOf" srcId="{8B6E255B-A9B8-44EA-A139-33C10DCD3B15}" destId="{F44B5E09-DF94-4CF4-933C-428652064DCF}" srcOrd="0" destOrd="0" presId="urn:microsoft.com/office/officeart/2005/8/layout/cycle1"/>
    <dgm:cxn modelId="{CE26B399-92A7-48C9-BD0C-122266B7248C}" srcId="{8B6E255B-A9B8-44EA-A139-33C10DCD3B15}" destId="{ECA75D4D-899A-4EE0-B16C-50091C22B8BD}" srcOrd="0" destOrd="0" parTransId="{512058A7-5D54-4DE4-9557-5C8039F189DE}" sibTransId="{BFBE0FD8-2F3C-4A84-8E8C-C7E8A260BE2D}"/>
    <dgm:cxn modelId="{9DC2BCAB-FBE6-4FED-BB00-8D5E8F8149DE}" type="presOf" srcId="{BFBE0FD8-2F3C-4A84-8E8C-C7E8A260BE2D}" destId="{2768B556-4316-44C8-9173-88A06C423158}" srcOrd="0" destOrd="0" presId="urn:microsoft.com/office/officeart/2005/8/layout/cycle1"/>
    <dgm:cxn modelId="{8CCE18B6-C2B0-4916-8165-78965ECCFF20}" type="presOf" srcId="{ECA75D4D-899A-4EE0-B16C-50091C22B8BD}" destId="{59C62E99-BE18-4FC7-A1BF-CCD9DBAD5A09}" srcOrd="0" destOrd="0" presId="urn:microsoft.com/office/officeart/2005/8/layout/cycle1"/>
    <dgm:cxn modelId="{D03D8EF8-151F-4C35-847E-E2D7A05BA1F3}" type="presOf" srcId="{26D21B62-3B3E-46D9-B3D0-E5D9864E25D0}" destId="{A427F1F6-96C1-4BD8-8DD8-AD8545D18E0A}" srcOrd="0" destOrd="0" presId="urn:microsoft.com/office/officeart/2005/8/layout/cycle1"/>
    <dgm:cxn modelId="{59A42C3B-82DF-4B97-B9C8-7BE14D320209}" type="presParOf" srcId="{F44B5E09-DF94-4CF4-933C-428652064DCF}" destId="{08BDA440-1763-4014-964E-0F601088932C}" srcOrd="0" destOrd="0" presId="urn:microsoft.com/office/officeart/2005/8/layout/cycle1"/>
    <dgm:cxn modelId="{45F3E394-A278-44B4-B218-5B5C4A80A5CA}" type="presParOf" srcId="{F44B5E09-DF94-4CF4-933C-428652064DCF}" destId="{59C62E99-BE18-4FC7-A1BF-CCD9DBAD5A09}" srcOrd="1" destOrd="0" presId="urn:microsoft.com/office/officeart/2005/8/layout/cycle1"/>
    <dgm:cxn modelId="{01331533-DEBE-4643-B5AF-C86D9DC1CE84}" type="presParOf" srcId="{F44B5E09-DF94-4CF4-933C-428652064DCF}" destId="{2768B556-4316-44C8-9173-88A06C423158}" srcOrd="2" destOrd="0" presId="urn:microsoft.com/office/officeart/2005/8/layout/cycle1"/>
    <dgm:cxn modelId="{2A9CAD55-5446-4AF0-AEAF-2D5DD4C7E414}" type="presParOf" srcId="{F44B5E09-DF94-4CF4-933C-428652064DCF}" destId="{FC35A221-5405-4869-8AE4-902A8F6A2964}" srcOrd="3" destOrd="0" presId="urn:microsoft.com/office/officeart/2005/8/layout/cycle1"/>
    <dgm:cxn modelId="{79609096-CC9E-4F6B-97A3-E6705B5552C2}" type="presParOf" srcId="{F44B5E09-DF94-4CF4-933C-428652064DCF}" destId="{D85D4D25-4F5E-4D7A-B631-047DE7DEEADA}" srcOrd="4" destOrd="0" presId="urn:microsoft.com/office/officeart/2005/8/layout/cycle1"/>
    <dgm:cxn modelId="{A52EE87E-5159-45E4-853D-AF07BD00E26F}" type="presParOf" srcId="{F44B5E09-DF94-4CF4-933C-428652064DCF}" destId="{A427F1F6-96C1-4BD8-8DD8-AD8545D18E0A}" srcOrd="5"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B6E255B-A9B8-44EA-A139-33C10DCD3B15}" type="doc">
      <dgm:prSet loTypeId="urn:microsoft.com/office/officeart/2005/8/layout/cycle1" loCatId="cycle" qsTypeId="urn:microsoft.com/office/officeart/2005/8/quickstyle/simple1" qsCatId="simple" csTypeId="urn:microsoft.com/office/officeart/2005/8/colors/colorful4" csCatId="colorful" phldr="1"/>
      <dgm:spPr/>
      <dgm:t>
        <a:bodyPr/>
        <a:lstStyle/>
        <a:p>
          <a:endParaRPr lang="en-US"/>
        </a:p>
      </dgm:t>
    </dgm:pt>
    <mc:AlternateContent xmlns:mc="http://schemas.openxmlformats.org/markup-compatibility/2006" xmlns:a14="http://schemas.microsoft.com/office/drawing/2010/main">
      <mc:Choice Requires="a14">
        <dgm:pt modelId="{79BFA5E0-4D2C-4D43-9577-F4680DC313F7}">
          <dgm:prSet phldrT="[Text]" custT="1"/>
          <dgm:spPr/>
          <dgm:t>
            <a:bodyPr/>
            <a:lstStyle/>
            <a:p>
              <a:r>
                <a:rPr lang="en-US" sz="1400" dirty="0"/>
                <a:t>Prediction for action </a:t>
              </a:r>
              <a14:m>
                <m:oMath xmlns:m="http://schemas.openxmlformats.org/officeDocument/2006/math">
                  <m:r>
                    <a:rPr lang="en-US" sz="1400" i="1" dirty="0" smtClean="0">
                      <a:latin typeface="Cambria Math" panose="02040503050406030204" pitchFamily="18" charset="0"/>
                    </a:rPr>
                    <m:t>𝑎</m:t>
                  </m:r>
                </m:oMath>
              </a14:m>
              <a:endParaRPr lang="en-US" sz="1400" dirty="0"/>
            </a:p>
          </dgm:t>
        </dgm:pt>
      </mc:Choice>
      <mc:Fallback xmlns="">
        <dgm:pt modelId="{79BFA5E0-4D2C-4D43-9577-F4680DC313F7}">
          <dgm:prSet phldrT="[Text]" custT="1"/>
          <dgm:spPr/>
          <dgm:t>
            <a:bodyPr/>
            <a:lstStyle/>
            <a:p>
              <a:r>
                <a:rPr lang="en-US" sz="1400" dirty="0"/>
                <a:t>Prediction for action </a:t>
              </a:r>
              <a:r>
                <a:rPr lang="en-US" sz="1400" i="0" dirty="0">
                  <a:latin typeface="Cambria Math" panose="02040503050406030204" pitchFamily="18" charset="0"/>
                </a:rPr>
                <a:t>𝑎</a:t>
              </a:r>
              <a:endParaRPr lang="en-US" sz="1400" dirty="0"/>
            </a:p>
          </dgm:t>
        </dgm:pt>
      </mc:Fallback>
    </mc:AlternateContent>
    <dgm:pt modelId="{3DE34370-ED92-4177-B8F9-D84B9CC7E7A5}" type="parTrans" cxnId="{8497563A-C354-43D2-AD9E-C3FB2E2D7E6A}">
      <dgm:prSet/>
      <dgm:spPr/>
      <dgm:t>
        <a:bodyPr/>
        <a:lstStyle/>
        <a:p>
          <a:endParaRPr lang="en-US"/>
        </a:p>
      </dgm:t>
    </dgm:pt>
    <dgm:pt modelId="{26D21B62-3B3E-46D9-B3D0-E5D9864E25D0}" type="sibTrans" cxnId="{8497563A-C354-43D2-AD9E-C3FB2E2D7E6A}">
      <dgm:prSet/>
      <dgm:spPr/>
      <dgm:t>
        <a:bodyPr/>
        <a:lstStyle/>
        <a:p>
          <a:endParaRPr lang="en-US"/>
        </a:p>
      </dgm:t>
    </dgm:pt>
    <mc:AlternateContent xmlns:mc="http://schemas.openxmlformats.org/markup-compatibility/2006" xmlns:a14="http://schemas.microsoft.com/office/drawing/2010/main">
      <mc:Choice Requires="a14">
        <dgm:pt modelId="{ECA75D4D-899A-4EE0-B16C-50091C22B8BD}">
          <dgm:prSet phldrT="[Text]" custT="1"/>
          <dgm:spPr/>
          <dgm:t>
            <a:bodyPr/>
            <a:lstStyle/>
            <a:p>
              <a:r>
                <a:rPr lang="en-US" sz="1400" dirty="0"/>
                <a:t>Update with observation </a:t>
              </a:r>
              <a14:m>
                <m:oMath xmlns:m="http://schemas.openxmlformats.org/officeDocument/2006/math">
                  <m:r>
                    <a:rPr lang="en-US" sz="1400" i="1" dirty="0" smtClean="0">
                      <a:latin typeface="Cambria Math" panose="02040503050406030204" pitchFamily="18" charset="0"/>
                    </a:rPr>
                    <m:t>𝑜</m:t>
                  </m:r>
                </m:oMath>
              </a14:m>
              <a:endParaRPr lang="en-US" sz="1400" dirty="0"/>
            </a:p>
          </dgm:t>
        </dgm:pt>
      </mc:Choice>
      <mc:Fallback xmlns="">
        <dgm:pt modelId="{ECA75D4D-899A-4EE0-B16C-50091C22B8BD}">
          <dgm:prSet phldrT="[Text]" custT="1"/>
          <dgm:spPr/>
          <dgm:t>
            <a:bodyPr/>
            <a:lstStyle/>
            <a:p>
              <a:r>
                <a:rPr lang="en-US" sz="1400" dirty="0"/>
                <a:t>Update with observation </a:t>
              </a:r>
              <a:r>
                <a:rPr lang="en-US" sz="1400" i="0" dirty="0">
                  <a:latin typeface="Cambria Math" panose="02040503050406030204" pitchFamily="18" charset="0"/>
                </a:rPr>
                <a:t>𝑜</a:t>
              </a:r>
              <a:endParaRPr lang="en-US" sz="1400" dirty="0"/>
            </a:p>
          </dgm:t>
        </dgm:pt>
      </mc:Fallback>
    </mc:AlternateContent>
    <dgm:pt modelId="{512058A7-5D54-4DE4-9557-5C8039F189DE}" type="parTrans" cxnId="{CE26B399-92A7-48C9-BD0C-122266B7248C}">
      <dgm:prSet/>
      <dgm:spPr/>
      <dgm:t>
        <a:bodyPr/>
        <a:lstStyle/>
        <a:p>
          <a:endParaRPr lang="en-US"/>
        </a:p>
      </dgm:t>
    </dgm:pt>
    <dgm:pt modelId="{BFBE0FD8-2F3C-4A84-8E8C-C7E8A260BE2D}" type="sibTrans" cxnId="{CE26B399-92A7-48C9-BD0C-122266B7248C}">
      <dgm:prSet/>
      <dgm:spPr/>
      <dgm:t>
        <a:bodyPr/>
        <a:lstStyle/>
        <a:p>
          <a:endParaRPr lang="en-US"/>
        </a:p>
      </dgm:t>
    </dgm:pt>
    <dgm:pt modelId="{F44B5E09-DF94-4CF4-933C-428652064DCF}" type="pres">
      <dgm:prSet presAssocID="{8B6E255B-A9B8-44EA-A139-33C10DCD3B15}" presName="cycle" presStyleCnt="0">
        <dgm:presLayoutVars>
          <dgm:dir/>
          <dgm:resizeHandles val="exact"/>
        </dgm:presLayoutVars>
      </dgm:prSet>
      <dgm:spPr/>
    </dgm:pt>
    <dgm:pt modelId="{08BDA440-1763-4014-964E-0F601088932C}" type="pres">
      <dgm:prSet presAssocID="{ECA75D4D-899A-4EE0-B16C-50091C22B8BD}" presName="dummy" presStyleCnt="0"/>
      <dgm:spPr/>
    </dgm:pt>
    <dgm:pt modelId="{59C62E99-BE18-4FC7-A1BF-CCD9DBAD5A09}" type="pres">
      <dgm:prSet presAssocID="{ECA75D4D-899A-4EE0-B16C-50091C22B8BD}" presName="node" presStyleLbl="revTx" presStyleIdx="0" presStyleCnt="2" custScaleX="115063">
        <dgm:presLayoutVars>
          <dgm:bulletEnabled val="1"/>
        </dgm:presLayoutVars>
      </dgm:prSet>
      <dgm:spPr/>
    </dgm:pt>
    <dgm:pt modelId="{2768B556-4316-44C8-9173-88A06C423158}" type="pres">
      <dgm:prSet presAssocID="{BFBE0FD8-2F3C-4A84-8E8C-C7E8A260BE2D}" presName="sibTrans" presStyleLbl="node1" presStyleIdx="0" presStyleCnt="2"/>
      <dgm:spPr/>
    </dgm:pt>
    <dgm:pt modelId="{FC35A221-5405-4869-8AE4-902A8F6A2964}" type="pres">
      <dgm:prSet presAssocID="{79BFA5E0-4D2C-4D43-9577-F4680DC313F7}" presName="dummy" presStyleCnt="0"/>
      <dgm:spPr/>
    </dgm:pt>
    <dgm:pt modelId="{D85D4D25-4F5E-4D7A-B631-047DE7DEEADA}" type="pres">
      <dgm:prSet presAssocID="{79BFA5E0-4D2C-4D43-9577-F4680DC313F7}" presName="node" presStyleLbl="revTx" presStyleIdx="1" presStyleCnt="2" custScaleX="115063">
        <dgm:presLayoutVars>
          <dgm:bulletEnabled val="1"/>
        </dgm:presLayoutVars>
      </dgm:prSet>
      <dgm:spPr/>
    </dgm:pt>
    <dgm:pt modelId="{A427F1F6-96C1-4BD8-8DD8-AD8545D18E0A}" type="pres">
      <dgm:prSet presAssocID="{26D21B62-3B3E-46D9-B3D0-E5D9864E25D0}" presName="sibTrans" presStyleLbl="node1" presStyleIdx="1" presStyleCnt="2"/>
      <dgm:spPr/>
    </dgm:pt>
  </dgm:ptLst>
  <dgm:cxnLst>
    <dgm:cxn modelId="{8497563A-C354-43D2-AD9E-C3FB2E2D7E6A}" srcId="{8B6E255B-A9B8-44EA-A139-33C10DCD3B15}" destId="{79BFA5E0-4D2C-4D43-9577-F4680DC313F7}" srcOrd="1" destOrd="0" parTransId="{3DE34370-ED92-4177-B8F9-D84B9CC7E7A5}" sibTransId="{26D21B62-3B3E-46D9-B3D0-E5D9864E25D0}"/>
    <dgm:cxn modelId="{CC11FC4F-4EFE-4D06-9F9B-9EB2AA5C04B2}" type="presOf" srcId="{79BFA5E0-4D2C-4D43-9577-F4680DC313F7}" destId="{D85D4D25-4F5E-4D7A-B631-047DE7DEEADA}" srcOrd="0" destOrd="0" presId="urn:microsoft.com/office/officeart/2005/8/layout/cycle1"/>
    <dgm:cxn modelId="{D7E41572-D935-4371-BD27-2CDAB2E6B781}" type="presOf" srcId="{8B6E255B-A9B8-44EA-A139-33C10DCD3B15}" destId="{F44B5E09-DF94-4CF4-933C-428652064DCF}" srcOrd="0" destOrd="0" presId="urn:microsoft.com/office/officeart/2005/8/layout/cycle1"/>
    <dgm:cxn modelId="{CE26B399-92A7-48C9-BD0C-122266B7248C}" srcId="{8B6E255B-A9B8-44EA-A139-33C10DCD3B15}" destId="{ECA75D4D-899A-4EE0-B16C-50091C22B8BD}" srcOrd="0" destOrd="0" parTransId="{512058A7-5D54-4DE4-9557-5C8039F189DE}" sibTransId="{BFBE0FD8-2F3C-4A84-8E8C-C7E8A260BE2D}"/>
    <dgm:cxn modelId="{9DC2BCAB-FBE6-4FED-BB00-8D5E8F8149DE}" type="presOf" srcId="{BFBE0FD8-2F3C-4A84-8E8C-C7E8A260BE2D}" destId="{2768B556-4316-44C8-9173-88A06C423158}" srcOrd="0" destOrd="0" presId="urn:microsoft.com/office/officeart/2005/8/layout/cycle1"/>
    <dgm:cxn modelId="{8CCE18B6-C2B0-4916-8165-78965ECCFF20}" type="presOf" srcId="{ECA75D4D-899A-4EE0-B16C-50091C22B8BD}" destId="{59C62E99-BE18-4FC7-A1BF-CCD9DBAD5A09}" srcOrd="0" destOrd="0" presId="urn:microsoft.com/office/officeart/2005/8/layout/cycle1"/>
    <dgm:cxn modelId="{D03D8EF8-151F-4C35-847E-E2D7A05BA1F3}" type="presOf" srcId="{26D21B62-3B3E-46D9-B3D0-E5D9864E25D0}" destId="{A427F1F6-96C1-4BD8-8DD8-AD8545D18E0A}" srcOrd="0" destOrd="0" presId="urn:microsoft.com/office/officeart/2005/8/layout/cycle1"/>
    <dgm:cxn modelId="{59A42C3B-82DF-4B97-B9C8-7BE14D320209}" type="presParOf" srcId="{F44B5E09-DF94-4CF4-933C-428652064DCF}" destId="{08BDA440-1763-4014-964E-0F601088932C}" srcOrd="0" destOrd="0" presId="urn:microsoft.com/office/officeart/2005/8/layout/cycle1"/>
    <dgm:cxn modelId="{45F3E394-A278-44B4-B218-5B5C4A80A5CA}" type="presParOf" srcId="{F44B5E09-DF94-4CF4-933C-428652064DCF}" destId="{59C62E99-BE18-4FC7-A1BF-CCD9DBAD5A09}" srcOrd="1" destOrd="0" presId="urn:microsoft.com/office/officeart/2005/8/layout/cycle1"/>
    <dgm:cxn modelId="{01331533-DEBE-4643-B5AF-C86D9DC1CE84}" type="presParOf" srcId="{F44B5E09-DF94-4CF4-933C-428652064DCF}" destId="{2768B556-4316-44C8-9173-88A06C423158}" srcOrd="2" destOrd="0" presId="urn:microsoft.com/office/officeart/2005/8/layout/cycle1"/>
    <dgm:cxn modelId="{2A9CAD55-5446-4AF0-AEAF-2D5DD4C7E414}" type="presParOf" srcId="{F44B5E09-DF94-4CF4-933C-428652064DCF}" destId="{FC35A221-5405-4869-8AE4-902A8F6A2964}" srcOrd="3" destOrd="0" presId="urn:microsoft.com/office/officeart/2005/8/layout/cycle1"/>
    <dgm:cxn modelId="{79609096-CC9E-4F6B-97A3-E6705B5552C2}" type="presParOf" srcId="{F44B5E09-DF94-4CF4-933C-428652064DCF}" destId="{D85D4D25-4F5E-4D7A-B631-047DE7DEEADA}" srcOrd="4" destOrd="0" presId="urn:microsoft.com/office/officeart/2005/8/layout/cycle1"/>
    <dgm:cxn modelId="{A52EE87E-5159-45E4-853D-AF07BD00E26F}" type="presParOf" srcId="{F44B5E09-DF94-4CF4-933C-428652064DCF}" destId="{A427F1F6-96C1-4BD8-8DD8-AD8545D18E0A}" srcOrd="5"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B6E255B-A9B8-44EA-A139-33C10DCD3B15}" type="doc">
      <dgm:prSet loTypeId="urn:microsoft.com/office/officeart/2005/8/layout/cycle1" loCatId="cycle" qsTypeId="urn:microsoft.com/office/officeart/2005/8/quickstyle/simple1" qsCatId="simple" csTypeId="urn:microsoft.com/office/officeart/2005/8/colors/colorful4" csCatId="colorful" phldr="1"/>
      <dgm:spPr/>
      <dgm:t>
        <a:bodyPr/>
        <a:lstStyle/>
        <a:p>
          <a:endParaRPr lang="en-US"/>
        </a:p>
      </dgm:t>
    </dgm:pt>
    <dgm:pt modelId="{79BFA5E0-4D2C-4D43-9577-F4680DC313F7}">
      <dgm:prSet phldrT="[Text]" custT="1"/>
      <dgm:spPr>
        <a:blipFill>
          <a:blip xmlns:r="http://schemas.openxmlformats.org/officeDocument/2006/relationships" r:embed="rId1"/>
          <a:stretch>
            <a:fillRect l="-7647" r="-12941"/>
          </a:stretch>
        </a:blipFill>
      </dgm:spPr>
      <dgm:t>
        <a:bodyPr/>
        <a:lstStyle/>
        <a:p>
          <a:r>
            <a:rPr lang="en-US">
              <a:noFill/>
            </a:rPr>
            <a:t> </a:t>
          </a:r>
        </a:p>
      </dgm:t>
    </dgm:pt>
    <dgm:pt modelId="{3DE34370-ED92-4177-B8F9-D84B9CC7E7A5}" type="parTrans" cxnId="{8497563A-C354-43D2-AD9E-C3FB2E2D7E6A}">
      <dgm:prSet/>
      <dgm:spPr/>
      <dgm:t>
        <a:bodyPr/>
        <a:lstStyle/>
        <a:p>
          <a:endParaRPr lang="en-US"/>
        </a:p>
      </dgm:t>
    </dgm:pt>
    <dgm:pt modelId="{26D21B62-3B3E-46D9-B3D0-E5D9864E25D0}" type="sibTrans" cxnId="{8497563A-C354-43D2-AD9E-C3FB2E2D7E6A}">
      <dgm:prSet/>
      <dgm:spPr/>
      <dgm:t>
        <a:bodyPr/>
        <a:lstStyle/>
        <a:p>
          <a:endParaRPr lang="en-US"/>
        </a:p>
      </dgm:t>
    </dgm:pt>
    <dgm:pt modelId="{ECA75D4D-899A-4EE0-B16C-50091C22B8BD}">
      <dgm:prSet phldrT="[Text]" custT="1"/>
      <dgm:spPr>
        <a:blipFill>
          <a:blip xmlns:r="http://schemas.openxmlformats.org/officeDocument/2006/relationships" r:embed="rId2"/>
          <a:stretch>
            <a:fillRect l="-9467" r="-7692"/>
          </a:stretch>
        </a:blipFill>
      </dgm:spPr>
      <dgm:t>
        <a:bodyPr/>
        <a:lstStyle/>
        <a:p>
          <a:r>
            <a:rPr lang="en-US">
              <a:noFill/>
            </a:rPr>
            <a:t> </a:t>
          </a:r>
        </a:p>
      </dgm:t>
    </dgm:pt>
    <dgm:pt modelId="{512058A7-5D54-4DE4-9557-5C8039F189DE}" type="parTrans" cxnId="{CE26B399-92A7-48C9-BD0C-122266B7248C}">
      <dgm:prSet/>
      <dgm:spPr/>
      <dgm:t>
        <a:bodyPr/>
        <a:lstStyle/>
        <a:p>
          <a:endParaRPr lang="en-US"/>
        </a:p>
      </dgm:t>
    </dgm:pt>
    <dgm:pt modelId="{BFBE0FD8-2F3C-4A84-8E8C-C7E8A260BE2D}" type="sibTrans" cxnId="{CE26B399-92A7-48C9-BD0C-122266B7248C}">
      <dgm:prSet/>
      <dgm:spPr/>
      <dgm:t>
        <a:bodyPr/>
        <a:lstStyle/>
        <a:p>
          <a:endParaRPr lang="en-US"/>
        </a:p>
      </dgm:t>
    </dgm:pt>
    <dgm:pt modelId="{F44B5E09-DF94-4CF4-933C-428652064DCF}" type="pres">
      <dgm:prSet presAssocID="{8B6E255B-A9B8-44EA-A139-33C10DCD3B15}" presName="cycle" presStyleCnt="0">
        <dgm:presLayoutVars>
          <dgm:dir/>
          <dgm:resizeHandles val="exact"/>
        </dgm:presLayoutVars>
      </dgm:prSet>
      <dgm:spPr/>
    </dgm:pt>
    <dgm:pt modelId="{08BDA440-1763-4014-964E-0F601088932C}" type="pres">
      <dgm:prSet presAssocID="{ECA75D4D-899A-4EE0-B16C-50091C22B8BD}" presName="dummy" presStyleCnt="0"/>
      <dgm:spPr/>
    </dgm:pt>
    <dgm:pt modelId="{59C62E99-BE18-4FC7-A1BF-CCD9DBAD5A09}" type="pres">
      <dgm:prSet presAssocID="{ECA75D4D-899A-4EE0-B16C-50091C22B8BD}" presName="node" presStyleLbl="revTx" presStyleIdx="0" presStyleCnt="2" custScaleX="115063">
        <dgm:presLayoutVars>
          <dgm:bulletEnabled val="1"/>
        </dgm:presLayoutVars>
      </dgm:prSet>
      <dgm:spPr/>
    </dgm:pt>
    <dgm:pt modelId="{2768B556-4316-44C8-9173-88A06C423158}" type="pres">
      <dgm:prSet presAssocID="{BFBE0FD8-2F3C-4A84-8E8C-C7E8A260BE2D}" presName="sibTrans" presStyleLbl="node1" presStyleIdx="0" presStyleCnt="2"/>
      <dgm:spPr/>
    </dgm:pt>
    <dgm:pt modelId="{FC35A221-5405-4869-8AE4-902A8F6A2964}" type="pres">
      <dgm:prSet presAssocID="{79BFA5E0-4D2C-4D43-9577-F4680DC313F7}" presName="dummy" presStyleCnt="0"/>
      <dgm:spPr/>
    </dgm:pt>
    <dgm:pt modelId="{D85D4D25-4F5E-4D7A-B631-047DE7DEEADA}" type="pres">
      <dgm:prSet presAssocID="{79BFA5E0-4D2C-4D43-9577-F4680DC313F7}" presName="node" presStyleLbl="revTx" presStyleIdx="1" presStyleCnt="2" custScaleX="115063">
        <dgm:presLayoutVars>
          <dgm:bulletEnabled val="1"/>
        </dgm:presLayoutVars>
      </dgm:prSet>
      <dgm:spPr/>
    </dgm:pt>
    <dgm:pt modelId="{A427F1F6-96C1-4BD8-8DD8-AD8545D18E0A}" type="pres">
      <dgm:prSet presAssocID="{26D21B62-3B3E-46D9-B3D0-E5D9864E25D0}" presName="sibTrans" presStyleLbl="node1" presStyleIdx="1" presStyleCnt="2"/>
      <dgm:spPr/>
    </dgm:pt>
  </dgm:ptLst>
  <dgm:cxnLst>
    <dgm:cxn modelId="{8497563A-C354-43D2-AD9E-C3FB2E2D7E6A}" srcId="{8B6E255B-A9B8-44EA-A139-33C10DCD3B15}" destId="{79BFA5E0-4D2C-4D43-9577-F4680DC313F7}" srcOrd="1" destOrd="0" parTransId="{3DE34370-ED92-4177-B8F9-D84B9CC7E7A5}" sibTransId="{26D21B62-3B3E-46D9-B3D0-E5D9864E25D0}"/>
    <dgm:cxn modelId="{CC11FC4F-4EFE-4D06-9F9B-9EB2AA5C04B2}" type="presOf" srcId="{79BFA5E0-4D2C-4D43-9577-F4680DC313F7}" destId="{D85D4D25-4F5E-4D7A-B631-047DE7DEEADA}" srcOrd="0" destOrd="0" presId="urn:microsoft.com/office/officeart/2005/8/layout/cycle1"/>
    <dgm:cxn modelId="{D7E41572-D935-4371-BD27-2CDAB2E6B781}" type="presOf" srcId="{8B6E255B-A9B8-44EA-A139-33C10DCD3B15}" destId="{F44B5E09-DF94-4CF4-933C-428652064DCF}" srcOrd="0" destOrd="0" presId="urn:microsoft.com/office/officeart/2005/8/layout/cycle1"/>
    <dgm:cxn modelId="{CE26B399-92A7-48C9-BD0C-122266B7248C}" srcId="{8B6E255B-A9B8-44EA-A139-33C10DCD3B15}" destId="{ECA75D4D-899A-4EE0-B16C-50091C22B8BD}" srcOrd="0" destOrd="0" parTransId="{512058A7-5D54-4DE4-9557-5C8039F189DE}" sibTransId="{BFBE0FD8-2F3C-4A84-8E8C-C7E8A260BE2D}"/>
    <dgm:cxn modelId="{9DC2BCAB-FBE6-4FED-BB00-8D5E8F8149DE}" type="presOf" srcId="{BFBE0FD8-2F3C-4A84-8E8C-C7E8A260BE2D}" destId="{2768B556-4316-44C8-9173-88A06C423158}" srcOrd="0" destOrd="0" presId="urn:microsoft.com/office/officeart/2005/8/layout/cycle1"/>
    <dgm:cxn modelId="{8CCE18B6-C2B0-4916-8165-78965ECCFF20}" type="presOf" srcId="{ECA75D4D-899A-4EE0-B16C-50091C22B8BD}" destId="{59C62E99-BE18-4FC7-A1BF-CCD9DBAD5A09}" srcOrd="0" destOrd="0" presId="urn:microsoft.com/office/officeart/2005/8/layout/cycle1"/>
    <dgm:cxn modelId="{D03D8EF8-151F-4C35-847E-E2D7A05BA1F3}" type="presOf" srcId="{26D21B62-3B3E-46D9-B3D0-E5D9864E25D0}" destId="{A427F1F6-96C1-4BD8-8DD8-AD8545D18E0A}" srcOrd="0" destOrd="0" presId="urn:microsoft.com/office/officeart/2005/8/layout/cycle1"/>
    <dgm:cxn modelId="{59A42C3B-82DF-4B97-B9C8-7BE14D320209}" type="presParOf" srcId="{F44B5E09-DF94-4CF4-933C-428652064DCF}" destId="{08BDA440-1763-4014-964E-0F601088932C}" srcOrd="0" destOrd="0" presId="urn:microsoft.com/office/officeart/2005/8/layout/cycle1"/>
    <dgm:cxn modelId="{45F3E394-A278-44B4-B218-5B5C4A80A5CA}" type="presParOf" srcId="{F44B5E09-DF94-4CF4-933C-428652064DCF}" destId="{59C62E99-BE18-4FC7-A1BF-CCD9DBAD5A09}" srcOrd="1" destOrd="0" presId="urn:microsoft.com/office/officeart/2005/8/layout/cycle1"/>
    <dgm:cxn modelId="{01331533-DEBE-4643-B5AF-C86D9DC1CE84}" type="presParOf" srcId="{F44B5E09-DF94-4CF4-933C-428652064DCF}" destId="{2768B556-4316-44C8-9173-88A06C423158}" srcOrd="2" destOrd="0" presId="urn:microsoft.com/office/officeart/2005/8/layout/cycle1"/>
    <dgm:cxn modelId="{2A9CAD55-5446-4AF0-AEAF-2D5DD4C7E414}" type="presParOf" srcId="{F44B5E09-DF94-4CF4-933C-428652064DCF}" destId="{FC35A221-5405-4869-8AE4-902A8F6A2964}" srcOrd="3" destOrd="0" presId="urn:microsoft.com/office/officeart/2005/8/layout/cycle1"/>
    <dgm:cxn modelId="{79609096-CC9E-4F6B-97A3-E6705B5552C2}" type="presParOf" srcId="{F44B5E09-DF94-4CF4-933C-428652064DCF}" destId="{D85D4D25-4F5E-4D7A-B631-047DE7DEEADA}" srcOrd="4" destOrd="0" presId="urn:microsoft.com/office/officeart/2005/8/layout/cycle1"/>
    <dgm:cxn modelId="{A52EE87E-5159-45E4-853D-AF07BD00E26F}" type="presParOf" srcId="{F44B5E09-DF94-4CF4-933C-428652064DCF}" destId="{A427F1F6-96C1-4BD8-8DD8-AD8545D18E0A}" srcOrd="5" destOrd="0" presId="urn:microsoft.com/office/officeart/2005/8/layout/cycle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C09E629-5612-4DE4-B307-5DBC4935D20F}" type="doc">
      <dgm:prSet loTypeId="urn:microsoft.com/office/officeart/2005/8/layout/chevron1" loCatId="process" qsTypeId="urn:microsoft.com/office/officeart/2005/8/quickstyle/simple1" qsCatId="simple" csTypeId="urn:microsoft.com/office/officeart/2005/8/colors/colorful1" csCatId="colorful" phldr="1"/>
      <dgm:spPr/>
    </dgm:pt>
    <dgm:pt modelId="{56392043-9B99-42FC-ADF1-7DFBFCA39AFE}">
      <dgm:prSet phldrT="[Text]" custT="1">
        <dgm:style>
          <a:lnRef idx="1">
            <a:schemeClr val="accent4"/>
          </a:lnRef>
          <a:fillRef idx="3">
            <a:schemeClr val="accent4"/>
          </a:fillRef>
          <a:effectRef idx="2">
            <a:schemeClr val="accent4"/>
          </a:effectRef>
          <a:fontRef idx="minor">
            <a:schemeClr val="lt1"/>
          </a:fontRef>
        </dgm:style>
      </dgm:prSet>
      <dgm:spPr/>
      <dgm:t>
        <a:bodyPr/>
        <a:lstStyle/>
        <a:p>
          <a:r>
            <a:rPr lang="en-US" sz="1600" dirty="0"/>
            <a:t>Act</a:t>
          </a:r>
        </a:p>
      </dgm:t>
    </dgm:pt>
    <dgm:pt modelId="{4ED16E6A-6574-4B7C-908A-A6AB8D1A594D}" type="parTrans" cxnId="{7043A422-9B35-442B-BF6C-3493BB860FE3}">
      <dgm:prSet/>
      <dgm:spPr/>
      <dgm:t>
        <a:bodyPr/>
        <a:lstStyle/>
        <a:p>
          <a:endParaRPr lang="en-US"/>
        </a:p>
      </dgm:t>
    </dgm:pt>
    <dgm:pt modelId="{85AAAE31-1A94-4020-A43A-F6227F30EE89}" type="sibTrans" cxnId="{7043A422-9B35-442B-BF6C-3493BB860FE3}">
      <dgm:prSet/>
      <dgm:spPr/>
      <dgm:t>
        <a:bodyPr/>
        <a:lstStyle/>
        <a:p>
          <a:endParaRPr lang="en-US"/>
        </a:p>
      </dgm:t>
    </dgm:pt>
    <dgm:pt modelId="{0CAE7069-39D0-4D49-8863-F8FBB44570AA}">
      <dgm:prSet phldrT="[Text]" custT="1">
        <dgm:style>
          <a:lnRef idx="3">
            <a:schemeClr val="lt1"/>
          </a:lnRef>
          <a:fillRef idx="1">
            <a:schemeClr val="accent5"/>
          </a:fillRef>
          <a:effectRef idx="1">
            <a:schemeClr val="accent5"/>
          </a:effectRef>
          <a:fontRef idx="minor">
            <a:schemeClr val="lt1"/>
          </a:fontRef>
        </dgm:style>
      </dgm:prSet>
      <dgm:spPr/>
      <dgm:t>
        <a:bodyPr/>
        <a:lstStyle/>
        <a:p>
          <a:r>
            <a:rPr lang="en-US" sz="1600" dirty="0"/>
            <a:t>Observe</a:t>
          </a:r>
        </a:p>
      </dgm:t>
    </dgm:pt>
    <dgm:pt modelId="{075F4019-8E50-4DC9-BA88-1AAA9F65EBF2}" type="parTrans" cxnId="{E192C6B7-A7DA-4345-90DC-1E0871FFFE48}">
      <dgm:prSet/>
      <dgm:spPr/>
      <dgm:t>
        <a:bodyPr/>
        <a:lstStyle/>
        <a:p>
          <a:endParaRPr lang="en-US"/>
        </a:p>
      </dgm:t>
    </dgm:pt>
    <dgm:pt modelId="{60BE0527-83FA-48FC-ACFA-F96873D9C43B}" type="sibTrans" cxnId="{E192C6B7-A7DA-4345-90DC-1E0871FFFE48}">
      <dgm:prSet/>
      <dgm:spPr/>
      <dgm:t>
        <a:bodyPr/>
        <a:lstStyle/>
        <a:p>
          <a:endParaRPr lang="en-US"/>
        </a:p>
      </dgm:t>
    </dgm:pt>
    <dgm:pt modelId="{D8449DE1-6057-4063-AB8D-E637F0BC53E6}">
      <dgm:prSet custT="1">
        <dgm:style>
          <a:lnRef idx="3">
            <a:schemeClr val="lt1"/>
          </a:lnRef>
          <a:fillRef idx="1">
            <a:schemeClr val="accent5"/>
          </a:fillRef>
          <a:effectRef idx="1">
            <a:schemeClr val="accent5"/>
          </a:effectRef>
          <a:fontRef idx="minor">
            <a:schemeClr val="lt1"/>
          </a:fontRef>
        </dgm:style>
      </dgm:prSet>
      <dgm:spPr/>
      <dgm:t>
        <a:bodyPr/>
        <a:lstStyle/>
        <a:p>
          <a:r>
            <a:rPr lang="en-US" sz="1600" dirty="0"/>
            <a:t>Observe</a:t>
          </a:r>
        </a:p>
      </dgm:t>
    </dgm:pt>
    <dgm:pt modelId="{2774DF43-459C-4939-B057-047CFB045C69}" type="parTrans" cxnId="{BA2D4CA0-A6D2-424D-82B6-4FB83009B93E}">
      <dgm:prSet/>
      <dgm:spPr/>
      <dgm:t>
        <a:bodyPr/>
        <a:lstStyle/>
        <a:p>
          <a:endParaRPr lang="en-US"/>
        </a:p>
      </dgm:t>
    </dgm:pt>
    <dgm:pt modelId="{AC00BEA9-FC2D-4EE9-89F3-E4E45057746B}" type="sibTrans" cxnId="{BA2D4CA0-A6D2-424D-82B6-4FB83009B93E}">
      <dgm:prSet/>
      <dgm:spPr/>
      <dgm:t>
        <a:bodyPr/>
        <a:lstStyle/>
        <a:p>
          <a:endParaRPr lang="en-US"/>
        </a:p>
      </dgm:t>
    </dgm:pt>
    <dgm:pt modelId="{13D4203D-4050-4A5C-BBCE-002464C08CFA}">
      <dgm:prSet custT="1"/>
      <dgm:spPr/>
      <dgm:t>
        <a:bodyPr/>
        <a:lstStyle/>
        <a:p>
          <a:r>
            <a:rPr lang="en-US" sz="1600" dirty="0"/>
            <a:t>Act</a:t>
          </a:r>
        </a:p>
      </dgm:t>
    </dgm:pt>
    <dgm:pt modelId="{3D97425D-CB3A-4530-B9BE-7D3F25B849B8}" type="parTrans" cxnId="{D583318A-D2D6-4737-8CAC-FCEAF89A5162}">
      <dgm:prSet/>
      <dgm:spPr/>
      <dgm:t>
        <a:bodyPr/>
        <a:lstStyle/>
        <a:p>
          <a:endParaRPr lang="en-US"/>
        </a:p>
      </dgm:t>
    </dgm:pt>
    <dgm:pt modelId="{8D15464A-625F-462E-A854-D0011D7E6550}" type="sibTrans" cxnId="{D583318A-D2D6-4737-8CAC-FCEAF89A5162}">
      <dgm:prSet/>
      <dgm:spPr/>
      <dgm:t>
        <a:bodyPr/>
        <a:lstStyle/>
        <a:p>
          <a:endParaRPr lang="en-US"/>
        </a:p>
      </dgm:t>
    </dgm:pt>
    <dgm:pt modelId="{B42DFA58-9817-4C85-9F5C-9523BD8CCBA0}">
      <dgm:prSet custT="1">
        <dgm:style>
          <a:lnRef idx="0">
            <a:scrgbClr r="0" g="0" b="0"/>
          </a:lnRef>
          <a:fillRef idx="0">
            <a:scrgbClr r="0" g="0" b="0"/>
          </a:fillRef>
          <a:effectRef idx="0">
            <a:scrgbClr r="0" g="0" b="0"/>
          </a:effectRef>
          <a:fontRef idx="minor">
            <a:schemeClr val="lt1"/>
          </a:fontRef>
        </dgm:style>
      </dgm:prSet>
      <dgm:spPr>
        <a:solidFill>
          <a:schemeClr val="accent4"/>
        </a:solidFill>
        <a:ln>
          <a:noFill/>
        </a:ln>
      </dgm:spPr>
      <dgm:t>
        <a:bodyPr/>
        <a:lstStyle/>
        <a:p>
          <a:r>
            <a:rPr lang="en-US" sz="1600" dirty="0"/>
            <a:t>Act</a:t>
          </a:r>
        </a:p>
      </dgm:t>
    </dgm:pt>
    <dgm:pt modelId="{5FC6CAA9-653B-4175-9A19-AE370139D709}" type="parTrans" cxnId="{EFFBE293-C117-40D9-AC8E-B3CFC89E8B19}">
      <dgm:prSet/>
      <dgm:spPr/>
      <dgm:t>
        <a:bodyPr/>
        <a:lstStyle/>
        <a:p>
          <a:endParaRPr lang="en-US"/>
        </a:p>
      </dgm:t>
    </dgm:pt>
    <dgm:pt modelId="{C4479F8E-1387-415D-A738-CEC60E32657D}" type="sibTrans" cxnId="{EFFBE293-C117-40D9-AC8E-B3CFC89E8B19}">
      <dgm:prSet/>
      <dgm:spPr/>
      <dgm:t>
        <a:bodyPr/>
        <a:lstStyle/>
        <a:p>
          <a:endParaRPr lang="en-US"/>
        </a:p>
      </dgm:t>
    </dgm:pt>
    <dgm:pt modelId="{4855D71D-50FC-4185-B16C-2B5E34ABB854}" type="pres">
      <dgm:prSet presAssocID="{8C09E629-5612-4DE4-B307-5DBC4935D20F}" presName="Name0" presStyleCnt="0">
        <dgm:presLayoutVars>
          <dgm:dir/>
          <dgm:animLvl val="lvl"/>
          <dgm:resizeHandles val="exact"/>
        </dgm:presLayoutVars>
      </dgm:prSet>
      <dgm:spPr/>
    </dgm:pt>
    <dgm:pt modelId="{7859DBF7-2D0F-49B7-818C-9EE9ABDDD9EE}" type="pres">
      <dgm:prSet presAssocID="{56392043-9B99-42FC-ADF1-7DFBFCA39AFE}" presName="parTxOnly" presStyleLbl="node1" presStyleIdx="0" presStyleCnt="5">
        <dgm:presLayoutVars>
          <dgm:chMax val="0"/>
          <dgm:chPref val="0"/>
          <dgm:bulletEnabled val="1"/>
        </dgm:presLayoutVars>
      </dgm:prSet>
      <dgm:spPr/>
    </dgm:pt>
    <dgm:pt modelId="{B10B5200-F2D3-490D-868D-C3C84B9D1DD3}" type="pres">
      <dgm:prSet presAssocID="{85AAAE31-1A94-4020-A43A-F6227F30EE89}" presName="parTxOnlySpace" presStyleCnt="0"/>
      <dgm:spPr/>
    </dgm:pt>
    <dgm:pt modelId="{CAAF1384-4506-49C4-A7CC-EAC98596EDF4}" type="pres">
      <dgm:prSet presAssocID="{0CAE7069-39D0-4D49-8863-F8FBB44570AA}" presName="parTxOnly" presStyleLbl="node1" presStyleIdx="1" presStyleCnt="5">
        <dgm:presLayoutVars>
          <dgm:chMax val="0"/>
          <dgm:chPref val="0"/>
          <dgm:bulletEnabled val="1"/>
        </dgm:presLayoutVars>
      </dgm:prSet>
      <dgm:spPr/>
    </dgm:pt>
    <dgm:pt modelId="{A6BA33FE-7D5A-4C18-A556-366C606A2F99}" type="pres">
      <dgm:prSet presAssocID="{60BE0527-83FA-48FC-ACFA-F96873D9C43B}" presName="parTxOnlySpace" presStyleCnt="0"/>
      <dgm:spPr/>
    </dgm:pt>
    <dgm:pt modelId="{0F71D6C4-A746-481D-BF33-37EB8353B851}" type="pres">
      <dgm:prSet presAssocID="{13D4203D-4050-4A5C-BBCE-002464C08CFA}" presName="parTxOnly" presStyleLbl="node1" presStyleIdx="2" presStyleCnt="5">
        <dgm:presLayoutVars>
          <dgm:chMax val="0"/>
          <dgm:chPref val="0"/>
          <dgm:bulletEnabled val="1"/>
        </dgm:presLayoutVars>
      </dgm:prSet>
      <dgm:spPr/>
    </dgm:pt>
    <dgm:pt modelId="{0EF19579-5763-4919-96C9-4659A11E101D}" type="pres">
      <dgm:prSet presAssocID="{8D15464A-625F-462E-A854-D0011D7E6550}" presName="parTxOnlySpace" presStyleCnt="0"/>
      <dgm:spPr/>
    </dgm:pt>
    <dgm:pt modelId="{17194B44-B5E5-4A4E-94BA-D8BCF3C015F6}" type="pres">
      <dgm:prSet presAssocID="{D8449DE1-6057-4063-AB8D-E637F0BC53E6}" presName="parTxOnly" presStyleLbl="node1" presStyleIdx="3" presStyleCnt="5">
        <dgm:presLayoutVars>
          <dgm:chMax val="0"/>
          <dgm:chPref val="0"/>
          <dgm:bulletEnabled val="1"/>
        </dgm:presLayoutVars>
      </dgm:prSet>
      <dgm:spPr/>
    </dgm:pt>
    <dgm:pt modelId="{0C8C8FBB-F27B-407D-A03A-6CFD6EBB4602}" type="pres">
      <dgm:prSet presAssocID="{AC00BEA9-FC2D-4EE9-89F3-E4E45057746B}" presName="parTxOnlySpace" presStyleCnt="0"/>
      <dgm:spPr/>
    </dgm:pt>
    <dgm:pt modelId="{A08D5CE7-3F16-4C40-827E-CC4D74A7A602}" type="pres">
      <dgm:prSet presAssocID="{B42DFA58-9817-4C85-9F5C-9523BD8CCBA0}" presName="parTxOnly" presStyleLbl="node1" presStyleIdx="4" presStyleCnt="5" custLinFactNeighborX="1">
        <dgm:presLayoutVars>
          <dgm:chMax val="0"/>
          <dgm:chPref val="0"/>
          <dgm:bulletEnabled val="1"/>
        </dgm:presLayoutVars>
      </dgm:prSet>
      <dgm:spPr/>
    </dgm:pt>
  </dgm:ptLst>
  <dgm:cxnLst>
    <dgm:cxn modelId="{7043A422-9B35-442B-BF6C-3493BB860FE3}" srcId="{8C09E629-5612-4DE4-B307-5DBC4935D20F}" destId="{56392043-9B99-42FC-ADF1-7DFBFCA39AFE}" srcOrd="0" destOrd="0" parTransId="{4ED16E6A-6574-4B7C-908A-A6AB8D1A594D}" sibTransId="{85AAAE31-1A94-4020-A43A-F6227F30EE89}"/>
    <dgm:cxn modelId="{7FE0A03D-37C9-4944-AE90-9979F2AF46EB}" type="presOf" srcId="{13D4203D-4050-4A5C-BBCE-002464C08CFA}" destId="{0F71D6C4-A746-481D-BF33-37EB8353B851}" srcOrd="0" destOrd="0" presId="urn:microsoft.com/office/officeart/2005/8/layout/chevron1"/>
    <dgm:cxn modelId="{82C0BB60-0632-4F9D-AAA1-F1D1062E98E4}" type="presOf" srcId="{D8449DE1-6057-4063-AB8D-E637F0BC53E6}" destId="{17194B44-B5E5-4A4E-94BA-D8BCF3C015F6}" srcOrd="0" destOrd="0" presId="urn:microsoft.com/office/officeart/2005/8/layout/chevron1"/>
    <dgm:cxn modelId="{D583318A-D2D6-4737-8CAC-FCEAF89A5162}" srcId="{8C09E629-5612-4DE4-B307-5DBC4935D20F}" destId="{13D4203D-4050-4A5C-BBCE-002464C08CFA}" srcOrd="2" destOrd="0" parTransId="{3D97425D-CB3A-4530-B9BE-7D3F25B849B8}" sibTransId="{8D15464A-625F-462E-A854-D0011D7E6550}"/>
    <dgm:cxn modelId="{EFFBE293-C117-40D9-AC8E-B3CFC89E8B19}" srcId="{8C09E629-5612-4DE4-B307-5DBC4935D20F}" destId="{B42DFA58-9817-4C85-9F5C-9523BD8CCBA0}" srcOrd="4" destOrd="0" parTransId="{5FC6CAA9-653B-4175-9A19-AE370139D709}" sibTransId="{C4479F8E-1387-415D-A738-CEC60E32657D}"/>
    <dgm:cxn modelId="{BA2D4CA0-A6D2-424D-82B6-4FB83009B93E}" srcId="{8C09E629-5612-4DE4-B307-5DBC4935D20F}" destId="{D8449DE1-6057-4063-AB8D-E637F0BC53E6}" srcOrd="3" destOrd="0" parTransId="{2774DF43-459C-4939-B057-047CFB045C69}" sibTransId="{AC00BEA9-FC2D-4EE9-89F3-E4E45057746B}"/>
    <dgm:cxn modelId="{508598A9-24CD-4374-812C-06A74374B47D}" type="presOf" srcId="{0CAE7069-39D0-4D49-8863-F8FBB44570AA}" destId="{CAAF1384-4506-49C4-A7CC-EAC98596EDF4}" srcOrd="0" destOrd="0" presId="urn:microsoft.com/office/officeart/2005/8/layout/chevron1"/>
    <dgm:cxn modelId="{E192C6B7-A7DA-4345-90DC-1E0871FFFE48}" srcId="{8C09E629-5612-4DE4-B307-5DBC4935D20F}" destId="{0CAE7069-39D0-4D49-8863-F8FBB44570AA}" srcOrd="1" destOrd="0" parTransId="{075F4019-8E50-4DC9-BA88-1AAA9F65EBF2}" sibTransId="{60BE0527-83FA-48FC-ACFA-F96873D9C43B}"/>
    <dgm:cxn modelId="{A0C65EB8-AA38-4109-A282-14D78FED54B9}" type="presOf" srcId="{8C09E629-5612-4DE4-B307-5DBC4935D20F}" destId="{4855D71D-50FC-4185-B16C-2B5E34ABB854}" srcOrd="0" destOrd="0" presId="urn:microsoft.com/office/officeart/2005/8/layout/chevron1"/>
    <dgm:cxn modelId="{A1EBD7D7-9705-4DEB-92F4-019F6AF04B48}" type="presOf" srcId="{B42DFA58-9817-4C85-9F5C-9523BD8CCBA0}" destId="{A08D5CE7-3F16-4C40-827E-CC4D74A7A602}" srcOrd="0" destOrd="0" presId="urn:microsoft.com/office/officeart/2005/8/layout/chevron1"/>
    <dgm:cxn modelId="{ABC920E1-BE72-47C4-8328-52E6AFB894BB}" type="presOf" srcId="{56392043-9B99-42FC-ADF1-7DFBFCA39AFE}" destId="{7859DBF7-2D0F-49B7-818C-9EE9ABDDD9EE}" srcOrd="0" destOrd="0" presId="urn:microsoft.com/office/officeart/2005/8/layout/chevron1"/>
    <dgm:cxn modelId="{0425CC22-B18C-4761-A226-5101FBAE14C2}" type="presParOf" srcId="{4855D71D-50FC-4185-B16C-2B5E34ABB854}" destId="{7859DBF7-2D0F-49B7-818C-9EE9ABDDD9EE}" srcOrd="0" destOrd="0" presId="urn:microsoft.com/office/officeart/2005/8/layout/chevron1"/>
    <dgm:cxn modelId="{002DA890-E152-4128-8583-10FE5A785AE9}" type="presParOf" srcId="{4855D71D-50FC-4185-B16C-2B5E34ABB854}" destId="{B10B5200-F2D3-490D-868D-C3C84B9D1DD3}" srcOrd="1" destOrd="0" presId="urn:microsoft.com/office/officeart/2005/8/layout/chevron1"/>
    <dgm:cxn modelId="{2C46A5E9-D96A-45FB-A006-CB27A6125CF7}" type="presParOf" srcId="{4855D71D-50FC-4185-B16C-2B5E34ABB854}" destId="{CAAF1384-4506-49C4-A7CC-EAC98596EDF4}" srcOrd="2" destOrd="0" presId="urn:microsoft.com/office/officeart/2005/8/layout/chevron1"/>
    <dgm:cxn modelId="{1AB9FF4E-3BD2-4E6B-8949-837C526B5975}" type="presParOf" srcId="{4855D71D-50FC-4185-B16C-2B5E34ABB854}" destId="{A6BA33FE-7D5A-4C18-A556-366C606A2F99}" srcOrd="3" destOrd="0" presId="urn:microsoft.com/office/officeart/2005/8/layout/chevron1"/>
    <dgm:cxn modelId="{3AA2BE8E-1D06-49B7-9E1B-A44874939709}" type="presParOf" srcId="{4855D71D-50FC-4185-B16C-2B5E34ABB854}" destId="{0F71D6C4-A746-481D-BF33-37EB8353B851}" srcOrd="4" destOrd="0" presId="urn:microsoft.com/office/officeart/2005/8/layout/chevron1"/>
    <dgm:cxn modelId="{3C0EB157-8E40-43C9-AE32-32FDE1A75990}" type="presParOf" srcId="{4855D71D-50FC-4185-B16C-2B5E34ABB854}" destId="{0EF19579-5763-4919-96C9-4659A11E101D}" srcOrd="5" destOrd="0" presId="urn:microsoft.com/office/officeart/2005/8/layout/chevron1"/>
    <dgm:cxn modelId="{F12DD0A0-6A32-45E2-86E4-B9ECB29718A1}" type="presParOf" srcId="{4855D71D-50FC-4185-B16C-2B5E34ABB854}" destId="{17194B44-B5E5-4A4E-94BA-D8BCF3C015F6}" srcOrd="6" destOrd="0" presId="urn:microsoft.com/office/officeart/2005/8/layout/chevron1"/>
    <dgm:cxn modelId="{F13C72D9-A618-4AC1-B84D-E3E169845425}" type="presParOf" srcId="{4855D71D-50FC-4185-B16C-2B5E34ABB854}" destId="{0C8C8FBB-F27B-407D-A03A-6CFD6EBB4602}" srcOrd="7" destOrd="0" presId="urn:microsoft.com/office/officeart/2005/8/layout/chevron1"/>
    <dgm:cxn modelId="{DCB59BD9-CEAD-45DD-B7E2-B47B776E7047}" type="presParOf" srcId="{4855D71D-50FC-4185-B16C-2B5E34ABB854}" destId="{A08D5CE7-3F16-4C40-827E-CC4D74A7A602}"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B6E255B-A9B8-44EA-A139-33C10DCD3B15}" type="doc">
      <dgm:prSet loTypeId="urn:microsoft.com/office/officeart/2005/8/layout/cycle1" loCatId="cycle" qsTypeId="urn:microsoft.com/office/officeart/2005/8/quickstyle/simple1" qsCatId="simple" csTypeId="urn:microsoft.com/office/officeart/2005/8/colors/colorful4" csCatId="colorful" phldr="1"/>
      <dgm:spPr/>
      <dgm:t>
        <a:bodyPr/>
        <a:lstStyle/>
        <a:p>
          <a:endParaRPr lang="en-US"/>
        </a:p>
      </dgm:t>
    </dgm:pt>
    <dgm:pt modelId="{79BFA5E0-4D2C-4D43-9577-F4680DC313F7}">
      <dgm:prSet phldrT="[Text]" custT="1"/>
      <dgm:spPr>
        <a:blipFill>
          <a:blip xmlns:r="http://schemas.openxmlformats.org/officeDocument/2006/relationships" r:embed="rId1"/>
          <a:stretch>
            <a:fillRect l="-8284" r="-13018"/>
          </a:stretch>
        </a:blipFill>
      </dgm:spPr>
      <dgm:t>
        <a:bodyPr/>
        <a:lstStyle/>
        <a:p>
          <a:r>
            <a:rPr lang="en-US">
              <a:noFill/>
            </a:rPr>
            <a:t> </a:t>
          </a:r>
        </a:p>
      </dgm:t>
    </dgm:pt>
    <dgm:pt modelId="{3DE34370-ED92-4177-B8F9-D84B9CC7E7A5}" type="parTrans" cxnId="{8497563A-C354-43D2-AD9E-C3FB2E2D7E6A}">
      <dgm:prSet/>
      <dgm:spPr/>
      <dgm:t>
        <a:bodyPr/>
        <a:lstStyle/>
        <a:p>
          <a:endParaRPr lang="en-US"/>
        </a:p>
      </dgm:t>
    </dgm:pt>
    <dgm:pt modelId="{26D21B62-3B3E-46D9-B3D0-E5D9864E25D0}" type="sibTrans" cxnId="{8497563A-C354-43D2-AD9E-C3FB2E2D7E6A}">
      <dgm:prSet/>
      <dgm:spPr/>
      <dgm:t>
        <a:bodyPr/>
        <a:lstStyle/>
        <a:p>
          <a:endParaRPr lang="en-US"/>
        </a:p>
      </dgm:t>
    </dgm:pt>
    <dgm:pt modelId="{ECA75D4D-899A-4EE0-B16C-50091C22B8BD}">
      <dgm:prSet phldrT="[Text]" custT="1"/>
      <dgm:spPr>
        <a:blipFill>
          <a:blip xmlns:r="http://schemas.openxmlformats.org/officeDocument/2006/relationships" r:embed="rId2"/>
          <a:stretch>
            <a:fillRect l="-9467" r="-7692"/>
          </a:stretch>
        </a:blipFill>
      </dgm:spPr>
      <dgm:t>
        <a:bodyPr/>
        <a:lstStyle/>
        <a:p>
          <a:r>
            <a:rPr lang="en-US">
              <a:noFill/>
            </a:rPr>
            <a:t> </a:t>
          </a:r>
        </a:p>
      </dgm:t>
    </dgm:pt>
    <dgm:pt modelId="{512058A7-5D54-4DE4-9557-5C8039F189DE}" type="parTrans" cxnId="{CE26B399-92A7-48C9-BD0C-122266B7248C}">
      <dgm:prSet/>
      <dgm:spPr/>
      <dgm:t>
        <a:bodyPr/>
        <a:lstStyle/>
        <a:p>
          <a:endParaRPr lang="en-US"/>
        </a:p>
      </dgm:t>
    </dgm:pt>
    <dgm:pt modelId="{BFBE0FD8-2F3C-4A84-8E8C-C7E8A260BE2D}" type="sibTrans" cxnId="{CE26B399-92A7-48C9-BD0C-122266B7248C}">
      <dgm:prSet/>
      <dgm:spPr/>
      <dgm:t>
        <a:bodyPr/>
        <a:lstStyle/>
        <a:p>
          <a:endParaRPr lang="en-US"/>
        </a:p>
      </dgm:t>
    </dgm:pt>
    <dgm:pt modelId="{F44B5E09-DF94-4CF4-933C-428652064DCF}" type="pres">
      <dgm:prSet presAssocID="{8B6E255B-A9B8-44EA-A139-33C10DCD3B15}" presName="cycle" presStyleCnt="0">
        <dgm:presLayoutVars>
          <dgm:dir/>
          <dgm:resizeHandles val="exact"/>
        </dgm:presLayoutVars>
      </dgm:prSet>
      <dgm:spPr/>
    </dgm:pt>
    <dgm:pt modelId="{08BDA440-1763-4014-964E-0F601088932C}" type="pres">
      <dgm:prSet presAssocID="{ECA75D4D-899A-4EE0-B16C-50091C22B8BD}" presName="dummy" presStyleCnt="0"/>
      <dgm:spPr/>
    </dgm:pt>
    <dgm:pt modelId="{59C62E99-BE18-4FC7-A1BF-CCD9DBAD5A09}" type="pres">
      <dgm:prSet presAssocID="{ECA75D4D-899A-4EE0-B16C-50091C22B8BD}" presName="node" presStyleLbl="revTx" presStyleIdx="0" presStyleCnt="2" custScaleX="115063">
        <dgm:presLayoutVars>
          <dgm:bulletEnabled val="1"/>
        </dgm:presLayoutVars>
      </dgm:prSet>
      <dgm:spPr/>
    </dgm:pt>
    <dgm:pt modelId="{2768B556-4316-44C8-9173-88A06C423158}" type="pres">
      <dgm:prSet presAssocID="{BFBE0FD8-2F3C-4A84-8E8C-C7E8A260BE2D}" presName="sibTrans" presStyleLbl="node1" presStyleIdx="0" presStyleCnt="2"/>
      <dgm:spPr/>
    </dgm:pt>
    <dgm:pt modelId="{FC35A221-5405-4869-8AE4-902A8F6A2964}" type="pres">
      <dgm:prSet presAssocID="{79BFA5E0-4D2C-4D43-9577-F4680DC313F7}" presName="dummy" presStyleCnt="0"/>
      <dgm:spPr/>
    </dgm:pt>
    <dgm:pt modelId="{D85D4D25-4F5E-4D7A-B631-047DE7DEEADA}" type="pres">
      <dgm:prSet presAssocID="{79BFA5E0-4D2C-4D43-9577-F4680DC313F7}" presName="node" presStyleLbl="revTx" presStyleIdx="1" presStyleCnt="2" custScaleX="115063">
        <dgm:presLayoutVars>
          <dgm:bulletEnabled val="1"/>
        </dgm:presLayoutVars>
      </dgm:prSet>
      <dgm:spPr/>
    </dgm:pt>
    <dgm:pt modelId="{A427F1F6-96C1-4BD8-8DD8-AD8545D18E0A}" type="pres">
      <dgm:prSet presAssocID="{26D21B62-3B3E-46D9-B3D0-E5D9864E25D0}" presName="sibTrans" presStyleLbl="node1" presStyleIdx="1" presStyleCnt="2"/>
      <dgm:spPr/>
    </dgm:pt>
  </dgm:ptLst>
  <dgm:cxnLst>
    <dgm:cxn modelId="{8497563A-C354-43D2-AD9E-C3FB2E2D7E6A}" srcId="{8B6E255B-A9B8-44EA-A139-33C10DCD3B15}" destId="{79BFA5E0-4D2C-4D43-9577-F4680DC313F7}" srcOrd="1" destOrd="0" parTransId="{3DE34370-ED92-4177-B8F9-D84B9CC7E7A5}" sibTransId="{26D21B62-3B3E-46D9-B3D0-E5D9864E25D0}"/>
    <dgm:cxn modelId="{CC11FC4F-4EFE-4D06-9F9B-9EB2AA5C04B2}" type="presOf" srcId="{79BFA5E0-4D2C-4D43-9577-F4680DC313F7}" destId="{D85D4D25-4F5E-4D7A-B631-047DE7DEEADA}" srcOrd="0" destOrd="0" presId="urn:microsoft.com/office/officeart/2005/8/layout/cycle1"/>
    <dgm:cxn modelId="{D7E41572-D935-4371-BD27-2CDAB2E6B781}" type="presOf" srcId="{8B6E255B-A9B8-44EA-A139-33C10DCD3B15}" destId="{F44B5E09-DF94-4CF4-933C-428652064DCF}" srcOrd="0" destOrd="0" presId="urn:microsoft.com/office/officeart/2005/8/layout/cycle1"/>
    <dgm:cxn modelId="{CE26B399-92A7-48C9-BD0C-122266B7248C}" srcId="{8B6E255B-A9B8-44EA-A139-33C10DCD3B15}" destId="{ECA75D4D-899A-4EE0-B16C-50091C22B8BD}" srcOrd="0" destOrd="0" parTransId="{512058A7-5D54-4DE4-9557-5C8039F189DE}" sibTransId="{BFBE0FD8-2F3C-4A84-8E8C-C7E8A260BE2D}"/>
    <dgm:cxn modelId="{9DC2BCAB-FBE6-4FED-BB00-8D5E8F8149DE}" type="presOf" srcId="{BFBE0FD8-2F3C-4A84-8E8C-C7E8A260BE2D}" destId="{2768B556-4316-44C8-9173-88A06C423158}" srcOrd="0" destOrd="0" presId="urn:microsoft.com/office/officeart/2005/8/layout/cycle1"/>
    <dgm:cxn modelId="{8CCE18B6-C2B0-4916-8165-78965ECCFF20}" type="presOf" srcId="{ECA75D4D-899A-4EE0-B16C-50091C22B8BD}" destId="{59C62E99-BE18-4FC7-A1BF-CCD9DBAD5A09}" srcOrd="0" destOrd="0" presId="urn:microsoft.com/office/officeart/2005/8/layout/cycle1"/>
    <dgm:cxn modelId="{D03D8EF8-151F-4C35-847E-E2D7A05BA1F3}" type="presOf" srcId="{26D21B62-3B3E-46D9-B3D0-E5D9864E25D0}" destId="{A427F1F6-96C1-4BD8-8DD8-AD8545D18E0A}" srcOrd="0" destOrd="0" presId="urn:microsoft.com/office/officeart/2005/8/layout/cycle1"/>
    <dgm:cxn modelId="{59A42C3B-82DF-4B97-B9C8-7BE14D320209}" type="presParOf" srcId="{F44B5E09-DF94-4CF4-933C-428652064DCF}" destId="{08BDA440-1763-4014-964E-0F601088932C}" srcOrd="0" destOrd="0" presId="urn:microsoft.com/office/officeart/2005/8/layout/cycle1"/>
    <dgm:cxn modelId="{45F3E394-A278-44B4-B218-5B5C4A80A5CA}" type="presParOf" srcId="{F44B5E09-DF94-4CF4-933C-428652064DCF}" destId="{59C62E99-BE18-4FC7-A1BF-CCD9DBAD5A09}" srcOrd="1" destOrd="0" presId="urn:microsoft.com/office/officeart/2005/8/layout/cycle1"/>
    <dgm:cxn modelId="{01331533-DEBE-4643-B5AF-C86D9DC1CE84}" type="presParOf" srcId="{F44B5E09-DF94-4CF4-933C-428652064DCF}" destId="{2768B556-4316-44C8-9173-88A06C423158}" srcOrd="2" destOrd="0" presId="urn:microsoft.com/office/officeart/2005/8/layout/cycle1"/>
    <dgm:cxn modelId="{2A9CAD55-5446-4AF0-AEAF-2D5DD4C7E414}" type="presParOf" srcId="{F44B5E09-DF94-4CF4-933C-428652064DCF}" destId="{FC35A221-5405-4869-8AE4-902A8F6A2964}" srcOrd="3" destOrd="0" presId="urn:microsoft.com/office/officeart/2005/8/layout/cycle1"/>
    <dgm:cxn modelId="{79609096-CC9E-4F6B-97A3-E6705B5552C2}" type="presParOf" srcId="{F44B5E09-DF94-4CF4-933C-428652064DCF}" destId="{D85D4D25-4F5E-4D7A-B631-047DE7DEEADA}" srcOrd="4" destOrd="0" presId="urn:microsoft.com/office/officeart/2005/8/layout/cycle1"/>
    <dgm:cxn modelId="{A52EE87E-5159-45E4-853D-AF07BD00E26F}" type="presParOf" srcId="{F44B5E09-DF94-4CF4-933C-428652064DCF}" destId="{A427F1F6-96C1-4BD8-8DD8-AD8545D18E0A}" srcOrd="5"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B49BB4-A94C-41D3-94D4-8DEFEB2DB72C}">
      <dsp:nvSpPr>
        <dsp:cNvPr id="0" name=""/>
        <dsp:cNvSpPr/>
      </dsp:nvSpPr>
      <dsp:spPr>
        <a:xfrm>
          <a:off x="0" y="0"/>
          <a:ext cx="2461753" cy="489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No Uncertainty</a:t>
          </a:r>
        </a:p>
      </dsp:txBody>
      <dsp:txXfrm>
        <a:off x="0" y="0"/>
        <a:ext cx="2461753" cy="489600"/>
      </dsp:txXfrm>
    </dsp:sp>
    <dsp:sp modelId="{75826E61-882F-4E42-B2DE-53BD198C8B82}">
      <dsp:nvSpPr>
        <dsp:cNvPr id="0" name=""/>
        <dsp:cNvSpPr/>
      </dsp:nvSpPr>
      <dsp:spPr>
        <a:xfrm>
          <a:off x="0" y="511825"/>
          <a:ext cx="2461753" cy="275323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b="1" kern="1200" dirty="0"/>
            <a:t>Full observability</a:t>
          </a:r>
          <a:r>
            <a:rPr lang="en-US" sz="1600" kern="1200" dirty="0"/>
            <a:t>: The agent always knows (=can observe) the state.</a:t>
          </a:r>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US" sz="1600" b="1" kern="1200" dirty="0"/>
            <a:t>Deterministic environment </a:t>
          </a:r>
          <a:r>
            <a:rPr lang="en-US" sz="1600" kern="1200" dirty="0"/>
            <a:t>with a known transition model</a:t>
          </a:r>
          <a:br>
            <a:rPr lang="en-US" sz="1600" kern="1200" dirty="0"/>
          </a:br>
          <a14:m xmlns:a14="http://schemas.microsoft.com/office/drawing/2010/main">
            <m:oMath xmlns:m="http://schemas.openxmlformats.org/officeDocument/2006/math">
              <m:r>
                <a:rPr lang="en-US" sz="1600" b="0" i="1" kern="1200" smtClean="0">
                  <a:latin typeface="Cambria Math" panose="02040503050406030204" pitchFamily="18" charset="0"/>
                </a:rPr>
                <m:t>𝑅𝑒𝑠𝑢𝑙𝑡</m:t>
              </m:r>
              <m:d>
                <m:dPr>
                  <m:ctrlPr>
                    <a:rPr lang="en-US" sz="1600" b="0" i="1" kern="1200" smtClean="0">
                      <a:latin typeface="Cambria Math" panose="02040503050406030204" pitchFamily="18" charset="0"/>
                    </a:rPr>
                  </m:ctrlPr>
                </m:dPr>
                <m:e>
                  <m:r>
                    <a:rPr lang="en-US" sz="1600" b="0" i="1" kern="1200" smtClean="0">
                      <a:latin typeface="Cambria Math" panose="02040503050406030204" pitchFamily="18" charset="0"/>
                    </a:rPr>
                    <m:t>𝑠</m:t>
                  </m:r>
                  <m:r>
                    <a:rPr lang="en-US" sz="1600" b="0" i="1" kern="1200" smtClean="0">
                      <a:latin typeface="Cambria Math" panose="02040503050406030204" pitchFamily="18" charset="0"/>
                    </a:rPr>
                    <m:t>,</m:t>
                  </m:r>
                  <m:r>
                    <a:rPr lang="en-US" sz="1600" b="0" i="1" kern="1200" smtClean="0">
                      <a:latin typeface="Cambria Math" panose="02040503050406030204" pitchFamily="18" charset="0"/>
                    </a:rPr>
                    <m:t>𝑎</m:t>
                  </m:r>
                </m:e>
              </m:d>
              <m:r>
                <a:rPr lang="en-US" sz="1600" b="0" i="1" kern="1200" smtClean="0">
                  <a:latin typeface="Cambria Math" panose="02040503050406030204" pitchFamily="18" charset="0"/>
                </a:rPr>
                <m:t>=</m:t>
              </m:r>
              <m:sSup>
                <m:sSupPr>
                  <m:ctrlPr>
                    <a:rPr lang="en-US" sz="1600" i="1" kern="1200" smtClean="0">
                      <a:latin typeface="Cambria Math" panose="02040503050406030204" pitchFamily="18" charset="0"/>
                    </a:rPr>
                  </m:ctrlPr>
                </m:sSupPr>
                <m:e>
                  <m:r>
                    <a:rPr lang="en-US" sz="1600" i="1" kern="1200" smtClean="0">
                      <a:latin typeface="Cambria Math" panose="02040503050406030204" pitchFamily="18" charset="0"/>
                    </a:rPr>
                    <m:t>𝑠</m:t>
                  </m:r>
                </m:e>
                <m:sup>
                  <m:r>
                    <a:rPr lang="en-US" sz="1600" b="0" i="1" kern="1200" smtClean="0">
                      <a:latin typeface="Cambria Math" panose="02040503050406030204" pitchFamily="18" charset="0"/>
                    </a:rPr>
                    <m:t>′</m:t>
                  </m:r>
                </m:sup>
              </m:sSup>
            </m:oMath>
          </a14:m>
          <a:br>
            <a:rPr lang="en-US" sz="1600" kern="1200" dirty="0"/>
          </a:br>
          <a:r>
            <a:rPr lang="en-US" sz="1600" kern="1200" dirty="0"/>
            <a:t>The agent can predict the outcome of its actions.</a:t>
          </a:r>
        </a:p>
      </dsp:txBody>
      <dsp:txXfrm>
        <a:off x="0" y="511825"/>
        <a:ext cx="2461753" cy="27532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C62E99-BE18-4FC7-A1BF-CCD9DBAD5A09}">
      <dsp:nvSpPr>
        <dsp:cNvPr id="0" name=""/>
        <dsp:cNvSpPr/>
      </dsp:nvSpPr>
      <dsp:spPr>
        <a:xfrm>
          <a:off x="1588376" y="473620"/>
          <a:ext cx="1032614" cy="897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Update with observation </a:t>
          </a:r>
          <a14:m xmlns:a14="http://schemas.microsoft.com/office/drawing/2010/main">
            <m:oMath xmlns:m="http://schemas.openxmlformats.org/officeDocument/2006/math">
              <m:r>
                <a:rPr lang="en-US" sz="1400" i="1" kern="1200" dirty="0" smtClean="0">
                  <a:latin typeface="Cambria Math" panose="02040503050406030204" pitchFamily="18" charset="0"/>
                </a:rPr>
                <m:t>𝑜</m:t>
              </m:r>
            </m:oMath>
          </a14:m>
          <a:endParaRPr lang="en-US" sz="1400" kern="1200" dirty="0"/>
        </a:p>
      </dsp:txBody>
      <dsp:txXfrm>
        <a:off x="1588376" y="473620"/>
        <a:ext cx="1032614" cy="897433"/>
      </dsp:txXfrm>
    </dsp:sp>
    <dsp:sp modelId="{2768B556-4316-44C8-9173-88A06C423158}">
      <dsp:nvSpPr>
        <dsp:cNvPr id="0" name=""/>
        <dsp:cNvSpPr/>
      </dsp:nvSpPr>
      <dsp:spPr>
        <a:xfrm>
          <a:off x="448933" y="-329"/>
          <a:ext cx="1845332" cy="1845332"/>
        </a:xfrm>
        <a:prstGeom prst="circularArrow">
          <a:avLst>
            <a:gd name="adj1" fmla="val 9483"/>
            <a:gd name="adj2" fmla="val 685007"/>
            <a:gd name="adj3" fmla="val 7850525"/>
            <a:gd name="adj4" fmla="val 2264468"/>
            <a:gd name="adj5" fmla="val 11064"/>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5D4D25-4F5E-4D7A-B631-047DE7DEEADA}">
      <dsp:nvSpPr>
        <dsp:cNvPr id="0" name=""/>
        <dsp:cNvSpPr/>
      </dsp:nvSpPr>
      <dsp:spPr>
        <a:xfrm>
          <a:off x="122209" y="473620"/>
          <a:ext cx="1032614" cy="897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Prediction for action </a:t>
          </a:r>
          <a14:m xmlns:a14="http://schemas.microsoft.com/office/drawing/2010/main">
            <m:oMath xmlns:m="http://schemas.openxmlformats.org/officeDocument/2006/math">
              <m:r>
                <a:rPr lang="en-US" sz="1400" i="1" kern="1200" dirty="0" smtClean="0">
                  <a:latin typeface="Cambria Math" panose="02040503050406030204" pitchFamily="18" charset="0"/>
                </a:rPr>
                <m:t>𝑎</m:t>
              </m:r>
            </m:oMath>
          </a14:m>
          <a:endParaRPr lang="en-US" sz="1400" kern="1200" dirty="0"/>
        </a:p>
      </dsp:txBody>
      <dsp:txXfrm>
        <a:off x="122209" y="473620"/>
        <a:ext cx="1032614" cy="897433"/>
      </dsp:txXfrm>
    </dsp:sp>
    <dsp:sp modelId="{A427F1F6-96C1-4BD8-8DD8-AD8545D18E0A}">
      <dsp:nvSpPr>
        <dsp:cNvPr id="0" name=""/>
        <dsp:cNvSpPr/>
      </dsp:nvSpPr>
      <dsp:spPr>
        <a:xfrm>
          <a:off x="448933" y="-329"/>
          <a:ext cx="1845332" cy="1845332"/>
        </a:xfrm>
        <a:prstGeom prst="circularArrow">
          <a:avLst>
            <a:gd name="adj1" fmla="val 9483"/>
            <a:gd name="adj2" fmla="val 685007"/>
            <a:gd name="adj3" fmla="val 18650525"/>
            <a:gd name="adj4" fmla="val 13064468"/>
            <a:gd name="adj5" fmla="val 11064"/>
          </a:avLst>
        </a:prstGeom>
        <a:solidFill>
          <a:schemeClr val="accent4">
            <a:hueOff val="6602612"/>
            <a:satOff val="-29413"/>
            <a:lumOff val="64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C62E99-BE18-4FC7-A1BF-CCD9DBAD5A09}">
      <dsp:nvSpPr>
        <dsp:cNvPr id="0" name=""/>
        <dsp:cNvSpPr/>
      </dsp:nvSpPr>
      <dsp:spPr>
        <a:xfrm>
          <a:off x="1588376" y="473620"/>
          <a:ext cx="1032614" cy="897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Update with observation </a:t>
          </a:r>
          <a14:m xmlns:a14="http://schemas.microsoft.com/office/drawing/2010/main">
            <m:oMath xmlns:m="http://schemas.openxmlformats.org/officeDocument/2006/math">
              <m:r>
                <a:rPr lang="en-US" sz="1400" i="1" kern="1200" dirty="0" smtClean="0">
                  <a:latin typeface="Cambria Math" panose="02040503050406030204" pitchFamily="18" charset="0"/>
                </a:rPr>
                <m:t>𝑜</m:t>
              </m:r>
            </m:oMath>
          </a14:m>
          <a:endParaRPr lang="en-US" sz="1400" kern="1200" dirty="0"/>
        </a:p>
      </dsp:txBody>
      <dsp:txXfrm>
        <a:off x="1588376" y="473620"/>
        <a:ext cx="1032614" cy="897433"/>
      </dsp:txXfrm>
    </dsp:sp>
    <dsp:sp modelId="{2768B556-4316-44C8-9173-88A06C423158}">
      <dsp:nvSpPr>
        <dsp:cNvPr id="0" name=""/>
        <dsp:cNvSpPr/>
      </dsp:nvSpPr>
      <dsp:spPr>
        <a:xfrm>
          <a:off x="448933" y="-329"/>
          <a:ext cx="1845332" cy="1845332"/>
        </a:xfrm>
        <a:prstGeom prst="circularArrow">
          <a:avLst>
            <a:gd name="adj1" fmla="val 9483"/>
            <a:gd name="adj2" fmla="val 685007"/>
            <a:gd name="adj3" fmla="val 7850525"/>
            <a:gd name="adj4" fmla="val 2264468"/>
            <a:gd name="adj5" fmla="val 11064"/>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5D4D25-4F5E-4D7A-B631-047DE7DEEADA}">
      <dsp:nvSpPr>
        <dsp:cNvPr id="0" name=""/>
        <dsp:cNvSpPr/>
      </dsp:nvSpPr>
      <dsp:spPr>
        <a:xfrm>
          <a:off x="122209" y="473620"/>
          <a:ext cx="1032614" cy="897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Prediction for action </a:t>
          </a:r>
          <a14:m xmlns:a14="http://schemas.microsoft.com/office/drawing/2010/main">
            <m:oMath xmlns:m="http://schemas.openxmlformats.org/officeDocument/2006/math">
              <m:r>
                <a:rPr lang="en-US" sz="1400" i="1" kern="1200" dirty="0" smtClean="0">
                  <a:latin typeface="Cambria Math" panose="02040503050406030204" pitchFamily="18" charset="0"/>
                </a:rPr>
                <m:t>𝑎</m:t>
              </m:r>
            </m:oMath>
          </a14:m>
          <a:endParaRPr lang="en-US" sz="1400" kern="1200" dirty="0"/>
        </a:p>
      </dsp:txBody>
      <dsp:txXfrm>
        <a:off x="122209" y="473620"/>
        <a:ext cx="1032614" cy="897433"/>
      </dsp:txXfrm>
    </dsp:sp>
    <dsp:sp modelId="{A427F1F6-96C1-4BD8-8DD8-AD8545D18E0A}">
      <dsp:nvSpPr>
        <dsp:cNvPr id="0" name=""/>
        <dsp:cNvSpPr/>
      </dsp:nvSpPr>
      <dsp:spPr>
        <a:xfrm>
          <a:off x="448933" y="-329"/>
          <a:ext cx="1845332" cy="1845332"/>
        </a:xfrm>
        <a:prstGeom prst="circularArrow">
          <a:avLst>
            <a:gd name="adj1" fmla="val 9483"/>
            <a:gd name="adj2" fmla="val 685007"/>
            <a:gd name="adj3" fmla="val 18650525"/>
            <a:gd name="adj4" fmla="val 13064468"/>
            <a:gd name="adj5" fmla="val 11064"/>
          </a:avLst>
        </a:prstGeom>
        <a:solidFill>
          <a:schemeClr val="accent4">
            <a:hueOff val="6602612"/>
            <a:satOff val="-29413"/>
            <a:lumOff val="64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C62E99-BE18-4FC7-A1BF-CCD9DBAD5A09}">
      <dsp:nvSpPr>
        <dsp:cNvPr id="0" name=""/>
        <dsp:cNvSpPr/>
      </dsp:nvSpPr>
      <dsp:spPr>
        <a:xfrm>
          <a:off x="1588376" y="473620"/>
          <a:ext cx="1032614" cy="897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Update with observation </a:t>
          </a:r>
          <a14:m xmlns:a14="http://schemas.microsoft.com/office/drawing/2010/main">
            <m:oMath xmlns:m="http://schemas.openxmlformats.org/officeDocument/2006/math">
              <m:r>
                <a:rPr lang="en-US" sz="1400" i="1" kern="1200" dirty="0" smtClean="0">
                  <a:latin typeface="Cambria Math" panose="02040503050406030204" pitchFamily="18" charset="0"/>
                </a:rPr>
                <m:t>𝑜</m:t>
              </m:r>
            </m:oMath>
          </a14:m>
          <a:endParaRPr lang="en-US" sz="1400" kern="1200" dirty="0"/>
        </a:p>
      </dsp:txBody>
      <dsp:txXfrm>
        <a:off x="1588376" y="473620"/>
        <a:ext cx="1032614" cy="897433"/>
      </dsp:txXfrm>
    </dsp:sp>
    <dsp:sp modelId="{2768B556-4316-44C8-9173-88A06C423158}">
      <dsp:nvSpPr>
        <dsp:cNvPr id="0" name=""/>
        <dsp:cNvSpPr/>
      </dsp:nvSpPr>
      <dsp:spPr>
        <a:xfrm>
          <a:off x="448933" y="-329"/>
          <a:ext cx="1845332" cy="1845332"/>
        </a:xfrm>
        <a:prstGeom prst="circularArrow">
          <a:avLst>
            <a:gd name="adj1" fmla="val 9483"/>
            <a:gd name="adj2" fmla="val 685007"/>
            <a:gd name="adj3" fmla="val 7850525"/>
            <a:gd name="adj4" fmla="val 2264468"/>
            <a:gd name="adj5" fmla="val 11064"/>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5D4D25-4F5E-4D7A-B631-047DE7DEEADA}">
      <dsp:nvSpPr>
        <dsp:cNvPr id="0" name=""/>
        <dsp:cNvSpPr/>
      </dsp:nvSpPr>
      <dsp:spPr>
        <a:xfrm>
          <a:off x="122209" y="473620"/>
          <a:ext cx="1032614" cy="897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Prediction for action </a:t>
          </a:r>
          <a14:m xmlns:a14="http://schemas.microsoft.com/office/drawing/2010/main">
            <m:oMath xmlns:m="http://schemas.openxmlformats.org/officeDocument/2006/math">
              <m:r>
                <a:rPr lang="en-US" sz="1400" i="1" kern="1200" dirty="0" smtClean="0">
                  <a:latin typeface="Cambria Math" panose="02040503050406030204" pitchFamily="18" charset="0"/>
                </a:rPr>
                <m:t>𝑎</m:t>
              </m:r>
            </m:oMath>
          </a14:m>
          <a:endParaRPr lang="en-US" sz="1400" kern="1200" dirty="0"/>
        </a:p>
      </dsp:txBody>
      <dsp:txXfrm>
        <a:off x="122209" y="473620"/>
        <a:ext cx="1032614" cy="897433"/>
      </dsp:txXfrm>
    </dsp:sp>
    <dsp:sp modelId="{A427F1F6-96C1-4BD8-8DD8-AD8545D18E0A}">
      <dsp:nvSpPr>
        <dsp:cNvPr id="0" name=""/>
        <dsp:cNvSpPr/>
      </dsp:nvSpPr>
      <dsp:spPr>
        <a:xfrm>
          <a:off x="448933" y="-329"/>
          <a:ext cx="1845332" cy="1845332"/>
        </a:xfrm>
        <a:prstGeom prst="circularArrow">
          <a:avLst>
            <a:gd name="adj1" fmla="val 9483"/>
            <a:gd name="adj2" fmla="val 685007"/>
            <a:gd name="adj3" fmla="val 18650525"/>
            <a:gd name="adj4" fmla="val 13064468"/>
            <a:gd name="adj5" fmla="val 11064"/>
          </a:avLst>
        </a:prstGeom>
        <a:solidFill>
          <a:schemeClr val="accent4">
            <a:hueOff val="6602612"/>
            <a:satOff val="-29413"/>
            <a:lumOff val="64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59DBF7-2D0F-49B7-818C-9EE9ABDDD9EE}">
      <dsp:nvSpPr>
        <dsp:cNvPr id="0" name=""/>
        <dsp:cNvSpPr/>
      </dsp:nvSpPr>
      <dsp:spPr>
        <a:xfrm>
          <a:off x="1488" y="217685"/>
          <a:ext cx="1324570" cy="529828"/>
        </a:xfrm>
        <a:prstGeom prst="chevron">
          <a:avLst/>
        </a:prstGeom>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6350" cap="flat" cmpd="sng" algn="ctr">
          <a:solidFill>
            <a:schemeClr val="accent4"/>
          </a:solidFill>
          <a:prstDash val="solid"/>
          <a:miter lim="800000"/>
        </a:ln>
        <a:effectLst/>
      </dsp:spPr>
      <dsp:style>
        <a:lnRef idx="1">
          <a:schemeClr val="accent4"/>
        </a:lnRef>
        <a:fillRef idx="3">
          <a:schemeClr val="accent4"/>
        </a:fillRef>
        <a:effectRef idx="2">
          <a:schemeClr val="accent4"/>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Act</a:t>
          </a:r>
        </a:p>
      </dsp:txBody>
      <dsp:txXfrm>
        <a:off x="266402" y="217685"/>
        <a:ext cx="794742" cy="529828"/>
      </dsp:txXfrm>
    </dsp:sp>
    <dsp:sp modelId="{CAAF1384-4506-49C4-A7CC-EAC98596EDF4}">
      <dsp:nvSpPr>
        <dsp:cNvPr id="0" name=""/>
        <dsp:cNvSpPr/>
      </dsp:nvSpPr>
      <dsp:spPr>
        <a:xfrm>
          <a:off x="1193601" y="217685"/>
          <a:ext cx="1324570" cy="529828"/>
        </a:xfrm>
        <a:prstGeom prst="chevron">
          <a:avLst/>
        </a:prstGeom>
        <a:solidFill>
          <a:schemeClr val="accent5"/>
        </a:solidFill>
        <a:ln w="19050" cap="flat" cmpd="sng" algn="ctr">
          <a:solidFill>
            <a:schemeClr val="lt1"/>
          </a:solidFill>
          <a:prstDash val="solid"/>
          <a:miter lim="800000"/>
        </a:ln>
        <a:effectLst/>
      </dsp:spPr>
      <dsp:style>
        <a:lnRef idx="3">
          <a:schemeClr val="lt1"/>
        </a:lnRef>
        <a:fillRef idx="1">
          <a:schemeClr val="accent5"/>
        </a:fillRef>
        <a:effectRef idx="1">
          <a:schemeClr val="accent5"/>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Observe</a:t>
          </a:r>
        </a:p>
      </dsp:txBody>
      <dsp:txXfrm>
        <a:off x="1458515" y="217685"/>
        <a:ext cx="794742" cy="529828"/>
      </dsp:txXfrm>
    </dsp:sp>
    <dsp:sp modelId="{0F71D6C4-A746-481D-BF33-37EB8353B851}">
      <dsp:nvSpPr>
        <dsp:cNvPr id="0" name=""/>
        <dsp:cNvSpPr/>
      </dsp:nvSpPr>
      <dsp:spPr>
        <a:xfrm>
          <a:off x="2385714" y="217685"/>
          <a:ext cx="1324570" cy="529828"/>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Act</a:t>
          </a:r>
        </a:p>
      </dsp:txBody>
      <dsp:txXfrm>
        <a:off x="2650628" y="217685"/>
        <a:ext cx="794742" cy="529828"/>
      </dsp:txXfrm>
    </dsp:sp>
    <dsp:sp modelId="{17194B44-B5E5-4A4E-94BA-D8BCF3C015F6}">
      <dsp:nvSpPr>
        <dsp:cNvPr id="0" name=""/>
        <dsp:cNvSpPr/>
      </dsp:nvSpPr>
      <dsp:spPr>
        <a:xfrm>
          <a:off x="3577828" y="217685"/>
          <a:ext cx="1324570" cy="529828"/>
        </a:xfrm>
        <a:prstGeom prst="chevron">
          <a:avLst/>
        </a:prstGeom>
        <a:solidFill>
          <a:schemeClr val="accent5"/>
        </a:solidFill>
        <a:ln w="19050" cap="flat" cmpd="sng" algn="ctr">
          <a:solidFill>
            <a:schemeClr val="lt1"/>
          </a:solidFill>
          <a:prstDash val="solid"/>
          <a:miter lim="800000"/>
        </a:ln>
        <a:effectLst/>
      </dsp:spPr>
      <dsp:style>
        <a:lnRef idx="3">
          <a:schemeClr val="lt1"/>
        </a:lnRef>
        <a:fillRef idx="1">
          <a:schemeClr val="accent5"/>
        </a:fillRef>
        <a:effectRef idx="1">
          <a:schemeClr val="accent5"/>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Observe</a:t>
          </a:r>
        </a:p>
      </dsp:txBody>
      <dsp:txXfrm>
        <a:off x="3842742" y="217685"/>
        <a:ext cx="794742" cy="529828"/>
      </dsp:txXfrm>
    </dsp:sp>
    <dsp:sp modelId="{A08D5CE7-3F16-4C40-827E-CC4D74A7A602}">
      <dsp:nvSpPr>
        <dsp:cNvPr id="0" name=""/>
        <dsp:cNvSpPr/>
      </dsp:nvSpPr>
      <dsp:spPr>
        <a:xfrm>
          <a:off x="4769942" y="217685"/>
          <a:ext cx="1324570" cy="529828"/>
        </a:xfrm>
        <a:prstGeom prst="chevron">
          <a:avLst/>
        </a:prstGeom>
        <a:solidFill>
          <a:schemeClr val="accent4"/>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Act</a:t>
          </a:r>
        </a:p>
      </dsp:txBody>
      <dsp:txXfrm>
        <a:off x="5034856" y="217685"/>
        <a:ext cx="794742" cy="529828"/>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6E2045A-045A-4BC7-A4D3-1395440B1C3D}" type="datetimeFigureOut">
              <a:rPr lang="en-US" smtClean="0"/>
              <a:pPr/>
              <a:t>10/14/2026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A8F1D18-9638-4932-8910-B6EDCB447AA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F1D18-9638-4932-8910-B6EDCB447AA8}" type="slidenum">
              <a:rPr lang="en-US" smtClean="0"/>
              <a:pPr/>
              <a:t>8</a:t>
            </a:fld>
            <a:endParaRPr lang="en-US"/>
          </a:p>
        </p:txBody>
      </p:sp>
    </p:spTree>
    <p:extLst>
      <p:ext uri="{BB962C8B-B14F-4D97-AF65-F5344CB8AC3E}">
        <p14:creationId xmlns:p14="http://schemas.microsoft.com/office/powerpoint/2010/main" val="1518597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F1D18-9638-4932-8910-B6EDCB447AA8}" type="slidenum">
              <a:rPr lang="en-US" smtClean="0"/>
              <a:pPr/>
              <a:t>16</a:t>
            </a:fld>
            <a:endParaRPr lang="en-US"/>
          </a:p>
        </p:txBody>
      </p:sp>
    </p:spTree>
    <p:extLst>
      <p:ext uri="{BB962C8B-B14F-4D97-AF65-F5344CB8AC3E}">
        <p14:creationId xmlns:p14="http://schemas.microsoft.com/office/powerpoint/2010/main" val="693729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F1D18-9638-4932-8910-B6EDCB447AA8}" type="slidenum">
              <a:rPr lang="en-US" smtClean="0"/>
              <a:pPr/>
              <a:t>17</a:t>
            </a:fld>
            <a:endParaRPr lang="en-US"/>
          </a:p>
        </p:txBody>
      </p:sp>
    </p:spTree>
    <p:extLst>
      <p:ext uri="{BB962C8B-B14F-4D97-AF65-F5344CB8AC3E}">
        <p14:creationId xmlns:p14="http://schemas.microsoft.com/office/powerpoint/2010/main" val="2258221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F1D18-9638-4932-8910-B6EDCB447AA8}" type="slidenum">
              <a:rPr lang="en-US" smtClean="0"/>
              <a:pPr/>
              <a:t>18</a:t>
            </a:fld>
            <a:endParaRPr lang="en-US"/>
          </a:p>
        </p:txBody>
      </p:sp>
    </p:spTree>
    <p:extLst>
      <p:ext uri="{BB962C8B-B14F-4D97-AF65-F5344CB8AC3E}">
        <p14:creationId xmlns:p14="http://schemas.microsoft.com/office/powerpoint/2010/main" val="35227791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Move 3m left and 8m up (wall stops the agent). Move 2m left and 1m down.</a:t>
            </a:r>
          </a:p>
          <a:p>
            <a:pPr marL="228600" indent="-228600">
              <a:buAutoNum type="arabicPeriod"/>
            </a:pPr>
            <a:r>
              <a:rPr lang="en-US" dirty="0"/>
              <a:t>Dimensions of the room. Agent needs to be able to measure the distance it goes. Wall needs to stop the agent and keep it in place.</a:t>
            </a:r>
          </a:p>
          <a:p>
            <a:pPr marL="228600" indent="-228600">
              <a:buAutoNum type="arabicPeriod"/>
            </a:pPr>
            <a:r>
              <a:rPr lang="en-US" dirty="0"/>
              <a:t>Model-based reflex agent.</a:t>
            </a:r>
          </a:p>
        </p:txBody>
      </p:sp>
      <p:sp>
        <p:nvSpPr>
          <p:cNvPr id="4" name="Slide Number Placeholder 3"/>
          <p:cNvSpPr>
            <a:spLocks noGrp="1"/>
          </p:cNvSpPr>
          <p:nvPr>
            <p:ph type="sldNum" sz="quarter" idx="5"/>
          </p:nvPr>
        </p:nvSpPr>
        <p:spPr/>
        <p:txBody>
          <a:bodyPr/>
          <a:lstStyle/>
          <a:p>
            <a:fld id="{CA8F1D18-9638-4932-8910-B6EDCB447AA8}" type="slidenum">
              <a:rPr lang="en-US" smtClean="0"/>
              <a:pPr/>
              <a:t>21</a:t>
            </a:fld>
            <a:endParaRPr lang="en-US"/>
          </a:p>
        </p:txBody>
      </p:sp>
    </p:spTree>
    <p:extLst>
      <p:ext uri="{BB962C8B-B14F-4D97-AF65-F5344CB8AC3E}">
        <p14:creationId xmlns:p14="http://schemas.microsoft.com/office/powerpoint/2010/main" val="639017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F1D18-9638-4932-8910-B6EDCB447AA8}" type="slidenum">
              <a:rPr lang="en-US" smtClean="0"/>
              <a:pPr/>
              <a:t>25</a:t>
            </a:fld>
            <a:endParaRPr lang="en-US"/>
          </a:p>
        </p:txBody>
      </p:sp>
    </p:spTree>
    <p:extLst>
      <p:ext uri="{BB962C8B-B14F-4D97-AF65-F5344CB8AC3E}">
        <p14:creationId xmlns:p14="http://schemas.microsoft.com/office/powerpoint/2010/main" val="1317397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F1D18-9638-4932-8910-B6EDCB447AA8}" type="slidenum">
              <a:rPr lang="en-US" smtClean="0"/>
              <a:pPr/>
              <a:t>27</a:t>
            </a:fld>
            <a:endParaRPr lang="en-US"/>
          </a:p>
        </p:txBody>
      </p:sp>
    </p:spTree>
    <p:extLst>
      <p:ext uri="{BB962C8B-B14F-4D97-AF65-F5344CB8AC3E}">
        <p14:creationId xmlns:p14="http://schemas.microsoft.com/office/powerpoint/2010/main" val="3454310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F1D18-9638-4932-8910-B6EDCB447AA8}" type="slidenum">
              <a:rPr lang="en-US" smtClean="0"/>
              <a:pPr/>
              <a:t>28</a:t>
            </a:fld>
            <a:endParaRPr lang="en-US"/>
          </a:p>
        </p:txBody>
      </p:sp>
    </p:spTree>
    <p:extLst>
      <p:ext uri="{BB962C8B-B14F-4D97-AF65-F5344CB8AC3E}">
        <p14:creationId xmlns:p14="http://schemas.microsoft.com/office/powerpoint/2010/main" val="2042226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Like the observable problem, but the percept function is Percept(s) = top-left corner tile.</a:t>
            </a:r>
          </a:p>
          <a:p>
            <a:pPr marL="228600" indent="-228600">
              <a:buAutoNum type="arabicPeriod"/>
            </a:pPr>
            <a:r>
              <a:rPr lang="en-US" dirty="0"/>
              <a:t>Cycle all tiles through the window and remember what they are. Now it is a completely observable problem.</a:t>
            </a:r>
          </a:p>
          <a:p>
            <a:pPr marL="0" indent="0">
              <a:buNone/>
            </a:pPr>
            <a:r>
              <a:rPr lang="en-US" dirty="0"/>
              <a:t> a) Model-based reflex agent (memory is used to keep track of hidden tiles)</a:t>
            </a:r>
          </a:p>
          <a:p>
            <a:pPr marL="0" indent="0">
              <a:buNone/>
            </a:pPr>
            <a:r>
              <a:rPr lang="en-US" dirty="0"/>
              <a:t>B ) First a simple algorithm that moves all tiles through the window. Then use a regular search tree.</a:t>
            </a:r>
          </a:p>
        </p:txBody>
      </p:sp>
      <p:sp>
        <p:nvSpPr>
          <p:cNvPr id="4" name="Slide Number Placeholder 3"/>
          <p:cNvSpPr>
            <a:spLocks noGrp="1"/>
          </p:cNvSpPr>
          <p:nvPr>
            <p:ph type="sldNum" sz="quarter" idx="5"/>
          </p:nvPr>
        </p:nvSpPr>
        <p:spPr/>
        <p:txBody>
          <a:bodyPr/>
          <a:lstStyle/>
          <a:p>
            <a:fld id="{CA8F1D18-9638-4932-8910-B6EDCB447AA8}" type="slidenum">
              <a:rPr lang="en-US" smtClean="0"/>
              <a:pPr/>
              <a:t>32</a:t>
            </a:fld>
            <a:endParaRPr lang="en-US"/>
          </a:p>
        </p:txBody>
      </p:sp>
    </p:spTree>
    <p:extLst>
      <p:ext uri="{BB962C8B-B14F-4D97-AF65-F5344CB8AC3E}">
        <p14:creationId xmlns:p14="http://schemas.microsoft.com/office/powerpoint/2010/main" val="907618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2D9DA4-02CE-43F5-9CF0-D49D363C8459}" type="slidenum">
              <a:rPr lang="en-US" smtClean="0"/>
              <a:pPr/>
              <a:t>‹#›</a:t>
            </a:fld>
            <a:endParaRPr lang="en-US"/>
          </a:p>
        </p:txBody>
      </p:sp>
    </p:spTree>
    <p:extLst>
      <p:ext uri="{BB962C8B-B14F-4D97-AF65-F5344CB8AC3E}">
        <p14:creationId xmlns:p14="http://schemas.microsoft.com/office/powerpoint/2010/main" val="2856741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541FF-43FD-4C27-B2AB-C7A86A2D65CE}" type="slidenum">
              <a:rPr lang="en-US" smtClean="0"/>
              <a:pPr/>
              <a:t>‹#›</a:t>
            </a:fld>
            <a:endParaRPr lang="en-US"/>
          </a:p>
        </p:txBody>
      </p:sp>
    </p:spTree>
    <p:extLst>
      <p:ext uri="{BB962C8B-B14F-4D97-AF65-F5344CB8AC3E}">
        <p14:creationId xmlns:p14="http://schemas.microsoft.com/office/powerpoint/2010/main" val="1642015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706D21-1181-4166-8079-A41C583EFAEA}" type="slidenum">
              <a:rPr lang="en-US" smtClean="0"/>
              <a:pPr/>
              <a:t>‹#›</a:t>
            </a:fld>
            <a:endParaRPr lang="en-US"/>
          </a:p>
        </p:txBody>
      </p:sp>
    </p:spTree>
    <p:extLst>
      <p:ext uri="{BB962C8B-B14F-4D97-AF65-F5344CB8AC3E}">
        <p14:creationId xmlns:p14="http://schemas.microsoft.com/office/powerpoint/2010/main" val="2057478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64A6A7-A8A8-444E-955C-ECC81D9EE3C1}" type="slidenum">
              <a:rPr lang="en-US" smtClean="0"/>
              <a:pPr/>
              <a:t>‹#›</a:t>
            </a:fld>
            <a:endParaRPr lang="en-US"/>
          </a:p>
        </p:txBody>
      </p:sp>
    </p:spTree>
    <p:extLst>
      <p:ext uri="{BB962C8B-B14F-4D97-AF65-F5344CB8AC3E}">
        <p14:creationId xmlns:p14="http://schemas.microsoft.com/office/powerpoint/2010/main" val="4151139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98F21B-BA12-430D-BE3E-273EE4A9C69B}" type="slidenum">
              <a:rPr lang="en-US" smtClean="0"/>
              <a:pPr/>
              <a:t>‹#›</a:t>
            </a:fld>
            <a:endParaRPr lang="en-US"/>
          </a:p>
        </p:txBody>
      </p:sp>
    </p:spTree>
    <p:extLst>
      <p:ext uri="{BB962C8B-B14F-4D97-AF65-F5344CB8AC3E}">
        <p14:creationId xmlns:p14="http://schemas.microsoft.com/office/powerpoint/2010/main" val="1435584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3AA154-AEC2-45BD-83B5-605C6AF79F6D}" type="slidenum">
              <a:rPr lang="en-US" smtClean="0"/>
              <a:pPr/>
              <a:t>‹#›</a:t>
            </a:fld>
            <a:endParaRPr lang="en-US"/>
          </a:p>
        </p:txBody>
      </p:sp>
    </p:spTree>
    <p:extLst>
      <p:ext uri="{BB962C8B-B14F-4D97-AF65-F5344CB8AC3E}">
        <p14:creationId xmlns:p14="http://schemas.microsoft.com/office/powerpoint/2010/main" val="561963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0C9F4F-55B6-427D-981E-09CF38EE502D}" type="slidenum">
              <a:rPr lang="en-US" smtClean="0"/>
              <a:pPr/>
              <a:t>‹#›</a:t>
            </a:fld>
            <a:endParaRPr lang="en-US"/>
          </a:p>
        </p:txBody>
      </p:sp>
    </p:spTree>
    <p:extLst>
      <p:ext uri="{BB962C8B-B14F-4D97-AF65-F5344CB8AC3E}">
        <p14:creationId xmlns:p14="http://schemas.microsoft.com/office/powerpoint/2010/main" val="1797782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470B25-377E-4295-B49E-194E8FC6878E}" type="slidenum">
              <a:rPr lang="en-US" smtClean="0"/>
              <a:pPr/>
              <a:t>‹#›</a:t>
            </a:fld>
            <a:endParaRPr lang="en-US"/>
          </a:p>
        </p:txBody>
      </p:sp>
    </p:spTree>
    <p:extLst>
      <p:ext uri="{BB962C8B-B14F-4D97-AF65-F5344CB8AC3E}">
        <p14:creationId xmlns:p14="http://schemas.microsoft.com/office/powerpoint/2010/main" val="4206142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644E4E-8BDE-4300-9999-9D2DCD00CB85}" type="slidenum">
              <a:rPr lang="en-US" smtClean="0"/>
              <a:pPr/>
              <a:t>‹#›</a:t>
            </a:fld>
            <a:endParaRPr lang="en-US"/>
          </a:p>
        </p:txBody>
      </p:sp>
    </p:spTree>
    <p:extLst>
      <p:ext uri="{BB962C8B-B14F-4D97-AF65-F5344CB8AC3E}">
        <p14:creationId xmlns:p14="http://schemas.microsoft.com/office/powerpoint/2010/main" val="1845922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BB250-A250-4885-A268-87B3538DFE98}" type="slidenum">
              <a:rPr lang="en-US" smtClean="0"/>
              <a:pPr/>
              <a:t>‹#›</a:t>
            </a:fld>
            <a:endParaRPr lang="en-US"/>
          </a:p>
        </p:txBody>
      </p:sp>
    </p:spTree>
    <p:extLst>
      <p:ext uri="{BB962C8B-B14F-4D97-AF65-F5344CB8AC3E}">
        <p14:creationId xmlns:p14="http://schemas.microsoft.com/office/powerpoint/2010/main" val="3028620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66124F-E4DF-44CD-BFA1-9C4215F3C6FD}" type="slidenum">
              <a:rPr lang="en-US" smtClean="0"/>
              <a:pPr/>
              <a:t>‹#›</a:t>
            </a:fld>
            <a:endParaRPr lang="en-US"/>
          </a:p>
        </p:txBody>
      </p:sp>
    </p:spTree>
    <p:extLst>
      <p:ext uri="{BB962C8B-B14F-4D97-AF65-F5344CB8AC3E}">
        <p14:creationId xmlns:p14="http://schemas.microsoft.com/office/powerpoint/2010/main" val="1634036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013C7E-08E5-4BBC-8983-6EE86B3B323D}" type="slidenum">
              <a:rPr lang="en-US" smtClean="0"/>
              <a:pPr/>
              <a:t>‹#›</a:t>
            </a:fld>
            <a:endParaRPr lang="en-US"/>
          </a:p>
        </p:txBody>
      </p:sp>
    </p:spTree>
    <p:extLst>
      <p:ext uri="{BB962C8B-B14F-4D97-AF65-F5344CB8AC3E}">
        <p14:creationId xmlns:p14="http://schemas.microsoft.com/office/powerpoint/2010/main" val="371191952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creativecommons.org/licenses/by-sa/4.0/" TargetMode="Externa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7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4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1.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3.xml"/><Relationship Id="rId7" Type="http://schemas.microsoft.com/office/2007/relationships/diagramDrawing" Target="../diagrams/drawing2.xml"/><Relationship Id="rId12" Type="http://schemas.openxmlformats.org/officeDocument/2006/relationships/image" Target="../media/image270.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2.xml"/><Relationship Id="rId5" Type="http://schemas.openxmlformats.org/officeDocument/2006/relationships/diagramQuickStyle" Target="../diagrams/quickStyle2.xml"/><Relationship Id="rId10"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8" Type="http://schemas.openxmlformats.org/officeDocument/2006/relationships/diagramColors" Target="../diagrams/colors3.xml"/><Relationship Id="rId13" Type="http://schemas.openxmlformats.org/officeDocument/2006/relationships/diagramLayout" Target="../diagrams/layout3.xml"/><Relationship Id="rId18" Type="http://schemas.openxmlformats.org/officeDocument/2006/relationships/image" Target="../media/image320.png"/><Relationship Id="rId3" Type="http://schemas.openxmlformats.org/officeDocument/2006/relationships/image" Target="../media/image23.png"/><Relationship Id="rId7" Type="http://schemas.openxmlformats.org/officeDocument/2006/relationships/diagramQuickStyle" Target="../diagrams/quickStyle3.xml"/><Relationship Id="rId12" Type="http://schemas.openxmlformats.org/officeDocument/2006/relationships/diagramData" Target="../diagrams/data7.xml"/><Relationship Id="rId2" Type="http://schemas.openxmlformats.org/officeDocument/2006/relationships/notesSlide" Target="../notesSlides/notesSlide7.xml"/><Relationship Id="rId16"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4.xml"/><Relationship Id="rId15" Type="http://schemas.openxmlformats.org/officeDocument/2006/relationships/diagramColors" Target="../diagrams/colors3.xml"/><Relationship Id="rId19" Type="http://schemas.openxmlformats.org/officeDocument/2006/relationships/image" Target="../media/image5.png"/><Relationship Id="rId4" Type="http://schemas.openxmlformats.org/officeDocument/2006/relationships/image" Target="../media/image311.png"/><Relationship Id="rId9" Type="http://schemas.microsoft.com/office/2007/relationships/diagramDrawing" Target="../diagrams/drawing3.xml"/><Relationship Id="rId14" Type="http://schemas.openxmlformats.org/officeDocument/2006/relationships/diagramQuickStyle" Target="../diagrams/quickStyle3.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8" Type="http://schemas.openxmlformats.org/officeDocument/2006/relationships/diagramData" Target="../diagrams/data9.xml"/><Relationship Id="rId3" Type="http://schemas.openxmlformats.org/officeDocument/2006/relationships/diagramData" Target="../diagrams/data6.xml"/><Relationship Id="rId7" Type="http://schemas.microsoft.com/office/2007/relationships/diagramDrawing" Target="../diagrams/drawing4.xml"/><Relationship Id="rId12" Type="http://schemas.openxmlformats.org/officeDocument/2006/relationships/image" Target="../media/image270.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diagramColors" Target="../diagrams/colors4.xml"/><Relationship Id="rId11" Type="http://schemas.openxmlformats.org/officeDocument/2006/relationships/diagramColors" Target="../diagrams/colors4.xml"/><Relationship Id="rId5" Type="http://schemas.openxmlformats.org/officeDocument/2006/relationships/diagramQuickStyle" Target="../diagrams/quickStyle4.xml"/><Relationship Id="rId10"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diagramLayout" Target="../diagrams/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5.xml"/><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eadership Professional Development in Volatile Times | Babson College">
            <a:extLst>
              <a:ext uri="{FF2B5EF4-FFF2-40B4-BE49-F238E27FC236}">
                <a16:creationId xmlns:a16="http://schemas.microsoft.com/office/drawing/2014/main" id="{5764A376-60D0-4571-A1E8-43581C653E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636" r="40432" b="9090"/>
          <a:stretch/>
        </p:blipFill>
        <p:spPr bwMode="auto">
          <a:xfrm>
            <a:off x="2642616" y="10"/>
            <a:ext cx="6501384"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D7D7960-4663-47D2-B7FF-F15598B402EC}"/>
              </a:ext>
            </a:extLst>
          </p:cNvPr>
          <p:cNvSpPr>
            <a:spLocks noGrp="1"/>
          </p:cNvSpPr>
          <p:nvPr>
            <p:ph type="ctrTitle"/>
          </p:nvPr>
        </p:nvSpPr>
        <p:spPr>
          <a:xfrm>
            <a:off x="358485" y="1122363"/>
            <a:ext cx="2841915" cy="3204134"/>
          </a:xfrm>
        </p:spPr>
        <p:txBody>
          <a:bodyPr anchor="b">
            <a:normAutofit/>
          </a:bodyPr>
          <a:lstStyle/>
          <a:p>
            <a:pPr algn="l"/>
            <a:r>
              <a:rPr lang="en-US" sz="2800" dirty="0"/>
              <a:t>CS 5/7320 </a:t>
            </a:r>
            <a:br>
              <a:rPr lang="en-US" sz="2800" dirty="0"/>
            </a:br>
            <a:r>
              <a:rPr lang="en-US" sz="2400" dirty="0"/>
              <a:t>Artificial Intelligence</a:t>
            </a:r>
            <a:br>
              <a:rPr lang="en-US" sz="4200" dirty="0"/>
            </a:br>
            <a:br>
              <a:rPr lang="en-US" sz="4400" b="1" dirty="0"/>
            </a:br>
            <a:r>
              <a:rPr lang="en-US" sz="3600" b="1" dirty="0"/>
              <a:t>Search with Uncertainty</a:t>
            </a:r>
            <a:br>
              <a:rPr lang="en-US" sz="3600" b="1" dirty="0"/>
            </a:br>
            <a:r>
              <a:rPr lang="en-US" sz="2000" dirty="0"/>
              <a:t>AIMA Chapters 4.3-4.5</a:t>
            </a:r>
            <a:endParaRPr lang="en-US" sz="4200" b="1" dirty="0"/>
          </a:p>
        </p:txBody>
      </p:sp>
      <p:sp>
        <p:nvSpPr>
          <p:cNvPr id="3" name="Subtitle 2">
            <a:extLst>
              <a:ext uri="{FF2B5EF4-FFF2-40B4-BE49-F238E27FC236}">
                <a16:creationId xmlns:a16="http://schemas.microsoft.com/office/drawing/2014/main" id="{896D0283-4530-4ACB-843A-981D44341F5D}"/>
              </a:ext>
            </a:extLst>
          </p:cNvPr>
          <p:cNvSpPr>
            <a:spLocks noGrp="1"/>
          </p:cNvSpPr>
          <p:nvPr>
            <p:ph type="subTitle" idx="1"/>
          </p:nvPr>
        </p:nvSpPr>
        <p:spPr>
          <a:xfrm>
            <a:off x="358485" y="4872922"/>
            <a:ext cx="3017519" cy="1208141"/>
          </a:xfrm>
        </p:spPr>
        <p:txBody>
          <a:bodyPr>
            <a:normAutofit/>
          </a:bodyPr>
          <a:lstStyle/>
          <a:p>
            <a:pPr algn="l"/>
            <a:r>
              <a:rPr lang="en-US" sz="1700" dirty="0"/>
              <a:t>Slides by Michael Hahsler</a:t>
            </a:r>
            <a:br>
              <a:rPr lang="en-US" sz="1700" dirty="0"/>
            </a:br>
            <a:r>
              <a:rPr lang="en-US" sz="1400" dirty="0"/>
              <a:t>with figures from the AIMA textbook</a:t>
            </a:r>
            <a:endParaRPr lang="en-US" sz="1700" dirty="0"/>
          </a:p>
        </p:txBody>
      </p:sp>
      <p:sp>
        <p:nvSpPr>
          <p:cNvPr id="75" name="Rectangle 7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7" name="Rectangle 7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06866B32-FD54-AD05-5089-C2C32D60A0F2}"/>
              </a:ext>
              <a:ext uri="{C183D7F6-B498-43B3-948B-1728B52AA6E4}">
                <adec:decorative xmlns:adec="http://schemas.microsoft.com/office/drawing/2017/decorative" val="1"/>
              </a:ext>
            </a:extLst>
          </p:cNvPr>
          <p:cNvGrpSpPr/>
          <p:nvPr/>
        </p:nvGrpSpPr>
        <p:grpSpPr>
          <a:xfrm>
            <a:off x="7480955" y="5187199"/>
            <a:ext cx="1304561" cy="1440289"/>
            <a:chOff x="7162800" y="4191000"/>
            <a:chExt cx="1676400" cy="1981200"/>
          </a:xfrm>
        </p:grpSpPr>
        <p:sp>
          <p:nvSpPr>
            <p:cNvPr id="5" name="Rectangle 4">
              <a:extLst>
                <a:ext uri="{FF2B5EF4-FFF2-40B4-BE49-F238E27FC236}">
                  <a16:creationId xmlns:a16="http://schemas.microsoft.com/office/drawing/2014/main" id="{731D7445-1ABE-E21B-06BC-CC86356F7218}"/>
                </a:ext>
              </a:extLst>
            </p:cNvPr>
            <p:cNvSpPr/>
            <p:nvPr/>
          </p:nvSpPr>
          <p:spPr>
            <a:xfrm>
              <a:off x="7162800" y="4191000"/>
              <a:ext cx="1676400" cy="19812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 name="Picture 5" descr="A qr code with black dots&#10;&#10;Description automatically generated">
              <a:extLst>
                <a:ext uri="{FF2B5EF4-FFF2-40B4-BE49-F238E27FC236}">
                  <a16:creationId xmlns:a16="http://schemas.microsoft.com/office/drawing/2014/main" id="{BBE6B980-B7FA-D10B-0FC3-24B13E57CB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84684" y="4213372"/>
              <a:ext cx="1632631" cy="1632630"/>
            </a:xfrm>
            <a:prstGeom prst="rect">
              <a:avLst/>
            </a:prstGeom>
          </p:spPr>
        </p:pic>
        <p:sp>
          <p:nvSpPr>
            <p:cNvPr id="7" name="Rectangle 6">
              <a:extLst>
                <a:ext uri="{FF2B5EF4-FFF2-40B4-BE49-F238E27FC236}">
                  <a16:creationId xmlns:a16="http://schemas.microsoft.com/office/drawing/2014/main" id="{0720CF24-62E5-CA6C-898B-C68CF666ECFD}"/>
                </a:ext>
              </a:extLst>
            </p:cNvPr>
            <p:cNvSpPr/>
            <p:nvPr/>
          </p:nvSpPr>
          <p:spPr>
            <a:xfrm>
              <a:off x="7162800" y="5812970"/>
              <a:ext cx="1664629" cy="35923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Online Material</a:t>
              </a:r>
            </a:p>
          </p:txBody>
        </p:sp>
      </p:grpSp>
      <p:grpSp>
        <p:nvGrpSpPr>
          <p:cNvPr id="11" name="Group 10">
            <a:extLst>
              <a:ext uri="{FF2B5EF4-FFF2-40B4-BE49-F238E27FC236}">
                <a16:creationId xmlns:a16="http://schemas.microsoft.com/office/drawing/2014/main" id="{8EC0CED8-D136-0BF3-DA01-D17350AC01AB}"/>
              </a:ext>
            </a:extLst>
          </p:cNvPr>
          <p:cNvGrpSpPr/>
          <p:nvPr/>
        </p:nvGrpSpPr>
        <p:grpSpPr>
          <a:xfrm>
            <a:off x="296569" y="5883660"/>
            <a:ext cx="3017521" cy="743828"/>
            <a:chOff x="296569" y="5883660"/>
            <a:chExt cx="3017521" cy="743828"/>
          </a:xfrm>
        </p:grpSpPr>
        <p:sp>
          <p:nvSpPr>
            <p:cNvPr id="10" name="TextBox 9">
              <a:extLst>
                <a:ext uri="{FF2B5EF4-FFF2-40B4-BE49-F238E27FC236}">
                  <a16:creationId xmlns:a16="http://schemas.microsoft.com/office/drawing/2014/main" id="{C3CD48F5-2A4B-4A59-962E-8D5FE39D8A7D}"/>
                </a:ext>
              </a:extLst>
            </p:cNvPr>
            <p:cNvSpPr txBox="1"/>
            <p:nvPr/>
          </p:nvSpPr>
          <p:spPr>
            <a:xfrm>
              <a:off x="296569" y="6196601"/>
              <a:ext cx="3017521" cy="430887"/>
            </a:xfrm>
            <a:prstGeom prst="rect">
              <a:avLst/>
            </a:prstGeom>
            <a:noFill/>
          </p:spPr>
          <p:txBody>
            <a:bodyPr wrap="square">
              <a:spAutoFit/>
            </a:bodyPr>
            <a:lstStyle/>
            <a:p>
              <a:r>
                <a:rPr lang="en-US" sz="1100" b="0" i="0" dirty="0">
                  <a:solidFill>
                    <a:schemeClr val="tx1">
                      <a:lumMod val="50000"/>
                    </a:schemeClr>
                  </a:solidFill>
                  <a:effectLst/>
                  <a:latin typeface="Calibri" panose="020F0502020204030204" pitchFamily="34" charset="0"/>
                </a:rPr>
                <a:t>This work is licensed under a </a:t>
              </a:r>
              <a:r>
                <a:rPr lang="en-US" sz="1100" b="0" i="0" strike="noStrike" dirty="0">
                  <a:solidFill>
                    <a:schemeClr val="tx1">
                      <a:lumMod val="50000"/>
                    </a:schemeClr>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Creative Commons Attribution-</a:t>
              </a:r>
              <a:r>
                <a:rPr lang="en-US" sz="1100" b="0" i="0" strike="noStrike" dirty="0" err="1">
                  <a:solidFill>
                    <a:schemeClr val="tx1">
                      <a:lumMod val="50000"/>
                    </a:schemeClr>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ShareAlike</a:t>
              </a:r>
              <a:r>
                <a:rPr lang="en-US" sz="1100" b="0" i="0" strike="noStrike" dirty="0">
                  <a:solidFill>
                    <a:schemeClr val="tx1">
                      <a:lumMod val="50000"/>
                    </a:schemeClr>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 4.0 International License</a:t>
              </a:r>
              <a:r>
                <a:rPr lang="en-US" sz="1100" b="0" i="0" dirty="0">
                  <a:solidFill>
                    <a:schemeClr val="tx1">
                      <a:lumMod val="50000"/>
                    </a:schemeClr>
                  </a:solidFill>
                  <a:effectLst/>
                  <a:latin typeface="Calibri" panose="020F0502020204030204" pitchFamily="34" charset="0"/>
                </a:rPr>
                <a:t>.</a:t>
              </a:r>
              <a:endParaRPr lang="en-US" sz="1100" dirty="0">
                <a:solidFill>
                  <a:schemeClr val="tx1">
                    <a:lumMod val="50000"/>
                  </a:schemeClr>
                </a:solidFill>
              </a:endParaRPr>
            </a:p>
          </p:txBody>
        </p:sp>
        <p:pic>
          <p:nvPicPr>
            <p:cNvPr id="8" name="Picture 2">
              <a:extLst>
                <a:ext uri="{FF2B5EF4-FFF2-40B4-BE49-F238E27FC236}">
                  <a16:creationId xmlns:a16="http://schemas.microsoft.com/office/drawing/2014/main" id="{700C9062-93CA-E978-DF9A-01C9EF8D863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5516" y="5883660"/>
              <a:ext cx="894434" cy="31294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86861524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5314950" cy="1325563"/>
          </a:xfrm>
        </p:spPr>
        <p:txBody>
          <a:bodyPr>
            <a:normAutofit fontScale="90000"/>
          </a:bodyPr>
          <a:lstStyle/>
          <a:p>
            <a:r>
              <a:rPr lang="en-US" sz="4000" b="1" dirty="0"/>
              <a:t>Recap</a:t>
            </a:r>
            <a:r>
              <a:rPr lang="en-US" sz="4000" dirty="0"/>
              <a:t>: Solving Search Problems under Certainty</a:t>
            </a:r>
          </a:p>
        </p:txBody>
      </p:sp>
      <mc:AlternateContent xmlns:mc="http://schemas.openxmlformats.org/markup-compatibility/2006" xmlns:a14="http://schemas.microsoft.com/office/drawing/2010/main">
        <mc:Choice Requires="a14">
          <p:graphicFrame>
            <p:nvGraphicFramePr>
              <p:cNvPr id="8" name="Content Placeholder 7" descr="No uncertainty means deterministic actions and full observability.">
                <a:extLst>
                  <a:ext uri="{FF2B5EF4-FFF2-40B4-BE49-F238E27FC236}">
                    <a16:creationId xmlns:a16="http://schemas.microsoft.com/office/drawing/2014/main" id="{1A6D5AF7-114F-4BD9-9A5D-050071A97E56}"/>
                  </a:ext>
                </a:extLst>
              </p:cNvPr>
              <p:cNvGraphicFramePr>
                <a:graphicFrameLocks noGrp="1"/>
              </p:cNvGraphicFramePr>
              <p:nvPr>
                <p:ph idx="1"/>
                <p:extLst>
                  <p:ext uri="{D42A27DB-BD31-4B8C-83A1-F6EECF244321}">
                    <p14:modId xmlns:p14="http://schemas.microsoft.com/office/powerpoint/2010/main" val="24861460"/>
                  </p:ext>
                </p:extLst>
              </p:nvPr>
            </p:nvGraphicFramePr>
            <p:xfrm>
              <a:off x="633083" y="2096784"/>
              <a:ext cx="2461753" cy="32650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8" name="Content Placeholder 7" descr="No uncertainty means deterministic actions and full observability.">
                <a:extLst>
                  <a:ext uri="{FF2B5EF4-FFF2-40B4-BE49-F238E27FC236}">
                    <a16:creationId xmlns:a16="http://schemas.microsoft.com/office/drawing/2014/main" id="{1A6D5AF7-114F-4BD9-9A5D-050071A97E56}"/>
                  </a:ext>
                </a:extLst>
              </p:cNvPr>
              <p:cNvGraphicFramePr>
                <a:graphicFrameLocks noGrp="1"/>
              </p:cNvGraphicFramePr>
              <p:nvPr>
                <p:ph idx="1"/>
                <p:extLst>
                  <p:ext uri="{D42A27DB-BD31-4B8C-83A1-F6EECF244321}">
                    <p14:modId xmlns:p14="http://schemas.microsoft.com/office/powerpoint/2010/main" val="24861460"/>
                  </p:ext>
                </p:extLst>
              </p:nvPr>
            </p:nvGraphicFramePr>
            <p:xfrm>
              <a:off x="633083" y="2096784"/>
              <a:ext cx="2461753" cy="326506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grpSp>
        <p:nvGrpSpPr>
          <p:cNvPr id="5" name="Group 4" descr="The state space of the vacuum world as a graph with eight states.">
            <a:extLst>
              <a:ext uri="{FF2B5EF4-FFF2-40B4-BE49-F238E27FC236}">
                <a16:creationId xmlns:a16="http://schemas.microsoft.com/office/drawing/2014/main" id="{902D6D70-DCCC-08B6-E7FE-A405E8EFB174}"/>
              </a:ext>
            </a:extLst>
          </p:cNvPr>
          <p:cNvGrpSpPr/>
          <p:nvPr/>
        </p:nvGrpSpPr>
        <p:grpSpPr>
          <a:xfrm>
            <a:off x="3250565" y="2032313"/>
            <a:ext cx="5700655" cy="3722200"/>
            <a:chOff x="3276600" y="1660604"/>
            <a:chExt cx="5700655" cy="3722200"/>
          </a:xfrm>
        </p:grpSpPr>
        <p:pic>
          <p:nvPicPr>
            <p:cNvPr id="6" name="Picture 6">
              <a:extLst>
                <a:ext uri="{FF2B5EF4-FFF2-40B4-BE49-F238E27FC236}">
                  <a16:creationId xmlns:a16="http://schemas.microsoft.com/office/drawing/2014/main" id="{D4175709-7E24-4889-BB5C-3F5FE1A911FA}"/>
                </a:ext>
              </a:extLst>
            </p:cNvPr>
            <p:cNvPicPr>
              <a:picLocks noChangeAspect="1" noChangeArrowheads="1"/>
            </p:cNvPicPr>
            <p:nvPr/>
          </p:nvPicPr>
          <p:blipFill>
            <a:blip r:embed="rId12" cstate="print"/>
            <a:srcRect/>
            <a:stretch>
              <a:fillRect/>
            </a:stretch>
          </p:blipFill>
          <p:spPr bwMode="auto">
            <a:xfrm>
              <a:off x="3276600" y="2667000"/>
              <a:ext cx="5700655" cy="2715804"/>
            </a:xfrm>
            <a:prstGeom prst="rect">
              <a:avLst/>
            </a:prstGeom>
            <a:noFill/>
            <a:ln w="9525">
              <a:noFill/>
              <a:miter lim="800000"/>
              <a:headEnd/>
              <a:tailEnd/>
            </a:ln>
          </p:spPr>
        </p:pic>
        <p:cxnSp>
          <p:nvCxnSpPr>
            <p:cNvPr id="10" name="Straight Arrow Connector 9">
              <a:extLst>
                <a:ext uri="{FF2B5EF4-FFF2-40B4-BE49-F238E27FC236}">
                  <a16:creationId xmlns:a16="http://schemas.microsoft.com/office/drawing/2014/main" id="{60BFCA0D-F803-47D3-BFF3-549E7B288DC8}"/>
                </a:ext>
              </a:extLst>
            </p:cNvPr>
            <p:cNvCxnSpPr/>
            <p:nvPr/>
          </p:nvCxnSpPr>
          <p:spPr>
            <a:xfrm flipH="1">
              <a:off x="3848101" y="3132104"/>
              <a:ext cx="1676400" cy="631566"/>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cxnSp>
          <p:nvCxnSpPr>
            <p:cNvPr id="12" name="Straight Arrow Connector 11">
              <a:extLst>
                <a:ext uri="{FF2B5EF4-FFF2-40B4-BE49-F238E27FC236}">
                  <a16:creationId xmlns:a16="http://schemas.microsoft.com/office/drawing/2014/main" id="{FD2844A0-0C70-41CD-A70E-CE2ABC45F44C}"/>
                </a:ext>
              </a:extLst>
            </p:cNvPr>
            <p:cNvCxnSpPr/>
            <p:nvPr/>
          </p:nvCxnSpPr>
          <p:spPr>
            <a:xfrm>
              <a:off x="4343400" y="3853658"/>
              <a:ext cx="609600" cy="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a:extLst>
                <a:ext uri="{FF2B5EF4-FFF2-40B4-BE49-F238E27FC236}">
                  <a16:creationId xmlns:a16="http://schemas.microsoft.com/office/drawing/2014/main" id="{812997ED-3FB6-43AF-B3BC-17BD86472D1E}"/>
                </a:ext>
              </a:extLst>
            </p:cNvPr>
            <p:cNvCxnSpPr/>
            <p:nvPr/>
          </p:nvCxnSpPr>
          <p:spPr>
            <a:xfrm>
              <a:off x="5150485" y="4060326"/>
              <a:ext cx="1638300" cy="633873"/>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sp>
          <p:nvSpPr>
            <p:cNvPr id="15" name="TextBox 14">
              <a:extLst>
                <a:ext uri="{FF2B5EF4-FFF2-40B4-BE49-F238E27FC236}">
                  <a16:creationId xmlns:a16="http://schemas.microsoft.com/office/drawing/2014/main" id="{D66FCBEC-A505-4959-BF00-0EC0DA8BC809}"/>
                </a:ext>
              </a:extLst>
            </p:cNvPr>
            <p:cNvSpPr txBox="1"/>
            <p:nvPr/>
          </p:nvSpPr>
          <p:spPr>
            <a:xfrm>
              <a:off x="3568036" y="4620804"/>
              <a:ext cx="1240917" cy="369332"/>
            </a:xfrm>
            <a:prstGeom prst="rect">
              <a:avLst/>
            </a:prstGeom>
            <a:noFill/>
          </p:spPr>
          <p:txBody>
            <a:bodyPr wrap="none" rtlCol="0">
              <a:spAutoFit/>
            </a:bodyPr>
            <a:lstStyle/>
            <a:p>
              <a:r>
                <a:rPr lang="en-US" b="1" dirty="0">
                  <a:solidFill>
                    <a:schemeClr val="accent2">
                      <a:lumMod val="50000"/>
                    </a:schemeClr>
                  </a:solidFill>
                </a:rPr>
                <a:t>Goal states</a:t>
              </a:r>
            </a:p>
          </p:txBody>
        </p:sp>
        <p:sp>
          <p:nvSpPr>
            <p:cNvPr id="16" name="TextBox 15">
              <a:extLst>
                <a:ext uri="{FF2B5EF4-FFF2-40B4-BE49-F238E27FC236}">
                  <a16:creationId xmlns:a16="http://schemas.microsoft.com/office/drawing/2014/main" id="{75524F9B-6A07-4069-9BA7-639648444157}"/>
                </a:ext>
              </a:extLst>
            </p:cNvPr>
            <p:cNvSpPr txBox="1"/>
            <p:nvPr/>
          </p:nvSpPr>
          <p:spPr>
            <a:xfrm>
              <a:off x="4940087" y="2311410"/>
              <a:ext cx="1255344" cy="369332"/>
            </a:xfrm>
            <a:prstGeom prst="rect">
              <a:avLst/>
            </a:prstGeom>
            <a:noFill/>
          </p:spPr>
          <p:txBody>
            <a:bodyPr wrap="none" rtlCol="0">
              <a:spAutoFit/>
            </a:bodyPr>
            <a:lstStyle/>
            <a:p>
              <a:r>
                <a:rPr lang="en-US" b="1" dirty="0">
                  <a:solidFill>
                    <a:schemeClr val="accent2">
                      <a:lumMod val="50000"/>
                    </a:schemeClr>
                  </a:solidFill>
                </a:rPr>
                <a:t>Initial state</a:t>
              </a:r>
            </a:p>
          </p:txBody>
        </p:sp>
        <p:sp>
          <p:nvSpPr>
            <p:cNvPr id="17" name="Rectangle 16">
              <a:extLst>
                <a:ext uri="{FF2B5EF4-FFF2-40B4-BE49-F238E27FC236}">
                  <a16:creationId xmlns:a16="http://schemas.microsoft.com/office/drawing/2014/main" id="{0A3F790A-73EE-4E53-B55A-5BE346E6B01C}"/>
                </a:ext>
              </a:extLst>
            </p:cNvPr>
            <p:cNvSpPr/>
            <p:nvPr/>
          </p:nvSpPr>
          <p:spPr>
            <a:xfrm>
              <a:off x="5029202" y="2705239"/>
              <a:ext cx="990598" cy="505736"/>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8" name="Rectangle 17">
              <a:extLst>
                <a:ext uri="{FF2B5EF4-FFF2-40B4-BE49-F238E27FC236}">
                  <a16:creationId xmlns:a16="http://schemas.microsoft.com/office/drawing/2014/main" id="{0B78AC21-C75B-4C15-AC11-ABD2538E14C3}"/>
                </a:ext>
              </a:extLst>
            </p:cNvPr>
            <p:cNvSpPr/>
            <p:nvPr/>
          </p:nvSpPr>
          <p:spPr>
            <a:xfrm>
              <a:off x="5024439" y="4560113"/>
              <a:ext cx="2133600" cy="505736"/>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3" name="TextBox 2">
              <a:extLst>
                <a:ext uri="{FF2B5EF4-FFF2-40B4-BE49-F238E27FC236}">
                  <a16:creationId xmlns:a16="http://schemas.microsoft.com/office/drawing/2014/main" id="{C7D860EE-A5CB-47C5-B487-2A94B255A892}"/>
                </a:ext>
              </a:extLst>
            </p:cNvPr>
            <p:cNvSpPr txBox="1"/>
            <p:nvPr/>
          </p:nvSpPr>
          <p:spPr>
            <a:xfrm>
              <a:off x="3568036" y="1660604"/>
              <a:ext cx="4436439" cy="615553"/>
            </a:xfrm>
            <a:prstGeom prst="rect">
              <a:avLst/>
            </a:prstGeom>
            <a:noFill/>
          </p:spPr>
          <p:txBody>
            <a:bodyPr wrap="square" rtlCol="0">
              <a:spAutoFit/>
            </a:bodyPr>
            <a:lstStyle/>
            <a:p>
              <a:pPr algn="ctr"/>
              <a:r>
                <a:rPr lang="en-US" b="1" dirty="0"/>
                <a:t>State space: </a:t>
              </a:r>
              <a:r>
                <a:rPr lang="en-US" sz="1600" dirty="0"/>
                <a:t>A state completely describes the condition of the environment and the agent.</a:t>
              </a:r>
              <a:endParaRPr lang="en-US" dirty="0"/>
            </a:p>
          </p:txBody>
        </p:sp>
      </p:grpSp>
      <p:sp>
        <p:nvSpPr>
          <p:cNvPr id="13" name="TextBox 12">
            <a:extLst>
              <a:ext uri="{FF2B5EF4-FFF2-40B4-BE49-F238E27FC236}">
                <a16:creationId xmlns:a16="http://schemas.microsoft.com/office/drawing/2014/main" id="{7C8B7C9B-1FD9-F6BD-15C6-1A4732C48A7E}"/>
              </a:ext>
            </a:extLst>
          </p:cNvPr>
          <p:cNvSpPr txBox="1"/>
          <p:nvPr/>
        </p:nvSpPr>
        <p:spPr>
          <a:xfrm>
            <a:off x="489780" y="6018129"/>
            <a:ext cx="8077200" cy="646331"/>
          </a:xfrm>
          <a:prstGeom prst="rect">
            <a:avLst/>
          </a:prstGeom>
          <a:noFill/>
        </p:spPr>
        <p:txBody>
          <a:bodyPr wrap="square" rtlCol="0">
            <a:spAutoFit/>
          </a:bodyPr>
          <a:lstStyle/>
          <a:p>
            <a:pPr algn="ctr"/>
            <a:r>
              <a:rPr lang="en-US" b="1" dirty="0"/>
              <a:t>Solution:</a:t>
            </a:r>
            <a:r>
              <a:rPr lang="en-US" dirty="0"/>
              <a:t> Use tree search in the planning phase to create a </a:t>
            </a:r>
            <a:r>
              <a:rPr lang="en-US" b="1" dirty="0">
                <a:solidFill>
                  <a:srgbClr val="FF0000"/>
                </a:solidFill>
              </a:rPr>
              <a:t>sequence of actions </a:t>
            </a:r>
            <a:r>
              <a:rPr lang="en-US" dirty="0"/>
              <a:t>also called a </a:t>
            </a:r>
            <a:r>
              <a:rPr lang="en-US" b="1" dirty="0">
                <a:solidFill>
                  <a:srgbClr val="FF0000"/>
                </a:solidFill>
              </a:rPr>
              <a:t>plan.</a:t>
            </a:r>
            <a:r>
              <a:rPr lang="en-US" dirty="0"/>
              <a:t> Then blindly execute the plan: </a:t>
            </a:r>
            <a:r>
              <a:rPr lang="en-US" b="1" dirty="0"/>
              <a:t>[Suck, Right, Suck] </a:t>
            </a:r>
          </a:p>
        </p:txBody>
      </p:sp>
      <p:grpSp>
        <p:nvGrpSpPr>
          <p:cNvPr id="27" name="Group 26">
            <a:extLst>
              <a:ext uri="{FF2B5EF4-FFF2-40B4-BE49-F238E27FC236}">
                <a16:creationId xmlns:a16="http://schemas.microsoft.com/office/drawing/2014/main" id="{46B09AFB-2BD1-9139-9472-F0ABF70EA844}"/>
              </a:ext>
            </a:extLst>
          </p:cNvPr>
          <p:cNvGrpSpPr/>
          <p:nvPr/>
        </p:nvGrpSpPr>
        <p:grpSpPr>
          <a:xfrm>
            <a:off x="6117293" y="182383"/>
            <a:ext cx="2463021" cy="1798817"/>
            <a:chOff x="6117293" y="182383"/>
            <a:chExt cx="2463021" cy="1798817"/>
          </a:xfrm>
        </p:grpSpPr>
        <p:pic>
          <p:nvPicPr>
            <p:cNvPr id="4" name="Picture 4">
              <a:extLst>
                <a:ext uri="{FF2B5EF4-FFF2-40B4-BE49-F238E27FC236}">
                  <a16:creationId xmlns:a16="http://schemas.microsoft.com/office/drawing/2014/main" id="{D350F3D5-C3F6-F587-CA59-4D92F40D6A3B}"/>
                </a:ext>
                <a:ext uri="{C183D7F6-B498-43B3-948B-1728B52AA6E4}">
                  <adec:decorative xmlns:adec="http://schemas.microsoft.com/office/drawing/2017/decorative" val="1"/>
                </a:ext>
              </a:extLst>
            </p:cNvPr>
            <p:cNvPicPr>
              <a:picLocks noChangeAspect="1" noChangeArrowheads="1"/>
            </p:cNvPicPr>
            <p:nvPr/>
          </p:nvPicPr>
          <p:blipFill>
            <a:blip r:embed="rId13" cstate="print"/>
            <a:srcRect/>
            <a:stretch>
              <a:fillRect/>
            </a:stretch>
          </p:blipFill>
          <p:spPr bwMode="auto">
            <a:xfrm>
              <a:off x="6117293" y="733646"/>
              <a:ext cx="2438400" cy="1247554"/>
            </a:xfrm>
            <a:prstGeom prst="rect">
              <a:avLst/>
            </a:prstGeom>
            <a:noFill/>
          </p:spPr>
        </p:pic>
        <p:grpSp>
          <p:nvGrpSpPr>
            <p:cNvPr id="26" name="Group 25">
              <a:extLst>
                <a:ext uri="{FF2B5EF4-FFF2-40B4-BE49-F238E27FC236}">
                  <a16:creationId xmlns:a16="http://schemas.microsoft.com/office/drawing/2014/main" id="{91737E83-7E47-D762-4563-AB8BBF5EB610}"/>
                </a:ext>
              </a:extLst>
            </p:cNvPr>
            <p:cNvGrpSpPr/>
            <p:nvPr/>
          </p:nvGrpSpPr>
          <p:grpSpPr>
            <a:xfrm>
              <a:off x="7222193" y="182383"/>
              <a:ext cx="1358121" cy="408979"/>
              <a:chOff x="7222193" y="182383"/>
              <a:chExt cx="1358121" cy="408979"/>
            </a:xfrm>
          </p:grpSpPr>
          <p:grpSp>
            <p:nvGrpSpPr>
              <p:cNvPr id="20" name="Group 19">
                <a:extLst>
                  <a:ext uri="{FF2B5EF4-FFF2-40B4-BE49-F238E27FC236}">
                    <a16:creationId xmlns:a16="http://schemas.microsoft.com/office/drawing/2014/main" id="{E390570F-1465-E8B9-8450-E63F0E71FC2B}"/>
                  </a:ext>
                </a:extLst>
              </p:cNvPr>
              <p:cNvGrpSpPr/>
              <p:nvPr/>
            </p:nvGrpSpPr>
            <p:grpSpPr>
              <a:xfrm rot="5400000">
                <a:off x="7132003" y="272573"/>
                <a:ext cx="408979" cy="228600"/>
                <a:chOff x="339924" y="1249999"/>
                <a:chExt cx="408979" cy="228600"/>
              </a:xfrm>
            </p:grpSpPr>
            <p:sp>
              <p:nvSpPr>
                <p:cNvPr id="19" name="Isosceles Triangle 18">
                  <a:extLst>
                    <a:ext uri="{FF2B5EF4-FFF2-40B4-BE49-F238E27FC236}">
                      <a16:creationId xmlns:a16="http://schemas.microsoft.com/office/drawing/2014/main" id="{EB2A97C6-980C-7918-CEF4-39CF11DE32A1}"/>
                    </a:ext>
                  </a:extLst>
                </p:cNvPr>
                <p:cNvSpPr/>
                <p:nvPr/>
              </p:nvSpPr>
              <p:spPr>
                <a:xfrm rot="16200000">
                  <a:off x="485776" y="1177372"/>
                  <a:ext cx="152400" cy="373855"/>
                </a:xfrm>
                <a:prstGeom prst="triangle">
                  <a:avLst>
                    <a:gd name="adj" fmla="val 53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CE94CD-96DB-C064-5DA9-7C6047376B43}"/>
                    </a:ext>
                  </a:extLst>
                </p:cNvPr>
                <p:cNvSpPr/>
                <p:nvPr/>
              </p:nvSpPr>
              <p:spPr>
                <a:xfrm>
                  <a:off x="339924" y="1249999"/>
                  <a:ext cx="323850" cy="228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24" name="TextBox 23">
                <a:extLst>
                  <a:ext uri="{FF2B5EF4-FFF2-40B4-BE49-F238E27FC236}">
                    <a16:creationId xmlns:a16="http://schemas.microsoft.com/office/drawing/2014/main" id="{C4063B6F-A4C2-87D0-5A91-A6E4E2E49FB9}"/>
                  </a:ext>
                </a:extLst>
              </p:cNvPr>
              <p:cNvSpPr txBox="1"/>
              <p:nvPr/>
            </p:nvSpPr>
            <p:spPr>
              <a:xfrm>
                <a:off x="7412692" y="238168"/>
                <a:ext cx="1167622" cy="253916"/>
              </a:xfrm>
              <a:prstGeom prst="rect">
                <a:avLst/>
              </a:prstGeom>
              <a:noFill/>
            </p:spPr>
            <p:txBody>
              <a:bodyPr wrap="square" rtlCol="0">
                <a:spAutoFit/>
              </a:bodyPr>
              <a:lstStyle/>
              <a:p>
                <a:r>
                  <a:rPr lang="en-US" sz="1050" dirty="0"/>
                  <a:t>Full observability</a:t>
                </a: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AB63A-583D-4BBD-914A-0A8056D0F4A2}"/>
              </a:ext>
            </a:extLst>
          </p:cNvPr>
          <p:cNvSpPr>
            <a:spLocks noGrp="1"/>
          </p:cNvSpPr>
          <p:nvPr>
            <p:ph type="title"/>
          </p:nvPr>
        </p:nvSpPr>
        <p:spPr/>
        <p:txBody>
          <a:bodyPr/>
          <a:lstStyle/>
          <a:p>
            <a:r>
              <a:rPr lang="en-US" dirty="0"/>
              <a:t>Sources and Consequence </a:t>
            </a:r>
            <a:br>
              <a:rPr lang="en-US" dirty="0"/>
            </a:br>
            <a:r>
              <a:rPr lang="en-US" dirty="0"/>
              <a:t>of Uncertainty</a:t>
            </a:r>
          </a:p>
        </p:txBody>
      </p:sp>
      <p:sp>
        <p:nvSpPr>
          <p:cNvPr id="5" name="Content Placeholder 4">
            <a:extLst>
              <a:ext uri="{FF2B5EF4-FFF2-40B4-BE49-F238E27FC236}">
                <a16:creationId xmlns:a16="http://schemas.microsoft.com/office/drawing/2014/main" id="{3C1F6EBF-AF35-4215-9C0C-E67FFF86834E}"/>
              </a:ext>
            </a:extLst>
          </p:cNvPr>
          <p:cNvSpPr>
            <a:spLocks noGrp="1"/>
          </p:cNvSpPr>
          <p:nvPr>
            <p:ph idx="1"/>
          </p:nvPr>
        </p:nvSpPr>
        <p:spPr/>
        <p:txBody>
          <a:bodyPr>
            <a:normAutofit fontScale="62500" lnSpcReduction="20000"/>
          </a:bodyPr>
          <a:lstStyle/>
          <a:p>
            <a:pPr marL="0" indent="0">
              <a:buNone/>
            </a:pPr>
            <a:r>
              <a:rPr lang="en-US" b="1" dirty="0"/>
              <a:t>Sources</a:t>
            </a:r>
            <a:r>
              <a:rPr lang="en-US" dirty="0"/>
              <a:t>: The environment may be</a:t>
            </a:r>
          </a:p>
          <a:p>
            <a:r>
              <a:rPr lang="en-US" b="1" dirty="0">
                <a:solidFill>
                  <a:srgbClr val="FF0000"/>
                </a:solidFill>
              </a:rPr>
              <a:t>Not fully observable</a:t>
            </a:r>
            <a:r>
              <a:rPr lang="en-US" dirty="0"/>
              <a:t>: The agent may be uncertain about its current state.</a:t>
            </a:r>
          </a:p>
          <a:p>
            <a:r>
              <a:rPr lang="en-US" b="1" dirty="0">
                <a:solidFill>
                  <a:srgbClr val="FF0000"/>
                </a:solidFill>
              </a:rPr>
              <a:t>Stochastic (transition function)</a:t>
            </a:r>
            <a:r>
              <a:rPr lang="en-US" dirty="0"/>
              <a:t>: The agent may not be able to perfectly predict the outcome of its actions. </a:t>
            </a:r>
            <a:br>
              <a:rPr lang="en-US" dirty="0"/>
            </a:br>
            <a:br>
              <a:rPr lang="en-US" dirty="0"/>
            </a:br>
            <a:endParaRPr lang="en-US" dirty="0"/>
          </a:p>
          <a:p>
            <a:pPr marL="0" indent="0">
              <a:buNone/>
            </a:pPr>
            <a:r>
              <a:rPr lang="en-US" b="1" dirty="0"/>
              <a:t>Consequences</a:t>
            </a:r>
            <a:r>
              <a:rPr lang="en-US" dirty="0"/>
              <a:t>:</a:t>
            </a:r>
          </a:p>
          <a:p>
            <a:pPr marL="514350" indent="-514350">
              <a:buFont typeface="+mj-lt"/>
              <a:buAutoNum type="arabicPeriod"/>
            </a:pPr>
            <a:r>
              <a:rPr lang="en-US" dirty="0"/>
              <a:t>The agent needs to keep track of all the states it could be in. </a:t>
            </a:r>
            <a:br>
              <a:rPr lang="en-US" dirty="0"/>
            </a:br>
            <a:r>
              <a:rPr lang="en-US" dirty="0"/>
              <a:t>This set is called a </a:t>
            </a:r>
            <a:r>
              <a:rPr lang="en-US" b="1" i="1" dirty="0">
                <a:solidFill>
                  <a:srgbClr val="FF0000"/>
                </a:solidFill>
              </a:rPr>
              <a:t>belief state.</a:t>
            </a:r>
            <a:br>
              <a:rPr lang="en-US" b="1" i="1" dirty="0">
                <a:solidFill>
                  <a:srgbClr val="FF0000"/>
                </a:solidFill>
              </a:rPr>
            </a:br>
            <a:endParaRPr lang="en-US" dirty="0"/>
          </a:p>
          <a:p>
            <a:pPr marL="514350" indent="-514350">
              <a:buFont typeface="+mj-lt"/>
              <a:buAutoNum type="arabicPeriod"/>
            </a:pPr>
            <a:r>
              <a:rPr lang="en-US" dirty="0"/>
              <a:t>A fixed precomputed plan (sequence of actions) does not work for stochastic transition functions, but a </a:t>
            </a:r>
            <a:br>
              <a:rPr lang="en-US" dirty="0"/>
            </a:br>
            <a:br>
              <a:rPr lang="en-US" dirty="0"/>
            </a:br>
            <a:r>
              <a:rPr lang="en-US" dirty="0"/>
              <a:t>  </a:t>
            </a:r>
            <a:r>
              <a:rPr lang="en-US" b="1" i="1" dirty="0">
                <a:solidFill>
                  <a:srgbClr val="FF0000"/>
                </a:solidFill>
              </a:rPr>
              <a:t>conditional plan (also called strategy or policy) </a:t>
            </a:r>
            <a:br>
              <a:rPr lang="en-US" b="1" i="1" dirty="0">
                <a:solidFill>
                  <a:srgbClr val="FF0000"/>
                </a:solidFill>
              </a:rPr>
            </a:br>
            <a:br>
              <a:rPr lang="en-US" b="1" i="1" dirty="0">
                <a:solidFill>
                  <a:srgbClr val="FF0000"/>
                </a:solidFill>
              </a:rPr>
            </a:br>
            <a:r>
              <a:rPr lang="en-US" dirty="0"/>
              <a:t>that depends on percepts is needed.</a:t>
            </a:r>
          </a:p>
        </p:txBody>
      </p:sp>
    </p:spTree>
    <p:extLst>
      <p:ext uri="{BB962C8B-B14F-4D97-AF65-F5344CB8AC3E}">
        <p14:creationId xmlns:p14="http://schemas.microsoft.com/office/powerpoint/2010/main" val="1068800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8575C10-8187-4AC4-AD72-C754EAFD2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9156C93-B2A1-45A3-BEB7-2B12E7E04323}"/>
              </a:ext>
            </a:extLst>
          </p:cNvPr>
          <p:cNvSpPr>
            <a:spLocks noGrp="1"/>
          </p:cNvSpPr>
          <p:nvPr>
            <p:ph type="title"/>
          </p:nvPr>
        </p:nvSpPr>
        <p:spPr>
          <a:xfrm>
            <a:off x="381000" y="559678"/>
            <a:ext cx="2866436" cy="4952492"/>
          </a:xfrm>
        </p:spPr>
        <p:txBody>
          <a:bodyPr>
            <a:normAutofit/>
          </a:bodyPr>
          <a:lstStyle/>
          <a:p>
            <a:r>
              <a:rPr lang="en-US" sz="2800" b="1" dirty="0">
                <a:solidFill>
                  <a:schemeClr val="bg1"/>
                </a:solidFill>
              </a:rPr>
              <a:t>Types of uncertainty in the environment*</a:t>
            </a:r>
          </a:p>
        </p:txBody>
      </p:sp>
      <p:cxnSp>
        <p:nvCxnSpPr>
          <p:cNvPr id="11" name="Straight Connector 10">
            <a:extLst>
              <a:ext uri="{FF2B5EF4-FFF2-40B4-BE49-F238E27FC236}">
                <a16:creationId xmlns:a16="http://schemas.microsoft.com/office/drawing/2014/main" id="{74E776C9-ED67-41B7-B3A3-4DF76EF3AC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99730"/>
            <a:ext cx="322326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46352614-AA4A-9035-2670-F36466641095}"/>
              </a:ext>
            </a:extLst>
          </p:cNvPr>
          <p:cNvGrpSpPr/>
          <p:nvPr/>
        </p:nvGrpSpPr>
        <p:grpSpPr>
          <a:xfrm>
            <a:off x="3886200" y="570672"/>
            <a:ext cx="4686300" cy="1189803"/>
            <a:chOff x="3886200" y="570672"/>
            <a:chExt cx="4686300" cy="1189803"/>
          </a:xfrm>
        </p:grpSpPr>
        <p:sp>
          <p:nvSpPr>
            <p:cNvPr id="6" name="Rectangle: Rounded Corners 5">
              <a:extLst>
                <a:ext uri="{FF2B5EF4-FFF2-40B4-BE49-F238E27FC236}">
                  <a16:creationId xmlns:a16="http://schemas.microsoft.com/office/drawing/2014/main" id="{293D5586-6D61-E844-FA42-693EF4226E22}"/>
                </a:ext>
              </a:extLst>
            </p:cNvPr>
            <p:cNvSpPr/>
            <p:nvPr/>
          </p:nvSpPr>
          <p:spPr>
            <a:xfrm>
              <a:off x="3886200" y="570672"/>
              <a:ext cx="4686300" cy="1189803"/>
            </a:xfrm>
            <a:prstGeom prst="roundRect">
              <a:avLst>
                <a:gd name="adj" fmla="val 1000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7" name="Rectangle 6" descr="Dice">
              <a:extLst>
                <a:ext uri="{FF2B5EF4-FFF2-40B4-BE49-F238E27FC236}">
                  <a16:creationId xmlns:a16="http://schemas.microsoft.com/office/drawing/2014/main" id="{E722BED4-274C-C526-6BD4-B1988EA30ACF}"/>
                </a:ext>
              </a:extLst>
            </p:cNvPr>
            <p:cNvSpPr/>
            <p:nvPr/>
          </p:nvSpPr>
          <p:spPr>
            <a:xfrm>
              <a:off x="4246115" y="838378"/>
              <a:ext cx="654392" cy="654392"/>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8" name="Freeform: Shape 7">
              <a:extLst>
                <a:ext uri="{FF2B5EF4-FFF2-40B4-BE49-F238E27FC236}">
                  <a16:creationId xmlns:a16="http://schemas.microsoft.com/office/drawing/2014/main" id="{3172B548-C476-5BB7-BE67-97CF2FE7732A}"/>
                </a:ext>
              </a:extLst>
            </p:cNvPr>
            <p:cNvSpPr/>
            <p:nvPr/>
          </p:nvSpPr>
          <p:spPr>
            <a:xfrm>
              <a:off x="5260423" y="570672"/>
              <a:ext cx="3312076" cy="1189803"/>
            </a:xfrm>
            <a:custGeom>
              <a:avLst/>
              <a:gdLst>
                <a:gd name="connsiteX0" fmla="*/ 0 w 3312076"/>
                <a:gd name="connsiteY0" fmla="*/ 0 h 1189803"/>
                <a:gd name="connsiteX1" fmla="*/ 3312076 w 3312076"/>
                <a:gd name="connsiteY1" fmla="*/ 0 h 1189803"/>
                <a:gd name="connsiteX2" fmla="*/ 3312076 w 3312076"/>
                <a:gd name="connsiteY2" fmla="*/ 1189803 h 1189803"/>
                <a:gd name="connsiteX3" fmla="*/ 0 w 3312076"/>
                <a:gd name="connsiteY3" fmla="*/ 1189803 h 1189803"/>
                <a:gd name="connsiteX4" fmla="*/ 0 w 3312076"/>
                <a:gd name="connsiteY4" fmla="*/ 0 h 1189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2076" h="1189803">
                  <a:moveTo>
                    <a:pt x="0" y="0"/>
                  </a:moveTo>
                  <a:lnTo>
                    <a:pt x="3312076" y="0"/>
                  </a:lnTo>
                  <a:lnTo>
                    <a:pt x="3312076" y="1189803"/>
                  </a:lnTo>
                  <a:lnTo>
                    <a:pt x="0" y="11898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bg1">
                <a:hueOff val="0"/>
                <a:satOff val="0"/>
                <a:lumOff val="0"/>
                <a:alphaOff val="0"/>
              </a:schemeClr>
            </a:fontRef>
          </p:style>
          <p:txBody>
            <a:bodyPr spcFirstLastPara="0" vert="horz" wrap="square" lIns="125921" tIns="125921" rIns="125921" bIns="125921" numCol="1" spcCol="1270" anchor="ctr" anchorCtr="0">
              <a:noAutofit/>
            </a:bodyPr>
            <a:lstStyle/>
            <a:p>
              <a:pPr marL="0" lvl="0" indent="0" algn="l" defTabSz="711200">
                <a:lnSpc>
                  <a:spcPct val="90000"/>
                </a:lnSpc>
                <a:spcBef>
                  <a:spcPct val="0"/>
                </a:spcBef>
                <a:spcAft>
                  <a:spcPct val="35000"/>
                </a:spcAft>
                <a:buNone/>
              </a:pPr>
              <a:r>
                <a:rPr lang="en-US" sz="1600" b="1" kern="1200" dirty="0"/>
                <a:t>Nondeterministic Actions</a:t>
              </a:r>
              <a:r>
                <a:rPr lang="en-US" sz="1600" kern="1200" dirty="0"/>
                <a:t>:</a:t>
              </a:r>
              <a:br>
                <a:rPr lang="en-US" sz="1600" kern="1200" dirty="0"/>
              </a:br>
              <a:r>
                <a:rPr lang="en-US" sz="1600" kern="1200" dirty="0"/>
                <a:t>Outcome of an action in a state is uncertain.</a:t>
              </a:r>
            </a:p>
          </p:txBody>
        </p:sp>
      </p:grpSp>
      <p:grpSp>
        <p:nvGrpSpPr>
          <p:cNvPr id="21" name="Group 20">
            <a:extLst>
              <a:ext uri="{FF2B5EF4-FFF2-40B4-BE49-F238E27FC236}">
                <a16:creationId xmlns:a16="http://schemas.microsoft.com/office/drawing/2014/main" id="{5A2CB808-4923-C6A5-18F2-69A554F3BF57}"/>
              </a:ext>
            </a:extLst>
          </p:cNvPr>
          <p:cNvGrpSpPr/>
          <p:nvPr/>
        </p:nvGrpSpPr>
        <p:grpSpPr>
          <a:xfrm>
            <a:off x="3886200" y="2057927"/>
            <a:ext cx="4686300" cy="1189803"/>
            <a:chOff x="3886200" y="2057927"/>
            <a:chExt cx="4686300" cy="1189803"/>
          </a:xfrm>
        </p:grpSpPr>
        <p:sp>
          <p:nvSpPr>
            <p:cNvPr id="10" name="Rectangle: Rounded Corners 9">
              <a:extLst>
                <a:ext uri="{FF2B5EF4-FFF2-40B4-BE49-F238E27FC236}">
                  <a16:creationId xmlns:a16="http://schemas.microsoft.com/office/drawing/2014/main" id="{861C36B9-3906-56C5-ECDE-6B4F42DD8BB4}"/>
                </a:ext>
              </a:extLst>
            </p:cNvPr>
            <p:cNvSpPr/>
            <p:nvPr/>
          </p:nvSpPr>
          <p:spPr>
            <a:xfrm>
              <a:off x="3886200" y="2057927"/>
              <a:ext cx="4686300" cy="1189803"/>
            </a:xfrm>
            <a:prstGeom prst="roundRect">
              <a:avLst>
                <a:gd name="adj" fmla="val 1000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12" name="Rectangle 11" descr="Blind">
              <a:extLst>
                <a:ext uri="{FF2B5EF4-FFF2-40B4-BE49-F238E27FC236}">
                  <a16:creationId xmlns:a16="http://schemas.microsoft.com/office/drawing/2014/main" id="{0DE7C908-4942-4D93-714D-5C86613733A3}"/>
                </a:ext>
              </a:extLst>
            </p:cNvPr>
            <p:cNvSpPr/>
            <p:nvPr/>
          </p:nvSpPr>
          <p:spPr>
            <a:xfrm>
              <a:off x="4246115" y="2325633"/>
              <a:ext cx="654392" cy="654392"/>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3" name="Freeform: Shape 12">
              <a:extLst>
                <a:ext uri="{FF2B5EF4-FFF2-40B4-BE49-F238E27FC236}">
                  <a16:creationId xmlns:a16="http://schemas.microsoft.com/office/drawing/2014/main" id="{F6EECA26-2B36-0076-A16A-94BF0FA1CD1E}"/>
                </a:ext>
              </a:extLst>
            </p:cNvPr>
            <p:cNvSpPr/>
            <p:nvPr/>
          </p:nvSpPr>
          <p:spPr>
            <a:xfrm>
              <a:off x="5260423" y="2057927"/>
              <a:ext cx="3312076" cy="1189803"/>
            </a:xfrm>
            <a:custGeom>
              <a:avLst/>
              <a:gdLst>
                <a:gd name="connsiteX0" fmla="*/ 0 w 3312076"/>
                <a:gd name="connsiteY0" fmla="*/ 0 h 1189803"/>
                <a:gd name="connsiteX1" fmla="*/ 3312076 w 3312076"/>
                <a:gd name="connsiteY1" fmla="*/ 0 h 1189803"/>
                <a:gd name="connsiteX2" fmla="*/ 3312076 w 3312076"/>
                <a:gd name="connsiteY2" fmla="*/ 1189803 h 1189803"/>
                <a:gd name="connsiteX3" fmla="*/ 0 w 3312076"/>
                <a:gd name="connsiteY3" fmla="*/ 1189803 h 1189803"/>
                <a:gd name="connsiteX4" fmla="*/ 0 w 3312076"/>
                <a:gd name="connsiteY4" fmla="*/ 0 h 1189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2076" h="1189803">
                  <a:moveTo>
                    <a:pt x="0" y="0"/>
                  </a:moveTo>
                  <a:lnTo>
                    <a:pt x="3312076" y="0"/>
                  </a:lnTo>
                  <a:lnTo>
                    <a:pt x="3312076" y="1189803"/>
                  </a:lnTo>
                  <a:lnTo>
                    <a:pt x="0" y="11898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bg1">
                <a:hueOff val="0"/>
                <a:satOff val="0"/>
                <a:lumOff val="0"/>
                <a:alphaOff val="0"/>
              </a:schemeClr>
            </a:fontRef>
          </p:style>
          <p:txBody>
            <a:bodyPr spcFirstLastPara="0" vert="horz" wrap="square" lIns="125921" tIns="125921" rIns="125921" bIns="125921" numCol="1" spcCol="1270" anchor="ctr" anchorCtr="0">
              <a:noAutofit/>
            </a:bodyPr>
            <a:lstStyle/>
            <a:p>
              <a:pPr marL="0" lvl="0" indent="0" algn="l" defTabSz="711200">
                <a:lnSpc>
                  <a:spcPct val="90000"/>
                </a:lnSpc>
                <a:spcBef>
                  <a:spcPct val="0"/>
                </a:spcBef>
                <a:spcAft>
                  <a:spcPct val="35000"/>
                </a:spcAft>
                <a:buNone/>
              </a:pPr>
              <a:r>
                <a:rPr lang="en-US" sz="1600" b="1" kern="1200" dirty="0"/>
                <a:t>No observations</a:t>
              </a:r>
              <a:r>
                <a:rPr lang="en-US" sz="1600" kern="1200" dirty="0"/>
                <a:t>: </a:t>
              </a:r>
              <a:br>
                <a:rPr lang="en-US" sz="1600" kern="1200" dirty="0"/>
              </a:br>
              <a:r>
                <a:rPr lang="en-US" sz="1600" kern="1200" dirty="0" err="1"/>
                <a:t>Sensorless</a:t>
              </a:r>
              <a:r>
                <a:rPr lang="en-US" sz="1600" kern="1200" dirty="0"/>
                <a:t> problems.</a:t>
              </a:r>
            </a:p>
          </p:txBody>
        </p:sp>
      </p:grpSp>
      <p:grpSp>
        <p:nvGrpSpPr>
          <p:cNvPr id="22" name="Group 21">
            <a:extLst>
              <a:ext uri="{FF2B5EF4-FFF2-40B4-BE49-F238E27FC236}">
                <a16:creationId xmlns:a16="http://schemas.microsoft.com/office/drawing/2014/main" id="{432BDB28-BDE9-6D2C-5EA8-A7DF843551B3}"/>
              </a:ext>
            </a:extLst>
          </p:cNvPr>
          <p:cNvGrpSpPr/>
          <p:nvPr/>
        </p:nvGrpSpPr>
        <p:grpSpPr>
          <a:xfrm>
            <a:off x="3886200" y="3545181"/>
            <a:ext cx="4686300" cy="1189803"/>
            <a:chOff x="3886200" y="3545181"/>
            <a:chExt cx="4686300" cy="1189803"/>
          </a:xfrm>
        </p:grpSpPr>
        <p:sp>
          <p:nvSpPr>
            <p:cNvPr id="14" name="Rectangle: Rounded Corners 13">
              <a:extLst>
                <a:ext uri="{FF2B5EF4-FFF2-40B4-BE49-F238E27FC236}">
                  <a16:creationId xmlns:a16="http://schemas.microsoft.com/office/drawing/2014/main" id="{2EAAA909-EC4A-D980-EAC0-467F6BE57D75}"/>
                </a:ext>
              </a:extLst>
            </p:cNvPr>
            <p:cNvSpPr/>
            <p:nvPr/>
          </p:nvSpPr>
          <p:spPr>
            <a:xfrm>
              <a:off x="3886200" y="3545181"/>
              <a:ext cx="4686300" cy="1189803"/>
            </a:xfrm>
            <a:prstGeom prst="roundRect">
              <a:avLst>
                <a:gd name="adj" fmla="val 1000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15" name="Rectangle 14" descr="Microscope">
              <a:extLst>
                <a:ext uri="{FF2B5EF4-FFF2-40B4-BE49-F238E27FC236}">
                  <a16:creationId xmlns:a16="http://schemas.microsoft.com/office/drawing/2014/main" id="{6478EB25-EC46-B2A7-CE16-2AA4BDA76611}"/>
                </a:ext>
              </a:extLst>
            </p:cNvPr>
            <p:cNvSpPr/>
            <p:nvPr/>
          </p:nvSpPr>
          <p:spPr>
            <a:xfrm>
              <a:off x="4246115" y="3812887"/>
              <a:ext cx="654392" cy="654392"/>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6" name="Freeform: Shape 15">
              <a:extLst>
                <a:ext uri="{FF2B5EF4-FFF2-40B4-BE49-F238E27FC236}">
                  <a16:creationId xmlns:a16="http://schemas.microsoft.com/office/drawing/2014/main" id="{AF361779-450D-22D8-6419-58964B50BFA1}"/>
                </a:ext>
              </a:extLst>
            </p:cNvPr>
            <p:cNvSpPr/>
            <p:nvPr/>
          </p:nvSpPr>
          <p:spPr>
            <a:xfrm>
              <a:off x="5260423" y="3545181"/>
              <a:ext cx="3312076" cy="1189803"/>
            </a:xfrm>
            <a:custGeom>
              <a:avLst/>
              <a:gdLst>
                <a:gd name="connsiteX0" fmla="*/ 0 w 3312076"/>
                <a:gd name="connsiteY0" fmla="*/ 0 h 1189803"/>
                <a:gd name="connsiteX1" fmla="*/ 3312076 w 3312076"/>
                <a:gd name="connsiteY1" fmla="*/ 0 h 1189803"/>
                <a:gd name="connsiteX2" fmla="*/ 3312076 w 3312076"/>
                <a:gd name="connsiteY2" fmla="*/ 1189803 h 1189803"/>
                <a:gd name="connsiteX3" fmla="*/ 0 w 3312076"/>
                <a:gd name="connsiteY3" fmla="*/ 1189803 h 1189803"/>
                <a:gd name="connsiteX4" fmla="*/ 0 w 3312076"/>
                <a:gd name="connsiteY4" fmla="*/ 0 h 1189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2076" h="1189803">
                  <a:moveTo>
                    <a:pt x="0" y="0"/>
                  </a:moveTo>
                  <a:lnTo>
                    <a:pt x="3312076" y="0"/>
                  </a:lnTo>
                  <a:lnTo>
                    <a:pt x="3312076" y="1189803"/>
                  </a:lnTo>
                  <a:lnTo>
                    <a:pt x="0" y="11898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bg1">
                <a:hueOff val="0"/>
                <a:satOff val="0"/>
                <a:lumOff val="0"/>
                <a:alphaOff val="0"/>
              </a:schemeClr>
            </a:fontRef>
          </p:style>
          <p:txBody>
            <a:bodyPr spcFirstLastPara="0" vert="horz" wrap="square" lIns="125921" tIns="125921" rIns="125921" bIns="125921" numCol="1" spcCol="1270" anchor="ctr" anchorCtr="0">
              <a:noAutofit/>
            </a:bodyPr>
            <a:lstStyle/>
            <a:p>
              <a:pPr marL="0" lvl="0" indent="0" algn="l" defTabSz="711200">
                <a:lnSpc>
                  <a:spcPct val="90000"/>
                </a:lnSpc>
                <a:spcBef>
                  <a:spcPct val="0"/>
                </a:spcBef>
                <a:spcAft>
                  <a:spcPct val="35000"/>
                </a:spcAft>
                <a:buNone/>
              </a:pPr>
              <a:r>
                <a:rPr lang="en-US" sz="1600" b="1" kern="1200" dirty="0"/>
                <a:t>Partially observable environments</a:t>
              </a:r>
              <a:r>
                <a:rPr lang="en-US" sz="1600" kern="1200" dirty="0"/>
                <a:t>: </a:t>
              </a:r>
              <a:br>
                <a:rPr lang="en-US" sz="1600" kern="1200" dirty="0"/>
              </a:br>
              <a:r>
                <a:rPr lang="en-US" sz="1600" kern="1200" dirty="0"/>
                <a:t>The agent cannot directly observe the state of the environment.</a:t>
              </a:r>
            </a:p>
          </p:txBody>
        </p:sp>
      </p:grpSp>
      <p:grpSp>
        <p:nvGrpSpPr>
          <p:cNvPr id="23" name="Group 22">
            <a:extLst>
              <a:ext uri="{FF2B5EF4-FFF2-40B4-BE49-F238E27FC236}">
                <a16:creationId xmlns:a16="http://schemas.microsoft.com/office/drawing/2014/main" id="{7078B90B-CA46-4C20-C76C-6848948946A4}"/>
              </a:ext>
            </a:extLst>
          </p:cNvPr>
          <p:cNvGrpSpPr/>
          <p:nvPr/>
        </p:nvGrpSpPr>
        <p:grpSpPr>
          <a:xfrm>
            <a:off x="3886200" y="5032436"/>
            <a:ext cx="4686300" cy="1189803"/>
            <a:chOff x="3886200" y="5032436"/>
            <a:chExt cx="4686300" cy="1189803"/>
          </a:xfrm>
        </p:grpSpPr>
        <p:sp>
          <p:nvSpPr>
            <p:cNvPr id="17" name="Rectangle: Rounded Corners 16">
              <a:extLst>
                <a:ext uri="{FF2B5EF4-FFF2-40B4-BE49-F238E27FC236}">
                  <a16:creationId xmlns:a16="http://schemas.microsoft.com/office/drawing/2014/main" id="{ACB194B4-4843-44E6-367B-F6010A3D40BB}"/>
                </a:ext>
              </a:extLst>
            </p:cNvPr>
            <p:cNvSpPr/>
            <p:nvPr/>
          </p:nvSpPr>
          <p:spPr>
            <a:xfrm>
              <a:off x="3886200" y="5032436"/>
              <a:ext cx="4686300" cy="1189803"/>
            </a:xfrm>
            <a:prstGeom prst="roundRect">
              <a:avLst>
                <a:gd name="adj" fmla="val 10000"/>
              </a:avLst>
            </a:prstGeom>
          </p:spPr>
          <p:style>
            <a:lnRef idx="0">
              <a:schemeClr val="lt1">
                <a:alpha val="0"/>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p:style>
          <p:txBody>
            <a:bodyPr/>
            <a:lstStyle/>
            <a:p>
              <a:endParaRPr lang="en-US"/>
            </a:p>
          </p:txBody>
        </p:sp>
        <p:sp>
          <p:nvSpPr>
            <p:cNvPr id="18" name="Rectangle 17" descr="Help">
              <a:extLst>
                <a:ext uri="{FF2B5EF4-FFF2-40B4-BE49-F238E27FC236}">
                  <a16:creationId xmlns:a16="http://schemas.microsoft.com/office/drawing/2014/main" id="{8639D950-4D11-A026-FF0A-EC1889FD83A8}"/>
                </a:ext>
              </a:extLst>
            </p:cNvPr>
            <p:cNvSpPr/>
            <p:nvPr/>
          </p:nvSpPr>
          <p:spPr>
            <a:xfrm>
              <a:off x="4246115" y="5300142"/>
              <a:ext cx="654392" cy="654392"/>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9" name="Freeform: Shape 18">
              <a:extLst>
                <a:ext uri="{FF2B5EF4-FFF2-40B4-BE49-F238E27FC236}">
                  <a16:creationId xmlns:a16="http://schemas.microsoft.com/office/drawing/2014/main" id="{88AF98B3-46D1-CB92-1634-1DEB49CD76E0}"/>
                </a:ext>
              </a:extLst>
            </p:cNvPr>
            <p:cNvSpPr/>
            <p:nvPr/>
          </p:nvSpPr>
          <p:spPr>
            <a:xfrm>
              <a:off x="5260423" y="5032436"/>
              <a:ext cx="3312076" cy="1189803"/>
            </a:xfrm>
            <a:custGeom>
              <a:avLst/>
              <a:gdLst>
                <a:gd name="connsiteX0" fmla="*/ 0 w 3312076"/>
                <a:gd name="connsiteY0" fmla="*/ 0 h 1189803"/>
                <a:gd name="connsiteX1" fmla="*/ 3312076 w 3312076"/>
                <a:gd name="connsiteY1" fmla="*/ 0 h 1189803"/>
                <a:gd name="connsiteX2" fmla="*/ 3312076 w 3312076"/>
                <a:gd name="connsiteY2" fmla="*/ 1189803 h 1189803"/>
                <a:gd name="connsiteX3" fmla="*/ 0 w 3312076"/>
                <a:gd name="connsiteY3" fmla="*/ 1189803 h 1189803"/>
                <a:gd name="connsiteX4" fmla="*/ 0 w 3312076"/>
                <a:gd name="connsiteY4" fmla="*/ 0 h 1189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2076" h="1189803">
                  <a:moveTo>
                    <a:pt x="0" y="0"/>
                  </a:moveTo>
                  <a:lnTo>
                    <a:pt x="3312076" y="0"/>
                  </a:lnTo>
                  <a:lnTo>
                    <a:pt x="3312076" y="1189803"/>
                  </a:lnTo>
                  <a:lnTo>
                    <a:pt x="0" y="11898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bg1">
                <a:hueOff val="0"/>
                <a:satOff val="0"/>
                <a:lumOff val="0"/>
                <a:alphaOff val="0"/>
              </a:schemeClr>
            </a:fontRef>
          </p:style>
          <p:txBody>
            <a:bodyPr spcFirstLastPara="0" vert="horz" wrap="square" lIns="125921" tIns="125921" rIns="125921" bIns="125921" numCol="1" spcCol="1270" anchor="ctr" anchorCtr="0">
              <a:noAutofit/>
            </a:bodyPr>
            <a:lstStyle/>
            <a:p>
              <a:pPr marL="0" lvl="0" indent="0" algn="l" defTabSz="711200">
                <a:lnSpc>
                  <a:spcPct val="90000"/>
                </a:lnSpc>
                <a:spcBef>
                  <a:spcPct val="0"/>
                </a:spcBef>
                <a:spcAft>
                  <a:spcPct val="35000"/>
                </a:spcAft>
                <a:buNone/>
              </a:pPr>
              <a:r>
                <a:rPr lang="en-US" sz="1600" b="1" kern="1200" dirty="0"/>
                <a:t>Exploration:</a:t>
              </a:r>
              <a:br>
                <a:rPr lang="en-US" sz="1600" b="1" kern="1200" dirty="0"/>
              </a:br>
              <a:r>
                <a:rPr lang="en-US" sz="1600" b="0" kern="1200" dirty="0"/>
                <a:t>Unknown environments and </a:t>
              </a:r>
              <a:br>
                <a:rPr lang="en-US" sz="1600" b="0" kern="1200" dirty="0"/>
              </a:br>
              <a:r>
                <a:rPr lang="en-US" sz="1600" b="0" kern="1200" dirty="0"/>
                <a:t>online search.</a:t>
              </a:r>
            </a:p>
          </p:txBody>
        </p:sp>
      </p:grpSp>
      <p:sp>
        <p:nvSpPr>
          <p:cNvPr id="3" name="Rectangle 2">
            <a:extLst>
              <a:ext uri="{FF2B5EF4-FFF2-40B4-BE49-F238E27FC236}">
                <a16:creationId xmlns:a16="http://schemas.microsoft.com/office/drawing/2014/main" id="{F805E52B-A609-41F5-A7CB-87B18EBB6365}"/>
              </a:ext>
            </a:extLst>
          </p:cNvPr>
          <p:cNvSpPr/>
          <p:nvPr/>
        </p:nvSpPr>
        <p:spPr>
          <a:xfrm>
            <a:off x="152400" y="6199730"/>
            <a:ext cx="3070860" cy="584775"/>
          </a:xfrm>
          <a:prstGeom prst="rect">
            <a:avLst/>
          </a:prstGeom>
        </p:spPr>
        <p:txBody>
          <a:bodyPr wrap="square">
            <a:spAutoFit/>
          </a:bodyPr>
          <a:lstStyle/>
          <a:p>
            <a:pPr algn="ctr"/>
            <a:r>
              <a:rPr lang="en-US" sz="1600" dirty="0">
                <a:solidFill>
                  <a:schemeClr val="bg2">
                    <a:lumMod val="75000"/>
                  </a:schemeClr>
                </a:solidFill>
              </a:rPr>
              <a:t>* we will quantify uncertainty with probabilities later.</a:t>
            </a:r>
          </a:p>
        </p:txBody>
      </p:sp>
    </p:spTree>
    <p:extLst>
      <p:ext uri="{BB962C8B-B14F-4D97-AF65-F5344CB8AC3E}">
        <p14:creationId xmlns:p14="http://schemas.microsoft.com/office/powerpoint/2010/main" val="1960152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6A12E9B-5CBD-48F0-BA61-5D4D6B7267D8}"/>
              </a:ext>
              <a:ext uri="{C183D7F6-B498-43B3-948B-1728B52AA6E4}">
                <adec:decorative xmlns:adec="http://schemas.microsoft.com/office/drawing/2017/decorative" val="1"/>
              </a:ext>
            </a:extLst>
          </p:cNvPr>
          <p:cNvPicPr>
            <a:picLocks noChangeAspect="1"/>
          </p:cNvPicPr>
          <p:nvPr/>
        </p:nvPicPr>
        <p:blipFill rotWithShape="1">
          <a:blip r:embed="rId2"/>
          <a:srcRect t="9091" r="19091"/>
          <a:stretch>
            <a:fillRect/>
          </a:stretch>
        </p:blipFill>
        <p:spPr>
          <a:xfrm>
            <a:off x="20" y="10"/>
            <a:ext cx="9143980" cy="6857990"/>
          </a:xfrm>
          <a:prstGeom prst="rect">
            <a:avLst/>
          </a:prstGeom>
        </p:spPr>
      </p:pic>
      <p:sp>
        <p:nvSpPr>
          <p:cNvPr id="20" name="Rectangle 19">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5" y="-511"/>
            <a:ext cx="4592270" cy="9144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525CBB57-E577-49C1-AF52-D54F6362FB47}"/>
              </a:ext>
            </a:extLst>
          </p:cNvPr>
          <p:cNvSpPr>
            <a:spLocks noGrp="1"/>
          </p:cNvSpPr>
          <p:nvPr>
            <p:ph type="title"/>
          </p:nvPr>
        </p:nvSpPr>
        <p:spPr>
          <a:xfrm>
            <a:off x="303414" y="3091928"/>
            <a:ext cx="6808922" cy="2387600"/>
          </a:xfrm>
        </p:spPr>
        <p:txBody>
          <a:bodyPr vert="horz" lIns="91440" tIns="45720" rIns="91440" bIns="45720" rtlCol="0" anchor="b">
            <a:normAutofit/>
          </a:bodyPr>
          <a:lstStyle/>
          <a:p>
            <a:r>
              <a:rPr lang="en-US" sz="5700" b="1">
                <a:solidFill>
                  <a:schemeClr val="bg1"/>
                </a:solidFill>
                <a:effectLst>
                  <a:outerShdw blurRad="38100" dist="38100" dir="2700000" algn="tl">
                    <a:srgbClr val="000000">
                      <a:alpha val="43137"/>
                    </a:srgbClr>
                  </a:outerShdw>
                </a:effectLst>
              </a:rPr>
              <a:t>Nondeterministic Actions</a:t>
            </a:r>
          </a:p>
        </p:txBody>
      </p:sp>
      <p:sp>
        <p:nvSpPr>
          <p:cNvPr id="22" name="Rectangle: Rounded Corners 21">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2079998C-7107-469E-AFD1-868BB8491702}"/>
              </a:ext>
            </a:extLst>
          </p:cNvPr>
          <p:cNvSpPr>
            <a:spLocks noGrp="1"/>
          </p:cNvSpPr>
          <p:nvPr>
            <p:ph type="body" idx="1"/>
          </p:nvPr>
        </p:nvSpPr>
        <p:spPr>
          <a:xfrm>
            <a:off x="303414" y="5624945"/>
            <a:ext cx="6808922" cy="592975"/>
          </a:xfrm>
        </p:spPr>
        <p:txBody>
          <a:bodyPr vert="horz" lIns="91440" tIns="45720" rIns="91440" bIns="45720" rtlCol="0" anchor="ctr">
            <a:normAutofit/>
          </a:bodyPr>
          <a:lstStyle/>
          <a:p>
            <a:r>
              <a:rPr lang="en-US" dirty="0">
                <a:solidFill>
                  <a:schemeClr val="bg1"/>
                </a:solidFill>
              </a:rPr>
              <a:t>Stochastic Environment (Stochastic Transition Model)</a:t>
            </a:r>
          </a:p>
        </p:txBody>
      </p:sp>
    </p:spTree>
    <p:extLst>
      <p:ext uri="{BB962C8B-B14F-4D97-AF65-F5344CB8AC3E}">
        <p14:creationId xmlns:p14="http://schemas.microsoft.com/office/powerpoint/2010/main" val="4210312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B004D9-BB78-4C90-99E9-26B51D24751A}"/>
              </a:ext>
            </a:extLst>
          </p:cNvPr>
          <p:cNvSpPr>
            <a:spLocks noGrp="1"/>
          </p:cNvSpPr>
          <p:nvPr>
            <p:ph type="title"/>
          </p:nvPr>
        </p:nvSpPr>
        <p:spPr/>
        <p:txBody>
          <a:bodyPr>
            <a:normAutofit/>
          </a:bodyPr>
          <a:lstStyle/>
          <a:p>
            <a:r>
              <a:rPr lang="en-US" sz="4000" dirty="0"/>
              <a:t>Definition: Nondeterministic Actions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98A81B8-EC8C-4D15-A4D6-463770E10AC9}"/>
                  </a:ext>
                </a:extLst>
              </p:cNvPr>
              <p:cNvSpPr>
                <a:spLocks noGrp="1"/>
              </p:cNvSpPr>
              <p:nvPr>
                <p:ph idx="1"/>
              </p:nvPr>
            </p:nvSpPr>
            <p:spPr/>
            <p:txBody>
              <a:bodyPr>
                <a:normAutofit/>
              </a:bodyPr>
              <a:lstStyle/>
              <a:p>
                <a:pPr marL="0" indent="0">
                  <a:buNone/>
                </a:pPr>
                <a:r>
                  <a:rPr lang="en-US" dirty="0"/>
                  <a:t>The outcome of actions in the environment is nondeterministic = the </a:t>
                </a:r>
                <a:r>
                  <a:rPr lang="en-US" b="1" dirty="0">
                    <a:solidFill>
                      <a:srgbClr val="FF0000"/>
                    </a:solidFill>
                  </a:rPr>
                  <a:t>transition model needs to describe uncertainty.</a:t>
                </a:r>
              </a:p>
              <a:p>
                <a:pPr marL="0" indent="0">
                  <a:buNone/>
                </a:pPr>
                <a:endParaRPr lang="en-US" dirty="0"/>
              </a:p>
              <a:p>
                <a:pPr marL="0" indent="0">
                  <a:buNone/>
                </a:pPr>
                <a:r>
                  <a:rPr lang="en-US" dirty="0"/>
                  <a:t>Example transition: </a:t>
                </a:r>
                <a:br>
                  <a:rPr lang="en-US" b="0" i="1" dirty="0">
                    <a:latin typeface="Cambria Math" panose="02040503050406030204" pitchFamily="18" charset="0"/>
                  </a:rPr>
                </a:br>
                <a:br>
                  <a:rPr lang="en-US" b="0" i="1" dirty="0">
                    <a:latin typeface="Cambria Math" panose="02040503050406030204" pitchFamily="18" charset="0"/>
                  </a:rPr>
                </a:br>
                <a:r>
                  <a:rPr lang="en-US" b="0" i="1" dirty="0">
                    <a:latin typeface="Cambria Math" panose="02040503050406030204" pitchFamily="18" charset="0"/>
                  </a:rPr>
                  <a:t>		</a:t>
                </a:r>
                <a14:m>
                  <m:oMath xmlns:m="http://schemas.openxmlformats.org/officeDocument/2006/math">
                    <m:r>
                      <a:rPr lang="en-US" b="0" i="1" smtClean="0">
                        <a:latin typeface="Cambria Math" panose="02040503050406030204" pitchFamily="18" charset="0"/>
                      </a:rPr>
                      <m:t>𝑅𝑒𝑠𝑢𝑙𝑡𝑠</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5</m:t>
                            </m:r>
                          </m:sub>
                        </m:sSub>
                      </m:e>
                    </m:d>
                  </m:oMath>
                </a14:m>
                <a:r>
                  <a:rPr lang="en-US" dirty="0"/>
                  <a:t> </a:t>
                </a:r>
                <a:br>
                  <a:rPr lang="en-US" dirty="0"/>
                </a:br>
                <a:br>
                  <a:rPr lang="en-US" dirty="0"/>
                </a:br>
                <a:r>
                  <a:rPr lang="en-US" dirty="0"/>
                  <a:t>i.e., action </a:t>
                </a:r>
                <a14:m>
                  <m:oMath xmlns:m="http://schemas.openxmlformats.org/officeDocument/2006/math">
                    <m:r>
                      <a:rPr lang="en-US" b="0" i="1" smtClean="0">
                        <a:latin typeface="Cambria Math" panose="02040503050406030204" pitchFamily="18" charset="0"/>
                      </a:rPr>
                      <m:t>𝑎</m:t>
                    </m:r>
                  </m:oMath>
                </a14:m>
                <a:r>
                  <a:rPr lang="en-US" dirty="0"/>
                  <a:t> in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i="1" dirty="0" smtClean="0">
                            <a:latin typeface="Cambria Math" panose="02040503050406030204" pitchFamily="18" charset="0"/>
                          </a:rPr>
                          <m:t>1</m:t>
                        </m:r>
                      </m:sub>
                    </m:sSub>
                  </m:oMath>
                </a14:m>
                <a:r>
                  <a:rPr lang="en-US" dirty="0"/>
                  <a:t> can lead to one of several states. </a:t>
                </a:r>
              </a:p>
            </p:txBody>
          </p:sp>
        </mc:Choice>
        <mc:Fallback xmlns="">
          <p:sp>
            <p:nvSpPr>
              <p:cNvPr id="5" name="Content Placeholder 4">
                <a:extLst>
                  <a:ext uri="{FF2B5EF4-FFF2-40B4-BE49-F238E27FC236}">
                    <a16:creationId xmlns:a16="http://schemas.microsoft.com/office/drawing/2014/main" id="{A98A81B8-EC8C-4D15-A4D6-463770E10AC9}"/>
                  </a:ext>
                </a:extLst>
              </p:cNvPr>
              <p:cNvSpPr>
                <a:spLocks noGrp="1" noRot="1" noChangeAspect="1" noMove="1" noResize="1" noEditPoints="1" noAdjustHandles="1" noChangeArrowheads="1" noChangeShapeType="1" noTextEdit="1"/>
              </p:cNvSpPr>
              <p:nvPr>
                <p:ph idx="1"/>
              </p:nvPr>
            </p:nvSpPr>
            <p:spPr>
              <a:blipFill>
                <a:blip r:embed="rId2"/>
                <a:stretch>
                  <a:fillRect l="-1546" t="-2241"/>
                </a:stretch>
              </a:blipFill>
            </p:spPr>
            <p:txBody>
              <a:bodyPr/>
              <a:lstStyle/>
              <a:p>
                <a:r>
                  <a:rPr lang="en-US">
                    <a:noFill/>
                  </a:rPr>
                  <a:t> </a:t>
                </a:r>
              </a:p>
            </p:txBody>
          </p:sp>
        </mc:Fallback>
      </mc:AlternateContent>
      <p:sp>
        <p:nvSpPr>
          <p:cNvPr id="2" name="Speech Bubble: Rectangle 1">
            <a:extLst>
              <a:ext uri="{FF2B5EF4-FFF2-40B4-BE49-F238E27FC236}">
                <a16:creationId xmlns:a16="http://schemas.microsoft.com/office/drawing/2014/main" id="{8431849B-D0BA-3291-B669-3E019B0FDF52}"/>
              </a:ext>
            </a:extLst>
          </p:cNvPr>
          <p:cNvSpPr/>
          <p:nvPr/>
        </p:nvSpPr>
        <p:spPr>
          <a:xfrm>
            <a:off x="4114800" y="3278011"/>
            <a:ext cx="1752600" cy="381000"/>
          </a:xfrm>
          <a:prstGeom prst="wedgeRectCallout">
            <a:avLst>
              <a:gd name="adj1" fmla="val -74295"/>
              <a:gd name="adj2" fmla="val 266945"/>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Note the ‘s’ here</a:t>
            </a:r>
          </a:p>
        </p:txBody>
      </p:sp>
    </p:spTree>
    <p:extLst>
      <p:ext uri="{BB962C8B-B14F-4D97-AF65-F5344CB8AC3E}">
        <p14:creationId xmlns:p14="http://schemas.microsoft.com/office/powerpoint/2010/main" val="2366450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0F55D-540F-4B2C-9309-DA830B7EA9C9}"/>
              </a:ext>
            </a:extLst>
          </p:cNvPr>
          <p:cNvSpPr>
            <a:spLocks noGrp="1"/>
          </p:cNvSpPr>
          <p:nvPr>
            <p:ph type="title"/>
          </p:nvPr>
        </p:nvSpPr>
        <p:spPr>
          <a:xfrm>
            <a:off x="628650" y="365126"/>
            <a:ext cx="5448300" cy="1325563"/>
          </a:xfrm>
        </p:spPr>
        <p:txBody>
          <a:bodyPr/>
          <a:lstStyle/>
          <a:p>
            <a:r>
              <a:rPr lang="en-US" dirty="0"/>
              <a:t>Example:</a:t>
            </a:r>
            <a:br>
              <a:rPr lang="en-US" dirty="0"/>
            </a:br>
            <a:r>
              <a:rPr lang="en-US" dirty="0"/>
              <a:t>Erratic Vacuum World</a:t>
            </a:r>
          </a:p>
        </p:txBody>
      </p:sp>
      <p:sp>
        <p:nvSpPr>
          <p:cNvPr id="3" name="Content Placeholder 2">
            <a:extLst>
              <a:ext uri="{FF2B5EF4-FFF2-40B4-BE49-F238E27FC236}">
                <a16:creationId xmlns:a16="http://schemas.microsoft.com/office/drawing/2014/main" id="{E1341D23-CA4F-497B-8414-60B090A59702}"/>
              </a:ext>
            </a:extLst>
          </p:cNvPr>
          <p:cNvSpPr>
            <a:spLocks noGrp="1"/>
          </p:cNvSpPr>
          <p:nvPr>
            <p:ph idx="1"/>
          </p:nvPr>
        </p:nvSpPr>
        <p:spPr>
          <a:xfrm>
            <a:off x="628650" y="2438400"/>
            <a:ext cx="7886700" cy="3738562"/>
          </a:xfrm>
        </p:spPr>
        <p:txBody>
          <a:bodyPr>
            <a:normAutofit lnSpcReduction="10000"/>
          </a:bodyPr>
          <a:lstStyle/>
          <a:p>
            <a:pPr marL="0" indent="0">
              <a:buNone/>
            </a:pPr>
            <a:r>
              <a:rPr lang="en-US" dirty="0"/>
              <a:t>Regular fully observable, deterministic vacuum world, but the action ‘</a:t>
            </a:r>
            <a:r>
              <a:rPr lang="en-US" b="1" dirty="0"/>
              <a:t>suck</a:t>
            </a:r>
            <a:r>
              <a:rPr lang="en-US" dirty="0"/>
              <a:t>’ is more powerful and </a:t>
            </a:r>
            <a:r>
              <a:rPr lang="en-US" b="1" dirty="0"/>
              <a:t>nondeterministic</a:t>
            </a:r>
            <a:r>
              <a:rPr lang="en-US" dirty="0"/>
              <a:t>:</a:t>
            </a:r>
          </a:p>
          <a:p>
            <a:endParaRPr lang="en-US" dirty="0"/>
          </a:p>
          <a:p>
            <a:pPr marL="514350" indent="-514350">
              <a:buFont typeface="+mj-lt"/>
              <a:buAutoNum type="alphaLcParenR"/>
            </a:pPr>
            <a:r>
              <a:rPr lang="en-US" b="1" dirty="0"/>
              <a:t>On a dirty square</a:t>
            </a:r>
            <a:r>
              <a:rPr lang="en-US" dirty="0"/>
              <a:t>: cleans the square and sometimes cleans dirt on adjacent squares as well.</a:t>
            </a:r>
          </a:p>
          <a:p>
            <a:pPr marL="514350" indent="-514350">
              <a:buFont typeface="+mj-lt"/>
              <a:buAutoNum type="alphaLcParenR"/>
            </a:pPr>
            <a:r>
              <a:rPr lang="en-US" b="1" dirty="0"/>
              <a:t>On a clean square</a:t>
            </a:r>
            <a:r>
              <a:rPr lang="en-US" dirty="0"/>
              <a:t>: sometimes deposits some dirt on the square.</a:t>
            </a:r>
          </a:p>
        </p:txBody>
      </p:sp>
      <p:grpSp>
        <p:nvGrpSpPr>
          <p:cNvPr id="15" name="Group 14">
            <a:extLst>
              <a:ext uri="{FF2B5EF4-FFF2-40B4-BE49-F238E27FC236}">
                <a16:creationId xmlns:a16="http://schemas.microsoft.com/office/drawing/2014/main" id="{252BCDDC-52ED-2E38-6D47-E5A93DB40212}"/>
              </a:ext>
            </a:extLst>
          </p:cNvPr>
          <p:cNvGrpSpPr/>
          <p:nvPr/>
        </p:nvGrpSpPr>
        <p:grpSpPr>
          <a:xfrm>
            <a:off x="6117292" y="182383"/>
            <a:ext cx="2463022" cy="1773395"/>
            <a:chOff x="6117292" y="182383"/>
            <a:chExt cx="2463022" cy="1773395"/>
          </a:xfrm>
        </p:grpSpPr>
        <p:grpSp>
          <p:nvGrpSpPr>
            <p:cNvPr id="9" name="Group 8">
              <a:extLst>
                <a:ext uri="{FF2B5EF4-FFF2-40B4-BE49-F238E27FC236}">
                  <a16:creationId xmlns:a16="http://schemas.microsoft.com/office/drawing/2014/main" id="{8086F884-B85D-B6E2-40E3-6AD2D98F486D}"/>
                </a:ext>
                <a:ext uri="{C183D7F6-B498-43B3-948B-1728B52AA6E4}">
                  <adec:decorative xmlns:adec="http://schemas.microsoft.com/office/drawing/2017/decorative" val="1"/>
                </a:ext>
              </a:extLst>
            </p:cNvPr>
            <p:cNvGrpSpPr/>
            <p:nvPr/>
          </p:nvGrpSpPr>
          <p:grpSpPr>
            <a:xfrm>
              <a:off x="6117292" y="708224"/>
              <a:ext cx="2438400" cy="1247554"/>
              <a:chOff x="6076950" y="365126"/>
              <a:chExt cx="2438400" cy="1247554"/>
            </a:xfrm>
          </p:grpSpPr>
          <p:pic>
            <p:nvPicPr>
              <p:cNvPr id="4" name="Picture 4" descr="vacuum2-environment">
                <a:extLst>
                  <a:ext uri="{FF2B5EF4-FFF2-40B4-BE49-F238E27FC236}">
                    <a16:creationId xmlns:a16="http://schemas.microsoft.com/office/drawing/2014/main" id="{A6C70B05-2B87-4CEA-9D3A-9FFD2CC899F8}"/>
                  </a:ext>
                </a:extLst>
              </p:cNvPr>
              <p:cNvPicPr>
                <a:picLocks noChangeAspect="1" noChangeArrowheads="1"/>
              </p:cNvPicPr>
              <p:nvPr/>
            </p:nvPicPr>
            <p:blipFill>
              <a:blip r:embed="rId2" cstate="print"/>
              <a:srcRect/>
              <a:stretch>
                <a:fillRect/>
              </a:stretch>
            </p:blipFill>
            <p:spPr bwMode="auto">
              <a:xfrm>
                <a:off x="6076950" y="365126"/>
                <a:ext cx="2438400" cy="1247554"/>
              </a:xfrm>
              <a:prstGeom prst="rect">
                <a:avLst/>
              </a:prstGeom>
              <a:noFill/>
            </p:spPr>
          </p:pic>
          <p:sp>
            <p:nvSpPr>
              <p:cNvPr id="5" name="Freeform: Shape 4">
                <a:extLst>
                  <a:ext uri="{FF2B5EF4-FFF2-40B4-BE49-F238E27FC236}">
                    <a16:creationId xmlns:a16="http://schemas.microsoft.com/office/drawing/2014/main" id="{8D6BE6F7-05E5-D1BA-D236-1A8ED4302A57}"/>
                  </a:ext>
                </a:extLst>
              </p:cNvPr>
              <p:cNvSpPr/>
              <p:nvPr/>
            </p:nvSpPr>
            <p:spPr>
              <a:xfrm>
                <a:off x="6644640" y="985520"/>
                <a:ext cx="1036320" cy="111760"/>
              </a:xfrm>
              <a:custGeom>
                <a:avLst/>
                <a:gdLst>
                  <a:gd name="connsiteX0" fmla="*/ 0 w 1036320"/>
                  <a:gd name="connsiteY0" fmla="*/ 0 h 111760"/>
                  <a:gd name="connsiteX1" fmla="*/ 50800 w 1036320"/>
                  <a:gd name="connsiteY1" fmla="*/ 20320 h 111760"/>
                  <a:gd name="connsiteX2" fmla="*/ 91440 w 1036320"/>
                  <a:gd name="connsiteY2" fmla="*/ 50800 h 111760"/>
                  <a:gd name="connsiteX3" fmla="*/ 172720 w 1036320"/>
                  <a:gd name="connsiteY3" fmla="*/ 71120 h 111760"/>
                  <a:gd name="connsiteX4" fmla="*/ 386080 w 1036320"/>
                  <a:gd name="connsiteY4" fmla="*/ 111760 h 111760"/>
                  <a:gd name="connsiteX5" fmla="*/ 1036320 w 1036320"/>
                  <a:gd name="connsiteY5" fmla="*/ 101600 h 11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6320" h="111760">
                    <a:moveTo>
                      <a:pt x="0" y="0"/>
                    </a:moveTo>
                    <a:cubicBezTo>
                      <a:pt x="16933" y="6773"/>
                      <a:pt x="34857" y="11463"/>
                      <a:pt x="50800" y="20320"/>
                    </a:cubicBezTo>
                    <a:cubicBezTo>
                      <a:pt x="65602" y="28544"/>
                      <a:pt x="75809" y="44287"/>
                      <a:pt x="91440" y="50800"/>
                    </a:cubicBezTo>
                    <a:cubicBezTo>
                      <a:pt x="117219" y="61541"/>
                      <a:pt x="145535" y="64724"/>
                      <a:pt x="172720" y="71120"/>
                    </a:cubicBezTo>
                    <a:cubicBezTo>
                      <a:pt x="279301" y="96198"/>
                      <a:pt x="266453" y="91822"/>
                      <a:pt x="386080" y="111760"/>
                    </a:cubicBezTo>
                    <a:cubicBezTo>
                      <a:pt x="738107" y="94159"/>
                      <a:pt x="521462" y="101600"/>
                      <a:pt x="1036320" y="101600"/>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6" name="Freeform: Shape 5">
                <a:extLst>
                  <a:ext uri="{FF2B5EF4-FFF2-40B4-BE49-F238E27FC236}">
                    <a16:creationId xmlns:a16="http://schemas.microsoft.com/office/drawing/2014/main" id="{8090356D-1FEC-FB61-F650-F6E49DA0AF98}"/>
                  </a:ext>
                </a:extLst>
              </p:cNvPr>
              <p:cNvSpPr/>
              <p:nvPr/>
            </p:nvSpPr>
            <p:spPr>
              <a:xfrm>
                <a:off x="6238240" y="975360"/>
                <a:ext cx="142240" cy="132080"/>
              </a:xfrm>
              <a:custGeom>
                <a:avLst/>
                <a:gdLst>
                  <a:gd name="connsiteX0" fmla="*/ 142240 w 142240"/>
                  <a:gd name="connsiteY0" fmla="*/ 0 h 132080"/>
                  <a:gd name="connsiteX1" fmla="*/ 50800 w 142240"/>
                  <a:gd name="connsiteY1" fmla="*/ 111760 h 132080"/>
                  <a:gd name="connsiteX2" fmla="*/ 10160 w 142240"/>
                  <a:gd name="connsiteY2" fmla="*/ 121920 h 132080"/>
                  <a:gd name="connsiteX3" fmla="*/ 0 w 142240"/>
                  <a:gd name="connsiteY3" fmla="*/ 132080 h 132080"/>
                </a:gdLst>
                <a:ahLst/>
                <a:cxnLst>
                  <a:cxn ang="0">
                    <a:pos x="connsiteX0" y="connsiteY0"/>
                  </a:cxn>
                  <a:cxn ang="0">
                    <a:pos x="connsiteX1" y="connsiteY1"/>
                  </a:cxn>
                  <a:cxn ang="0">
                    <a:pos x="connsiteX2" y="connsiteY2"/>
                  </a:cxn>
                  <a:cxn ang="0">
                    <a:pos x="connsiteX3" y="connsiteY3"/>
                  </a:cxn>
                </a:cxnLst>
                <a:rect l="l" t="t" r="r" b="b"/>
                <a:pathLst>
                  <a:path w="142240" h="132080">
                    <a:moveTo>
                      <a:pt x="142240" y="0"/>
                    </a:moveTo>
                    <a:cubicBezTo>
                      <a:pt x="111760" y="37253"/>
                      <a:pt x="86169" y="79112"/>
                      <a:pt x="50800" y="111760"/>
                    </a:cubicBezTo>
                    <a:cubicBezTo>
                      <a:pt x="40540" y="121231"/>
                      <a:pt x="23125" y="116734"/>
                      <a:pt x="10160" y="121920"/>
                    </a:cubicBezTo>
                    <a:cubicBezTo>
                      <a:pt x="5713" y="123699"/>
                      <a:pt x="3387" y="128693"/>
                      <a:pt x="0" y="132080"/>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7" name="Freeform: Shape 6">
                <a:extLst>
                  <a:ext uri="{FF2B5EF4-FFF2-40B4-BE49-F238E27FC236}">
                    <a16:creationId xmlns:a16="http://schemas.microsoft.com/office/drawing/2014/main" id="{65A1F79E-8D69-D50E-56C6-B86F88AB9A35}"/>
                  </a:ext>
                </a:extLst>
              </p:cNvPr>
              <p:cNvSpPr/>
              <p:nvPr/>
            </p:nvSpPr>
            <p:spPr>
              <a:xfrm>
                <a:off x="6421120" y="995680"/>
                <a:ext cx="50800" cy="152400"/>
              </a:xfrm>
              <a:custGeom>
                <a:avLst/>
                <a:gdLst>
                  <a:gd name="connsiteX0" fmla="*/ 50800 w 50800"/>
                  <a:gd name="connsiteY0" fmla="*/ 0 h 152400"/>
                  <a:gd name="connsiteX1" fmla="*/ 0 w 50800"/>
                  <a:gd name="connsiteY1" fmla="*/ 152400 h 152400"/>
                </a:gdLst>
                <a:ahLst/>
                <a:cxnLst>
                  <a:cxn ang="0">
                    <a:pos x="connsiteX0" y="connsiteY0"/>
                  </a:cxn>
                  <a:cxn ang="0">
                    <a:pos x="connsiteX1" y="connsiteY1"/>
                  </a:cxn>
                </a:cxnLst>
                <a:rect l="l" t="t" r="r" b="b"/>
                <a:pathLst>
                  <a:path w="50800" h="152400">
                    <a:moveTo>
                      <a:pt x="50800" y="0"/>
                    </a:moveTo>
                    <a:lnTo>
                      <a:pt x="0" y="152400"/>
                    </a:ln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8" name="Freeform: Shape 7">
                <a:extLst>
                  <a:ext uri="{FF2B5EF4-FFF2-40B4-BE49-F238E27FC236}">
                    <a16:creationId xmlns:a16="http://schemas.microsoft.com/office/drawing/2014/main" id="{8C60415D-2152-8E0E-9AAF-5ABB3C32085C}"/>
                  </a:ext>
                </a:extLst>
              </p:cNvPr>
              <p:cNvSpPr/>
              <p:nvPr/>
            </p:nvSpPr>
            <p:spPr>
              <a:xfrm>
                <a:off x="6522720" y="995680"/>
                <a:ext cx="111760" cy="101600"/>
              </a:xfrm>
              <a:custGeom>
                <a:avLst/>
                <a:gdLst>
                  <a:gd name="connsiteX0" fmla="*/ 0 w 111760"/>
                  <a:gd name="connsiteY0" fmla="*/ 0 h 101600"/>
                  <a:gd name="connsiteX1" fmla="*/ 111760 w 111760"/>
                  <a:gd name="connsiteY1" fmla="*/ 101600 h 101600"/>
                </a:gdLst>
                <a:ahLst/>
                <a:cxnLst>
                  <a:cxn ang="0">
                    <a:pos x="connsiteX0" y="connsiteY0"/>
                  </a:cxn>
                  <a:cxn ang="0">
                    <a:pos x="connsiteX1" y="connsiteY1"/>
                  </a:cxn>
                </a:cxnLst>
                <a:rect l="l" t="t" r="r" b="b"/>
                <a:pathLst>
                  <a:path w="111760" h="101600">
                    <a:moveTo>
                      <a:pt x="0" y="0"/>
                    </a:moveTo>
                    <a:cubicBezTo>
                      <a:pt x="110374" y="77262"/>
                      <a:pt x="88527" y="31902"/>
                      <a:pt x="111760" y="101600"/>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4D237696-41C9-A62E-77F8-C70CA9E2FA29}"/>
                </a:ext>
              </a:extLst>
            </p:cNvPr>
            <p:cNvGrpSpPr/>
            <p:nvPr/>
          </p:nvGrpSpPr>
          <p:grpSpPr>
            <a:xfrm>
              <a:off x="7222193" y="182383"/>
              <a:ext cx="1358121" cy="408979"/>
              <a:chOff x="7222193" y="182383"/>
              <a:chExt cx="1358121" cy="408979"/>
            </a:xfrm>
          </p:grpSpPr>
          <p:grpSp>
            <p:nvGrpSpPr>
              <p:cNvPr id="11" name="Group 10">
                <a:extLst>
                  <a:ext uri="{FF2B5EF4-FFF2-40B4-BE49-F238E27FC236}">
                    <a16:creationId xmlns:a16="http://schemas.microsoft.com/office/drawing/2014/main" id="{63B33956-1F77-3DBE-E40D-50B2C1A2E99F}"/>
                  </a:ext>
                </a:extLst>
              </p:cNvPr>
              <p:cNvGrpSpPr/>
              <p:nvPr/>
            </p:nvGrpSpPr>
            <p:grpSpPr>
              <a:xfrm rot="5400000">
                <a:off x="7132003" y="272573"/>
                <a:ext cx="408979" cy="228600"/>
                <a:chOff x="339924" y="1249999"/>
                <a:chExt cx="408979" cy="228600"/>
              </a:xfrm>
            </p:grpSpPr>
            <p:sp>
              <p:nvSpPr>
                <p:cNvPr id="13" name="Isosceles Triangle 12">
                  <a:extLst>
                    <a:ext uri="{FF2B5EF4-FFF2-40B4-BE49-F238E27FC236}">
                      <a16:creationId xmlns:a16="http://schemas.microsoft.com/office/drawing/2014/main" id="{2E69BBDA-31CE-364D-3B4E-6BC9CAAE3709}"/>
                    </a:ext>
                  </a:extLst>
                </p:cNvPr>
                <p:cNvSpPr/>
                <p:nvPr/>
              </p:nvSpPr>
              <p:spPr>
                <a:xfrm rot="16200000">
                  <a:off x="485776" y="1177372"/>
                  <a:ext cx="152400" cy="373855"/>
                </a:xfrm>
                <a:prstGeom prst="triangle">
                  <a:avLst>
                    <a:gd name="adj" fmla="val 53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1C9F8AD-D3B7-C269-53F5-E805C286FC7B}"/>
                    </a:ext>
                  </a:extLst>
                </p:cNvPr>
                <p:cNvSpPr/>
                <p:nvPr/>
              </p:nvSpPr>
              <p:spPr>
                <a:xfrm>
                  <a:off x="339924" y="1249999"/>
                  <a:ext cx="323850" cy="228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12" name="TextBox 11">
                <a:extLst>
                  <a:ext uri="{FF2B5EF4-FFF2-40B4-BE49-F238E27FC236}">
                    <a16:creationId xmlns:a16="http://schemas.microsoft.com/office/drawing/2014/main" id="{43CFD113-514C-39AC-912A-75D8DABDFCF0}"/>
                  </a:ext>
                </a:extLst>
              </p:cNvPr>
              <p:cNvSpPr txBox="1"/>
              <p:nvPr/>
            </p:nvSpPr>
            <p:spPr>
              <a:xfrm>
                <a:off x="7412692" y="238168"/>
                <a:ext cx="1167622" cy="253916"/>
              </a:xfrm>
              <a:prstGeom prst="rect">
                <a:avLst/>
              </a:prstGeom>
              <a:noFill/>
            </p:spPr>
            <p:txBody>
              <a:bodyPr wrap="square" rtlCol="0">
                <a:spAutoFit/>
              </a:bodyPr>
              <a:lstStyle/>
              <a:p>
                <a:r>
                  <a:rPr lang="en-US" sz="1050" dirty="0"/>
                  <a:t>Full observability</a:t>
                </a:r>
              </a:p>
            </p:txBody>
          </p:sp>
        </p:grpSp>
      </p:grpSp>
    </p:spTree>
    <p:extLst>
      <p:ext uri="{BB962C8B-B14F-4D97-AF65-F5344CB8AC3E}">
        <p14:creationId xmlns:p14="http://schemas.microsoft.com/office/powerpoint/2010/main" val="1098924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CCDBC-632E-4D75-8554-9AAFD7FCD633}"/>
              </a:ext>
            </a:extLst>
          </p:cNvPr>
          <p:cNvSpPr>
            <a:spLocks noGrp="1"/>
          </p:cNvSpPr>
          <p:nvPr>
            <p:ph type="title"/>
          </p:nvPr>
        </p:nvSpPr>
        <p:spPr/>
        <p:txBody>
          <a:bodyPr/>
          <a:lstStyle/>
          <a:p>
            <a:r>
              <a:rPr lang="en-US" dirty="0"/>
              <a:t>Example: </a:t>
            </a:r>
            <a:br>
              <a:rPr lang="en-US" dirty="0"/>
            </a:br>
            <a:r>
              <a:rPr lang="en-US" dirty="0"/>
              <a:t>Erratic Vacuum World</a:t>
            </a:r>
          </a:p>
        </p:txBody>
      </p:sp>
      <p:sp>
        <p:nvSpPr>
          <p:cNvPr id="12" name="TextBox 11">
            <a:extLst>
              <a:ext uri="{FF2B5EF4-FFF2-40B4-BE49-F238E27FC236}">
                <a16:creationId xmlns:a16="http://schemas.microsoft.com/office/drawing/2014/main" id="{DD08B828-1B39-4A4C-8EC7-0B9FE0E6B259}"/>
              </a:ext>
            </a:extLst>
          </p:cNvPr>
          <p:cNvSpPr txBox="1"/>
          <p:nvPr/>
        </p:nvSpPr>
        <p:spPr>
          <a:xfrm>
            <a:off x="628650" y="5473920"/>
            <a:ext cx="8210550" cy="830997"/>
          </a:xfrm>
          <a:prstGeom prst="rect">
            <a:avLst/>
          </a:prstGeom>
          <a:noFill/>
        </p:spPr>
        <p:txBody>
          <a:bodyPr wrap="square" rtlCol="0">
            <a:spAutoFit/>
          </a:bodyPr>
          <a:lstStyle/>
          <a:p>
            <a:r>
              <a:rPr lang="en-US" sz="2400" dirty="0"/>
              <a:t>Suck can lead to two different states! We need a conditional plan</a:t>
            </a:r>
          </a:p>
          <a:p>
            <a:r>
              <a:rPr lang="en-US" sz="2400" dirty="0"/>
              <a:t>		[Suck, </a:t>
            </a:r>
            <a:r>
              <a:rPr lang="en-US" sz="2400" b="1" dirty="0"/>
              <a:t>if</a:t>
            </a:r>
            <a:r>
              <a:rPr lang="en-US" sz="2400" dirty="0"/>
              <a:t> State = 5 </a:t>
            </a:r>
            <a:r>
              <a:rPr lang="en-US" sz="2400" b="1" dirty="0"/>
              <a:t>then</a:t>
            </a:r>
            <a:r>
              <a:rPr lang="en-US" sz="2400" dirty="0"/>
              <a:t> [Right, Suck] </a:t>
            </a:r>
            <a:r>
              <a:rPr lang="en-US" sz="2400" b="1" dirty="0"/>
              <a:t>else</a:t>
            </a:r>
            <a:r>
              <a:rPr lang="en-US" sz="2400" dirty="0"/>
              <a:t> []]</a:t>
            </a:r>
          </a:p>
        </p:txBody>
      </p:sp>
      <p:grpSp>
        <p:nvGrpSpPr>
          <p:cNvPr id="3" name="Group 2">
            <a:extLst>
              <a:ext uri="{FF2B5EF4-FFF2-40B4-BE49-F238E27FC236}">
                <a16:creationId xmlns:a16="http://schemas.microsoft.com/office/drawing/2014/main" id="{401B5C68-3457-DEE0-E45F-B0EE506492C0}"/>
              </a:ext>
            </a:extLst>
          </p:cNvPr>
          <p:cNvGrpSpPr/>
          <p:nvPr/>
        </p:nvGrpSpPr>
        <p:grpSpPr>
          <a:xfrm>
            <a:off x="558059" y="1690689"/>
            <a:ext cx="8351732" cy="3467259"/>
            <a:chOff x="487468" y="1905000"/>
            <a:chExt cx="8351732" cy="3467259"/>
          </a:xfrm>
        </p:grpSpPr>
        <p:sp>
          <p:nvSpPr>
            <p:cNvPr id="13" name="TextBox 12">
              <a:extLst>
                <a:ext uri="{FF2B5EF4-FFF2-40B4-BE49-F238E27FC236}">
                  <a16:creationId xmlns:a16="http://schemas.microsoft.com/office/drawing/2014/main" id="{8CEC18A8-DBAA-4977-84C9-484FAF9A074D}"/>
                </a:ext>
              </a:extLst>
            </p:cNvPr>
            <p:cNvSpPr txBox="1"/>
            <p:nvPr/>
          </p:nvSpPr>
          <p:spPr>
            <a:xfrm>
              <a:off x="4438696" y="1905000"/>
              <a:ext cx="1295400" cy="381000"/>
            </a:xfrm>
            <a:prstGeom prst="rect">
              <a:avLst/>
            </a:prstGeom>
            <a:noFill/>
          </p:spPr>
          <p:txBody>
            <a:bodyPr wrap="square" rtlCol="0">
              <a:spAutoFit/>
            </a:bodyPr>
            <a:lstStyle/>
            <a:p>
              <a:r>
                <a:rPr lang="en-US" b="1" dirty="0">
                  <a:solidFill>
                    <a:srgbClr val="FF0000"/>
                  </a:solidFill>
                </a:rPr>
                <a:t>Start State</a:t>
              </a:r>
            </a:p>
          </p:txBody>
        </p:sp>
        <p:grpSp>
          <p:nvGrpSpPr>
            <p:cNvPr id="21" name="Group 20" descr="The result of the action suck in state 1.">
              <a:extLst>
                <a:ext uri="{FF2B5EF4-FFF2-40B4-BE49-F238E27FC236}">
                  <a16:creationId xmlns:a16="http://schemas.microsoft.com/office/drawing/2014/main" id="{C0946E2E-2DB3-D749-B540-A0B97906EECD}"/>
                </a:ext>
              </a:extLst>
            </p:cNvPr>
            <p:cNvGrpSpPr/>
            <p:nvPr/>
          </p:nvGrpSpPr>
          <p:grpSpPr>
            <a:xfrm>
              <a:off x="487468" y="2209800"/>
              <a:ext cx="8351732" cy="3162459"/>
              <a:chOff x="487468" y="2362200"/>
              <a:chExt cx="8351732" cy="3162459"/>
            </a:xfrm>
          </p:grpSpPr>
          <p:grpSp>
            <p:nvGrpSpPr>
              <p:cNvPr id="18" name="Group 17">
                <a:extLst>
                  <a:ext uri="{FF2B5EF4-FFF2-40B4-BE49-F238E27FC236}">
                    <a16:creationId xmlns:a16="http://schemas.microsoft.com/office/drawing/2014/main" id="{3BB0660B-811F-32A3-0CEC-8DCCE15A3DA7}"/>
                  </a:ext>
                </a:extLst>
              </p:cNvPr>
              <p:cNvGrpSpPr/>
              <p:nvPr/>
            </p:nvGrpSpPr>
            <p:grpSpPr>
              <a:xfrm>
                <a:off x="2791100" y="2362200"/>
                <a:ext cx="6048100" cy="3162459"/>
                <a:chOff x="2791100" y="2362200"/>
                <a:chExt cx="6048100" cy="3162459"/>
              </a:xfrm>
            </p:grpSpPr>
            <p:pic>
              <p:nvPicPr>
                <p:cNvPr id="4" name="Picture 3">
                  <a:extLst>
                    <a:ext uri="{FF2B5EF4-FFF2-40B4-BE49-F238E27FC236}">
                      <a16:creationId xmlns:a16="http://schemas.microsoft.com/office/drawing/2014/main" id="{D99B1455-4B27-421D-9E70-100F08E32D51}"/>
                    </a:ext>
                  </a:extLst>
                </p:cNvPr>
                <p:cNvPicPr>
                  <a:picLocks noChangeAspect="1"/>
                </p:cNvPicPr>
                <p:nvPr/>
              </p:nvPicPr>
              <p:blipFill>
                <a:blip r:embed="rId3"/>
                <a:stretch>
                  <a:fillRect/>
                </a:stretch>
              </p:blipFill>
              <p:spPr>
                <a:xfrm>
                  <a:off x="3695608" y="2438400"/>
                  <a:ext cx="3581584" cy="3086259"/>
                </a:xfrm>
                <a:prstGeom prst="rect">
                  <a:avLst/>
                </a:prstGeom>
              </p:spPr>
            </p:pic>
            <p:sp>
              <p:nvSpPr>
                <p:cNvPr id="6" name="Freeform: Shape 5">
                  <a:extLst>
                    <a:ext uri="{FF2B5EF4-FFF2-40B4-BE49-F238E27FC236}">
                      <a16:creationId xmlns:a16="http://schemas.microsoft.com/office/drawing/2014/main" id="{7DC6D86E-E40B-4492-9844-C50E29EE73AE}"/>
                    </a:ext>
                  </a:extLst>
                </p:cNvPr>
                <p:cNvSpPr/>
                <p:nvPr/>
              </p:nvSpPr>
              <p:spPr>
                <a:xfrm>
                  <a:off x="3332523" y="2815389"/>
                  <a:ext cx="457424" cy="1528011"/>
                </a:xfrm>
                <a:custGeom>
                  <a:avLst/>
                  <a:gdLst>
                    <a:gd name="connsiteX0" fmla="*/ 409298 w 457424"/>
                    <a:gd name="connsiteY0" fmla="*/ 0 h 1528011"/>
                    <a:gd name="connsiteX1" fmla="*/ 224 w 457424"/>
                    <a:gd name="connsiteY1" fmla="*/ 794085 h 1528011"/>
                    <a:gd name="connsiteX2" fmla="*/ 457424 w 457424"/>
                    <a:gd name="connsiteY2" fmla="*/ 1528011 h 1528011"/>
                  </a:gdLst>
                  <a:ahLst/>
                  <a:cxnLst>
                    <a:cxn ang="0">
                      <a:pos x="connsiteX0" y="connsiteY0"/>
                    </a:cxn>
                    <a:cxn ang="0">
                      <a:pos x="connsiteX1" y="connsiteY1"/>
                    </a:cxn>
                    <a:cxn ang="0">
                      <a:pos x="connsiteX2" y="connsiteY2"/>
                    </a:cxn>
                  </a:cxnLst>
                  <a:rect l="l" t="t" r="r" b="b"/>
                  <a:pathLst>
                    <a:path w="457424" h="1528011">
                      <a:moveTo>
                        <a:pt x="409298" y="0"/>
                      </a:moveTo>
                      <a:cubicBezTo>
                        <a:pt x="200750" y="269708"/>
                        <a:pt x="-7797" y="539417"/>
                        <a:pt x="224" y="794085"/>
                      </a:cubicBezTo>
                      <a:cubicBezTo>
                        <a:pt x="8245" y="1048753"/>
                        <a:pt x="232834" y="1288382"/>
                        <a:pt x="457424" y="1528011"/>
                      </a:cubicBezTo>
                    </a:path>
                  </a:pathLst>
                </a:cu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8" name="Freeform: Shape 7">
                  <a:extLst>
                    <a:ext uri="{FF2B5EF4-FFF2-40B4-BE49-F238E27FC236}">
                      <a16:creationId xmlns:a16="http://schemas.microsoft.com/office/drawing/2014/main" id="{F78F27AC-0723-4F2D-8E13-9AB00B1B93AA}"/>
                    </a:ext>
                  </a:extLst>
                </p:cNvPr>
                <p:cNvSpPr/>
                <p:nvPr/>
              </p:nvSpPr>
              <p:spPr>
                <a:xfrm>
                  <a:off x="2791100" y="2815389"/>
                  <a:ext cx="998847" cy="2237874"/>
                </a:xfrm>
                <a:custGeom>
                  <a:avLst/>
                  <a:gdLst>
                    <a:gd name="connsiteX0" fmla="*/ 926658 w 998847"/>
                    <a:gd name="connsiteY0" fmla="*/ 0 h 2237874"/>
                    <a:gd name="connsiteX1" fmla="*/ 226 w 998847"/>
                    <a:gd name="connsiteY1" fmla="*/ 1143000 h 2237874"/>
                    <a:gd name="connsiteX2" fmla="*/ 998847 w 998847"/>
                    <a:gd name="connsiteY2" fmla="*/ 2237874 h 2237874"/>
                  </a:gdLst>
                  <a:ahLst/>
                  <a:cxnLst>
                    <a:cxn ang="0">
                      <a:pos x="connsiteX0" y="connsiteY0"/>
                    </a:cxn>
                    <a:cxn ang="0">
                      <a:pos x="connsiteX1" y="connsiteY1"/>
                    </a:cxn>
                    <a:cxn ang="0">
                      <a:pos x="connsiteX2" y="connsiteY2"/>
                    </a:cxn>
                  </a:cxnLst>
                  <a:rect l="l" t="t" r="r" b="b"/>
                  <a:pathLst>
                    <a:path w="998847" h="2237874">
                      <a:moveTo>
                        <a:pt x="926658" y="0"/>
                      </a:moveTo>
                      <a:cubicBezTo>
                        <a:pt x="457426" y="385010"/>
                        <a:pt x="-11805" y="770021"/>
                        <a:pt x="226" y="1143000"/>
                      </a:cubicBezTo>
                      <a:cubicBezTo>
                        <a:pt x="12257" y="1515979"/>
                        <a:pt x="505552" y="1876926"/>
                        <a:pt x="998847" y="2237874"/>
                      </a:cubicBezTo>
                    </a:path>
                  </a:pathLst>
                </a:cu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9" name="Rectangle 8">
                  <a:extLst>
                    <a:ext uri="{FF2B5EF4-FFF2-40B4-BE49-F238E27FC236}">
                      <a16:creationId xmlns:a16="http://schemas.microsoft.com/office/drawing/2014/main" id="{598281A0-2514-4BF4-983D-9886716FB5DC}"/>
                    </a:ext>
                  </a:extLst>
                </p:cNvPr>
                <p:cNvSpPr/>
                <p:nvPr/>
              </p:nvSpPr>
              <p:spPr>
                <a:xfrm>
                  <a:off x="3695608" y="2362200"/>
                  <a:ext cx="1790792" cy="838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B3862E7-DFD9-4731-B080-C6E0A3CD07D1}"/>
                    </a:ext>
                  </a:extLst>
                </p:cNvPr>
                <p:cNvSpPr/>
                <p:nvPr/>
              </p:nvSpPr>
              <p:spPr>
                <a:xfrm>
                  <a:off x="3809816" y="4724400"/>
                  <a:ext cx="3625700" cy="800259"/>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7E4530BB-CD28-44D5-BE07-D5FF6D63BFAA}"/>
                    </a:ext>
                  </a:extLst>
                </p:cNvPr>
                <p:cNvSpPr txBox="1"/>
                <p:nvPr/>
              </p:nvSpPr>
              <p:spPr>
                <a:xfrm>
                  <a:off x="7543800" y="4953000"/>
                  <a:ext cx="1295400" cy="381000"/>
                </a:xfrm>
                <a:prstGeom prst="rect">
                  <a:avLst/>
                </a:prstGeom>
                <a:noFill/>
              </p:spPr>
              <p:txBody>
                <a:bodyPr wrap="square" rtlCol="0">
                  <a:spAutoFit/>
                </a:bodyPr>
                <a:lstStyle/>
                <a:p>
                  <a:r>
                    <a:rPr lang="en-US" b="1" dirty="0">
                      <a:solidFill>
                        <a:schemeClr val="accent6">
                          <a:lumMod val="75000"/>
                        </a:schemeClr>
                      </a:solidFill>
                    </a:rPr>
                    <a:t>Goal states</a:t>
                  </a:r>
                </a:p>
              </p:txBody>
            </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F79652C-036B-6CB6-2A57-80F1B907B27D}"/>
                      </a:ext>
                    </a:extLst>
                  </p:cNvPr>
                  <p:cNvSpPr txBox="1"/>
                  <p:nvPr/>
                </p:nvSpPr>
                <p:spPr>
                  <a:xfrm>
                    <a:off x="487468" y="3062097"/>
                    <a:ext cx="2845055" cy="369332"/>
                  </a:xfrm>
                  <a:prstGeom prst="rect">
                    <a:avLst/>
                  </a:prstGeom>
                  <a:noFill/>
                </p:spPr>
                <p:txBody>
                  <a:bodyPr wrap="square">
                    <a:spAutoFit/>
                  </a:bodyPr>
                  <a:lstStyle/>
                  <a:p>
                    <a:pPr marL="0" indent="0">
                      <a:buNone/>
                    </a:pPr>
                    <a14:m>
                      <m:oMath xmlns:m="http://schemas.openxmlformats.org/officeDocument/2006/math">
                        <m:r>
                          <a:rPr lang="en-US" sz="1800" i="1" smtClean="0">
                            <a:solidFill>
                              <a:srgbClr val="FF0000"/>
                            </a:solidFill>
                            <a:latin typeface="Cambria Math" panose="02040503050406030204" pitchFamily="18" charset="0"/>
                          </a:rPr>
                          <m:t>𝑅𝑒𝑠𝑢𝑙𝑡𝑠</m:t>
                        </m:r>
                        <m:d>
                          <m:dPr>
                            <m:ctrlPr>
                              <a:rPr lang="en-US" sz="1800" b="0" i="1" smtClean="0">
                                <a:solidFill>
                                  <a:srgbClr val="FF0000"/>
                                </a:solidFill>
                                <a:latin typeface="Cambria Math" panose="02040503050406030204" pitchFamily="18" charset="0"/>
                              </a:rPr>
                            </m:ctrlPr>
                          </m:dPr>
                          <m:e>
                            <m:r>
                              <a:rPr lang="en-US" sz="1800" b="0" i="1" smtClean="0">
                                <a:solidFill>
                                  <a:srgbClr val="FF0000"/>
                                </a:solidFill>
                                <a:latin typeface="Cambria Math" panose="02040503050406030204" pitchFamily="18" charset="0"/>
                              </a:rPr>
                              <m:t>1</m:t>
                            </m:r>
                            <m:r>
                              <a:rPr lang="en-US" sz="1800" i="1">
                                <a:solidFill>
                                  <a:srgbClr val="FF0000"/>
                                </a:solidFill>
                                <a:latin typeface="Cambria Math" panose="02040503050406030204" pitchFamily="18" charset="0"/>
                              </a:rPr>
                              <m:t>,</m:t>
                            </m:r>
                            <m:r>
                              <a:rPr lang="en-US" sz="1800" b="0" i="1" smtClean="0">
                                <a:solidFill>
                                  <a:srgbClr val="FF0000"/>
                                </a:solidFill>
                                <a:latin typeface="Cambria Math" panose="02040503050406030204" pitchFamily="18" charset="0"/>
                              </a:rPr>
                              <m:t> </m:t>
                            </m:r>
                            <m:r>
                              <a:rPr lang="en-US" sz="1800" b="0" i="1" smtClean="0">
                                <a:solidFill>
                                  <a:srgbClr val="FF0000"/>
                                </a:solidFill>
                                <a:latin typeface="Cambria Math" panose="02040503050406030204" pitchFamily="18" charset="0"/>
                              </a:rPr>
                              <m:t>𝑆𝑢𝑐𝑘</m:t>
                            </m:r>
                          </m:e>
                        </m:d>
                        <m:r>
                          <a:rPr lang="en-US" sz="1800" i="1">
                            <a:solidFill>
                              <a:srgbClr val="FF0000"/>
                            </a:solidFill>
                            <a:latin typeface="Cambria Math" panose="02040503050406030204" pitchFamily="18" charset="0"/>
                          </a:rPr>
                          <m:t>= </m:t>
                        </m:r>
                        <m:d>
                          <m:dPr>
                            <m:begChr m:val="{"/>
                            <m:endChr m:val="}"/>
                            <m:ctrlPr>
                              <a:rPr lang="en-US" sz="1800" b="0" i="1" smtClean="0">
                                <a:solidFill>
                                  <a:srgbClr val="FF0000"/>
                                </a:solidFill>
                                <a:latin typeface="Cambria Math" panose="02040503050406030204" pitchFamily="18" charset="0"/>
                              </a:rPr>
                            </m:ctrlPr>
                          </m:dPr>
                          <m:e>
                            <m:r>
                              <a:rPr lang="en-US" sz="1800" b="0" i="1" smtClean="0">
                                <a:solidFill>
                                  <a:srgbClr val="FF0000"/>
                                </a:solidFill>
                                <a:latin typeface="Cambria Math" panose="02040503050406030204" pitchFamily="18" charset="0"/>
                              </a:rPr>
                              <m:t>5, 7</m:t>
                            </m:r>
                          </m:e>
                        </m:d>
                      </m:oMath>
                    </a14:m>
                    <a:r>
                      <a:rPr lang="en-US" sz="1800" dirty="0">
                        <a:solidFill>
                          <a:srgbClr val="FF0000"/>
                        </a:solidFill>
                      </a:rPr>
                      <a:t> </a:t>
                    </a:r>
                  </a:p>
                </p:txBody>
              </p:sp>
            </mc:Choice>
            <mc:Fallback xmlns="">
              <p:sp>
                <p:nvSpPr>
                  <p:cNvPr id="20" name="TextBox 19">
                    <a:extLst>
                      <a:ext uri="{FF2B5EF4-FFF2-40B4-BE49-F238E27FC236}">
                        <a16:creationId xmlns:a16="http://schemas.microsoft.com/office/drawing/2014/main" id="{DF79652C-036B-6CB6-2A57-80F1B907B27D}"/>
                      </a:ext>
                    </a:extLst>
                  </p:cNvPr>
                  <p:cNvSpPr txBox="1">
                    <a:spLocks noRot="1" noChangeAspect="1" noMove="1" noResize="1" noEditPoints="1" noAdjustHandles="1" noChangeArrowheads="1" noChangeShapeType="1" noTextEdit="1"/>
                  </p:cNvSpPr>
                  <p:nvPr/>
                </p:nvSpPr>
                <p:spPr>
                  <a:xfrm>
                    <a:off x="487468" y="3062097"/>
                    <a:ext cx="2845055" cy="369332"/>
                  </a:xfrm>
                  <a:prstGeom prst="rect">
                    <a:avLst/>
                  </a:prstGeom>
                  <a:blipFill>
                    <a:blip r:embed="rId5"/>
                    <a:stretch>
                      <a:fillRect/>
                    </a:stretch>
                  </a:blipFill>
                </p:spPr>
                <p:txBody>
                  <a:bodyPr/>
                  <a:lstStyle/>
                  <a:p>
                    <a:r>
                      <a:rPr lang="en-US">
                        <a:noFill/>
                      </a:rPr>
                      <a:t> </a:t>
                    </a:r>
                  </a:p>
                </p:txBody>
              </p:sp>
            </mc:Fallback>
          </mc:AlternateContent>
        </p:grpSp>
      </p:grpSp>
      <p:grpSp>
        <p:nvGrpSpPr>
          <p:cNvPr id="19" name="Group 18">
            <a:extLst>
              <a:ext uri="{FF2B5EF4-FFF2-40B4-BE49-F238E27FC236}">
                <a16:creationId xmlns:a16="http://schemas.microsoft.com/office/drawing/2014/main" id="{0237E5E9-E463-0492-F9A5-9443A900A31B}"/>
              </a:ext>
            </a:extLst>
          </p:cNvPr>
          <p:cNvGrpSpPr/>
          <p:nvPr/>
        </p:nvGrpSpPr>
        <p:grpSpPr>
          <a:xfrm>
            <a:off x="6117292" y="182383"/>
            <a:ext cx="2463022" cy="1773395"/>
            <a:chOff x="6117292" y="182383"/>
            <a:chExt cx="2463022" cy="1773395"/>
          </a:xfrm>
        </p:grpSpPr>
        <p:grpSp>
          <p:nvGrpSpPr>
            <p:cNvPr id="22" name="Group 21">
              <a:extLst>
                <a:ext uri="{FF2B5EF4-FFF2-40B4-BE49-F238E27FC236}">
                  <a16:creationId xmlns:a16="http://schemas.microsoft.com/office/drawing/2014/main" id="{08CAC67E-1868-7E17-D59D-BA43C5479EB7}"/>
                </a:ext>
                <a:ext uri="{C183D7F6-B498-43B3-948B-1728B52AA6E4}">
                  <adec:decorative xmlns:adec="http://schemas.microsoft.com/office/drawing/2017/decorative" val="1"/>
                </a:ext>
              </a:extLst>
            </p:cNvPr>
            <p:cNvGrpSpPr/>
            <p:nvPr/>
          </p:nvGrpSpPr>
          <p:grpSpPr>
            <a:xfrm>
              <a:off x="6117292" y="708224"/>
              <a:ext cx="2438400" cy="1247554"/>
              <a:chOff x="6076950" y="365126"/>
              <a:chExt cx="2438400" cy="1247554"/>
            </a:xfrm>
          </p:grpSpPr>
          <p:pic>
            <p:nvPicPr>
              <p:cNvPr id="28" name="Picture 4" descr="vacuum2-environment">
                <a:extLst>
                  <a:ext uri="{FF2B5EF4-FFF2-40B4-BE49-F238E27FC236}">
                    <a16:creationId xmlns:a16="http://schemas.microsoft.com/office/drawing/2014/main" id="{381104A3-02DC-F726-1B33-9CF4C9A8DDAD}"/>
                  </a:ext>
                </a:extLst>
              </p:cNvPr>
              <p:cNvPicPr>
                <a:picLocks noChangeAspect="1" noChangeArrowheads="1"/>
              </p:cNvPicPr>
              <p:nvPr/>
            </p:nvPicPr>
            <p:blipFill>
              <a:blip r:embed="rId6" cstate="print"/>
              <a:srcRect/>
              <a:stretch>
                <a:fillRect/>
              </a:stretch>
            </p:blipFill>
            <p:spPr bwMode="auto">
              <a:xfrm>
                <a:off x="6076950" y="365126"/>
                <a:ext cx="2438400" cy="1247554"/>
              </a:xfrm>
              <a:prstGeom prst="rect">
                <a:avLst/>
              </a:prstGeom>
              <a:noFill/>
            </p:spPr>
          </p:pic>
          <p:sp>
            <p:nvSpPr>
              <p:cNvPr id="29" name="Freeform: Shape 28">
                <a:extLst>
                  <a:ext uri="{FF2B5EF4-FFF2-40B4-BE49-F238E27FC236}">
                    <a16:creationId xmlns:a16="http://schemas.microsoft.com/office/drawing/2014/main" id="{D79068EF-A37A-BE67-F073-C5656CB88E71}"/>
                  </a:ext>
                </a:extLst>
              </p:cNvPr>
              <p:cNvSpPr/>
              <p:nvPr/>
            </p:nvSpPr>
            <p:spPr>
              <a:xfrm>
                <a:off x="6644640" y="985520"/>
                <a:ext cx="1036320" cy="111760"/>
              </a:xfrm>
              <a:custGeom>
                <a:avLst/>
                <a:gdLst>
                  <a:gd name="connsiteX0" fmla="*/ 0 w 1036320"/>
                  <a:gd name="connsiteY0" fmla="*/ 0 h 111760"/>
                  <a:gd name="connsiteX1" fmla="*/ 50800 w 1036320"/>
                  <a:gd name="connsiteY1" fmla="*/ 20320 h 111760"/>
                  <a:gd name="connsiteX2" fmla="*/ 91440 w 1036320"/>
                  <a:gd name="connsiteY2" fmla="*/ 50800 h 111760"/>
                  <a:gd name="connsiteX3" fmla="*/ 172720 w 1036320"/>
                  <a:gd name="connsiteY3" fmla="*/ 71120 h 111760"/>
                  <a:gd name="connsiteX4" fmla="*/ 386080 w 1036320"/>
                  <a:gd name="connsiteY4" fmla="*/ 111760 h 111760"/>
                  <a:gd name="connsiteX5" fmla="*/ 1036320 w 1036320"/>
                  <a:gd name="connsiteY5" fmla="*/ 101600 h 11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6320" h="111760">
                    <a:moveTo>
                      <a:pt x="0" y="0"/>
                    </a:moveTo>
                    <a:cubicBezTo>
                      <a:pt x="16933" y="6773"/>
                      <a:pt x="34857" y="11463"/>
                      <a:pt x="50800" y="20320"/>
                    </a:cubicBezTo>
                    <a:cubicBezTo>
                      <a:pt x="65602" y="28544"/>
                      <a:pt x="75809" y="44287"/>
                      <a:pt x="91440" y="50800"/>
                    </a:cubicBezTo>
                    <a:cubicBezTo>
                      <a:pt x="117219" y="61541"/>
                      <a:pt x="145535" y="64724"/>
                      <a:pt x="172720" y="71120"/>
                    </a:cubicBezTo>
                    <a:cubicBezTo>
                      <a:pt x="279301" y="96198"/>
                      <a:pt x="266453" y="91822"/>
                      <a:pt x="386080" y="111760"/>
                    </a:cubicBezTo>
                    <a:cubicBezTo>
                      <a:pt x="738107" y="94159"/>
                      <a:pt x="521462" y="101600"/>
                      <a:pt x="1036320" y="101600"/>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30" name="Freeform: Shape 29">
                <a:extLst>
                  <a:ext uri="{FF2B5EF4-FFF2-40B4-BE49-F238E27FC236}">
                    <a16:creationId xmlns:a16="http://schemas.microsoft.com/office/drawing/2014/main" id="{7A8B43CB-3AB2-CD3A-B601-2DD6C9853DA4}"/>
                  </a:ext>
                </a:extLst>
              </p:cNvPr>
              <p:cNvSpPr/>
              <p:nvPr/>
            </p:nvSpPr>
            <p:spPr>
              <a:xfrm>
                <a:off x="6238240" y="975360"/>
                <a:ext cx="142240" cy="132080"/>
              </a:xfrm>
              <a:custGeom>
                <a:avLst/>
                <a:gdLst>
                  <a:gd name="connsiteX0" fmla="*/ 142240 w 142240"/>
                  <a:gd name="connsiteY0" fmla="*/ 0 h 132080"/>
                  <a:gd name="connsiteX1" fmla="*/ 50800 w 142240"/>
                  <a:gd name="connsiteY1" fmla="*/ 111760 h 132080"/>
                  <a:gd name="connsiteX2" fmla="*/ 10160 w 142240"/>
                  <a:gd name="connsiteY2" fmla="*/ 121920 h 132080"/>
                  <a:gd name="connsiteX3" fmla="*/ 0 w 142240"/>
                  <a:gd name="connsiteY3" fmla="*/ 132080 h 132080"/>
                </a:gdLst>
                <a:ahLst/>
                <a:cxnLst>
                  <a:cxn ang="0">
                    <a:pos x="connsiteX0" y="connsiteY0"/>
                  </a:cxn>
                  <a:cxn ang="0">
                    <a:pos x="connsiteX1" y="connsiteY1"/>
                  </a:cxn>
                  <a:cxn ang="0">
                    <a:pos x="connsiteX2" y="connsiteY2"/>
                  </a:cxn>
                  <a:cxn ang="0">
                    <a:pos x="connsiteX3" y="connsiteY3"/>
                  </a:cxn>
                </a:cxnLst>
                <a:rect l="l" t="t" r="r" b="b"/>
                <a:pathLst>
                  <a:path w="142240" h="132080">
                    <a:moveTo>
                      <a:pt x="142240" y="0"/>
                    </a:moveTo>
                    <a:cubicBezTo>
                      <a:pt x="111760" y="37253"/>
                      <a:pt x="86169" y="79112"/>
                      <a:pt x="50800" y="111760"/>
                    </a:cubicBezTo>
                    <a:cubicBezTo>
                      <a:pt x="40540" y="121231"/>
                      <a:pt x="23125" y="116734"/>
                      <a:pt x="10160" y="121920"/>
                    </a:cubicBezTo>
                    <a:cubicBezTo>
                      <a:pt x="5713" y="123699"/>
                      <a:pt x="3387" y="128693"/>
                      <a:pt x="0" y="132080"/>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31" name="Freeform: Shape 30">
                <a:extLst>
                  <a:ext uri="{FF2B5EF4-FFF2-40B4-BE49-F238E27FC236}">
                    <a16:creationId xmlns:a16="http://schemas.microsoft.com/office/drawing/2014/main" id="{AB0591A2-9336-D77F-BE03-510F8EECBFD0}"/>
                  </a:ext>
                </a:extLst>
              </p:cNvPr>
              <p:cNvSpPr/>
              <p:nvPr/>
            </p:nvSpPr>
            <p:spPr>
              <a:xfrm>
                <a:off x="6421120" y="995680"/>
                <a:ext cx="50800" cy="152400"/>
              </a:xfrm>
              <a:custGeom>
                <a:avLst/>
                <a:gdLst>
                  <a:gd name="connsiteX0" fmla="*/ 50800 w 50800"/>
                  <a:gd name="connsiteY0" fmla="*/ 0 h 152400"/>
                  <a:gd name="connsiteX1" fmla="*/ 0 w 50800"/>
                  <a:gd name="connsiteY1" fmla="*/ 152400 h 152400"/>
                </a:gdLst>
                <a:ahLst/>
                <a:cxnLst>
                  <a:cxn ang="0">
                    <a:pos x="connsiteX0" y="connsiteY0"/>
                  </a:cxn>
                  <a:cxn ang="0">
                    <a:pos x="connsiteX1" y="connsiteY1"/>
                  </a:cxn>
                </a:cxnLst>
                <a:rect l="l" t="t" r="r" b="b"/>
                <a:pathLst>
                  <a:path w="50800" h="152400">
                    <a:moveTo>
                      <a:pt x="50800" y="0"/>
                    </a:moveTo>
                    <a:lnTo>
                      <a:pt x="0" y="152400"/>
                    </a:ln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32" name="Freeform: Shape 31">
                <a:extLst>
                  <a:ext uri="{FF2B5EF4-FFF2-40B4-BE49-F238E27FC236}">
                    <a16:creationId xmlns:a16="http://schemas.microsoft.com/office/drawing/2014/main" id="{CBD02449-AF8C-DD25-2354-9B2EC0BD483C}"/>
                  </a:ext>
                </a:extLst>
              </p:cNvPr>
              <p:cNvSpPr/>
              <p:nvPr/>
            </p:nvSpPr>
            <p:spPr>
              <a:xfrm>
                <a:off x="6522720" y="995680"/>
                <a:ext cx="111760" cy="101600"/>
              </a:xfrm>
              <a:custGeom>
                <a:avLst/>
                <a:gdLst>
                  <a:gd name="connsiteX0" fmla="*/ 0 w 111760"/>
                  <a:gd name="connsiteY0" fmla="*/ 0 h 101600"/>
                  <a:gd name="connsiteX1" fmla="*/ 111760 w 111760"/>
                  <a:gd name="connsiteY1" fmla="*/ 101600 h 101600"/>
                </a:gdLst>
                <a:ahLst/>
                <a:cxnLst>
                  <a:cxn ang="0">
                    <a:pos x="connsiteX0" y="connsiteY0"/>
                  </a:cxn>
                  <a:cxn ang="0">
                    <a:pos x="connsiteX1" y="connsiteY1"/>
                  </a:cxn>
                </a:cxnLst>
                <a:rect l="l" t="t" r="r" b="b"/>
                <a:pathLst>
                  <a:path w="111760" h="101600">
                    <a:moveTo>
                      <a:pt x="0" y="0"/>
                    </a:moveTo>
                    <a:cubicBezTo>
                      <a:pt x="110374" y="77262"/>
                      <a:pt x="88527" y="31902"/>
                      <a:pt x="111760" y="101600"/>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70888792-C426-6DE4-5F4C-DCA9A9EFFD5B}"/>
                </a:ext>
              </a:extLst>
            </p:cNvPr>
            <p:cNvGrpSpPr/>
            <p:nvPr/>
          </p:nvGrpSpPr>
          <p:grpSpPr>
            <a:xfrm>
              <a:off x="7222193" y="182383"/>
              <a:ext cx="1358121" cy="408979"/>
              <a:chOff x="7222193" y="182383"/>
              <a:chExt cx="1358121" cy="408979"/>
            </a:xfrm>
          </p:grpSpPr>
          <p:grpSp>
            <p:nvGrpSpPr>
              <p:cNvPr id="24" name="Group 23">
                <a:extLst>
                  <a:ext uri="{FF2B5EF4-FFF2-40B4-BE49-F238E27FC236}">
                    <a16:creationId xmlns:a16="http://schemas.microsoft.com/office/drawing/2014/main" id="{447B4F5E-5480-3C21-E76F-2F63F7F03689}"/>
                  </a:ext>
                </a:extLst>
              </p:cNvPr>
              <p:cNvGrpSpPr/>
              <p:nvPr/>
            </p:nvGrpSpPr>
            <p:grpSpPr>
              <a:xfrm rot="5400000">
                <a:off x="7132003" y="272573"/>
                <a:ext cx="408979" cy="228600"/>
                <a:chOff x="339924" y="1249999"/>
                <a:chExt cx="408979" cy="228600"/>
              </a:xfrm>
            </p:grpSpPr>
            <p:sp>
              <p:nvSpPr>
                <p:cNvPr id="26" name="Isosceles Triangle 25">
                  <a:extLst>
                    <a:ext uri="{FF2B5EF4-FFF2-40B4-BE49-F238E27FC236}">
                      <a16:creationId xmlns:a16="http://schemas.microsoft.com/office/drawing/2014/main" id="{F62CA1C4-88E8-015C-DA5E-A288A3E09079}"/>
                    </a:ext>
                  </a:extLst>
                </p:cNvPr>
                <p:cNvSpPr/>
                <p:nvPr/>
              </p:nvSpPr>
              <p:spPr>
                <a:xfrm rot="16200000">
                  <a:off x="485776" y="1177372"/>
                  <a:ext cx="152400" cy="373855"/>
                </a:xfrm>
                <a:prstGeom prst="triangle">
                  <a:avLst>
                    <a:gd name="adj" fmla="val 53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4C7C833-7C74-EE21-26CF-993D46DD6D04}"/>
                    </a:ext>
                  </a:extLst>
                </p:cNvPr>
                <p:cNvSpPr/>
                <p:nvPr/>
              </p:nvSpPr>
              <p:spPr>
                <a:xfrm>
                  <a:off x="339924" y="1249999"/>
                  <a:ext cx="323850" cy="228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25" name="TextBox 24">
                <a:extLst>
                  <a:ext uri="{FF2B5EF4-FFF2-40B4-BE49-F238E27FC236}">
                    <a16:creationId xmlns:a16="http://schemas.microsoft.com/office/drawing/2014/main" id="{F32584C9-2D07-1CF5-56BB-1A91E7F06B2C}"/>
                  </a:ext>
                </a:extLst>
              </p:cNvPr>
              <p:cNvSpPr txBox="1"/>
              <p:nvPr/>
            </p:nvSpPr>
            <p:spPr>
              <a:xfrm>
                <a:off x="7412692" y="238168"/>
                <a:ext cx="1167622" cy="253916"/>
              </a:xfrm>
              <a:prstGeom prst="rect">
                <a:avLst/>
              </a:prstGeom>
              <a:noFill/>
            </p:spPr>
            <p:txBody>
              <a:bodyPr wrap="square" rtlCol="0">
                <a:spAutoFit/>
              </a:bodyPr>
              <a:lstStyle/>
              <a:p>
                <a:r>
                  <a:rPr lang="en-US" sz="1050" dirty="0"/>
                  <a:t>Full observability</a:t>
                </a:r>
              </a:p>
            </p:txBody>
          </p:sp>
        </p:grpSp>
      </p:grpSp>
    </p:spTree>
    <p:extLst>
      <p:ext uri="{BB962C8B-B14F-4D97-AF65-F5344CB8AC3E}">
        <p14:creationId xmlns:p14="http://schemas.microsoft.com/office/powerpoint/2010/main" val="1341079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D0180-37CE-4645-845C-D259D88C84B9}"/>
              </a:ext>
            </a:extLst>
          </p:cNvPr>
          <p:cNvSpPr>
            <a:spLocks noGrp="1"/>
          </p:cNvSpPr>
          <p:nvPr>
            <p:ph type="title"/>
          </p:nvPr>
        </p:nvSpPr>
        <p:spPr>
          <a:xfrm>
            <a:off x="628650" y="365126"/>
            <a:ext cx="7886700" cy="635059"/>
          </a:xfrm>
        </p:spPr>
        <p:txBody>
          <a:bodyPr>
            <a:noAutofit/>
          </a:bodyPr>
          <a:lstStyle/>
          <a:p>
            <a:r>
              <a:rPr lang="en-US" sz="3200" dirty="0"/>
              <a:t>Transition Model as an AND-OR Search Tree</a:t>
            </a:r>
          </a:p>
        </p:txBody>
      </p:sp>
      <p:grpSp>
        <p:nvGrpSpPr>
          <p:cNvPr id="20" name="Group 19">
            <a:extLst>
              <a:ext uri="{FF2B5EF4-FFF2-40B4-BE49-F238E27FC236}">
                <a16:creationId xmlns:a16="http://schemas.microsoft.com/office/drawing/2014/main" id="{E37B5BF6-C0D7-24B8-55F1-7979D5265B05}"/>
              </a:ext>
            </a:extLst>
          </p:cNvPr>
          <p:cNvGrpSpPr/>
          <p:nvPr/>
        </p:nvGrpSpPr>
        <p:grpSpPr>
          <a:xfrm>
            <a:off x="232321" y="1070043"/>
            <a:ext cx="6308308" cy="5254557"/>
            <a:chOff x="232321" y="1070043"/>
            <a:chExt cx="6308308" cy="5254557"/>
          </a:xfrm>
        </p:grpSpPr>
        <p:grpSp>
          <p:nvGrpSpPr>
            <p:cNvPr id="19" name="Group 18" descr="An example of an AND-OR Search tree.">
              <a:extLst>
                <a:ext uri="{FF2B5EF4-FFF2-40B4-BE49-F238E27FC236}">
                  <a16:creationId xmlns:a16="http://schemas.microsoft.com/office/drawing/2014/main" id="{CA7EBA94-26E4-E1A2-B998-FF9D12667A07}"/>
                </a:ext>
              </a:extLst>
            </p:cNvPr>
            <p:cNvGrpSpPr/>
            <p:nvPr/>
          </p:nvGrpSpPr>
          <p:grpSpPr>
            <a:xfrm>
              <a:off x="232321" y="1070043"/>
              <a:ext cx="6308308" cy="5254557"/>
              <a:chOff x="232321" y="1070043"/>
              <a:chExt cx="6308308" cy="5254557"/>
            </a:xfrm>
          </p:grpSpPr>
          <p:pic>
            <p:nvPicPr>
              <p:cNvPr id="6" name="Picture 5">
                <a:extLst>
                  <a:ext uri="{FF2B5EF4-FFF2-40B4-BE49-F238E27FC236}">
                    <a16:creationId xmlns:a16="http://schemas.microsoft.com/office/drawing/2014/main" id="{C8DD7FE8-09EB-43E6-90C5-92693E924B40}"/>
                  </a:ext>
                </a:extLst>
              </p:cNvPr>
              <p:cNvPicPr>
                <a:picLocks noChangeAspect="1"/>
              </p:cNvPicPr>
              <p:nvPr/>
            </p:nvPicPr>
            <p:blipFill>
              <a:blip r:embed="rId2"/>
              <a:stretch>
                <a:fillRect/>
              </a:stretch>
            </p:blipFill>
            <p:spPr>
              <a:xfrm>
                <a:off x="304800" y="1070043"/>
                <a:ext cx="6235829" cy="5254557"/>
              </a:xfrm>
              <a:prstGeom prst="rect">
                <a:avLst/>
              </a:prstGeom>
            </p:spPr>
          </p:pic>
          <p:sp>
            <p:nvSpPr>
              <p:cNvPr id="12" name="TextBox 11">
                <a:extLst>
                  <a:ext uri="{FF2B5EF4-FFF2-40B4-BE49-F238E27FC236}">
                    <a16:creationId xmlns:a16="http://schemas.microsoft.com/office/drawing/2014/main" id="{06AFFFA7-C3AB-4AD4-BE16-A695AA7B665A}"/>
                  </a:ext>
                </a:extLst>
              </p:cNvPr>
              <p:cNvSpPr txBox="1"/>
              <p:nvPr/>
            </p:nvSpPr>
            <p:spPr>
              <a:xfrm>
                <a:off x="232321" y="4800600"/>
                <a:ext cx="1502233" cy="95410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sz="1400" b="1" i="1" dirty="0"/>
                  <a:t>LOOP</a:t>
                </a:r>
                <a:r>
                  <a:rPr lang="en-US" sz="1400" dirty="0"/>
                  <a:t>: No need to continue search. Solution is the same as above.</a:t>
                </a:r>
              </a:p>
            </p:txBody>
          </p:sp>
          <p:sp>
            <p:nvSpPr>
              <p:cNvPr id="13" name="Freeform: Shape 12">
                <a:extLst>
                  <a:ext uri="{FF2B5EF4-FFF2-40B4-BE49-F238E27FC236}">
                    <a16:creationId xmlns:a16="http://schemas.microsoft.com/office/drawing/2014/main" id="{92E968F7-CD2F-4A18-A61D-549764EAD0DC}"/>
                  </a:ext>
                </a:extLst>
              </p:cNvPr>
              <p:cNvSpPr/>
              <p:nvPr/>
            </p:nvSpPr>
            <p:spPr>
              <a:xfrm>
                <a:off x="957627" y="2940821"/>
                <a:ext cx="950495" cy="1275717"/>
              </a:xfrm>
              <a:custGeom>
                <a:avLst/>
                <a:gdLst>
                  <a:gd name="connsiteX0" fmla="*/ 93717 w 1441254"/>
                  <a:gd name="connsiteY0" fmla="*/ 2093495 h 2093495"/>
                  <a:gd name="connsiteX1" fmla="*/ 141843 w 1441254"/>
                  <a:gd name="connsiteY1" fmla="*/ 685800 h 2093495"/>
                  <a:gd name="connsiteX2" fmla="*/ 1441254 w 1441254"/>
                  <a:gd name="connsiteY2" fmla="*/ 0 h 2093495"/>
                </a:gdLst>
                <a:ahLst/>
                <a:cxnLst>
                  <a:cxn ang="0">
                    <a:pos x="connsiteX0" y="connsiteY0"/>
                  </a:cxn>
                  <a:cxn ang="0">
                    <a:pos x="connsiteX1" y="connsiteY1"/>
                  </a:cxn>
                  <a:cxn ang="0">
                    <a:pos x="connsiteX2" y="connsiteY2"/>
                  </a:cxn>
                </a:cxnLst>
                <a:rect l="l" t="t" r="r" b="b"/>
                <a:pathLst>
                  <a:path w="1441254" h="2093495">
                    <a:moveTo>
                      <a:pt x="93717" y="2093495"/>
                    </a:moveTo>
                    <a:cubicBezTo>
                      <a:pt x="5485" y="1564105"/>
                      <a:pt x="-82746" y="1034716"/>
                      <a:pt x="141843" y="685800"/>
                    </a:cubicBezTo>
                    <a:cubicBezTo>
                      <a:pt x="366432" y="336884"/>
                      <a:pt x="903843" y="168442"/>
                      <a:pt x="1441254" y="0"/>
                    </a:cubicBezTo>
                  </a:path>
                </a:pathLst>
              </a:custGeom>
              <a:ln w="28575">
                <a:headEnd type="none" w="med" len="med"/>
                <a:tailEnd type="arrow"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dirty="0"/>
              </a:p>
            </p:txBody>
          </p:sp>
          <p:sp>
            <p:nvSpPr>
              <p:cNvPr id="14" name="TextBox 13">
                <a:extLst>
                  <a:ext uri="{FF2B5EF4-FFF2-40B4-BE49-F238E27FC236}">
                    <a16:creationId xmlns:a16="http://schemas.microsoft.com/office/drawing/2014/main" id="{7C982EB7-F9E0-ADCC-4002-CCEEE8FFC7B1}"/>
                  </a:ext>
                </a:extLst>
              </p:cNvPr>
              <p:cNvSpPr txBox="1"/>
              <p:nvPr/>
            </p:nvSpPr>
            <p:spPr>
              <a:xfrm>
                <a:off x="2877050" y="1578305"/>
                <a:ext cx="561475" cy="369332"/>
              </a:xfrm>
              <a:prstGeom prst="rect">
                <a:avLst/>
              </a:prstGeom>
              <a:noFill/>
            </p:spPr>
            <p:txBody>
              <a:bodyPr wrap="square" rtlCol="0">
                <a:spAutoFit/>
              </a:bodyPr>
              <a:lstStyle/>
              <a:p>
                <a:pPr algn="ctr"/>
                <a:r>
                  <a:rPr lang="en-US" dirty="0"/>
                  <a:t>OR</a:t>
                </a:r>
              </a:p>
            </p:txBody>
          </p:sp>
          <p:sp>
            <p:nvSpPr>
              <p:cNvPr id="17" name="TextBox 16">
                <a:extLst>
                  <a:ext uri="{FF2B5EF4-FFF2-40B4-BE49-F238E27FC236}">
                    <a16:creationId xmlns:a16="http://schemas.microsoft.com/office/drawing/2014/main" id="{398061F0-E1E9-3B17-F59A-5FD0B774FE96}"/>
                  </a:ext>
                </a:extLst>
              </p:cNvPr>
              <p:cNvSpPr txBox="1"/>
              <p:nvPr/>
            </p:nvSpPr>
            <p:spPr>
              <a:xfrm>
                <a:off x="1260700" y="2403363"/>
                <a:ext cx="647422" cy="369332"/>
              </a:xfrm>
              <a:prstGeom prst="rect">
                <a:avLst/>
              </a:prstGeom>
              <a:noFill/>
            </p:spPr>
            <p:txBody>
              <a:bodyPr wrap="square" rtlCol="0">
                <a:spAutoFit/>
              </a:bodyPr>
              <a:lstStyle/>
              <a:p>
                <a:pPr algn="ctr"/>
                <a:r>
                  <a:rPr lang="en-US" dirty="0"/>
                  <a:t>AND</a:t>
                </a:r>
              </a:p>
            </p:txBody>
          </p:sp>
        </p:grpSp>
        <p:sp>
          <p:nvSpPr>
            <p:cNvPr id="3" name="TextBox 2">
              <a:extLst>
                <a:ext uri="{FF2B5EF4-FFF2-40B4-BE49-F238E27FC236}">
                  <a16:creationId xmlns:a16="http://schemas.microsoft.com/office/drawing/2014/main" id="{9AF6D7DE-CDCD-E2BD-E153-785D52BC0F37}"/>
                </a:ext>
              </a:extLst>
            </p:cNvPr>
            <p:cNvSpPr txBox="1"/>
            <p:nvPr/>
          </p:nvSpPr>
          <p:spPr>
            <a:xfrm>
              <a:off x="5529345" y="4572001"/>
              <a:ext cx="568290" cy="584775"/>
            </a:xfrm>
            <a:prstGeom prst="rect">
              <a:avLst/>
            </a:prstGeom>
            <a:noFill/>
          </p:spPr>
          <p:txBody>
            <a:bodyPr wrap="square" rtlCol="0">
              <a:spAutoFit/>
            </a:bodyPr>
            <a:lstStyle/>
            <a:p>
              <a:r>
                <a:rPr lang="en-US" sz="3200" dirty="0"/>
                <a:t>…</a:t>
              </a:r>
            </a:p>
          </p:txBody>
        </p:sp>
      </p:grpSp>
      <p:grpSp>
        <p:nvGrpSpPr>
          <p:cNvPr id="38" name="Group 37">
            <a:extLst>
              <a:ext uri="{FF2B5EF4-FFF2-40B4-BE49-F238E27FC236}">
                <a16:creationId xmlns:a16="http://schemas.microsoft.com/office/drawing/2014/main" id="{7D948D8B-EF70-4C09-AB2C-9B821EFE013B}"/>
              </a:ext>
              <a:ext uri="{C183D7F6-B498-43B3-948B-1728B52AA6E4}">
                <adec:decorative xmlns:adec="http://schemas.microsoft.com/office/drawing/2017/decorative" val="1"/>
              </a:ext>
            </a:extLst>
          </p:cNvPr>
          <p:cNvGrpSpPr/>
          <p:nvPr/>
        </p:nvGrpSpPr>
        <p:grpSpPr>
          <a:xfrm>
            <a:off x="5105400" y="1133567"/>
            <a:ext cx="3886200" cy="1304833"/>
            <a:chOff x="6324600" y="685800"/>
            <a:chExt cx="3886200" cy="1304833"/>
          </a:xfrm>
        </p:grpSpPr>
        <p:pic>
          <p:nvPicPr>
            <p:cNvPr id="4" name="Picture 3">
              <a:extLst>
                <a:ext uri="{FF2B5EF4-FFF2-40B4-BE49-F238E27FC236}">
                  <a16:creationId xmlns:a16="http://schemas.microsoft.com/office/drawing/2014/main" id="{8A77C5A2-CB48-4B61-B569-575BE5797AAF}"/>
                </a:ext>
              </a:extLst>
            </p:cNvPr>
            <p:cNvPicPr>
              <a:picLocks noChangeAspect="1"/>
            </p:cNvPicPr>
            <p:nvPr/>
          </p:nvPicPr>
          <p:blipFill>
            <a:blip r:embed="rId3"/>
            <a:stretch>
              <a:fillRect/>
            </a:stretch>
          </p:blipFill>
          <p:spPr>
            <a:xfrm>
              <a:off x="6442110" y="849212"/>
              <a:ext cx="590580" cy="292115"/>
            </a:xfrm>
            <a:prstGeom prst="rect">
              <a:avLst/>
            </a:prstGeom>
          </p:spPr>
        </p:pic>
        <p:pic>
          <p:nvPicPr>
            <p:cNvPr id="5" name="Content Placeholder 7">
              <a:extLst>
                <a:ext uri="{FF2B5EF4-FFF2-40B4-BE49-F238E27FC236}">
                  <a16:creationId xmlns:a16="http://schemas.microsoft.com/office/drawing/2014/main" id="{B218A11C-3E1F-4FFE-8206-6AA92CBE7348}"/>
                </a:ext>
              </a:extLst>
            </p:cNvPr>
            <p:cNvPicPr>
              <a:picLocks noChangeAspect="1"/>
            </p:cNvPicPr>
            <p:nvPr/>
          </p:nvPicPr>
          <p:blipFill>
            <a:blip r:embed="rId4"/>
            <a:stretch>
              <a:fillRect/>
            </a:stretch>
          </p:blipFill>
          <p:spPr>
            <a:xfrm>
              <a:off x="6532586" y="1330818"/>
              <a:ext cx="342918" cy="285765"/>
            </a:xfrm>
            <a:prstGeom prst="rect">
              <a:avLst/>
            </a:prstGeom>
          </p:spPr>
        </p:pic>
        <p:sp>
          <p:nvSpPr>
            <p:cNvPr id="7" name="TextBox 6">
              <a:extLst>
                <a:ext uri="{FF2B5EF4-FFF2-40B4-BE49-F238E27FC236}">
                  <a16:creationId xmlns:a16="http://schemas.microsoft.com/office/drawing/2014/main" id="{DDFAFB51-3856-4A9A-B28E-3F6106AE46B1}"/>
                </a:ext>
              </a:extLst>
            </p:cNvPr>
            <p:cNvSpPr txBox="1"/>
            <p:nvPr/>
          </p:nvSpPr>
          <p:spPr>
            <a:xfrm>
              <a:off x="7010400" y="859301"/>
              <a:ext cx="3013157" cy="369332"/>
            </a:xfrm>
            <a:prstGeom prst="rect">
              <a:avLst/>
            </a:prstGeom>
            <a:noFill/>
          </p:spPr>
          <p:txBody>
            <a:bodyPr wrap="square" rtlCol="0">
              <a:spAutoFit/>
            </a:bodyPr>
            <a:lstStyle/>
            <a:p>
              <a:r>
                <a:rPr lang="en-US" dirty="0"/>
                <a:t>OR node: choose one action</a:t>
              </a:r>
            </a:p>
          </p:txBody>
        </p:sp>
        <p:sp>
          <p:nvSpPr>
            <p:cNvPr id="8" name="TextBox 7">
              <a:extLst>
                <a:ext uri="{FF2B5EF4-FFF2-40B4-BE49-F238E27FC236}">
                  <a16:creationId xmlns:a16="http://schemas.microsoft.com/office/drawing/2014/main" id="{A06713E7-4353-41E7-9DF7-E7A9BABD61D5}"/>
                </a:ext>
              </a:extLst>
            </p:cNvPr>
            <p:cNvSpPr txBox="1"/>
            <p:nvPr/>
          </p:nvSpPr>
          <p:spPr>
            <a:xfrm>
              <a:off x="6872456" y="1306217"/>
              <a:ext cx="3330510" cy="646331"/>
            </a:xfrm>
            <a:prstGeom prst="rect">
              <a:avLst/>
            </a:prstGeom>
            <a:noFill/>
          </p:spPr>
          <p:txBody>
            <a:bodyPr wrap="square" rtlCol="0">
              <a:spAutoFit/>
            </a:bodyPr>
            <a:lstStyle/>
            <a:p>
              <a:r>
                <a:rPr lang="en-US" dirty="0"/>
                <a:t>AND node: all possible outcomes;       </a:t>
              </a:r>
              <a:br>
                <a:rPr lang="en-US" dirty="0"/>
              </a:br>
              <a:r>
                <a:rPr lang="en-US" dirty="0"/>
                <a:t>             represents a belief state.</a:t>
              </a:r>
            </a:p>
          </p:txBody>
        </p:sp>
        <p:sp>
          <p:nvSpPr>
            <p:cNvPr id="9" name="Rectangle 8">
              <a:extLst>
                <a:ext uri="{FF2B5EF4-FFF2-40B4-BE49-F238E27FC236}">
                  <a16:creationId xmlns:a16="http://schemas.microsoft.com/office/drawing/2014/main" id="{BB4F31D0-678B-4312-8A13-B59198B99DA9}"/>
                </a:ext>
              </a:extLst>
            </p:cNvPr>
            <p:cNvSpPr/>
            <p:nvPr/>
          </p:nvSpPr>
          <p:spPr>
            <a:xfrm>
              <a:off x="6324600" y="685800"/>
              <a:ext cx="3886200" cy="1304833"/>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Tree>
    <p:extLst>
      <p:ext uri="{BB962C8B-B14F-4D97-AF65-F5344CB8AC3E}">
        <p14:creationId xmlns:p14="http://schemas.microsoft.com/office/powerpoint/2010/main" val="1455465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A71E1-1590-4517-A928-48A6D115997C}"/>
              </a:ext>
            </a:extLst>
          </p:cNvPr>
          <p:cNvSpPr>
            <a:spLocks noGrp="1"/>
          </p:cNvSpPr>
          <p:nvPr>
            <p:ph type="title"/>
          </p:nvPr>
        </p:nvSpPr>
        <p:spPr/>
        <p:txBody>
          <a:bodyPr/>
          <a:lstStyle/>
          <a:p>
            <a:r>
              <a:rPr lang="en-US" dirty="0"/>
              <a:t>Search the AND-OR Tree</a:t>
            </a:r>
          </a:p>
        </p:txBody>
      </p:sp>
      <p:sp>
        <p:nvSpPr>
          <p:cNvPr id="28" name="Content Placeholder 27">
            <a:extLst>
              <a:ext uri="{FF2B5EF4-FFF2-40B4-BE49-F238E27FC236}">
                <a16:creationId xmlns:a16="http://schemas.microsoft.com/office/drawing/2014/main" id="{B54CF525-7D3F-4EEA-973F-3042015045E5}"/>
              </a:ext>
            </a:extLst>
          </p:cNvPr>
          <p:cNvSpPr>
            <a:spLocks noGrp="1"/>
          </p:cNvSpPr>
          <p:nvPr>
            <p:ph sz="half" idx="2"/>
          </p:nvPr>
        </p:nvSpPr>
        <p:spPr/>
        <p:txBody>
          <a:bodyPr>
            <a:normAutofit fontScale="62500" lnSpcReduction="20000"/>
          </a:bodyPr>
          <a:lstStyle/>
          <a:p>
            <a:r>
              <a:rPr lang="en-US" b="1" dirty="0"/>
              <a:t>Goal</a:t>
            </a:r>
            <a:r>
              <a:rPr lang="en-US" dirty="0"/>
              <a:t>: Find a subtree with one action for each OR node and considering all outcomes of the AND nodes that has only goal leaf nodes.</a:t>
            </a:r>
          </a:p>
          <a:p>
            <a:endParaRPr lang="en-US" dirty="0"/>
          </a:p>
          <a:p>
            <a:r>
              <a:rPr lang="en-US" dirty="0"/>
              <a:t>Descend the tree depth-first:</a:t>
            </a:r>
          </a:p>
          <a:p>
            <a:pPr lvl="1"/>
            <a:r>
              <a:rPr lang="en-US" dirty="0"/>
              <a:t>OR node:  trying one action at a time.</a:t>
            </a:r>
          </a:p>
          <a:p>
            <a:pPr lvl="1"/>
            <a:r>
              <a:rPr lang="en-US" dirty="0"/>
              <a:t>AND node:  consider all outcomes and check recursively.</a:t>
            </a:r>
          </a:p>
          <a:p>
            <a:pPr lvl="1"/>
            <a:r>
              <a:rPr lang="en-US" dirty="0"/>
              <a:t>Ignore cycles.</a:t>
            </a:r>
          </a:p>
          <a:p>
            <a:pPr lvl="1"/>
            <a:r>
              <a:rPr lang="en-US" dirty="0"/>
              <a:t>Abandon a subtree if not all leaf nodes are the desired goal nodes.</a:t>
            </a:r>
          </a:p>
          <a:p>
            <a:pPr lvl="1"/>
            <a:r>
              <a:rPr lang="en-US" dirty="0"/>
              <a:t>Stop when </a:t>
            </a:r>
            <a:r>
              <a:rPr lang="en-US" b="1" dirty="0"/>
              <a:t>the first complete subtree with only goal leaf nodes is found.</a:t>
            </a:r>
            <a:endParaRPr lang="en-US" dirty="0"/>
          </a:p>
          <a:p>
            <a:r>
              <a:rPr lang="en-US" dirty="0"/>
              <a:t>Construct the conditional plan that represents the subtree starting at the root node.</a:t>
            </a:r>
          </a:p>
        </p:txBody>
      </p:sp>
      <p:grpSp>
        <p:nvGrpSpPr>
          <p:cNvPr id="10" name="Group 9">
            <a:extLst>
              <a:ext uri="{FF2B5EF4-FFF2-40B4-BE49-F238E27FC236}">
                <a16:creationId xmlns:a16="http://schemas.microsoft.com/office/drawing/2014/main" id="{290E329F-F00C-C2E8-7D1C-319DECF3B22C}"/>
              </a:ext>
            </a:extLst>
          </p:cNvPr>
          <p:cNvGrpSpPr/>
          <p:nvPr/>
        </p:nvGrpSpPr>
        <p:grpSpPr>
          <a:xfrm>
            <a:off x="457200" y="5466041"/>
            <a:ext cx="4572000" cy="1150898"/>
            <a:chOff x="457200" y="5604227"/>
            <a:chExt cx="4572000" cy="1150898"/>
          </a:xfrm>
        </p:grpSpPr>
        <p:sp>
          <p:nvSpPr>
            <p:cNvPr id="6" name="TextBox 5">
              <a:extLst>
                <a:ext uri="{FF2B5EF4-FFF2-40B4-BE49-F238E27FC236}">
                  <a16:creationId xmlns:a16="http://schemas.microsoft.com/office/drawing/2014/main" id="{C47E4BD9-BCFB-66CF-DD62-1BC48CA76F3D}"/>
                </a:ext>
              </a:extLst>
            </p:cNvPr>
            <p:cNvSpPr txBox="1"/>
            <p:nvPr/>
          </p:nvSpPr>
          <p:spPr>
            <a:xfrm>
              <a:off x="457200" y="6108794"/>
              <a:ext cx="4572000"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r>
                <a:rPr lang="en-US" dirty="0"/>
                <a:t>Conditional Plan:</a:t>
              </a:r>
            </a:p>
            <a:p>
              <a:r>
                <a:rPr lang="en-US" dirty="0"/>
                <a:t>[Suck, </a:t>
              </a:r>
              <a:r>
                <a:rPr lang="en-US" b="1" dirty="0"/>
                <a:t>if</a:t>
              </a:r>
              <a:r>
                <a:rPr lang="en-US" dirty="0"/>
                <a:t> State = 5 </a:t>
              </a:r>
              <a:r>
                <a:rPr lang="en-US" b="1" dirty="0"/>
                <a:t>then</a:t>
              </a:r>
              <a:r>
                <a:rPr lang="en-US" dirty="0"/>
                <a:t> [Right, Suck] </a:t>
              </a:r>
              <a:r>
                <a:rPr lang="en-US" b="1" dirty="0"/>
                <a:t>else</a:t>
              </a:r>
              <a:r>
                <a:rPr lang="en-US" dirty="0"/>
                <a:t> []]</a:t>
              </a:r>
            </a:p>
          </p:txBody>
        </p:sp>
        <p:sp>
          <p:nvSpPr>
            <p:cNvPr id="7" name="Arrow: Down 6">
              <a:extLst>
                <a:ext uri="{FF2B5EF4-FFF2-40B4-BE49-F238E27FC236}">
                  <a16:creationId xmlns:a16="http://schemas.microsoft.com/office/drawing/2014/main" id="{C42832C8-70C7-9A6F-809D-F46E6B581CA3}"/>
                </a:ext>
              </a:extLst>
            </p:cNvPr>
            <p:cNvSpPr/>
            <p:nvPr/>
          </p:nvSpPr>
          <p:spPr>
            <a:xfrm>
              <a:off x="2324361" y="5604227"/>
              <a:ext cx="437628" cy="349125"/>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70D8214E-66DA-40CE-9271-34D86CBB4694}"/>
              </a:ext>
            </a:extLst>
          </p:cNvPr>
          <p:cNvGrpSpPr/>
          <p:nvPr/>
        </p:nvGrpSpPr>
        <p:grpSpPr>
          <a:xfrm>
            <a:off x="352034" y="1860769"/>
            <a:ext cx="4358100" cy="3522692"/>
            <a:chOff x="352034" y="1860769"/>
            <a:chExt cx="4358100" cy="3522692"/>
          </a:xfrm>
        </p:grpSpPr>
        <p:grpSp>
          <p:nvGrpSpPr>
            <p:cNvPr id="3" name="Group 2">
              <a:extLst>
                <a:ext uri="{FF2B5EF4-FFF2-40B4-BE49-F238E27FC236}">
                  <a16:creationId xmlns:a16="http://schemas.microsoft.com/office/drawing/2014/main" id="{F72EEC3D-47CD-93D4-8EED-0A95F3C91FC1}"/>
                </a:ext>
                <a:ext uri="{C183D7F6-B498-43B3-948B-1728B52AA6E4}">
                  <adec:decorative xmlns:adec="http://schemas.microsoft.com/office/drawing/2017/decorative" val="1"/>
                </a:ext>
              </a:extLst>
            </p:cNvPr>
            <p:cNvGrpSpPr/>
            <p:nvPr/>
          </p:nvGrpSpPr>
          <p:grpSpPr>
            <a:xfrm>
              <a:off x="352034" y="1860769"/>
              <a:ext cx="4358100" cy="3522692"/>
              <a:chOff x="352034" y="1860769"/>
              <a:chExt cx="4358100" cy="3522692"/>
            </a:xfrm>
          </p:grpSpPr>
          <p:pic>
            <p:nvPicPr>
              <p:cNvPr id="30" name="Picture 29">
                <a:extLst>
                  <a:ext uri="{FF2B5EF4-FFF2-40B4-BE49-F238E27FC236}">
                    <a16:creationId xmlns:a16="http://schemas.microsoft.com/office/drawing/2014/main" id="{CFF01980-78D9-46DC-A2C6-56FA32790BFF}"/>
                  </a:ext>
                </a:extLst>
              </p:cNvPr>
              <p:cNvPicPr>
                <a:picLocks noChangeAspect="1"/>
              </p:cNvPicPr>
              <p:nvPr/>
            </p:nvPicPr>
            <p:blipFill>
              <a:blip r:embed="rId2"/>
              <a:stretch>
                <a:fillRect/>
              </a:stretch>
            </p:blipFill>
            <p:spPr>
              <a:xfrm>
                <a:off x="352034" y="1881505"/>
                <a:ext cx="4063845" cy="3501956"/>
              </a:xfrm>
              <a:prstGeom prst="rect">
                <a:avLst/>
              </a:prstGeom>
            </p:spPr>
          </p:pic>
          <p:cxnSp>
            <p:nvCxnSpPr>
              <p:cNvPr id="33" name="Straight Arrow Connector 32">
                <a:extLst>
                  <a:ext uri="{FF2B5EF4-FFF2-40B4-BE49-F238E27FC236}">
                    <a16:creationId xmlns:a16="http://schemas.microsoft.com/office/drawing/2014/main" id="{FDD1F4D6-4609-4C6D-B209-6C21BB220B12}"/>
                  </a:ext>
                </a:extLst>
              </p:cNvPr>
              <p:cNvCxnSpPr>
                <a:cxnSpLocks/>
              </p:cNvCxnSpPr>
              <p:nvPr/>
            </p:nvCxnSpPr>
            <p:spPr>
              <a:xfrm flipH="1">
                <a:off x="699647" y="2685730"/>
                <a:ext cx="397271" cy="26224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8D571E5-7B61-4498-946C-61E55476ACA0}"/>
                  </a:ext>
                </a:extLst>
              </p:cNvPr>
              <p:cNvCxnSpPr>
                <a:cxnSpLocks/>
              </p:cNvCxnSpPr>
              <p:nvPr/>
            </p:nvCxnSpPr>
            <p:spPr>
              <a:xfrm>
                <a:off x="1307969" y="2667076"/>
                <a:ext cx="365909" cy="30359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F4B8DE2-ED85-4A52-B06A-C9C08D4135FE}"/>
                  </a:ext>
                </a:extLst>
              </p:cNvPr>
              <p:cNvCxnSpPr>
                <a:cxnSpLocks/>
              </p:cNvCxnSpPr>
              <p:nvPr/>
            </p:nvCxnSpPr>
            <p:spPr>
              <a:xfrm flipH="1">
                <a:off x="1652969" y="4648164"/>
                <a:ext cx="20909" cy="36768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DD13759-390E-4FE9-8657-BEA391906716}"/>
                  </a:ext>
                </a:extLst>
              </p:cNvPr>
              <p:cNvCxnSpPr>
                <a:cxnSpLocks/>
              </p:cNvCxnSpPr>
              <p:nvPr/>
            </p:nvCxnSpPr>
            <p:spPr>
              <a:xfrm>
                <a:off x="2116335" y="3709740"/>
                <a:ext cx="0" cy="31714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1006325A-BDE7-41CF-86E1-D93AD128CD74}"/>
                  </a:ext>
                </a:extLst>
              </p:cNvPr>
              <p:cNvSpPr txBox="1"/>
              <p:nvPr/>
            </p:nvSpPr>
            <p:spPr>
              <a:xfrm>
                <a:off x="1132052" y="2104943"/>
                <a:ext cx="453970" cy="261610"/>
              </a:xfrm>
              <a:prstGeom prst="rect">
                <a:avLst/>
              </a:prstGeom>
              <a:solidFill>
                <a:schemeClr val="bg1"/>
              </a:solidFill>
            </p:spPr>
            <p:txBody>
              <a:bodyPr wrap="none" rtlCol="0">
                <a:spAutoFit/>
              </a:bodyPr>
              <a:lstStyle/>
              <a:p>
                <a:r>
                  <a:rPr lang="en-US" sz="1050" b="1" dirty="0">
                    <a:solidFill>
                      <a:srgbClr val="AA0000"/>
                    </a:solidFill>
                  </a:rPr>
                  <a:t>Suck</a:t>
                </a:r>
              </a:p>
            </p:txBody>
          </p:sp>
          <p:cxnSp>
            <p:nvCxnSpPr>
              <p:cNvPr id="38" name="Straight Arrow Connector 37">
                <a:extLst>
                  <a:ext uri="{FF2B5EF4-FFF2-40B4-BE49-F238E27FC236}">
                    <a16:creationId xmlns:a16="http://schemas.microsoft.com/office/drawing/2014/main" id="{6B36ECEC-41D5-4677-99C0-9FB74EE16150}"/>
                  </a:ext>
                </a:extLst>
              </p:cNvPr>
              <p:cNvCxnSpPr/>
              <p:nvPr/>
            </p:nvCxnSpPr>
            <p:spPr>
              <a:xfrm flipH="1">
                <a:off x="1245896" y="2163557"/>
                <a:ext cx="855964" cy="29394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B09F9395-4EC9-4588-A6DF-07EC3893C7D2}"/>
                  </a:ext>
                </a:extLst>
              </p:cNvPr>
              <p:cNvSpPr txBox="1"/>
              <p:nvPr/>
            </p:nvSpPr>
            <p:spPr>
              <a:xfrm>
                <a:off x="1756166" y="4386554"/>
                <a:ext cx="453970" cy="261610"/>
              </a:xfrm>
              <a:prstGeom prst="rect">
                <a:avLst/>
              </a:prstGeom>
              <a:solidFill>
                <a:schemeClr val="bg1"/>
              </a:solidFill>
            </p:spPr>
            <p:txBody>
              <a:bodyPr wrap="none" rtlCol="0">
                <a:spAutoFit/>
              </a:bodyPr>
              <a:lstStyle/>
              <a:p>
                <a:r>
                  <a:rPr lang="en-US" sz="1050" b="1" dirty="0">
                    <a:solidFill>
                      <a:srgbClr val="AA0000"/>
                    </a:solidFill>
                  </a:rPr>
                  <a:t>Suck</a:t>
                </a:r>
              </a:p>
            </p:txBody>
          </p:sp>
          <p:sp>
            <p:nvSpPr>
              <p:cNvPr id="40" name="TextBox 39">
                <a:extLst>
                  <a:ext uri="{FF2B5EF4-FFF2-40B4-BE49-F238E27FC236}">
                    <a16:creationId xmlns:a16="http://schemas.microsoft.com/office/drawing/2014/main" id="{63698E90-0154-4878-B94A-BC87126D344F}"/>
                  </a:ext>
                </a:extLst>
              </p:cNvPr>
              <p:cNvSpPr txBox="1"/>
              <p:nvPr/>
            </p:nvSpPr>
            <p:spPr>
              <a:xfrm>
                <a:off x="1983151" y="3185278"/>
                <a:ext cx="492443" cy="261610"/>
              </a:xfrm>
              <a:prstGeom prst="rect">
                <a:avLst/>
              </a:prstGeom>
              <a:solidFill>
                <a:schemeClr val="bg1"/>
              </a:solidFill>
            </p:spPr>
            <p:txBody>
              <a:bodyPr wrap="none" rtlCol="0">
                <a:spAutoFit/>
              </a:bodyPr>
              <a:lstStyle/>
              <a:p>
                <a:r>
                  <a:rPr lang="en-US" sz="1050" b="1" dirty="0">
                    <a:solidFill>
                      <a:srgbClr val="AA0000"/>
                    </a:solidFill>
                  </a:rPr>
                  <a:t>Right</a:t>
                </a:r>
              </a:p>
            </p:txBody>
          </p:sp>
          <p:cxnSp>
            <p:nvCxnSpPr>
              <p:cNvPr id="41" name="Straight Arrow Connector 40">
                <a:extLst>
                  <a:ext uri="{FF2B5EF4-FFF2-40B4-BE49-F238E27FC236}">
                    <a16:creationId xmlns:a16="http://schemas.microsoft.com/office/drawing/2014/main" id="{515D8CDE-FE23-49F9-8FCA-90BA9A36B8F9}"/>
                  </a:ext>
                </a:extLst>
              </p:cNvPr>
              <p:cNvCxnSpPr>
                <a:cxnSpLocks/>
              </p:cNvCxnSpPr>
              <p:nvPr/>
            </p:nvCxnSpPr>
            <p:spPr>
              <a:xfrm flipH="1">
                <a:off x="1673878" y="4220522"/>
                <a:ext cx="361090" cy="25098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CCD1161-5E03-43B6-B711-56734D1019C2}"/>
                  </a:ext>
                </a:extLst>
              </p:cNvPr>
              <p:cNvCxnSpPr>
                <a:cxnSpLocks/>
              </p:cNvCxnSpPr>
              <p:nvPr/>
            </p:nvCxnSpPr>
            <p:spPr>
              <a:xfrm>
                <a:off x="1692827" y="3180240"/>
                <a:ext cx="416322" cy="32636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946DFDE-B63F-C874-49FE-3F026FBC7203}"/>
                  </a:ext>
                </a:extLst>
              </p:cNvPr>
              <p:cNvSpPr txBox="1"/>
              <p:nvPr/>
            </p:nvSpPr>
            <p:spPr>
              <a:xfrm>
                <a:off x="2383957" y="1860769"/>
                <a:ext cx="1164216" cy="369332"/>
              </a:xfrm>
              <a:prstGeom prst="rect">
                <a:avLst/>
              </a:prstGeom>
              <a:noFill/>
            </p:spPr>
            <p:txBody>
              <a:bodyPr wrap="square" rtlCol="0">
                <a:spAutoFit/>
              </a:bodyPr>
              <a:lstStyle/>
              <a:p>
                <a:r>
                  <a:rPr lang="en-US" dirty="0"/>
                  <a:t>OR node</a:t>
                </a:r>
              </a:p>
            </p:txBody>
          </p:sp>
          <p:sp>
            <p:nvSpPr>
              <p:cNvPr id="9" name="TextBox 8">
                <a:extLst>
                  <a:ext uri="{FF2B5EF4-FFF2-40B4-BE49-F238E27FC236}">
                    <a16:creationId xmlns:a16="http://schemas.microsoft.com/office/drawing/2014/main" id="{0112A6CA-7977-D268-5D9A-98C31C608C50}"/>
                  </a:ext>
                </a:extLst>
              </p:cNvPr>
              <p:cNvSpPr txBox="1"/>
              <p:nvPr/>
            </p:nvSpPr>
            <p:spPr>
              <a:xfrm>
                <a:off x="1379624" y="2395516"/>
                <a:ext cx="3330510" cy="369332"/>
              </a:xfrm>
              <a:prstGeom prst="rect">
                <a:avLst/>
              </a:prstGeom>
              <a:noFill/>
            </p:spPr>
            <p:txBody>
              <a:bodyPr wrap="square" rtlCol="0">
                <a:spAutoFit/>
              </a:bodyPr>
              <a:lstStyle/>
              <a:p>
                <a:r>
                  <a:rPr lang="en-US" dirty="0"/>
                  <a:t>AND node</a:t>
                </a:r>
              </a:p>
            </p:txBody>
          </p:sp>
        </p:grpSp>
        <p:sp>
          <p:nvSpPr>
            <p:cNvPr id="11" name="TextBox 10">
              <a:extLst>
                <a:ext uri="{FF2B5EF4-FFF2-40B4-BE49-F238E27FC236}">
                  <a16:creationId xmlns:a16="http://schemas.microsoft.com/office/drawing/2014/main" id="{EE2B7D4F-AC96-E0C0-9FD3-9DF853A14B14}"/>
                </a:ext>
              </a:extLst>
            </p:cNvPr>
            <p:cNvSpPr txBox="1"/>
            <p:nvPr/>
          </p:nvSpPr>
          <p:spPr>
            <a:xfrm>
              <a:off x="3670080" y="4115276"/>
              <a:ext cx="568290" cy="584775"/>
            </a:xfrm>
            <a:prstGeom prst="rect">
              <a:avLst/>
            </a:prstGeom>
            <a:noFill/>
          </p:spPr>
          <p:txBody>
            <a:bodyPr wrap="square" rtlCol="0">
              <a:spAutoFit/>
            </a:bodyPr>
            <a:lstStyle/>
            <a:p>
              <a:r>
                <a:rPr lang="en-US" sz="3200" dirty="0"/>
                <a:t>…</a:t>
              </a:r>
            </a:p>
          </p:txBody>
        </p:sp>
      </p:grpSp>
    </p:spTree>
    <p:extLst>
      <p:ext uri="{BB962C8B-B14F-4D97-AF65-F5344CB8AC3E}">
        <p14:creationId xmlns:p14="http://schemas.microsoft.com/office/powerpoint/2010/main" val="4164144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A71E1-1590-4517-A928-48A6D115997C}"/>
              </a:ext>
            </a:extLst>
          </p:cNvPr>
          <p:cNvSpPr>
            <a:spLocks noGrp="1"/>
          </p:cNvSpPr>
          <p:nvPr>
            <p:ph type="title"/>
          </p:nvPr>
        </p:nvSpPr>
        <p:spPr>
          <a:xfrm>
            <a:off x="628650" y="152400"/>
            <a:ext cx="7886700" cy="1325563"/>
          </a:xfrm>
        </p:spPr>
        <p:txBody>
          <a:bodyPr>
            <a:normAutofit/>
          </a:bodyPr>
          <a:lstStyle/>
          <a:p>
            <a:r>
              <a:rPr lang="en-US" sz="4000" dirty="0"/>
              <a:t>Recursive AND-OR Tree Search (DFS)</a:t>
            </a:r>
          </a:p>
        </p:txBody>
      </p:sp>
      <p:sp>
        <p:nvSpPr>
          <p:cNvPr id="5" name="TextBox 4">
            <a:extLst>
              <a:ext uri="{FF2B5EF4-FFF2-40B4-BE49-F238E27FC236}">
                <a16:creationId xmlns:a16="http://schemas.microsoft.com/office/drawing/2014/main" id="{9A45A4F1-358F-4D50-A8C5-804E04EB394F}"/>
              </a:ext>
            </a:extLst>
          </p:cNvPr>
          <p:cNvSpPr txBox="1"/>
          <p:nvPr/>
        </p:nvSpPr>
        <p:spPr>
          <a:xfrm>
            <a:off x="324465" y="5845662"/>
            <a:ext cx="7798394" cy="738664"/>
          </a:xfrm>
          <a:prstGeom prst="rect">
            <a:avLst/>
          </a:prstGeom>
          <a:noFill/>
        </p:spPr>
        <p:txBody>
          <a:bodyPr wrap="square" rtlCol="0">
            <a:spAutoFit/>
          </a:bodyPr>
          <a:lstStyle/>
          <a:p>
            <a:r>
              <a:rPr lang="en-US" sz="1400" b="1" dirty="0"/>
              <a:t>Notes: </a:t>
            </a:r>
          </a:p>
          <a:p>
            <a:pPr marL="285750" indent="-285750">
              <a:buFont typeface="Arial" panose="020B0604020202020204" pitchFamily="34" charset="0"/>
              <a:buChar char="•"/>
            </a:pPr>
            <a:r>
              <a:rPr lang="en-US" sz="1400" dirty="0"/>
              <a:t>The DFS search tree is implicitly created using the call stack (recursive algorithm). </a:t>
            </a:r>
          </a:p>
          <a:p>
            <a:pPr marL="285750" indent="-285750">
              <a:buFont typeface="Arial" panose="020B0604020202020204" pitchFamily="34" charset="0"/>
              <a:buChar char="•"/>
            </a:pPr>
            <a:r>
              <a:rPr lang="en-US" sz="1400" dirty="0"/>
              <a:t>DFS is </a:t>
            </a:r>
            <a:r>
              <a:rPr lang="en-US" sz="1400" b="1" dirty="0"/>
              <a:t>not optimal</a:t>
            </a:r>
            <a:r>
              <a:rPr lang="en-US" sz="1400" dirty="0"/>
              <a:t>! It returns the first valid plan (subtree) that it finds.</a:t>
            </a:r>
          </a:p>
        </p:txBody>
      </p:sp>
      <p:grpSp>
        <p:nvGrpSpPr>
          <p:cNvPr id="3" name="Group 2" descr="The AND-OR-Search Algorithm.">
            <a:extLst>
              <a:ext uri="{FF2B5EF4-FFF2-40B4-BE49-F238E27FC236}">
                <a16:creationId xmlns:a16="http://schemas.microsoft.com/office/drawing/2014/main" id="{74C0E38D-A9AD-1264-0814-7D39415302F0}"/>
              </a:ext>
            </a:extLst>
          </p:cNvPr>
          <p:cNvGrpSpPr/>
          <p:nvPr/>
        </p:nvGrpSpPr>
        <p:grpSpPr>
          <a:xfrm>
            <a:off x="304800" y="1142999"/>
            <a:ext cx="8682715" cy="4648201"/>
            <a:chOff x="304800" y="1142999"/>
            <a:chExt cx="8682715" cy="4648201"/>
          </a:xfrm>
        </p:grpSpPr>
        <p:pic>
          <p:nvPicPr>
            <p:cNvPr id="4" name="Picture 3">
              <a:extLst>
                <a:ext uri="{FF2B5EF4-FFF2-40B4-BE49-F238E27FC236}">
                  <a16:creationId xmlns:a16="http://schemas.microsoft.com/office/drawing/2014/main" id="{124BD4AB-41E2-441A-8FB6-A19F5C72AD84}"/>
                </a:ext>
              </a:extLst>
            </p:cNvPr>
            <p:cNvPicPr>
              <a:picLocks noChangeAspect="1"/>
            </p:cNvPicPr>
            <p:nvPr/>
          </p:nvPicPr>
          <p:blipFill rotWithShape="1">
            <a:blip r:embed="rId2"/>
            <a:srcRect b="3689"/>
            <a:stretch/>
          </p:blipFill>
          <p:spPr>
            <a:xfrm>
              <a:off x="304800" y="1522328"/>
              <a:ext cx="8297629" cy="4268872"/>
            </a:xfrm>
            <a:prstGeom prst="rect">
              <a:avLst/>
            </a:prstGeom>
          </p:spPr>
          <p:style>
            <a:lnRef idx="2">
              <a:schemeClr val="accent2"/>
            </a:lnRef>
            <a:fillRef idx="1">
              <a:schemeClr val="lt1"/>
            </a:fillRef>
            <a:effectRef idx="0">
              <a:schemeClr val="accent2"/>
            </a:effectRef>
            <a:fontRef idx="minor">
              <a:schemeClr val="dk1"/>
            </a:fontRef>
          </p:style>
        </p:pic>
        <p:sp>
          <p:nvSpPr>
            <p:cNvPr id="6" name="TextBox 5">
              <a:extLst>
                <a:ext uri="{FF2B5EF4-FFF2-40B4-BE49-F238E27FC236}">
                  <a16:creationId xmlns:a16="http://schemas.microsoft.com/office/drawing/2014/main" id="{B3084913-417F-4A63-9F41-782EF5611E50}"/>
                </a:ext>
              </a:extLst>
            </p:cNvPr>
            <p:cNvSpPr txBox="1"/>
            <p:nvPr/>
          </p:nvSpPr>
          <p:spPr>
            <a:xfrm>
              <a:off x="5291814" y="2798244"/>
              <a:ext cx="3516079" cy="338554"/>
            </a:xfrm>
            <a:prstGeom prst="rect">
              <a:avLst/>
            </a:prstGeom>
            <a:noFill/>
          </p:spPr>
          <p:txBody>
            <a:bodyPr wrap="square" rtlCol="0">
              <a:spAutoFit/>
            </a:bodyPr>
            <a:lstStyle/>
            <a:p>
              <a:r>
                <a:rPr lang="en-US" sz="1600" b="1" dirty="0">
                  <a:solidFill>
                    <a:schemeClr val="bg1">
                      <a:lumMod val="65000"/>
                    </a:schemeClr>
                  </a:solidFill>
                </a:rPr>
                <a:t>// don’t follow loops using path  </a:t>
              </a:r>
            </a:p>
          </p:txBody>
        </p:sp>
        <p:sp>
          <p:nvSpPr>
            <p:cNvPr id="7" name="TextBox 6">
              <a:extLst>
                <a:ext uri="{FF2B5EF4-FFF2-40B4-BE49-F238E27FC236}">
                  <a16:creationId xmlns:a16="http://schemas.microsoft.com/office/drawing/2014/main" id="{03717645-EC77-4003-BF7E-E484C09AE7D1}"/>
                </a:ext>
              </a:extLst>
            </p:cNvPr>
            <p:cNvSpPr txBox="1"/>
            <p:nvPr/>
          </p:nvSpPr>
          <p:spPr>
            <a:xfrm>
              <a:off x="5291815" y="3101556"/>
              <a:ext cx="2590800" cy="338554"/>
            </a:xfrm>
            <a:prstGeom prst="rect">
              <a:avLst/>
            </a:prstGeom>
            <a:noFill/>
          </p:spPr>
          <p:txBody>
            <a:bodyPr wrap="square" rtlCol="0">
              <a:spAutoFit/>
            </a:bodyPr>
            <a:lstStyle/>
            <a:p>
              <a:r>
                <a:rPr lang="en-US" sz="1600" b="1" dirty="0">
                  <a:solidFill>
                    <a:srgbClr val="FF0000"/>
                  </a:solidFill>
                </a:rPr>
                <a:t>// try all possible actions</a:t>
              </a:r>
            </a:p>
          </p:txBody>
        </p:sp>
        <p:sp>
          <p:nvSpPr>
            <p:cNvPr id="8" name="TextBox 7">
              <a:extLst>
                <a:ext uri="{FF2B5EF4-FFF2-40B4-BE49-F238E27FC236}">
                  <a16:creationId xmlns:a16="http://schemas.microsoft.com/office/drawing/2014/main" id="{DE56666B-EEB0-4A81-A526-09A35CD1B2A5}"/>
                </a:ext>
              </a:extLst>
            </p:cNvPr>
            <p:cNvSpPr txBox="1"/>
            <p:nvPr/>
          </p:nvSpPr>
          <p:spPr>
            <a:xfrm>
              <a:off x="4399473" y="4614369"/>
              <a:ext cx="4287327" cy="830997"/>
            </a:xfrm>
            <a:prstGeom prst="rect">
              <a:avLst/>
            </a:prstGeom>
            <a:noFill/>
          </p:spPr>
          <p:txBody>
            <a:bodyPr wrap="square" rtlCol="0">
              <a:spAutoFit/>
            </a:bodyPr>
            <a:lstStyle/>
            <a:p>
              <a:r>
                <a:rPr lang="en-US" sz="1600" b="1" dirty="0">
                  <a:solidFill>
                    <a:srgbClr val="FF0000"/>
                  </a:solidFill>
                </a:rPr>
                <a:t>// consider all possible outcomes, none can fail!</a:t>
              </a:r>
              <a:br>
                <a:rPr lang="en-US" sz="1600" b="1" dirty="0">
                  <a:solidFill>
                    <a:schemeClr val="bg1">
                      <a:lumMod val="65000"/>
                    </a:schemeClr>
                  </a:solidFill>
                </a:rPr>
              </a:br>
              <a:r>
                <a:rPr lang="en-US" sz="1600" b="1" dirty="0">
                  <a:solidFill>
                    <a:schemeClr val="bg1">
                      <a:lumMod val="65000"/>
                    </a:schemeClr>
                  </a:solidFill>
                </a:rPr>
                <a:t> </a:t>
              </a:r>
            </a:p>
            <a:p>
              <a:r>
                <a:rPr lang="en-US" sz="1600" b="1" dirty="0">
                  <a:solidFill>
                    <a:schemeClr val="bg1">
                      <a:lumMod val="65000"/>
                    </a:schemeClr>
                  </a:solidFill>
                </a:rPr>
                <a:t>// fail if we find any non-goal subtree</a:t>
              </a:r>
            </a:p>
          </p:txBody>
        </p:sp>
        <p:sp>
          <p:nvSpPr>
            <p:cNvPr id="9" name="Callout: Line 8">
              <a:extLst>
                <a:ext uri="{FF2B5EF4-FFF2-40B4-BE49-F238E27FC236}">
                  <a16:creationId xmlns:a16="http://schemas.microsoft.com/office/drawing/2014/main" id="{AC67C03C-23BD-492A-ABCA-3EAFABF0A8D2}"/>
                </a:ext>
              </a:extLst>
            </p:cNvPr>
            <p:cNvSpPr/>
            <p:nvPr/>
          </p:nvSpPr>
          <p:spPr>
            <a:xfrm>
              <a:off x="5710915" y="1142999"/>
              <a:ext cx="3276600" cy="333461"/>
            </a:xfrm>
            <a:prstGeom prst="borderCallout1">
              <a:avLst>
                <a:gd name="adj1" fmla="val 54831"/>
                <a:gd name="adj2" fmla="val -989"/>
                <a:gd name="adj3" fmla="val 130541"/>
                <a:gd name="adj4" fmla="val -907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nested If-then-else statements</a:t>
              </a:r>
            </a:p>
          </p:txBody>
        </p:sp>
        <p:sp>
          <p:nvSpPr>
            <p:cNvPr id="10" name="Callout: Line 9">
              <a:extLst>
                <a:ext uri="{FF2B5EF4-FFF2-40B4-BE49-F238E27FC236}">
                  <a16:creationId xmlns:a16="http://schemas.microsoft.com/office/drawing/2014/main" id="{0799C6FC-F4C3-4999-A070-6F7735D7E504}"/>
                </a:ext>
              </a:extLst>
            </p:cNvPr>
            <p:cNvSpPr/>
            <p:nvPr/>
          </p:nvSpPr>
          <p:spPr>
            <a:xfrm>
              <a:off x="5694873" y="2096669"/>
              <a:ext cx="3276600" cy="195842"/>
            </a:xfrm>
            <a:prstGeom prst="borderCallout1">
              <a:avLst>
                <a:gd name="adj1" fmla="val 54831"/>
                <a:gd name="adj2" fmla="val -989"/>
                <a:gd name="adj3" fmla="val 155504"/>
                <a:gd name="adj4" fmla="val -4836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path is used for cycle checking!</a:t>
              </a:r>
            </a:p>
          </p:txBody>
        </p:sp>
        <p:sp>
          <p:nvSpPr>
            <p:cNvPr id="11" name="TextBox 10">
              <a:extLst>
                <a:ext uri="{FF2B5EF4-FFF2-40B4-BE49-F238E27FC236}">
                  <a16:creationId xmlns:a16="http://schemas.microsoft.com/office/drawing/2014/main" id="{C54162DD-4F90-40E1-97F3-9EBF02B62F76}"/>
                </a:ext>
              </a:extLst>
            </p:cNvPr>
            <p:cNvSpPr txBox="1"/>
            <p:nvPr/>
          </p:nvSpPr>
          <p:spPr>
            <a:xfrm>
              <a:off x="4399473" y="3844186"/>
              <a:ext cx="4572000" cy="584775"/>
            </a:xfrm>
            <a:prstGeom prst="rect">
              <a:avLst/>
            </a:prstGeom>
            <a:noFill/>
          </p:spPr>
          <p:txBody>
            <a:bodyPr wrap="square">
              <a:spAutoFit/>
            </a:bodyPr>
            <a:lstStyle/>
            <a:p>
              <a:r>
                <a:rPr lang="en-US" sz="1600" b="1" dirty="0">
                  <a:solidFill>
                    <a:schemeClr val="bg1">
                      <a:lumMod val="65000"/>
                    </a:schemeClr>
                  </a:solidFill>
                </a:rPr>
                <a:t>// fail means we found no action that leads to </a:t>
              </a:r>
              <a:br>
                <a:rPr lang="en-US" sz="1600" b="1" dirty="0">
                  <a:solidFill>
                    <a:schemeClr val="bg1">
                      <a:lumMod val="65000"/>
                    </a:schemeClr>
                  </a:solidFill>
                </a:rPr>
              </a:br>
              <a:r>
                <a:rPr lang="en-US" sz="1600" b="1" dirty="0">
                  <a:solidFill>
                    <a:schemeClr val="bg1">
                      <a:lumMod val="65000"/>
                    </a:schemeClr>
                  </a:solidFill>
                </a:rPr>
                <a:t>// a goal-only subtree</a:t>
              </a:r>
            </a:p>
          </p:txBody>
        </p:sp>
      </p:grpSp>
    </p:spTree>
    <p:extLst>
      <p:ext uri="{BB962C8B-B14F-4D97-AF65-F5344CB8AC3E}">
        <p14:creationId xmlns:p14="http://schemas.microsoft.com/office/powerpoint/2010/main" val="2817882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24899-9202-49C8-9CFC-76056765C35B}"/>
              </a:ext>
            </a:extLst>
          </p:cNvPr>
          <p:cNvSpPr>
            <a:spLocks noGrp="1"/>
          </p:cNvSpPr>
          <p:nvPr>
            <p:ph type="title"/>
          </p:nvPr>
        </p:nvSpPr>
        <p:spPr/>
        <p:txBody>
          <a:bodyPr>
            <a:normAutofit/>
          </a:bodyPr>
          <a:lstStyle/>
          <a:p>
            <a:r>
              <a:rPr lang="en-US" sz="4000" dirty="0"/>
              <a:t>An Agent using the Conditional Plan</a:t>
            </a:r>
          </a:p>
        </p:txBody>
      </p:sp>
      <p:sp>
        <p:nvSpPr>
          <p:cNvPr id="3" name="Content Placeholder 2">
            <a:extLst>
              <a:ext uri="{FF2B5EF4-FFF2-40B4-BE49-F238E27FC236}">
                <a16:creationId xmlns:a16="http://schemas.microsoft.com/office/drawing/2014/main" id="{3E6B963F-E87F-4651-B2DE-E5A07C2F52E6}"/>
              </a:ext>
            </a:extLst>
          </p:cNvPr>
          <p:cNvSpPr>
            <a:spLocks noGrp="1"/>
          </p:cNvSpPr>
          <p:nvPr>
            <p:ph idx="1"/>
          </p:nvPr>
        </p:nvSpPr>
        <p:spPr>
          <a:xfrm>
            <a:off x="628650" y="1778532"/>
            <a:ext cx="7886700" cy="1105533"/>
          </a:xfrm>
        </p:spPr>
        <p:txBody>
          <a:bodyPr>
            <a:normAutofit fontScale="62500" lnSpcReduction="20000"/>
          </a:bodyPr>
          <a:lstStyle/>
          <a:p>
            <a:r>
              <a:rPr lang="en-US" dirty="0"/>
              <a:t>Planning uses search to find a conditional plan that always leads to a goal state. </a:t>
            </a:r>
          </a:p>
          <a:p>
            <a:r>
              <a:rPr lang="en-US" dirty="0"/>
              <a:t>The conditional plan can be executed by a </a:t>
            </a:r>
            <a:r>
              <a:rPr lang="en-US" b="1" dirty="0"/>
              <a:t>model-based reflex agent</a:t>
            </a:r>
            <a:r>
              <a:rPr lang="en-US" dirty="0"/>
              <a:t> that uses a program counter to execute the plan and </a:t>
            </a:r>
            <a:r>
              <a:rPr lang="en-US" b="1" dirty="0"/>
              <a:t>percepts</a:t>
            </a:r>
            <a:r>
              <a:rPr lang="en-US" dirty="0"/>
              <a:t> for the conditions in the if-statements.  </a:t>
            </a:r>
          </a:p>
        </p:txBody>
      </p:sp>
      <p:grpSp>
        <p:nvGrpSpPr>
          <p:cNvPr id="9" name="Group 8">
            <a:extLst>
              <a:ext uri="{FF2B5EF4-FFF2-40B4-BE49-F238E27FC236}">
                <a16:creationId xmlns:a16="http://schemas.microsoft.com/office/drawing/2014/main" id="{91E69AAE-1A87-497F-02FB-4AC075DA1228}"/>
              </a:ext>
              <a:ext uri="{C183D7F6-B498-43B3-948B-1728B52AA6E4}">
                <adec:decorative xmlns:adec="http://schemas.microsoft.com/office/drawing/2017/decorative" val="1"/>
              </a:ext>
            </a:extLst>
          </p:cNvPr>
          <p:cNvGrpSpPr/>
          <p:nvPr/>
        </p:nvGrpSpPr>
        <p:grpSpPr>
          <a:xfrm>
            <a:off x="886685" y="2880699"/>
            <a:ext cx="7038115" cy="3753166"/>
            <a:chOff x="886685" y="2880699"/>
            <a:chExt cx="7038115" cy="3753166"/>
          </a:xfrm>
        </p:grpSpPr>
        <p:grpSp>
          <p:nvGrpSpPr>
            <p:cNvPr id="28" name="Group 27">
              <a:extLst>
                <a:ext uri="{FF2B5EF4-FFF2-40B4-BE49-F238E27FC236}">
                  <a16:creationId xmlns:a16="http://schemas.microsoft.com/office/drawing/2014/main" id="{9A16963B-4497-49CC-84E8-2E09171927A7}"/>
                </a:ext>
              </a:extLst>
            </p:cNvPr>
            <p:cNvGrpSpPr/>
            <p:nvPr/>
          </p:nvGrpSpPr>
          <p:grpSpPr>
            <a:xfrm>
              <a:off x="886685" y="3276600"/>
              <a:ext cx="7038115" cy="3357265"/>
              <a:chOff x="1039085" y="3352800"/>
              <a:chExt cx="7038115" cy="3357265"/>
            </a:xfrm>
          </p:grpSpPr>
          <p:sp>
            <p:nvSpPr>
              <p:cNvPr id="4" name="TextBox 3">
                <a:extLst>
                  <a:ext uri="{FF2B5EF4-FFF2-40B4-BE49-F238E27FC236}">
                    <a16:creationId xmlns:a16="http://schemas.microsoft.com/office/drawing/2014/main" id="{F281C13B-D08C-41C7-95F0-994DE7700A16}"/>
                  </a:ext>
                </a:extLst>
              </p:cNvPr>
              <p:cNvSpPr txBox="1"/>
              <p:nvPr/>
            </p:nvSpPr>
            <p:spPr>
              <a:xfrm>
                <a:off x="5286253" y="3858868"/>
                <a:ext cx="2344395" cy="267765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2400" dirty="0"/>
                  <a:t>[Suck, </a:t>
                </a:r>
              </a:p>
              <a:p>
                <a:r>
                  <a:rPr lang="en-US" sz="2400" b="1" dirty="0"/>
                  <a:t>  if</a:t>
                </a:r>
                <a:r>
                  <a:rPr lang="en-US" sz="2400" dirty="0"/>
                  <a:t> State = 5 </a:t>
                </a:r>
                <a:r>
                  <a:rPr lang="en-US" sz="2400" b="1" dirty="0"/>
                  <a:t>then</a:t>
                </a:r>
                <a:r>
                  <a:rPr lang="en-US" sz="2400" dirty="0"/>
                  <a:t> </a:t>
                </a:r>
              </a:p>
              <a:p>
                <a:r>
                  <a:rPr lang="en-US" sz="2400" dirty="0"/>
                  <a:t>    [Right, </a:t>
                </a:r>
              </a:p>
              <a:p>
                <a:r>
                  <a:rPr lang="en-US" sz="2400" dirty="0"/>
                  <a:t>      Suck] </a:t>
                </a:r>
              </a:p>
              <a:p>
                <a:r>
                  <a:rPr lang="en-US" sz="2400" b="1" dirty="0"/>
                  <a:t>  else</a:t>
                </a:r>
                <a:r>
                  <a:rPr lang="en-US" sz="2400" dirty="0"/>
                  <a:t> </a:t>
                </a:r>
              </a:p>
              <a:p>
                <a:r>
                  <a:rPr lang="en-US" sz="2400" dirty="0"/>
                  <a:t>     []</a:t>
                </a:r>
              </a:p>
              <a:p>
                <a:r>
                  <a:rPr lang="en-US" sz="2400" dirty="0"/>
                  <a:t>]</a:t>
                </a:r>
              </a:p>
            </p:txBody>
          </p:sp>
          <p:sp>
            <p:nvSpPr>
              <p:cNvPr id="5" name="TextBox 4">
                <a:extLst>
                  <a:ext uri="{FF2B5EF4-FFF2-40B4-BE49-F238E27FC236}">
                    <a16:creationId xmlns:a16="http://schemas.microsoft.com/office/drawing/2014/main" id="{E3487A28-7FEC-42DE-B61F-F40B099F9075}"/>
                  </a:ext>
                </a:extLst>
              </p:cNvPr>
              <p:cNvSpPr txBox="1"/>
              <p:nvPr/>
            </p:nvSpPr>
            <p:spPr>
              <a:xfrm>
                <a:off x="1980699" y="4836256"/>
                <a:ext cx="1143000" cy="46166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sz="2400" dirty="0"/>
                  <a:t>Step 2</a:t>
                </a:r>
              </a:p>
            </p:txBody>
          </p:sp>
          <p:cxnSp>
            <p:nvCxnSpPr>
              <p:cNvPr id="7" name="Straight Arrow Connector 6">
                <a:extLst>
                  <a:ext uri="{FF2B5EF4-FFF2-40B4-BE49-F238E27FC236}">
                    <a16:creationId xmlns:a16="http://schemas.microsoft.com/office/drawing/2014/main" id="{8DD78E0A-A9CD-41B1-AECE-E5C87683D860}"/>
                  </a:ext>
                </a:extLst>
              </p:cNvPr>
              <p:cNvCxnSpPr>
                <a:cxnSpLocks/>
                <a:stCxn id="5" idx="3"/>
                <a:endCxn id="10" idx="1"/>
              </p:cNvCxnSpPr>
              <p:nvPr/>
            </p:nvCxnSpPr>
            <p:spPr>
              <a:xfrm flipV="1">
                <a:off x="3123699" y="4444044"/>
                <a:ext cx="1467351" cy="623045"/>
              </a:xfrm>
              <a:prstGeom prst="straightConnector1">
                <a:avLst/>
              </a:prstGeom>
              <a:ln w="38100">
                <a:headEnd type="none" w="med" len="med"/>
                <a:tailEnd type="triangle" w="med" len="med"/>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4264DD5C-CD60-4FEF-A8C6-2549F68A5065}"/>
                  </a:ext>
                </a:extLst>
              </p:cNvPr>
              <p:cNvSpPr txBox="1"/>
              <p:nvPr/>
            </p:nvSpPr>
            <p:spPr>
              <a:xfrm>
                <a:off x="4591050" y="4213211"/>
                <a:ext cx="381000" cy="461665"/>
              </a:xfrm>
              <a:prstGeom prst="rect">
                <a:avLst/>
              </a:prstGeom>
              <a:noFill/>
            </p:spPr>
            <p:txBody>
              <a:bodyPr wrap="square" rtlCol="0">
                <a:spAutoFit/>
              </a:bodyPr>
              <a:lstStyle/>
              <a:p>
                <a:r>
                  <a:rPr lang="en-US" sz="2400" dirty="0"/>
                  <a:t>2</a:t>
                </a:r>
              </a:p>
            </p:txBody>
          </p:sp>
          <p:sp>
            <p:nvSpPr>
              <p:cNvPr id="11" name="TextBox 10">
                <a:extLst>
                  <a:ext uri="{FF2B5EF4-FFF2-40B4-BE49-F238E27FC236}">
                    <a16:creationId xmlns:a16="http://schemas.microsoft.com/office/drawing/2014/main" id="{60E265ED-85C6-4305-881B-B50A7214BBC7}"/>
                  </a:ext>
                </a:extLst>
              </p:cNvPr>
              <p:cNvSpPr txBox="1"/>
              <p:nvPr/>
            </p:nvSpPr>
            <p:spPr>
              <a:xfrm>
                <a:off x="4610100" y="4616574"/>
                <a:ext cx="381000" cy="461665"/>
              </a:xfrm>
              <a:prstGeom prst="rect">
                <a:avLst/>
              </a:prstGeom>
              <a:noFill/>
            </p:spPr>
            <p:txBody>
              <a:bodyPr wrap="square" rtlCol="0">
                <a:spAutoFit/>
              </a:bodyPr>
              <a:lstStyle/>
              <a:p>
                <a:r>
                  <a:rPr lang="en-US" sz="2400" dirty="0"/>
                  <a:t>3</a:t>
                </a:r>
              </a:p>
            </p:txBody>
          </p:sp>
          <p:sp>
            <p:nvSpPr>
              <p:cNvPr id="12" name="TextBox 11">
                <a:extLst>
                  <a:ext uri="{FF2B5EF4-FFF2-40B4-BE49-F238E27FC236}">
                    <a16:creationId xmlns:a16="http://schemas.microsoft.com/office/drawing/2014/main" id="{FDF6BB9D-69D6-4035-A10E-032C703BC33C}"/>
                  </a:ext>
                </a:extLst>
              </p:cNvPr>
              <p:cNvSpPr txBox="1"/>
              <p:nvPr/>
            </p:nvSpPr>
            <p:spPr>
              <a:xfrm>
                <a:off x="4610100" y="4984980"/>
                <a:ext cx="381000" cy="461665"/>
              </a:xfrm>
              <a:prstGeom prst="rect">
                <a:avLst/>
              </a:prstGeom>
              <a:noFill/>
            </p:spPr>
            <p:txBody>
              <a:bodyPr wrap="square" rtlCol="0">
                <a:spAutoFit/>
              </a:bodyPr>
              <a:lstStyle/>
              <a:p>
                <a:r>
                  <a:rPr lang="en-US" sz="2400" dirty="0"/>
                  <a:t>4</a:t>
                </a:r>
              </a:p>
            </p:txBody>
          </p:sp>
          <p:sp>
            <p:nvSpPr>
              <p:cNvPr id="13" name="TextBox 12">
                <a:extLst>
                  <a:ext uri="{FF2B5EF4-FFF2-40B4-BE49-F238E27FC236}">
                    <a16:creationId xmlns:a16="http://schemas.microsoft.com/office/drawing/2014/main" id="{F26767FE-3CCF-47D3-ACC4-7D4CE178B81E}"/>
                  </a:ext>
                </a:extLst>
              </p:cNvPr>
              <p:cNvSpPr txBox="1"/>
              <p:nvPr/>
            </p:nvSpPr>
            <p:spPr>
              <a:xfrm>
                <a:off x="4419600" y="3424535"/>
                <a:ext cx="914400" cy="461665"/>
              </a:xfrm>
              <a:prstGeom prst="rect">
                <a:avLst/>
              </a:prstGeom>
              <a:noFill/>
            </p:spPr>
            <p:txBody>
              <a:bodyPr wrap="square" rtlCol="0">
                <a:spAutoFit/>
              </a:bodyPr>
              <a:lstStyle/>
              <a:p>
                <a:r>
                  <a:rPr lang="en-US" sz="2400" dirty="0"/>
                  <a:t>Step</a:t>
                </a:r>
              </a:p>
            </p:txBody>
          </p:sp>
          <p:sp>
            <p:nvSpPr>
              <p:cNvPr id="14" name="TextBox 13">
                <a:extLst>
                  <a:ext uri="{FF2B5EF4-FFF2-40B4-BE49-F238E27FC236}">
                    <a16:creationId xmlns:a16="http://schemas.microsoft.com/office/drawing/2014/main" id="{1151AAF9-1B70-4E2D-8C11-8AA0CB12F354}"/>
                  </a:ext>
                </a:extLst>
              </p:cNvPr>
              <p:cNvSpPr txBox="1"/>
              <p:nvPr/>
            </p:nvSpPr>
            <p:spPr>
              <a:xfrm>
                <a:off x="4580021" y="3852826"/>
                <a:ext cx="381000" cy="461665"/>
              </a:xfrm>
              <a:prstGeom prst="rect">
                <a:avLst/>
              </a:prstGeom>
              <a:noFill/>
            </p:spPr>
            <p:txBody>
              <a:bodyPr wrap="square" rtlCol="0">
                <a:spAutoFit/>
              </a:bodyPr>
              <a:lstStyle/>
              <a:p>
                <a:r>
                  <a:rPr lang="en-US" sz="2400" dirty="0"/>
                  <a:t>1</a:t>
                </a:r>
              </a:p>
            </p:txBody>
          </p:sp>
          <p:sp>
            <p:nvSpPr>
              <p:cNvPr id="22" name="TextBox 21">
                <a:extLst>
                  <a:ext uri="{FF2B5EF4-FFF2-40B4-BE49-F238E27FC236}">
                    <a16:creationId xmlns:a16="http://schemas.microsoft.com/office/drawing/2014/main" id="{997A40C5-7D31-4B78-A469-7046742F3861}"/>
                  </a:ext>
                </a:extLst>
              </p:cNvPr>
              <p:cNvSpPr txBox="1"/>
              <p:nvPr/>
            </p:nvSpPr>
            <p:spPr>
              <a:xfrm>
                <a:off x="4499811" y="5737006"/>
                <a:ext cx="529389" cy="461665"/>
              </a:xfrm>
              <a:prstGeom prst="rect">
                <a:avLst/>
              </a:prstGeom>
              <a:noFill/>
            </p:spPr>
            <p:txBody>
              <a:bodyPr wrap="square" rtlCol="0">
                <a:spAutoFit/>
              </a:bodyPr>
              <a:lstStyle/>
              <a:p>
                <a:r>
                  <a:rPr lang="en-US" sz="2400" dirty="0"/>
                  <a:t>4b</a:t>
                </a:r>
              </a:p>
            </p:txBody>
          </p:sp>
          <p:sp>
            <p:nvSpPr>
              <p:cNvPr id="24" name="TextBox 23">
                <a:extLst>
                  <a:ext uri="{FF2B5EF4-FFF2-40B4-BE49-F238E27FC236}">
                    <a16:creationId xmlns:a16="http://schemas.microsoft.com/office/drawing/2014/main" id="{F751783D-19EA-4481-99F2-A2EE82B69559}"/>
                  </a:ext>
                </a:extLst>
              </p:cNvPr>
              <p:cNvSpPr txBox="1"/>
              <p:nvPr/>
            </p:nvSpPr>
            <p:spPr>
              <a:xfrm>
                <a:off x="1039085" y="4166339"/>
                <a:ext cx="3048000" cy="646331"/>
              </a:xfrm>
              <a:prstGeom prst="rect">
                <a:avLst/>
              </a:prstGeom>
              <a:noFill/>
            </p:spPr>
            <p:txBody>
              <a:bodyPr wrap="square" rtlCol="0">
                <a:spAutoFit/>
              </a:bodyPr>
              <a:lstStyle/>
              <a:p>
                <a:pPr algn="ctr"/>
                <a:r>
                  <a:rPr lang="en-US" dirty="0"/>
                  <a:t>Agent’s State</a:t>
                </a:r>
              </a:p>
              <a:p>
                <a:pPr algn="ctr"/>
                <a:r>
                  <a:rPr lang="en-US" dirty="0"/>
                  <a:t>(= program counter)</a:t>
                </a:r>
              </a:p>
            </p:txBody>
          </p:sp>
          <p:sp>
            <p:nvSpPr>
              <p:cNvPr id="25" name="TextBox 24">
                <a:extLst>
                  <a:ext uri="{FF2B5EF4-FFF2-40B4-BE49-F238E27FC236}">
                    <a16:creationId xmlns:a16="http://schemas.microsoft.com/office/drawing/2014/main" id="{9279523E-6893-4967-A081-A6CAF1BFC6EB}"/>
                  </a:ext>
                </a:extLst>
              </p:cNvPr>
              <p:cNvSpPr txBox="1"/>
              <p:nvPr/>
            </p:nvSpPr>
            <p:spPr>
              <a:xfrm>
                <a:off x="5638800" y="3440130"/>
                <a:ext cx="1600200" cy="461665"/>
              </a:xfrm>
              <a:prstGeom prst="rect">
                <a:avLst/>
              </a:prstGeom>
              <a:noFill/>
            </p:spPr>
            <p:txBody>
              <a:bodyPr wrap="square" rtlCol="0">
                <a:spAutoFit/>
              </a:bodyPr>
              <a:lstStyle/>
              <a:p>
                <a:r>
                  <a:rPr lang="en-US" sz="2400" dirty="0"/>
                  <a:t>Cond. Plan</a:t>
                </a:r>
              </a:p>
            </p:txBody>
          </p:sp>
          <p:sp>
            <p:nvSpPr>
              <p:cNvPr id="26" name="Rectangle 25">
                <a:extLst>
                  <a:ext uri="{FF2B5EF4-FFF2-40B4-BE49-F238E27FC236}">
                    <a16:creationId xmlns:a16="http://schemas.microsoft.com/office/drawing/2014/main" id="{D469C6AE-C822-461C-AF5D-23C3FFAF7BF7}"/>
                  </a:ext>
                </a:extLst>
              </p:cNvPr>
              <p:cNvSpPr/>
              <p:nvPr/>
            </p:nvSpPr>
            <p:spPr>
              <a:xfrm>
                <a:off x="1524000" y="3352800"/>
                <a:ext cx="6553200" cy="3357265"/>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7" name="TextBox 26">
                <a:extLst>
                  <a:ext uri="{FF2B5EF4-FFF2-40B4-BE49-F238E27FC236}">
                    <a16:creationId xmlns:a16="http://schemas.microsoft.com/office/drawing/2014/main" id="{E7C45D22-3726-411A-AE0C-B3A81CAB3BE2}"/>
                  </a:ext>
                </a:extLst>
              </p:cNvPr>
              <p:cNvSpPr txBox="1"/>
              <p:nvPr/>
            </p:nvSpPr>
            <p:spPr>
              <a:xfrm>
                <a:off x="1600200" y="3421440"/>
                <a:ext cx="1219200" cy="461665"/>
              </a:xfrm>
              <a:prstGeom prst="rect">
                <a:avLst/>
              </a:prstGeom>
              <a:noFill/>
            </p:spPr>
            <p:txBody>
              <a:bodyPr wrap="square" rtlCol="0">
                <a:spAutoFit/>
              </a:bodyPr>
              <a:lstStyle/>
              <a:p>
                <a:r>
                  <a:rPr lang="en-US" sz="2400" b="1" dirty="0"/>
                  <a:t>Agent</a:t>
                </a:r>
              </a:p>
            </p:txBody>
          </p:sp>
        </p:grpSp>
        <p:sp>
          <p:nvSpPr>
            <p:cNvPr id="8" name="TextBox 7">
              <a:extLst>
                <a:ext uri="{FF2B5EF4-FFF2-40B4-BE49-F238E27FC236}">
                  <a16:creationId xmlns:a16="http://schemas.microsoft.com/office/drawing/2014/main" id="{3A85547C-0964-9DCF-2419-EACB5D9D9658}"/>
                </a:ext>
              </a:extLst>
            </p:cNvPr>
            <p:cNvSpPr txBox="1"/>
            <p:nvPr/>
          </p:nvSpPr>
          <p:spPr>
            <a:xfrm>
              <a:off x="2326105" y="2880699"/>
              <a:ext cx="4572000" cy="369332"/>
            </a:xfrm>
            <a:prstGeom prst="rect">
              <a:avLst/>
            </a:prstGeom>
            <a:noFill/>
          </p:spPr>
          <p:txBody>
            <a:bodyPr wrap="square">
              <a:spAutoFit/>
            </a:bodyPr>
            <a:lstStyle/>
            <a:p>
              <a:pPr marL="0" indent="0">
                <a:buNone/>
              </a:pPr>
              <a:r>
                <a:rPr lang="en-US" dirty="0"/>
                <a:t>Example: After the initial action “suck”</a:t>
              </a:r>
            </a:p>
          </p:txBody>
        </p:sp>
      </p:grpSp>
    </p:spTree>
    <p:extLst>
      <p:ext uri="{BB962C8B-B14F-4D97-AF65-F5344CB8AC3E}">
        <p14:creationId xmlns:p14="http://schemas.microsoft.com/office/powerpoint/2010/main" val="220404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robot in a room with wires&#10;&#10;AI-generated content may be incorrect.">
            <a:extLst>
              <a:ext uri="{FF2B5EF4-FFF2-40B4-BE49-F238E27FC236}">
                <a16:creationId xmlns:a16="http://schemas.microsoft.com/office/drawing/2014/main" id="{A4143707-8234-E376-5CF5-B07982E703B7}"/>
              </a:ext>
            </a:extLst>
          </p:cNvPr>
          <p:cNvPicPr>
            <a:picLocks noChangeAspect="1"/>
          </p:cNvPicPr>
          <p:nvPr/>
        </p:nvPicPr>
        <p:blipFill>
          <a:blip r:embed="rId2"/>
          <a:srcRect l="2354" t="29688" r="3896"/>
          <a:stretch>
            <a:fillRect/>
          </a:stretch>
        </p:blipFill>
        <p:spPr>
          <a:xfrm>
            <a:off x="20" y="10"/>
            <a:ext cx="9143980" cy="6857990"/>
          </a:xfrm>
          <a:prstGeom prst="rect">
            <a:avLst/>
          </a:prstGeom>
        </p:spPr>
      </p:pic>
      <p:sp>
        <p:nvSpPr>
          <p:cNvPr id="23" name="Rectangle 22">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5" y="-511"/>
            <a:ext cx="4592270" cy="9144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4058D537-D381-4DBC-9287-D915E58B1AFD}"/>
              </a:ext>
            </a:extLst>
          </p:cNvPr>
          <p:cNvSpPr>
            <a:spLocks noGrp="1"/>
          </p:cNvSpPr>
          <p:nvPr>
            <p:ph type="title"/>
          </p:nvPr>
        </p:nvSpPr>
        <p:spPr>
          <a:xfrm>
            <a:off x="303414" y="3091928"/>
            <a:ext cx="6808922" cy="2387600"/>
          </a:xfrm>
        </p:spPr>
        <p:txBody>
          <a:bodyPr vert="horz" lIns="91440" tIns="45720" rIns="91440" bIns="45720" rtlCol="0" anchor="b">
            <a:normAutofit/>
          </a:bodyPr>
          <a:lstStyle/>
          <a:p>
            <a:r>
              <a:rPr lang="en-US" sz="5700" b="1" dirty="0">
                <a:solidFill>
                  <a:schemeClr val="bg1"/>
                </a:solidFill>
                <a:effectLst>
                  <a:outerShdw blurRad="38100" dist="38100" dir="2700000" algn="tl">
                    <a:srgbClr val="000000">
                      <a:alpha val="43137"/>
                    </a:srgbClr>
                  </a:outerShdw>
                </a:effectLst>
              </a:rPr>
              <a:t>Search With </a:t>
            </a:r>
            <a:br>
              <a:rPr lang="en-US" sz="5700" b="1" dirty="0">
                <a:solidFill>
                  <a:schemeClr val="bg1"/>
                </a:solidFill>
                <a:effectLst>
                  <a:outerShdw blurRad="38100" dist="38100" dir="2700000" algn="tl">
                    <a:srgbClr val="000000">
                      <a:alpha val="43137"/>
                    </a:srgbClr>
                  </a:outerShdw>
                </a:effectLst>
              </a:rPr>
            </a:br>
            <a:r>
              <a:rPr lang="en-US" sz="5700" b="1" dirty="0">
                <a:solidFill>
                  <a:schemeClr val="bg1"/>
                </a:solidFill>
                <a:effectLst>
                  <a:outerShdw blurRad="38100" dist="38100" dir="2700000" algn="tl">
                    <a:srgbClr val="000000">
                      <a:alpha val="43137"/>
                    </a:srgbClr>
                  </a:outerShdw>
                </a:effectLst>
              </a:rPr>
              <a:t>No Observations</a:t>
            </a:r>
          </a:p>
        </p:txBody>
      </p:sp>
      <p:sp>
        <p:nvSpPr>
          <p:cNvPr id="25" name="Rectangle: Rounded Corners 24">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7F8D9245-3486-407B-B07E-AD89A17D5087}"/>
              </a:ext>
            </a:extLst>
          </p:cNvPr>
          <p:cNvSpPr>
            <a:spLocks noGrp="1"/>
          </p:cNvSpPr>
          <p:nvPr>
            <p:ph type="body" idx="1"/>
          </p:nvPr>
        </p:nvSpPr>
        <p:spPr>
          <a:xfrm>
            <a:off x="303414" y="5624945"/>
            <a:ext cx="6808922" cy="592975"/>
          </a:xfrm>
        </p:spPr>
        <p:txBody>
          <a:bodyPr vert="horz" lIns="91440" tIns="45720" rIns="91440" bIns="45720" rtlCol="0" anchor="ctr">
            <a:normAutofit/>
          </a:bodyPr>
          <a:lstStyle/>
          <a:p>
            <a:r>
              <a:rPr lang="en-US" sz="1700" dirty="0">
                <a:solidFill>
                  <a:schemeClr val="bg1"/>
                </a:solidFill>
              </a:rPr>
              <a:t>Using actions to “coerce” the world into a smaller set of known states</a:t>
            </a:r>
          </a:p>
        </p:txBody>
      </p:sp>
    </p:spTree>
    <p:extLst>
      <p:ext uri="{BB962C8B-B14F-4D97-AF65-F5344CB8AC3E}">
        <p14:creationId xmlns:p14="http://schemas.microsoft.com/office/powerpoint/2010/main" val="3824214485"/>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2C92B-DF76-4383-B4BB-8C398C824A15}"/>
              </a:ext>
            </a:extLst>
          </p:cNvPr>
          <p:cNvSpPr>
            <a:spLocks noGrp="1"/>
          </p:cNvSpPr>
          <p:nvPr>
            <p:ph type="title"/>
          </p:nvPr>
        </p:nvSpPr>
        <p:spPr/>
        <p:txBody>
          <a:bodyPr/>
          <a:lstStyle/>
          <a:p>
            <a:r>
              <a:rPr lang="en-US" dirty="0" err="1"/>
              <a:t>Sensorless</a:t>
            </a:r>
            <a:r>
              <a:rPr lang="en-US" dirty="0"/>
              <a:t> Problems</a:t>
            </a:r>
          </a:p>
        </p:txBody>
      </p:sp>
      <p:sp>
        <p:nvSpPr>
          <p:cNvPr id="3" name="Content Placeholder 2">
            <a:extLst>
              <a:ext uri="{FF2B5EF4-FFF2-40B4-BE49-F238E27FC236}">
                <a16:creationId xmlns:a16="http://schemas.microsoft.com/office/drawing/2014/main" id="{72746BB6-4F7C-4A24-AFA7-10CC1476A272}"/>
              </a:ext>
            </a:extLst>
          </p:cNvPr>
          <p:cNvSpPr>
            <a:spLocks noGrp="1"/>
          </p:cNvSpPr>
          <p:nvPr>
            <p:ph idx="1"/>
          </p:nvPr>
        </p:nvSpPr>
        <p:spPr/>
        <p:txBody>
          <a:bodyPr>
            <a:normAutofit fontScale="85000" lnSpcReduction="10000"/>
          </a:bodyPr>
          <a:lstStyle/>
          <a:p>
            <a:pPr marL="0" indent="0">
              <a:buNone/>
            </a:pPr>
            <a:r>
              <a:rPr lang="en-US" dirty="0"/>
              <a:t>Conformant problem: The agent has no sensors, so the environment is not observable.</a:t>
            </a:r>
          </a:p>
          <a:p>
            <a:endParaRPr lang="en-US" dirty="0"/>
          </a:p>
          <a:p>
            <a:pPr marL="0" indent="0" algn="ctr">
              <a:buNone/>
            </a:pPr>
            <a:r>
              <a:rPr lang="en-US" b="1" dirty="0"/>
              <a:t>Why is this useful?</a:t>
            </a:r>
          </a:p>
          <a:p>
            <a:pPr marL="0" indent="0" algn="ctr">
              <a:buNone/>
            </a:pPr>
            <a:endParaRPr lang="en-US" b="1" dirty="0"/>
          </a:p>
          <a:p>
            <a:r>
              <a:rPr lang="en-US" b="1" dirty="0"/>
              <a:t>Example</a:t>
            </a:r>
            <a:r>
              <a:rPr lang="en-US" dirty="0"/>
              <a:t>: Doctor prescribes a broad-band antibiotic instead of performing time-consuming blood work to find a more targeted antibiotic. This saves time and money.</a:t>
            </a:r>
          </a:p>
          <a:p>
            <a:endParaRPr lang="en-US" dirty="0"/>
          </a:p>
          <a:p>
            <a:r>
              <a:rPr lang="en-US" b="1" dirty="0"/>
              <a:t>Basic idea</a:t>
            </a:r>
            <a:r>
              <a:rPr lang="en-US" dirty="0"/>
              <a:t>: Find a solution (a plan) that </a:t>
            </a:r>
            <a:r>
              <a:rPr lang="en-US" b="1" dirty="0">
                <a:solidFill>
                  <a:srgbClr val="FF0000"/>
                </a:solidFill>
              </a:rPr>
              <a:t>works (reasonably well) from any state </a:t>
            </a:r>
            <a:r>
              <a:rPr lang="en-US" dirty="0"/>
              <a:t>and then just blindly execute it.</a:t>
            </a:r>
            <a:endParaRPr lang="en-US" dirty="0">
              <a:solidFill>
                <a:schemeClr val="tx1">
                  <a:lumMod val="50000"/>
                  <a:lumOff val="50000"/>
                </a:schemeClr>
              </a:solidFill>
            </a:endParaRP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177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C3C71-E68E-4AA2-AD7F-F203DD295988}"/>
              </a:ext>
            </a:extLst>
          </p:cNvPr>
          <p:cNvSpPr>
            <a:spLocks noGrp="1"/>
          </p:cNvSpPr>
          <p:nvPr>
            <p:ph type="title"/>
          </p:nvPr>
        </p:nvSpPr>
        <p:spPr/>
        <p:txBody>
          <a:bodyPr/>
          <a:lstStyle/>
          <a:p>
            <a:r>
              <a:rPr lang="en-US" dirty="0"/>
              <a:t>Definition: Belief State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6F6DE3-C76B-4F31-991A-0D52303FF372}"/>
                  </a:ext>
                </a:extLst>
              </p:cNvPr>
              <p:cNvSpPr>
                <a:spLocks noGrp="1"/>
              </p:cNvSpPr>
              <p:nvPr>
                <p:ph idx="1"/>
              </p:nvPr>
            </p:nvSpPr>
            <p:spPr>
              <a:xfrm>
                <a:off x="644609" y="2059209"/>
                <a:ext cx="7886700" cy="1266060"/>
              </a:xfrm>
            </p:spPr>
            <p:txBody>
              <a:bodyPr>
                <a:normAutofit fontScale="70000" lnSpcReduction="20000"/>
              </a:bodyPr>
              <a:lstStyle/>
              <a:p>
                <a:r>
                  <a:rPr lang="en-US" dirty="0"/>
                  <a:t>The agent does not know exactly what state it is in.</a:t>
                </a:r>
                <a:endParaRPr lang="en-US" b="1" dirty="0"/>
              </a:p>
              <a:p>
                <a:r>
                  <a:rPr lang="en-US" dirty="0"/>
                  <a:t>However, it may know that it is in one of a set of possible states. This set is called a </a:t>
                </a:r>
                <a:r>
                  <a:rPr lang="en-US" b="1" dirty="0">
                    <a:solidFill>
                      <a:srgbClr val="FF0000"/>
                    </a:solidFill>
                  </a:rPr>
                  <a:t>belief state</a:t>
                </a:r>
                <a:r>
                  <a:rPr lang="en-US" dirty="0">
                    <a:solidFill>
                      <a:srgbClr val="FF0000"/>
                    </a:solidFill>
                  </a:rPr>
                  <a:t> </a:t>
                </a:r>
                <a:r>
                  <a:rPr lang="en-US" dirty="0"/>
                  <a:t>of the agent. </a:t>
                </a:r>
              </a:p>
              <a:p>
                <a:r>
                  <a:rPr lang="en-US" dirty="0"/>
                  <a:t>Example: </a:t>
                </a:r>
                <a14:m>
                  <m:oMath xmlns:m="http://schemas.openxmlformats.org/officeDocument/2006/math">
                    <m:r>
                      <m:rPr>
                        <m:sty m:val="p"/>
                      </m:rPr>
                      <a:rPr lang="en-US" b="0" i="0" smtClean="0">
                        <a:latin typeface="Cambria Math" panose="02040503050406030204" pitchFamily="18" charset="0"/>
                      </a:rPr>
                      <m:t>b</m:t>
                    </m:r>
                    <m:r>
                      <a:rPr lang="en-US" b="0" i="0" smtClean="0">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4</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6</m:t>
                            </m:r>
                          </m:sub>
                        </m:sSub>
                      </m:e>
                    </m:d>
                  </m:oMath>
                </a14:m>
                <a:endParaRPr lang="en-US" dirty="0"/>
              </a:p>
            </p:txBody>
          </p:sp>
        </mc:Choice>
        <mc:Fallback xmlns="">
          <p:sp>
            <p:nvSpPr>
              <p:cNvPr id="3" name="Content Placeholder 2">
                <a:extLst>
                  <a:ext uri="{FF2B5EF4-FFF2-40B4-BE49-F238E27FC236}">
                    <a16:creationId xmlns:a16="http://schemas.microsoft.com/office/drawing/2014/main" id="{946F6DE3-C76B-4F31-991A-0D52303FF372}"/>
                  </a:ext>
                </a:extLst>
              </p:cNvPr>
              <p:cNvSpPr>
                <a:spLocks noGrp="1" noRot="1" noChangeAspect="1" noMove="1" noResize="1" noEditPoints="1" noAdjustHandles="1" noChangeArrowheads="1" noChangeShapeType="1" noTextEdit="1"/>
              </p:cNvSpPr>
              <p:nvPr>
                <p:ph idx="1"/>
              </p:nvPr>
            </p:nvSpPr>
            <p:spPr>
              <a:xfrm>
                <a:off x="644609" y="2059209"/>
                <a:ext cx="7886700" cy="1266060"/>
              </a:xfrm>
              <a:blipFill>
                <a:blip r:embed="rId2"/>
                <a:stretch>
                  <a:fillRect l="-696" t="-9179" r="-1083" b="-4831"/>
                </a:stretch>
              </a:blipFill>
            </p:spPr>
            <p:txBody>
              <a:bodyPr/>
              <a:lstStyle/>
              <a:p>
                <a:r>
                  <a:rPr lang="en-US">
                    <a:noFill/>
                  </a:rPr>
                  <a:t> </a:t>
                </a:r>
              </a:p>
            </p:txBody>
          </p:sp>
        </mc:Fallback>
      </mc:AlternateContent>
      <p:grpSp>
        <p:nvGrpSpPr>
          <p:cNvPr id="6" name="Group 5" descr="A picture of the state space with the states s2, s4, and s6 marked.">
            <a:extLst>
              <a:ext uri="{FF2B5EF4-FFF2-40B4-BE49-F238E27FC236}">
                <a16:creationId xmlns:a16="http://schemas.microsoft.com/office/drawing/2014/main" id="{D937AA75-4B89-8595-840A-62E0B96AF042}"/>
              </a:ext>
            </a:extLst>
          </p:cNvPr>
          <p:cNvGrpSpPr/>
          <p:nvPr/>
        </p:nvGrpSpPr>
        <p:grpSpPr>
          <a:xfrm>
            <a:off x="2667000" y="3271679"/>
            <a:ext cx="3733800" cy="3221195"/>
            <a:chOff x="2667000" y="3271679"/>
            <a:chExt cx="3733800" cy="3221195"/>
          </a:xfrm>
        </p:grpSpPr>
        <p:pic>
          <p:nvPicPr>
            <p:cNvPr id="4" name="Picture 3">
              <a:extLst>
                <a:ext uri="{FF2B5EF4-FFF2-40B4-BE49-F238E27FC236}">
                  <a16:creationId xmlns:a16="http://schemas.microsoft.com/office/drawing/2014/main" id="{54E017AF-E95D-4DCE-9CBF-CCACCF788B41}"/>
                </a:ext>
              </a:extLst>
            </p:cNvPr>
            <p:cNvPicPr>
              <a:picLocks noChangeAspect="1"/>
            </p:cNvPicPr>
            <p:nvPr/>
          </p:nvPicPr>
          <p:blipFill>
            <a:blip r:embed="rId3"/>
            <a:stretch>
              <a:fillRect/>
            </a:stretch>
          </p:blipFill>
          <p:spPr>
            <a:xfrm>
              <a:off x="2667000" y="3406615"/>
              <a:ext cx="3581584" cy="3086259"/>
            </a:xfrm>
            <a:prstGeom prst="rect">
              <a:avLst/>
            </a:prstGeom>
          </p:spPr>
        </p:pic>
        <p:sp>
          <p:nvSpPr>
            <p:cNvPr id="5" name="Rectangle 4">
              <a:extLst>
                <a:ext uri="{FF2B5EF4-FFF2-40B4-BE49-F238E27FC236}">
                  <a16:creationId xmlns:a16="http://schemas.microsoft.com/office/drawing/2014/main" id="{680519B7-83DD-401B-AFE4-181A749A438B}"/>
                </a:ext>
              </a:extLst>
            </p:cNvPr>
            <p:cNvSpPr/>
            <p:nvPr/>
          </p:nvSpPr>
          <p:spPr>
            <a:xfrm>
              <a:off x="4572000" y="3276600"/>
              <a:ext cx="1828800" cy="2438400"/>
            </a:xfrm>
            <a:prstGeom prst="rect">
              <a:avLst/>
            </a:prstGeom>
            <a:solidFill>
              <a:srgbClr val="7030A0">
                <a:alpha val="10196"/>
              </a:srgbClr>
            </a:solidFill>
            <a:ln w="28575">
              <a:solidFill>
                <a:srgbClr val="7030A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E65ABD3-0B20-49F9-9E94-673E1CCCEC40}"/>
                    </a:ext>
                  </a:extLst>
                </p:cNvPr>
                <p:cNvSpPr txBox="1"/>
                <p:nvPr/>
              </p:nvSpPr>
              <p:spPr>
                <a:xfrm>
                  <a:off x="4191000" y="3271679"/>
                  <a:ext cx="1066800" cy="523220"/>
                </a:xfrm>
                <a:prstGeom prst="rect">
                  <a:avLst/>
                </a:prstGeom>
                <a:noFill/>
              </p:spPr>
              <p:txBody>
                <a:bodyPr wrap="square">
                  <a:spAutoFit/>
                </a:bodyPr>
                <a:lstStyle/>
                <a:p>
                  <a:pPr/>
                  <a14:m>
                    <m:oMathPara xmlns:m="http://schemas.openxmlformats.org/officeDocument/2006/math">
                      <m:oMath>
                        <m:r>
                          <m:rPr>
                            <m:sty m:val="p"/>
                          </m:rPr>
                          <a:rPr lang="en-US" sz="2800" smtClean="0">
                            <a:latin typeface="Cambria Math" panose="02040503050406030204" pitchFamily="18" charset="0"/>
                          </a:rPr>
                          <m:t>b</m:t>
                        </m:r>
                      </m:oMath>
                    </m:oMathPara>
                  </a14:m>
                  <a:endParaRPr lang="en-US" sz="2800" dirty="0"/>
                </a:p>
              </p:txBody>
            </p:sp>
          </mc:Choice>
          <mc:Fallback xmlns="">
            <p:sp>
              <p:nvSpPr>
                <p:cNvPr id="7" name="TextBox 6">
                  <a:extLst>
                    <a:ext uri="{FF2B5EF4-FFF2-40B4-BE49-F238E27FC236}">
                      <a16:creationId xmlns:a16="http://schemas.microsoft.com/office/drawing/2014/main" id="{1E65ABD3-0B20-49F9-9E94-673E1CCCEC40}"/>
                    </a:ext>
                  </a:extLst>
                </p:cNvPr>
                <p:cNvSpPr txBox="1">
                  <a:spLocks noRot="1" noChangeAspect="1" noMove="1" noResize="1" noEditPoints="1" noAdjustHandles="1" noChangeArrowheads="1" noChangeShapeType="1" noTextEdit="1"/>
                </p:cNvSpPr>
                <p:nvPr/>
              </p:nvSpPr>
              <p:spPr>
                <a:xfrm>
                  <a:off x="4191000" y="3271679"/>
                  <a:ext cx="1066800" cy="523220"/>
                </a:xfrm>
                <a:prstGeom prst="rect">
                  <a:avLst/>
                </a:prstGeom>
                <a:blipFill>
                  <a:blip r:embed="rId4"/>
                  <a:stretch>
                    <a:fillRect/>
                  </a:stretch>
                </a:blipFill>
              </p:spPr>
              <p:txBody>
                <a:bodyPr/>
                <a:lstStyle/>
                <a:p>
                  <a:r>
                    <a:rPr lang="en-US">
                      <a:noFill/>
                    </a:rPr>
                    <a:t> </a:t>
                  </a:r>
                </a:p>
              </p:txBody>
            </p:sp>
          </mc:Fallback>
        </mc:AlternateContent>
      </p:grpSp>
      <p:grpSp>
        <p:nvGrpSpPr>
          <p:cNvPr id="25" name="Group 24">
            <a:extLst>
              <a:ext uri="{FF2B5EF4-FFF2-40B4-BE49-F238E27FC236}">
                <a16:creationId xmlns:a16="http://schemas.microsoft.com/office/drawing/2014/main" id="{6415B671-56B5-0624-5203-C04BA4CEFBB9}"/>
              </a:ext>
            </a:extLst>
          </p:cNvPr>
          <p:cNvGrpSpPr/>
          <p:nvPr/>
        </p:nvGrpSpPr>
        <p:grpSpPr>
          <a:xfrm>
            <a:off x="6076950" y="182383"/>
            <a:ext cx="2503364" cy="1854044"/>
            <a:chOff x="6076950" y="182383"/>
            <a:chExt cx="2503364" cy="1854044"/>
          </a:xfrm>
        </p:grpSpPr>
        <p:grpSp>
          <p:nvGrpSpPr>
            <p:cNvPr id="17" name="Group 16">
              <a:extLst>
                <a:ext uri="{FF2B5EF4-FFF2-40B4-BE49-F238E27FC236}">
                  <a16:creationId xmlns:a16="http://schemas.microsoft.com/office/drawing/2014/main" id="{E1FFA6D4-353A-6E75-E784-303C33A5C7E3}"/>
                </a:ext>
                <a:ext uri="{C183D7F6-B498-43B3-948B-1728B52AA6E4}">
                  <adec:decorative xmlns:adec="http://schemas.microsoft.com/office/drawing/2017/decorative" val="1"/>
                </a:ext>
              </a:extLst>
            </p:cNvPr>
            <p:cNvGrpSpPr/>
            <p:nvPr/>
          </p:nvGrpSpPr>
          <p:grpSpPr>
            <a:xfrm>
              <a:off x="6076950" y="609600"/>
              <a:ext cx="2438400" cy="1426827"/>
              <a:chOff x="6076950" y="287117"/>
              <a:chExt cx="2438400" cy="1426827"/>
            </a:xfrm>
          </p:grpSpPr>
          <p:pic>
            <p:nvPicPr>
              <p:cNvPr id="8" name="Picture 4" descr="vacuum2-environment">
                <a:extLst>
                  <a:ext uri="{FF2B5EF4-FFF2-40B4-BE49-F238E27FC236}">
                    <a16:creationId xmlns:a16="http://schemas.microsoft.com/office/drawing/2014/main" id="{EF33D756-BFDA-9313-9AE0-FBA98D133FE8}"/>
                  </a:ext>
                </a:extLst>
              </p:cNvPr>
              <p:cNvPicPr>
                <a:picLocks noChangeAspect="1" noChangeArrowheads="1"/>
              </p:cNvPicPr>
              <p:nvPr/>
            </p:nvPicPr>
            <p:blipFill>
              <a:blip r:embed="rId5" cstate="print"/>
              <a:srcRect/>
              <a:stretch>
                <a:fillRect/>
              </a:stretch>
            </p:blipFill>
            <p:spPr bwMode="auto">
              <a:xfrm>
                <a:off x="6076950" y="365126"/>
                <a:ext cx="2438400" cy="1247554"/>
              </a:xfrm>
              <a:prstGeom prst="rect">
                <a:avLst/>
              </a:prstGeom>
              <a:noFill/>
            </p:spPr>
          </p:pic>
          <p:sp>
            <p:nvSpPr>
              <p:cNvPr id="13" name="TextBox 12">
                <a:extLst>
                  <a:ext uri="{FF2B5EF4-FFF2-40B4-BE49-F238E27FC236}">
                    <a16:creationId xmlns:a16="http://schemas.microsoft.com/office/drawing/2014/main" id="{E935BC95-CFA3-D56A-83F4-764CC478C2CA}"/>
                  </a:ext>
                </a:extLst>
              </p:cNvPr>
              <p:cNvSpPr txBox="1"/>
              <p:nvPr/>
            </p:nvSpPr>
            <p:spPr>
              <a:xfrm>
                <a:off x="6210300" y="287117"/>
                <a:ext cx="381000" cy="584775"/>
              </a:xfrm>
              <a:prstGeom prst="rect">
                <a:avLst/>
              </a:prstGeom>
              <a:noFill/>
            </p:spPr>
            <p:txBody>
              <a:bodyPr wrap="square" rtlCol="0">
                <a:spAutoFit/>
              </a:bodyPr>
              <a:lstStyle/>
              <a:p>
                <a:r>
                  <a:rPr lang="en-US" sz="3200" b="1" dirty="0">
                    <a:solidFill>
                      <a:srgbClr val="FF0000"/>
                    </a:solidFill>
                  </a:rPr>
                  <a:t>?</a:t>
                </a:r>
              </a:p>
            </p:txBody>
          </p:sp>
          <p:sp>
            <p:nvSpPr>
              <p:cNvPr id="14" name="TextBox 13">
                <a:extLst>
                  <a:ext uri="{FF2B5EF4-FFF2-40B4-BE49-F238E27FC236}">
                    <a16:creationId xmlns:a16="http://schemas.microsoft.com/office/drawing/2014/main" id="{751A1000-5FD7-58DB-ABAF-6C28D508D520}"/>
                  </a:ext>
                </a:extLst>
              </p:cNvPr>
              <p:cNvSpPr txBox="1"/>
              <p:nvPr/>
            </p:nvSpPr>
            <p:spPr>
              <a:xfrm rot="20848155">
                <a:off x="6357997" y="790614"/>
                <a:ext cx="381000" cy="923330"/>
              </a:xfrm>
              <a:prstGeom prst="rect">
                <a:avLst/>
              </a:prstGeom>
              <a:noFill/>
            </p:spPr>
            <p:txBody>
              <a:bodyPr wrap="square" rtlCol="0">
                <a:spAutoFit/>
              </a:bodyPr>
              <a:lstStyle/>
              <a:p>
                <a:r>
                  <a:rPr lang="en-US" sz="5400" b="1" dirty="0">
                    <a:solidFill>
                      <a:srgbClr val="FF0000"/>
                    </a:solidFill>
                  </a:rPr>
                  <a:t>?</a:t>
                </a:r>
              </a:p>
            </p:txBody>
          </p:sp>
          <p:sp>
            <p:nvSpPr>
              <p:cNvPr id="16" name="TextBox 15">
                <a:extLst>
                  <a:ext uri="{FF2B5EF4-FFF2-40B4-BE49-F238E27FC236}">
                    <a16:creationId xmlns:a16="http://schemas.microsoft.com/office/drawing/2014/main" id="{8A1F7CE1-9DA6-DFAC-BE5C-BF2BF81605F3}"/>
                  </a:ext>
                </a:extLst>
              </p:cNvPr>
              <p:cNvSpPr txBox="1"/>
              <p:nvPr/>
            </p:nvSpPr>
            <p:spPr>
              <a:xfrm rot="1308263">
                <a:off x="7625452" y="690625"/>
                <a:ext cx="381000" cy="923330"/>
              </a:xfrm>
              <a:prstGeom prst="rect">
                <a:avLst/>
              </a:prstGeom>
              <a:noFill/>
            </p:spPr>
            <p:txBody>
              <a:bodyPr wrap="square" rtlCol="0">
                <a:spAutoFit/>
              </a:bodyPr>
              <a:lstStyle/>
              <a:p>
                <a:r>
                  <a:rPr lang="en-US" sz="5400" b="1" dirty="0">
                    <a:solidFill>
                      <a:srgbClr val="FF0000"/>
                    </a:solidFill>
                  </a:rPr>
                  <a:t>?</a:t>
                </a:r>
              </a:p>
            </p:txBody>
          </p:sp>
        </p:grpSp>
        <p:grpSp>
          <p:nvGrpSpPr>
            <p:cNvPr id="11" name="Group 10">
              <a:extLst>
                <a:ext uri="{FF2B5EF4-FFF2-40B4-BE49-F238E27FC236}">
                  <a16:creationId xmlns:a16="http://schemas.microsoft.com/office/drawing/2014/main" id="{AD462210-507B-2057-9AA3-B103362299F1}"/>
                </a:ext>
              </a:extLst>
            </p:cNvPr>
            <p:cNvGrpSpPr/>
            <p:nvPr/>
          </p:nvGrpSpPr>
          <p:grpSpPr>
            <a:xfrm>
              <a:off x="7222193" y="182383"/>
              <a:ext cx="1358121" cy="408979"/>
              <a:chOff x="7222193" y="182383"/>
              <a:chExt cx="1358121" cy="408979"/>
            </a:xfrm>
          </p:grpSpPr>
          <p:grpSp>
            <p:nvGrpSpPr>
              <p:cNvPr id="12" name="Group 11">
                <a:extLst>
                  <a:ext uri="{FF2B5EF4-FFF2-40B4-BE49-F238E27FC236}">
                    <a16:creationId xmlns:a16="http://schemas.microsoft.com/office/drawing/2014/main" id="{4227FABD-B888-2C21-F6B2-12EC819AE15F}"/>
                  </a:ext>
                </a:extLst>
              </p:cNvPr>
              <p:cNvGrpSpPr/>
              <p:nvPr/>
            </p:nvGrpSpPr>
            <p:grpSpPr>
              <a:xfrm rot="5400000">
                <a:off x="7132003" y="272573"/>
                <a:ext cx="408979" cy="228600"/>
                <a:chOff x="339924" y="1249999"/>
                <a:chExt cx="408979" cy="228600"/>
              </a:xfrm>
            </p:grpSpPr>
            <p:sp>
              <p:nvSpPr>
                <p:cNvPr id="18" name="Isosceles Triangle 17">
                  <a:extLst>
                    <a:ext uri="{FF2B5EF4-FFF2-40B4-BE49-F238E27FC236}">
                      <a16:creationId xmlns:a16="http://schemas.microsoft.com/office/drawing/2014/main" id="{1C58A4BE-2AF4-28D2-3DBC-D53477C42F5D}"/>
                    </a:ext>
                  </a:extLst>
                </p:cNvPr>
                <p:cNvSpPr/>
                <p:nvPr/>
              </p:nvSpPr>
              <p:spPr>
                <a:xfrm rot="16200000">
                  <a:off x="485776" y="1177372"/>
                  <a:ext cx="152400" cy="373855"/>
                </a:xfrm>
                <a:prstGeom prst="triangle">
                  <a:avLst>
                    <a:gd name="adj" fmla="val 53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39BC791-0CED-3E9A-6002-73437959E504}"/>
                    </a:ext>
                  </a:extLst>
                </p:cNvPr>
                <p:cNvSpPr/>
                <p:nvPr/>
              </p:nvSpPr>
              <p:spPr>
                <a:xfrm>
                  <a:off x="339924" y="1249999"/>
                  <a:ext cx="323850" cy="228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15" name="TextBox 14">
                <a:extLst>
                  <a:ext uri="{FF2B5EF4-FFF2-40B4-BE49-F238E27FC236}">
                    <a16:creationId xmlns:a16="http://schemas.microsoft.com/office/drawing/2014/main" id="{3DC1C7DC-D38B-8092-91D8-7C1D1CCB2E35}"/>
                  </a:ext>
                </a:extLst>
              </p:cNvPr>
              <p:cNvSpPr txBox="1"/>
              <p:nvPr/>
            </p:nvSpPr>
            <p:spPr>
              <a:xfrm>
                <a:off x="7412692" y="238168"/>
                <a:ext cx="1167622" cy="253916"/>
              </a:xfrm>
              <a:prstGeom prst="rect">
                <a:avLst/>
              </a:prstGeom>
              <a:noFill/>
            </p:spPr>
            <p:txBody>
              <a:bodyPr wrap="square" rtlCol="0">
                <a:spAutoFit/>
              </a:bodyPr>
              <a:lstStyle/>
              <a:p>
                <a:r>
                  <a:rPr lang="en-US" sz="1050" dirty="0"/>
                  <a:t>unobservable</a:t>
                </a:r>
              </a:p>
            </p:txBody>
          </p:sp>
        </p:grpSp>
        <p:grpSp>
          <p:nvGrpSpPr>
            <p:cNvPr id="24" name="Group 23">
              <a:extLst>
                <a:ext uri="{FF2B5EF4-FFF2-40B4-BE49-F238E27FC236}">
                  <a16:creationId xmlns:a16="http://schemas.microsoft.com/office/drawing/2014/main" id="{310B27E7-E3FA-01F8-6B65-80F6B52D9075}"/>
                </a:ext>
              </a:extLst>
            </p:cNvPr>
            <p:cNvGrpSpPr/>
            <p:nvPr/>
          </p:nvGrpSpPr>
          <p:grpSpPr>
            <a:xfrm>
              <a:off x="7188665" y="223037"/>
              <a:ext cx="304800" cy="277633"/>
              <a:chOff x="533400" y="228600"/>
              <a:chExt cx="304800" cy="277633"/>
            </a:xfrm>
          </p:grpSpPr>
          <p:cxnSp>
            <p:nvCxnSpPr>
              <p:cNvPr id="21" name="Straight Connector 20">
                <a:extLst>
                  <a:ext uri="{FF2B5EF4-FFF2-40B4-BE49-F238E27FC236}">
                    <a16:creationId xmlns:a16="http://schemas.microsoft.com/office/drawing/2014/main" id="{BC485FAC-1F73-F836-94D4-338733B9C3C3}"/>
                  </a:ext>
                </a:extLst>
              </p:cNvPr>
              <p:cNvCxnSpPr/>
              <p:nvPr/>
            </p:nvCxnSpPr>
            <p:spPr>
              <a:xfrm>
                <a:off x="533400" y="228600"/>
                <a:ext cx="304800" cy="27763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B3986D2-8570-AB02-483D-14F9C73A8582}"/>
                  </a:ext>
                </a:extLst>
              </p:cNvPr>
              <p:cNvCxnSpPr/>
              <p:nvPr/>
            </p:nvCxnSpPr>
            <p:spPr>
              <a:xfrm flipV="1">
                <a:off x="533400" y="238168"/>
                <a:ext cx="304800" cy="2680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46023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63142-1404-4BEA-8D8B-238FA5094C3C}"/>
              </a:ext>
            </a:extLst>
          </p:cNvPr>
          <p:cNvSpPr>
            <a:spLocks noGrp="1"/>
          </p:cNvSpPr>
          <p:nvPr>
            <p:ph type="title"/>
          </p:nvPr>
        </p:nvSpPr>
        <p:spPr/>
        <p:txBody>
          <a:bodyPr>
            <a:normAutofit/>
          </a:bodyPr>
          <a:lstStyle/>
          <a:p>
            <a:r>
              <a:rPr lang="en-US" sz="3600" dirty="0"/>
              <a:t>Actions to Coerce the </a:t>
            </a:r>
            <a:br>
              <a:rPr lang="en-US" sz="3600" dirty="0"/>
            </a:br>
            <a:r>
              <a:rPr lang="en-US" sz="3600" dirty="0"/>
              <a:t>World into Known States</a:t>
            </a:r>
          </a:p>
        </p:txBody>
      </p:sp>
      <p:grpSp>
        <p:nvGrpSpPr>
          <p:cNvPr id="24" name="Group 23" descr="The action right coerces the environment into 4 possible states.">
            <a:extLst>
              <a:ext uri="{FF2B5EF4-FFF2-40B4-BE49-F238E27FC236}">
                <a16:creationId xmlns:a16="http://schemas.microsoft.com/office/drawing/2014/main" id="{6A3916DA-6CB7-D9CA-0DCF-74F38B30DF47}"/>
              </a:ext>
            </a:extLst>
          </p:cNvPr>
          <p:cNvGrpSpPr/>
          <p:nvPr/>
        </p:nvGrpSpPr>
        <p:grpSpPr>
          <a:xfrm>
            <a:off x="413084" y="3037283"/>
            <a:ext cx="8045116" cy="3477976"/>
            <a:chOff x="413084" y="3037283"/>
            <a:chExt cx="8045116" cy="3477976"/>
          </a:xfrm>
        </p:grpSpPr>
        <p:pic>
          <p:nvPicPr>
            <p:cNvPr id="4" name="Picture 3">
              <a:extLst>
                <a:ext uri="{FF2B5EF4-FFF2-40B4-BE49-F238E27FC236}">
                  <a16:creationId xmlns:a16="http://schemas.microsoft.com/office/drawing/2014/main" id="{77846935-7A1F-47B0-8C20-07C0041024C9}"/>
                </a:ext>
              </a:extLst>
            </p:cNvPr>
            <p:cNvPicPr>
              <a:picLocks noChangeAspect="1"/>
            </p:cNvPicPr>
            <p:nvPr/>
          </p:nvPicPr>
          <p:blipFill>
            <a:blip r:embed="rId3"/>
            <a:stretch>
              <a:fillRect/>
            </a:stretch>
          </p:blipFill>
          <p:spPr>
            <a:xfrm>
              <a:off x="457200" y="3406615"/>
              <a:ext cx="3581584" cy="3086259"/>
            </a:xfrm>
            <a:prstGeom prst="rect">
              <a:avLst/>
            </a:prstGeom>
          </p:spPr>
        </p:pic>
        <p:pic>
          <p:nvPicPr>
            <p:cNvPr id="5" name="Picture 4">
              <a:extLst>
                <a:ext uri="{FF2B5EF4-FFF2-40B4-BE49-F238E27FC236}">
                  <a16:creationId xmlns:a16="http://schemas.microsoft.com/office/drawing/2014/main" id="{67364FA7-2A63-47E9-865E-C76E9C5F2D79}"/>
                </a:ext>
              </a:extLst>
            </p:cNvPr>
            <p:cNvPicPr>
              <a:picLocks noChangeAspect="1"/>
            </p:cNvPicPr>
            <p:nvPr/>
          </p:nvPicPr>
          <p:blipFill>
            <a:blip r:embed="rId3"/>
            <a:stretch>
              <a:fillRect/>
            </a:stretch>
          </p:blipFill>
          <p:spPr>
            <a:xfrm>
              <a:off x="4876616" y="3429000"/>
              <a:ext cx="3581584" cy="3086259"/>
            </a:xfrm>
            <a:prstGeom prst="rect">
              <a:avLst/>
            </a:prstGeom>
          </p:spPr>
        </p:pic>
        <p:sp>
          <p:nvSpPr>
            <p:cNvPr id="6" name="Arrow: Right 5">
              <a:extLst>
                <a:ext uri="{FF2B5EF4-FFF2-40B4-BE49-F238E27FC236}">
                  <a16:creationId xmlns:a16="http://schemas.microsoft.com/office/drawing/2014/main" id="{D1CC4563-6C86-42E7-A675-92EC856030AA}"/>
                </a:ext>
              </a:extLst>
            </p:cNvPr>
            <p:cNvSpPr/>
            <p:nvPr/>
          </p:nvSpPr>
          <p:spPr>
            <a:xfrm>
              <a:off x="4114800" y="4572000"/>
              <a:ext cx="914400" cy="609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right</a:t>
              </a:r>
            </a:p>
          </p:txBody>
        </p:sp>
        <p:grpSp>
          <p:nvGrpSpPr>
            <p:cNvPr id="13" name="Group 12">
              <a:extLst>
                <a:ext uri="{FF2B5EF4-FFF2-40B4-BE49-F238E27FC236}">
                  <a16:creationId xmlns:a16="http://schemas.microsoft.com/office/drawing/2014/main" id="{627F4B60-1944-4125-B0F2-EFD2E50E8537}"/>
                </a:ext>
              </a:extLst>
            </p:cNvPr>
            <p:cNvGrpSpPr/>
            <p:nvPr/>
          </p:nvGrpSpPr>
          <p:grpSpPr>
            <a:xfrm>
              <a:off x="5181600" y="3505200"/>
              <a:ext cx="1295400" cy="533400"/>
              <a:chOff x="5181600" y="3505200"/>
              <a:chExt cx="1295400" cy="533400"/>
            </a:xfrm>
          </p:grpSpPr>
          <p:cxnSp>
            <p:nvCxnSpPr>
              <p:cNvPr id="8" name="Straight Connector 7">
                <a:extLst>
                  <a:ext uri="{FF2B5EF4-FFF2-40B4-BE49-F238E27FC236}">
                    <a16:creationId xmlns:a16="http://schemas.microsoft.com/office/drawing/2014/main" id="{E0E0FB11-0257-4A33-87CD-E372AB466823}"/>
                  </a:ext>
                </a:extLst>
              </p:cNvPr>
              <p:cNvCxnSpPr>
                <a:cxnSpLocks/>
              </p:cNvCxnSpPr>
              <p:nvPr/>
            </p:nvCxnSpPr>
            <p:spPr>
              <a:xfrm>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3036999-E827-438C-A554-948F21E94F51}"/>
                  </a:ext>
                </a:extLst>
              </p:cNvPr>
              <p:cNvCxnSpPr/>
              <p:nvPr/>
            </p:nvCxnSpPr>
            <p:spPr>
              <a:xfrm flipV="1">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2BD5363F-D7EE-4713-B13E-C73DC822D632}"/>
                </a:ext>
              </a:extLst>
            </p:cNvPr>
            <p:cNvGrpSpPr/>
            <p:nvPr/>
          </p:nvGrpSpPr>
          <p:grpSpPr>
            <a:xfrm>
              <a:off x="5181600" y="4343400"/>
              <a:ext cx="1295400" cy="533400"/>
              <a:chOff x="5181600" y="3505200"/>
              <a:chExt cx="1295400" cy="533400"/>
            </a:xfrm>
          </p:grpSpPr>
          <p:cxnSp>
            <p:nvCxnSpPr>
              <p:cNvPr id="15" name="Straight Connector 14">
                <a:extLst>
                  <a:ext uri="{FF2B5EF4-FFF2-40B4-BE49-F238E27FC236}">
                    <a16:creationId xmlns:a16="http://schemas.microsoft.com/office/drawing/2014/main" id="{D93D36D2-E3D6-4CE9-A62E-DF4D8B9563CF}"/>
                  </a:ext>
                </a:extLst>
              </p:cNvPr>
              <p:cNvCxnSpPr>
                <a:cxnSpLocks/>
              </p:cNvCxnSpPr>
              <p:nvPr/>
            </p:nvCxnSpPr>
            <p:spPr>
              <a:xfrm>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FBF4372-17E2-4BE4-8B3B-177795292823}"/>
                  </a:ext>
                </a:extLst>
              </p:cNvPr>
              <p:cNvCxnSpPr/>
              <p:nvPr/>
            </p:nvCxnSpPr>
            <p:spPr>
              <a:xfrm flipV="1">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F7B48DF3-A4C7-47F4-A798-0B7AE1C775AC}"/>
                </a:ext>
              </a:extLst>
            </p:cNvPr>
            <p:cNvGrpSpPr/>
            <p:nvPr/>
          </p:nvGrpSpPr>
          <p:grpSpPr>
            <a:xfrm>
              <a:off x="5181600" y="5105400"/>
              <a:ext cx="1295400" cy="533400"/>
              <a:chOff x="5181600" y="3505200"/>
              <a:chExt cx="1295400" cy="533400"/>
            </a:xfrm>
          </p:grpSpPr>
          <p:cxnSp>
            <p:nvCxnSpPr>
              <p:cNvPr id="18" name="Straight Connector 17">
                <a:extLst>
                  <a:ext uri="{FF2B5EF4-FFF2-40B4-BE49-F238E27FC236}">
                    <a16:creationId xmlns:a16="http://schemas.microsoft.com/office/drawing/2014/main" id="{06E0611C-6B19-418E-9D84-0FDD42F3CEEF}"/>
                  </a:ext>
                </a:extLst>
              </p:cNvPr>
              <p:cNvCxnSpPr>
                <a:cxnSpLocks/>
              </p:cNvCxnSpPr>
              <p:nvPr/>
            </p:nvCxnSpPr>
            <p:spPr>
              <a:xfrm>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645DB7C-072B-4E7B-AA89-BA446E5FE00B}"/>
                  </a:ext>
                </a:extLst>
              </p:cNvPr>
              <p:cNvCxnSpPr/>
              <p:nvPr/>
            </p:nvCxnSpPr>
            <p:spPr>
              <a:xfrm flipV="1">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91E15083-159E-48C7-B8C2-752703471016}"/>
                </a:ext>
              </a:extLst>
            </p:cNvPr>
            <p:cNvGrpSpPr/>
            <p:nvPr/>
          </p:nvGrpSpPr>
          <p:grpSpPr>
            <a:xfrm>
              <a:off x="5257800" y="5867400"/>
              <a:ext cx="1295400" cy="533400"/>
              <a:chOff x="5181600" y="3505200"/>
              <a:chExt cx="1295400" cy="533400"/>
            </a:xfrm>
          </p:grpSpPr>
          <p:cxnSp>
            <p:nvCxnSpPr>
              <p:cNvPr id="21" name="Straight Connector 20">
                <a:extLst>
                  <a:ext uri="{FF2B5EF4-FFF2-40B4-BE49-F238E27FC236}">
                    <a16:creationId xmlns:a16="http://schemas.microsoft.com/office/drawing/2014/main" id="{46CA80A4-27A9-4AE3-8522-58E04D3EC360}"/>
                  </a:ext>
                </a:extLst>
              </p:cNvPr>
              <p:cNvCxnSpPr>
                <a:cxnSpLocks/>
              </p:cNvCxnSpPr>
              <p:nvPr/>
            </p:nvCxnSpPr>
            <p:spPr>
              <a:xfrm>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6AC3456-806D-43D9-B524-79FC5DFDDD26}"/>
                  </a:ext>
                </a:extLst>
              </p:cNvPr>
              <p:cNvCxnSpPr/>
              <p:nvPr/>
            </p:nvCxnSpPr>
            <p:spPr>
              <a:xfrm flipV="1">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9" name="Rectangle 28">
              <a:extLst>
                <a:ext uri="{FF2B5EF4-FFF2-40B4-BE49-F238E27FC236}">
                  <a16:creationId xmlns:a16="http://schemas.microsoft.com/office/drawing/2014/main" id="{09ADB760-C9CA-4225-AF5E-DF0A1C85C73D}"/>
                </a:ext>
              </a:extLst>
            </p:cNvPr>
            <p:cNvSpPr/>
            <p:nvPr/>
          </p:nvSpPr>
          <p:spPr>
            <a:xfrm>
              <a:off x="786687" y="3037283"/>
              <a:ext cx="3340145" cy="369332"/>
            </a:xfrm>
            <a:prstGeom prst="rect">
              <a:avLst/>
            </a:prstGeom>
          </p:spPr>
          <p:txBody>
            <a:bodyPr wrap="none">
              <a:spAutoFit/>
            </a:bodyPr>
            <a:lstStyle/>
            <a:p>
              <a:r>
                <a:rPr lang="en-US" dirty="0"/>
                <a:t>Initial belief state {1,2,3,4,5,6,7,8}</a:t>
              </a:r>
            </a:p>
          </p:txBody>
        </p:sp>
        <p:sp>
          <p:nvSpPr>
            <p:cNvPr id="30" name="Rectangle 29">
              <a:extLst>
                <a:ext uri="{FF2B5EF4-FFF2-40B4-BE49-F238E27FC236}">
                  <a16:creationId xmlns:a16="http://schemas.microsoft.com/office/drawing/2014/main" id="{66795A39-3C05-47F1-B14A-A082CE2767A6}"/>
                </a:ext>
              </a:extLst>
            </p:cNvPr>
            <p:cNvSpPr/>
            <p:nvPr/>
          </p:nvSpPr>
          <p:spPr>
            <a:xfrm>
              <a:off x="413084" y="5696953"/>
              <a:ext cx="3625700" cy="800259"/>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1" name="TextBox 30">
              <a:extLst>
                <a:ext uri="{FF2B5EF4-FFF2-40B4-BE49-F238E27FC236}">
                  <a16:creationId xmlns:a16="http://schemas.microsoft.com/office/drawing/2014/main" id="{8B24100A-51B8-4F5A-8B3C-52D81FB4291B}"/>
                </a:ext>
              </a:extLst>
            </p:cNvPr>
            <p:cNvSpPr txBox="1"/>
            <p:nvPr/>
          </p:nvSpPr>
          <p:spPr>
            <a:xfrm>
              <a:off x="4038600" y="5715000"/>
              <a:ext cx="761816" cy="646331"/>
            </a:xfrm>
            <a:prstGeom prst="rect">
              <a:avLst/>
            </a:prstGeom>
            <a:noFill/>
          </p:spPr>
          <p:txBody>
            <a:bodyPr wrap="square" rtlCol="0">
              <a:spAutoFit/>
            </a:bodyPr>
            <a:lstStyle/>
            <a:p>
              <a:r>
                <a:rPr lang="en-US" b="1" dirty="0">
                  <a:solidFill>
                    <a:schemeClr val="accent6">
                      <a:lumMod val="75000"/>
                    </a:schemeClr>
                  </a:solidFill>
                </a:rPr>
                <a:t>Goal</a:t>
              </a:r>
              <a:br>
                <a:rPr lang="en-US" b="1" dirty="0">
                  <a:solidFill>
                    <a:schemeClr val="accent6">
                      <a:lumMod val="75000"/>
                    </a:schemeClr>
                  </a:solidFill>
                </a:rPr>
              </a:br>
              <a:r>
                <a:rPr lang="en-US" b="1" dirty="0">
                  <a:solidFill>
                    <a:schemeClr val="accent6">
                      <a:lumMod val="75000"/>
                    </a:schemeClr>
                  </a:solidFill>
                </a:rPr>
                <a:t>states</a:t>
              </a:r>
            </a:p>
          </p:txBody>
        </p:sp>
        <p:sp>
          <p:nvSpPr>
            <p:cNvPr id="23" name="Rectangle 22">
              <a:extLst>
                <a:ext uri="{FF2B5EF4-FFF2-40B4-BE49-F238E27FC236}">
                  <a16:creationId xmlns:a16="http://schemas.microsoft.com/office/drawing/2014/main" id="{F4359121-DA1B-45F0-BDF6-5F6E620725B6}"/>
                </a:ext>
              </a:extLst>
            </p:cNvPr>
            <p:cNvSpPr/>
            <p:nvPr/>
          </p:nvSpPr>
          <p:spPr>
            <a:xfrm>
              <a:off x="4800600" y="5715000"/>
              <a:ext cx="3625700" cy="800259"/>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25" name="Content Placeholder 2">
            <a:extLst>
              <a:ext uri="{FF2B5EF4-FFF2-40B4-BE49-F238E27FC236}">
                <a16:creationId xmlns:a16="http://schemas.microsoft.com/office/drawing/2014/main" id="{40E31588-DE13-4F0F-A978-B135B3784FFE}"/>
              </a:ext>
            </a:extLst>
          </p:cNvPr>
          <p:cNvSpPr txBox="1">
            <a:spLocks/>
          </p:cNvSpPr>
          <p:nvPr/>
        </p:nvSpPr>
        <p:spPr>
          <a:xfrm>
            <a:off x="628650" y="1985921"/>
            <a:ext cx="7886700" cy="868324"/>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Actions can reduce the number of possible states.</a:t>
            </a:r>
          </a:p>
          <a:p>
            <a:r>
              <a:rPr lang="en-US" b="1" dirty="0"/>
              <a:t>Example</a:t>
            </a:r>
            <a:r>
              <a:rPr lang="en-US" dirty="0"/>
              <a:t>: Deterministic but unobservable vacuum world. The agent does not know its position or the dirt distribution.</a:t>
            </a:r>
          </a:p>
        </p:txBody>
      </p:sp>
      <p:grpSp>
        <p:nvGrpSpPr>
          <p:cNvPr id="26" name="Group 25">
            <a:extLst>
              <a:ext uri="{FF2B5EF4-FFF2-40B4-BE49-F238E27FC236}">
                <a16:creationId xmlns:a16="http://schemas.microsoft.com/office/drawing/2014/main" id="{2B367A7B-FFE4-8C4F-F325-D863FF3CFC39}"/>
              </a:ext>
            </a:extLst>
          </p:cNvPr>
          <p:cNvGrpSpPr/>
          <p:nvPr/>
        </p:nvGrpSpPr>
        <p:grpSpPr>
          <a:xfrm>
            <a:off x="6076950" y="182383"/>
            <a:ext cx="2503364" cy="1854044"/>
            <a:chOff x="6076950" y="182383"/>
            <a:chExt cx="2503364" cy="1854044"/>
          </a:xfrm>
        </p:grpSpPr>
        <p:grpSp>
          <p:nvGrpSpPr>
            <p:cNvPr id="27" name="Group 26">
              <a:extLst>
                <a:ext uri="{FF2B5EF4-FFF2-40B4-BE49-F238E27FC236}">
                  <a16:creationId xmlns:a16="http://schemas.microsoft.com/office/drawing/2014/main" id="{4F2681F7-C39B-D5B7-9C1F-85AB8F828A04}"/>
                </a:ext>
                <a:ext uri="{C183D7F6-B498-43B3-948B-1728B52AA6E4}">
                  <adec:decorative xmlns:adec="http://schemas.microsoft.com/office/drawing/2017/decorative" val="1"/>
                </a:ext>
              </a:extLst>
            </p:cNvPr>
            <p:cNvGrpSpPr/>
            <p:nvPr/>
          </p:nvGrpSpPr>
          <p:grpSpPr>
            <a:xfrm>
              <a:off x="6076950" y="609600"/>
              <a:ext cx="2438400" cy="1426827"/>
              <a:chOff x="6076950" y="287117"/>
              <a:chExt cx="2438400" cy="1426827"/>
            </a:xfrm>
          </p:grpSpPr>
          <p:pic>
            <p:nvPicPr>
              <p:cNvPr id="39" name="Picture 4" descr="vacuum2-environment">
                <a:extLst>
                  <a:ext uri="{FF2B5EF4-FFF2-40B4-BE49-F238E27FC236}">
                    <a16:creationId xmlns:a16="http://schemas.microsoft.com/office/drawing/2014/main" id="{48EAAA2D-14DB-48F9-66BB-3C5AB9775290}"/>
                  </a:ext>
                </a:extLst>
              </p:cNvPr>
              <p:cNvPicPr>
                <a:picLocks noChangeAspect="1" noChangeArrowheads="1"/>
              </p:cNvPicPr>
              <p:nvPr/>
            </p:nvPicPr>
            <p:blipFill>
              <a:blip r:embed="rId4" cstate="print"/>
              <a:srcRect/>
              <a:stretch>
                <a:fillRect/>
              </a:stretch>
            </p:blipFill>
            <p:spPr bwMode="auto">
              <a:xfrm>
                <a:off x="6076950" y="365126"/>
                <a:ext cx="2438400" cy="1247554"/>
              </a:xfrm>
              <a:prstGeom prst="rect">
                <a:avLst/>
              </a:prstGeom>
              <a:noFill/>
            </p:spPr>
          </p:pic>
          <p:sp>
            <p:nvSpPr>
              <p:cNvPr id="40" name="TextBox 39">
                <a:extLst>
                  <a:ext uri="{FF2B5EF4-FFF2-40B4-BE49-F238E27FC236}">
                    <a16:creationId xmlns:a16="http://schemas.microsoft.com/office/drawing/2014/main" id="{FE295C16-8064-2AF7-39BF-8BE470E5DB9D}"/>
                  </a:ext>
                </a:extLst>
              </p:cNvPr>
              <p:cNvSpPr txBox="1"/>
              <p:nvPr/>
            </p:nvSpPr>
            <p:spPr>
              <a:xfrm>
                <a:off x="6210300" y="287117"/>
                <a:ext cx="381000" cy="584775"/>
              </a:xfrm>
              <a:prstGeom prst="rect">
                <a:avLst/>
              </a:prstGeom>
              <a:noFill/>
            </p:spPr>
            <p:txBody>
              <a:bodyPr wrap="square" rtlCol="0">
                <a:spAutoFit/>
              </a:bodyPr>
              <a:lstStyle/>
              <a:p>
                <a:r>
                  <a:rPr lang="en-US" sz="3200" b="1" dirty="0">
                    <a:solidFill>
                      <a:srgbClr val="FF0000"/>
                    </a:solidFill>
                  </a:rPr>
                  <a:t>?</a:t>
                </a:r>
              </a:p>
            </p:txBody>
          </p:sp>
          <p:sp>
            <p:nvSpPr>
              <p:cNvPr id="41" name="TextBox 40">
                <a:extLst>
                  <a:ext uri="{FF2B5EF4-FFF2-40B4-BE49-F238E27FC236}">
                    <a16:creationId xmlns:a16="http://schemas.microsoft.com/office/drawing/2014/main" id="{7057AC18-3F4B-C3EA-5FC3-AA709642DB15}"/>
                  </a:ext>
                </a:extLst>
              </p:cNvPr>
              <p:cNvSpPr txBox="1"/>
              <p:nvPr/>
            </p:nvSpPr>
            <p:spPr>
              <a:xfrm rot="20848155">
                <a:off x="6357997" y="790614"/>
                <a:ext cx="381000" cy="923330"/>
              </a:xfrm>
              <a:prstGeom prst="rect">
                <a:avLst/>
              </a:prstGeom>
              <a:noFill/>
            </p:spPr>
            <p:txBody>
              <a:bodyPr wrap="square" rtlCol="0">
                <a:spAutoFit/>
              </a:bodyPr>
              <a:lstStyle/>
              <a:p>
                <a:r>
                  <a:rPr lang="en-US" sz="5400" b="1" dirty="0">
                    <a:solidFill>
                      <a:srgbClr val="FF0000"/>
                    </a:solidFill>
                  </a:rPr>
                  <a:t>?</a:t>
                </a:r>
              </a:p>
            </p:txBody>
          </p:sp>
          <p:sp>
            <p:nvSpPr>
              <p:cNvPr id="42" name="TextBox 41">
                <a:extLst>
                  <a:ext uri="{FF2B5EF4-FFF2-40B4-BE49-F238E27FC236}">
                    <a16:creationId xmlns:a16="http://schemas.microsoft.com/office/drawing/2014/main" id="{99DF8082-CC27-5EE8-25AB-B2895BC7C772}"/>
                  </a:ext>
                </a:extLst>
              </p:cNvPr>
              <p:cNvSpPr txBox="1"/>
              <p:nvPr/>
            </p:nvSpPr>
            <p:spPr>
              <a:xfrm rot="1308263">
                <a:off x="7625452" y="690625"/>
                <a:ext cx="381000" cy="923330"/>
              </a:xfrm>
              <a:prstGeom prst="rect">
                <a:avLst/>
              </a:prstGeom>
              <a:noFill/>
            </p:spPr>
            <p:txBody>
              <a:bodyPr wrap="square" rtlCol="0">
                <a:spAutoFit/>
              </a:bodyPr>
              <a:lstStyle/>
              <a:p>
                <a:r>
                  <a:rPr lang="en-US" sz="5400" b="1" dirty="0">
                    <a:solidFill>
                      <a:srgbClr val="FF0000"/>
                    </a:solidFill>
                  </a:rPr>
                  <a:t>?</a:t>
                </a:r>
              </a:p>
            </p:txBody>
          </p:sp>
        </p:grpSp>
        <p:grpSp>
          <p:nvGrpSpPr>
            <p:cNvPr id="28" name="Group 27">
              <a:extLst>
                <a:ext uri="{FF2B5EF4-FFF2-40B4-BE49-F238E27FC236}">
                  <a16:creationId xmlns:a16="http://schemas.microsoft.com/office/drawing/2014/main" id="{FF102C4E-D6A8-ADC4-B1C3-E03DD3329691}"/>
                </a:ext>
              </a:extLst>
            </p:cNvPr>
            <p:cNvGrpSpPr/>
            <p:nvPr/>
          </p:nvGrpSpPr>
          <p:grpSpPr>
            <a:xfrm>
              <a:off x="7222193" y="182383"/>
              <a:ext cx="1358121" cy="408979"/>
              <a:chOff x="7222193" y="182383"/>
              <a:chExt cx="1358121" cy="408979"/>
            </a:xfrm>
          </p:grpSpPr>
          <p:grpSp>
            <p:nvGrpSpPr>
              <p:cNvPr id="35" name="Group 34">
                <a:extLst>
                  <a:ext uri="{FF2B5EF4-FFF2-40B4-BE49-F238E27FC236}">
                    <a16:creationId xmlns:a16="http://schemas.microsoft.com/office/drawing/2014/main" id="{A5D9E391-B52B-7D85-80A6-CDE8F88C264C}"/>
                  </a:ext>
                </a:extLst>
              </p:cNvPr>
              <p:cNvGrpSpPr/>
              <p:nvPr/>
            </p:nvGrpSpPr>
            <p:grpSpPr>
              <a:xfrm rot="5400000">
                <a:off x="7132003" y="272573"/>
                <a:ext cx="408979" cy="228600"/>
                <a:chOff x="339924" y="1249999"/>
                <a:chExt cx="408979" cy="228600"/>
              </a:xfrm>
            </p:grpSpPr>
            <p:sp>
              <p:nvSpPr>
                <p:cNvPr id="37" name="Isosceles Triangle 36">
                  <a:extLst>
                    <a:ext uri="{FF2B5EF4-FFF2-40B4-BE49-F238E27FC236}">
                      <a16:creationId xmlns:a16="http://schemas.microsoft.com/office/drawing/2014/main" id="{309D624D-F4BF-02A3-9AC2-D38D65804A36}"/>
                    </a:ext>
                  </a:extLst>
                </p:cNvPr>
                <p:cNvSpPr/>
                <p:nvPr/>
              </p:nvSpPr>
              <p:spPr>
                <a:xfrm rot="16200000">
                  <a:off x="485776" y="1177372"/>
                  <a:ext cx="152400" cy="373855"/>
                </a:xfrm>
                <a:prstGeom prst="triangle">
                  <a:avLst>
                    <a:gd name="adj" fmla="val 53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F9AD587-7D09-6988-49C7-59542D09D9CC}"/>
                    </a:ext>
                  </a:extLst>
                </p:cNvPr>
                <p:cNvSpPr/>
                <p:nvPr/>
              </p:nvSpPr>
              <p:spPr>
                <a:xfrm>
                  <a:off x="339924" y="1249999"/>
                  <a:ext cx="323850" cy="228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36" name="TextBox 35">
                <a:extLst>
                  <a:ext uri="{FF2B5EF4-FFF2-40B4-BE49-F238E27FC236}">
                    <a16:creationId xmlns:a16="http://schemas.microsoft.com/office/drawing/2014/main" id="{ECDDB5B1-8E54-4C5C-AF19-BD47F5B35A19}"/>
                  </a:ext>
                </a:extLst>
              </p:cNvPr>
              <p:cNvSpPr txBox="1"/>
              <p:nvPr/>
            </p:nvSpPr>
            <p:spPr>
              <a:xfrm>
                <a:off x="7412692" y="238168"/>
                <a:ext cx="1167622" cy="253916"/>
              </a:xfrm>
              <a:prstGeom prst="rect">
                <a:avLst/>
              </a:prstGeom>
              <a:noFill/>
            </p:spPr>
            <p:txBody>
              <a:bodyPr wrap="square" rtlCol="0">
                <a:spAutoFit/>
              </a:bodyPr>
              <a:lstStyle/>
              <a:p>
                <a:r>
                  <a:rPr lang="en-US" sz="1050" dirty="0"/>
                  <a:t>unobservable</a:t>
                </a:r>
              </a:p>
            </p:txBody>
          </p:sp>
        </p:grpSp>
        <p:grpSp>
          <p:nvGrpSpPr>
            <p:cNvPr id="32" name="Group 31">
              <a:extLst>
                <a:ext uri="{FF2B5EF4-FFF2-40B4-BE49-F238E27FC236}">
                  <a16:creationId xmlns:a16="http://schemas.microsoft.com/office/drawing/2014/main" id="{836F0055-8417-AE90-5D15-BD8A3B81B7D2}"/>
                </a:ext>
              </a:extLst>
            </p:cNvPr>
            <p:cNvGrpSpPr/>
            <p:nvPr/>
          </p:nvGrpSpPr>
          <p:grpSpPr>
            <a:xfrm>
              <a:off x="7188665" y="223037"/>
              <a:ext cx="304800" cy="277633"/>
              <a:chOff x="533400" y="228600"/>
              <a:chExt cx="304800" cy="277633"/>
            </a:xfrm>
          </p:grpSpPr>
          <p:cxnSp>
            <p:nvCxnSpPr>
              <p:cNvPr id="33" name="Straight Connector 32">
                <a:extLst>
                  <a:ext uri="{FF2B5EF4-FFF2-40B4-BE49-F238E27FC236}">
                    <a16:creationId xmlns:a16="http://schemas.microsoft.com/office/drawing/2014/main" id="{70A501D1-B353-CB9A-F588-80937B001F25}"/>
                  </a:ext>
                </a:extLst>
              </p:cNvPr>
              <p:cNvCxnSpPr/>
              <p:nvPr/>
            </p:nvCxnSpPr>
            <p:spPr>
              <a:xfrm>
                <a:off x="533400" y="228600"/>
                <a:ext cx="304800" cy="27763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C093C7E-D046-0ED1-4E54-8D44A023D993}"/>
                  </a:ext>
                </a:extLst>
              </p:cNvPr>
              <p:cNvCxnSpPr/>
              <p:nvPr/>
            </p:nvCxnSpPr>
            <p:spPr>
              <a:xfrm flipV="1">
                <a:off x="533400" y="238168"/>
                <a:ext cx="304800" cy="2680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397811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63142-1404-4BEA-8D8B-238FA5094C3C}"/>
              </a:ext>
            </a:extLst>
          </p:cNvPr>
          <p:cNvSpPr>
            <a:spLocks noGrp="1"/>
          </p:cNvSpPr>
          <p:nvPr>
            <p:ph type="title"/>
          </p:nvPr>
        </p:nvSpPr>
        <p:spPr/>
        <p:txBody>
          <a:bodyPr>
            <a:normAutofit/>
          </a:bodyPr>
          <a:lstStyle/>
          <a:p>
            <a:r>
              <a:rPr lang="en-US" sz="3600" dirty="0"/>
              <a:t>Actions to Coerce the </a:t>
            </a:r>
            <a:br>
              <a:rPr lang="en-US" sz="3600" dirty="0"/>
            </a:br>
            <a:r>
              <a:rPr lang="en-US" sz="3600" dirty="0"/>
              <a:t>World into Known States </a:t>
            </a:r>
          </a:p>
        </p:txBody>
      </p:sp>
      <p:grpSp>
        <p:nvGrpSpPr>
          <p:cNvPr id="44" name="Group 43" descr="The action suck coerces the environment into 2 states.">
            <a:extLst>
              <a:ext uri="{FF2B5EF4-FFF2-40B4-BE49-F238E27FC236}">
                <a16:creationId xmlns:a16="http://schemas.microsoft.com/office/drawing/2014/main" id="{9AE35511-ED9E-F463-2AA7-EC31942148E3}"/>
              </a:ext>
            </a:extLst>
          </p:cNvPr>
          <p:cNvGrpSpPr/>
          <p:nvPr/>
        </p:nvGrpSpPr>
        <p:grpSpPr>
          <a:xfrm>
            <a:off x="413084" y="3406615"/>
            <a:ext cx="8045116" cy="3127614"/>
            <a:chOff x="413084" y="3406615"/>
            <a:chExt cx="8045116" cy="3127614"/>
          </a:xfrm>
        </p:grpSpPr>
        <p:pic>
          <p:nvPicPr>
            <p:cNvPr id="4" name="Picture 3">
              <a:extLst>
                <a:ext uri="{FF2B5EF4-FFF2-40B4-BE49-F238E27FC236}">
                  <a16:creationId xmlns:a16="http://schemas.microsoft.com/office/drawing/2014/main" id="{77846935-7A1F-47B0-8C20-07C0041024C9}"/>
                </a:ext>
              </a:extLst>
            </p:cNvPr>
            <p:cNvPicPr>
              <a:picLocks noChangeAspect="1"/>
            </p:cNvPicPr>
            <p:nvPr/>
          </p:nvPicPr>
          <p:blipFill>
            <a:blip r:embed="rId3"/>
            <a:stretch>
              <a:fillRect/>
            </a:stretch>
          </p:blipFill>
          <p:spPr>
            <a:xfrm>
              <a:off x="457200" y="3406615"/>
              <a:ext cx="3581584" cy="3086259"/>
            </a:xfrm>
            <a:prstGeom prst="rect">
              <a:avLst/>
            </a:prstGeom>
          </p:spPr>
        </p:pic>
        <p:pic>
          <p:nvPicPr>
            <p:cNvPr id="5" name="Picture 4">
              <a:extLst>
                <a:ext uri="{FF2B5EF4-FFF2-40B4-BE49-F238E27FC236}">
                  <a16:creationId xmlns:a16="http://schemas.microsoft.com/office/drawing/2014/main" id="{67364FA7-2A63-47E9-865E-C76E9C5F2D79}"/>
                </a:ext>
              </a:extLst>
            </p:cNvPr>
            <p:cNvPicPr>
              <a:picLocks noChangeAspect="1"/>
            </p:cNvPicPr>
            <p:nvPr/>
          </p:nvPicPr>
          <p:blipFill>
            <a:blip r:embed="rId3"/>
            <a:stretch>
              <a:fillRect/>
            </a:stretch>
          </p:blipFill>
          <p:spPr>
            <a:xfrm>
              <a:off x="4876616" y="3429000"/>
              <a:ext cx="3581584" cy="3086259"/>
            </a:xfrm>
            <a:prstGeom prst="rect">
              <a:avLst/>
            </a:prstGeom>
          </p:spPr>
        </p:pic>
        <p:sp>
          <p:nvSpPr>
            <p:cNvPr id="6" name="Arrow: Right 5">
              <a:extLst>
                <a:ext uri="{FF2B5EF4-FFF2-40B4-BE49-F238E27FC236}">
                  <a16:creationId xmlns:a16="http://schemas.microsoft.com/office/drawing/2014/main" id="{D1CC4563-6C86-42E7-A675-92EC856030AA}"/>
                </a:ext>
              </a:extLst>
            </p:cNvPr>
            <p:cNvSpPr/>
            <p:nvPr/>
          </p:nvSpPr>
          <p:spPr>
            <a:xfrm>
              <a:off x="4114800" y="4572000"/>
              <a:ext cx="914400" cy="609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suck</a:t>
              </a:r>
            </a:p>
          </p:txBody>
        </p:sp>
        <p:grpSp>
          <p:nvGrpSpPr>
            <p:cNvPr id="13" name="Group 12">
              <a:extLst>
                <a:ext uri="{FF2B5EF4-FFF2-40B4-BE49-F238E27FC236}">
                  <a16:creationId xmlns:a16="http://schemas.microsoft.com/office/drawing/2014/main" id="{627F4B60-1944-4125-B0F2-EFD2E50E8537}"/>
                </a:ext>
              </a:extLst>
            </p:cNvPr>
            <p:cNvGrpSpPr/>
            <p:nvPr/>
          </p:nvGrpSpPr>
          <p:grpSpPr>
            <a:xfrm>
              <a:off x="5181600" y="3505200"/>
              <a:ext cx="1295400" cy="533400"/>
              <a:chOff x="5181600" y="3505200"/>
              <a:chExt cx="1295400" cy="533400"/>
            </a:xfrm>
          </p:grpSpPr>
          <p:cxnSp>
            <p:nvCxnSpPr>
              <p:cNvPr id="8" name="Straight Connector 7">
                <a:extLst>
                  <a:ext uri="{FF2B5EF4-FFF2-40B4-BE49-F238E27FC236}">
                    <a16:creationId xmlns:a16="http://schemas.microsoft.com/office/drawing/2014/main" id="{E0E0FB11-0257-4A33-87CD-E372AB466823}"/>
                  </a:ext>
                </a:extLst>
              </p:cNvPr>
              <p:cNvCxnSpPr>
                <a:cxnSpLocks/>
              </p:cNvCxnSpPr>
              <p:nvPr/>
            </p:nvCxnSpPr>
            <p:spPr>
              <a:xfrm>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3036999-E827-438C-A554-948F21E94F51}"/>
                  </a:ext>
                </a:extLst>
              </p:cNvPr>
              <p:cNvCxnSpPr/>
              <p:nvPr/>
            </p:nvCxnSpPr>
            <p:spPr>
              <a:xfrm flipV="1">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2BD5363F-D7EE-4713-B13E-C73DC822D632}"/>
                </a:ext>
              </a:extLst>
            </p:cNvPr>
            <p:cNvGrpSpPr/>
            <p:nvPr/>
          </p:nvGrpSpPr>
          <p:grpSpPr>
            <a:xfrm>
              <a:off x="5181600" y="4343400"/>
              <a:ext cx="1295400" cy="533400"/>
              <a:chOff x="5181600" y="3505200"/>
              <a:chExt cx="1295400" cy="533400"/>
            </a:xfrm>
          </p:grpSpPr>
          <p:cxnSp>
            <p:nvCxnSpPr>
              <p:cNvPr id="15" name="Straight Connector 14">
                <a:extLst>
                  <a:ext uri="{FF2B5EF4-FFF2-40B4-BE49-F238E27FC236}">
                    <a16:creationId xmlns:a16="http://schemas.microsoft.com/office/drawing/2014/main" id="{D93D36D2-E3D6-4CE9-A62E-DF4D8B9563CF}"/>
                  </a:ext>
                </a:extLst>
              </p:cNvPr>
              <p:cNvCxnSpPr>
                <a:cxnSpLocks/>
              </p:cNvCxnSpPr>
              <p:nvPr/>
            </p:nvCxnSpPr>
            <p:spPr>
              <a:xfrm>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FBF4372-17E2-4BE4-8B3B-177795292823}"/>
                  </a:ext>
                </a:extLst>
              </p:cNvPr>
              <p:cNvCxnSpPr/>
              <p:nvPr/>
            </p:nvCxnSpPr>
            <p:spPr>
              <a:xfrm flipV="1">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F7B48DF3-A4C7-47F4-A798-0B7AE1C775AC}"/>
                </a:ext>
              </a:extLst>
            </p:cNvPr>
            <p:cNvGrpSpPr/>
            <p:nvPr/>
          </p:nvGrpSpPr>
          <p:grpSpPr>
            <a:xfrm>
              <a:off x="5181600" y="5105400"/>
              <a:ext cx="1295400" cy="533400"/>
              <a:chOff x="5181600" y="3505200"/>
              <a:chExt cx="1295400" cy="533400"/>
            </a:xfrm>
          </p:grpSpPr>
          <p:cxnSp>
            <p:nvCxnSpPr>
              <p:cNvPr id="18" name="Straight Connector 17">
                <a:extLst>
                  <a:ext uri="{FF2B5EF4-FFF2-40B4-BE49-F238E27FC236}">
                    <a16:creationId xmlns:a16="http://schemas.microsoft.com/office/drawing/2014/main" id="{06E0611C-6B19-418E-9D84-0FDD42F3CEEF}"/>
                  </a:ext>
                </a:extLst>
              </p:cNvPr>
              <p:cNvCxnSpPr>
                <a:cxnSpLocks/>
              </p:cNvCxnSpPr>
              <p:nvPr/>
            </p:nvCxnSpPr>
            <p:spPr>
              <a:xfrm>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645DB7C-072B-4E7B-AA89-BA446E5FE00B}"/>
                  </a:ext>
                </a:extLst>
              </p:cNvPr>
              <p:cNvCxnSpPr/>
              <p:nvPr/>
            </p:nvCxnSpPr>
            <p:spPr>
              <a:xfrm flipV="1">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91E15083-159E-48C7-B8C2-752703471016}"/>
                </a:ext>
              </a:extLst>
            </p:cNvPr>
            <p:cNvGrpSpPr/>
            <p:nvPr/>
          </p:nvGrpSpPr>
          <p:grpSpPr>
            <a:xfrm>
              <a:off x="5257800" y="5867400"/>
              <a:ext cx="1295400" cy="533400"/>
              <a:chOff x="5181600" y="3505200"/>
              <a:chExt cx="1295400" cy="533400"/>
            </a:xfrm>
          </p:grpSpPr>
          <p:cxnSp>
            <p:nvCxnSpPr>
              <p:cNvPr id="21" name="Straight Connector 20">
                <a:extLst>
                  <a:ext uri="{FF2B5EF4-FFF2-40B4-BE49-F238E27FC236}">
                    <a16:creationId xmlns:a16="http://schemas.microsoft.com/office/drawing/2014/main" id="{46CA80A4-27A9-4AE3-8522-58E04D3EC360}"/>
                  </a:ext>
                </a:extLst>
              </p:cNvPr>
              <p:cNvCxnSpPr>
                <a:cxnSpLocks/>
              </p:cNvCxnSpPr>
              <p:nvPr/>
            </p:nvCxnSpPr>
            <p:spPr>
              <a:xfrm>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6AC3456-806D-43D9-B524-79FC5DFDDD26}"/>
                  </a:ext>
                </a:extLst>
              </p:cNvPr>
              <p:cNvCxnSpPr/>
              <p:nvPr/>
            </p:nvCxnSpPr>
            <p:spPr>
              <a:xfrm flipV="1">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61CDEF17-E886-486E-85AF-EAC1C0701E02}"/>
                </a:ext>
              </a:extLst>
            </p:cNvPr>
            <p:cNvGrpSpPr/>
            <p:nvPr/>
          </p:nvGrpSpPr>
          <p:grpSpPr>
            <a:xfrm>
              <a:off x="762000" y="3505200"/>
              <a:ext cx="1295400" cy="533400"/>
              <a:chOff x="5181600" y="3505200"/>
              <a:chExt cx="1295400" cy="533400"/>
            </a:xfrm>
          </p:grpSpPr>
          <p:cxnSp>
            <p:nvCxnSpPr>
              <p:cNvPr id="24" name="Straight Connector 23">
                <a:extLst>
                  <a:ext uri="{FF2B5EF4-FFF2-40B4-BE49-F238E27FC236}">
                    <a16:creationId xmlns:a16="http://schemas.microsoft.com/office/drawing/2014/main" id="{16F9D1CA-AE36-4AB0-BFEE-DA88E167EF7F}"/>
                  </a:ext>
                </a:extLst>
              </p:cNvPr>
              <p:cNvCxnSpPr>
                <a:cxnSpLocks/>
              </p:cNvCxnSpPr>
              <p:nvPr/>
            </p:nvCxnSpPr>
            <p:spPr>
              <a:xfrm>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E70B51E-1874-471C-8C3B-C7A911363D10}"/>
                  </a:ext>
                </a:extLst>
              </p:cNvPr>
              <p:cNvCxnSpPr/>
              <p:nvPr/>
            </p:nvCxnSpPr>
            <p:spPr>
              <a:xfrm flipV="1">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A7383778-1CB2-4A07-87E9-348617601579}"/>
                </a:ext>
              </a:extLst>
            </p:cNvPr>
            <p:cNvGrpSpPr/>
            <p:nvPr/>
          </p:nvGrpSpPr>
          <p:grpSpPr>
            <a:xfrm>
              <a:off x="762000" y="4343400"/>
              <a:ext cx="1295400" cy="533400"/>
              <a:chOff x="5181600" y="3505200"/>
              <a:chExt cx="1295400" cy="533400"/>
            </a:xfrm>
          </p:grpSpPr>
          <p:cxnSp>
            <p:nvCxnSpPr>
              <p:cNvPr id="27" name="Straight Connector 26">
                <a:extLst>
                  <a:ext uri="{FF2B5EF4-FFF2-40B4-BE49-F238E27FC236}">
                    <a16:creationId xmlns:a16="http://schemas.microsoft.com/office/drawing/2014/main" id="{470F47EA-5010-4CCF-A515-97B8CA14EDB2}"/>
                  </a:ext>
                </a:extLst>
              </p:cNvPr>
              <p:cNvCxnSpPr>
                <a:cxnSpLocks/>
              </p:cNvCxnSpPr>
              <p:nvPr/>
            </p:nvCxnSpPr>
            <p:spPr>
              <a:xfrm>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E42F4D1-851E-4AC6-B204-4BCC3E8A5EEF}"/>
                  </a:ext>
                </a:extLst>
              </p:cNvPr>
              <p:cNvCxnSpPr/>
              <p:nvPr/>
            </p:nvCxnSpPr>
            <p:spPr>
              <a:xfrm flipV="1">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94E87DB2-8EBC-4E11-8836-2C15376ACA9C}"/>
                </a:ext>
              </a:extLst>
            </p:cNvPr>
            <p:cNvGrpSpPr/>
            <p:nvPr/>
          </p:nvGrpSpPr>
          <p:grpSpPr>
            <a:xfrm>
              <a:off x="762000" y="5105400"/>
              <a:ext cx="1295400" cy="533400"/>
              <a:chOff x="5181600" y="3505200"/>
              <a:chExt cx="1295400" cy="533400"/>
            </a:xfrm>
          </p:grpSpPr>
          <p:cxnSp>
            <p:nvCxnSpPr>
              <p:cNvPr id="30" name="Straight Connector 29">
                <a:extLst>
                  <a:ext uri="{FF2B5EF4-FFF2-40B4-BE49-F238E27FC236}">
                    <a16:creationId xmlns:a16="http://schemas.microsoft.com/office/drawing/2014/main" id="{CF5C9E11-4735-4A2C-93C6-1EEBDAAF1372}"/>
                  </a:ext>
                </a:extLst>
              </p:cNvPr>
              <p:cNvCxnSpPr>
                <a:cxnSpLocks/>
              </p:cNvCxnSpPr>
              <p:nvPr/>
            </p:nvCxnSpPr>
            <p:spPr>
              <a:xfrm>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85C2942-9034-4A70-B064-FFC891407E50}"/>
                  </a:ext>
                </a:extLst>
              </p:cNvPr>
              <p:cNvCxnSpPr/>
              <p:nvPr/>
            </p:nvCxnSpPr>
            <p:spPr>
              <a:xfrm flipV="1">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E9ECCAF2-0A1D-418F-A513-45813C3AD168}"/>
                </a:ext>
              </a:extLst>
            </p:cNvPr>
            <p:cNvGrpSpPr/>
            <p:nvPr/>
          </p:nvGrpSpPr>
          <p:grpSpPr>
            <a:xfrm>
              <a:off x="838200" y="5867400"/>
              <a:ext cx="1295400" cy="533400"/>
              <a:chOff x="5181600" y="3505200"/>
              <a:chExt cx="1295400" cy="533400"/>
            </a:xfrm>
          </p:grpSpPr>
          <p:cxnSp>
            <p:nvCxnSpPr>
              <p:cNvPr id="33" name="Straight Connector 32">
                <a:extLst>
                  <a:ext uri="{FF2B5EF4-FFF2-40B4-BE49-F238E27FC236}">
                    <a16:creationId xmlns:a16="http://schemas.microsoft.com/office/drawing/2014/main" id="{08D17941-5B38-4E02-B8D5-9A363700EABB}"/>
                  </a:ext>
                </a:extLst>
              </p:cNvPr>
              <p:cNvCxnSpPr>
                <a:cxnSpLocks/>
              </p:cNvCxnSpPr>
              <p:nvPr/>
            </p:nvCxnSpPr>
            <p:spPr>
              <a:xfrm>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08A2FA1-7B40-4E6B-8488-FBC9DA8BAEA8}"/>
                  </a:ext>
                </a:extLst>
              </p:cNvPr>
              <p:cNvCxnSpPr/>
              <p:nvPr/>
            </p:nvCxnSpPr>
            <p:spPr>
              <a:xfrm flipV="1">
                <a:off x="5181600" y="3505200"/>
                <a:ext cx="1295400" cy="53340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0CD65607-6489-4E81-ADB5-BDE982AF12D3}"/>
                </a:ext>
              </a:extLst>
            </p:cNvPr>
            <p:cNvGrpSpPr/>
            <p:nvPr/>
          </p:nvGrpSpPr>
          <p:grpSpPr>
            <a:xfrm>
              <a:off x="7086600" y="3501189"/>
              <a:ext cx="1295400" cy="533400"/>
              <a:chOff x="5181600" y="3505200"/>
              <a:chExt cx="1295400" cy="533400"/>
            </a:xfrm>
          </p:grpSpPr>
          <p:cxnSp>
            <p:nvCxnSpPr>
              <p:cNvPr id="36" name="Straight Connector 35">
                <a:extLst>
                  <a:ext uri="{FF2B5EF4-FFF2-40B4-BE49-F238E27FC236}">
                    <a16:creationId xmlns:a16="http://schemas.microsoft.com/office/drawing/2014/main" id="{5AAE62E8-8A5F-4360-A3FF-FC0FF87FF933}"/>
                  </a:ext>
                </a:extLst>
              </p:cNvPr>
              <p:cNvCxnSpPr>
                <a:cxnSpLocks/>
              </p:cNvCxnSpPr>
              <p:nvPr/>
            </p:nvCxnSpPr>
            <p:spPr>
              <a:xfrm>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19CA73F-45E2-46EB-9286-418467E61DF0}"/>
                  </a:ext>
                </a:extLst>
              </p:cNvPr>
              <p:cNvCxnSpPr/>
              <p:nvPr/>
            </p:nvCxnSpPr>
            <p:spPr>
              <a:xfrm flipV="1">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FE085F39-11A5-4E23-A78F-D9E952D920DB}"/>
                </a:ext>
              </a:extLst>
            </p:cNvPr>
            <p:cNvGrpSpPr/>
            <p:nvPr/>
          </p:nvGrpSpPr>
          <p:grpSpPr>
            <a:xfrm>
              <a:off x="7086600" y="5084425"/>
              <a:ext cx="1295400" cy="533400"/>
              <a:chOff x="5181600" y="3505200"/>
              <a:chExt cx="1295400" cy="533400"/>
            </a:xfrm>
          </p:grpSpPr>
          <p:cxnSp>
            <p:nvCxnSpPr>
              <p:cNvPr id="39" name="Straight Connector 38">
                <a:extLst>
                  <a:ext uri="{FF2B5EF4-FFF2-40B4-BE49-F238E27FC236}">
                    <a16:creationId xmlns:a16="http://schemas.microsoft.com/office/drawing/2014/main" id="{6050DDCC-FFC2-4F41-8761-29BE7EA9B852}"/>
                  </a:ext>
                </a:extLst>
              </p:cNvPr>
              <p:cNvCxnSpPr>
                <a:cxnSpLocks/>
              </p:cNvCxnSpPr>
              <p:nvPr/>
            </p:nvCxnSpPr>
            <p:spPr>
              <a:xfrm>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228F32D-A304-432E-867A-CD995F74EFA5}"/>
                  </a:ext>
                </a:extLst>
              </p:cNvPr>
              <p:cNvCxnSpPr/>
              <p:nvPr/>
            </p:nvCxnSpPr>
            <p:spPr>
              <a:xfrm flipV="1">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1" name="Rectangle 40">
              <a:extLst>
                <a:ext uri="{FF2B5EF4-FFF2-40B4-BE49-F238E27FC236}">
                  <a16:creationId xmlns:a16="http://schemas.microsoft.com/office/drawing/2014/main" id="{29F2FE14-2485-4AF1-A69E-4EFEC4F0F541}"/>
                </a:ext>
              </a:extLst>
            </p:cNvPr>
            <p:cNvSpPr/>
            <p:nvPr/>
          </p:nvSpPr>
          <p:spPr>
            <a:xfrm>
              <a:off x="413084" y="5696953"/>
              <a:ext cx="3625700" cy="800259"/>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2" name="Rectangle 41">
              <a:extLst>
                <a:ext uri="{FF2B5EF4-FFF2-40B4-BE49-F238E27FC236}">
                  <a16:creationId xmlns:a16="http://schemas.microsoft.com/office/drawing/2014/main" id="{FD15DCB1-C038-480B-97FE-81EF1E0F3E27}"/>
                </a:ext>
              </a:extLst>
            </p:cNvPr>
            <p:cNvSpPr/>
            <p:nvPr/>
          </p:nvSpPr>
          <p:spPr>
            <a:xfrm>
              <a:off x="4832500" y="5733970"/>
              <a:ext cx="3625700" cy="800259"/>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45" name="Group 44">
            <a:extLst>
              <a:ext uri="{FF2B5EF4-FFF2-40B4-BE49-F238E27FC236}">
                <a16:creationId xmlns:a16="http://schemas.microsoft.com/office/drawing/2014/main" id="{AEE8FD35-07A2-C51B-3FB0-24DBE5280797}"/>
              </a:ext>
            </a:extLst>
          </p:cNvPr>
          <p:cNvGrpSpPr/>
          <p:nvPr/>
        </p:nvGrpSpPr>
        <p:grpSpPr>
          <a:xfrm>
            <a:off x="6076950" y="182383"/>
            <a:ext cx="2503364" cy="1854044"/>
            <a:chOff x="6076950" y="182383"/>
            <a:chExt cx="2503364" cy="1854044"/>
          </a:xfrm>
        </p:grpSpPr>
        <p:grpSp>
          <p:nvGrpSpPr>
            <p:cNvPr id="46" name="Group 45">
              <a:extLst>
                <a:ext uri="{FF2B5EF4-FFF2-40B4-BE49-F238E27FC236}">
                  <a16:creationId xmlns:a16="http://schemas.microsoft.com/office/drawing/2014/main" id="{94BEECA9-9CBA-6CD3-8DA2-06BA524D8FF0}"/>
                </a:ext>
                <a:ext uri="{C183D7F6-B498-43B3-948B-1728B52AA6E4}">
                  <adec:decorative xmlns:adec="http://schemas.microsoft.com/office/drawing/2017/decorative" val="1"/>
                </a:ext>
              </a:extLst>
            </p:cNvPr>
            <p:cNvGrpSpPr/>
            <p:nvPr/>
          </p:nvGrpSpPr>
          <p:grpSpPr>
            <a:xfrm>
              <a:off x="6076950" y="609600"/>
              <a:ext cx="2438400" cy="1426827"/>
              <a:chOff x="6076950" y="287117"/>
              <a:chExt cx="2438400" cy="1426827"/>
            </a:xfrm>
          </p:grpSpPr>
          <p:pic>
            <p:nvPicPr>
              <p:cNvPr id="55" name="Picture 4" descr="vacuum2-environment">
                <a:extLst>
                  <a:ext uri="{FF2B5EF4-FFF2-40B4-BE49-F238E27FC236}">
                    <a16:creationId xmlns:a16="http://schemas.microsoft.com/office/drawing/2014/main" id="{8A379938-A0D6-C60F-CF60-CBFEE2798E7B}"/>
                  </a:ext>
                </a:extLst>
              </p:cNvPr>
              <p:cNvPicPr>
                <a:picLocks noChangeAspect="1" noChangeArrowheads="1"/>
              </p:cNvPicPr>
              <p:nvPr/>
            </p:nvPicPr>
            <p:blipFill>
              <a:blip r:embed="rId4" cstate="print"/>
              <a:srcRect/>
              <a:stretch>
                <a:fillRect/>
              </a:stretch>
            </p:blipFill>
            <p:spPr bwMode="auto">
              <a:xfrm>
                <a:off x="6076950" y="365126"/>
                <a:ext cx="2438400" cy="1247554"/>
              </a:xfrm>
              <a:prstGeom prst="rect">
                <a:avLst/>
              </a:prstGeom>
              <a:noFill/>
            </p:spPr>
          </p:pic>
          <p:sp>
            <p:nvSpPr>
              <p:cNvPr id="56" name="TextBox 55">
                <a:extLst>
                  <a:ext uri="{FF2B5EF4-FFF2-40B4-BE49-F238E27FC236}">
                    <a16:creationId xmlns:a16="http://schemas.microsoft.com/office/drawing/2014/main" id="{8010A9CF-E643-853D-769A-BCD447BF699A}"/>
                  </a:ext>
                </a:extLst>
              </p:cNvPr>
              <p:cNvSpPr txBox="1"/>
              <p:nvPr/>
            </p:nvSpPr>
            <p:spPr>
              <a:xfrm>
                <a:off x="6210300" y="287117"/>
                <a:ext cx="381000" cy="584775"/>
              </a:xfrm>
              <a:prstGeom prst="rect">
                <a:avLst/>
              </a:prstGeom>
              <a:noFill/>
            </p:spPr>
            <p:txBody>
              <a:bodyPr wrap="square" rtlCol="0">
                <a:spAutoFit/>
              </a:bodyPr>
              <a:lstStyle/>
              <a:p>
                <a:r>
                  <a:rPr lang="en-US" sz="3200" b="1" dirty="0">
                    <a:solidFill>
                      <a:srgbClr val="FF0000"/>
                    </a:solidFill>
                  </a:rPr>
                  <a:t>?</a:t>
                </a:r>
              </a:p>
            </p:txBody>
          </p:sp>
          <p:sp>
            <p:nvSpPr>
              <p:cNvPr id="57" name="TextBox 56">
                <a:extLst>
                  <a:ext uri="{FF2B5EF4-FFF2-40B4-BE49-F238E27FC236}">
                    <a16:creationId xmlns:a16="http://schemas.microsoft.com/office/drawing/2014/main" id="{214AA8FA-39DD-6235-5951-8F6E55B8BFE5}"/>
                  </a:ext>
                </a:extLst>
              </p:cNvPr>
              <p:cNvSpPr txBox="1"/>
              <p:nvPr/>
            </p:nvSpPr>
            <p:spPr>
              <a:xfrm rot="20848155">
                <a:off x="6357997" y="790614"/>
                <a:ext cx="381000" cy="923330"/>
              </a:xfrm>
              <a:prstGeom prst="rect">
                <a:avLst/>
              </a:prstGeom>
              <a:noFill/>
            </p:spPr>
            <p:txBody>
              <a:bodyPr wrap="square" rtlCol="0">
                <a:spAutoFit/>
              </a:bodyPr>
              <a:lstStyle/>
              <a:p>
                <a:r>
                  <a:rPr lang="en-US" sz="5400" b="1" dirty="0">
                    <a:solidFill>
                      <a:srgbClr val="FF0000"/>
                    </a:solidFill>
                  </a:rPr>
                  <a:t>?</a:t>
                </a:r>
              </a:p>
            </p:txBody>
          </p:sp>
          <p:sp>
            <p:nvSpPr>
              <p:cNvPr id="58" name="TextBox 57">
                <a:extLst>
                  <a:ext uri="{FF2B5EF4-FFF2-40B4-BE49-F238E27FC236}">
                    <a16:creationId xmlns:a16="http://schemas.microsoft.com/office/drawing/2014/main" id="{1ADE156A-262B-D77C-71F9-2BF5D6D4EEDF}"/>
                  </a:ext>
                </a:extLst>
              </p:cNvPr>
              <p:cNvSpPr txBox="1"/>
              <p:nvPr/>
            </p:nvSpPr>
            <p:spPr>
              <a:xfrm rot="1308263">
                <a:off x="7625452" y="690625"/>
                <a:ext cx="381000" cy="923330"/>
              </a:xfrm>
              <a:prstGeom prst="rect">
                <a:avLst/>
              </a:prstGeom>
              <a:noFill/>
            </p:spPr>
            <p:txBody>
              <a:bodyPr wrap="square" rtlCol="0">
                <a:spAutoFit/>
              </a:bodyPr>
              <a:lstStyle/>
              <a:p>
                <a:r>
                  <a:rPr lang="en-US" sz="5400" b="1" dirty="0">
                    <a:solidFill>
                      <a:srgbClr val="FF0000"/>
                    </a:solidFill>
                  </a:rPr>
                  <a:t>?</a:t>
                </a:r>
              </a:p>
            </p:txBody>
          </p:sp>
        </p:grpSp>
        <p:grpSp>
          <p:nvGrpSpPr>
            <p:cNvPr id="47" name="Group 46">
              <a:extLst>
                <a:ext uri="{FF2B5EF4-FFF2-40B4-BE49-F238E27FC236}">
                  <a16:creationId xmlns:a16="http://schemas.microsoft.com/office/drawing/2014/main" id="{689D0136-056F-56D5-46BE-E66DAFA1CF4C}"/>
                </a:ext>
              </a:extLst>
            </p:cNvPr>
            <p:cNvGrpSpPr/>
            <p:nvPr/>
          </p:nvGrpSpPr>
          <p:grpSpPr>
            <a:xfrm>
              <a:off x="7222193" y="182383"/>
              <a:ext cx="1358121" cy="408979"/>
              <a:chOff x="7222193" y="182383"/>
              <a:chExt cx="1358121" cy="408979"/>
            </a:xfrm>
          </p:grpSpPr>
          <p:grpSp>
            <p:nvGrpSpPr>
              <p:cNvPr id="51" name="Group 50">
                <a:extLst>
                  <a:ext uri="{FF2B5EF4-FFF2-40B4-BE49-F238E27FC236}">
                    <a16:creationId xmlns:a16="http://schemas.microsoft.com/office/drawing/2014/main" id="{B4794034-2EBD-FACB-6E19-D082452A8793}"/>
                  </a:ext>
                </a:extLst>
              </p:cNvPr>
              <p:cNvGrpSpPr/>
              <p:nvPr/>
            </p:nvGrpSpPr>
            <p:grpSpPr>
              <a:xfrm rot="5400000">
                <a:off x="7132003" y="272573"/>
                <a:ext cx="408979" cy="228600"/>
                <a:chOff x="339924" y="1249999"/>
                <a:chExt cx="408979" cy="228600"/>
              </a:xfrm>
            </p:grpSpPr>
            <p:sp>
              <p:nvSpPr>
                <p:cNvPr id="53" name="Isosceles Triangle 52">
                  <a:extLst>
                    <a:ext uri="{FF2B5EF4-FFF2-40B4-BE49-F238E27FC236}">
                      <a16:creationId xmlns:a16="http://schemas.microsoft.com/office/drawing/2014/main" id="{FFDBC779-CDE7-4C78-B120-559917F30D03}"/>
                    </a:ext>
                  </a:extLst>
                </p:cNvPr>
                <p:cNvSpPr/>
                <p:nvPr/>
              </p:nvSpPr>
              <p:spPr>
                <a:xfrm rot="16200000">
                  <a:off x="485776" y="1177372"/>
                  <a:ext cx="152400" cy="373855"/>
                </a:xfrm>
                <a:prstGeom prst="triangle">
                  <a:avLst>
                    <a:gd name="adj" fmla="val 53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0D8982B0-DB3A-E75E-CEA4-FC745D659F27}"/>
                    </a:ext>
                  </a:extLst>
                </p:cNvPr>
                <p:cNvSpPr/>
                <p:nvPr/>
              </p:nvSpPr>
              <p:spPr>
                <a:xfrm>
                  <a:off x="339924" y="1249999"/>
                  <a:ext cx="323850" cy="228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52" name="TextBox 51">
                <a:extLst>
                  <a:ext uri="{FF2B5EF4-FFF2-40B4-BE49-F238E27FC236}">
                    <a16:creationId xmlns:a16="http://schemas.microsoft.com/office/drawing/2014/main" id="{E26986F2-4DDC-B2A1-2B45-C7D5EA43EE58}"/>
                  </a:ext>
                </a:extLst>
              </p:cNvPr>
              <p:cNvSpPr txBox="1"/>
              <p:nvPr/>
            </p:nvSpPr>
            <p:spPr>
              <a:xfrm>
                <a:off x="7412692" y="238168"/>
                <a:ext cx="1167622" cy="253916"/>
              </a:xfrm>
              <a:prstGeom prst="rect">
                <a:avLst/>
              </a:prstGeom>
              <a:noFill/>
            </p:spPr>
            <p:txBody>
              <a:bodyPr wrap="square" rtlCol="0">
                <a:spAutoFit/>
              </a:bodyPr>
              <a:lstStyle/>
              <a:p>
                <a:r>
                  <a:rPr lang="en-US" sz="1050" dirty="0"/>
                  <a:t>unobservable</a:t>
                </a:r>
              </a:p>
            </p:txBody>
          </p:sp>
        </p:grpSp>
        <p:grpSp>
          <p:nvGrpSpPr>
            <p:cNvPr id="48" name="Group 47">
              <a:extLst>
                <a:ext uri="{FF2B5EF4-FFF2-40B4-BE49-F238E27FC236}">
                  <a16:creationId xmlns:a16="http://schemas.microsoft.com/office/drawing/2014/main" id="{BD8DC776-7247-AF7E-6BB9-A58CDD1AD0EC}"/>
                </a:ext>
              </a:extLst>
            </p:cNvPr>
            <p:cNvGrpSpPr/>
            <p:nvPr/>
          </p:nvGrpSpPr>
          <p:grpSpPr>
            <a:xfrm>
              <a:off x="7188665" y="223037"/>
              <a:ext cx="304800" cy="277633"/>
              <a:chOff x="533400" y="228600"/>
              <a:chExt cx="304800" cy="277633"/>
            </a:xfrm>
          </p:grpSpPr>
          <p:cxnSp>
            <p:nvCxnSpPr>
              <p:cNvPr id="49" name="Straight Connector 48">
                <a:extLst>
                  <a:ext uri="{FF2B5EF4-FFF2-40B4-BE49-F238E27FC236}">
                    <a16:creationId xmlns:a16="http://schemas.microsoft.com/office/drawing/2014/main" id="{DB45422A-E336-52B0-8DD9-09B70AD9C40C}"/>
                  </a:ext>
                </a:extLst>
              </p:cNvPr>
              <p:cNvCxnSpPr/>
              <p:nvPr/>
            </p:nvCxnSpPr>
            <p:spPr>
              <a:xfrm>
                <a:off x="533400" y="228600"/>
                <a:ext cx="304800" cy="27763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D59E917-1852-7D1B-33E2-96FB6FEC91EC}"/>
                  </a:ext>
                </a:extLst>
              </p:cNvPr>
              <p:cNvCxnSpPr/>
              <p:nvPr/>
            </p:nvCxnSpPr>
            <p:spPr>
              <a:xfrm flipV="1">
                <a:off x="533400" y="238168"/>
                <a:ext cx="304800" cy="2680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61" name="Content Placeholder 2">
            <a:extLst>
              <a:ext uri="{FF2B5EF4-FFF2-40B4-BE49-F238E27FC236}">
                <a16:creationId xmlns:a16="http://schemas.microsoft.com/office/drawing/2014/main" id="{82A56592-D46A-03CA-4386-2F58220BED6F}"/>
              </a:ext>
            </a:extLst>
          </p:cNvPr>
          <p:cNvSpPr txBox="1">
            <a:spLocks/>
          </p:cNvSpPr>
          <p:nvPr/>
        </p:nvSpPr>
        <p:spPr>
          <a:xfrm>
            <a:off x="628650" y="1985921"/>
            <a:ext cx="7886700" cy="868324"/>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Actions can reduce the number of possible states.</a:t>
            </a:r>
          </a:p>
          <a:p>
            <a:r>
              <a:rPr lang="en-US" b="1" dirty="0"/>
              <a:t>Example</a:t>
            </a:r>
            <a:r>
              <a:rPr lang="en-US" dirty="0"/>
              <a:t>: Deterministic but unobservable vacuum world. The agent does not know its position or the dirt distribution.</a:t>
            </a:r>
          </a:p>
        </p:txBody>
      </p:sp>
    </p:spTree>
    <p:extLst>
      <p:ext uri="{BB962C8B-B14F-4D97-AF65-F5344CB8AC3E}">
        <p14:creationId xmlns:p14="http://schemas.microsoft.com/office/powerpoint/2010/main" val="2851467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63142-1404-4BEA-8D8B-238FA5094C3C}"/>
              </a:ext>
            </a:extLst>
          </p:cNvPr>
          <p:cNvSpPr>
            <a:spLocks noGrp="1"/>
          </p:cNvSpPr>
          <p:nvPr>
            <p:ph type="title"/>
          </p:nvPr>
        </p:nvSpPr>
        <p:spPr/>
        <p:txBody>
          <a:bodyPr>
            <a:normAutofit/>
          </a:bodyPr>
          <a:lstStyle/>
          <a:p>
            <a:r>
              <a:rPr lang="en-US" sz="3600" dirty="0"/>
              <a:t>Actions to Coerce the </a:t>
            </a:r>
            <a:br>
              <a:rPr lang="en-US" sz="3600" dirty="0"/>
            </a:br>
            <a:r>
              <a:rPr lang="en-US" sz="3600" dirty="0"/>
              <a:t>World into Known States</a:t>
            </a:r>
          </a:p>
        </p:txBody>
      </p:sp>
      <p:sp>
        <p:nvSpPr>
          <p:cNvPr id="3" name="Content Placeholder 2">
            <a:extLst>
              <a:ext uri="{FF2B5EF4-FFF2-40B4-BE49-F238E27FC236}">
                <a16:creationId xmlns:a16="http://schemas.microsoft.com/office/drawing/2014/main" id="{9DFF42DA-393C-430F-A96E-BC8AC1EDA1BF}"/>
              </a:ext>
            </a:extLst>
          </p:cNvPr>
          <p:cNvSpPr>
            <a:spLocks noGrp="1"/>
          </p:cNvSpPr>
          <p:nvPr>
            <p:ph idx="1"/>
          </p:nvPr>
        </p:nvSpPr>
        <p:spPr>
          <a:xfrm>
            <a:off x="628650" y="2186644"/>
            <a:ext cx="7886700" cy="1080042"/>
          </a:xfrm>
        </p:spPr>
        <p:txBody>
          <a:bodyPr>
            <a:normAutofit fontScale="62500" lnSpcReduction="20000"/>
          </a:bodyPr>
          <a:lstStyle/>
          <a:p>
            <a:r>
              <a:rPr lang="en-US" b="1" dirty="0"/>
              <a:t>Plan</a:t>
            </a:r>
            <a:r>
              <a:rPr lang="en-US" dirty="0"/>
              <a:t>: The action sequence [right, suck, left, suck] coerces the world into the goal state 7. This plan works from any initial state!</a:t>
            </a:r>
          </a:p>
          <a:p>
            <a:r>
              <a:rPr lang="en-US" b="1" dirty="0"/>
              <a:t>Note</a:t>
            </a:r>
            <a:r>
              <a:rPr lang="en-US" dirty="0"/>
              <a:t>: There are no observations, so there is no need for a conditional plan.</a:t>
            </a:r>
          </a:p>
        </p:txBody>
      </p:sp>
      <p:grpSp>
        <p:nvGrpSpPr>
          <p:cNvPr id="12" name="Group 11" descr="The action sequence right, suck, left, suck coerces the environment into a single goal state and therefore solves the problem.">
            <a:extLst>
              <a:ext uri="{FF2B5EF4-FFF2-40B4-BE49-F238E27FC236}">
                <a16:creationId xmlns:a16="http://schemas.microsoft.com/office/drawing/2014/main" id="{65137B52-4D09-FD10-3732-6A5CBEBC0EA0}"/>
              </a:ext>
            </a:extLst>
          </p:cNvPr>
          <p:cNvGrpSpPr/>
          <p:nvPr/>
        </p:nvGrpSpPr>
        <p:grpSpPr>
          <a:xfrm>
            <a:off x="413084" y="3406615"/>
            <a:ext cx="8045300" cy="3108644"/>
            <a:chOff x="413084" y="3406615"/>
            <a:chExt cx="8045300" cy="3108644"/>
          </a:xfrm>
        </p:grpSpPr>
        <p:pic>
          <p:nvPicPr>
            <p:cNvPr id="4" name="Picture 3">
              <a:extLst>
                <a:ext uri="{FF2B5EF4-FFF2-40B4-BE49-F238E27FC236}">
                  <a16:creationId xmlns:a16="http://schemas.microsoft.com/office/drawing/2014/main" id="{77846935-7A1F-47B0-8C20-07C0041024C9}"/>
                </a:ext>
              </a:extLst>
            </p:cNvPr>
            <p:cNvPicPr>
              <a:picLocks noChangeAspect="1"/>
            </p:cNvPicPr>
            <p:nvPr/>
          </p:nvPicPr>
          <p:blipFill>
            <a:blip r:embed="rId3"/>
            <a:stretch>
              <a:fillRect/>
            </a:stretch>
          </p:blipFill>
          <p:spPr>
            <a:xfrm>
              <a:off x="457200" y="3406615"/>
              <a:ext cx="3581584" cy="3086259"/>
            </a:xfrm>
            <a:prstGeom prst="rect">
              <a:avLst/>
            </a:prstGeom>
          </p:spPr>
        </p:pic>
        <p:pic>
          <p:nvPicPr>
            <p:cNvPr id="5" name="Picture 4">
              <a:extLst>
                <a:ext uri="{FF2B5EF4-FFF2-40B4-BE49-F238E27FC236}">
                  <a16:creationId xmlns:a16="http://schemas.microsoft.com/office/drawing/2014/main" id="{67364FA7-2A63-47E9-865E-C76E9C5F2D79}"/>
                </a:ext>
              </a:extLst>
            </p:cNvPr>
            <p:cNvPicPr>
              <a:picLocks noChangeAspect="1"/>
            </p:cNvPicPr>
            <p:nvPr/>
          </p:nvPicPr>
          <p:blipFill>
            <a:blip r:embed="rId3"/>
            <a:stretch>
              <a:fillRect/>
            </a:stretch>
          </p:blipFill>
          <p:spPr>
            <a:xfrm>
              <a:off x="4876616" y="3429000"/>
              <a:ext cx="3581584" cy="3086259"/>
            </a:xfrm>
            <a:prstGeom prst="rect">
              <a:avLst/>
            </a:prstGeom>
          </p:spPr>
        </p:pic>
        <p:sp>
          <p:nvSpPr>
            <p:cNvPr id="6" name="Arrow: Right 5">
              <a:extLst>
                <a:ext uri="{FF2B5EF4-FFF2-40B4-BE49-F238E27FC236}">
                  <a16:creationId xmlns:a16="http://schemas.microsoft.com/office/drawing/2014/main" id="{D1CC4563-6C86-42E7-A675-92EC856030AA}"/>
                </a:ext>
              </a:extLst>
            </p:cNvPr>
            <p:cNvSpPr/>
            <p:nvPr/>
          </p:nvSpPr>
          <p:spPr>
            <a:xfrm>
              <a:off x="4038600" y="4038600"/>
              <a:ext cx="1143000" cy="1676400"/>
            </a:xfrm>
            <a:prstGeom prst="rightArrow">
              <a:avLst>
                <a:gd name="adj1" fmla="val 75837"/>
                <a:gd name="adj2" fmla="val 4579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[right, suck, left, suck]</a:t>
              </a:r>
            </a:p>
          </p:txBody>
        </p:sp>
        <p:grpSp>
          <p:nvGrpSpPr>
            <p:cNvPr id="35" name="Group 34">
              <a:extLst>
                <a:ext uri="{FF2B5EF4-FFF2-40B4-BE49-F238E27FC236}">
                  <a16:creationId xmlns:a16="http://schemas.microsoft.com/office/drawing/2014/main" id="{0CD65607-6489-4E81-ADB5-BDE982AF12D3}"/>
                </a:ext>
              </a:extLst>
            </p:cNvPr>
            <p:cNvGrpSpPr/>
            <p:nvPr/>
          </p:nvGrpSpPr>
          <p:grpSpPr>
            <a:xfrm>
              <a:off x="7086600" y="3501189"/>
              <a:ext cx="1295400" cy="533400"/>
              <a:chOff x="5181600" y="3505200"/>
              <a:chExt cx="1295400" cy="533400"/>
            </a:xfrm>
          </p:grpSpPr>
          <p:cxnSp>
            <p:nvCxnSpPr>
              <p:cNvPr id="36" name="Straight Connector 35">
                <a:extLst>
                  <a:ext uri="{FF2B5EF4-FFF2-40B4-BE49-F238E27FC236}">
                    <a16:creationId xmlns:a16="http://schemas.microsoft.com/office/drawing/2014/main" id="{5AAE62E8-8A5F-4360-A3FF-FC0FF87FF933}"/>
                  </a:ext>
                </a:extLst>
              </p:cNvPr>
              <p:cNvCxnSpPr>
                <a:cxnSpLocks/>
              </p:cNvCxnSpPr>
              <p:nvPr/>
            </p:nvCxnSpPr>
            <p:spPr>
              <a:xfrm>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19CA73F-45E2-46EB-9286-418467E61DF0}"/>
                  </a:ext>
                </a:extLst>
              </p:cNvPr>
              <p:cNvCxnSpPr/>
              <p:nvPr/>
            </p:nvCxnSpPr>
            <p:spPr>
              <a:xfrm flipV="1">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FE085F39-11A5-4E23-A78F-D9E952D920DB}"/>
                </a:ext>
              </a:extLst>
            </p:cNvPr>
            <p:cNvGrpSpPr/>
            <p:nvPr/>
          </p:nvGrpSpPr>
          <p:grpSpPr>
            <a:xfrm>
              <a:off x="7086600" y="5084425"/>
              <a:ext cx="1295400" cy="533400"/>
              <a:chOff x="5181600" y="3505200"/>
              <a:chExt cx="1295400" cy="533400"/>
            </a:xfrm>
          </p:grpSpPr>
          <p:cxnSp>
            <p:nvCxnSpPr>
              <p:cNvPr id="39" name="Straight Connector 38">
                <a:extLst>
                  <a:ext uri="{FF2B5EF4-FFF2-40B4-BE49-F238E27FC236}">
                    <a16:creationId xmlns:a16="http://schemas.microsoft.com/office/drawing/2014/main" id="{6050DDCC-FFC2-4F41-8761-29BE7EA9B852}"/>
                  </a:ext>
                </a:extLst>
              </p:cNvPr>
              <p:cNvCxnSpPr>
                <a:cxnSpLocks/>
              </p:cNvCxnSpPr>
              <p:nvPr/>
            </p:nvCxnSpPr>
            <p:spPr>
              <a:xfrm>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228F32D-A304-432E-867A-CD995F74EFA5}"/>
                  </a:ext>
                </a:extLst>
              </p:cNvPr>
              <p:cNvCxnSpPr/>
              <p:nvPr/>
            </p:nvCxnSpPr>
            <p:spPr>
              <a:xfrm flipV="1">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4698CBF6-2F0A-4AE8-8EDE-BCC7CD1AB2E6}"/>
                </a:ext>
              </a:extLst>
            </p:cNvPr>
            <p:cNvGrpSpPr/>
            <p:nvPr/>
          </p:nvGrpSpPr>
          <p:grpSpPr>
            <a:xfrm>
              <a:off x="7086600" y="4343400"/>
              <a:ext cx="1295400" cy="533400"/>
              <a:chOff x="5181600" y="3505200"/>
              <a:chExt cx="1295400" cy="533400"/>
            </a:xfrm>
          </p:grpSpPr>
          <p:cxnSp>
            <p:nvCxnSpPr>
              <p:cNvPr id="42" name="Straight Connector 41">
                <a:extLst>
                  <a:ext uri="{FF2B5EF4-FFF2-40B4-BE49-F238E27FC236}">
                    <a16:creationId xmlns:a16="http://schemas.microsoft.com/office/drawing/2014/main" id="{6ED4505F-45EB-4273-BE99-D84D8A617AA9}"/>
                  </a:ext>
                </a:extLst>
              </p:cNvPr>
              <p:cNvCxnSpPr>
                <a:cxnSpLocks/>
              </p:cNvCxnSpPr>
              <p:nvPr/>
            </p:nvCxnSpPr>
            <p:spPr>
              <a:xfrm>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6E39B5D-66B6-43DB-B252-491BFEE924D8}"/>
                  </a:ext>
                </a:extLst>
              </p:cNvPr>
              <p:cNvCxnSpPr/>
              <p:nvPr/>
            </p:nvCxnSpPr>
            <p:spPr>
              <a:xfrm flipV="1">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E6FC0533-2537-4AD2-A7FE-C1F83C18117E}"/>
                </a:ext>
              </a:extLst>
            </p:cNvPr>
            <p:cNvGrpSpPr/>
            <p:nvPr/>
          </p:nvGrpSpPr>
          <p:grpSpPr>
            <a:xfrm>
              <a:off x="7086600" y="5867400"/>
              <a:ext cx="1295400" cy="533400"/>
              <a:chOff x="5181600" y="3505200"/>
              <a:chExt cx="1295400" cy="533400"/>
            </a:xfrm>
          </p:grpSpPr>
          <p:cxnSp>
            <p:nvCxnSpPr>
              <p:cNvPr id="45" name="Straight Connector 44">
                <a:extLst>
                  <a:ext uri="{FF2B5EF4-FFF2-40B4-BE49-F238E27FC236}">
                    <a16:creationId xmlns:a16="http://schemas.microsoft.com/office/drawing/2014/main" id="{566862AE-7DA8-46EC-A6BC-7A8F3E94832B}"/>
                  </a:ext>
                </a:extLst>
              </p:cNvPr>
              <p:cNvCxnSpPr>
                <a:cxnSpLocks/>
              </p:cNvCxnSpPr>
              <p:nvPr/>
            </p:nvCxnSpPr>
            <p:spPr>
              <a:xfrm>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3648CF5-381A-49F6-A02C-2A74A83D9D79}"/>
                  </a:ext>
                </a:extLst>
              </p:cNvPr>
              <p:cNvCxnSpPr/>
              <p:nvPr/>
            </p:nvCxnSpPr>
            <p:spPr>
              <a:xfrm flipV="1">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C03C1368-987E-4FDB-AC31-EC449062E531}"/>
                </a:ext>
              </a:extLst>
            </p:cNvPr>
            <p:cNvGrpSpPr/>
            <p:nvPr/>
          </p:nvGrpSpPr>
          <p:grpSpPr>
            <a:xfrm>
              <a:off x="5257800" y="5029200"/>
              <a:ext cx="1295400" cy="533400"/>
              <a:chOff x="5181600" y="3505200"/>
              <a:chExt cx="1295400" cy="533400"/>
            </a:xfrm>
          </p:grpSpPr>
          <p:cxnSp>
            <p:nvCxnSpPr>
              <p:cNvPr id="48" name="Straight Connector 47">
                <a:extLst>
                  <a:ext uri="{FF2B5EF4-FFF2-40B4-BE49-F238E27FC236}">
                    <a16:creationId xmlns:a16="http://schemas.microsoft.com/office/drawing/2014/main" id="{2138BD4C-BF76-4CF1-A5AB-1082559A970B}"/>
                  </a:ext>
                </a:extLst>
              </p:cNvPr>
              <p:cNvCxnSpPr>
                <a:cxnSpLocks/>
              </p:cNvCxnSpPr>
              <p:nvPr/>
            </p:nvCxnSpPr>
            <p:spPr>
              <a:xfrm>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DC7974E-5929-41E3-B723-7D79143ADF52}"/>
                  </a:ext>
                </a:extLst>
              </p:cNvPr>
              <p:cNvCxnSpPr/>
              <p:nvPr/>
            </p:nvCxnSpPr>
            <p:spPr>
              <a:xfrm flipV="1">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828DA3FB-ADA9-45F7-9260-A7E55859227B}"/>
                </a:ext>
              </a:extLst>
            </p:cNvPr>
            <p:cNvGrpSpPr/>
            <p:nvPr/>
          </p:nvGrpSpPr>
          <p:grpSpPr>
            <a:xfrm>
              <a:off x="5257800" y="4267200"/>
              <a:ext cx="1295400" cy="533400"/>
              <a:chOff x="5181600" y="3505200"/>
              <a:chExt cx="1295400" cy="533400"/>
            </a:xfrm>
          </p:grpSpPr>
          <p:cxnSp>
            <p:nvCxnSpPr>
              <p:cNvPr id="51" name="Straight Connector 50">
                <a:extLst>
                  <a:ext uri="{FF2B5EF4-FFF2-40B4-BE49-F238E27FC236}">
                    <a16:creationId xmlns:a16="http://schemas.microsoft.com/office/drawing/2014/main" id="{2C53FD39-16D2-4F5B-97A7-C4A2DB58504F}"/>
                  </a:ext>
                </a:extLst>
              </p:cNvPr>
              <p:cNvCxnSpPr>
                <a:cxnSpLocks/>
              </p:cNvCxnSpPr>
              <p:nvPr/>
            </p:nvCxnSpPr>
            <p:spPr>
              <a:xfrm>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C14B6ED-5B52-4A31-95A4-D28F3587F389}"/>
                  </a:ext>
                </a:extLst>
              </p:cNvPr>
              <p:cNvCxnSpPr/>
              <p:nvPr/>
            </p:nvCxnSpPr>
            <p:spPr>
              <a:xfrm flipV="1">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68F3B422-2FD7-4A5F-97A8-C400B0DA8066}"/>
                </a:ext>
              </a:extLst>
            </p:cNvPr>
            <p:cNvGrpSpPr/>
            <p:nvPr/>
          </p:nvGrpSpPr>
          <p:grpSpPr>
            <a:xfrm>
              <a:off x="5257800" y="3505200"/>
              <a:ext cx="1295400" cy="533400"/>
              <a:chOff x="5181600" y="3505200"/>
              <a:chExt cx="1295400" cy="533400"/>
            </a:xfrm>
          </p:grpSpPr>
          <p:cxnSp>
            <p:nvCxnSpPr>
              <p:cNvPr id="54" name="Straight Connector 53">
                <a:extLst>
                  <a:ext uri="{FF2B5EF4-FFF2-40B4-BE49-F238E27FC236}">
                    <a16:creationId xmlns:a16="http://schemas.microsoft.com/office/drawing/2014/main" id="{1749E73A-6C8D-4474-8821-1A9AF6E9C804}"/>
                  </a:ext>
                </a:extLst>
              </p:cNvPr>
              <p:cNvCxnSpPr>
                <a:cxnSpLocks/>
              </p:cNvCxnSpPr>
              <p:nvPr/>
            </p:nvCxnSpPr>
            <p:spPr>
              <a:xfrm>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9427A86-00DC-41E4-8656-E1E97704B451}"/>
                  </a:ext>
                </a:extLst>
              </p:cNvPr>
              <p:cNvCxnSpPr/>
              <p:nvPr/>
            </p:nvCxnSpPr>
            <p:spPr>
              <a:xfrm flipV="1">
                <a:off x="5181600" y="3505200"/>
                <a:ext cx="1295400" cy="5334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6" name="Rectangle 55">
              <a:extLst>
                <a:ext uri="{FF2B5EF4-FFF2-40B4-BE49-F238E27FC236}">
                  <a16:creationId xmlns:a16="http://schemas.microsoft.com/office/drawing/2014/main" id="{AABF18BC-9F8B-42E6-8C7D-F33A01E8F94F}"/>
                </a:ext>
              </a:extLst>
            </p:cNvPr>
            <p:cNvSpPr/>
            <p:nvPr/>
          </p:nvSpPr>
          <p:spPr>
            <a:xfrm>
              <a:off x="4876800" y="5715000"/>
              <a:ext cx="3581584" cy="800259"/>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9" name="Rectangle 28">
              <a:extLst>
                <a:ext uri="{FF2B5EF4-FFF2-40B4-BE49-F238E27FC236}">
                  <a16:creationId xmlns:a16="http://schemas.microsoft.com/office/drawing/2014/main" id="{E5335349-7CDB-4096-B64C-B4F5C1F3839C}"/>
                </a:ext>
              </a:extLst>
            </p:cNvPr>
            <p:cNvSpPr/>
            <p:nvPr/>
          </p:nvSpPr>
          <p:spPr>
            <a:xfrm>
              <a:off x="413084" y="5696953"/>
              <a:ext cx="3625700" cy="800259"/>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66C7DCFC-9268-B362-5B6F-F1A66B4FCF59}"/>
              </a:ext>
            </a:extLst>
          </p:cNvPr>
          <p:cNvGrpSpPr/>
          <p:nvPr/>
        </p:nvGrpSpPr>
        <p:grpSpPr>
          <a:xfrm>
            <a:off x="6076950" y="182383"/>
            <a:ext cx="2503364" cy="1854044"/>
            <a:chOff x="6076950" y="182383"/>
            <a:chExt cx="2503364" cy="1854044"/>
          </a:xfrm>
        </p:grpSpPr>
        <p:grpSp>
          <p:nvGrpSpPr>
            <p:cNvPr id="14" name="Group 13">
              <a:extLst>
                <a:ext uri="{FF2B5EF4-FFF2-40B4-BE49-F238E27FC236}">
                  <a16:creationId xmlns:a16="http://schemas.microsoft.com/office/drawing/2014/main" id="{820B1D5A-67D9-E7A9-676D-4756524B0208}"/>
                </a:ext>
                <a:ext uri="{C183D7F6-B498-43B3-948B-1728B52AA6E4}">
                  <adec:decorative xmlns:adec="http://schemas.microsoft.com/office/drawing/2017/decorative" val="1"/>
                </a:ext>
              </a:extLst>
            </p:cNvPr>
            <p:cNvGrpSpPr/>
            <p:nvPr/>
          </p:nvGrpSpPr>
          <p:grpSpPr>
            <a:xfrm>
              <a:off x="6076950" y="609600"/>
              <a:ext cx="2438400" cy="1426827"/>
              <a:chOff x="6076950" y="287117"/>
              <a:chExt cx="2438400" cy="1426827"/>
            </a:xfrm>
          </p:grpSpPr>
          <p:pic>
            <p:nvPicPr>
              <p:cNvPr id="23" name="Picture 4" descr="vacuum2-environment">
                <a:extLst>
                  <a:ext uri="{FF2B5EF4-FFF2-40B4-BE49-F238E27FC236}">
                    <a16:creationId xmlns:a16="http://schemas.microsoft.com/office/drawing/2014/main" id="{45AE49F5-EA6A-37B7-FC8E-800D2140A8F1}"/>
                  </a:ext>
                </a:extLst>
              </p:cNvPr>
              <p:cNvPicPr>
                <a:picLocks noChangeAspect="1" noChangeArrowheads="1"/>
              </p:cNvPicPr>
              <p:nvPr/>
            </p:nvPicPr>
            <p:blipFill>
              <a:blip r:embed="rId4" cstate="print"/>
              <a:srcRect/>
              <a:stretch>
                <a:fillRect/>
              </a:stretch>
            </p:blipFill>
            <p:spPr bwMode="auto">
              <a:xfrm>
                <a:off x="6076950" y="365126"/>
                <a:ext cx="2438400" cy="1247554"/>
              </a:xfrm>
              <a:prstGeom prst="rect">
                <a:avLst/>
              </a:prstGeom>
              <a:noFill/>
            </p:spPr>
          </p:pic>
          <p:sp>
            <p:nvSpPr>
              <p:cNvPr id="24" name="TextBox 23">
                <a:extLst>
                  <a:ext uri="{FF2B5EF4-FFF2-40B4-BE49-F238E27FC236}">
                    <a16:creationId xmlns:a16="http://schemas.microsoft.com/office/drawing/2014/main" id="{9B0417FF-2A58-7049-AB5C-EEAAF75E456D}"/>
                  </a:ext>
                </a:extLst>
              </p:cNvPr>
              <p:cNvSpPr txBox="1"/>
              <p:nvPr/>
            </p:nvSpPr>
            <p:spPr>
              <a:xfrm>
                <a:off x="6210300" y="287117"/>
                <a:ext cx="381000" cy="584775"/>
              </a:xfrm>
              <a:prstGeom prst="rect">
                <a:avLst/>
              </a:prstGeom>
              <a:noFill/>
            </p:spPr>
            <p:txBody>
              <a:bodyPr wrap="square" rtlCol="0">
                <a:spAutoFit/>
              </a:bodyPr>
              <a:lstStyle/>
              <a:p>
                <a:r>
                  <a:rPr lang="en-US" sz="3200" b="1" dirty="0">
                    <a:solidFill>
                      <a:srgbClr val="FF0000"/>
                    </a:solidFill>
                  </a:rPr>
                  <a:t>?</a:t>
                </a:r>
              </a:p>
            </p:txBody>
          </p:sp>
          <p:sp>
            <p:nvSpPr>
              <p:cNvPr id="25" name="TextBox 24">
                <a:extLst>
                  <a:ext uri="{FF2B5EF4-FFF2-40B4-BE49-F238E27FC236}">
                    <a16:creationId xmlns:a16="http://schemas.microsoft.com/office/drawing/2014/main" id="{E9BBAE65-37FD-20AE-D69F-361C756BCE24}"/>
                  </a:ext>
                </a:extLst>
              </p:cNvPr>
              <p:cNvSpPr txBox="1"/>
              <p:nvPr/>
            </p:nvSpPr>
            <p:spPr>
              <a:xfrm rot="20848155">
                <a:off x="6357997" y="790614"/>
                <a:ext cx="381000" cy="923330"/>
              </a:xfrm>
              <a:prstGeom prst="rect">
                <a:avLst/>
              </a:prstGeom>
              <a:noFill/>
            </p:spPr>
            <p:txBody>
              <a:bodyPr wrap="square" rtlCol="0">
                <a:spAutoFit/>
              </a:bodyPr>
              <a:lstStyle/>
              <a:p>
                <a:r>
                  <a:rPr lang="en-US" sz="5400" b="1" dirty="0">
                    <a:solidFill>
                      <a:srgbClr val="FF0000"/>
                    </a:solidFill>
                  </a:rPr>
                  <a:t>?</a:t>
                </a:r>
              </a:p>
            </p:txBody>
          </p:sp>
          <p:sp>
            <p:nvSpPr>
              <p:cNvPr id="26" name="TextBox 25">
                <a:extLst>
                  <a:ext uri="{FF2B5EF4-FFF2-40B4-BE49-F238E27FC236}">
                    <a16:creationId xmlns:a16="http://schemas.microsoft.com/office/drawing/2014/main" id="{A685CEF1-F58E-C345-FC14-75D73CDA978A}"/>
                  </a:ext>
                </a:extLst>
              </p:cNvPr>
              <p:cNvSpPr txBox="1"/>
              <p:nvPr/>
            </p:nvSpPr>
            <p:spPr>
              <a:xfrm rot="1308263">
                <a:off x="7625452" y="690625"/>
                <a:ext cx="381000" cy="923330"/>
              </a:xfrm>
              <a:prstGeom prst="rect">
                <a:avLst/>
              </a:prstGeom>
              <a:noFill/>
            </p:spPr>
            <p:txBody>
              <a:bodyPr wrap="square" rtlCol="0">
                <a:spAutoFit/>
              </a:bodyPr>
              <a:lstStyle/>
              <a:p>
                <a:r>
                  <a:rPr lang="en-US" sz="5400" b="1" dirty="0">
                    <a:solidFill>
                      <a:srgbClr val="FF0000"/>
                    </a:solidFill>
                  </a:rPr>
                  <a:t>?</a:t>
                </a:r>
              </a:p>
            </p:txBody>
          </p:sp>
        </p:grpSp>
        <p:grpSp>
          <p:nvGrpSpPr>
            <p:cNvPr id="15" name="Group 14">
              <a:extLst>
                <a:ext uri="{FF2B5EF4-FFF2-40B4-BE49-F238E27FC236}">
                  <a16:creationId xmlns:a16="http://schemas.microsoft.com/office/drawing/2014/main" id="{D1E930CD-D61C-4FC1-0715-2A765B778CC2}"/>
                </a:ext>
              </a:extLst>
            </p:cNvPr>
            <p:cNvGrpSpPr/>
            <p:nvPr/>
          </p:nvGrpSpPr>
          <p:grpSpPr>
            <a:xfrm>
              <a:off x="7222193" y="182383"/>
              <a:ext cx="1358121" cy="408979"/>
              <a:chOff x="7222193" y="182383"/>
              <a:chExt cx="1358121" cy="408979"/>
            </a:xfrm>
          </p:grpSpPr>
          <p:grpSp>
            <p:nvGrpSpPr>
              <p:cNvPr id="19" name="Group 18">
                <a:extLst>
                  <a:ext uri="{FF2B5EF4-FFF2-40B4-BE49-F238E27FC236}">
                    <a16:creationId xmlns:a16="http://schemas.microsoft.com/office/drawing/2014/main" id="{0549D0B0-CF3A-6FC3-3732-9054077405E5}"/>
                  </a:ext>
                </a:extLst>
              </p:cNvPr>
              <p:cNvGrpSpPr/>
              <p:nvPr/>
            </p:nvGrpSpPr>
            <p:grpSpPr>
              <a:xfrm rot="5400000">
                <a:off x="7132003" y="272573"/>
                <a:ext cx="408979" cy="228600"/>
                <a:chOff x="339924" y="1249999"/>
                <a:chExt cx="408979" cy="228600"/>
              </a:xfrm>
            </p:grpSpPr>
            <p:sp>
              <p:nvSpPr>
                <p:cNvPr id="21" name="Isosceles Triangle 20">
                  <a:extLst>
                    <a:ext uri="{FF2B5EF4-FFF2-40B4-BE49-F238E27FC236}">
                      <a16:creationId xmlns:a16="http://schemas.microsoft.com/office/drawing/2014/main" id="{CA88C300-5CF2-450A-37AE-F2C8482AE7E9}"/>
                    </a:ext>
                  </a:extLst>
                </p:cNvPr>
                <p:cNvSpPr/>
                <p:nvPr/>
              </p:nvSpPr>
              <p:spPr>
                <a:xfrm rot="16200000">
                  <a:off x="485776" y="1177372"/>
                  <a:ext cx="152400" cy="373855"/>
                </a:xfrm>
                <a:prstGeom prst="triangle">
                  <a:avLst>
                    <a:gd name="adj" fmla="val 53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03D10E2-D764-1301-2CB4-E695E22160EB}"/>
                    </a:ext>
                  </a:extLst>
                </p:cNvPr>
                <p:cNvSpPr/>
                <p:nvPr/>
              </p:nvSpPr>
              <p:spPr>
                <a:xfrm>
                  <a:off x="339924" y="1249999"/>
                  <a:ext cx="323850" cy="228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20" name="TextBox 19">
                <a:extLst>
                  <a:ext uri="{FF2B5EF4-FFF2-40B4-BE49-F238E27FC236}">
                    <a16:creationId xmlns:a16="http://schemas.microsoft.com/office/drawing/2014/main" id="{9609542C-1187-A475-B9FA-3CF2AED2F235}"/>
                  </a:ext>
                </a:extLst>
              </p:cNvPr>
              <p:cNvSpPr txBox="1"/>
              <p:nvPr/>
            </p:nvSpPr>
            <p:spPr>
              <a:xfrm>
                <a:off x="7412692" y="238168"/>
                <a:ext cx="1167622" cy="253916"/>
              </a:xfrm>
              <a:prstGeom prst="rect">
                <a:avLst/>
              </a:prstGeom>
              <a:noFill/>
            </p:spPr>
            <p:txBody>
              <a:bodyPr wrap="square" rtlCol="0">
                <a:spAutoFit/>
              </a:bodyPr>
              <a:lstStyle/>
              <a:p>
                <a:r>
                  <a:rPr lang="en-US" sz="1050" dirty="0"/>
                  <a:t>unobservable</a:t>
                </a:r>
              </a:p>
            </p:txBody>
          </p:sp>
        </p:grpSp>
        <p:grpSp>
          <p:nvGrpSpPr>
            <p:cNvPr id="16" name="Group 15">
              <a:extLst>
                <a:ext uri="{FF2B5EF4-FFF2-40B4-BE49-F238E27FC236}">
                  <a16:creationId xmlns:a16="http://schemas.microsoft.com/office/drawing/2014/main" id="{8CBFDC5C-4C34-E7A5-853D-00C9C04DACE2}"/>
                </a:ext>
              </a:extLst>
            </p:cNvPr>
            <p:cNvGrpSpPr/>
            <p:nvPr/>
          </p:nvGrpSpPr>
          <p:grpSpPr>
            <a:xfrm>
              <a:off x="7188665" y="223037"/>
              <a:ext cx="304800" cy="277633"/>
              <a:chOff x="533400" y="228600"/>
              <a:chExt cx="304800" cy="277633"/>
            </a:xfrm>
          </p:grpSpPr>
          <p:cxnSp>
            <p:nvCxnSpPr>
              <p:cNvPr id="17" name="Straight Connector 16">
                <a:extLst>
                  <a:ext uri="{FF2B5EF4-FFF2-40B4-BE49-F238E27FC236}">
                    <a16:creationId xmlns:a16="http://schemas.microsoft.com/office/drawing/2014/main" id="{F55ABC19-DA55-8455-614E-D5D73ED63D3F}"/>
                  </a:ext>
                </a:extLst>
              </p:cNvPr>
              <p:cNvCxnSpPr/>
              <p:nvPr/>
            </p:nvCxnSpPr>
            <p:spPr>
              <a:xfrm>
                <a:off x="533400" y="228600"/>
                <a:ext cx="304800" cy="27763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F93D68C-C5A2-AE4E-9277-D7496F495A2F}"/>
                  </a:ext>
                </a:extLst>
              </p:cNvPr>
              <p:cNvCxnSpPr/>
              <p:nvPr/>
            </p:nvCxnSpPr>
            <p:spPr>
              <a:xfrm flipV="1">
                <a:off x="533400" y="238168"/>
                <a:ext cx="304800" cy="2680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066048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C26AA-2284-4C9E-853C-90BBDA527698}"/>
              </a:ext>
            </a:extLst>
          </p:cNvPr>
          <p:cNvSpPr>
            <a:spLocks noGrp="1"/>
          </p:cNvSpPr>
          <p:nvPr>
            <p:ph type="title"/>
          </p:nvPr>
        </p:nvSpPr>
        <p:spPr>
          <a:xfrm>
            <a:off x="628650" y="365127"/>
            <a:ext cx="5291757" cy="1006474"/>
          </a:xfrm>
        </p:spPr>
        <p:txBody>
          <a:bodyPr>
            <a:noAutofit/>
          </a:bodyPr>
          <a:lstStyle/>
          <a:p>
            <a:r>
              <a:rPr lang="en-US" sz="2800" dirty="0"/>
              <a:t>The Reachable Belief State Space</a:t>
            </a:r>
          </a:p>
        </p:txBody>
      </p:sp>
      <p:pic>
        <p:nvPicPr>
          <p:cNvPr id="7" name="Content Placeholder 6" descr="Shows the belief state space as a graph with 12 vertices.">
            <a:extLst>
              <a:ext uri="{FF2B5EF4-FFF2-40B4-BE49-F238E27FC236}">
                <a16:creationId xmlns:a16="http://schemas.microsoft.com/office/drawing/2014/main" id="{62731291-A5B2-422E-87D4-0FE49A361110}"/>
              </a:ext>
            </a:extLst>
          </p:cNvPr>
          <p:cNvPicPr>
            <a:picLocks noGrp="1" noChangeAspect="1"/>
          </p:cNvPicPr>
          <p:nvPr>
            <p:ph idx="1"/>
          </p:nvPr>
        </p:nvPicPr>
        <p:blipFill>
          <a:blip r:embed="rId2"/>
          <a:stretch>
            <a:fillRect/>
          </a:stretch>
        </p:blipFill>
        <p:spPr>
          <a:xfrm>
            <a:off x="457200" y="1366771"/>
            <a:ext cx="6346936" cy="5262629"/>
          </a:xfrm>
          <a:prstGeom prst="rect">
            <a:avLst/>
          </a:prstGeom>
        </p:spPr>
      </p:pic>
      <p:grpSp>
        <p:nvGrpSpPr>
          <p:cNvPr id="13" name="Group 12">
            <a:extLst>
              <a:ext uri="{FF2B5EF4-FFF2-40B4-BE49-F238E27FC236}">
                <a16:creationId xmlns:a16="http://schemas.microsoft.com/office/drawing/2014/main" id="{6F1582E8-F850-E290-2075-11958D0F7EB4}"/>
              </a:ext>
            </a:extLst>
          </p:cNvPr>
          <p:cNvGrpSpPr/>
          <p:nvPr/>
        </p:nvGrpSpPr>
        <p:grpSpPr>
          <a:xfrm>
            <a:off x="4800600" y="2667000"/>
            <a:ext cx="4276563" cy="3786664"/>
            <a:chOff x="4800600" y="2667000"/>
            <a:chExt cx="4276563" cy="3786664"/>
          </a:xfrm>
        </p:grpSpPr>
        <p:sp>
          <p:nvSpPr>
            <p:cNvPr id="25" name="Rectangle 24">
              <a:extLst>
                <a:ext uri="{FF2B5EF4-FFF2-40B4-BE49-F238E27FC236}">
                  <a16:creationId xmlns:a16="http://schemas.microsoft.com/office/drawing/2014/main" id="{699CC86B-8945-4B8A-A55B-AD89EE4C13EB}"/>
                </a:ext>
              </a:extLst>
            </p:cNvPr>
            <p:cNvSpPr/>
            <p:nvPr/>
          </p:nvSpPr>
          <p:spPr>
            <a:xfrm>
              <a:off x="6638764" y="4976336"/>
              <a:ext cx="2438399" cy="1477328"/>
            </a:xfrm>
            <a:prstGeom prst="rect">
              <a:avLst/>
            </a:prstGeom>
          </p:spPr>
          <p:txBody>
            <a:bodyPr wrap="square">
              <a:spAutoFit/>
            </a:bodyPr>
            <a:lstStyle/>
            <a:p>
              <a:pPr algn="ctr"/>
              <a:r>
                <a:rPr lang="en-US" b="1" dirty="0">
                  <a:solidFill>
                    <a:srgbClr val="FF0000"/>
                  </a:solidFill>
                </a:rPr>
                <a:t>No observations, so we get a solution sequence from an initial belief state:</a:t>
              </a:r>
            </a:p>
            <a:p>
              <a:pPr algn="ctr"/>
              <a:r>
                <a:rPr lang="en-US" b="1" dirty="0">
                  <a:solidFill>
                    <a:srgbClr val="FF0000"/>
                  </a:solidFill>
                </a:rPr>
                <a:t>[Right, Suck, Left, Suck] </a:t>
              </a:r>
            </a:p>
          </p:txBody>
        </p:sp>
        <p:cxnSp>
          <p:nvCxnSpPr>
            <p:cNvPr id="12" name="Straight Arrow Connector 11">
              <a:extLst>
                <a:ext uri="{FF2B5EF4-FFF2-40B4-BE49-F238E27FC236}">
                  <a16:creationId xmlns:a16="http://schemas.microsoft.com/office/drawing/2014/main" id="{E13A95D7-3F60-4253-8F6F-09D436DD41FC}"/>
                </a:ext>
              </a:extLst>
            </p:cNvPr>
            <p:cNvCxnSpPr>
              <a:cxnSpLocks/>
            </p:cNvCxnSpPr>
            <p:nvPr/>
          </p:nvCxnSpPr>
          <p:spPr>
            <a:xfrm>
              <a:off x="4800600" y="2667000"/>
              <a:ext cx="3810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1E596C2-90B4-4235-AB6C-4CEF95975E59}"/>
                </a:ext>
              </a:extLst>
            </p:cNvPr>
            <p:cNvCxnSpPr>
              <a:cxnSpLocks/>
            </p:cNvCxnSpPr>
            <p:nvPr/>
          </p:nvCxnSpPr>
          <p:spPr>
            <a:xfrm>
              <a:off x="6248400" y="2895600"/>
              <a:ext cx="0" cy="17526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C3A9716-9D40-40DB-9C41-4AF313D8EA3D}"/>
                </a:ext>
              </a:extLst>
            </p:cNvPr>
            <p:cNvCxnSpPr>
              <a:cxnSpLocks/>
            </p:cNvCxnSpPr>
            <p:nvPr/>
          </p:nvCxnSpPr>
          <p:spPr>
            <a:xfrm>
              <a:off x="6096000" y="5491230"/>
              <a:ext cx="0" cy="29997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67CCD9C-C90A-4A11-8601-E470F098C071}"/>
                </a:ext>
              </a:extLst>
            </p:cNvPr>
            <p:cNvCxnSpPr>
              <a:cxnSpLocks/>
            </p:cNvCxnSpPr>
            <p:nvPr/>
          </p:nvCxnSpPr>
          <p:spPr>
            <a:xfrm flipH="1">
              <a:off x="4953000" y="6172200"/>
              <a:ext cx="838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4" name="Rectangle 23">
            <a:extLst>
              <a:ext uri="{FF2B5EF4-FFF2-40B4-BE49-F238E27FC236}">
                <a16:creationId xmlns:a16="http://schemas.microsoft.com/office/drawing/2014/main" id="{085F0F42-7963-42F2-AED0-04EC08EC177A}"/>
              </a:ext>
            </a:extLst>
          </p:cNvPr>
          <p:cNvSpPr/>
          <p:nvPr/>
        </p:nvSpPr>
        <p:spPr>
          <a:xfrm>
            <a:off x="2133600" y="5715000"/>
            <a:ext cx="2819398" cy="838191"/>
          </a:xfrm>
          <a:prstGeom prst="rect">
            <a:avLst/>
          </a:prstGeom>
          <a:no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
        <p:nvSpPr>
          <p:cNvPr id="3" name="TextBox 2">
            <a:extLst>
              <a:ext uri="{FF2B5EF4-FFF2-40B4-BE49-F238E27FC236}">
                <a16:creationId xmlns:a16="http://schemas.microsoft.com/office/drawing/2014/main" id="{CABAD52D-539F-40DF-BA49-DF34C0D5704F}"/>
              </a:ext>
            </a:extLst>
          </p:cNvPr>
          <p:cNvSpPr txBox="1"/>
          <p:nvPr/>
        </p:nvSpPr>
        <p:spPr>
          <a:xfrm>
            <a:off x="4495809" y="3033236"/>
            <a:ext cx="685791" cy="73866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sz="1400" dirty="0"/>
              <a:t>Initial belief state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FF8F972-FE69-4409-8F22-F047739897FD}"/>
                  </a:ext>
                </a:extLst>
              </p:cNvPr>
              <p:cNvSpPr txBox="1"/>
              <p:nvPr/>
            </p:nvSpPr>
            <p:spPr>
              <a:xfrm>
                <a:off x="6854436" y="2116539"/>
                <a:ext cx="2035064" cy="25545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1600" dirty="0"/>
                  <a:t>The size of the belief state space is the powerset of the original </a:t>
                </a:r>
                <a14:m>
                  <m:oMath xmlns:m="http://schemas.openxmlformats.org/officeDocument/2006/math">
                    <m:r>
                      <a:rPr lang="en-US" sz="1600" b="0" i="1" smtClean="0">
                        <a:latin typeface="Cambria Math" panose="02040503050406030204" pitchFamily="18" charset="0"/>
                      </a:rPr>
                      <m:t>𝑁</m:t>
                    </m:r>
                  </m:oMath>
                </a14:m>
                <a:r>
                  <a:rPr lang="en-US" sz="1600" dirty="0"/>
                  <a:t> states:</a:t>
                </a:r>
              </a:p>
              <a:p>
                <a:endParaRPr lang="en-US" sz="1600" dirty="0"/>
              </a:p>
              <a:p>
                <a:pPr/>
                <a14:m>
                  <m:oMathPara xmlns:m="http://schemas.openxmlformats.org/officeDocument/2006/math">
                    <m:o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𝒫</m:t>
                          </m:r>
                        </m:e>
                        <m:sub>
                          <m:r>
                            <a:rPr lang="en-US" sz="1600" i="1">
                              <a:latin typeface="Cambria Math" panose="02040503050406030204" pitchFamily="18" charset="0"/>
                              <a:ea typeface="Cambria Math" panose="02040503050406030204" pitchFamily="18" charset="0"/>
                            </a:rPr>
                            <m:t>𝑠</m:t>
                          </m:r>
                        </m:sub>
                      </m:sSub>
                      <m:r>
                        <a:rPr lang="en-US" sz="1600" b="0" i="1" smtClean="0">
                          <a:latin typeface="Cambria Math" panose="02040503050406030204" pitchFamily="18" charset="0"/>
                          <a:ea typeface="Cambria Math" panose="02040503050406030204" pitchFamily="18" charset="0"/>
                        </a:rPr>
                        <m:t>=</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2</m:t>
                          </m:r>
                        </m:e>
                        <m:sup>
                          <m:r>
                            <a:rPr lang="en-US" sz="1600" b="0" i="1" smtClean="0">
                              <a:latin typeface="Cambria Math" panose="02040503050406030204" pitchFamily="18" charset="0"/>
                              <a:ea typeface="Cambria Math" panose="02040503050406030204" pitchFamily="18" charset="0"/>
                            </a:rPr>
                            <m:t>𝑁</m:t>
                          </m:r>
                        </m:sup>
                      </m:sSup>
                      <m:r>
                        <a:rPr lang="en-US" sz="1600" b="0" i="1" smtClean="0">
                          <a:latin typeface="Cambria Math" panose="02040503050406030204" pitchFamily="18" charset="0"/>
                          <a:ea typeface="Cambria Math" panose="02040503050406030204" pitchFamily="18" charset="0"/>
                        </a:rPr>
                        <m:t>=</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2</m:t>
                          </m:r>
                        </m:e>
                        <m:sup>
                          <m:r>
                            <a:rPr lang="en-US" sz="1600" b="0" i="1" smtClean="0">
                              <a:latin typeface="Cambria Math" panose="02040503050406030204" pitchFamily="18" charset="0"/>
                              <a:ea typeface="Cambria Math" panose="02040503050406030204" pitchFamily="18" charset="0"/>
                            </a:rPr>
                            <m:t>8</m:t>
                          </m:r>
                        </m:sup>
                      </m:sSup>
                      <m:r>
                        <a:rPr lang="en-US" sz="1600" b="0" i="1" smtClean="0">
                          <a:latin typeface="Cambria Math" panose="02040503050406030204" pitchFamily="18" charset="0"/>
                          <a:ea typeface="Cambria Math" panose="02040503050406030204" pitchFamily="18" charset="0"/>
                        </a:rPr>
                        <m:t>=256</m:t>
                      </m:r>
                    </m:oMath>
                  </m:oMathPara>
                </a14:m>
                <a:endParaRPr lang="en-US" sz="1600" dirty="0"/>
              </a:p>
              <a:p>
                <a:endParaRPr lang="en-US" sz="1600" dirty="0"/>
              </a:p>
              <a:p>
                <a:r>
                  <a:rPr lang="en-US" sz="1600" dirty="0"/>
                  <a:t>Only a small fraction (12 belief states) are reachable by actions.</a:t>
                </a:r>
              </a:p>
            </p:txBody>
          </p:sp>
        </mc:Choice>
        <mc:Fallback xmlns="">
          <p:sp>
            <p:nvSpPr>
              <p:cNvPr id="4" name="TextBox 3">
                <a:extLst>
                  <a:ext uri="{FF2B5EF4-FFF2-40B4-BE49-F238E27FC236}">
                    <a16:creationId xmlns:a16="http://schemas.microsoft.com/office/drawing/2014/main" id="{5FF8F972-FE69-4409-8F22-F047739897FD}"/>
                  </a:ext>
                </a:extLst>
              </p:cNvPr>
              <p:cNvSpPr txBox="1">
                <a:spLocks noRot="1" noChangeAspect="1" noMove="1" noResize="1" noEditPoints="1" noAdjustHandles="1" noChangeArrowheads="1" noChangeShapeType="1" noTextEdit="1"/>
              </p:cNvSpPr>
              <p:nvPr/>
            </p:nvSpPr>
            <p:spPr>
              <a:xfrm>
                <a:off x="6854436" y="2116539"/>
                <a:ext cx="2035064" cy="2554545"/>
              </a:xfrm>
              <a:prstGeom prst="rect">
                <a:avLst/>
              </a:prstGeom>
              <a:blipFill>
                <a:blip r:embed="rId3"/>
                <a:stretch>
                  <a:fillRect l="-1190" t="-475" b="-1900"/>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F4A556C0-6291-DEE4-82B4-3EC863E10764}"/>
              </a:ext>
            </a:extLst>
          </p:cNvPr>
          <p:cNvSpPr txBox="1"/>
          <p:nvPr/>
        </p:nvSpPr>
        <p:spPr>
          <a:xfrm>
            <a:off x="2133598" y="5377181"/>
            <a:ext cx="999961" cy="52322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sz="1400" dirty="0"/>
              <a:t>Goal belief states</a:t>
            </a:r>
          </a:p>
        </p:txBody>
      </p:sp>
      <p:grpSp>
        <p:nvGrpSpPr>
          <p:cNvPr id="11" name="Group 10">
            <a:extLst>
              <a:ext uri="{FF2B5EF4-FFF2-40B4-BE49-F238E27FC236}">
                <a16:creationId xmlns:a16="http://schemas.microsoft.com/office/drawing/2014/main" id="{396C68C4-6320-1E57-6913-07F393248641}"/>
              </a:ext>
            </a:extLst>
          </p:cNvPr>
          <p:cNvGrpSpPr/>
          <p:nvPr/>
        </p:nvGrpSpPr>
        <p:grpSpPr>
          <a:xfrm>
            <a:off x="6076950" y="182383"/>
            <a:ext cx="2503364" cy="1854044"/>
            <a:chOff x="6076950" y="182383"/>
            <a:chExt cx="2503364" cy="1854044"/>
          </a:xfrm>
        </p:grpSpPr>
        <p:grpSp>
          <p:nvGrpSpPr>
            <p:cNvPr id="16" name="Group 15">
              <a:extLst>
                <a:ext uri="{FF2B5EF4-FFF2-40B4-BE49-F238E27FC236}">
                  <a16:creationId xmlns:a16="http://schemas.microsoft.com/office/drawing/2014/main" id="{26925DA5-C32E-E821-726F-80B485A72CD1}"/>
                </a:ext>
                <a:ext uri="{C183D7F6-B498-43B3-948B-1728B52AA6E4}">
                  <adec:decorative xmlns:adec="http://schemas.microsoft.com/office/drawing/2017/decorative" val="1"/>
                </a:ext>
              </a:extLst>
            </p:cNvPr>
            <p:cNvGrpSpPr/>
            <p:nvPr/>
          </p:nvGrpSpPr>
          <p:grpSpPr>
            <a:xfrm>
              <a:off x="6076950" y="609600"/>
              <a:ext cx="2438400" cy="1426827"/>
              <a:chOff x="6076950" y="287117"/>
              <a:chExt cx="2438400" cy="1426827"/>
            </a:xfrm>
          </p:grpSpPr>
          <p:pic>
            <p:nvPicPr>
              <p:cNvPr id="29" name="Picture 4" descr="vacuum2-environment">
                <a:extLst>
                  <a:ext uri="{FF2B5EF4-FFF2-40B4-BE49-F238E27FC236}">
                    <a16:creationId xmlns:a16="http://schemas.microsoft.com/office/drawing/2014/main" id="{75742D5E-D994-5048-B73F-27980A724261}"/>
                  </a:ext>
                </a:extLst>
              </p:cNvPr>
              <p:cNvPicPr>
                <a:picLocks noChangeAspect="1" noChangeArrowheads="1"/>
              </p:cNvPicPr>
              <p:nvPr/>
            </p:nvPicPr>
            <p:blipFill>
              <a:blip r:embed="rId4" cstate="print"/>
              <a:srcRect/>
              <a:stretch>
                <a:fillRect/>
              </a:stretch>
            </p:blipFill>
            <p:spPr bwMode="auto">
              <a:xfrm>
                <a:off x="6076950" y="365126"/>
                <a:ext cx="2438400" cy="1247554"/>
              </a:xfrm>
              <a:prstGeom prst="rect">
                <a:avLst/>
              </a:prstGeom>
              <a:noFill/>
            </p:spPr>
          </p:pic>
          <p:sp>
            <p:nvSpPr>
              <p:cNvPr id="30" name="TextBox 29">
                <a:extLst>
                  <a:ext uri="{FF2B5EF4-FFF2-40B4-BE49-F238E27FC236}">
                    <a16:creationId xmlns:a16="http://schemas.microsoft.com/office/drawing/2014/main" id="{7D55A265-A1AD-DE6D-C03E-BAFA13393864}"/>
                  </a:ext>
                </a:extLst>
              </p:cNvPr>
              <p:cNvSpPr txBox="1"/>
              <p:nvPr/>
            </p:nvSpPr>
            <p:spPr>
              <a:xfrm>
                <a:off x="6210300" y="287117"/>
                <a:ext cx="381000" cy="584775"/>
              </a:xfrm>
              <a:prstGeom prst="rect">
                <a:avLst/>
              </a:prstGeom>
              <a:noFill/>
            </p:spPr>
            <p:txBody>
              <a:bodyPr wrap="square" rtlCol="0">
                <a:spAutoFit/>
              </a:bodyPr>
              <a:lstStyle/>
              <a:p>
                <a:r>
                  <a:rPr lang="en-US" sz="3200" b="1" dirty="0">
                    <a:solidFill>
                      <a:srgbClr val="FF0000"/>
                    </a:solidFill>
                  </a:rPr>
                  <a:t>?</a:t>
                </a:r>
              </a:p>
            </p:txBody>
          </p:sp>
          <p:sp>
            <p:nvSpPr>
              <p:cNvPr id="31" name="TextBox 30">
                <a:extLst>
                  <a:ext uri="{FF2B5EF4-FFF2-40B4-BE49-F238E27FC236}">
                    <a16:creationId xmlns:a16="http://schemas.microsoft.com/office/drawing/2014/main" id="{09A0317A-4D92-4E97-230A-75E8C91AAA9F}"/>
                  </a:ext>
                </a:extLst>
              </p:cNvPr>
              <p:cNvSpPr txBox="1"/>
              <p:nvPr/>
            </p:nvSpPr>
            <p:spPr>
              <a:xfrm rot="20848155">
                <a:off x="6357997" y="790614"/>
                <a:ext cx="381000" cy="923330"/>
              </a:xfrm>
              <a:prstGeom prst="rect">
                <a:avLst/>
              </a:prstGeom>
              <a:noFill/>
            </p:spPr>
            <p:txBody>
              <a:bodyPr wrap="square" rtlCol="0">
                <a:spAutoFit/>
              </a:bodyPr>
              <a:lstStyle/>
              <a:p>
                <a:r>
                  <a:rPr lang="en-US" sz="5400" b="1" dirty="0">
                    <a:solidFill>
                      <a:srgbClr val="FF0000"/>
                    </a:solidFill>
                  </a:rPr>
                  <a:t>?</a:t>
                </a:r>
              </a:p>
            </p:txBody>
          </p:sp>
          <p:sp>
            <p:nvSpPr>
              <p:cNvPr id="32" name="TextBox 31">
                <a:extLst>
                  <a:ext uri="{FF2B5EF4-FFF2-40B4-BE49-F238E27FC236}">
                    <a16:creationId xmlns:a16="http://schemas.microsoft.com/office/drawing/2014/main" id="{331FA869-2486-B157-5B97-0A15926EB881}"/>
                  </a:ext>
                </a:extLst>
              </p:cNvPr>
              <p:cNvSpPr txBox="1"/>
              <p:nvPr/>
            </p:nvSpPr>
            <p:spPr>
              <a:xfrm rot="1308263">
                <a:off x="7625452" y="690625"/>
                <a:ext cx="381000" cy="923330"/>
              </a:xfrm>
              <a:prstGeom prst="rect">
                <a:avLst/>
              </a:prstGeom>
              <a:noFill/>
            </p:spPr>
            <p:txBody>
              <a:bodyPr wrap="square" rtlCol="0">
                <a:spAutoFit/>
              </a:bodyPr>
              <a:lstStyle/>
              <a:p>
                <a:r>
                  <a:rPr lang="en-US" sz="5400" b="1" dirty="0">
                    <a:solidFill>
                      <a:srgbClr val="FF0000"/>
                    </a:solidFill>
                  </a:rPr>
                  <a:t>?</a:t>
                </a:r>
              </a:p>
            </p:txBody>
          </p:sp>
        </p:grpSp>
        <p:grpSp>
          <p:nvGrpSpPr>
            <p:cNvPr id="18" name="Group 17">
              <a:extLst>
                <a:ext uri="{FF2B5EF4-FFF2-40B4-BE49-F238E27FC236}">
                  <a16:creationId xmlns:a16="http://schemas.microsoft.com/office/drawing/2014/main" id="{4770EE5F-8F54-E6DE-C4B2-7A3F2AC19E3C}"/>
                </a:ext>
              </a:extLst>
            </p:cNvPr>
            <p:cNvGrpSpPr/>
            <p:nvPr/>
          </p:nvGrpSpPr>
          <p:grpSpPr>
            <a:xfrm>
              <a:off x="7222193" y="182383"/>
              <a:ext cx="1358121" cy="408979"/>
              <a:chOff x="7222193" y="182383"/>
              <a:chExt cx="1358121" cy="408979"/>
            </a:xfrm>
          </p:grpSpPr>
          <p:grpSp>
            <p:nvGrpSpPr>
              <p:cNvPr id="23" name="Group 22">
                <a:extLst>
                  <a:ext uri="{FF2B5EF4-FFF2-40B4-BE49-F238E27FC236}">
                    <a16:creationId xmlns:a16="http://schemas.microsoft.com/office/drawing/2014/main" id="{C116E345-7954-B4F1-ED40-6C7DBE236A16}"/>
                  </a:ext>
                </a:extLst>
              </p:cNvPr>
              <p:cNvGrpSpPr/>
              <p:nvPr/>
            </p:nvGrpSpPr>
            <p:grpSpPr>
              <a:xfrm rot="5400000">
                <a:off x="7132003" y="272573"/>
                <a:ext cx="408979" cy="228600"/>
                <a:chOff x="339924" y="1249999"/>
                <a:chExt cx="408979" cy="228600"/>
              </a:xfrm>
            </p:grpSpPr>
            <p:sp>
              <p:nvSpPr>
                <p:cNvPr id="27" name="Isosceles Triangle 26">
                  <a:extLst>
                    <a:ext uri="{FF2B5EF4-FFF2-40B4-BE49-F238E27FC236}">
                      <a16:creationId xmlns:a16="http://schemas.microsoft.com/office/drawing/2014/main" id="{B529A3AD-0FDD-B5DC-A7B6-45F995ABEA4C}"/>
                    </a:ext>
                  </a:extLst>
                </p:cNvPr>
                <p:cNvSpPr/>
                <p:nvPr/>
              </p:nvSpPr>
              <p:spPr>
                <a:xfrm rot="16200000">
                  <a:off x="485776" y="1177372"/>
                  <a:ext cx="152400" cy="373855"/>
                </a:xfrm>
                <a:prstGeom prst="triangle">
                  <a:avLst>
                    <a:gd name="adj" fmla="val 53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FC8BE67-A003-EBF5-A465-F566F07EE0FA}"/>
                    </a:ext>
                  </a:extLst>
                </p:cNvPr>
                <p:cNvSpPr/>
                <p:nvPr/>
              </p:nvSpPr>
              <p:spPr>
                <a:xfrm>
                  <a:off x="339924" y="1249999"/>
                  <a:ext cx="323850" cy="228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26" name="TextBox 25">
                <a:extLst>
                  <a:ext uri="{FF2B5EF4-FFF2-40B4-BE49-F238E27FC236}">
                    <a16:creationId xmlns:a16="http://schemas.microsoft.com/office/drawing/2014/main" id="{E5FAD22C-A5F8-0C6E-52E1-7A1D4C0CAC90}"/>
                  </a:ext>
                </a:extLst>
              </p:cNvPr>
              <p:cNvSpPr txBox="1"/>
              <p:nvPr/>
            </p:nvSpPr>
            <p:spPr>
              <a:xfrm>
                <a:off x="7412692" y="238168"/>
                <a:ext cx="1167622" cy="253916"/>
              </a:xfrm>
              <a:prstGeom prst="rect">
                <a:avLst/>
              </a:prstGeom>
              <a:noFill/>
            </p:spPr>
            <p:txBody>
              <a:bodyPr wrap="square" rtlCol="0">
                <a:spAutoFit/>
              </a:bodyPr>
              <a:lstStyle/>
              <a:p>
                <a:r>
                  <a:rPr lang="en-US" sz="1050" dirty="0"/>
                  <a:t>unobservable</a:t>
                </a:r>
              </a:p>
            </p:txBody>
          </p:sp>
        </p:grpSp>
        <p:grpSp>
          <p:nvGrpSpPr>
            <p:cNvPr id="19" name="Group 18">
              <a:extLst>
                <a:ext uri="{FF2B5EF4-FFF2-40B4-BE49-F238E27FC236}">
                  <a16:creationId xmlns:a16="http://schemas.microsoft.com/office/drawing/2014/main" id="{7A34AC22-00C9-E50D-5899-6AF2EE190CAF}"/>
                </a:ext>
              </a:extLst>
            </p:cNvPr>
            <p:cNvGrpSpPr/>
            <p:nvPr/>
          </p:nvGrpSpPr>
          <p:grpSpPr>
            <a:xfrm>
              <a:off x="7188665" y="223037"/>
              <a:ext cx="304800" cy="277633"/>
              <a:chOff x="533400" y="228600"/>
              <a:chExt cx="304800" cy="277633"/>
            </a:xfrm>
          </p:grpSpPr>
          <p:cxnSp>
            <p:nvCxnSpPr>
              <p:cNvPr id="20" name="Straight Connector 19">
                <a:extLst>
                  <a:ext uri="{FF2B5EF4-FFF2-40B4-BE49-F238E27FC236}">
                    <a16:creationId xmlns:a16="http://schemas.microsoft.com/office/drawing/2014/main" id="{39E5C63F-35A4-CDBC-77EF-6A98D202944F}"/>
                  </a:ext>
                </a:extLst>
              </p:cNvPr>
              <p:cNvCxnSpPr/>
              <p:nvPr/>
            </p:nvCxnSpPr>
            <p:spPr>
              <a:xfrm>
                <a:off x="533400" y="228600"/>
                <a:ext cx="304800" cy="27763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FBE5251-EA04-9610-1149-8DA44009BEB7}"/>
                  </a:ext>
                </a:extLst>
              </p:cNvPr>
              <p:cNvCxnSpPr/>
              <p:nvPr/>
            </p:nvCxnSpPr>
            <p:spPr>
              <a:xfrm flipV="1">
                <a:off x="533400" y="238168"/>
                <a:ext cx="304800" cy="2680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127673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91B57-4DD5-43AD-A9A6-6131752B8D4C}"/>
              </a:ext>
            </a:extLst>
          </p:cNvPr>
          <p:cNvSpPr>
            <a:spLocks noGrp="1"/>
          </p:cNvSpPr>
          <p:nvPr>
            <p:ph type="title"/>
          </p:nvPr>
        </p:nvSpPr>
        <p:spPr/>
        <p:txBody>
          <a:bodyPr/>
          <a:lstStyle/>
          <a:p>
            <a:r>
              <a:rPr lang="en-US" dirty="0"/>
              <a:t>Finding a Plan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74D24E-3A83-4A7C-B542-EC45CB021368}"/>
                  </a:ext>
                </a:extLst>
              </p:cNvPr>
              <p:cNvSpPr>
                <a:spLocks noGrp="1"/>
              </p:cNvSpPr>
              <p:nvPr>
                <p:ph idx="1"/>
              </p:nvPr>
            </p:nvSpPr>
            <p:spPr>
              <a:xfrm>
                <a:off x="628650" y="2133600"/>
                <a:ext cx="7886700" cy="4343401"/>
              </a:xfrm>
            </p:spPr>
            <p:txBody>
              <a:bodyPr>
                <a:normAutofit fontScale="62500" lnSpcReduction="20000"/>
              </a:bodyPr>
              <a:lstStyle/>
              <a:p>
                <a:pPr marL="0" indent="0">
                  <a:buNone/>
                </a:pPr>
                <a:r>
                  <a:rPr lang="en-US" dirty="0"/>
                  <a:t>Formulate as a regular search problem and solve with DFS, IDS, BFS or A*:</a:t>
                </a:r>
              </a:p>
              <a:p>
                <a:r>
                  <a:rPr lang="en-US" b="1" dirty="0"/>
                  <a:t>States</a:t>
                </a:r>
                <a:r>
                  <a:rPr lang="en-US" dirty="0"/>
                  <a:t>: All belief states (=powerset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𝒫</m:t>
                        </m:r>
                      </m:e>
                      <m:sub>
                        <m:r>
                          <a:rPr lang="en-US" b="0" i="1" smtClean="0">
                            <a:latin typeface="Cambria Math" panose="02040503050406030204" pitchFamily="18" charset="0"/>
                            <a:ea typeface="Cambria Math" panose="02040503050406030204" pitchFamily="18" charset="0"/>
                          </a:rPr>
                          <m:t>𝑠</m:t>
                        </m:r>
                      </m:sub>
                    </m:sSub>
                  </m:oMath>
                </a14:m>
                <a:r>
                  <a:rPr lang="en-US" dirty="0"/>
                  <a:t> of the set of </a:t>
                </a:r>
                <a14:m>
                  <m:oMath xmlns:m="http://schemas.openxmlformats.org/officeDocument/2006/math">
                    <m:r>
                      <a:rPr lang="en-US" i="1" dirty="0" smtClean="0">
                        <a:latin typeface="Cambria Math" panose="02040503050406030204" pitchFamily="18" charset="0"/>
                      </a:rPr>
                      <m:t>𝑁</m:t>
                    </m:r>
                  </m:oMath>
                </a14:m>
                <a:r>
                  <a:rPr lang="en-US" dirty="0"/>
                  <a:t> states has size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𝑁</m:t>
                        </m:r>
                      </m:sup>
                    </m:sSup>
                  </m:oMath>
                </a14:m>
                <a:r>
                  <a:rPr lang="en-US" dirty="0"/>
                  <a:t>)</a:t>
                </a:r>
              </a:p>
              <a:p>
                <a:r>
                  <a:rPr lang="en-US" b="1" dirty="0"/>
                  <a:t>Initial state: </a:t>
                </a:r>
                <a:r>
                  <a:rPr lang="en-US" dirty="0"/>
                  <a:t>Often the belief state containing all states.</a:t>
                </a:r>
              </a:p>
              <a:p>
                <a:r>
                  <a:rPr lang="en-US" b="1" dirty="0"/>
                  <a:t>Actions: </a:t>
                </a:r>
                <a:r>
                  <a:rPr lang="en-US" dirty="0"/>
                  <a:t>Available actions of a belief state are the union of the possible actions for all the states it contains.</a:t>
                </a:r>
              </a:p>
              <a:p>
                <a:r>
                  <a:rPr lang="en-US" b="1" dirty="0"/>
                  <a:t>Transition model: </a:t>
                </a:r>
                <a14:m>
                  <m:oMath xmlns:m="http://schemas.openxmlformats.org/officeDocument/2006/math">
                    <m:sSup>
                      <m:sSupPr>
                        <m:ctrlPr>
                          <a:rPr lang="en-US" sz="2900" b="0" i="1" smtClean="0">
                            <a:latin typeface="Cambria Math" panose="02040503050406030204" pitchFamily="18" charset="0"/>
                          </a:rPr>
                        </m:ctrlPr>
                      </m:sSupPr>
                      <m:e>
                        <m:r>
                          <a:rPr lang="en-US" sz="2900" b="0" i="1" smtClean="0">
                            <a:latin typeface="Cambria Math" panose="02040503050406030204" pitchFamily="18" charset="0"/>
                          </a:rPr>
                          <m:t>𝑏</m:t>
                        </m:r>
                      </m:e>
                      <m:sup>
                        <m:r>
                          <a:rPr lang="en-US" sz="2900" b="0" i="1" smtClean="0">
                            <a:latin typeface="Cambria Math" panose="02040503050406030204" pitchFamily="18" charset="0"/>
                          </a:rPr>
                          <m:t>′</m:t>
                        </m:r>
                      </m:sup>
                    </m:sSup>
                    <m:r>
                      <a:rPr lang="en-US" sz="2900" b="0" i="1" smtClean="0">
                        <a:latin typeface="Cambria Math" panose="02040503050406030204" pitchFamily="18" charset="0"/>
                      </a:rPr>
                      <m:t>=</m:t>
                    </m:r>
                    <m:r>
                      <a:rPr lang="en-US" sz="2900" b="0" i="1" smtClean="0">
                        <a:latin typeface="Cambria Math" panose="02040503050406030204" pitchFamily="18" charset="0"/>
                      </a:rPr>
                      <m:t>𝑅𝑒𝑠𝑢𝑙𝑡𝑠</m:t>
                    </m:r>
                    <m:d>
                      <m:dPr>
                        <m:ctrlPr>
                          <a:rPr lang="en-US" sz="2900" b="0" i="1" smtClean="0">
                            <a:latin typeface="Cambria Math" panose="02040503050406030204" pitchFamily="18" charset="0"/>
                          </a:rPr>
                        </m:ctrlPr>
                      </m:dPr>
                      <m:e>
                        <m:r>
                          <a:rPr lang="en-US" sz="2900" b="0" i="1" smtClean="0">
                            <a:latin typeface="Cambria Math" panose="02040503050406030204" pitchFamily="18" charset="0"/>
                          </a:rPr>
                          <m:t>𝑏</m:t>
                        </m:r>
                        <m:r>
                          <a:rPr lang="en-US" sz="2900" b="0" i="1" smtClean="0">
                            <a:latin typeface="Cambria Math" panose="02040503050406030204" pitchFamily="18" charset="0"/>
                          </a:rPr>
                          <m:t>, </m:t>
                        </m:r>
                        <m:r>
                          <a:rPr lang="en-US" sz="2900" b="0" i="1" smtClean="0">
                            <a:latin typeface="Cambria Math" panose="02040503050406030204" pitchFamily="18" charset="0"/>
                          </a:rPr>
                          <m:t>𝑎</m:t>
                        </m:r>
                      </m:e>
                    </m:d>
                    <m:r>
                      <a:rPr lang="en-US" sz="2900" b="0" i="1" smtClean="0">
                        <a:latin typeface="Cambria Math" panose="02040503050406030204" pitchFamily="18" charset="0"/>
                      </a:rPr>
                      <m:t>={</m:t>
                    </m:r>
                    <m:sSup>
                      <m:sSupPr>
                        <m:ctrlPr>
                          <a:rPr lang="en-US" sz="2900" b="0" i="1" smtClean="0">
                            <a:latin typeface="Cambria Math" panose="02040503050406030204" pitchFamily="18" charset="0"/>
                          </a:rPr>
                        </m:ctrlPr>
                      </m:sSupPr>
                      <m:e>
                        <m:r>
                          <a:rPr lang="en-US" sz="2900" b="0" i="1" smtClean="0">
                            <a:latin typeface="Cambria Math" panose="02040503050406030204" pitchFamily="18" charset="0"/>
                          </a:rPr>
                          <m:t>𝑠</m:t>
                        </m:r>
                      </m:e>
                      <m:sup>
                        <m:r>
                          <a:rPr lang="en-US" sz="2900" b="0" i="1" smtClean="0">
                            <a:latin typeface="Cambria Math" panose="02040503050406030204" pitchFamily="18" charset="0"/>
                          </a:rPr>
                          <m:t>′</m:t>
                        </m:r>
                      </m:sup>
                    </m:sSup>
                    <m:r>
                      <a:rPr lang="en-US" sz="2900" b="0" i="1" smtClean="0">
                        <a:latin typeface="Cambria Math" panose="02040503050406030204" pitchFamily="18" charset="0"/>
                      </a:rPr>
                      <m:t>:</m:t>
                    </m:r>
                    <m:sSup>
                      <m:sSupPr>
                        <m:ctrlPr>
                          <a:rPr lang="en-US" sz="2900" b="0" i="1" smtClean="0">
                            <a:latin typeface="Cambria Math" panose="02040503050406030204" pitchFamily="18" charset="0"/>
                          </a:rPr>
                        </m:ctrlPr>
                      </m:sSupPr>
                      <m:e>
                        <m:r>
                          <a:rPr lang="en-US" sz="2900" b="0" i="1" smtClean="0">
                            <a:latin typeface="Cambria Math" panose="02040503050406030204" pitchFamily="18" charset="0"/>
                          </a:rPr>
                          <m:t>𝑠</m:t>
                        </m:r>
                      </m:e>
                      <m:sup>
                        <m:r>
                          <a:rPr lang="en-US" sz="2900" b="0" i="1" smtClean="0">
                            <a:latin typeface="Cambria Math" panose="02040503050406030204" pitchFamily="18" charset="0"/>
                          </a:rPr>
                          <m:t>′</m:t>
                        </m:r>
                      </m:sup>
                    </m:sSup>
                    <m:r>
                      <a:rPr lang="en-US" sz="2900" b="0" i="1" smtClean="0">
                        <a:latin typeface="Cambria Math" panose="02040503050406030204" pitchFamily="18" charset="0"/>
                      </a:rPr>
                      <m:t>=</m:t>
                    </m:r>
                    <m:r>
                      <a:rPr lang="en-US" sz="2900" b="0" i="1" smtClean="0">
                        <a:latin typeface="Cambria Math" panose="02040503050406030204" pitchFamily="18" charset="0"/>
                      </a:rPr>
                      <m:t>𝑅𝑒𝑠𝑢𝑙𝑡</m:t>
                    </m:r>
                    <m:d>
                      <m:dPr>
                        <m:ctrlPr>
                          <a:rPr lang="en-US" sz="2900" b="0" i="1" smtClean="0">
                            <a:latin typeface="Cambria Math" panose="02040503050406030204" pitchFamily="18" charset="0"/>
                          </a:rPr>
                        </m:ctrlPr>
                      </m:dPr>
                      <m:e>
                        <m:r>
                          <a:rPr lang="en-US" sz="2900" b="0" i="1" smtClean="0">
                            <a:latin typeface="Cambria Math" panose="02040503050406030204" pitchFamily="18" charset="0"/>
                          </a:rPr>
                          <m:t>𝑠</m:t>
                        </m:r>
                        <m:r>
                          <a:rPr lang="en-US" sz="2900" b="0" i="1" smtClean="0">
                            <a:latin typeface="Cambria Math" panose="02040503050406030204" pitchFamily="18" charset="0"/>
                          </a:rPr>
                          <m:t>, </m:t>
                        </m:r>
                        <m:r>
                          <a:rPr lang="en-US" sz="2900" b="0" i="1" smtClean="0">
                            <a:latin typeface="Cambria Math" panose="02040503050406030204" pitchFamily="18" charset="0"/>
                          </a:rPr>
                          <m:t>𝑎</m:t>
                        </m:r>
                      </m:e>
                    </m:d>
                    <m:r>
                      <a:rPr lang="en-US" sz="2900" b="0" i="1" smtClean="0">
                        <a:latin typeface="Cambria Math" panose="02040503050406030204" pitchFamily="18" charset="0"/>
                      </a:rPr>
                      <m:t> </m:t>
                    </m:r>
                    <m:r>
                      <a:rPr lang="en-US" sz="2900" b="0" i="1" smtClean="0">
                        <a:latin typeface="Cambria Math" panose="02040503050406030204" pitchFamily="18" charset="0"/>
                      </a:rPr>
                      <m:t>𝑎𝑛𝑑</m:t>
                    </m:r>
                    <m:r>
                      <a:rPr lang="en-US" sz="2900" b="0" i="1" smtClean="0">
                        <a:latin typeface="Cambria Math" panose="02040503050406030204" pitchFamily="18" charset="0"/>
                      </a:rPr>
                      <m:t> </m:t>
                    </m:r>
                    <m:r>
                      <a:rPr lang="en-US" sz="2900" b="0" i="1" smtClean="0">
                        <a:latin typeface="Cambria Math" panose="02040503050406030204" pitchFamily="18" charset="0"/>
                      </a:rPr>
                      <m:t>𝑠</m:t>
                    </m:r>
                    <m:r>
                      <a:rPr lang="en-US" sz="2900" b="0" i="1" smtClean="0">
                        <a:latin typeface="Cambria Math" panose="02040503050406030204" pitchFamily="18" charset="0"/>
                      </a:rPr>
                      <m:t>∈</m:t>
                    </m:r>
                    <m:r>
                      <a:rPr lang="en-US" sz="2900" b="0" i="1" smtClean="0">
                        <a:latin typeface="Cambria Math" panose="02040503050406030204" pitchFamily="18" charset="0"/>
                      </a:rPr>
                      <m:t>𝑏</m:t>
                    </m:r>
                    <m:r>
                      <a:rPr lang="en-US" sz="2900" b="0" i="1" smtClean="0">
                        <a:latin typeface="Cambria Math" panose="02040503050406030204" pitchFamily="18" charset="0"/>
                      </a:rPr>
                      <m:t>}</m:t>
                    </m:r>
                  </m:oMath>
                </a14:m>
                <a:endParaRPr lang="en-US" sz="2400" dirty="0"/>
              </a:p>
              <a:p>
                <a:r>
                  <a:rPr lang="en-US" b="1" dirty="0"/>
                  <a:t>Goal test: </a:t>
                </a:r>
                <a:r>
                  <a:rPr lang="en-US" dirty="0"/>
                  <a:t>Does the belief state only contain goal states?</a:t>
                </a:r>
              </a:p>
              <a:p>
                <a:r>
                  <a:rPr lang="en-US" b="1" dirty="0"/>
                  <a:t>Simplifying property: </a:t>
                </a:r>
                <a:r>
                  <a:rPr lang="en-US" dirty="0"/>
                  <a:t>If a belief state (e.g.,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𝑏</m:t>
                        </m:r>
                      </m:e>
                      <m:sub>
                        <m:r>
                          <a:rPr lang="en-US" b="0" i="1" dirty="0" smtClean="0">
                            <a:latin typeface="Cambria Math" panose="02040503050406030204" pitchFamily="18" charset="0"/>
                          </a:rPr>
                          <m:t>1</m:t>
                        </m:r>
                      </m:sub>
                    </m:sSub>
                    <m:r>
                      <a:rPr lang="en-US" i="1" dirty="0" smtClean="0">
                        <a:latin typeface="Cambria Math" panose="02040503050406030204" pitchFamily="18" charset="0"/>
                      </a:rPr>
                      <m:t>={1,2,3,4,5}</m:t>
                    </m:r>
                  </m:oMath>
                </a14:m>
                <a:r>
                  <a:rPr lang="en-US" dirty="0"/>
                  <a:t>) is solvable (i.e., there is a sequence of actions that coerce all states to only goal states), then belief states that are subsets (e.g.,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𝑏</m:t>
                        </m:r>
                      </m:e>
                      <m:sub>
                        <m:r>
                          <a:rPr lang="en-US" b="0" i="1" dirty="0" smtClean="0">
                            <a:latin typeface="Cambria Math" panose="02040503050406030204" pitchFamily="18" charset="0"/>
                          </a:rPr>
                          <m:t>2</m:t>
                        </m:r>
                      </m:sub>
                    </m:sSub>
                    <m:r>
                      <a:rPr lang="en-US" i="1" dirty="0" smtClean="0">
                        <a:latin typeface="Cambria Math" panose="02040503050406030204" pitchFamily="18" charset="0"/>
                      </a:rPr>
                      <m:t> = {2,5}</m:t>
                    </m:r>
                  </m:oMath>
                </a14:m>
                <a:r>
                  <a:rPr lang="en-US" dirty="0"/>
                  <a:t>) are also solved using the same action sequence. This can be used to prune the search tree.</a:t>
                </a:r>
              </a:p>
              <a:p>
                <a:endParaRPr lang="en-US" dirty="0"/>
              </a:p>
              <a:p>
                <a:pPr marL="0" indent="0">
                  <a:buNone/>
                </a:pPr>
                <a:r>
                  <a:rPr lang="en-US" b="1" dirty="0"/>
                  <a:t>Other approach</a:t>
                </a:r>
                <a:r>
                  <a:rPr lang="en-US" dirty="0"/>
                  <a:t>: </a:t>
                </a:r>
              </a:p>
              <a:p>
                <a:r>
                  <a:rPr lang="en-US" b="1" dirty="0"/>
                  <a:t>Incremental belief-state search</a:t>
                </a:r>
                <a:r>
                  <a:rPr lang="en-US" dirty="0"/>
                  <a:t>. Generate a solution that works for one state and check if it also works for all other states. If it does not, then modify the solution slightly. This is similar to local search.</a:t>
                </a:r>
              </a:p>
              <a:p>
                <a:endParaRPr lang="en-US" dirty="0"/>
              </a:p>
            </p:txBody>
          </p:sp>
        </mc:Choice>
        <mc:Fallback xmlns="">
          <p:sp>
            <p:nvSpPr>
              <p:cNvPr id="3" name="Content Placeholder 2">
                <a:extLst>
                  <a:ext uri="{FF2B5EF4-FFF2-40B4-BE49-F238E27FC236}">
                    <a16:creationId xmlns:a16="http://schemas.microsoft.com/office/drawing/2014/main" id="{5D74D24E-3A83-4A7C-B542-EC45CB021368}"/>
                  </a:ext>
                </a:extLst>
              </p:cNvPr>
              <p:cNvSpPr>
                <a:spLocks noGrp="1" noRot="1" noChangeAspect="1" noMove="1" noResize="1" noEditPoints="1" noAdjustHandles="1" noChangeArrowheads="1" noChangeShapeType="1" noTextEdit="1"/>
              </p:cNvSpPr>
              <p:nvPr>
                <p:ph idx="1"/>
              </p:nvPr>
            </p:nvSpPr>
            <p:spPr>
              <a:xfrm>
                <a:off x="628650" y="2133600"/>
                <a:ext cx="7886700" cy="4343401"/>
              </a:xfrm>
              <a:blipFill>
                <a:blip r:embed="rId2"/>
                <a:stretch>
                  <a:fillRect l="-618" t="-2244" b="-1683"/>
                </a:stretch>
              </a:blipFill>
            </p:spPr>
            <p:txBody>
              <a:bodyPr/>
              <a:lstStyle/>
              <a:p>
                <a:r>
                  <a:rPr lang="en-US">
                    <a:noFill/>
                  </a:rPr>
                  <a:t> </a:t>
                </a:r>
              </a:p>
            </p:txBody>
          </p:sp>
        </mc:Fallback>
      </mc:AlternateContent>
      <p:sp>
        <p:nvSpPr>
          <p:cNvPr id="4" name="Callout: Line 3">
            <a:extLst>
              <a:ext uri="{FF2B5EF4-FFF2-40B4-BE49-F238E27FC236}">
                <a16:creationId xmlns:a16="http://schemas.microsoft.com/office/drawing/2014/main" id="{6331BEB8-9C9D-43E2-AE7E-9D9F0D246238}"/>
              </a:ext>
            </a:extLst>
          </p:cNvPr>
          <p:cNvSpPr/>
          <p:nvPr/>
        </p:nvSpPr>
        <p:spPr>
          <a:xfrm>
            <a:off x="5867400" y="1350108"/>
            <a:ext cx="3048000" cy="681162"/>
          </a:xfrm>
          <a:prstGeom prst="borderCallout1">
            <a:avLst>
              <a:gd name="adj1" fmla="val 34734"/>
              <a:gd name="adj2" fmla="val -3950"/>
              <a:gd name="adj3" fmla="val 172510"/>
              <a:gd name="adj4" fmla="val -479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Note</a:t>
            </a:r>
            <a:r>
              <a:rPr lang="en-US" sz="1600" dirty="0"/>
              <a:t>: State space size makes this impractical for larger problems!</a:t>
            </a:r>
          </a:p>
        </p:txBody>
      </p:sp>
    </p:spTree>
    <p:extLst>
      <p:ext uri="{BB962C8B-B14F-4D97-AF65-F5344CB8AC3E}">
        <p14:creationId xmlns:p14="http://schemas.microsoft.com/office/powerpoint/2010/main" val="1712594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E0EE8C-4D59-48F1-B069-E38EC27F5A58}"/>
              </a:ext>
            </a:extLst>
          </p:cNvPr>
          <p:cNvSpPr>
            <a:spLocks noGrp="1"/>
          </p:cNvSpPr>
          <p:nvPr>
            <p:ph type="title"/>
          </p:nvPr>
        </p:nvSpPr>
        <p:spPr>
          <a:xfrm>
            <a:off x="4809833" y="640082"/>
            <a:ext cx="3854106" cy="1180346"/>
          </a:xfrm>
          <a:noFill/>
        </p:spPr>
        <p:txBody>
          <a:bodyPr vert="horz" lIns="91440" tIns="45720" rIns="91440" bIns="45720" rtlCol="0" anchor="b">
            <a:normAutofit/>
          </a:bodyPr>
          <a:lstStyle/>
          <a:p>
            <a:pPr algn="ctr"/>
            <a:r>
              <a:rPr lang="en-US" kern="1200" dirty="0">
                <a:solidFill>
                  <a:schemeClr val="tx1"/>
                </a:solidFill>
                <a:latin typeface="+mj-lt"/>
                <a:ea typeface="+mj-ea"/>
                <a:cs typeface="+mj-cs"/>
              </a:rPr>
              <a:t>Case Study</a:t>
            </a:r>
          </a:p>
        </p:txBody>
      </p:sp>
      <p:sp>
        <p:nvSpPr>
          <p:cNvPr id="12" name="Rectangle 11">
            <a:extLst>
              <a:ext uri="{FF2B5EF4-FFF2-40B4-BE49-F238E27FC236}">
                <a16:creationId xmlns:a16="http://schemas.microsoft.com/office/drawing/2014/main" id="{4913D8DA-B72B-46FB-9E5D-656A0EB0A4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580687" cy="6861717"/>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D5A78634-B028-4BC7-B06F-40DCBC308FAF}"/>
              </a:ext>
            </a:extLst>
          </p:cNvPr>
          <p:cNvSpPr>
            <a:spLocks noGrp="1"/>
          </p:cNvSpPr>
          <p:nvPr>
            <p:ph type="body" idx="1"/>
          </p:nvPr>
        </p:nvSpPr>
        <p:spPr>
          <a:xfrm>
            <a:off x="4789595" y="1957506"/>
            <a:ext cx="4049605" cy="4260392"/>
          </a:xfrm>
          <a:noFill/>
        </p:spPr>
        <p:txBody>
          <a:bodyPr vert="horz" lIns="91440" tIns="45720" rIns="91440" bIns="45720" rtlCol="0">
            <a:normAutofit/>
          </a:bodyPr>
          <a:lstStyle/>
          <a:p>
            <a:pPr algn="ctr"/>
            <a:r>
              <a:rPr lang="en-US" sz="1600" dirty="0"/>
              <a:t>The agent</a:t>
            </a:r>
            <a:r>
              <a:rPr lang="en-US" sz="1600" kern="1200" dirty="0">
                <a:solidFill>
                  <a:schemeClr val="tx1"/>
                </a:solidFill>
                <a:latin typeface="+mn-lt"/>
                <a:ea typeface="+mn-ea"/>
                <a:cs typeface="+mn-cs"/>
              </a:rPr>
              <a:t> can move up, down right, and left.</a:t>
            </a:r>
            <a:endParaRPr lang="en-US" sz="1600" dirty="0"/>
          </a:p>
          <a:p>
            <a:pPr algn="ctr"/>
            <a:r>
              <a:rPr lang="en-US" sz="1600" dirty="0"/>
              <a:t>The agent has </a:t>
            </a:r>
            <a:r>
              <a:rPr lang="en-US" sz="1600" b="1" dirty="0"/>
              <a:t>no sensors </a:t>
            </a:r>
            <a:r>
              <a:rPr lang="en-US" sz="1600" dirty="0"/>
              <a:t>and does not know its current location.</a:t>
            </a:r>
            <a:endParaRPr lang="en-US" sz="1600" kern="1200" dirty="0">
              <a:solidFill>
                <a:schemeClr val="tx1"/>
              </a:solidFill>
              <a:latin typeface="+mn-lt"/>
              <a:ea typeface="+mn-ea"/>
              <a:cs typeface="+mn-cs"/>
            </a:endParaRPr>
          </a:p>
          <a:p>
            <a:pPr algn="ctr"/>
            <a:endParaRPr lang="en-US" sz="1600" b="1" kern="1200" dirty="0">
              <a:solidFill>
                <a:srgbClr val="FF0000"/>
              </a:solidFill>
              <a:latin typeface="+mn-lt"/>
              <a:ea typeface="+mn-ea"/>
              <a:cs typeface="+mn-cs"/>
            </a:endParaRPr>
          </a:p>
          <a:p>
            <a:pPr algn="ctr"/>
            <a:r>
              <a:rPr lang="en-US" sz="1600" b="1" kern="1200" dirty="0">
                <a:solidFill>
                  <a:srgbClr val="FF0000"/>
                </a:solidFill>
                <a:latin typeface="+mn-lt"/>
                <a:ea typeface="+mn-ea"/>
                <a:cs typeface="+mn-cs"/>
              </a:rPr>
              <a:t>1. Can you navigate to the goal location? How?</a:t>
            </a:r>
          </a:p>
          <a:p>
            <a:pPr algn="ctr"/>
            <a:endParaRPr lang="en-US" sz="1600" b="1" kern="1200" dirty="0">
              <a:solidFill>
                <a:srgbClr val="FF0000"/>
              </a:solidFill>
              <a:latin typeface="+mn-lt"/>
              <a:ea typeface="+mn-ea"/>
              <a:cs typeface="+mn-cs"/>
            </a:endParaRPr>
          </a:p>
          <a:p>
            <a:pPr algn="ctr"/>
            <a:endParaRPr lang="en-US" sz="1600" b="1" dirty="0">
              <a:solidFill>
                <a:srgbClr val="FF0000"/>
              </a:solidFill>
            </a:endParaRPr>
          </a:p>
          <a:p>
            <a:pPr algn="ctr"/>
            <a:r>
              <a:rPr lang="en-US" sz="1600" b="1" kern="1200" dirty="0">
                <a:solidFill>
                  <a:srgbClr val="FF0000"/>
                </a:solidFill>
                <a:latin typeface="+mn-lt"/>
                <a:ea typeface="+mn-ea"/>
                <a:cs typeface="+mn-cs"/>
              </a:rPr>
              <a:t>2. What would you need to know about the environment?</a:t>
            </a:r>
          </a:p>
          <a:p>
            <a:pPr algn="ctr"/>
            <a:endParaRPr lang="en-US" sz="1600" b="1" dirty="0">
              <a:solidFill>
                <a:srgbClr val="FF0000"/>
              </a:solidFill>
            </a:endParaRPr>
          </a:p>
          <a:p>
            <a:pPr algn="ctr"/>
            <a:endParaRPr lang="en-US" sz="1600" b="1" dirty="0">
              <a:solidFill>
                <a:srgbClr val="FF0000"/>
              </a:solidFill>
            </a:endParaRPr>
          </a:p>
          <a:p>
            <a:pPr algn="ctr"/>
            <a:r>
              <a:rPr lang="en-US" sz="1600" b="1" kern="1200" dirty="0">
                <a:solidFill>
                  <a:srgbClr val="FF0000"/>
                </a:solidFill>
                <a:latin typeface="+mn-lt"/>
                <a:ea typeface="+mn-ea"/>
                <a:cs typeface="+mn-cs"/>
              </a:rPr>
              <a:t>3. </a:t>
            </a:r>
            <a:r>
              <a:rPr lang="en-US" sz="1600" b="1" dirty="0">
                <a:solidFill>
                  <a:srgbClr val="FF0000"/>
                </a:solidFill>
              </a:rPr>
              <a:t>What type of agent can do this?</a:t>
            </a:r>
            <a:endParaRPr lang="en-US" sz="1600" b="1" kern="1200" dirty="0">
              <a:solidFill>
                <a:srgbClr val="FF0000"/>
              </a:solidFill>
              <a:latin typeface="+mn-lt"/>
              <a:ea typeface="+mn-ea"/>
              <a:cs typeface="+mn-cs"/>
            </a:endParaRPr>
          </a:p>
        </p:txBody>
      </p:sp>
      <p:sp>
        <p:nvSpPr>
          <p:cNvPr id="7" name="Rounded Rectangle 26">
            <a:extLst>
              <a:ext uri="{FF2B5EF4-FFF2-40B4-BE49-F238E27FC236}">
                <a16:creationId xmlns:a16="http://schemas.microsoft.com/office/drawing/2014/main" id="{63CDDC8E-3FD0-4545-A664-7661835B4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5058" y="640080"/>
            <a:ext cx="3606882"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911AB48D-CEC1-9260-7BF2-5AC157014398}"/>
              </a:ext>
            </a:extLst>
          </p:cNvPr>
          <p:cNvGrpSpPr/>
          <p:nvPr/>
        </p:nvGrpSpPr>
        <p:grpSpPr>
          <a:xfrm>
            <a:off x="762000" y="626348"/>
            <a:ext cx="3270559" cy="5317252"/>
            <a:chOff x="762000" y="626348"/>
            <a:chExt cx="3270559" cy="5317252"/>
          </a:xfrm>
        </p:grpSpPr>
        <p:sp>
          <p:nvSpPr>
            <p:cNvPr id="24" name="Oval 23">
              <a:extLst>
                <a:ext uri="{FF2B5EF4-FFF2-40B4-BE49-F238E27FC236}">
                  <a16:creationId xmlns:a16="http://schemas.microsoft.com/office/drawing/2014/main" id="{744F6B79-AA92-AFD9-43E8-E7588E2384CC}"/>
                </a:ext>
              </a:extLst>
            </p:cNvPr>
            <p:cNvSpPr/>
            <p:nvPr/>
          </p:nvSpPr>
          <p:spPr>
            <a:xfrm>
              <a:off x="1638300" y="3891280"/>
              <a:ext cx="381000" cy="381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2D049EEA-9194-EA97-E59A-5E0163830B07}"/>
                </a:ext>
              </a:extLst>
            </p:cNvPr>
            <p:cNvCxnSpPr/>
            <p:nvPr/>
          </p:nvCxnSpPr>
          <p:spPr>
            <a:xfrm flipV="1">
              <a:off x="1828800" y="3505200"/>
              <a:ext cx="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D3F16D2-BE69-2578-8A72-47A4E1CCA104}"/>
                </a:ext>
              </a:extLst>
            </p:cNvPr>
            <p:cNvCxnSpPr>
              <a:cxnSpLocks/>
            </p:cNvCxnSpPr>
            <p:nvPr/>
          </p:nvCxnSpPr>
          <p:spPr>
            <a:xfrm>
              <a:off x="1828800" y="4343400"/>
              <a:ext cx="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D90EBD7-D545-49CE-CEE4-A03A4A71E28B}"/>
                </a:ext>
              </a:extLst>
            </p:cNvPr>
            <p:cNvCxnSpPr>
              <a:cxnSpLocks/>
            </p:cNvCxnSpPr>
            <p:nvPr/>
          </p:nvCxnSpPr>
          <p:spPr>
            <a:xfrm flipH="1">
              <a:off x="1219200" y="408178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14F26E81-553B-6871-A23E-44FE07D4D30C}"/>
                </a:ext>
              </a:extLst>
            </p:cNvPr>
            <p:cNvCxnSpPr>
              <a:cxnSpLocks/>
            </p:cNvCxnSpPr>
            <p:nvPr/>
          </p:nvCxnSpPr>
          <p:spPr>
            <a:xfrm>
              <a:off x="2095500" y="4081780"/>
              <a:ext cx="3429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018B710-D246-CC9B-F19E-3E5F39E88C7E}"/>
                </a:ext>
              </a:extLst>
            </p:cNvPr>
            <p:cNvCxnSpPr>
              <a:cxnSpLocks/>
            </p:cNvCxnSpPr>
            <p:nvPr/>
          </p:nvCxnSpPr>
          <p:spPr>
            <a:xfrm>
              <a:off x="762000" y="914400"/>
              <a:ext cx="27432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AD6A355-2AAA-8966-0E93-0F5725457348}"/>
                </a:ext>
              </a:extLst>
            </p:cNvPr>
            <p:cNvCxnSpPr>
              <a:cxnSpLocks/>
            </p:cNvCxnSpPr>
            <p:nvPr/>
          </p:nvCxnSpPr>
          <p:spPr>
            <a:xfrm flipV="1">
              <a:off x="3657600" y="1066800"/>
              <a:ext cx="0" cy="48768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FEE2A1A-243B-B82F-982B-8AA1E159A2C2}"/>
                </a:ext>
              </a:extLst>
            </p:cNvPr>
            <p:cNvSpPr txBox="1"/>
            <p:nvPr/>
          </p:nvSpPr>
          <p:spPr>
            <a:xfrm>
              <a:off x="1971040" y="626348"/>
              <a:ext cx="486030" cy="369332"/>
            </a:xfrm>
            <a:prstGeom prst="rect">
              <a:avLst/>
            </a:prstGeom>
            <a:noFill/>
          </p:spPr>
          <p:txBody>
            <a:bodyPr wrap="none" rtlCol="0">
              <a:spAutoFit/>
            </a:bodyPr>
            <a:lstStyle/>
            <a:p>
              <a:r>
                <a:rPr lang="en-US" dirty="0"/>
                <a:t>3m</a:t>
              </a:r>
            </a:p>
          </p:txBody>
        </p:sp>
        <p:sp>
          <p:nvSpPr>
            <p:cNvPr id="48" name="TextBox 47">
              <a:extLst>
                <a:ext uri="{FF2B5EF4-FFF2-40B4-BE49-F238E27FC236}">
                  <a16:creationId xmlns:a16="http://schemas.microsoft.com/office/drawing/2014/main" id="{53DC8303-0C22-C1A8-4EBE-8102AD2C9CEB}"/>
                </a:ext>
              </a:extLst>
            </p:cNvPr>
            <p:cNvSpPr txBox="1"/>
            <p:nvPr/>
          </p:nvSpPr>
          <p:spPr>
            <a:xfrm rot="16200000">
              <a:off x="3604878" y="3199439"/>
              <a:ext cx="486030" cy="369332"/>
            </a:xfrm>
            <a:prstGeom prst="rect">
              <a:avLst/>
            </a:prstGeom>
            <a:noFill/>
          </p:spPr>
          <p:txBody>
            <a:bodyPr wrap="none" rtlCol="0">
              <a:spAutoFit/>
            </a:bodyPr>
            <a:lstStyle/>
            <a:p>
              <a:r>
                <a:rPr lang="en-US" dirty="0"/>
                <a:t>8m</a:t>
              </a:r>
            </a:p>
          </p:txBody>
        </p:sp>
        <p:cxnSp>
          <p:nvCxnSpPr>
            <p:cNvPr id="9" name="Straight Arrow Connector 8">
              <a:extLst>
                <a:ext uri="{FF2B5EF4-FFF2-40B4-BE49-F238E27FC236}">
                  <a16:creationId xmlns:a16="http://schemas.microsoft.com/office/drawing/2014/main" id="{CF9EE6A7-F3A0-2CE0-F065-E8F7482D4794}"/>
                </a:ext>
              </a:extLst>
            </p:cNvPr>
            <p:cNvCxnSpPr>
              <a:cxnSpLocks/>
            </p:cNvCxnSpPr>
            <p:nvPr/>
          </p:nvCxnSpPr>
          <p:spPr>
            <a:xfrm flipV="1">
              <a:off x="2610525" y="1117603"/>
              <a:ext cx="0" cy="63499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70B4175-8679-B14E-7FF4-DFC5EC72169A}"/>
                </a:ext>
              </a:extLst>
            </p:cNvPr>
            <p:cNvCxnSpPr>
              <a:cxnSpLocks/>
            </p:cNvCxnSpPr>
            <p:nvPr/>
          </p:nvCxnSpPr>
          <p:spPr>
            <a:xfrm>
              <a:off x="842455" y="1788160"/>
              <a:ext cx="167214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01F1896-A0F4-F591-CBFB-897CA4EAC673}"/>
                </a:ext>
              </a:extLst>
            </p:cNvPr>
            <p:cNvSpPr txBox="1"/>
            <p:nvPr/>
          </p:nvSpPr>
          <p:spPr>
            <a:xfrm>
              <a:off x="1553633" y="1451095"/>
              <a:ext cx="486030" cy="369332"/>
            </a:xfrm>
            <a:prstGeom prst="rect">
              <a:avLst/>
            </a:prstGeom>
            <a:noFill/>
          </p:spPr>
          <p:txBody>
            <a:bodyPr wrap="none" rtlCol="0">
              <a:spAutoFit/>
            </a:bodyPr>
            <a:lstStyle/>
            <a:p>
              <a:r>
                <a:rPr lang="en-US" dirty="0"/>
                <a:t>2m</a:t>
              </a:r>
            </a:p>
          </p:txBody>
        </p:sp>
        <p:sp>
          <p:nvSpPr>
            <p:cNvPr id="17" name="TextBox 16">
              <a:extLst>
                <a:ext uri="{FF2B5EF4-FFF2-40B4-BE49-F238E27FC236}">
                  <a16:creationId xmlns:a16="http://schemas.microsoft.com/office/drawing/2014/main" id="{E258898D-3972-3A7B-942E-98B4126298F3}"/>
                </a:ext>
              </a:extLst>
            </p:cNvPr>
            <p:cNvSpPr txBox="1"/>
            <p:nvPr/>
          </p:nvSpPr>
          <p:spPr>
            <a:xfrm rot="16200000">
              <a:off x="2538604" y="1263303"/>
              <a:ext cx="486030" cy="369332"/>
            </a:xfrm>
            <a:prstGeom prst="rect">
              <a:avLst/>
            </a:prstGeom>
            <a:noFill/>
          </p:spPr>
          <p:txBody>
            <a:bodyPr wrap="none" rtlCol="0">
              <a:spAutoFit/>
            </a:bodyPr>
            <a:lstStyle/>
            <a:p>
              <a:r>
                <a:rPr lang="en-US" dirty="0"/>
                <a:t>1m</a:t>
              </a:r>
            </a:p>
          </p:txBody>
        </p:sp>
        <p:sp>
          <p:nvSpPr>
            <p:cNvPr id="18" name="TextBox 17">
              <a:extLst>
                <a:ext uri="{FF2B5EF4-FFF2-40B4-BE49-F238E27FC236}">
                  <a16:creationId xmlns:a16="http://schemas.microsoft.com/office/drawing/2014/main" id="{39FF1A96-FE38-8CF1-81DB-D39627D76C94}"/>
                </a:ext>
              </a:extLst>
            </p:cNvPr>
            <p:cNvSpPr txBox="1"/>
            <p:nvPr/>
          </p:nvSpPr>
          <p:spPr>
            <a:xfrm>
              <a:off x="1078231" y="4240013"/>
              <a:ext cx="772159" cy="369332"/>
            </a:xfrm>
            <a:prstGeom prst="rect">
              <a:avLst/>
            </a:prstGeom>
            <a:noFill/>
          </p:spPr>
          <p:txBody>
            <a:bodyPr wrap="square" rtlCol="0">
              <a:spAutoFit/>
            </a:bodyPr>
            <a:lstStyle/>
            <a:p>
              <a:r>
                <a:rPr lang="en-US" dirty="0"/>
                <a:t>Agent</a:t>
              </a:r>
            </a:p>
          </p:txBody>
        </p:sp>
        <p:sp>
          <p:nvSpPr>
            <p:cNvPr id="33" name="TextBox 32">
              <a:extLst>
                <a:ext uri="{FF2B5EF4-FFF2-40B4-BE49-F238E27FC236}">
                  <a16:creationId xmlns:a16="http://schemas.microsoft.com/office/drawing/2014/main" id="{F219C5A9-A851-5D00-D014-4A6A1285925E}"/>
                </a:ext>
              </a:extLst>
            </p:cNvPr>
            <p:cNvSpPr txBox="1"/>
            <p:nvPr/>
          </p:nvSpPr>
          <p:spPr>
            <a:xfrm>
              <a:off x="2133600" y="1605283"/>
              <a:ext cx="953851" cy="923330"/>
            </a:xfrm>
            <a:prstGeom prst="rect">
              <a:avLst/>
            </a:prstGeom>
            <a:noFill/>
          </p:spPr>
          <p:txBody>
            <a:bodyPr wrap="none" rtlCol="0">
              <a:spAutoFit/>
            </a:bodyPr>
            <a:lstStyle/>
            <a:p>
              <a:pPr algn="ctr"/>
              <a:r>
                <a:rPr lang="en-US" b="1" dirty="0">
                  <a:solidFill>
                    <a:srgbClr val="FF0000"/>
                  </a:solidFill>
                </a:rPr>
                <a:t>x</a:t>
              </a:r>
            </a:p>
            <a:p>
              <a:pPr algn="ctr"/>
              <a:r>
                <a:rPr lang="en-US" b="1" dirty="0">
                  <a:solidFill>
                    <a:srgbClr val="FF0000"/>
                  </a:solidFill>
                </a:rPr>
                <a:t>Goal</a:t>
              </a:r>
            </a:p>
            <a:p>
              <a:pPr algn="ctr"/>
              <a:r>
                <a:rPr lang="en-US" b="1" dirty="0">
                  <a:solidFill>
                    <a:srgbClr val="FF0000"/>
                  </a:solidFill>
                </a:rPr>
                <a:t>location</a:t>
              </a:r>
            </a:p>
          </p:txBody>
        </p:sp>
        <p:sp>
          <p:nvSpPr>
            <p:cNvPr id="23" name="Rectangle 22">
              <a:extLst>
                <a:ext uri="{FF2B5EF4-FFF2-40B4-BE49-F238E27FC236}">
                  <a16:creationId xmlns:a16="http://schemas.microsoft.com/office/drawing/2014/main" id="{BDCA81A1-90E8-F0DA-1224-8F4EAE991C6A}"/>
                </a:ext>
              </a:extLst>
            </p:cNvPr>
            <p:cNvSpPr/>
            <p:nvPr/>
          </p:nvSpPr>
          <p:spPr>
            <a:xfrm>
              <a:off x="762000" y="1066800"/>
              <a:ext cx="2743200" cy="4876800"/>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14549167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C8EF8999-B8E7-9AB0-919A-D239B8267383}"/>
              </a:ext>
            </a:extLst>
          </p:cNvPr>
          <p:cNvPicPr>
            <a:picLocks noChangeAspect="1"/>
          </p:cNvPicPr>
          <p:nvPr/>
        </p:nvPicPr>
        <p:blipFill>
          <a:blip r:embed="rId2"/>
          <a:srcRect l="6250" t="18992" b="10696"/>
          <a:stretch>
            <a:fillRect/>
          </a:stretch>
        </p:blipFill>
        <p:spPr>
          <a:xfrm>
            <a:off x="20" y="10"/>
            <a:ext cx="9143980" cy="6857990"/>
          </a:xfrm>
          <a:prstGeom prst="rect">
            <a:avLst/>
          </a:prstGeom>
        </p:spPr>
      </p:pic>
      <p:sp>
        <p:nvSpPr>
          <p:cNvPr id="30" name="Rectangle 29">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5" y="-511"/>
            <a:ext cx="4592270" cy="9144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2171C033-CF97-49A9-BBAC-023FBFC89848}"/>
              </a:ext>
            </a:extLst>
          </p:cNvPr>
          <p:cNvSpPr>
            <a:spLocks noGrp="1"/>
          </p:cNvSpPr>
          <p:nvPr>
            <p:ph type="title"/>
          </p:nvPr>
        </p:nvSpPr>
        <p:spPr>
          <a:xfrm>
            <a:off x="303414" y="3091928"/>
            <a:ext cx="6808922" cy="2387600"/>
          </a:xfrm>
        </p:spPr>
        <p:txBody>
          <a:bodyPr vert="horz" lIns="91440" tIns="45720" rIns="91440" bIns="45720" rtlCol="0" anchor="b">
            <a:normAutofit/>
          </a:bodyPr>
          <a:lstStyle/>
          <a:p>
            <a:r>
              <a:rPr lang="en-US" sz="5700" b="1" dirty="0">
                <a:solidFill>
                  <a:schemeClr val="bg1"/>
                </a:solidFill>
                <a:effectLst>
                  <a:outerShdw blurRad="38100" dist="38100" dir="2700000" algn="tl">
                    <a:srgbClr val="000000">
                      <a:alpha val="43137"/>
                    </a:srgbClr>
                  </a:outerShdw>
                </a:effectLst>
              </a:rPr>
              <a:t>Partially Observable Environments</a:t>
            </a:r>
          </a:p>
        </p:txBody>
      </p:sp>
      <p:sp>
        <p:nvSpPr>
          <p:cNvPr id="29" name="Rectangle: Rounded Corners 28">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AB3F41DA-F620-4DC6-9035-6E635D6A685E}"/>
              </a:ext>
            </a:extLst>
          </p:cNvPr>
          <p:cNvSpPr>
            <a:spLocks noGrp="1"/>
          </p:cNvSpPr>
          <p:nvPr>
            <p:ph type="body" idx="1"/>
          </p:nvPr>
        </p:nvSpPr>
        <p:spPr>
          <a:xfrm>
            <a:off x="303414" y="5624945"/>
            <a:ext cx="6808922" cy="592975"/>
          </a:xfrm>
        </p:spPr>
        <p:txBody>
          <a:bodyPr vert="horz" lIns="91440" tIns="45720" rIns="91440" bIns="45720" rtlCol="0" anchor="ctr">
            <a:normAutofit/>
          </a:bodyPr>
          <a:lstStyle/>
          <a:p>
            <a:r>
              <a:rPr lang="en-US" dirty="0">
                <a:solidFill>
                  <a:schemeClr val="bg1"/>
                </a:solidFill>
              </a:rPr>
              <a:t>Using Observations to Learn About the State</a:t>
            </a:r>
          </a:p>
        </p:txBody>
      </p:sp>
    </p:spTree>
    <p:extLst>
      <p:ext uri="{BB962C8B-B14F-4D97-AF65-F5344CB8AC3E}">
        <p14:creationId xmlns:p14="http://schemas.microsoft.com/office/powerpoint/2010/main" val="3653043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D0F4BF-9670-4EDF-91D5-1098A9E40904}"/>
              </a:ext>
            </a:extLst>
          </p:cNvPr>
          <p:cNvSpPr>
            <a:spLocks noGrp="1"/>
          </p:cNvSpPr>
          <p:nvPr>
            <p:ph type="title"/>
          </p:nvPr>
        </p:nvSpPr>
        <p:spPr/>
        <p:txBody>
          <a:bodyPr/>
          <a:lstStyle/>
          <a:p>
            <a:r>
              <a:rPr lang="en-US" dirty="0"/>
              <a:t>Percepts and Observability</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87F17AE4-432C-49F5-8CEA-2F3909113793}"/>
                  </a:ext>
                </a:extLst>
              </p:cNvPr>
              <p:cNvSpPr>
                <a:spLocks noGrp="1"/>
              </p:cNvSpPr>
              <p:nvPr>
                <p:ph idx="1"/>
              </p:nvPr>
            </p:nvSpPr>
            <p:spPr>
              <a:xfrm>
                <a:off x="628650" y="1825625"/>
                <a:ext cx="5619750" cy="4498975"/>
              </a:xfrm>
            </p:spPr>
            <p:txBody>
              <a:bodyPr>
                <a:normAutofit fontScale="77500" lnSpcReduction="20000"/>
              </a:bodyPr>
              <a:lstStyle/>
              <a:p>
                <a:r>
                  <a:rPr lang="en-US" dirty="0"/>
                  <a:t>Many problems cannot be solved efficiently without sensing (e.g., 8-puzzle). </a:t>
                </a:r>
              </a:p>
              <a:p>
                <a:r>
                  <a:rPr lang="en-US" dirty="0"/>
                  <a:t>We need to see at least one square.</a:t>
                </a:r>
              </a:p>
              <a:p>
                <a:pPr marL="0" indent="0">
                  <a:buNone/>
                </a:pPr>
                <a:endParaRPr lang="en-US" dirty="0"/>
              </a:p>
              <a:p>
                <a:pPr marL="0" indent="0">
                  <a:buNone/>
                </a:pPr>
                <a:r>
                  <a:rPr lang="en-US" b="1" dirty="0">
                    <a:solidFill>
                      <a:srgbClr val="FF0000"/>
                    </a:solidFill>
                  </a:rPr>
                  <a:t>Percept function</a:t>
                </a:r>
                <a:r>
                  <a:rPr lang="en-US" dirty="0"/>
                  <a:t>: </a:t>
                </a:r>
                <a14:m>
                  <m:oMath xmlns:m="http://schemas.openxmlformats.org/officeDocument/2006/math">
                    <m:r>
                      <a:rPr lang="en-US" i="1" dirty="0" smtClean="0">
                        <a:latin typeface="Cambria Math" panose="02040503050406030204" pitchFamily="18" charset="0"/>
                      </a:rPr>
                      <m:t>𝑃𝑒𝑟𝑐𝑒𝑝𝑡</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𝑠</m:t>
                        </m:r>
                      </m:e>
                    </m:d>
                  </m:oMath>
                </a14:m>
                <a:endParaRPr lang="en-US" dirty="0"/>
              </a:p>
              <a:p>
                <a:pPr marL="0" indent="0">
                  <a:buNone/>
                </a:pPr>
                <a:r>
                  <a:rPr lang="en-US" dirty="0"/>
                  <a:t>		 	      	 …</a:t>
                </a:r>
                <a14:m>
                  <m:oMath xmlns:m="http://schemas.openxmlformats.org/officeDocument/2006/math">
                    <m:r>
                      <a:rPr lang="en-US" i="1" dirty="0" smtClean="0">
                        <a:latin typeface="Cambria Math" panose="02040503050406030204" pitchFamily="18" charset="0"/>
                      </a:rPr>
                      <m:t>𝑠</m:t>
                    </m:r>
                  </m:oMath>
                </a14:m>
                <a:r>
                  <a:rPr lang="en-US" dirty="0"/>
                  <a:t> is the state</a:t>
                </a:r>
              </a:p>
              <a:p>
                <a:endParaRPr lang="en-US" dirty="0"/>
              </a:p>
              <a:p>
                <a:endParaRPr lang="en-US" dirty="0"/>
              </a:p>
              <a:p>
                <a:r>
                  <a:rPr lang="en-US" b="1" dirty="0"/>
                  <a:t>Fully observable</a:t>
                </a:r>
                <a:r>
                  <a:rPr lang="en-US" dirty="0"/>
                  <a:t>: </a:t>
                </a:r>
                <a14:m>
                  <m:oMath xmlns:m="http://schemas.openxmlformats.org/officeDocument/2006/math">
                    <m:r>
                      <a:rPr lang="en-US" i="1" dirty="0">
                        <a:latin typeface="Cambria Math" panose="02040503050406030204" pitchFamily="18" charset="0"/>
                      </a:rPr>
                      <m:t>𝑃𝑒𝑟𝑐𝑒𝑝𝑡</m:t>
                    </m:r>
                    <m:d>
                      <m:dPr>
                        <m:ctrlPr>
                          <a:rPr lang="en-US" i="1" dirty="0">
                            <a:latin typeface="Cambria Math" panose="02040503050406030204" pitchFamily="18" charset="0"/>
                          </a:rPr>
                        </m:ctrlPr>
                      </m:dPr>
                      <m:e>
                        <m:r>
                          <a:rPr lang="en-US" i="1" dirty="0">
                            <a:latin typeface="Cambria Math" panose="02040503050406030204" pitchFamily="18" charset="0"/>
                          </a:rPr>
                          <m:t>𝑠</m:t>
                        </m:r>
                      </m:e>
                    </m:d>
                    <m:r>
                      <a:rPr lang="en-US" b="0" i="1" dirty="0" smtClean="0">
                        <a:latin typeface="Cambria Math" panose="02040503050406030204" pitchFamily="18" charset="0"/>
                      </a:rPr>
                      <m:t>=</m:t>
                    </m:r>
                    <m:r>
                      <a:rPr lang="en-US" b="0" i="1" dirty="0" smtClean="0">
                        <a:latin typeface="Cambria Math" panose="02040503050406030204" pitchFamily="18" charset="0"/>
                      </a:rPr>
                      <m:t>𝑠</m:t>
                    </m:r>
                  </m:oMath>
                </a14:m>
                <a:endParaRPr lang="en-US" dirty="0"/>
              </a:p>
              <a:p>
                <a:r>
                  <a:rPr lang="en-US" b="1" dirty="0"/>
                  <a:t>Sensorless</a:t>
                </a:r>
                <a:r>
                  <a:rPr lang="en-US" dirty="0"/>
                  <a:t>: </a:t>
                </a:r>
                <a14:m>
                  <m:oMath xmlns:m="http://schemas.openxmlformats.org/officeDocument/2006/math">
                    <m:r>
                      <a:rPr lang="en-US" i="1" dirty="0">
                        <a:latin typeface="Cambria Math" panose="02040503050406030204" pitchFamily="18" charset="0"/>
                      </a:rPr>
                      <m:t>𝑃𝑒𝑟𝑐𝑒𝑝𝑡</m:t>
                    </m:r>
                    <m:d>
                      <m:dPr>
                        <m:ctrlPr>
                          <a:rPr lang="en-US" i="1" dirty="0">
                            <a:latin typeface="Cambria Math" panose="02040503050406030204" pitchFamily="18" charset="0"/>
                          </a:rPr>
                        </m:ctrlPr>
                      </m:dPr>
                      <m:e>
                        <m:r>
                          <a:rPr lang="en-US" i="1" dirty="0">
                            <a:latin typeface="Cambria Math" panose="02040503050406030204" pitchFamily="18" charset="0"/>
                          </a:rPr>
                          <m:t>𝑠</m:t>
                        </m:r>
                      </m:e>
                    </m:d>
                    <m:r>
                      <a:rPr lang="en-US" i="1" dirty="0">
                        <a:latin typeface="Cambria Math" panose="02040503050406030204" pitchFamily="18" charset="0"/>
                      </a:rPr>
                      <m:t>=</m:t>
                    </m:r>
                    <m:r>
                      <a:rPr lang="en-US" b="0" i="1" dirty="0" smtClean="0">
                        <a:latin typeface="Cambria Math" panose="02040503050406030204" pitchFamily="18" charset="0"/>
                      </a:rPr>
                      <m:t>𝑁𝑜𝑛𝑒</m:t>
                    </m:r>
                  </m:oMath>
                </a14:m>
                <a:endParaRPr lang="en-US" b="1" dirty="0"/>
              </a:p>
              <a:p>
                <a:r>
                  <a:rPr lang="en-US" b="1" dirty="0"/>
                  <a:t>Partially observable</a:t>
                </a:r>
                <a:r>
                  <a:rPr lang="en-US" dirty="0"/>
                  <a:t>: </a:t>
                </a:r>
                <a14:m>
                  <m:oMath xmlns:m="http://schemas.openxmlformats.org/officeDocument/2006/math">
                    <m:r>
                      <a:rPr lang="en-US" b="0" i="1" dirty="0">
                        <a:latin typeface="Cambria Math" panose="02040503050406030204" pitchFamily="18" charset="0"/>
                      </a:rPr>
                      <m:t>𝑃𝑒𝑟𝑐𝑒𝑝𝑡</m:t>
                    </m:r>
                    <m:d>
                      <m:dPr>
                        <m:ctrlPr>
                          <a:rPr lang="en-US" b="0" i="1" dirty="0">
                            <a:latin typeface="Cambria Math" panose="02040503050406030204" pitchFamily="18" charset="0"/>
                          </a:rPr>
                        </m:ctrlPr>
                      </m:dPr>
                      <m:e>
                        <m:r>
                          <a:rPr lang="en-US" b="0" i="1" dirty="0">
                            <a:latin typeface="Cambria Math" panose="02040503050406030204" pitchFamily="18" charset="0"/>
                          </a:rPr>
                          <m:t>𝑠</m:t>
                        </m:r>
                      </m:e>
                    </m:d>
                    <m:r>
                      <a:rPr lang="en-US" b="0" i="1" dirty="0">
                        <a:latin typeface="Cambria Math" panose="02040503050406030204" pitchFamily="18" charset="0"/>
                      </a:rPr>
                      <m:t>=</m:t>
                    </m:r>
                    <m:r>
                      <a:rPr lang="en-US" b="0" i="1" dirty="0" smtClean="0">
                        <a:latin typeface="Cambria Math" panose="02040503050406030204" pitchFamily="18" charset="0"/>
                      </a:rPr>
                      <m:t>𝑜</m:t>
                    </m:r>
                  </m:oMath>
                </a14:m>
                <a:br>
                  <a:rPr lang="en-US" b="0" i="1" dirty="0">
                    <a:latin typeface="Cambria Math" panose="02040503050406030204" pitchFamily="18" charset="0"/>
                  </a:rPr>
                </a:br>
                <a14:m>
                  <m:oMath xmlns:m="http://schemas.openxmlformats.org/officeDocument/2006/math">
                    <m:r>
                      <a:rPr lang="en-US" sz="2100" b="0" i="1" dirty="0" smtClean="0">
                        <a:latin typeface="Cambria Math" panose="02040503050406030204" pitchFamily="18" charset="0"/>
                      </a:rPr>
                      <m:t>𝑜</m:t>
                    </m:r>
                  </m:oMath>
                </a14:m>
                <a:r>
                  <a:rPr lang="en-US" sz="2100" dirty="0"/>
                  <a:t> is called an observation and tells us something about </a:t>
                </a:r>
                <a14:m>
                  <m:oMath xmlns:m="http://schemas.openxmlformats.org/officeDocument/2006/math">
                    <m:r>
                      <a:rPr lang="en-US" sz="2100" b="0" i="1" dirty="0" smtClean="0">
                        <a:latin typeface="Cambria Math" panose="02040503050406030204" pitchFamily="18" charset="0"/>
                      </a:rPr>
                      <m:t>𝑠</m:t>
                    </m:r>
                  </m:oMath>
                </a14:m>
                <a:endParaRPr lang="en-US" sz="2100" dirty="0"/>
              </a:p>
              <a:p>
                <a:pPr marL="0" indent="0">
                  <a:buNone/>
                </a:pPr>
                <a:endParaRPr lang="en-US" b="1" dirty="0"/>
              </a:p>
              <a:p>
                <a:endParaRPr lang="en-US" dirty="0"/>
              </a:p>
            </p:txBody>
          </p:sp>
        </mc:Choice>
        <mc:Fallback xmlns="">
          <p:sp>
            <p:nvSpPr>
              <p:cNvPr id="5" name="Content Placeholder 4">
                <a:extLst>
                  <a:ext uri="{FF2B5EF4-FFF2-40B4-BE49-F238E27FC236}">
                    <a16:creationId xmlns:a16="http://schemas.microsoft.com/office/drawing/2014/main" id="{87F17AE4-432C-49F5-8CEA-2F3909113793}"/>
                  </a:ext>
                </a:extLst>
              </p:cNvPr>
              <p:cNvSpPr>
                <a:spLocks noGrp="1" noRot="1" noChangeAspect="1" noMove="1" noResize="1" noEditPoints="1" noAdjustHandles="1" noChangeArrowheads="1" noChangeShapeType="1" noTextEdit="1"/>
              </p:cNvSpPr>
              <p:nvPr>
                <p:ph idx="1"/>
              </p:nvPr>
            </p:nvSpPr>
            <p:spPr>
              <a:xfrm>
                <a:off x="628650" y="1825625"/>
                <a:ext cx="5619750" cy="4498975"/>
              </a:xfrm>
              <a:blipFill>
                <a:blip r:embed="rId2"/>
                <a:stretch>
                  <a:fillRect l="-1410" t="-2706"/>
                </a:stretch>
              </a:blipFill>
            </p:spPr>
            <p:txBody>
              <a:bodyPr/>
              <a:lstStyle/>
              <a:p>
                <a:r>
                  <a:rPr lang="en-US">
                    <a:noFill/>
                  </a:rPr>
                  <a:t> </a:t>
                </a:r>
              </a:p>
            </p:txBody>
          </p:sp>
        </mc:Fallback>
      </mc:AlternateContent>
      <p:sp>
        <p:nvSpPr>
          <p:cNvPr id="10" name="Left Brace 9">
            <a:extLst>
              <a:ext uri="{FF2B5EF4-FFF2-40B4-BE49-F238E27FC236}">
                <a16:creationId xmlns:a16="http://schemas.microsoft.com/office/drawing/2014/main" id="{5E1782C1-BF0A-4BE5-95FC-166AD4686715}"/>
              </a:ext>
              <a:ext uri="{C183D7F6-B498-43B3-948B-1728B52AA6E4}">
                <adec:decorative xmlns:adec="http://schemas.microsoft.com/office/drawing/2017/decorative" val="1"/>
              </a:ext>
            </a:extLst>
          </p:cNvPr>
          <p:cNvSpPr/>
          <p:nvPr/>
        </p:nvSpPr>
        <p:spPr>
          <a:xfrm>
            <a:off x="6086475" y="1447800"/>
            <a:ext cx="390525" cy="4800600"/>
          </a:xfrm>
          <a:prstGeom prst="leftBrace">
            <a:avLst>
              <a:gd name="adj1" fmla="val 8333"/>
              <a:gd name="adj2" fmla="val 8465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3" name="Group 12">
            <a:extLst>
              <a:ext uri="{FF2B5EF4-FFF2-40B4-BE49-F238E27FC236}">
                <a16:creationId xmlns:a16="http://schemas.microsoft.com/office/drawing/2014/main" id="{15ED49E9-D5F1-F019-0B5D-140664F22745}"/>
              </a:ext>
            </a:extLst>
          </p:cNvPr>
          <p:cNvGrpSpPr/>
          <p:nvPr/>
        </p:nvGrpSpPr>
        <p:grpSpPr>
          <a:xfrm>
            <a:off x="6545179" y="1676400"/>
            <a:ext cx="2177716" cy="2117558"/>
            <a:chOff x="6545179" y="1676400"/>
            <a:chExt cx="2177716" cy="2117558"/>
          </a:xfrm>
        </p:grpSpPr>
        <p:pic>
          <p:nvPicPr>
            <p:cNvPr id="11" name="Picture 10" descr="8puzzle">
              <a:extLst>
                <a:ext uri="{FF2B5EF4-FFF2-40B4-BE49-F238E27FC236}">
                  <a16:creationId xmlns:a16="http://schemas.microsoft.com/office/drawing/2014/main" id="{97912CDD-8F72-49FE-9E57-9C0E8B233D39}"/>
                </a:ext>
              </a:extLst>
            </p:cNvPr>
            <p:cNvPicPr>
              <a:picLocks noChangeAspect="1" noChangeArrowheads="1"/>
            </p:cNvPicPr>
            <p:nvPr/>
          </p:nvPicPr>
          <p:blipFill rotWithShape="1">
            <a:blip r:embed="rId3" cstate="print"/>
            <a:srcRect r="53691" b="11894"/>
            <a:stretch/>
          </p:blipFill>
          <p:spPr bwMode="auto">
            <a:xfrm>
              <a:off x="6705600" y="1801520"/>
              <a:ext cx="1971675" cy="1905000"/>
            </a:xfrm>
            <a:prstGeom prst="rect">
              <a:avLst/>
            </a:prstGeom>
            <a:solidFill>
              <a:srgbClr val="595959">
                <a:alpha val="60000"/>
              </a:srgbClr>
            </a:solidFill>
          </p:spPr>
        </p:pic>
        <p:sp>
          <p:nvSpPr>
            <p:cNvPr id="12" name="Freeform: Shape 11">
              <a:extLst>
                <a:ext uri="{FF2B5EF4-FFF2-40B4-BE49-F238E27FC236}">
                  <a16:creationId xmlns:a16="http://schemas.microsoft.com/office/drawing/2014/main" id="{C376CD92-F187-46E4-B620-25FCCFBC6755}"/>
                </a:ext>
              </a:extLst>
            </p:cNvPr>
            <p:cNvSpPr/>
            <p:nvPr/>
          </p:nvSpPr>
          <p:spPr>
            <a:xfrm>
              <a:off x="6545179" y="1676400"/>
              <a:ext cx="2177716" cy="2117558"/>
            </a:xfrm>
            <a:custGeom>
              <a:avLst/>
              <a:gdLst>
                <a:gd name="connsiteX0" fmla="*/ 36095 w 2177716"/>
                <a:gd name="connsiteY0" fmla="*/ 794084 h 2117558"/>
                <a:gd name="connsiteX1" fmla="*/ 36095 w 2177716"/>
                <a:gd name="connsiteY1" fmla="*/ 794084 h 2117558"/>
                <a:gd name="connsiteX2" fmla="*/ 830179 w 2177716"/>
                <a:gd name="connsiteY2" fmla="*/ 794084 h 2117558"/>
                <a:gd name="connsiteX3" fmla="*/ 842210 w 2177716"/>
                <a:gd name="connsiteY3" fmla="*/ 794084 h 2117558"/>
                <a:gd name="connsiteX4" fmla="*/ 806116 w 2177716"/>
                <a:gd name="connsiteY4" fmla="*/ 0 h 2117558"/>
                <a:gd name="connsiteX5" fmla="*/ 2177716 w 2177716"/>
                <a:gd name="connsiteY5" fmla="*/ 0 h 2117558"/>
                <a:gd name="connsiteX6" fmla="*/ 2153653 w 2177716"/>
                <a:gd name="connsiteY6" fmla="*/ 2117558 h 2117558"/>
                <a:gd name="connsiteX7" fmla="*/ 0 w 2177716"/>
                <a:gd name="connsiteY7" fmla="*/ 2057400 h 2117558"/>
                <a:gd name="connsiteX8" fmla="*/ 36095 w 2177716"/>
                <a:gd name="connsiteY8" fmla="*/ 794084 h 2117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7716" h="2117558">
                  <a:moveTo>
                    <a:pt x="36095" y="794084"/>
                  </a:moveTo>
                  <a:lnTo>
                    <a:pt x="36095" y="794084"/>
                  </a:lnTo>
                  <a:lnTo>
                    <a:pt x="830179" y="794084"/>
                  </a:lnTo>
                  <a:lnTo>
                    <a:pt x="842210" y="794084"/>
                  </a:lnTo>
                  <a:lnTo>
                    <a:pt x="806116" y="0"/>
                  </a:lnTo>
                  <a:lnTo>
                    <a:pt x="2177716" y="0"/>
                  </a:lnTo>
                  <a:lnTo>
                    <a:pt x="2153653" y="2117558"/>
                  </a:lnTo>
                  <a:lnTo>
                    <a:pt x="0" y="2057400"/>
                  </a:lnTo>
                  <a:lnTo>
                    <a:pt x="36095" y="794084"/>
                  </a:lnTo>
                  <a:close/>
                </a:path>
              </a:pathLst>
            </a:custGeom>
            <a:solidFill>
              <a:srgbClr val="595959">
                <a:alpha val="6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9" name="Callout: Line 8">
                <a:extLst>
                  <a:ext uri="{FF2B5EF4-FFF2-40B4-BE49-F238E27FC236}">
                    <a16:creationId xmlns:a16="http://schemas.microsoft.com/office/drawing/2014/main" id="{B16A669B-70B8-4B63-8621-7C6C0184EEBE}"/>
                  </a:ext>
                </a:extLst>
              </p:cNvPr>
              <p:cNvSpPr/>
              <p:nvPr/>
            </p:nvSpPr>
            <p:spPr>
              <a:xfrm>
                <a:off x="6569242" y="4119563"/>
                <a:ext cx="2209800" cy="2128838"/>
              </a:xfrm>
              <a:prstGeom prst="borderCallout1">
                <a:avLst>
                  <a:gd name="adj1" fmla="val 3545"/>
                  <a:gd name="adj2" fmla="val 14534"/>
                  <a:gd name="adj3" fmla="val -93348"/>
                  <a:gd name="adj4" fmla="val 199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i="1" dirty="0" smtClean="0">
                          <a:latin typeface="Cambria Math" panose="02040503050406030204" pitchFamily="18" charset="0"/>
                        </a:rPr>
                        <m:t>𝑃𝑒𝑟𝑐𝑒𝑝𝑡</m:t>
                      </m:r>
                      <m:d>
                        <m:dPr>
                          <m:ctrlPr>
                            <a:rPr lang="en-US" i="1" dirty="0">
                              <a:latin typeface="Cambria Math" panose="02040503050406030204" pitchFamily="18" charset="0"/>
                            </a:rPr>
                          </m:ctrlPr>
                        </m:dPr>
                        <m:e>
                          <m:r>
                            <a:rPr lang="en-US" i="1" dirty="0">
                              <a:latin typeface="Cambria Math" panose="02040503050406030204" pitchFamily="18" charset="0"/>
                            </a:rPr>
                            <m:t>𝑠</m:t>
                          </m:r>
                        </m:e>
                      </m:d>
                      <m:r>
                        <a:rPr lang="en-US" b="0" i="1" dirty="0" smtClean="0">
                          <a:latin typeface="Cambria Math" panose="02040503050406030204" pitchFamily="18" charset="0"/>
                        </a:rPr>
                        <m:t>=</m:t>
                      </m:r>
                      <m:r>
                        <a:rPr lang="en-US" b="0" i="1" dirty="0" smtClean="0">
                          <a:latin typeface="Cambria Math" panose="02040503050406030204" pitchFamily="18" charset="0"/>
                        </a:rPr>
                        <m:t>𝑇𝑖𝑙𝑒</m:t>
                      </m:r>
                      <m:r>
                        <a:rPr lang="en-US" b="0" i="1" dirty="0" smtClean="0">
                          <a:latin typeface="Cambria Math" panose="02040503050406030204" pitchFamily="18" charset="0"/>
                        </a:rPr>
                        <m:t>7</m:t>
                      </m:r>
                    </m:oMath>
                  </m:oMathPara>
                </a14:m>
                <a:endParaRPr lang="en-US" dirty="0"/>
              </a:p>
              <a:p>
                <a:pPr algn="ctr"/>
                <a:endParaRPr lang="en-US" dirty="0"/>
              </a:p>
              <a:p>
                <a:pPr algn="ctr"/>
                <a:r>
                  <a:rPr lang="en-US" b="1" dirty="0"/>
                  <a:t>Problem</a:t>
                </a:r>
                <a:r>
                  <a:rPr lang="en-US" dirty="0"/>
                  <a:t>: Many states (different order of the hidden tiles) can produce the same observation!</a:t>
                </a:r>
              </a:p>
            </p:txBody>
          </p:sp>
        </mc:Choice>
        <mc:Fallback xmlns="">
          <p:sp>
            <p:nvSpPr>
              <p:cNvPr id="9" name="Callout: Line 8">
                <a:extLst>
                  <a:ext uri="{FF2B5EF4-FFF2-40B4-BE49-F238E27FC236}">
                    <a16:creationId xmlns:a16="http://schemas.microsoft.com/office/drawing/2014/main" id="{B16A669B-70B8-4B63-8621-7C6C0184EEBE}"/>
                  </a:ext>
                </a:extLst>
              </p:cNvPr>
              <p:cNvSpPr>
                <a:spLocks noRot="1" noChangeAspect="1" noMove="1" noResize="1" noEditPoints="1" noAdjustHandles="1" noChangeArrowheads="1" noChangeShapeType="1" noTextEdit="1"/>
              </p:cNvSpPr>
              <p:nvPr/>
            </p:nvSpPr>
            <p:spPr>
              <a:xfrm>
                <a:off x="6569242" y="4119563"/>
                <a:ext cx="2209800" cy="2128838"/>
              </a:xfrm>
              <a:prstGeom prst="borderCallout1">
                <a:avLst>
                  <a:gd name="adj1" fmla="val 3545"/>
                  <a:gd name="adj2" fmla="val 14534"/>
                  <a:gd name="adj3" fmla="val -93348"/>
                  <a:gd name="adj4" fmla="val 19924"/>
                </a:avLst>
              </a:prstGeom>
              <a:blipFill>
                <a:blip r:embed="rId4"/>
                <a:stretch>
                  <a:fillRect l="-2198" r="-3846" b="-739"/>
                </a:stretch>
              </a:blipFill>
            </p:spPr>
            <p:txBody>
              <a:bodyPr/>
              <a:lstStyle/>
              <a:p>
                <a:r>
                  <a:rPr lang="en-US">
                    <a:noFill/>
                  </a:rPr>
                  <a:t> </a:t>
                </a:r>
              </a:p>
            </p:txBody>
          </p:sp>
        </mc:Fallback>
      </mc:AlternateContent>
    </p:spTree>
    <p:extLst>
      <p:ext uri="{BB962C8B-B14F-4D97-AF65-F5344CB8AC3E}">
        <p14:creationId xmlns:p14="http://schemas.microsoft.com/office/powerpoint/2010/main" val="159027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0" grpId="0" animBg="1"/>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79B95-6F35-4FAC-88CE-9AB8D74632D5}"/>
              </a:ext>
            </a:extLst>
          </p:cNvPr>
          <p:cNvSpPr>
            <a:spLocks noGrp="1"/>
          </p:cNvSpPr>
          <p:nvPr>
            <p:ph type="title"/>
          </p:nvPr>
        </p:nvSpPr>
        <p:spPr>
          <a:xfrm>
            <a:off x="628650" y="365126"/>
            <a:ext cx="5391150" cy="1325563"/>
          </a:xfrm>
        </p:spPr>
        <p:txBody>
          <a:bodyPr>
            <a:normAutofit/>
          </a:bodyPr>
          <a:lstStyle/>
          <a:p>
            <a:r>
              <a:rPr lang="en-US" sz="3600" dirty="0"/>
              <a:t>Use Observations to Learn About the State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58F343-B8DA-4799-A592-799447A9B156}"/>
                  </a:ext>
                </a:extLst>
              </p:cNvPr>
              <p:cNvSpPr>
                <a:spLocks noGrp="1"/>
              </p:cNvSpPr>
              <p:nvPr>
                <p:ph idx="1"/>
              </p:nvPr>
            </p:nvSpPr>
            <p:spPr>
              <a:xfrm>
                <a:off x="504825" y="2691272"/>
                <a:ext cx="8134350" cy="3801601"/>
              </a:xfrm>
            </p:spPr>
            <p:txBody>
              <a:bodyPr>
                <a:normAutofit fontScale="55000" lnSpcReduction="20000"/>
              </a:bodyPr>
              <a:lstStyle/>
              <a:p>
                <a:pPr marL="0" indent="0">
                  <a:buNone/>
                </a:pPr>
                <a:r>
                  <a:rPr lang="en-US" sz="3300" dirty="0"/>
                  <a:t>Assume we have a current belief state </a:t>
                </a:r>
                <a14:m>
                  <m:oMath xmlns:m="http://schemas.openxmlformats.org/officeDocument/2006/math">
                    <m:r>
                      <a:rPr lang="en-US" sz="3300" i="1" dirty="0">
                        <a:latin typeface="Cambria Math" panose="02040503050406030204" pitchFamily="18" charset="0"/>
                      </a:rPr>
                      <m:t>𝑏</m:t>
                    </m:r>
                  </m:oMath>
                </a14:m>
                <a:r>
                  <a:rPr lang="en-US" sz="3300" dirty="0"/>
                  <a:t> (i.e., the set of states we could be in).</a:t>
                </a:r>
              </a:p>
              <a:p>
                <a:pPr marL="0" indent="0">
                  <a:buNone/>
                </a:pPr>
                <a:r>
                  <a:rPr lang="en-US" sz="3300" b="1" dirty="0">
                    <a:solidFill>
                      <a:schemeClr val="accent1"/>
                    </a:solidFill>
                  </a:rPr>
                  <a:t>1. Prediction for action: </a:t>
                </a:r>
                <a:r>
                  <a:rPr lang="en-US" sz="3300" dirty="0"/>
                  <a:t>Choose an action </a:t>
                </a:r>
                <a14:m>
                  <m:oMath xmlns:m="http://schemas.openxmlformats.org/officeDocument/2006/math">
                    <m:r>
                      <a:rPr lang="en-US" sz="3300" i="1" dirty="0">
                        <a:latin typeface="Cambria Math" panose="02040503050406030204" pitchFamily="18" charset="0"/>
                      </a:rPr>
                      <m:t>𝑎</m:t>
                    </m:r>
                  </m:oMath>
                </a14:m>
                <a:r>
                  <a:rPr lang="en-US" sz="3300" dirty="0"/>
                  <a:t> and compute a new belief state that results from the action using the transition model.</a:t>
                </a:r>
              </a:p>
              <a:p>
                <a:pPr marL="0" indent="0">
                  <a:buNone/>
                </a:pPr>
                <a14:m>
                  <m:oMathPara xmlns:m="http://schemas.openxmlformats.org/officeDocument/2006/math">
                    <m:oMath>
                      <m:acc>
                        <m:accPr>
                          <m:chr m:val="̂"/>
                          <m:ctrlPr>
                            <a:rPr lang="en-US" sz="3300" b="0" i="1" smtClean="0">
                              <a:latin typeface="Cambria Math" panose="02040503050406030204" pitchFamily="18" charset="0"/>
                            </a:rPr>
                          </m:ctrlPr>
                        </m:accPr>
                        <m:e>
                          <m:r>
                            <a:rPr lang="en-US" sz="3300" b="0" i="1" smtClean="0">
                              <a:latin typeface="Cambria Math" panose="02040503050406030204" pitchFamily="18" charset="0"/>
                            </a:rPr>
                            <m:t>𝑏</m:t>
                          </m:r>
                        </m:e>
                      </m:acc>
                      <m:r>
                        <a:rPr lang="en-US" sz="3300" b="0" i="1" dirty="0" smtClean="0">
                          <a:latin typeface="Cambria Math" panose="02040503050406030204" pitchFamily="18" charset="0"/>
                        </a:rPr>
                        <m:t>=</m:t>
                      </m:r>
                      <m:r>
                        <a:rPr lang="en-US" sz="3300" b="0" i="1" dirty="0" smtClean="0">
                          <a:latin typeface="Cambria Math" panose="02040503050406030204" pitchFamily="18" charset="0"/>
                        </a:rPr>
                        <m:t>𝑃𝑟𝑒𝑑𝑖𝑐𝑡</m:t>
                      </m:r>
                      <m:d>
                        <m:dPr>
                          <m:ctrlPr>
                            <a:rPr lang="en-US" sz="3300" b="0" i="1" dirty="0" smtClean="0">
                              <a:latin typeface="Cambria Math" panose="02040503050406030204" pitchFamily="18" charset="0"/>
                            </a:rPr>
                          </m:ctrlPr>
                        </m:dPr>
                        <m:e>
                          <m:r>
                            <a:rPr lang="en-US" sz="3300" b="0" i="1" dirty="0" smtClean="0">
                              <a:latin typeface="Cambria Math" panose="02040503050406030204" pitchFamily="18" charset="0"/>
                            </a:rPr>
                            <m:t>𝑏</m:t>
                          </m:r>
                          <m:r>
                            <a:rPr lang="en-US" sz="3300" b="0" i="1" dirty="0" smtClean="0">
                              <a:latin typeface="Cambria Math" panose="02040503050406030204" pitchFamily="18" charset="0"/>
                            </a:rPr>
                            <m:t>,</m:t>
                          </m:r>
                          <m:r>
                            <a:rPr lang="en-US" sz="3300" b="0" i="1" dirty="0" smtClean="0">
                              <a:latin typeface="Cambria Math" panose="02040503050406030204" pitchFamily="18" charset="0"/>
                            </a:rPr>
                            <m:t>𝑎</m:t>
                          </m:r>
                        </m:e>
                      </m:d>
                      <m:r>
                        <a:rPr lang="en-US" sz="3300" b="0" i="1" dirty="0" smtClean="0">
                          <a:latin typeface="Cambria Math" panose="02040503050406030204" pitchFamily="18" charset="0"/>
                        </a:rPr>
                        <m:t>=</m:t>
                      </m:r>
                      <m:nary>
                        <m:naryPr>
                          <m:chr m:val="⋃"/>
                          <m:ctrlPr>
                            <a:rPr lang="en-US" sz="3300" b="0" i="1" dirty="0" smtClean="0">
                              <a:latin typeface="Cambria Math" panose="02040503050406030204" pitchFamily="18" charset="0"/>
                            </a:rPr>
                          </m:ctrlPr>
                        </m:naryPr>
                        <m:sub>
                          <m:r>
                            <m:rPr>
                              <m:brk m:alnAt="23"/>
                            </m:rPr>
                            <a:rPr lang="en-US" sz="3300" b="0" i="1" dirty="0" smtClean="0">
                              <a:latin typeface="Cambria Math" panose="02040503050406030204" pitchFamily="18" charset="0"/>
                            </a:rPr>
                            <m:t>𝑠</m:t>
                          </m:r>
                          <m:r>
                            <a:rPr lang="en-US" sz="3300" b="0" i="1" dirty="0" smtClean="0">
                              <a:latin typeface="Cambria Math" panose="02040503050406030204" pitchFamily="18" charset="0"/>
                            </a:rPr>
                            <m:t>∈</m:t>
                          </m:r>
                          <m:r>
                            <a:rPr lang="en-US" sz="3300" b="0" i="1" dirty="0" smtClean="0">
                              <a:latin typeface="Cambria Math" panose="02040503050406030204" pitchFamily="18" charset="0"/>
                            </a:rPr>
                            <m:t>𝑏</m:t>
                          </m:r>
                        </m:sub>
                        <m:sup/>
                        <m:e>
                          <m:r>
                            <a:rPr lang="en-US" sz="3300" b="0" i="1" dirty="0" smtClean="0">
                              <a:latin typeface="Cambria Math" panose="02040503050406030204" pitchFamily="18" charset="0"/>
                            </a:rPr>
                            <m:t>𝑅𝑒𝑠𝑢𝑙𝑡</m:t>
                          </m:r>
                          <m:r>
                            <a:rPr lang="en-US" sz="3300" b="0" i="1" dirty="0" smtClean="0">
                              <a:latin typeface="Cambria Math" panose="02040503050406030204" pitchFamily="18" charset="0"/>
                            </a:rPr>
                            <m:t>(</m:t>
                          </m:r>
                          <m:r>
                            <a:rPr lang="en-US" sz="3300" b="0" i="1" dirty="0" smtClean="0">
                              <a:latin typeface="Cambria Math" panose="02040503050406030204" pitchFamily="18" charset="0"/>
                            </a:rPr>
                            <m:t>𝑠</m:t>
                          </m:r>
                          <m:r>
                            <a:rPr lang="en-US" sz="3300" b="0" i="1" dirty="0" smtClean="0">
                              <a:latin typeface="Cambria Math" panose="02040503050406030204" pitchFamily="18" charset="0"/>
                            </a:rPr>
                            <m:t>,</m:t>
                          </m:r>
                          <m:r>
                            <a:rPr lang="en-US" sz="3300" b="0" i="1" dirty="0" smtClean="0">
                              <a:latin typeface="Cambria Math" panose="02040503050406030204" pitchFamily="18" charset="0"/>
                            </a:rPr>
                            <m:t>𝑎</m:t>
                          </m:r>
                          <m:r>
                            <a:rPr lang="en-US" sz="3300" b="0" i="1" dirty="0" smtClean="0">
                              <a:latin typeface="Cambria Math" panose="02040503050406030204" pitchFamily="18" charset="0"/>
                            </a:rPr>
                            <m:t>)</m:t>
                          </m:r>
                        </m:e>
                      </m:nary>
                    </m:oMath>
                  </m:oMathPara>
                </a14:m>
                <a:endParaRPr lang="en-US" sz="3300" dirty="0"/>
              </a:p>
              <a:p>
                <a:pPr marL="0" indent="0">
                  <a:buNone/>
                </a:pPr>
                <a:r>
                  <a:rPr lang="en-US" sz="3300" b="1" dirty="0">
                    <a:solidFill>
                      <a:schemeClr val="accent4"/>
                    </a:solidFill>
                  </a:rPr>
                  <a:t>2. Update with observation</a:t>
                </a:r>
                <a:r>
                  <a:rPr lang="en-US" sz="3300" dirty="0"/>
                  <a:t>: You receive an observation </a:t>
                </a:r>
                <a14:m>
                  <m:oMath xmlns:m="http://schemas.openxmlformats.org/officeDocument/2006/math">
                    <m:r>
                      <a:rPr lang="en-US" sz="3300" i="1" dirty="0">
                        <a:latin typeface="Cambria Math" panose="02040503050406030204" pitchFamily="18" charset="0"/>
                      </a:rPr>
                      <m:t>𝑜</m:t>
                    </m:r>
                  </m:oMath>
                </a14:m>
                <a:r>
                  <a:rPr lang="en-US" sz="3300" dirty="0"/>
                  <a:t> and only keep states that are consistent with the new observation</a:t>
                </a:r>
                <a14:m>
                  <m:oMath xmlns:m="http://schemas.openxmlformats.org/officeDocument/2006/math">
                    <m:r>
                      <a:rPr lang="en-US" sz="3300" b="0" i="0" dirty="0" smtClean="0">
                        <a:latin typeface="Cambria Math" panose="02040503050406030204" pitchFamily="18" charset="0"/>
                      </a:rPr>
                      <m:t>.</m:t>
                    </m:r>
                  </m:oMath>
                </a14:m>
                <a:r>
                  <a:rPr lang="en-US" sz="3300" dirty="0"/>
                  <a:t> The filtered belief after observing </a:t>
                </a:r>
                <a14:m>
                  <m:oMath xmlns:m="http://schemas.openxmlformats.org/officeDocument/2006/math">
                    <m:r>
                      <a:rPr lang="en-US" sz="3300" i="1" dirty="0" smtClean="0">
                        <a:latin typeface="Cambria Math" panose="02040503050406030204" pitchFamily="18" charset="0"/>
                      </a:rPr>
                      <m:t>𝑜</m:t>
                    </m:r>
                  </m:oMath>
                </a14:m>
                <a:r>
                  <a:rPr lang="en-US" sz="3300" dirty="0"/>
                  <a:t> is:</a:t>
                </a:r>
              </a:p>
              <a:p>
                <a:pPr marL="0" indent="0">
                  <a:buNone/>
                </a:pPr>
                <a:endParaRPr lang="en-US" sz="3300" dirty="0"/>
              </a:p>
              <a:p>
                <a:pPr marL="0" indent="0">
                  <a:buNone/>
                </a:pPr>
                <a14:m>
                  <m:oMathPara xmlns:m="http://schemas.openxmlformats.org/officeDocument/2006/math">
                    <m:oMath>
                      <m:sSub>
                        <m:sSubPr>
                          <m:ctrlPr>
                            <a:rPr lang="en-US" sz="3300" b="0" i="1" dirty="0" smtClean="0">
                              <a:latin typeface="Cambria Math" panose="02040503050406030204" pitchFamily="18" charset="0"/>
                            </a:rPr>
                          </m:ctrlPr>
                        </m:sSubPr>
                        <m:e>
                          <m:r>
                            <a:rPr lang="en-US" sz="3300" b="0" i="1" dirty="0" smtClean="0">
                              <a:latin typeface="Cambria Math" panose="02040503050406030204" pitchFamily="18" charset="0"/>
                            </a:rPr>
                            <m:t>𝑏</m:t>
                          </m:r>
                        </m:e>
                        <m:sub>
                          <m:r>
                            <a:rPr lang="en-US" sz="3300" b="0" i="1" dirty="0" smtClean="0">
                              <a:latin typeface="Cambria Math" panose="02040503050406030204" pitchFamily="18" charset="0"/>
                            </a:rPr>
                            <m:t>𝑜</m:t>
                          </m:r>
                        </m:sub>
                      </m:sSub>
                      <m:r>
                        <a:rPr lang="en-US" sz="3300" i="1" dirty="0">
                          <a:latin typeface="Cambria Math" panose="02040503050406030204" pitchFamily="18" charset="0"/>
                        </a:rPr>
                        <m:t>=</m:t>
                      </m:r>
                      <m:r>
                        <a:rPr lang="en-US" sz="3300" b="0" i="1" dirty="0" smtClean="0">
                          <a:latin typeface="Cambria Math" panose="02040503050406030204" pitchFamily="18" charset="0"/>
                        </a:rPr>
                        <m:t>𝑈𝑝𝑑𝑎𝑡𝑒</m:t>
                      </m:r>
                      <m:d>
                        <m:dPr>
                          <m:ctrlPr>
                            <a:rPr lang="en-US" sz="3300" b="0" i="1" dirty="0" smtClean="0">
                              <a:latin typeface="Cambria Math" panose="02040503050406030204" pitchFamily="18" charset="0"/>
                            </a:rPr>
                          </m:ctrlPr>
                        </m:dPr>
                        <m:e>
                          <m:acc>
                            <m:accPr>
                              <m:chr m:val="̂"/>
                              <m:ctrlPr>
                                <a:rPr lang="en-US" sz="3300" b="0" i="1" dirty="0" smtClean="0">
                                  <a:latin typeface="Cambria Math" panose="02040503050406030204" pitchFamily="18" charset="0"/>
                                </a:rPr>
                              </m:ctrlPr>
                            </m:accPr>
                            <m:e>
                              <m:r>
                                <a:rPr lang="en-US" sz="3300" b="0" i="1" dirty="0" smtClean="0">
                                  <a:latin typeface="Cambria Math" panose="02040503050406030204" pitchFamily="18" charset="0"/>
                                </a:rPr>
                                <m:t>𝑏</m:t>
                              </m:r>
                            </m:e>
                          </m:acc>
                          <m:r>
                            <a:rPr lang="en-US" sz="3300" i="1" dirty="0">
                              <a:latin typeface="Cambria Math" panose="02040503050406030204" pitchFamily="18" charset="0"/>
                            </a:rPr>
                            <m:t>,</m:t>
                          </m:r>
                          <m:r>
                            <a:rPr lang="en-US" sz="3300" b="0" i="1" dirty="0" smtClean="0">
                              <a:latin typeface="Cambria Math" panose="02040503050406030204" pitchFamily="18" charset="0"/>
                            </a:rPr>
                            <m:t>𝑜</m:t>
                          </m:r>
                        </m:e>
                      </m:d>
                      <m:r>
                        <a:rPr lang="en-US" sz="3300" i="1" dirty="0">
                          <a:latin typeface="Cambria Math" panose="02040503050406030204" pitchFamily="18" charset="0"/>
                        </a:rPr>
                        <m:t>=</m:t>
                      </m:r>
                      <m:r>
                        <a:rPr lang="en-US" sz="3300" b="0" i="1" dirty="0" smtClean="0">
                          <a:latin typeface="Cambria Math" panose="02040503050406030204" pitchFamily="18" charset="0"/>
                        </a:rPr>
                        <m:t>{</m:t>
                      </m:r>
                      <m:r>
                        <a:rPr lang="en-US" sz="3300" b="0" i="1" dirty="0" smtClean="0">
                          <a:latin typeface="Cambria Math" panose="02040503050406030204" pitchFamily="18" charset="0"/>
                        </a:rPr>
                        <m:t>𝑠</m:t>
                      </m:r>
                      <m:r>
                        <a:rPr lang="en-US" sz="3300" b="0" i="1" dirty="0" smtClean="0">
                          <a:latin typeface="Cambria Math" panose="02040503050406030204" pitchFamily="18" charset="0"/>
                        </a:rPr>
                        <m:t> : </m:t>
                      </m:r>
                      <m:r>
                        <a:rPr lang="en-US" sz="3300" i="1" dirty="0">
                          <a:latin typeface="Cambria Math" panose="02040503050406030204" pitchFamily="18" charset="0"/>
                        </a:rPr>
                        <m:t>𝑠</m:t>
                      </m:r>
                      <m:r>
                        <a:rPr lang="en-US" sz="3300" i="1" dirty="0">
                          <a:latin typeface="Cambria Math" panose="02040503050406030204" pitchFamily="18" charset="0"/>
                        </a:rPr>
                        <m:t>∈</m:t>
                      </m:r>
                      <m:acc>
                        <m:accPr>
                          <m:chr m:val="̂"/>
                          <m:ctrlPr>
                            <a:rPr lang="en-US" sz="3300" i="1" dirty="0">
                              <a:latin typeface="Cambria Math" panose="02040503050406030204" pitchFamily="18" charset="0"/>
                            </a:rPr>
                          </m:ctrlPr>
                        </m:accPr>
                        <m:e>
                          <m:r>
                            <a:rPr lang="en-US" sz="3300" i="1" dirty="0">
                              <a:latin typeface="Cambria Math" panose="02040503050406030204" pitchFamily="18" charset="0"/>
                            </a:rPr>
                            <m:t>𝑏</m:t>
                          </m:r>
                        </m:e>
                      </m:acc>
                      <m:r>
                        <a:rPr lang="en-US" sz="3300" b="0" i="1" dirty="0" smtClean="0">
                          <a:latin typeface="Cambria Math" panose="02040503050406030204" pitchFamily="18" charset="0"/>
                        </a:rPr>
                        <m:t> </m:t>
                      </m:r>
                      <m:r>
                        <a:rPr lang="en-US" sz="3300" i="1" dirty="0">
                          <a:latin typeface="Cambria Math" panose="02040503050406030204" pitchFamily="18" charset="0"/>
                          <a:ea typeface="Cambria Math" panose="02040503050406030204" pitchFamily="18" charset="0"/>
                        </a:rPr>
                        <m:t>∧</m:t>
                      </m:r>
                      <m:r>
                        <a:rPr lang="en-US" sz="3300" b="0" i="1" dirty="0" smtClean="0">
                          <a:latin typeface="Cambria Math" panose="02040503050406030204" pitchFamily="18" charset="0"/>
                        </a:rPr>
                        <m:t> </m:t>
                      </m:r>
                      <m:r>
                        <a:rPr lang="en-US" sz="3300" i="1" dirty="0">
                          <a:latin typeface="Cambria Math" panose="02040503050406030204" pitchFamily="18" charset="0"/>
                        </a:rPr>
                        <m:t>𝑃</m:t>
                      </m:r>
                      <m:r>
                        <a:rPr lang="en-US" sz="3300" b="0" i="1" dirty="0" smtClean="0">
                          <a:latin typeface="Cambria Math" panose="02040503050406030204" pitchFamily="18" charset="0"/>
                        </a:rPr>
                        <m:t>𝑒𝑟𝑐𝑒𝑝𝑡</m:t>
                      </m:r>
                      <m:d>
                        <m:dPr>
                          <m:ctrlPr>
                            <a:rPr lang="en-US" sz="3300" b="0" i="1" dirty="0" smtClean="0">
                              <a:latin typeface="Cambria Math" panose="02040503050406030204" pitchFamily="18" charset="0"/>
                            </a:rPr>
                          </m:ctrlPr>
                        </m:dPr>
                        <m:e>
                          <m:r>
                            <a:rPr lang="en-US" sz="3300" b="0" i="1" dirty="0" smtClean="0">
                              <a:latin typeface="Cambria Math" panose="02040503050406030204" pitchFamily="18" charset="0"/>
                            </a:rPr>
                            <m:t>𝑠</m:t>
                          </m:r>
                        </m:e>
                      </m:d>
                      <m:r>
                        <a:rPr lang="en-US" sz="3300" b="0" i="1" dirty="0" smtClean="0">
                          <a:latin typeface="Cambria Math" panose="02040503050406030204" pitchFamily="18" charset="0"/>
                        </a:rPr>
                        <m:t>=</m:t>
                      </m:r>
                      <m:r>
                        <a:rPr lang="en-US" sz="3300" b="0" i="1" dirty="0" smtClean="0">
                          <a:latin typeface="Cambria Math" panose="02040503050406030204" pitchFamily="18" charset="0"/>
                        </a:rPr>
                        <m:t>𝑜</m:t>
                      </m:r>
                      <m:r>
                        <a:rPr lang="en-US" sz="3300" b="0" i="1" dirty="0" smtClean="0">
                          <a:latin typeface="Cambria Math" panose="02040503050406030204" pitchFamily="18" charset="0"/>
                        </a:rPr>
                        <m:t>}</m:t>
                      </m:r>
                    </m:oMath>
                  </m:oMathPara>
                </a14:m>
                <a:endParaRPr lang="en-US" sz="3300" dirty="0"/>
              </a:p>
              <a:p>
                <a:pPr marL="0" indent="0">
                  <a:buNone/>
                </a:pPr>
                <a:endParaRPr lang="en-US" sz="3300" dirty="0"/>
              </a:p>
              <a:p>
                <a:pPr marL="0" indent="0">
                  <a:buNone/>
                </a:pPr>
                <a:endParaRPr lang="en-US" sz="3300" dirty="0"/>
              </a:p>
              <a:p>
                <a:pPr marL="0" indent="0">
                  <a:buNone/>
                </a:pPr>
                <a:r>
                  <a:rPr lang="en-US" sz="3300" dirty="0"/>
                  <a:t>Writing both steps as one update:                </a:t>
                </a:r>
                <a14:m>
                  <m:oMath xmlns:m="http://schemas.openxmlformats.org/officeDocument/2006/math">
                    <m:r>
                      <a:rPr lang="en-US" sz="3300" i="1" dirty="0">
                        <a:latin typeface="Cambria Math" panose="02040503050406030204" pitchFamily="18" charset="0"/>
                      </a:rPr>
                      <m:t>𝑏</m:t>
                    </m:r>
                    <m:r>
                      <a:rPr lang="en-US" sz="3300" i="1" dirty="0">
                        <a:latin typeface="Cambria Math" panose="02040503050406030204" pitchFamily="18" charset="0"/>
                        <a:ea typeface="Cambria Math" panose="02040503050406030204" pitchFamily="18" charset="0"/>
                      </a:rPr>
                      <m:t>←</m:t>
                    </m:r>
                    <m:r>
                      <a:rPr lang="en-US" sz="3300" i="1" dirty="0">
                        <a:latin typeface="Cambria Math" panose="02040503050406030204" pitchFamily="18" charset="0"/>
                      </a:rPr>
                      <m:t>𝑈𝑝𝑑𝑎𝑡𝑒</m:t>
                    </m:r>
                    <m:d>
                      <m:dPr>
                        <m:ctrlPr>
                          <a:rPr lang="en-US" sz="3300" i="1" dirty="0">
                            <a:latin typeface="Cambria Math" panose="02040503050406030204" pitchFamily="18" charset="0"/>
                          </a:rPr>
                        </m:ctrlPr>
                      </m:dPr>
                      <m:e>
                        <m:r>
                          <a:rPr lang="en-US" sz="3300" i="1" dirty="0">
                            <a:latin typeface="Cambria Math" panose="02040503050406030204" pitchFamily="18" charset="0"/>
                          </a:rPr>
                          <m:t>𝑃𝑟𝑒𝑑𝑖𝑐𝑡</m:t>
                        </m:r>
                        <m:r>
                          <a:rPr lang="en-US" sz="3300" i="1" dirty="0">
                            <a:latin typeface="Cambria Math" panose="02040503050406030204" pitchFamily="18" charset="0"/>
                          </a:rPr>
                          <m:t>(</m:t>
                        </m:r>
                        <m:r>
                          <a:rPr lang="en-US" sz="3300" i="1" dirty="0">
                            <a:latin typeface="Cambria Math" panose="02040503050406030204" pitchFamily="18" charset="0"/>
                          </a:rPr>
                          <m:t>𝑏</m:t>
                        </m:r>
                        <m:r>
                          <a:rPr lang="en-US" sz="3300" i="1" dirty="0">
                            <a:latin typeface="Cambria Math" panose="02040503050406030204" pitchFamily="18" charset="0"/>
                          </a:rPr>
                          <m:t>,</m:t>
                        </m:r>
                        <m:r>
                          <a:rPr lang="en-US" sz="3300" i="1" dirty="0">
                            <a:latin typeface="Cambria Math" panose="02040503050406030204" pitchFamily="18" charset="0"/>
                          </a:rPr>
                          <m:t>𝑎</m:t>
                        </m:r>
                        <m:r>
                          <a:rPr lang="en-US" sz="3300" i="1" dirty="0">
                            <a:latin typeface="Cambria Math" panose="02040503050406030204" pitchFamily="18" charset="0"/>
                          </a:rPr>
                          <m:t>),</m:t>
                        </m:r>
                        <m:r>
                          <a:rPr lang="en-US" sz="3300" i="1" dirty="0">
                            <a:latin typeface="Cambria Math" panose="02040503050406030204" pitchFamily="18" charset="0"/>
                          </a:rPr>
                          <m:t>𝑜</m:t>
                        </m:r>
                      </m:e>
                    </m:d>
                  </m:oMath>
                </a14:m>
                <a:endParaRPr lang="en-US" sz="3300" dirty="0"/>
              </a:p>
              <a:p>
                <a:pPr marL="0" indent="0">
                  <a:buNone/>
                </a:pPr>
                <a:endParaRPr lang="en-US" sz="340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6858F343-B8DA-4799-A592-799447A9B156}"/>
                  </a:ext>
                </a:extLst>
              </p:cNvPr>
              <p:cNvSpPr>
                <a:spLocks noGrp="1" noRot="1" noChangeAspect="1" noMove="1" noResize="1" noEditPoints="1" noAdjustHandles="1" noChangeArrowheads="1" noChangeShapeType="1" noTextEdit="1"/>
              </p:cNvSpPr>
              <p:nvPr>
                <p:ph idx="1"/>
              </p:nvPr>
            </p:nvSpPr>
            <p:spPr>
              <a:xfrm>
                <a:off x="504825" y="2691272"/>
                <a:ext cx="8134350" cy="3801601"/>
              </a:xfrm>
              <a:blipFill>
                <a:blip r:embed="rId2"/>
                <a:stretch>
                  <a:fillRect l="-675" t="-2564"/>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EE6B9A1C-7AA0-4CAB-AEB8-03D3DD62B32F}"/>
              </a:ext>
              <a:ext uri="{C183D7F6-B498-43B3-948B-1728B52AA6E4}">
                <adec:decorative xmlns:adec="http://schemas.microsoft.com/office/drawing/2017/decorative" val="1"/>
              </a:ext>
            </a:extLst>
          </p:cNvPr>
          <p:cNvGrpSpPr/>
          <p:nvPr/>
        </p:nvGrpSpPr>
        <p:grpSpPr>
          <a:xfrm>
            <a:off x="6019800" y="365126"/>
            <a:ext cx="2743200" cy="1844674"/>
            <a:chOff x="6019800" y="365126"/>
            <a:chExt cx="2743200" cy="1844674"/>
          </a:xfrm>
        </p:grpSpPr>
        <mc:AlternateContent xmlns:mc="http://schemas.openxmlformats.org/markup-compatibility/2006" xmlns:a14="http://schemas.microsoft.com/office/drawing/2010/main">
          <mc:Choice Requires="a14">
            <p:graphicFrame>
              <p:nvGraphicFramePr>
                <p:cNvPr id="4" name="Diagram 3">
                  <a:extLst>
                    <a:ext uri="{FF2B5EF4-FFF2-40B4-BE49-F238E27FC236}">
                      <a16:creationId xmlns:a16="http://schemas.microsoft.com/office/drawing/2014/main" id="{901E2F0B-9FB5-4796-99A8-4ABD6E13301D}"/>
                    </a:ext>
                  </a:extLst>
                </p:cNvPr>
                <p:cNvGraphicFramePr/>
                <p:nvPr>
                  <p:extLst>
                    <p:ext uri="{D42A27DB-BD31-4B8C-83A1-F6EECF244321}">
                      <p14:modId xmlns:p14="http://schemas.microsoft.com/office/powerpoint/2010/main" val="15449596"/>
                    </p:ext>
                  </p:extLst>
                </p:nvPr>
              </p:nvGraphicFramePr>
              <p:xfrm>
                <a:off x="6019800" y="365126"/>
                <a:ext cx="2743200" cy="1844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4" name="Diagram 3">
                  <a:extLst>
                    <a:ext uri="{FF2B5EF4-FFF2-40B4-BE49-F238E27FC236}">
                      <a16:creationId xmlns:a16="http://schemas.microsoft.com/office/drawing/2014/main" id="{901E2F0B-9FB5-4796-99A8-4ABD6E13301D}"/>
                    </a:ext>
                  </a:extLst>
                </p:cNvPr>
                <p:cNvGraphicFramePr/>
                <p:nvPr>
                  <p:extLst>
                    <p:ext uri="{D42A27DB-BD31-4B8C-83A1-F6EECF244321}">
                      <p14:modId xmlns:p14="http://schemas.microsoft.com/office/powerpoint/2010/main" val="15449596"/>
                    </p:ext>
                  </p:extLst>
                </p:nvPr>
              </p:nvGraphicFramePr>
              <p:xfrm>
                <a:off x="6019800" y="365126"/>
                <a:ext cx="2743200" cy="184467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202CEAB6-241A-4FEC-A061-87C5B44C0466}"/>
                    </a:ext>
                  </a:extLst>
                </p:cNvPr>
                <p:cNvSpPr/>
                <p:nvPr/>
              </p:nvSpPr>
              <p:spPr>
                <a:xfrm>
                  <a:off x="7137452" y="995075"/>
                  <a:ext cx="507896" cy="584775"/>
                </a:xfrm>
                <a:prstGeom prst="rect">
                  <a:avLst/>
                </a:prstGeom>
              </p:spPr>
              <p:txBody>
                <a:bodyPr wrap="none">
                  <a:spAutoFit/>
                </a:bodyPr>
                <a:lstStyle/>
                <a:p>
                  <a:pPr/>
                  <a14:m>
                    <m:oMathPara xmlns:m="http://schemas.openxmlformats.org/officeDocument/2006/math">
                      <m:oMath>
                        <m:r>
                          <a:rPr lang="en-US" sz="3200" i="1" dirty="0">
                            <a:latin typeface="Cambria Math" panose="02040503050406030204" pitchFamily="18" charset="0"/>
                          </a:rPr>
                          <m:t>𝑏</m:t>
                        </m:r>
                      </m:oMath>
                    </m:oMathPara>
                  </a14:m>
                  <a:endParaRPr lang="en-US" sz="3200" dirty="0"/>
                </a:p>
              </p:txBody>
            </p:sp>
          </mc:Choice>
          <mc:Fallback xmlns="">
            <p:sp>
              <p:nvSpPr>
                <p:cNvPr id="5" name="Rectangle 4">
                  <a:extLst>
                    <a:ext uri="{FF2B5EF4-FFF2-40B4-BE49-F238E27FC236}">
                      <a16:creationId xmlns:a16="http://schemas.microsoft.com/office/drawing/2014/main" id="{202CEAB6-241A-4FEC-A061-87C5B44C0466}"/>
                    </a:ext>
                  </a:extLst>
                </p:cNvPr>
                <p:cNvSpPr>
                  <a:spLocks noRot="1" noChangeAspect="1" noMove="1" noResize="1" noEditPoints="1" noAdjustHandles="1" noChangeArrowheads="1" noChangeShapeType="1" noTextEdit="1"/>
                </p:cNvSpPr>
                <p:nvPr/>
              </p:nvSpPr>
              <p:spPr>
                <a:xfrm>
                  <a:off x="7137452" y="995075"/>
                  <a:ext cx="507896" cy="584775"/>
                </a:xfrm>
                <a:prstGeom prst="rect">
                  <a:avLst/>
                </a:prstGeom>
                <a:blipFill>
                  <a:blip r:embed="rId12"/>
                  <a:stretch>
                    <a:fillRect/>
                  </a:stretch>
                </a:blipFill>
              </p:spPr>
              <p:txBody>
                <a:bodyPr/>
                <a:lstStyle/>
                <a:p>
                  <a:r>
                    <a:rPr lang="en-US">
                      <a:noFill/>
                    </a:rPr>
                    <a:t> </a:t>
                  </a:r>
                </a:p>
              </p:txBody>
            </p:sp>
          </mc:Fallback>
        </mc:AlternateContent>
      </p:grpSp>
      <p:sp>
        <p:nvSpPr>
          <p:cNvPr id="8" name="TextBox 7">
            <a:extLst>
              <a:ext uri="{FF2B5EF4-FFF2-40B4-BE49-F238E27FC236}">
                <a16:creationId xmlns:a16="http://schemas.microsoft.com/office/drawing/2014/main" id="{34776AE2-497C-402F-AB68-502A2DFF8AD5}"/>
              </a:ext>
            </a:extLst>
          </p:cNvPr>
          <p:cNvSpPr txBox="1"/>
          <p:nvPr/>
        </p:nvSpPr>
        <p:spPr>
          <a:xfrm>
            <a:off x="504825" y="1670636"/>
            <a:ext cx="6200775" cy="646331"/>
          </a:xfrm>
          <a:prstGeom prst="rect">
            <a:avLst/>
          </a:prstGeom>
          <a:noFill/>
        </p:spPr>
        <p:txBody>
          <a:bodyPr wrap="square">
            <a:spAutoFit/>
          </a:bodyPr>
          <a:lstStyle/>
          <a:p>
            <a:r>
              <a:rPr lang="en-US" dirty="0"/>
              <a:t>The agents chooses an action and then receive an observation. </a:t>
            </a:r>
          </a:p>
          <a:p>
            <a:r>
              <a:rPr lang="en-US" b="1" dirty="0"/>
              <a:t>Idea</a:t>
            </a:r>
            <a:r>
              <a:rPr lang="en-US" dirty="0"/>
              <a:t>: Observations can be used to learn about the agent’s state.</a:t>
            </a:r>
          </a:p>
        </p:txBody>
      </p:sp>
    </p:spTree>
    <p:extLst>
      <p:ext uri="{BB962C8B-B14F-4D97-AF65-F5344CB8AC3E}">
        <p14:creationId xmlns:p14="http://schemas.microsoft.com/office/powerpoint/2010/main" val="655432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CDCD-0A79-4E3E-B230-97EC98F9F0F0}"/>
              </a:ext>
            </a:extLst>
          </p:cNvPr>
          <p:cNvSpPr>
            <a:spLocks noGrp="1"/>
          </p:cNvSpPr>
          <p:nvPr>
            <p:ph type="title"/>
          </p:nvPr>
        </p:nvSpPr>
        <p:spPr>
          <a:xfrm>
            <a:off x="628650" y="365126"/>
            <a:ext cx="5848350" cy="1325563"/>
          </a:xfrm>
        </p:spPr>
        <p:txBody>
          <a:bodyPr>
            <a:normAutofit/>
          </a:bodyPr>
          <a:lstStyle/>
          <a:p>
            <a:r>
              <a:rPr lang="en-US" sz="3600" dirty="0"/>
              <a:t>Example: Deterministic local sensing vacuum world</a:t>
            </a:r>
          </a:p>
        </p:txBody>
      </p:sp>
      <p:pic>
        <p:nvPicPr>
          <p:cNvPr id="11" name="Content Placeholder 10">
            <a:extLst>
              <a:ext uri="{FF2B5EF4-FFF2-40B4-BE49-F238E27FC236}">
                <a16:creationId xmlns:a16="http://schemas.microsoft.com/office/drawing/2014/main" id="{086BE2F3-6C20-4A68-9925-FB48F5D9DB2D}"/>
              </a:ext>
              <a:ext uri="{C183D7F6-B498-43B3-948B-1728B52AA6E4}">
                <adec:decorative xmlns:adec="http://schemas.microsoft.com/office/drawing/2017/decorative" val="1"/>
              </a:ext>
            </a:extLst>
          </p:cNvPr>
          <p:cNvPicPr>
            <a:picLocks noGrp="1" noChangeAspect="1"/>
          </p:cNvPicPr>
          <p:nvPr>
            <p:ph idx="1"/>
          </p:nvPr>
        </p:nvPicPr>
        <p:blipFill>
          <a:blip r:embed="rId3"/>
          <a:srcRect r="70054"/>
          <a:stretch>
            <a:fillRect/>
          </a:stretch>
        </p:blipFill>
        <p:spPr>
          <a:xfrm>
            <a:off x="2438400" y="3225849"/>
            <a:ext cx="1524000" cy="2403762"/>
          </a:xfrm>
          <a:prstGeom prst="rect">
            <a:avLst/>
          </a:prstGeom>
        </p:spPr>
      </p:pic>
      <p:sp>
        <p:nvSpPr>
          <p:cNvPr id="12" name="Arrow: Right 11">
            <a:extLst>
              <a:ext uri="{FF2B5EF4-FFF2-40B4-BE49-F238E27FC236}">
                <a16:creationId xmlns:a16="http://schemas.microsoft.com/office/drawing/2014/main" id="{B1DE3B16-F795-4690-B280-9B496B1A4E9B}"/>
              </a:ext>
            </a:extLst>
          </p:cNvPr>
          <p:cNvSpPr/>
          <p:nvPr/>
        </p:nvSpPr>
        <p:spPr>
          <a:xfrm>
            <a:off x="3336480" y="2137903"/>
            <a:ext cx="1667372" cy="1066800"/>
          </a:xfrm>
          <a:prstGeom prst="rightArrow">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sz="1600" dirty="0"/>
              <a:t>Predict for action a</a:t>
            </a:r>
          </a:p>
        </p:txBody>
      </p:sp>
      <mc:AlternateContent xmlns:mc="http://schemas.openxmlformats.org/markup-compatibility/2006" xmlns:a14="http://schemas.microsoft.com/office/drawing/2010/main">
        <mc:Choice Requires="a14">
          <p:sp>
            <p:nvSpPr>
              <p:cNvPr id="13" name="Arrow: Right 12">
                <a:extLst>
                  <a:ext uri="{FF2B5EF4-FFF2-40B4-BE49-F238E27FC236}">
                    <a16:creationId xmlns:a16="http://schemas.microsoft.com/office/drawing/2014/main" id="{0E393990-9C8D-4CE6-A989-D1BCB93D2335}"/>
                  </a:ext>
                </a:extLst>
              </p:cNvPr>
              <p:cNvSpPr/>
              <p:nvPr/>
            </p:nvSpPr>
            <p:spPr>
              <a:xfrm>
                <a:off x="5003852" y="2152192"/>
                <a:ext cx="1777948" cy="1066799"/>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1600" dirty="0"/>
                  <a:t>Update with observation </a:t>
                </a:r>
                <a14:m>
                  <m:oMath xmlns:m="http://schemas.openxmlformats.org/officeDocument/2006/math">
                    <m:r>
                      <a:rPr lang="en-US" sz="1600" i="1" dirty="0" smtClean="0">
                        <a:latin typeface="Cambria Math" panose="02040503050406030204" pitchFamily="18" charset="0"/>
                      </a:rPr>
                      <m:t>𝑜</m:t>
                    </m:r>
                  </m:oMath>
                </a14:m>
                <a:endParaRPr lang="en-US" sz="1600" dirty="0"/>
              </a:p>
            </p:txBody>
          </p:sp>
        </mc:Choice>
        <mc:Fallback xmlns="">
          <p:sp>
            <p:nvSpPr>
              <p:cNvPr id="13" name="Arrow: Right 12">
                <a:extLst>
                  <a:ext uri="{FF2B5EF4-FFF2-40B4-BE49-F238E27FC236}">
                    <a16:creationId xmlns:a16="http://schemas.microsoft.com/office/drawing/2014/main" id="{0E393990-9C8D-4CE6-A989-D1BCB93D2335}"/>
                  </a:ext>
                </a:extLst>
              </p:cNvPr>
              <p:cNvSpPr>
                <a:spLocks noRot="1" noChangeAspect="1" noMove="1" noResize="1" noEditPoints="1" noAdjustHandles="1" noChangeArrowheads="1" noChangeShapeType="1" noTextEdit="1"/>
              </p:cNvSpPr>
              <p:nvPr/>
            </p:nvSpPr>
            <p:spPr>
              <a:xfrm>
                <a:off x="5003852" y="2152192"/>
                <a:ext cx="1777948" cy="1066799"/>
              </a:xfrm>
              <a:prstGeom prst="rightArrow">
                <a:avLst/>
              </a:prstGeom>
              <a:blipFill>
                <a:blip r:embed="rId4"/>
                <a:stretch>
                  <a:fillRect/>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9125FF98-11EF-4CE3-B771-BFE42B1C3B0F}"/>
              </a:ext>
              <a:ext uri="{C183D7F6-B498-43B3-948B-1728B52AA6E4}">
                <adec:decorative xmlns:adec="http://schemas.microsoft.com/office/drawing/2017/decorative" val="1"/>
              </a:ext>
            </a:extLst>
          </p:cNvPr>
          <p:cNvSpPr/>
          <p:nvPr/>
        </p:nvSpPr>
        <p:spPr>
          <a:xfrm>
            <a:off x="5410200" y="4881103"/>
            <a:ext cx="693821" cy="260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B93B4253-A8FB-D677-E16B-DC0AEBCA0225}"/>
              </a:ext>
              <a:ext uri="{C183D7F6-B498-43B3-948B-1728B52AA6E4}">
                <adec:decorative xmlns:adec="http://schemas.microsoft.com/office/drawing/2017/decorative" val="1"/>
              </a:ext>
            </a:extLst>
          </p:cNvPr>
          <p:cNvGrpSpPr/>
          <p:nvPr/>
        </p:nvGrpSpPr>
        <p:grpSpPr>
          <a:xfrm>
            <a:off x="25400" y="1802401"/>
            <a:ext cx="2743200" cy="1844674"/>
            <a:chOff x="6019800" y="365126"/>
            <a:chExt cx="2743200" cy="1844674"/>
          </a:xfrm>
        </p:grpSpPr>
        <mc:AlternateContent xmlns:mc="http://schemas.openxmlformats.org/markup-compatibility/2006" xmlns:a14="http://schemas.microsoft.com/office/drawing/2010/main">
          <mc:Choice Requires="a14">
            <p:graphicFrame>
              <p:nvGraphicFramePr>
                <p:cNvPr id="5" name="Diagram 4">
                  <a:extLst>
                    <a:ext uri="{FF2B5EF4-FFF2-40B4-BE49-F238E27FC236}">
                      <a16:creationId xmlns:a16="http://schemas.microsoft.com/office/drawing/2014/main" id="{2A16B804-6BED-7B89-94F9-C2D88D1A2774}"/>
                    </a:ext>
                  </a:extLst>
                </p:cNvPr>
                <p:cNvGraphicFramePr/>
                <p:nvPr>
                  <p:extLst>
                    <p:ext uri="{D42A27DB-BD31-4B8C-83A1-F6EECF244321}">
                      <p14:modId xmlns:p14="http://schemas.microsoft.com/office/powerpoint/2010/main" val="1635062376"/>
                    </p:ext>
                  </p:extLst>
                </p:nvPr>
              </p:nvGraphicFramePr>
              <p:xfrm>
                <a:off x="6019800" y="365126"/>
                <a:ext cx="2743200" cy="184467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mc:Choice>
          <mc:Fallback xmlns="">
            <p:graphicFrame>
              <p:nvGraphicFramePr>
                <p:cNvPr id="5" name="Diagram 4">
                  <a:extLst>
                    <a:ext uri="{FF2B5EF4-FFF2-40B4-BE49-F238E27FC236}">
                      <a16:creationId xmlns:a16="http://schemas.microsoft.com/office/drawing/2014/main" id="{2A16B804-6BED-7B89-94F9-C2D88D1A2774}"/>
                    </a:ext>
                  </a:extLst>
                </p:cNvPr>
                <p:cNvGraphicFramePr/>
                <p:nvPr>
                  <p:extLst>
                    <p:ext uri="{D42A27DB-BD31-4B8C-83A1-F6EECF244321}">
                      <p14:modId xmlns:p14="http://schemas.microsoft.com/office/powerpoint/2010/main" val="1635062376"/>
                    </p:ext>
                  </p:extLst>
                </p:nvPr>
              </p:nvGraphicFramePr>
              <p:xfrm>
                <a:off x="6019800" y="365126"/>
                <a:ext cx="2743200" cy="1844674"/>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D6C1FC3-8F96-BFAB-8EC1-7FC92E38166A}"/>
                    </a:ext>
                  </a:extLst>
                </p:cNvPr>
                <p:cNvSpPr/>
                <p:nvPr/>
              </p:nvSpPr>
              <p:spPr>
                <a:xfrm>
                  <a:off x="7137452" y="995075"/>
                  <a:ext cx="507896" cy="584775"/>
                </a:xfrm>
                <a:prstGeom prst="rect">
                  <a:avLst/>
                </a:prstGeom>
              </p:spPr>
              <p:txBody>
                <a:bodyPr wrap="none">
                  <a:spAutoFit/>
                </a:bodyPr>
                <a:lstStyle/>
                <a:p>
                  <a:pPr/>
                  <a14:m>
                    <m:oMathPara xmlns:m="http://schemas.openxmlformats.org/officeDocument/2006/math">
                      <m:oMath>
                        <m:r>
                          <a:rPr lang="en-US" sz="3200" i="1" dirty="0">
                            <a:latin typeface="Cambria Math" panose="02040503050406030204" pitchFamily="18" charset="0"/>
                          </a:rPr>
                          <m:t>𝑏</m:t>
                        </m:r>
                      </m:oMath>
                    </m:oMathPara>
                  </a14:m>
                  <a:endParaRPr lang="en-US" sz="3200" dirty="0"/>
                </a:p>
              </p:txBody>
            </p:sp>
          </mc:Choice>
          <mc:Fallback xmlns="">
            <p:sp>
              <p:nvSpPr>
                <p:cNvPr id="5" name="Rectangle 4">
                  <a:extLst>
                    <a:ext uri="{FF2B5EF4-FFF2-40B4-BE49-F238E27FC236}">
                      <a16:creationId xmlns:a16="http://schemas.microsoft.com/office/drawing/2014/main" id="{202CEAB6-241A-4FEC-A061-87C5B44C0466}"/>
                    </a:ext>
                  </a:extLst>
                </p:cNvPr>
                <p:cNvSpPr>
                  <a:spLocks noRot="1" noChangeAspect="1" noMove="1" noResize="1" noEditPoints="1" noAdjustHandles="1" noChangeArrowheads="1" noChangeShapeType="1" noTextEdit="1"/>
                </p:cNvSpPr>
                <p:nvPr/>
              </p:nvSpPr>
              <p:spPr>
                <a:xfrm>
                  <a:off x="7137452" y="995075"/>
                  <a:ext cx="507896" cy="584775"/>
                </a:xfrm>
                <a:prstGeom prst="rect">
                  <a:avLst/>
                </a:prstGeom>
                <a:blipFill>
                  <a:blip r:embed="rId16"/>
                  <a:stretch>
                    <a:fillRect/>
                  </a:stretch>
                </a:blipFill>
              </p:spPr>
              <p:txBody>
                <a:bodyPr/>
                <a:lstStyle/>
                <a:p>
                  <a:r>
                    <a:rPr lang="en-US">
                      <a:noFill/>
                    </a:rPr>
                    <a:t> </a:t>
                  </a:r>
                </a:p>
              </p:txBody>
            </p:sp>
          </mc:Fallback>
        </mc:AlternateContent>
      </p:grpSp>
      <p:pic>
        <p:nvPicPr>
          <p:cNvPr id="24" name="Content Placeholder 10">
            <a:extLst>
              <a:ext uri="{FF2B5EF4-FFF2-40B4-BE49-F238E27FC236}">
                <a16:creationId xmlns:a16="http://schemas.microsoft.com/office/drawing/2014/main" id="{CB021F6C-D5E8-D583-33A3-D2CA05E94F51}"/>
              </a:ext>
              <a:ext uri="{C183D7F6-B498-43B3-948B-1728B52AA6E4}">
                <adec:decorative xmlns:adec="http://schemas.microsoft.com/office/drawing/2017/decorative" val="1"/>
              </a:ext>
            </a:extLst>
          </p:cNvPr>
          <p:cNvPicPr>
            <a:picLocks noChangeAspect="1"/>
          </p:cNvPicPr>
          <p:nvPr/>
        </p:nvPicPr>
        <p:blipFill>
          <a:blip r:embed="rId3"/>
          <a:srcRect r="36026"/>
          <a:stretch>
            <a:fillRect/>
          </a:stretch>
        </p:blipFill>
        <p:spPr>
          <a:xfrm>
            <a:off x="2438400" y="3225849"/>
            <a:ext cx="3255716" cy="2403762"/>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3F38142-CAE6-63B6-2B26-96F805232B2A}"/>
                  </a:ext>
                </a:extLst>
              </p:cNvPr>
              <p:cNvSpPr txBox="1"/>
              <p:nvPr/>
            </p:nvSpPr>
            <p:spPr>
              <a:xfrm>
                <a:off x="1864371" y="5541661"/>
                <a:ext cx="6352903" cy="646331"/>
              </a:xfrm>
              <a:prstGeom prst="rect">
                <a:avLst/>
              </a:prstGeom>
              <a:noFill/>
            </p:spPr>
            <p:txBody>
              <a:bodyPr wrap="square">
                <a:spAutoFit/>
              </a:bodyPr>
              <a:lstStyle/>
              <a:p>
                <a:pPr/>
                <a14:m>
                  <m:oMathPara xmlns:m="http://schemas.openxmlformats.org/officeDocument/2006/math">
                    <m:oMathParaPr>
                      <m:jc m:val="left"/>
                    </m:oMathParaPr>
                    <m:oMath>
                      <m:r>
                        <a:rPr lang="en-US" sz="1800" b="0" i="1" dirty="0" smtClean="0">
                          <a:latin typeface="Cambria Math" panose="02040503050406030204" pitchFamily="18" charset="0"/>
                        </a:rPr>
                        <m:t>𝑏</m:t>
                      </m:r>
                      <m:r>
                        <a:rPr lang="en-US" sz="1800" b="0" i="1" dirty="0" smtClean="0">
                          <a:latin typeface="Cambria Math" panose="02040503050406030204" pitchFamily="18" charset="0"/>
                          <a:ea typeface="Cambria Math" panose="02040503050406030204" pitchFamily="18" charset="0"/>
                        </a:rPr>
                        <m:t>←</m:t>
                      </m:r>
                      <m:r>
                        <a:rPr lang="en-US" sz="1800" i="1" dirty="0">
                          <a:latin typeface="Cambria Math" panose="02040503050406030204" pitchFamily="18" charset="0"/>
                        </a:rPr>
                        <m:t>𝑈𝑝𝑑𝑎𝑡𝑒</m:t>
                      </m:r>
                      <m:d>
                        <m:dPr>
                          <m:ctrlPr>
                            <a:rPr lang="en-US" sz="1800" b="0" i="1" dirty="0" smtClean="0">
                              <a:latin typeface="Cambria Math" panose="02040503050406030204" pitchFamily="18" charset="0"/>
                            </a:rPr>
                          </m:ctrlPr>
                        </m:dPr>
                        <m:e>
                          <m:r>
                            <a:rPr lang="en-US" sz="1800" b="0" i="1" dirty="0" smtClean="0">
                              <a:latin typeface="Cambria Math" panose="02040503050406030204" pitchFamily="18" charset="0"/>
                            </a:rPr>
                            <m:t>𝑃𝑟𝑒𝑑𝑖𝑐𝑡</m:t>
                          </m:r>
                          <m:d>
                            <m:dPr>
                              <m:ctrlPr>
                                <a:rPr lang="en-US" sz="1800" b="0" i="1" dirty="0" smtClean="0">
                                  <a:latin typeface="Cambria Math" panose="02040503050406030204" pitchFamily="18" charset="0"/>
                                </a:rPr>
                              </m:ctrlPr>
                            </m:dPr>
                            <m:e>
                              <m:r>
                                <a:rPr lang="en-US" sz="1800" b="0" i="1" dirty="0" smtClean="0">
                                  <a:latin typeface="Cambria Math" panose="02040503050406030204" pitchFamily="18" charset="0"/>
                                </a:rPr>
                                <m:t>    </m:t>
                              </m:r>
                              <m:r>
                                <a:rPr lang="en-US" sz="1800" b="0" i="1" dirty="0" smtClean="0">
                                  <a:latin typeface="Cambria Math" panose="02040503050406030204" pitchFamily="18" charset="0"/>
                                </a:rPr>
                                <m:t>𝑏</m:t>
                              </m:r>
                              <m:r>
                                <a:rPr lang="en-US" sz="1800" b="0" i="1" dirty="0" smtClean="0">
                                  <a:latin typeface="Cambria Math" panose="02040503050406030204" pitchFamily="18" charset="0"/>
                                </a:rPr>
                                <m:t>   ,  </m:t>
                              </m:r>
                              <m:r>
                                <a:rPr lang="en-US" sz="1800" b="0" i="1" dirty="0" smtClean="0">
                                  <a:latin typeface="Cambria Math" panose="02040503050406030204" pitchFamily="18" charset="0"/>
                                </a:rPr>
                                <m:t>𝑎</m:t>
                              </m:r>
                              <m:r>
                                <a:rPr lang="en-US" sz="1800" b="0" i="1" dirty="0" smtClean="0">
                                  <a:latin typeface="Cambria Math" panose="02040503050406030204" pitchFamily="18" charset="0"/>
                                </a:rPr>
                                <m:t> </m:t>
                              </m:r>
                            </m:e>
                          </m:d>
                          <m:r>
                            <a:rPr lang="en-US" sz="1800" b="0" i="1" dirty="0" smtClean="0">
                              <a:latin typeface="Cambria Math" panose="02040503050406030204" pitchFamily="18" charset="0"/>
                            </a:rPr>
                            <m:t>,   </m:t>
                          </m:r>
                          <m:r>
                            <a:rPr lang="en-US" sz="1800" i="1" dirty="0">
                              <a:latin typeface="Cambria Math" panose="02040503050406030204" pitchFamily="18" charset="0"/>
                            </a:rPr>
                            <m:t>𝑜</m:t>
                          </m:r>
                          <m:r>
                            <a:rPr lang="en-US" sz="1800" b="0" i="1" dirty="0" smtClean="0">
                              <a:latin typeface="Cambria Math" panose="02040503050406030204" pitchFamily="18" charset="0"/>
                            </a:rPr>
                            <m:t>       </m:t>
                          </m:r>
                        </m:e>
                      </m:d>
                    </m:oMath>
                  </m:oMathPara>
                </a14:m>
                <a:endParaRPr lang="en-US" sz="1800" dirty="0"/>
              </a:p>
              <a:p>
                <a:pPr/>
                <a14:m>
                  <m:oMathPara xmlns:m="http://schemas.openxmlformats.org/officeDocument/2006/math">
                    <m:oMathParaPr>
                      <m:jc m:val="left"/>
                    </m:oMathParaPr>
                    <m:oMath>
                      <m:r>
                        <a:rPr lang="en-US" sz="1800" b="0" i="1" dirty="0" smtClean="0">
                          <a:latin typeface="Cambria Math" panose="02040503050406030204" pitchFamily="18" charset="0"/>
                        </a:rPr>
                        <m:t>         </m:t>
                      </m:r>
                      <m:r>
                        <a:rPr lang="en-US" sz="1800" i="1" dirty="0" smtClean="0">
                          <a:latin typeface="Cambria Math" panose="02040503050406030204" pitchFamily="18" charset="0"/>
                        </a:rPr>
                        <m:t>𝑈𝑝𝑑𝑎𝑡𝑒</m:t>
                      </m:r>
                      <m:d>
                        <m:dPr>
                          <m:ctrlPr>
                            <a:rPr lang="en-US" sz="1800" b="0" i="1" dirty="0" smtClean="0">
                              <a:latin typeface="Cambria Math" panose="02040503050406030204" pitchFamily="18" charset="0"/>
                            </a:rPr>
                          </m:ctrlPr>
                        </m:dPr>
                        <m:e>
                          <m:r>
                            <a:rPr lang="en-US" sz="1800" b="0" i="1" dirty="0" smtClean="0">
                              <a:latin typeface="Cambria Math" panose="02040503050406030204" pitchFamily="18" charset="0"/>
                            </a:rPr>
                            <m:t>𝑃𝑟𝑒𝑑𝑖𝑐𝑡</m:t>
                          </m:r>
                          <m:d>
                            <m:dPr>
                              <m:ctrlPr>
                                <a:rPr lang="en-US" sz="1800" b="0" i="1" dirty="0" smtClean="0">
                                  <a:latin typeface="Cambria Math" panose="02040503050406030204" pitchFamily="18" charset="0"/>
                                </a:rPr>
                              </m:ctrlPr>
                            </m:dPr>
                            <m:e>
                              <m:d>
                                <m:dPr>
                                  <m:begChr m:val="{"/>
                                  <m:endChr m:val="}"/>
                                  <m:ctrlPr>
                                    <a:rPr lang="en-US" sz="1800" b="0" i="1" dirty="0" smtClean="0">
                                      <a:latin typeface="Cambria Math" panose="02040503050406030204" pitchFamily="18" charset="0"/>
                                    </a:rPr>
                                  </m:ctrlPr>
                                </m:dPr>
                                <m:e>
                                  <m:r>
                                    <a:rPr lang="en-US" sz="1800" b="0" i="1" dirty="0" smtClean="0">
                                      <a:latin typeface="Cambria Math" panose="02040503050406030204" pitchFamily="18" charset="0"/>
                                    </a:rPr>
                                    <m:t>1,3</m:t>
                                  </m:r>
                                </m:e>
                              </m:d>
                              <m:r>
                                <a:rPr lang="en-US" sz="1800" b="0" i="1" dirty="0" smtClean="0">
                                  <a:latin typeface="Cambria Math" panose="02040503050406030204" pitchFamily="18" charset="0"/>
                                </a:rPr>
                                <m:t>,</m:t>
                              </m:r>
                              <m:r>
                                <a:rPr lang="en-US" sz="1800" b="0" i="1" dirty="0" smtClean="0">
                                  <a:latin typeface="Cambria Math" panose="02040503050406030204" pitchFamily="18" charset="0"/>
                                </a:rPr>
                                <m:t>𝑅𝑖𝑔ℎ𝑡</m:t>
                              </m:r>
                            </m:e>
                          </m:d>
                          <m:r>
                            <a:rPr lang="en-US" sz="1800" i="1" dirty="0">
                              <a:latin typeface="Cambria Math" panose="02040503050406030204" pitchFamily="18" charset="0"/>
                            </a:rPr>
                            <m:t>,</m:t>
                          </m:r>
                          <m:r>
                            <a:rPr lang="en-US" sz="1800" b="0" i="1" dirty="0" smtClean="0">
                              <a:latin typeface="Cambria Math" panose="02040503050406030204" pitchFamily="18" charset="0"/>
                            </a:rPr>
                            <m:t>[</m:t>
                          </m:r>
                          <m:r>
                            <a:rPr lang="en-US" sz="1800" b="0" i="1" dirty="0" smtClean="0">
                              <a:latin typeface="Cambria Math" panose="02040503050406030204" pitchFamily="18" charset="0"/>
                            </a:rPr>
                            <m:t>𝐵</m:t>
                          </m:r>
                          <m:r>
                            <a:rPr lang="en-US" sz="1800" b="0" i="1" dirty="0" smtClean="0">
                              <a:latin typeface="Cambria Math" panose="02040503050406030204" pitchFamily="18" charset="0"/>
                            </a:rPr>
                            <m:t>,</m:t>
                          </m:r>
                          <m:r>
                            <a:rPr lang="en-US" sz="1800" b="0" i="1" dirty="0" smtClean="0">
                              <a:latin typeface="Cambria Math" panose="02040503050406030204" pitchFamily="18" charset="0"/>
                            </a:rPr>
                            <m:t>𝐷𝑖𝑟𝑡𝑦</m:t>
                          </m:r>
                          <m:r>
                            <a:rPr lang="en-US" sz="1800" b="0" i="1" dirty="0" smtClean="0">
                              <a:latin typeface="Cambria Math" panose="02040503050406030204" pitchFamily="18" charset="0"/>
                            </a:rPr>
                            <m:t>]</m:t>
                          </m:r>
                        </m:e>
                      </m:d>
                      <m:r>
                        <a:rPr lang="en-US" sz="1800" b="0" i="1" dirty="0" smtClean="0">
                          <a:latin typeface="Cambria Math" panose="02040503050406030204" pitchFamily="18" charset="0"/>
                        </a:rPr>
                        <m:t>={2}</m:t>
                      </m:r>
                    </m:oMath>
                  </m:oMathPara>
                </a14:m>
                <a:endParaRPr lang="en-US" sz="1800" dirty="0"/>
              </a:p>
            </p:txBody>
          </p:sp>
        </mc:Choice>
        <mc:Fallback xmlns="">
          <p:sp>
            <p:nvSpPr>
              <p:cNvPr id="18" name="TextBox 17">
                <a:extLst>
                  <a:ext uri="{FF2B5EF4-FFF2-40B4-BE49-F238E27FC236}">
                    <a16:creationId xmlns:a16="http://schemas.microsoft.com/office/drawing/2014/main" id="{93F38142-CAE6-63B6-2B26-96F805232B2A}"/>
                  </a:ext>
                </a:extLst>
              </p:cNvPr>
              <p:cNvSpPr txBox="1">
                <a:spLocks noRot="1" noChangeAspect="1" noMove="1" noResize="1" noEditPoints="1" noAdjustHandles="1" noChangeArrowheads="1" noChangeShapeType="1" noTextEdit="1"/>
              </p:cNvSpPr>
              <p:nvPr/>
            </p:nvSpPr>
            <p:spPr>
              <a:xfrm>
                <a:off x="1864371" y="5541661"/>
                <a:ext cx="6352903" cy="646331"/>
              </a:xfrm>
              <a:prstGeom prst="rect">
                <a:avLst/>
              </a:prstGeom>
              <a:blipFill>
                <a:blip r:embed="rId18"/>
                <a:stretch>
                  <a:fillRect b="-8491"/>
                </a:stretch>
              </a:blipFill>
            </p:spPr>
            <p:txBody>
              <a:bodyPr/>
              <a:lstStyle/>
              <a:p>
                <a:r>
                  <a:rPr lang="en-US">
                    <a:noFill/>
                  </a:rPr>
                  <a:t> </a:t>
                </a:r>
              </a:p>
            </p:txBody>
          </p:sp>
        </mc:Fallback>
      </mc:AlternateContent>
      <p:pic>
        <p:nvPicPr>
          <p:cNvPr id="25" name="Content Placeholder 10">
            <a:extLst>
              <a:ext uri="{FF2B5EF4-FFF2-40B4-BE49-F238E27FC236}">
                <a16:creationId xmlns:a16="http://schemas.microsoft.com/office/drawing/2014/main" id="{B6AC5971-A484-6A65-012F-C75835E78AD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438400" y="3225849"/>
            <a:ext cx="5089136" cy="2403762"/>
          </a:xfrm>
          <a:prstGeom prst="rect">
            <a:avLst/>
          </a:prstGeom>
        </p:spPr>
      </p:pic>
      <p:cxnSp>
        <p:nvCxnSpPr>
          <p:cNvPr id="21" name="Straight Arrow Connector 20">
            <a:extLst>
              <a:ext uri="{FF2B5EF4-FFF2-40B4-BE49-F238E27FC236}">
                <a16:creationId xmlns:a16="http://schemas.microsoft.com/office/drawing/2014/main" id="{43FF9C58-FB0D-4C0E-B6AD-9563C59E67A6}"/>
              </a:ext>
              <a:ext uri="{C183D7F6-B498-43B3-948B-1728B52AA6E4}">
                <adec:decorative xmlns:adec="http://schemas.microsoft.com/office/drawing/2017/decorative" val="1"/>
              </a:ext>
            </a:extLst>
          </p:cNvPr>
          <p:cNvCxnSpPr/>
          <p:nvPr/>
        </p:nvCxnSpPr>
        <p:spPr>
          <a:xfrm>
            <a:off x="1828800" y="4423903"/>
            <a:ext cx="8382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9" name="Group 18">
            <a:extLst>
              <a:ext uri="{FF2B5EF4-FFF2-40B4-BE49-F238E27FC236}">
                <a16:creationId xmlns:a16="http://schemas.microsoft.com/office/drawing/2014/main" id="{F7A5E8E4-FD5E-9D52-FFD4-7F913FF0A713}"/>
              </a:ext>
            </a:extLst>
          </p:cNvPr>
          <p:cNvGrpSpPr/>
          <p:nvPr/>
        </p:nvGrpSpPr>
        <p:grpSpPr>
          <a:xfrm>
            <a:off x="3336480" y="3939839"/>
            <a:ext cx="381000" cy="990672"/>
            <a:chOff x="3336480" y="3939839"/>
            <a:chExt cx="381000" cy="990672"/>
          </a:xfrm>
        </p:grpSpPr>
        <p:sp>
          <p:nvSpPr>
            <p:cNvPr id="17" name="Rectangle 16">
              <a:extLst>
                <a:ext uri="{FF2B5EF4-FFF2-40B4-BE49-F238E27FC236}">
                  <a16:creationId xmlns:a16="http://schemas.microsoft.com/office/drawing/2014/main" id="{E386B5E6-70B6-4B0E-99C6-E71D348F3B94}"/>
                </a:ext>
                <a:ext uri="{C183D7F6-B498-43B3-948B-1728B52AA6E4}">
                  <adec:decorative xmlns:adec="http://schemas.microsoft.com/office/drawing/2017/decorative" val="1"/>
                </a:ext>
              </a:extLst>
            </p:cNvPr>
            <p:cNvSpPr/>
            <p:nvPr/>
          </p:nvSpPr>
          <p:spPr>
            <a:xfrm>
              <a:off x="3336480" y="3966703"/>
              <a:ext cx="381000" cy="914400"/>
            </a:xfrm>
            <a:prstGeom prst="rect">
              <a:avLst/>
            </a:prstGeom>
            <a:solidFill>
              <a:srgbClr val="767171">
                <a:alpha val="60000"/>
              </a:srgbClr>
            </a:solidFill>
            <a:ln w="19050"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6" name="TextBox 25">
              <a:extLst>
                <a:ext uri="{FF2B5EF4-FFF2-40B4-BE49-F238E27FC236}">
                  <a16:creationId xmlns:a16="http://schemas.microsoft.com/office/drawing/2014/main" id="{CBD0428D-2386-BDE8-357A-0F756DFE63CB}"/>
                </a:ext>
              </a:extLst>
            </p:cNvPr>
            <p:cNvSpPr txBox="1"/>
            <p:nvPr/>
          </p:nvSpPr>
          <p:spPr>
            <a:xfrm>
              <a:off x="3336480" y="3939839"/>
              <a:ext cx="327334" cy="461665"/>
            </a:xfrm>
            <a:prstGeom prst="rect">
              <a:avLst/>
            </a:prstGeom>
            <a:noFill/>
          </p:spPr>
          <p:txBody>
            <a:bodyPr wrap="none" rtlCol="0">
              <a:spAutoFit/>
            </a:bodyPr>
            <a:lstStyle/>
            <a:p>
              <a:r>
                <a:rPr lang="en-US" sz="2400" b="1" dirty="0">
                  <a:solidFill>
                    <a:srgbClr val="FF0000"/>
                  </a:solidFill>
                </a:rPr>
                <a:t>?</a:t>
              </a:r>
            </a:p>
          </p:txBody>
        </p:sp>
        <p:sp>
          <p:nvSpPr>
            <p:cNvPr id="27" name="TextBox 26">
              <a:extLst>
                <a:ext uri="{FF2B5EF4-FFF2-40B4-BE49-F238E27FC236}">
                  <a16:creationId xmlns:a16="http://schemas.microsoft.com/office/drawing/2014/main" id="{C0230745-7EAD-EACA-82AE-44F9B53C7667}"/>
                </a:ext>
              </a:extLst>
            </p:cNvPr>
            <p:cNvSpPr txBox="1"/>
            <p:nvPr/>
          </p:nvSpPr>
          <p:spPr>
            <a:xfrm>
              <a:off x="3336480" y="4468846"/>
              <a:ext cx="327334" cy="461665"/>
            </a:xfrm>
            <a:prstGeom prst="rect">
              <a:avLst/>
            </a:prstGeom>
            <a:noFill/>
          </p:spPr>
          <p:txBody>
            <a:bodyPr wrap="square" rtlCol="0">
              <a:spAutoFit/>
            </a:bodyPr>
            <a:lstStyle/>
            <a:p>
              <a:r>
                <a:rPr lang="en-US" sz="2400" b="1" dirty="0">
                  <a:solidFill>
                    <a:srgbClr val="FF0000"/>
                  </a:solidFill>
                </a:rPr>
                <a:t>?</a:t>
              </a:r>
            </a:p>
          </p:txBody>
        </p:sp>
      </p:grpSp>
      <p:grpSp>
        <p:nvGrpSpPr>
          <p:cNvPr id="16" name="Group 15">
            <a:extLst>
              <a:ext uri="{FF2B5EF4-FFF2-40B4-BE49-F238E27FC236}">
                <a16:creationId xmlns:a16="http://schemas.microsoft.com/office/drawing/2014/main" id="{9C330C0D-8E7D-A240-F9FE-9DCEFDD0D83D}"/>
              </a:ext>
            </a:extLst>
          </p:cNvPr>
          <p:cNvGrpSpPr/>
          <p:nvPr/>
        </p:nvGrpSpPr>
        <p:grpSpPr>
          <a:xfrm>
            <a:off x="6324600" y="4500103"/>
            <a:ext cx="990600" cy="914400"/>
            <a:chOff x="6324600" y="4500103"/>
            <a:chExt cx="990600" cy="914400"/>
          </a:xfrm>
        </p:grpSpPr>
        <p:cxnSp>
          <p:nvCxnSpPr>
            <p:cNvPr id="8" name="Straight Connector 7">
              <a:extLst>
                <a:ext uri="{FF2B5EF4-FFF2-40B4-BE49-F238E27FC236}">
                  <a16:creationId xmlns:a16="http://schemas.microsoft.com/office/drawing/2014/main" id="{43CA83A8-0B10-4C0D-9C41-0AD40A2E7FE8}"/>
                </a:ext>
                <a:ext uri="{C183D7F6-B498-43B3-948B-1728B52AA6E4}">
                  <adec:decorative xmlns:adec="http://schemas.microsoft.com/office/drawing/2017/decorative" val="1"/>
                </a:ext>
              </a:extLst>
            </p:cNvPr>
            <p:cNvCxnSpPr/>
            <p:nvPr/>
          </p:nvCxnSpPr>
          <p:spPr>
            <a:xfrm>
              <a:off x="6324600" y="4500103"/>
              <a:ext cx="990600" cy="9144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4204040-7F18-42AB-ADDD-55BC798C2030}"/>
                </a:ext>
                <a:ext uri="{C183D7F6-B498-43B3-948B-1728B52AA6E4}">
                  <adec:decorative xmlns:adec="http://schemas.microsoft.com/office/drawing/2017/decorative" val="1"/>
                </a:ext>
              </a:extLst>
            </p:cNvPr>
            <p:cNvCxnSpPr>
              <a:cxnSpLocks/>
            </p:cNvCxnSpPr>
            <p:nvPr/>
          </p:nvCxnSpPr>
          <p:spPr>
            <a:xfrm flipV="1">
              <a:off x="6324600" y="4576303"/>
              <a:ext cx="914400" cy="8382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0534E3BA-A8AB-65E4-1AC1-AEE3FF5238F9}"/>
              </a:ext>
            </a:extLst>
          </p:cNvPr>
          <p:cNvGrpSpPr/>
          <p:nvPr/>
        </p:nvGrpSpPr>
        <p:grpSpPr>
          <a:xfrm>
            <a:off x="6449969" y="403492"/>
            <a:ext cx="2438400" cy="1504028"/>
            <a:chOff x="6449969" y="403492"/>
            <a:chExt cx="2438400" cy="1504028"/>
          </a:xfrm>
        </p:grpSpPr>
        <p:grpSp>
          <p:nvGrpSpPr>
            <p:cNvPr id="7" name="Group 6">
              <a:extLst>
                <a:ext uri="{FF2B5EF4-FFF2-40B4-BE49-F238E27FC236}">
                  <a16:creationId xmlns:a16="http://schemas.microsoft.com/office/drawing/2014/main" id="{981F3474-59FA-B1B7-350F-3066E61A9E7F}"/>
                </a:ext>
                <a:ext uri="{C183D7F6-B498-43B3-948B-1728B52AA6E4}">
                  <adec:decorative xmlns:adec="http://schemas.microsoft.com/office/drawing/2017/decorative" val="1"/>
                </a:ext>
              </a:extLst>
            </p:cNvPr>
            <p:cNvGrpSpPr/>
            <p:nvPr/>
          </p:nvGrpSpPr>
          <p:grpSpPr>
            <a:xfrm>
              <a:off x="6449969" y="403492"/>
              <a:ext cx="2438400" cy="1248829"/>
              <a:chOff x="6076950" y="365126"/>
              <a:chExt cx="2438400" cy="1248829"/>
            </a:xfrm>
          </p:grpSpPr>
          <p:pic>
            <p:nvPicPr>
              <p:cNvPr id="9" name="Picture 4" descr="vacuum2-environment">
                <a:extLst>
                  <a:ext uri="{FF2B5EF4-FFF2-40B4-BE49-F238E27FC236}">
                    <a16:creationId xmlns:a16="http://schemas.microsoft.com/office/drawing/2014/main" id="{9E312615-214C-E249-70EF-6E33EC9C5C08}"/>
                  </a:ext>
                </a:extLst>
              </p:cNvPr>
              <p:cNvPicPr>
                <a:picLocks noChangeAspect="1" noChangeArrowheads="1"/>
              </p:cNvPicPr>
              <p:nvPr/>
            </p:nvPicPr>
            <p:blipFill>
              <a:blip r:embed="rId19" cstate="print"/>
              <a:srcRect/>
              <a:stretch>
                <a:fillRect/>
              </a:stretch>
            </p:blipFill>
            <p:spPr bwMode="auto">
              <a:xfrm>
                <a:off x="6076950" y="365126"/>
                <a:ext cx="2438400" cy="1247554"/>
              </a:xfrm>
              <a:prstGeom prst="rect">
                <a:avLst/>
              </a:prstGeom>
              <a:noFill/>
            </p:spPr>
          </p:pic>
          <p:sp>
            <p:nvSpPr>
              <p:cNvPr id="23" name="TextBox 22">
                <a:extLst>
                  <a:ext uri="{FF2B5EF4-FFF2-40B4-BE49-F238E27FC236}">
                    <a16:creationId xmlns:a16="http://schemas.microsoft.com/office/drawing/2014/main" id="{3497F8CE-AA5D-678B-8EF6-8C7065EF8E45}"/>
                  </a:ext>
                </a:extLst>
              </p:cNvPr>
              <p:cNvSpPr txBox="1"/>
              <p:nvPr/>
            </p:nvSpPr>
            <p:spPr>
              <a:xfrm rot="1308263">
                <a:off x="7625452" y="690625"/>
                <a:ext cx="381000" cy="923330"/>
              </a:xfrm>
              <a:prstGeom prst="rect">
                <a:avLst/>
              </a:prstGeom>
              <a:noFill/>
            </p:spPr>
            <p:txBody>
              <a:bodyPr wrap="square" rtlCol="0">
                <a:spAutoFit/>
              </a:bodyPr>
              <a:lstStyle/>
              <a:p>
                <a:r>
                  <a:rPr lang="en-US" sz="5400" b="1" dirty="0">
                    <a:solidFill>
                      <a:srgbClr val="FF0000"/>
                    </a:solidFill>
                  </a:rPr>
                  <a:t>?</a:t>
                </a:r>
              </a:p>
            </p:txBody>
          </p:sp>
        </p:grpSp>
        <p:sp>
          <p:nvSpPr>
            <p:cNvPr id="3" name="TextBox 2">
              <a:extLst>
                <a:ext uri="{FF2B5EF4-FFF2-40B4-BE49-F238E27FC236}">
                  <a16:creationId xmlns:a16="http://schemas.microsoft.com/office/drawing/2014/main" id="{5511BFD5-08F4-DC91-89BD-537198B40248}"/>
                </a:ext>
              </a:extLst>
            </p:cNvPr>
            <p:cNvSpPr txBox="1"/>
            <p:nvPr/>
          </p:nvSpPr>
          <p:spPr>
            <a:xfrm>
              <a:off x="6867845" y="1599743"/>
              <a:ext cx="1722074" cy="307777"/>
            </a:xfrm>
            <a:prstGeom prst="rect">
              <a:avLst/>
            </a:prstGeom>
            <a:noFill/>
          </p:spPr>
          <p:txBody>
            <a:bodyPr wrap="none" rtlCol="0">
              <a:spAutoFit/>
            </a:bodyPr>
            <a:lstStyle/>
            <a:p>
              <a:r>
                <a:rPr lang="en-US" sz="1400" dirty="0"/>
                <a:t>Only local dirt sensor</a:t>
              </a:r>
            </a:p>
          </p:txBody>
        </p:sp>
      </p:grpSp>
    </p:spTree>
    <p:extLst>
      <p:ext uri="{BB962C8B-B14F-4D97-AF65-F5344CB8AC3E}">
        <p14:creationId xmlns:p14="http://schemas.microsoft.com/office/powerpoint/2010/main" val="2585555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FFFE7-A78C-4247-B08F-0A96C4294E7B}"/>
              </a:ext>
            </a:extLst>
          </p:cNvPr>
          <p:cNvSpPr>
            <a:spLocks noGrp="1"/>
          </p:cNvSpPr>
          <p:nvPr>
            <p:ph type="title"/>
          </p:nvPr>
        </p:nvSpPr>
        <p:spPr>
          <a:xfrm>
            <a:off x="628650" y="365126"/>
            <a:ext cx="5695950" cy="1325563"/>
          </a:xfrm>
        </p:spPr>
        <p:txBody>
          <a:bodyPr>
            <a:normAutofit/>
          </a:bodyPr>
          <a:lstStyle/>
          <a:p>
            <a:r>
              <a:rPr lang="en-US" sz="4000" dirty="0"/>
              <a:t>Solving Partially Observable Problems</a:t>
            </a:r>
          </a:p>
        </p:txBody>
      </p:sp>
      <p:sp>
        <p:nvSpPr>
          <p:cNvPr id="3" name="Content Placeholder 2">
            <a:extLst>
              <a:ext uri="{FF2B5EF4-FFF2-40B4-BE49-F238E27FC236}">
                <a16:creationId xmlns:a16="http://schemas.microsoft.com/office/drawing/2014/main" id="{21C2560E-8437-4BC5-AFB4-E0AA215AFCE4}"/>
              </a:ext>
            </a:extLst>
          </p:cNvPr>
          <p:cNvSpPr>
            <a:spLocks noGrp="1"/>
          </p:cNvSpPr>
          <p:nvPr>
            <p:ph idx="1"/>
          </p:nvPr>
        </p:nvSpPr>
        <p:spPr>
          <a:xfrm>
            <a:off x="598171" y="2074253"/>
            <a:ext cx="7886700" cy="578329"/>
          </a:xfrm>
        </p:spPr>
        <p:txBody>
          <a:bodyPr>
            <a:normAutofit fontScale="77500" lnSpcReduction="20000"/>
          </a:bodyPr>
          <a:lstStyle/>
          <a:p>
            <a:pPr marL="0" indent="0">
              <a:buNone/>
            </a:pPr>
            <a:r>
              <a:rPr lang="en-US" dirty="0"/>
              <a:t>Use an AND-OR tree of belief states to create a </a:t>
            </a:r>
            <a:r>
              <a:rPr lang="en-US" b="1" dirty="0"/>
              <a:t>conditional plan.</a:t>
            </a:r>
          </a:p>
        </p:txBody>
      </p:sp>
      <p:grpSp>
        <p:nvGrpSpPr>
          <p:cNvPr id="18" name="Group 17" descr="Figure of an AND-OR Tree.">
            <a:extLst>
              <a:ext uri="{FF2B5EF4-FFF2-40B4-BE49-F238E27FC236}">
                <a16:creationId xmlns:a16="http://schemas.microsoft.com/office/drawing/2014/main" id="{150E9A0B-838D-11CC-2373-93C05469C471}"/>
              </a:ext>
            </a:extLst>
          </p:cNvPr>
          <p:cNvGrpSpPr/>
          <p:nvPr/>
        </p:nvGrpSpPr>
        <p:grpSpPr>
          <a:xfrm>
            <a:off x="960022" y="2514600"/>
            <a:ext cx="7926685" cy="2819400"/>
            <a:chOff x="960022" y="2514600"/>
            <a:chExt cx="7926685" cy="2819400"/>
          </a:xfrm>
        </p:grpSpPr>
        <p:pic>
          <p:nvPicPr>
            <p:cNvPr id="4" name="Picture 3">
              <a:extLst>
                <a:ext uri="{FF2B5EF4-FFF2-40B4-BE49-F238E27FC236}">
                  <a16:creationId xmlns:a16="http://schemas.microsoft.com/office/drawing/2014/main" id="{C876E69F-D1CF-4290-94B9-661321F04FFF}"/>
                </a:ext>
              </a:extLst>
            </p:cNvPr>
            <p:cNvPicPr>
              <a:picLocks noChangeAspect="1"/>
            </p:cNvPicPr>
            <p:nvPr/>
          </p:nvPicPr>
          <p:blipFill>
            <a:blip r:embed="rId2"/>
            <a:stretch>
              <a:fillRect/>
            </a:stretch>
          </p:blipFill>
          <p:spPr>
            <a:xfrm>
              <a:off x="1080477" y="2590800"/>
              <a:ext cx="4634523" cy="2743200"/>
            </a:xfrm>
            <a:prstGeom prst="rect">
              <a:avLst/>
            </a:prstGeom>
          </p:spPr>
        </p:pic>
        <p:sp>
          <p:nvSpPr>
            <p:cNvPr id="7" name="TextBox 6">
              <a:extLst>
                <a:ext uri="{FF2B5EF4-FFF2-40B4-BE49-F238E27FC236}">
                  <a16:creationId xmlns:a16="http://schemas.microsoft.com/office/drawing/2014/main" id="{28B72601-947D-413A-835A-EE1C8BA0B584}"/>
                </a:ext>
              </a:extLst>
            </p:cNvPr>
            <p:cNvSpPr txBox="1"/>
            <p:nvPr/>
          </p:nvSpPr>
          <p:spPr>
            <a:xfrm>
              <a:off x="960022" y="3990201"/>
              <a:ext cx="816249" cy="276999"/>
            </a:xfrm>
            <a:prstGeom prst="rect">
              <a:avLst/>
            </a:prstGeom>
            <a:solidFill>
              <a:schemeClr val="bg1"/>
            </a:solidFill>
          </p:spPr>
          <p:txBody>
            <a:bodyPr wrap="square" rtlCol="0">
              <a:spAutoFit/>
            </a:bodyPr>
            <a:lstStyle/>
            <a:p>
              <a:pPr algn="r"/>
              <a:r>
                <a:rPr lang="en-US" sz="1200" i="1" dirty="0"/>
                <a:t>[</a:t>
              </a:r>
              <a:r>
                <a:rPr lang="en-US" sz="1200" i="1" dirty="0" err="1"/>
                <a:t>A,Clean</a:t>
              </a:r>
              <a:r>
                <a:rPr lang="en-US" sz="1200" i="1" dirty="0"/>
                <a:t>]</a:t>
              </a:r>
            </a:p>
          </p:txBody>
        </p:sp>
        <p:sp>
          <p:nvSpPr>
            <p:cNvPr id="8" name="TextBox 7">
              <a:extLst>
                <a:ext uri="{FF2B5EF4-FFF2-40B4-BE49-F238E27FC236}">
                  <a16:creationId xmlns:a16="http://schemas.microsoft.com/office/drawing/2014/main" id="{1D787AAE-EF50-4451-9E6F-28B71E42C38C}"/>
                </a:ext>
              </a:extLst>
            </p:cNvPr>
            <p:cNvSpPr txBox="1"/>
            <p:nvPr/>
          </p:nvSpPr>
          <p:spPr>
            <a:xfrm>
              <a:off x="4770022" y="3962400"/>
              <a:ext cx="816249" cy="276999"/>
            </a:xfrm>
            <a:prstGeom prst="rect">
              <a:avLst/>
            </a:prstGeom>
            <a:solidFill>
              <a:schemeClr val="bg1"/>
            </a:solidFill>
          </p:spPr>
          <p:txBody>
            <a:bodyPr wrap="square" rtlCol="0">
              <a:spAutoFit/>
            </a:bodyPr>
            <a:lstStyle/>
            <a:p>
              <a:r>
                <a:rPr lang="en-US" sz="1200" i="1" dirty="0"/>
                <a:t>[</a:t>
              </a:r>
              <a:r>
                <a:rPr lang="en-US" sz="1200" i="1" dirty="0" err="1"/>
                <a:t>B,Clean</a:t>
              </a:r>
              <a:r>
                <a:rPr lang="en-US" sz="1200" i="1" dirty="0"/>
                <a:t>]</a:t>
              </a:r>
            </a:p>
          </p:txBody>
        </p:sp>
        <p:sp>
          <p:nvSpPr>
            <p:cNvPr id="9" name="TextBox 8">
              <a:extLst>
                <a:ext uri="{FF2B5EF4-FFF2-40B4-BE49-F238E27FC236}">
                  <a16:creationId xmlns:a16="http://schemas.microsoft.com/office/drawing/2014/main" id="{64267353-0136-4734-941B-D9DCD9A83604}"/>
                </a:ext>
              </a:extLst>
            </p:cNvPr>
            <p:cNvSpPr txBox="1"/>
            <p:nvPr/>
          </p:nvSpPr>
          <p:spPr>
            <a:xfrm>
              <a:off x="3398422" y="3962400"/>
              <a:ext cx="816249" cy="276999"/>
            </a:xfrm>
            <a:prstGeom prst="rect">
              <a:avLst/>
            </a:prstGeom>
            <a:solidFill>
              <a:schemeClr val="bg1"/>
            </a:solidFill>
          </p:spPr>
          <p:txBody>
            <a:bodyPr wrap="square" rtlCol="0">
              <a:spAutoFit/>
            </a:bodyPr>
            <a:lstStyle/>
            <a:p>
              <a:pPr algn="r"/>
              <a:r>
                <a:rPr lang="en-US" sz="1200" i="1" dirty="0"/>
                <a:t>[</a:t>
              </a:r>
              <a:r>
                <a:rPr lang="en-US" sz="1200" i="1" dirty="0" err="1"/>
                <a:t>B,Dirty</a:t>
              </a:r>
              <a:r>
                <a:rPr lang="en-US" sz="1200" i="1" dirty="0"/>
                <a:t>]</a:t>
              </a:r>
            </a:p>
          </p:txBody>
        </p:sp>
        <p:pic>
          <p:nvPicPr>
            <p:cNvPr id="10" name="Picture 9">
              <a:extLst>
                <a:ext uri="{FF2B5EF4-FFF2-40B4-BE49-F238E27FC236}">
                  <a16:creationId xmlns:a16="http://schemas.microsoft.com/office/drawing/2014/main" id="{FB3752C0-3A05-43FA-9DC7-1F2C5C311EC3}"/>
                </a:ext>
              </a:extLst>
            </p:cNvPr>
            <p:cNvPicPr>
              <a:picLocks noChangeAspect="1"/>
            </p:cNvPicPr>
            <p:nvPr/>
          </p:nvPicPr>
          <p:blipFill>
            <a:blip r:embed="rId3"/>
            <a:stretch>
              <a:fillRect/>
            </a:stretch>
          </p:blipFill>
          <p:spPr>
            <a:xfrm>
              <a:off x="5880100" y="2514600"/>
              <a:ext cx="3006607" cy="2590800"/>
            </a:xfrm>
            <a:prstGeom prst="rect">
              <a:avLst/>
            </a:prstGeom>
          </p:spPr>
        </p:pic>
        <p:sp>
          <p:nvSpPr>
            <p:cNvPr id="6" name="TextBox 5">
              <a:extLst>
                <a:ext uri="{FF2B5EF4-FFF2-40B4-BE49-F238E27FC236}">
                  <a16:creationId xmlns:a16="http://schemas.microsoft.com/office/drawing/2014/main" id="{63256677-0436-4046-9195-D88183200144}"/>
                </a:ext>
              </a:extLst>
            </p:cNvPr>
            <p:cNvSpPr txBox="1"/>
            <p:nvPr/>
          </p:nvSpPr>
          <p:spPr>
            <a:xfrm>
              <a:off x="3024475" y="3556378"/>
              <a:ext cx="439544" cy="338554"/>
            </a:xfrm>
            <a:prstGeom prst="rect">
              <a:avLst/>
            </a:prstGeom>
            <a:noFill/>
          </p:spPr>
          <p:txBody>
            <a:bodyPr wrap="none" rtlCol="0">
              <a:spAutoFit/>
            </a:bodyPr>
            <a:lstStyle/>
            <a:p>
              <a:r>
                <a:rPr lang="en-US" sz="1600" b="1" dirty="0"/>
                <a:t>OR</a:t>
              </a:r>
            </a:p>
          </p:txBody>
        </p:sp>
        <p:sp>
          <p:nvSpPr>
            <p:cNvPr id="11" name="TextBox 10">
              <a:extLst>
                <a:ext uri="{FF2B5EF4-FFF2-40B4-BE49-F238E27FC236}">
                  <a16:creationId xmlns:a16="http://schemas.microsoft.com/office/drawing/2014/main" id="{DCAEA91F-D67F-49E2-9560-48D8B98E50D7}"/>
                </a:ext>
              </a:extLst>
            </p:cNvPr>
            <p:cNvSpPr txBox="1"/>
            <p:nvPr/>
          </p:nvSpPr>
          <p:spPr>
            <a:xfrm>
              <a:off x="4205076" y="4137590"/>
              <a:ext cx="574196" cy="338554"/>
            </a:xfrm>
            <a:prstGeom prst="rect">
              <a:avLst/>
            </a:prstGeom>
            <a:noFill/>
          </p:spPr>
          <p:txBody>
            <a:bodyPr wrap="none" rtlCol="0">
              <a:spAutoFit/>
            </a:bodyPr>
            <a:lstStyle/>
            <a:p>
              <a:r>
                <a:rPr lang="en-US" sz="1600" b="1" dirty="0"/>
                <a:t>AND</a:t>
              </a:r>
            </a:p>
          </p:txBody>
        </p:sp>
        <p:sp>
          <p:nvSpPr>
            <p:cNvPr id="12" name="TextBox 11">
              <a:extLst>
                <a:ext uri="{FF2B5EF4-FFF2-40B4-BE49-F238E27FC236}">
                  <a16:creationId xmlns:a16="http://schemas.microsoft.com/office/drawing/2014/main" id="{AE2481CC-0424-4A7A-B38C-B29449273398}"/>
                </a:ext>
              </a:extLst>
            </p:cNvPr>
            <p:cNvSpPr txBox="1"/>
            <p:nvPr/>
          </p:nvSpPr>
          <p:spPr>
            <a:xfrm>
              <a:off x="1905398" y="4005305"/>
              <a:ext cx="574196" cy="338554"/>
            </a:xfrm>
            <a:prstGeom prst="rect">
              <a:avLst/>
            </a:prstGeom>
            <a:noFill/>
          </p:spPr>
          <p:txBody>
            <a:bodyPr wrap="none" rtlCol="0">
              <a:spAutoFit/>
            </a:bodyPr>
            <a:lstStyle/>
            <a:p>
              <a:r>
                <a:rPr lang="en-US" sz="1600" b="1" dirty="0"/>
                <a:t>AND</a:t>
              </a:r>
            </a:p>
          </p:txBody>
        </p:sp>
        <p:sp>
          <p:nvSpPr>
            <p:cNvPr id="13" name="Rectangle 12">
              <a:extLst>
                <a:ext uri="{FF2B5EF4-FFF2-40B4-BE49-F238E27FC236}">
                  <a16:creationId xmlns:a16="http://schemas.microsoft.com/office/drawing/2014/main" id="{B4941423-AB1C-4666-9F27-F29FFFADFD5A}"/>
                </a:ext>
              </a:extLst>
            </p:cNvPr>
            <p:cNvSpPr/>
            <p:nvPr/>
          </p:nvSpPr>
          <p:spPr>
            <a:xfrm>
              <a:off x="5880100" y="2514600"/>
              <a:ext cx="1435100" cy="1295400"/>
            </a:xfrm>
            <a:prstGeom prst="rect">
              <a:avLst/>
            </a:prstGeom>
            <a:solidFill>
              <a:srgbClr val="7030A0">
                <a:alpha val="7059"/>
              </a:srgbClr>
            </a:solidFill>
            <a:ln>
              <a:solidFill>
                <a:srgbClr val="CC0099"/>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7" name="TextBox 16">
              <a:extLst>
                <a:ext uri="{FF2B5EF4-FFF2-40B4-BE49-F238E27FC236}">
                  <a16:creationId xmlns:a16="http://schemas.microsoft.com/office/drawing/2014/main" id="{126A04BA-2BE5-0B1B-898D-6F21BC1E3DB9}"/>
                </a:ext>
              </a:extLst>
            </p:cNvPr>
            <p:cNvSpPr txBox="1"/>
            <p:nvPr/>
          </p:nvSpPr>
          <p:spPr>
            <a:xfrm>
              <a:off x="4602480" y="2554069"/>
              <a:ext cx="1224181" cy="646331"/>
            </a:xfrm>
            <a:prstGeom prst="rect">
              <a:avLst/>
            </a:prstGeom>
            <a:noFill/>
          </p:spPr>
          <p:txBody>
            <a:bodyPr wrap="none" rtlCol="0">
              <a:spAutoFit/>
            </a:bodyPr>
            <a:lstStyle/>
            <a:p>
              <a:r>
                <a:rPr lang="en-US" dirty="0"/>
                <a:t>Initial </a:t>
              </a:r>
            </a:p>
            <a:p>
              <a:r>
                <a:rPr lang="en-US" dirty="0"/>
                <a:t>belief state</a:t>
              </a:r>
            </a:p>
          </p:txBody>
        </p:sp>
      </p:grpSp>
      <p:grpSp>
        <p:nvGrpSpPr>
          <p:cNvPr id="23" name="Group 22">
            <a:extLst>
              <a:ext uri="{FF2B5EF4-FFF2-40B4-BE49-F238E27FC236}">
                <a16:creationId xmlns:a16="http://schemas.microsoft.com/office/drawing/2014/main" id="{81AD33BE-AD25-5552-5C12-DCE98B59F3D4}"/>
              </a:ext>
            </a:extLst>
          </p:cNvPr>
          <p:cNvGrpSpPr/>
          <p:nvPr/>
        </p:nvGrpSpPr>
        <p:grpSpPr>
          <a:xfrm>
            <a:off x="6449969" y="403492"/>
            <a:ext cx="2438400" cy="1504028"/>
            <a:chOff x="6449969" y="403492"/>
            <a:chExt cx="2438400" cy="1504028"/>
          </a:xfrm>
        </p:grpSpPr>
        <p:grpSp>
          <p:nvGrpSpPr>
            <p:cNvPr id="24" name="Group 23">
              <a:extLst>
                <a:ext uri="{FF2B5EF4-FFF2-40B4-BE49-F238E27FC236}">
                  <a16:creationId xmlns:a16="http://schemas.microsoft.com/office/drawing/2014/main" id="{1DBD0645-3D10-3F5D-F046-9B2A4B119FD5}"/>
                </a:ext>
                <a:ext uri="{C183D7F6-B498-43B3-948B-1728B52AA6E4}">
                  <adec:decorative xmlns:adec="http://schemas.microsoft.com/office/drawing/2017/decorative" val="1"/>
                </a:ext>
              </a:extLst>
            </p:cNvPr>
            <p:cNvGrpSpPr/>
            <p:nvPr/>
          </p:nvGrpSpPr>
          <p:grpSpPr>
            <a:xfrm>
              <a:off x="6449969" y="403492"/>
              <a:ext cx="2438400" cy="1248829"/>
              <a:chOff x="6076950" y="365126"/>
              <a:chExt cx="2438400" cy="1248829"/>
            </a:xfrm>
          </p:grpSpPr>
          <p:pic>
            <p:nvPicPr>
              <p:cNvPr id="26" name="Picture 4" descr="vacuum2-environment">
                <a:extLst>
                  <a:ext uri="{FF2B5EF4-FFF2-40B4-BE49-F238E27FC236}">
                    <a16:creationId xmlns:a16="http://schemas.microsoft.com/office/drawing/2014/main" id="{7F2ED58B-02DD-A950-224C-70491EB4AE9F}"/>
                  </a:ext>
                </a:extLst>
              </p:cNvPr>
              <p:cNvPicPr>
                <a:picLocks noChangeAspect="1" noChangeArrowheads="1"/>
              </p:cNvPicPr>
              <p:nvPr/>
            </p:nvPicPr>
            <p:blipFill>
              <a:blip r:embed="rId4" cstate="print"/>
              <a:srcRect/>
              <a:stretch>
                <a:fillRect/>
              </a:stretch>
            </p:blipFill>
            <p:spPr bwMode="auto">
              <a:xfrm>
                <a:off x="6076950" y="365126"/>
                <a:ext cx="2438400" cy="1247554"/>
              </a:xfrm>
              <a:prstGeom prst="rect">
                <a:avLst/>
              </a:prstGeom>
              <a:noFill/>
            </p:spPr>
          </p:pic>
          <p:sp>
            <p:nvSpPr>
              <p:cNvPr id="27" name="TextBox 26">
                <a:extLst>
                  <a:ext uri="{FF2B5EF4-FFF2-40B4-BE49-F238E27FC236}">
                    <a16:creationId xmlns:a16="http://schemas.microsoft.com/office/drawing/2014/main" id="{78B3EE26-C751-4E5A-5004-0893381F6AE9}"/>
                  </a:ext>
                </a:extLst>
              </p:cNvPr>
              <p:cNvSpPr txBox="1"/>
              <p:nvPr/>
            </p:nvSpPr>
            <p:spPr>
              <a:xfrm rot="1308263">
                <a:off x="7625452" y="690625"/>
                <a:ext cx="381000" cy="923330"/>
              </a:xfrm>
              <a:prstGeom prst="rect">
                <a:avLst/>
              </a:prstGeom>
              <a:noFill/>
            </p:spPr>
            <p:txBody>
              <a:bodyPr wrap="square" rtlCol="0">
                <a:spAutoFit/>
              </a:bodyPr>
              <a:lstStyle/>
              <a:p>
                <a:r>
                  <a:rPr lang="en-US" sz="5400" b="1" dirty="0">
                    <a:solidFill>
                      <a:srgbClr val="FF0000"/>
                    </a:solidFill>
                  </a:rPr>
                  <a:t>?</a:t>
                </a:r>
              </a:p>
            </p:txBody>
          </p:sp>
        </p:grpSp>
        <p:sp>
          <p:nvSpPr>
            <p:cNvPr id="25" name="TextBox 24">
              <a:extLst>
                <a:ext uri="{FF2B5EF4-FFF2-40B4-BE49-F238E27FC236}">
                  <a16:creationId xmlns:a16="http://schemas.microsoft.com/office/drawing/2014/main" id="{5521E98F-5C1E-0F32-DAF2-C9303329B3E8}"/>
                </a:ext>
              </a:extLst>
            </p:cNvPr>
            <p:cNvSpPr txBox="1"/>
            <p:nvPr/>
          </p:nvSpPr>
          <p:spPr>
            <a:xfrm>
              <a:off x="6867845" y="1599743"/>
              <a:ext cx="1722074" cy="307777"/>
            </a:xfrm>
            <a:prstGeom prst="rect">
              <a:avLst/>
            </a:prstGeom>
            <a:noFill/>
          </p:spPr>
          <p:txBody>
            <a:bodyPr wrap="none" rtlCol="0">
              <a:spAutoFit/>
            </a:bodyPr>
            <a:lstStyle/>
            <a:p>
              <a:r>
                <a:rPr lang="en-US" sz="1400" dirty="0"/>
                <a:t>Only local dirt sensor</a:t>
              </a:r>
            </a:p>
          </p:txBody>
        </p:sp>
      </p:grpSp>
    </p:spTree>
    <p:extLst>
      <p:ext uri="{BB962C8B-B14F-4D97-AF65-F5344CB8AC3E}">
        <p14:creationId xmlns:p14="http://schemas.microsoft.com/office/powerpoint/2010/main" val="33135776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FFFE7-A78C-4247-B08F-0A96C4294E7B}"/>
              </a:ext>
            </a:extLst>
          </p:cNvPr>
          <p:cNvSpPr>
            <a:spLocks noGrp="1"/>
          </p:cNvSpPr>
          <p:nvPr>
            <p:ph type="title"/>
          </p:nvPr>
        </p:nvSpPr>
        <p:spPr>
          <a:xfrm>
            <a:off x="628650" y="365126"/>
            <a:ext cx="5619750" cy="1325563"/>
          </a:xfrm>
        </p:spPr>
        <p:txBody>
          <a:bodyPr>
            <a:normAutofit/>
          </a:bodyPr>
          <a:lstStyle/>
          <a:p>
            <a:r>
              <a:rPr lang="en-US" sz="4000" dirty="0"/>
              <a:t>Solving Partially Observable Problems 2</a:t>
            </a:r>
          </a:p>
        </p:txBody>
      </p:sp>
      <p:sp>
        <p:nvSpPr>
          <p:cNvPr id="5" name="TextBox 4">
            <a:extLst>
              <a:ext uri="{FF2B5EF4-FFF2-40B4-BE49-F238E27FC236}">
                <a16:creationId xmlns:a16="http://schemas.microsoft.com/office/drawing/2014/main" id="{5329959E-6A33-490F-9B17-1F86A4B4D0F7}"/>
              </a:ext>
            </a:extLst>
          </p:cNvPr>
          <p:cNvSpPr txBox="1"/>
          <p:nvPr/>
        </p:nvSpPr>
        <p:spPr>
          <a:xfrm>
            <a:off x="1276899" y="5334000"/>
            <a:ext cx="2016899" cy="830997"/>
          </a:xfrm>
          <a:prstGeom prst="rect">
            <a:avLst/>
          </a:prstGeom>
          <a:noFill/>
        </p:spPr>
        <p:txBody>
          <a:bodyPr wrap="none" rtlCol="0">
            <a:spAutoFit/>
          </a:bodyPr>
          <a:lstStyle/>
          <a:p>
            <a:r>
              <a:rPr lang="en-US" sz="2400" b="1" dirty="0"/>
              <a:t>Plan</a:t>
            </a:r>
            <a:r>
              <a:rPr lang="en-US" sz="2400" dirty="0"/>
              <a:t>: </a:t>
            </a:r>
            <a:r>
              <a:rPr lang="en-US" sz="2400" i="1" dirty="0"/>
              <a:t>[</a:t>
            </a:r>
            <a:r>
              <a:rPr lang="en-US" sz="2400" b="1" i="1" dirty="0">
                <a:solidFill>
                  <a:srgbClr val="FF0000"/>
                </a:solidFill>
              </a:rPr>
              <a:t>Suck</a:t>
            </a:r>
            <a:r>
              <a:rPr lang="en-US" sz="2400" i="1" dirty="0"/>
              <a:t>, …]</a:t>
            </a:r>
          </a:p>
          <a:p>
            <a:endParaRPr lang="en-US" sz="2400" i="1" dirty="0"/>
          </a:p>
        </p:txBody>
      </p:sp>
      <p:grpSp>
        <p:nvGrpSpPr>
          <p:cNvPr id="28" name="Group 27">
            <a:extLst>
              <a:ext uri="{FF2B5EF4-FFF2-40B4-BE49-F238E27FC236}">
                <a16:creationId xmlns:a16="http://schemas.microsoft.com/office/drawing/2014/main" id="{EC477FAB-6AE6-7A57-03B5-E5F6B7C4327E}"/>
              </a:ext>
            </a:extLst>
          </p:cNvPr>
          <p:cNvGrpSpPr/>
          <p:nvPr/>
        </p:nvGrpSpPr>
        <p:grpSpPr>
          <a:xfrm>
            <a:off x="533400" y="2461210"/>
            <a:ext cx="8353307" cy="2872790"/>
            <a:chOff x="533400" y="2461210"/>
            <a:chExt cx="8353307" cy="2872790"/>
          </a:xfrm>
        </p:grpSpPr>
        <p:grpSp>
          <p:nvGrpSpPr>
            <p:cNvPr id="22" name="Group 21">
              <a:extLst>
                <a:ext uri="{FF2B5EF4-FFF2-40B4-BE49-F238E27FC236}">
                  <a16:creationId xmlns:a16="http://schemas.microsoft.com/office/drawing/2014/main" id="{D5A68483-109C-E427-5116-4905D678D626}"/>
                </a:ext>
              </a:extLst>
            </p:cNvPr>
            <p:cNvGrpSpPr/>
            <p:nvPr/>
          </p:nvGrpSpPr>
          <p:grpSpPr>
            <a:xfrm>
              <a:off x="533400" y="2461210"/>
              <a:ext cx="8353307" cy="2872790"/>
              <a:chOff x="533400" y="2461210"/>
              <a:chExt cx="8353307" cy="2872790"/>
            </a:xfrm>
          </p:grpSpPr>
          <p:grpSp>
            <p:nvGrpSpPr>
              <p:cNvPr id="11" name="Group 10" descr="Figure of an AND-OR Tree.">
                <a:extLst>
                  <a:ext uri="{FF2B5EF4-FFF2-40B4-BE49-F238E27FC236}">
                    <a16:creationId xmlns:a16="http://schemas.microsoft.com/office/drawing/2014/main" id="{C2ED947C-EAE8-00E1-ACF2-10094DF81763}"/>
                  </a:ext>
                </a:extLst>
              </p:cNvPr>
              <p:cNvGrpSpPr/>
              <p:nvPr/>
            </p:nvGrpSpPr>
            <p:grpSpPr>
              <a:xfrm>
                <a:off x="533400" y="2461210"/>
                <a:ext cx="8353307" cy="2872790"/>
                <a:chOff x="533400" y="2461210"/>
                <a:chExt cx="8353307" cy="2872790"/>
              </a:xfrm>
            </p:grpSpPr>
            <p:pic>
              <p:nvPicPr>
                <p:cNvPr id="10" name="Picture 9">
                  <a:extLst>
                    <a:ext uri="{FF2B5EF4-FFF2-40B4-BE49-F238E27FC236}">
                      <a16:creationId xmlns:a16="http://schemas.microsoft.com/office/drawing/2014/main" id="{FB3752C0-3A05-43FA-9DC7-1F2C5C311EC3}"/>
                    </a:ext>
                  </a:extLst>
                </p:cNvPr>
                <p:cNvPicPr>
                  <a:picLocks noChangeAspect="1"/>
                </p:cNvPicPr>
                <p:nvPr/>
              </p:nvPicPr>
              <p:blipFill>
                <a:blip r:embed="rId3"/>
                <a:stretch>
                  <a:fillRect/>
                </a:stretch>
              </p:blipFill>
              <p:spPr>
                <a:xfrm>
                  <a:off x="5880100" y="2514600"/>
                  <a:ext cx="3006607" cy="2590800"/>
                </a:xfrm>
                <a:prstGeom prst="rect">
                  <a:avLst/>
                </a:prstGeom>
              </p:spPr>
            </p:pic>
            <p:pic>
              <p:nvPicPr>
                <p:cNvPr id="14" name="Picture 13">
                  <a:extLst>
                    <a:ext uri="{FF2B5EF4-FFF2-40B4-BE49-F238E27FC236}">
                      <a16:creationId xmlns:a16="http://schemas.microsoft.com/office/drawing/2014/main" id="{1DBF9C5E-5351-4E5D-ABA9-8FBB64DF4613}"/>
                    </a:ext>
                  </a:extLst>
                </p:cNvPr>
                <p:cNvPicPr>
                  <a:picLocks noChangeAspect="1"/>
                </p:cNvPicPr>
                <p:nvPr/>
              </p:nvPicPr>
              <p:blipFill>
                <a:blip r:embed="rId4"/>
                <a:stretch>
                  <a:fillRect/>
                </a:stretch>
              </p:blipFill>
              <p:spPr>
                <a:xfrm>
                  <a:off x="1080477" y="2590800"/>
                  <a:ext cx="4634523" cy="2743200"/>
                </a:xfrm>
                <a:prstGeom prst="rect">
                  <a:avLst/>
                </a:prstGeom>
              </p:spPr>
            </p:pic>
            <p:sp>
              <p:nvSpPr>
                <p:cNvPr id="15" name="TextBox 14">
                  <a:extLst>
                    <a:ext uri="{FF2B5EF4-FFF2-40B4-BE49-F238E27FC236}">
                      <a16:creationId xmlns:a16="http://schemas.microsoft.com/office/drawing/2014/main" id="{142CB4A0-BD42-4978-ADCF-BBB4AF0B87B3}"/>
                    </a:ext>
                  </a:extLst>
                </p:cNvPr>
                <p:cNvSpPr txBox="1"/>
                <p:nvPr/>
              </p:nvSpPr>
              <p:spPr>
                <a:xfrm>
                  <a:off x="960022" y="3990201"/>
                  <a:ext cx="816249" cy="276999"/>
                </a:xfrm>
                <a:prstGeom prst="rect">
                  <a:avLst/>
                </a:prstGeom>
                <a:solidFill>
                  <a:schemeClr val="bg1"/>
                </a:solidFill>
              </p:spPr>
              <p:txBody>
                <a:bodyPr wrap="square" rtlCol="0">
                  <a:spAutoFit/>
                </a:bodyPr>
                <a:lstStyle/>
                <a:p>
                  <a:pPr algn="r"/>
                  <a:r>
                    <a:rPr lang="en-US" sz="1200" i="1" dirty="0"/>
                    <a:t>[</a:t>
                  </a:r>
                  <a:r>
                    <a:rPr lang="en-US" sz="1200" i="1" dirty="0" err="1"/>
                    <a:t>A,Clean</a:t>
                  </a:r>
                  <a:r>
                    <a:rPr lang="en-US" sz="1200" i="1" dirty="0"/>
                    <a:t>]</a:t>
                  </a:r>
                </a:p>
              </p:txBody>
            </p:sp>
            <p:sp>
              <p:nvSpPr>
                <p:cNvPr id="16" name="TextBox 15">
                  <a:extLst>
                    <a:ext uri="{FF2B5EF4-FFF2-40B4-BE49-F238E27FC236}">
                      <a16:creationId xmlns:a16="http://schemas.microsoft.com/office/drawing/2014/main" id="{914FC0C1-D3BE-45B9-B779-4A4AC1AB5E05}"/>
                    </a:ext>
                  </a:extLst>
                </p:cNvPr>
                <p:cNvSpPr txBox="1"/>
                <p:nvPr/>
              </p:nvSpPr>
              <p:spPr>
                <a:xfrm>
                  <a:off x="4770022" y="3962400"/>
                  <a:ext cx="816249" cy="276999"/>
                </a:xfrm>
                <a:prstGeom prst="rect">
                  <a:avLst/>
                </a:prstGeom>
                <a:solidFill>
                  <a:schemeClr val="bg1"/>
                </a:solidFill>
              </p:spPr>
              <p:txBody>
                <a:bodyPr wrap="square" rtlCol="0">
                  <a:spAutoFit/>
                </a:bodyPr>
                <a:lstStyle/>
                <a:p>
                  <a:r>
                    <a:rPr lang="en-US" sz="1200" i="1" dirty="0"/>
                    <a:t>[</a:t>
                  </a:r>
                  <a:r>
                    <a:rPr lang="en-US" sz="1200" i="1" dirty="0" err="1"/>
                    <a:t>B,Clean</a:t>
                  </a:r>
                  <a:r>
                    <a:rPr lang="en-US" sz="1200" i="1" dirty="0"/>
                    <a:t>]</a:t>
                  </a:r>
                </a:p>
              </p:txBody>
            </p:sp>
            <p:sp>
              <p:nvSpPr>
                <p:cNvPr id="17" name="TextBox 16">
                  <a:extLst>
                    <a:ext uri="{FF2B5EF4-FFF2-40B4-BE49-F238E27FC236}">
                      <a16:creationId xmlns:a16="http://schemas.microsoft.com/office/drawing/2014/main" id="{12176E66-2DE6-411B-A1B3-6E09F8CA53C6}"/>
                    </a:ext>
                  </a:extLst>
                </p:cNvPr>
                <p:cNvSpPr txBox="1"/>
                <p:nvPr/>
              </p:nvSpPr>
              <p:spPr>
                <a:xfrm>
                  <a:off x="3398422" y="3962400"/>
                  <a:ext cx="816249" cy="276999"/>
                </a:xfrm>
                <a:prstGeom prst="rect">
                  <a:avLst/>
                </a:prstGeom>
                <a:solidFill>
                  <a:schemeClr val="bg1"/>
                </a:solidFill>
              </p:spPr>
              <p:txBody>
                <a:bodyPr wrap="square" rtlCol="0">
                  <a:spAutoFit/>
                </a:bodyPr>
                <a:lstStyle/>
                <a:p>
                  <a:pPr algn="r"/>
                  <a:r>
                    <a:rPr lang="en-US" sz="1200" i="1" dirty="0"/>
                    <a:t>[</a:t>
                  </a:r>
                  <a:r>
                    <a:rPr lang="en-US" sz="1200" i="1" dirty="0" err="1"/>
                    <a:t>B,Dirty</a:t>
                  </a:r>
                  <a:r>
                    <a:rPr lang="en-US" sz="1200" i="1" dirty="0"/>
                    <a:t>]</a:t>
                  </a:r>
                </a:p>
              </p:txBody>
            </p:sp>
            <p:sp>
              <p:nvSpPr>
                <p:cNvPr id="18" name="TextBox 17">
                  <a:extLst>
                    <a:ext uri="{FF2B5EF4-FFF2-40B4-BE49-F238E27FC236}">
                      <a16:creationId xmlns:a16="http://schemas.microsoft.com/office/drawing/2014/main" id="{5D3AC1E8-C0E0-4481-BA84-878EB709DD16}"/>
                    </a:ext>
                  </a:extLst>
                </p:cNvPr>
                <p:cNvSpPr txBox="1"/>
                <p:nvPr/>
              </p:nvSpPr>
              <p:spPr>
                <a:xfrm>
                  <a:off x="3024475" y="3556378"/>
                  <a:ext cx="439544" cy="338554"/>
                </a:xfrm>
                <a:prstGeom prst="rect">
                  <a:avLst/>
                </a:prstGeom>
                <a:noFill/>
              </p:spPr>
              <p:txBody>
                <a:bodyPr wrap="none" rtlCol="0">
                  <a:spAutoFit/>
                </a:bodyPr>
                <a:lstStyle/>
                <a:p>
                  <a:r>
                    <a:rPr lang="en-US" sz="1600" b="1" dirty="0"/>
                    <a:t>OR</a:t>
                  </a:r>
                </a:p>
              </p:txBody>
            </p:sp>
            <p:sp>
              <p:nvSpPr>
                <p:cNvPr id="19" name="TextBox 18">
                  <a:extLst>
                    <a:ext uri="{FF2B5EF4-FFF2-40B4-BE49-F238E27FC236}">
                      <a16:creationId xmlns:a16="http://schemas.microsoft.com/office/drawing/2014/main" id="{2FADB9E2-E689-4724-A7DA-C6EE685A62C6}"/>
                    </a:ext>
                  </a:extLst>
                </p:cNvPr>
                <p:cNvSpPr txBox="1"/>
                <p:nvPr/>
              </p:nvSpPr>
              <p:spPr>
                <a:xfrm>
                  <a:off x="4205076" y="4137590"/>
                  <a:ext cx="574196" cy="338554"/>
                </a:xfrm>
                <a:prstGeom prst="rect">
                  <a:avLst/>
                </a:prstGeom>
                <a:noFill/>
              </p:spPr>
              <p:txBody>
                <a:bodyPr wrap="none" rtlCol="0">
                  <a:spAutoFit/>
                </a:bodyPr>
                <a:lstStyle/>
                <a:p>
                  <a:r>
                    <a:rPr lang="en-US" sz="1600" b="1" dirty="0"/>
                    <a:t>AND</a:t>
                  </a:r>
                </a:p>
              </p:txBody>
            </p:sp>
            <p:sp>
              <p:nvSpPr>
                <p:cNvPr id="20" name="TextBox 19">
                  <a:extLst>
                    <a:ext uri="{FF2B5EF4-FFF2-40B4-BE49-F238E27FC236}">
                      <a16:creationId xmlns:a16="http://schemas.microsoft.com/office/drawing/2014/main" id="{6D10F08E-39B5-4EED-A6EC-A542CA3936D7}"/>
                    </a:ext>
                  </a:extLst>
                </p:cNvPr>
                <p:cNvSpPr txBox="1"/>
                <p:nvPr/>
              </p:nvSpPr>
              <p:spPr>
                <a:xfrm>
                  <a:off x="1905398" y="4005305"/>
                  <a:ext cx="574196" cy="338554"/>
                </a:xfrm>
                <a:prstGeom prst="rect">
                  <a:avLst/>
                </a:prstGeom>
                <a:noFill/>
              </p:spPr>
              <p:txBody>
                <a:bodyPr wrap="none" rtlCol="0">
                  <a:spAutoFit/>
                </a:bodyPr>
                <a:lstStyle/>
                <a:p>
                  <a:r>
                    <a:rPr lang="en-US" sz="1600" b="1" dirty="0"/>
                    <a:t>AND</a:t>
                  </a:r>
                </a:p>
              </p:txBody>
            </p:sp>
            <p:cxnSp>
              <p:nvCxnSpPr>
                <p:cNvPr id="25" name="Straight Arrow Connector 24">
                  <a:extLst>
                    <a:ext uri="{FF2B5EF4-FFF2-40B4-BE49-F238E27FC236}">
                      <a16:creationId xmlns:a16="http://schemas.microsoft.com/office/drawing/2014/main" id="{4F815955-7FB1-4614-8E7C-A7FD852795BD}"/>
                    </a:ext>
                  </a:extLst>
                </p:cNvPr>
                <p:cNvCxnSpPr>
                  <a:cxnSpLocks/>
                </p:cNvCxnSpPr>
                <p:nvPr/>
              </p:nvCxnSpPr>
              <p:spPr>
                <a:xfrm flipH="1">
                  <a:off x="2051268" y="3374143"/>
                  <a:ext cx="767671" cy="52078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Arrow: Right 22">
                  <a:extLst>
                    <a:ext uri="{FF2B5EF4-FFF2-40B4-BE49-F238E27FC236}">
                      <a16:creationId xmlns:a16="http://schemas.microsoft.com/office/drawing/2014/main" id="{A5B70165-8084-45CC-995C-A1BBA5E462E8}"/>
                    </a:ext>
                  </a:extLst>
                </p:cNvPr>
                <p:cNvSpPr/>
                <p:nvPr/>
              </p:nvSpPr>
              <p:spPr>
                <a:xfrm rot="5400000">
                  <a:off x="344428" y="3141900"/>
                  <a:ext cx="952143" cy="574199"/>
                </a:xfrm>
                <a:prstGeom prst="rightArrow">
                  <a:avLst>
                    <a:gd name="adj1" fmla="val 50000"/>
                    <a:gd name="adj2" fmla="val 34762"/>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sz="1600" dirty="0"/>
                    <a:t>predict</a:t>
                  </a:r>
                </a:p>
              </p:txBody>
            </p:sp>
            <p:sp>
              <p:nvSpPr>
                <p:cNvPr id="24" name="Arrow: Right 23">
                  <a:extLst>
                    <a:ext uri="{FF2B5EF4-FFF2-40B4-BE49-F238E27FC236}">
                      <a16:creationId xmlns:a16="http://schemas.microsoft.com/office/drawing/2014/main" id="{B3424C96-3B79-4DA6-8CA6-18A871ED696D}"/>
                    </a:ext>
                  </a:extLst>
                </p:cNvPr>
                <p:cNvSpPr/>
                <p:nvPr/>
              </p:nvSpPr>
              <p:spPr>
                <a:xfrm rot="5400000">
                  <a:off x="344430" y="4094045"/>
                  <a:ext cx="952143" cy="574197"/>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1600" dirty="0"/>
                    <a:t>update</a:t>
                  </a:r>
                </a:p>
              </p:txBody>
            </p:sp>
            <p:cxnSp>
              <p:nvCxnSpPr>
                <p:cNvPr id="26" name="Straight Arrow Connector 25">
                  <a:extLst>
                    <a:ext uri="{FF2B5EF4-FFF2-40B4-BE49-F238E27FC236}">
                      <a16:creationId xmlns:a16="http://schemas.microsoft.com/office/drawing/2014/main" id="{855C0DE3-DA9D-450E-BBC3-52F4CAC784D2}"/>
                    </a:ext>
                  </a:extLst>
                </p:cNvPr>
                <p:cNvCxnSpPr>
                  <a:cxnSpLocks/>
                </p:cNvCxnSpPr>
                <p:nvPr/>
              </p:nvCxnSpPr>
              <p:spPr>
                <a:xfrm>
                  <a:off x="1905398" y="4047332"/>
                  <a:ext cx="0" cy="29652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4028FE9-00A6-4AC3-97AE-1A00AB201CDD}"/>
                    </a:ext>
                  </a:extLst>
                </p:cNvPr>
                <p:cNvSpPr/>
                <p:nvPr/>
              </p:nvSpPr>
              <p:spPr>
                <a:xfrm>
                  <a:off x="5902051" y="3828444"/>
                  <a:ext cx="1435100" cy="1295400"/>
                </a:xfrm>
                <a:prstGeom prst="rect">
                  <a:avLst/>
                </a:prstGeom>
                <a:solidFill>
                  <a:srgbClr val="7030A0">
                    <a:alpha val="7059"/>
                  </a:srgbClr>
                </a:solidFill>
                <a:ln>
                  <a:solidFill>
                    <a:srgbClr val="CC0099"/>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Freeform: Shape 7">
                  <a:extLst>
                    <a:ext uri="{FF2B5EF4-FFF2-40B4-BE49-F238E27FC236}">
                      <a16:creationId xmlns:a16="http://schemas.microsoft.com/office/drawing/2014/main" id="{70938F1D-521C-4E44-9B6D-B36E9FF57C3F}"/>
                    </a:ext>
                  </a:extLst>
                </p:cNvPr>
                <p:cNvSpPr/>
                <p:nvPr/>
              </p:nvSpPr>
              <p:spPr>
                <a:xfrm>
                  <a:off x="5359392" y="3281680"/>
                  <a:ext cx="508008" cy="782320"/>
                </a:xfrm>
                <a:custGeom>
                  <a:avLst/>
                  <a:gdLst>
                    <a:gd name="connsiteX0" fmla="*/ 497848 w 508008"/>
                    <a:gd name="connsiteY0" fmla="*/ 0 h 782320"/>
                    <a:gd name="connsiteX1" fmla="*/ 8 w 508008"/>
                    <a:gd name="connsiteY1" fmla="*/ 436880 h 782320"/>
                    <a:gd name="connsiteX2" fmla="*/ 508008 w 508008"/>
                    <a:gd name="connsiteY2" fmla="*/ 782320 h 782320"/>
                  </a:gdLst>
                  <a:ahLst/>
                  <a:cxnLst>
                    <a:cxn ang="0">
                      <a:pos x="connsiteX0" y="connsiteY0"/>
                    </a:cxn>
                    <a:cxn ang="0">
                      <a:pos x="connsiteX1" y="connsiteY1"/>
                    </a:cxn>
                    <a:cxn ang="0">
                      <a:pos x="connsiteX2" y="connsiteY2"/>
                    </a:cxn>
                  </a:cxnLst>
                  <a:rect l="l" t="t" r="r" b="b"/>
                  <a:pathLst>
                    <a:path w="508008" h="782320">
                      <a:moveTo>
                        <a:pt x="497848" y="0"/>
                      </a:moveTo>
                      <a:cubicBezTo>
                        <a:pt x="248081" y="153246"/>
                        <a:pt x="-1685" y="306493"/>
                        <a:pt x="8" y="436880"/>
                      </a:cubicBezTo>
                      <a:cubicBezTo>
                        <a:pt x="1701" y="567267"/>
                        <a:pt x="254854" y="674793"/>
                        <a:pt x="508008" y="782320"/>
                      </a:cubicBez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E9DC47F-17E4-451F-DD7F-3C2A3B35D11C}"/>
                    </a:ext>
                  </a:extLst>
                </p:cNvPr>
                <p:cNvSpPr/>
                <p:nvPr/>
              </p:nvSpPr>
              <p:spPr>
                <a:xfrm>
                  <a:off x="5903682" y="2461210"/>
                  <a:ext cx="1435100" cy="12954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sp>
            <p:nvSpPr>
              <p:cNvPr id="13" name="TextBox 12">
                <a:extLst>
                  <a:ext uri="{FF2B5EF4-FFF2-40B4-BE49-F238E27FC236}">
                    <a16:creationId xmlns:a16="http://schemas.microsoft.com/office/drawing/2014/main" id="{1DACB9D4-9B37-B4CA-173A-FB176FBE5C54}"/>
                  </a:ext>
                </a:extLst>
              </p:cNvPr>
              <p:cNvSpPr txBox="1"/>
              <p:nvPr/>
            </p:nvSpPr>
            <p:spPr>
              <a:xfrm>
                <a:off x="4819647" y="3356323"/>
                <a:ext cx="895353" cy="369332"/>
              </a:xfrm>
              <a:prstGeom prst="rect">
                <a:avLst/>
              </a:prstGeom>
              <a:noFill/>
            </p:spPr>
            <p:txBody>
              <a:bodyPr wrap="square">
                <a:spAutoFit/>
              </a:bodyPr>
              <a:lstStyle/>
              <a:p>
                <a:r>
                  <a:rPr lang="en-US" sz="1800" b="1" i="1" dirty="0">
                    <a:solidFill>
                      <a:srgbClr val="FF0000"/>
                    </a:solidFill>
                  </a:rPr>
                  <a:t>Suck</a:t>
                </a:r>
                <a:endParaRPr lang="en-US" dirty="0"/>
              </a:p>
            </p:txBody>
          </p:sp>
        </p:grpSp>
        <p:sp>
          <p:nvSpPr>
            <p:cNvPr id="27" name="TextBox 26">
              <a:extLst>
                <a:ext uri="{FF2B5EF4-FFF2-40B4-BE49-F238E27FC236}">
                  <a16:creationId xmlns:a16="http://schemas.microsoft.com/office/drawing/2014/main" id="{1C37483F-06EA-2896-C67A-9E07FD9717DD}"/>
                </a:ext>
              </a:extLst>
            </p:cNvPr>
            <p:cNvSpPr txBox="1"/>
            <p:nvPr/>
          </p:nvSpPr>
          <p:spPr>
            <a:xfrm>
              <a:off x="1859249" y="3303508"/>
              <a:ext cx="895353" cy="369332"/>
            </a:xfrm>
            <a:prstGeom prst="rect">
              <a:avLst/>
            </a:prstGeom>
            <a:noFill/>
          </p:spPr>
          <p:txBody>
            <a:bodyPr wrap="square">
              <a:spAutoFit/>
            </a:bodyPr>
            <a:lstStyle/>
            <a:p>
              <a:r>
                <a:rPr lang="en-US" sz="1800" b="1" i="1" dirty="0">
                  <a:solidFill>
                    <a:srgbClr val="FF0000"/>
                  </a:solidFill>
                </a:rPr>
                <a:t>Suck</a:t>
              </a:r>
              <a:endParaRPr lang="en-US" dirty="0"/>
            </a:p>
          </p:txBody>
        </p:sp>
      </p:grpSp>
      <p:grpSp>
        <p:nvGrpSpPr>
          <p:cNvPr id="12" name="Group 11">
            <a:extLst>
              <a:ext uri="{FF2B5EF4-FFF2-40B4-BE49-F238E27FC236}">
                <a16:creationId xmlns:a16="http://schemas.microsoft.com/office/drawing/2014/main" id="{B731AE06-F29B-FF3E-B185-C0B4BA3EB17A}"/>
              </a:ext>
            </a:extLst>
          </p:cNvPr>
          <p:cNvGrpSpPr/>
          <p:nvPr/>
        </p:nvGrpSpPr>
        <p:grpSpPr>
          <a:xfrm>
            <a:off x="6449969" y="403492"/>
            <a:ext cx="2438400" cy="1504028"/>
            <a:chOff x="6449969" y="403492"/>
            <a:chExt cx="2438400" cy="1504028"/>
          </a:xfrm>
        </p:grpSpPr>
        <p:grpSp>
          <p:nvGrpSpPr>
            <p:cNvPr id="29" name="Group 28">
              <a:extLst>
                <a:ext uri="{FF2B5EF4-FFF2-40B4-BE49-F238E27FC236}">
                  <a16:creationId xmlns:a16="http://schemas.microsoft.com/office/drawing/2014/main" id="{FAAA8637-7199-876F-5393-343AF823A424}"/>
                </a:ext>
                <a:ext uri="{C183D7F6-B498-43B3-948B-1728B52AA6E4}">
                  <adec:decorative xmlns:adec="http://schemas.microsoft.com/office/drawing/2017/decorative" val="1"/>
                </a:ext>
              </a:extLst>
            </p:cNvPr>
            <p:cNvGrpSpPr/>
            <p:nvPr/>
          </p:nvGrpSpPr>
          <p:grpSpPr>
            <a:xfrm>
              <a:off x="6449969" y="403492"/>
              <a:ext cx="2438400" cy="1248829"/>
              <a:chOff x="6076950" y="365126"/>
              <a:chExt cx="2438400" cy="1248829"/>
            </a:xfrm>
          </p:grpSpPr>
          <p:pic>
            <p:nvPicPr>
              <p:cNvPr id="31" name="Picture 4" descr="vacuum2-environment">
                <a:extLst>
                  <a:ext uri="{FF2B5EF4-FFF2-40B4-BE49-F238E27FC236}">
                    <a16:creationId xmlns:a16="http://schemas.microsoft.com/office/drawing/2014/main" id="{0859900D-394F-8577-FEEB-74F883BEC529}"/>
                  </a:ext>
                </a:extLst>
              </p:cNvPr>
              <p:cNvPicPr>
                <a:picLocks noChangeAspect="1" noChangeArrowheads="1"/>
              </p:cNvPicPr>
              <p:nvPr/>
            </p:nvPicPr>
            <p:blipFill>
              <a:blip r:embed="rId5" cstate="print"/>
              <a:srcRect/>
              <a:stretch>
                <a:fillRect/>
              </a:stretch>
            </p:blipFill>
            <p:spPr bwMode="auto">
              <a:xfrm>
                <a:off x="6076950" y="365126"/>
                <a:ext cx="2438400" cy="1247554"/>
              </a:xfrm>
              <a:prstGeom prst="rect">
                <a:avLst/>
              </a:prstGeom>
              <a:noFill/>
            </p:spPr>
          </p:pic>
          <p:sp>
            <p:nvSpPr>
              <p:cNvPr id="32" name="TextBox 31">
                <a:extLst>
                  <a:ext uri="{FF2B5EF4-FFF2-40B4-BE49-F238E27FC236}">
                    <a16:creationId xmlns:a16="http://schemas.microsoft.com/office/drawing/2014/main" id="{972DD305-B2F7-7532-48BB-7D8DD0B4608B}"/>
                  </a:ext>
                </a:extLst>
              </p:cNvPr>
              <p:cNvSpPr txBox="1"/>
              <p:nvPr/>
            </p:nvSpPr>
            <p:spPr>
              <a:xfrm rot="1308263">
                <a:off x="7625452" y="690625"/>
                <a:ext cx="381000" cy="923330"/>
              </a:xfrm>
              <a:prstGeom prst="rect">
                <a:avLst/>
              </a:prstGeom>
              <a:noFill/>
            </p:spPr>
            <p:txBody>
              <a:bodyPr wrap="square" rtlCol="0">
                <a:spAutoFit/>
              </a:bodyPr>
              <a:lstStyle/>
              <a:p>
                <a:r>
                  <a:rPr lang="en-US" sz="5400" b="1" dirty="0">
                    <a:solidFill>
                      <a:srgbClr val="FF0000"/>
                    </a:solidFill>
                  </a:rPr>
                  <a:t>?</a:t>
                </a:r>
              </a:p>
            </p:txBody>
          </p:sp>
        </p:grpSp>
        <p:sp>
          <p:nvSpPr>
            <p:cNvPr id="30" name="TextBox 29">
              <a:extLst>
                <a:ext uri="{FF2B5EF4-FFF2-40B4-BE49-F238E27FC236}">
                  <a16:creationId xmlns:a16="http://schemas.microsoft.com/office/drawing/2014/main" id="{3F49C795-3A9E-DEFA-6885-21982BDB8059}"/>
                </a:ext>
              </a:extLst>
            </p:cNvPr>
            <p:cNvSpPr txBox="1"/>
            <p:nvPr/>
          </p:nvSpPr>
          <p:spPr>
            <a:xfrm>
              <a:off x="6867845" y="1599743"/>
              <a:ext cx="1722074" cy="307777"/>
            </a:xfrm>
            <a:prstGeom prst="rect">
              <a:avLst/>
            </a:prstGeom>
            <a:noFill/>
          </p:spPr>
          <p:txBody>
            <a:bodyPr wrap="none" rtlCol="0">
              <a:spAutoFit/>
            </a:bodyPr>
            <a:lstStyle/>
            <a:p>
              <a:r>
                <a:rPr lang="en-US" sz="1400" dirty="0"/>
                <a:t>Only local dirt sensor</a:t>
              </a:r>
            </a:p>
          </p:txBody>
        </p:sp>
      </p:grpSp>
      <p:sp>
        <p:nvSpPr>
          <p:cNvPr id="35" name="Content Placeholder 2">
            <a:extLst>
              <a:ext uri="{FF2B5EF4-FFF2-40B4-BE49-F238E27FC236}">
                <a16:creationId xmlns:a16="http://schemas.microsoft.com/office/drawing/2014/main" id="{1214B30D-709C-AD86-54FB-CC440B775ADF}"/>
              </a:ext>
            </a:extLst>
          </p:cNvPr>
          <p:cNvSpPr>
            <a:spLocks noGrp="1"/>
          </p:cNvSpPr>
          <p:nvPr>
            <p:ph idx="1"/>
          </p:nvPr>
        </p:nvSpPr>
        <p:spPr>
          <a:xfrm>
            <a:off x="598171" y="2074253"/>
            <a:ext cx="7886700" cy="578329"/>
          </a:xfrm>
        </p:spPr>
        <p:txBody>
          <a:bodyPr>
            <a:normAutofit fontScale="77500" lnSpcReduction="20000"/>
          </a:bodyPr>
          <a:lstStyle/>
          <a:p>
            <a:pPr marL="0" indent="0">
              <a:buNone/>
            </a:pPr>
            <a:r>
              <a:rPr lang="en-US" dirty="0"/>
              <a:t>Use an AND-OR tree of belief states to create a </a:t>
            </a:r>
            <a:r>
              <a:rPr lang="en-US" b="1" dirty="0"/>
              <a:t>conditional plan.</a:t>
            </a:r>
          </a:p>
        </p:txBody>
      </p:sp>
    </p:spTree>
    <p:extLst>
      <p:ext uri="{BB962C8B-B14F-4D97-AF65-F5344CB8AC3E}">
        <p14:creationId xmlns:p14="http://schemas.microsoft.com/office/powerpoint/2010/main" val="41774662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FFFE7-A78C-4247-B08F-0A96C4294E7B}"/>
              </a:ext>
            </a:extLst>
          </p:cNvPr>
          <p:cNvSpPr>
            <a:spLocks noGrp="1"/>
          </p:cNvSpPr>
          <p:nvPr>
            <p:ph type="title"/>
          </p:nvPr>
        </p:nvSpPr>
        <p:spPr>
          <a:xfrm>
            <a:off x="628650" y="365126"/>
            <a:ext cx="5695950" cy="1325563"/>
          </a:xfrm>
        </p:spPr>
        <p:txBody>
          <a:bodyPr>
            <a:normAutofit/>
          </a:bodyPr>
          <a:lstStyle/>
          <a:p>
            <a:r>
              <a:rPr lang="en-US" sz="4000" dirty="0"/>
              <a:t>Solving Partially Observable Problems 3</a:t>
            </a:r>
          </a:p>
        </p:txBody>
      </p:sp>
      <p:sp>
        <p:nvSpPr>
          <p:cNvPr id="5" name="TextBox 4">
            <a:extLst>
              <a:ext uri="{FF2B5EF4-FFF2-40B4-BE49-F238E27FC236}">
                <a16:creationId xmlns:a16="http://schemas.microsoft.com/office/drawing/2014/main" id="{5329959E-6A33-490F-9B17-1F86A4B4D0F7}"/>
              </a:ext>
            </a:extLst>
          </p:cNvPr>
          <p:cNvSpPr txBox="1"/>
          <p:nvPr/>
        </p:nvSpPr>
        <p:spPr>
          <a:xfrm>
            <a:off x="1295400" y="5334000"/>
            <a:ext cx="2852384" cy="830997"/>
          </a:xfrm>
          <a:prstGeom prst="rect">
            <a:avLst/>
          </a:prstGeom>
          <a:noFill/>
        </p:spPr>
        <p:txBody>
          <a:bodyPr wrap="none" rtlCol="0">
            <a:spAutoFit/>
          </a:bodyPr>
          <a:lstStyle/>
          <a:p>
            <a:r>
              <a:rPr lang="en-US" sz="2400" b="1" dirty="0"/>
              <a:t>Plan</a:t>
            </a:r>
            <a:r>
              <a:rPr lang="en-US" sz="2400" dirty="0"/>
              <a:t>: </a:t>
            </a:r>
            <a:r>
              <a:rPr lang="en-US" sz="2400" i="1" dirty="0"/>
              <a:t>[</a:t>
            </a:r>
            <a:r>
              <a:rPr lang="en-US" sz="2400" b="1" i="1" dirty="0"/>
              <a:t>Suck</a:t>
            </a:r>
            <a:r>
              <a:rPr lang="en-US" sz="2400" i="1" dirty="0"/>
              <a:t>, </a:t>
            </a:r>
            <a:r>
              <a:rPr lang="en-US" sz="2400" b="1" i="1" dirty="0">
                <a:solidFill>
                  <a:srgbClr val="FF0000"/>
                </a:solidFill>
              </a:rPr>
              <a:t>Right</a:t>
            </a:r>
            <a:r>
              <a:rPr lang="en-US" sz="2400" i="1" dirty="0"/>
              <a:t>, </a:t>
            </a:r>
            <a:r>
              <a:rPr lang="en-US" sz="2400" b="1" dirty="0"/>
              <a:t>…]</a:t>
            </a:r>
            <a:endParaRPr lang="en-US" sz="2400" i="1" dirty="0"/>
          </a:p>
          <a:p>
            <a:endParaRPr lang="en-US" sz="2400" i="1" dirty="0"/>
          </a:p>
        </p:txBody>
      </p:sp>
      <p:grpSp>
        <p:nvGrpSpPr>
          <p:cNvPr id="9" name="Group 8" descr="Figure of an AND-OR Tree.">
            <a:extLst>
              <a:ext uri="{FF2B5EF4-FFF2-40B4-BE49-F238E27FC236}">
                <a16:creationId xmlns:a16="http://schemas.microsoft.com/office/drawing/2014/main" id="{74725460-CEED-AC79-148D-D294F21A4F08}"/>
              </a:ext>
            </a:extLst>
          </p:cNvPr>
          <p:cNvGrpSpPr/>
          <p:nvPr/>
        </p:nvGrpSpPr>
        <p:grpSpPr>
          <a:xfrm>
            <a:off x="533399" y="2514600"/>
            <a:ext cx="8353308" cy="2992605"/>
            <a:chOff x="533399" y="2514600"/>
            <a:chExt cx="8353308" cy="2992605"/>
          </a:xfrm>
        </p:grpSpPr>
        <p:pic>
          <p:nvPicPr>
            <p:cNvPr id="10" name="Picture 9">
              <a:extLst>
                <a:ext uri="{FF2B5EF4-FFF2-40B4-BE49-F238E27FC236}">
                  <a16:creationId xmlns:a16="http://schemas.microsoft.com/office/drawing/2014/main" id="{FB3752C0-3A05-43FA-9DC7-1F2C5C311EC3}"/>
                </a:ext>
              </a:extLst>
            </p:cNvPr>
            <p:cNvPicPr>
              <a:picLocks noChangeAspect="1"/>
            </p:cNvPicPr>
            <p:nvPr/>
          </p:nvPicPr>
          <p:blipFill>
            <a:blip r:embed="rId3"/>
            <a:stretch>
              <a:fillRect/>
            </a:stretch>
          </p:blipFill>
          <p:spPr>
            <a:xfrm>
              <a:off x="5880100" y="2514600"/>
              <a:ext cx="3006607" cy="2590800"/>
            </a:xfrm>
            <a:prstGeom prst="rect">
              <a:avLst/>
            </a:prstGeom>
          </p:spPr>
        </p:pic>
        <p:pic>
          <p:nvPicPr>
            <p:cNvPr id="14" name="Picture 13">
              <a:extLst>
                <a:ext uri="{FF2B5EF4-FFF2-40B4-BE49-F238E27FC236}">
                  <a16:creationId xmlns:a16="http://schemas.microsoft.com/office/drawing/2014/main" id="{210BA3CC-DF3B-462C-B131-BBECC320AA31}"/>
                </a:ext>
              </a:extLst>
            </p:cNvPr>
            <p:cNvPicPr>
              <a:picLocks noChangeAspect="1"/>
            </p:cNvPicPr>
            <p:nvPr/>
          </p:nvPicPr>
          <p:blipFill>
            <a:blip r:embed="rId4"/>
            <a:stretch>
              <a:fillRect/>
            </a:stretch>
          </p:blipFill>
          <p:spPr>
            <a:xfrm>
              <a:off x="1080477" y="2590800"/>
              <a:ext cx="4634523" cy="2743200"/>
            </a:xfrm>
            <a:prstGeom prst="rect">
              <a:avLst/>
            </a:prstGeom>
          </p:spPr>
        </p:pic>
        <p:sp>
          <p:nvSpPr>
            <p:cNvPr id="15" name="TextBox 14">
              <a:extLst>
                <a:ext uri="{FF2B5EF4-FFF2-40B4-BE49-F238E27FC236}">
                  <a16:creationId xmlns:a16="http://schemas.microsoft.com/office/drawing/2014/main" id="{198C50E9-2F8D-4B6F-9AC9-E2B08BA93B50}"/>
                </a:ext>
              </a:extLst>
            </p:cNvPr>
            <p:cNvSpPr txBox="1"/>
            <p:nvPr/>
          </p:nvSpPr>
          <p:spPr>
            <a:xfrm>
              <a:off x="960022" y="3990201"/>
              <a:ext cx="816249" cy="276999"/>
            </a:xfrm>
            <a:prstGeom prst="rect">
              <a:avLst/>
            </a:prstGeom>
            <a:solidFill>
              <a:schemeClr val="bg1"/>
            </a:solidFill>
          </p:spPr>
          <p:txBody>
            <a:bodyPr wrap="square" rtlCol="0">
              <a:spAutoFit/>
            </a:bodyPr>
            <a:lstStyle/>
            <a:p>
              <a:pPr algn="r"/>
              <a:r>
                <a:rPr lang="en-US" sz="1200" i="1" dirty="0"/>
                <a:t>[</a:t>
              </a:r>
              <a:r>
                <a:rPr lang="en-US" sz="1200" i="1" dirty="0" err="1"/>
                <a:t>A,Clean</a:t>
              </a:r>
              <a:r>
                <a:rPr lang="en-US" sz="1200" i="1" dirty="0"/>
                <a:t>]</a:t>
              </a:r>
            </a:p>
          </p:txBody>
        </p:sp>
        <p:sp>
          <p:nvSpPr>
            <p:cNvPr id="16" name="TextBox 15">
              <a:extLst>
                <a:ext uri="{FF2B5EF4-FFF2-40B4-BE49-F238E27FC236}">
                  <a16:creationId xmlns:a16="http://schemas.microsoft.com/office/drawing/2014/main" id="{EF0E3352-E3E5-456A-91A5-C40E3D44724A}"/>
                </a:ext>
              </a:extLst>
            </p:cNvPr>
            <p:cNvSpPr txBox="1"/>
            <p:nvPr/>
          </p:nvSpPr>
          <p:spPr>
            <a:xfrm>
              <a:off x="4770022" y="3962400"/>
              <a:ext cx="816249" cy="276999"/>
            </a:xfrm>
            <a:prstGeom prst="rect">
              <a:avLst/>
            </a:prstGeom>
            <a:solidFill>
              <a:schemeClr val="bg1"/>
            </a:solidFill>
          </p:spPr>
          <p:txBody>
            <a:bodyPr wrap="square" rtlCol="0">
              <a:spAutoFit/>
            </a:bodyPr>
            <a:lstStyle/>
            <a:p>
              <a:r>
                <a:rPr lang="en-US" sz="1200" i="1" dirty="0"/>
                <a:t>[</a:t>
              </a:r>
              <a:r>
                <a:rPr lang="en-US" sz="1200" i="1" dirty="0" err="1"/>
                <a:t>B,Clean</a:t>
              </a:r>
              <a:r>
                <a:rPr lang="en-US" sz="1200" i="1" dirty="0"/>
                <a:t>]</a:t>
              </a:r>
            </a:p>
          </p:txBody>
        </p:sp>
        <p:sp>
          <p:nvSpPr>
            <p:cNvPr id="17" name="TextBox 16">
              <a:extLst>
                <a:ext uri="{FF2B5EF4-FFF2-40B4-BE49-F238E27FC236}">
                  <a16:creationId xmlns:a16="http://schemas.microsoft.com/office/drawing/2014/main" id="{B817A1E5-6AAD-4F71-99D4-81D1848C87C4}"/>
                </a:ext>
              </a:extLst>
            </p:cNvPr>
            <p:cNvSpPr txBox="1"/>
            <p:nvPr/>
          </p:nvSpPr>
          <p:spPr>
            <a:xfrm>
              <a:off x="3398422" y="3962400"/>
              <a:ext cx="816249" cy="276999"/>
            </a:xfrm>
            <a:prstGeom prst="rect">
              <a:avLst/>
            </a:prstGeom>
            <a:solidFill>
              <a:schemeClr val="bg1"/>
            </a:solidFill>
          </p:spPr>
          <p:txBody>
            <a:bodyPr wrap="square" rtlCol="0">
              <a:spAutoFit/>
            </a:bodyPr>
            <a:lstStyle/>
            <a:p>
              <a:pPr algn="r"/>
              <a:r>
                <a:rPr lang="en-US" sz="1200" i="1" dirty="0"/>
                <a:t>[</a:t>
              </a:r>
              <a:r>
                <a:rPr lang="en-US" sz="1200" i="1" dirty="0" err="1"/>
                <a:t>B,Dirty</a:t>
              </a:r>
              <a:r>
                <a:rPr lang="en-US" sz="1200" i="1" dirty="0"/>
                <a:t>]</a:t>
              </a:r>
            </a:p>
          </p:txBody>
        </p:sp>
        <p:sp>
          <p:nvSpPr>
            <p:cNvPr id="18" name="TextBox 17">
              <a:extLst>
                <a:ext uri="{FF2B5EF4-FFF2-40B4-BE49-F238E27FC236}">
                  <a16:creationId xmlns:a16="http://schemas.microsoft.com/office/drawing/2014/main" id="{F3B802B6-7B38-4478-955C-A0AD4CCCB1ED}"/>
                </a:ext>
              </a:extLst>
            </p:cNvPr>
            <p:cNvSpPr txBox="1"/>
            <p:nvPr/>
          </p:nvSpPr>
          <p:spPr>
            <a:xfrm>
              <a:off x="3024475" y="3556378"/>
              <a:ext cx="439544" cy="338554"/>
            </a:xfrm>
            <a:prstGeom prst="rect">
              <a:avLst/>
            </a:prstGeom>
            <a:noFill/>
          </p:spPr>
          <p:txBody>
            <a:bodyPr wrap="none" rtlCol="0">
              <a:spAutoFit/>
            </a:bodyPr>
            <a:lstStyle/>
            <a:p>
              <a:r>
                <a:rPr lang="en-US" sz="1600" b="1" dirty="0"/>
                <a:t>OR</a:t>
              </a:r>
            </a:p>
          </p:txBody>
        </p:sp>
        <p:sp>
          <p:nvSpPr>
            <p:cNvPr id="19" name="TextBox 18">
              <a:extLst>
                <a:ext uri="{FF2B5EF4-FFF2-40B4-BE49-F238E27FC236}">
                  <a16:creationId xmlns:a16="http://schemas.microsoft.com/office/drawing/2014/main" id="{036E53C9-F802-4BFC-895E-F5C74A6698E9}"/>
                </a:ext>
              </a:extLst>
            </p:cNvPr>
            <p:cNvSpPr txBox="1"/>
            <p:nvPr/>
          </p:nvSpPr>
          <p:spPr>
            <a:xfrm>
              <a:off x="4205076" y="4137590"/>
              <a:ext cx="574196" cy="338554"/>
            </a:xfrm>
            <a:prstGeom prst="rect">
              <a:avLst/>
            </a:prstGeom>
            <a:noFill/>
          </p:spPr>
          <p:txBody>
            <a:bodyPr wrap="none" rtlCol="0">
              <a:spAutoFit/>
            </a:bodyPr>
            <a:lstStyle/>
            <a:p>
              <a:r>
                <a:rPr lang="en-US" sz="1600" b="1" dirty="0"/>
                <a:t>AND</a:t>
              </a:r>
            </a:p>
          </p:txBody>
        </p:sp>
        <p:sp>
          <p:nvSpPr>
            <p:cNvPr id="20" name="TextBox 19">
              <a:extLst>
                <a:ext uri="{FF2B5EF4-FFF2-40B4-BE49-F238E27FC236}">
                  <a16:creationId xmlns:a16="http://schemas.microsoft.com/office/drawing/2014/main" id="{141733CB-74BF-4272-AD61-E7BEF47C213F}"/>
                </a:ext>
              </a:extLst>
            </p:cNvPr>
            <p:cNvSpPr txBox="1"/>
            <p:nvPr/>
          </p:nvSpPr>
          <p:spPr>
            <a:xfrm>
              <a:off x="1905398" y="4005305"/>
              <a:ext cx="574196" cy="338554"/>
            </a:xfrm>
            <a:prstGeom prst="rect">
              <a:avLst/>
            </a:prstGeom>
            <a:noFill/>
          </p:spPr>
          <p:txBody>
            <a:bodyPr wrap="none" rtlCol="0">
              <a:spAutoFit/>
            </a:bodyPr>
            <a:lstStyle/>
            <a:p>
              <a:r>
                <a:rPr lang="en-US" sz="1600" b="1" dirty="0"/>
                <a:t>AND</a:t>
              </a:r>
            </a:p>
          </p:txBody>
        </p:sp>
        <p:cxnSp>
          <p:nvCxnSpPr>
            <p:cNvPr id="23" name="Straight Arrow Connector 22">
              <a:extLst>
                <a:ext uri="{FF2B5EF4-FFF2-40B4-BE49-F238E27FC236}">
                  <a16:creationId xmlns:a16="http://schemas.microsoft.com/office/drawing/2014/main" id="{816FF5E7-143A-42D1-9FA8-151E93E09313}"/>
                </a:ext>
              </a:extLst>
            </p:cNvPr>
            <p:cNvCxnSpPr>
              <a:cxnSpLocks/>
            </p:cNvCxnSpPr>
            <p:nvPr/>
          </p:nvCxnSpPr>
          <p:spPr>
            <a:xfrm flipH="1">
              <a:off x="2051268" y="3374143"/>
              <a:ext cx="767671" cy="52078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D8C9737-67E7-425D-972B-48C57C0170C9}"/>
                </a:ext>
              </a:extLst>
            </p:cNvPr>
            <p:cNvCxnSpPr>
              <a:cxnSpLocks/>
            </p:cNvCxnSpPr>
            <p:nvPr/>
          </p:nvCxnSpPr>
          <p:spPr>
            <a:xfrm>
              <a:off x="2058066" y="5185479"/>
              <a:ext cx="363829" cy="17632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0336017-0C2A-4161-A526-AE611AEFDAB8}"/>
                </a:ext>
              </a:extLst>
            </p:cNvPr>
            <p:cNvSpPr txBox="1"/>
            <p:nvPr/>
          </p:nvSpPr>
          <p:spPr>
            <a:xfrm>
              <a:off x="2403301" y="4983985"/>
              <a:ext cx="452376" cy="523220"/>
            </a:xfrm>
            <a:prstGeom prst="rect">
              <a:avLst/>
            </a:prstGeom>
            <a:noFill/>
          </p:spPr>
          <p:txBody>
            <a:bodyPr wrap="square" rtlCol="0">
              <a:spAutoFit/>
            </a:bodyPr>
            <a:lstStyle/>
            <a:p>
              <a:r>
                <a:rPr lang="en-US" sz="2800" dirty="0">
                  <a:solidFill>
                    <a:srgbClr val="FF0000"/>
                  </a:solidFill>
                </a:rPr>
                <a:t>…</a:t>
              </a:r>
            </a:p>
          </p:txBody>
        </p:sp>
        <p:sp>
          <p:nvSpPr>
            <p:cNvPr id="25" name="Arrow: Right 24">
              <a:extLst>
                <a:ext uri="{FF2B5EF4-FFF2-40B4-BE49-F238E27FC236}">
                  <a16:creationId xmlns:a16="http://schemas.microsoft.com/office/drawing/2014/main" id="{2A119A13-3D41-4D24-A7D5-3F0136DC3262}"/>
                </a:ext>
              </a:extLst>
            </p:cNvPr>
            <p:cNvSpPr/>
            <p:nvPr/>
          </p:nvSpPr>
          <p:spPr>
            <a:xfrm rot="5400000">
              <a:off x="344428" y="3141900"/>
              <a:ext cx="952143" cy="574199"/>
            </a:xfrm>
            <a:prstGeom prst="rightArrow">
              <a:avLst>
                <a:gd name="adj1" fmla="val 50000"/>
                <a:gd name="adj2" fmla="val 34762"/>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sz="1600" dirty="0"/>
                <a:t>predict</a:t>
              </a:r>
            </a:p>
          </p:txBody>
        </p:sp>
        <p:sp>
          <p:nvSpPr>
            <p:cNvPr id="27" name="Arrow: Right 26">
              <a:extLst>
                <a:ext uri="{FF2B5EF4-FFF2-40B4-BE49-F238E27FC236}">
                  <a16:creationId xmlns:a16="http://schemas.microsoft.com/office/drawing/2014/main" id="{C529368C-6BCD-47A8-BB03-7562F7FE1476}"/>
                </a:ext>
              </a:extLst>
            </p:cNvPr>
            <p:cNvSpPr/>
            <p:nvPr/>
          </p:nvSpPr>
          <p:spPr>
            <a:xfrm rot="5400000">
              <a:off x="344430" y="4075173"/>
              <a:ext cx="952143" cy="574197"/>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1600" dirty="0"/>
                <a:t>update</a:t>
              </a:r>
            </a:p>
          </p:txBody>
        </p:sp>
        <p:sp>
          <p:nvSpPr>
            <p:cNvPr id="30" name="Arrow: Right 29">
              <a:extLst>
                <a:ext uri="{FF2B5EF4-FFF2-40B4-BE49-F238E27FC236}">
                  <a16:creationId xmlns:a16="http://schemas.microsoft.com/office/drawing/2014/main" id="{29AEC175-6312-451C-9905-F3901DB442AB}"/>
                </a:ext>
              </a:extLst>
            </p:cNvPr>
            <p:cNvSpPr/>
            <p:nvPr/>
          </p:nvSpPr>
          <p:spPr>
            <a:xfrm rot="5400000">
              <a:off x="573027" y="4799429"/>
              <a:ext cx="494943" cy="574199"/>
            </a:xfrm>
            <a:prstGeom prst="rightArrow">
              <a:avLst>
                <a:gd name="adj1" fmla="val 50000"/>
                <a:gd name="adj2" fmla="val 34762"/>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US" sz="1600" dirty="0"/>
            </a:p>
          </p:txBody>
        </p:sp>
        <p:cxnSp>
          <p:nvCxnSpPr>
            <p:cNvPr id="32" name="Straight Arrow Connector 31">
              <a:extLst>
                <a:ext uri="{FF2B5EF4-FFF2-40B4-BE49-F238E27FC236}">
                  <a16:creationId xmlns:a16="http://schemas.microsoft.com/office/drawing/2014/main" id="{3A8C7E8D-E398-408C-8857-86213B2775B7}"/>
                </a:ext>
              </a:extLst>
            </p:cNvPr>
            <p:cNvCxnSpPr>
              <a:cxnSpLocks/>
            </p:cNvCxnSpPr>
            <p:nvPr/>
          </p:nvCxnSpPr>
          <p:spPr>
            <a:xfrm>
              <a:off x="1905398" y="4047332"/>
              <a:ext cx="0" cy="29652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9D04EB97-5F3C-42F9-883A-ACA4348026A2}"/>
                </a:ext>
              </a:extLst>
            </p:cNvPr>
            <p:cNvSpPr/>
            <p:nvPr/>
          </p:nvSpPr>
          <p:spPr>
            <a:xfrm>
              <a:off x="7383403" y="3786189"/>
              <a:ext cx="1435100" cy="1295400"/>
            </a:xfrm>
            <a:prstGeom prst="rect">
              <a:avLst/>
            </a:prstGeom>
            <a:solidFill>
              <a:srgbClr val="7030A0">
                <a:alpha val="7059"/>
              </a:srgbClr>
            </a:solidFill>
            <a:ln>
              <a:solidFill>
                <a:srgbClr val="CC0099"/>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1B9DE769-C8D0-4F47-A04F-A3B89F3F1B38}"/>
                </a:ext>
              </a:extLst>
            </p:cNvPr>
            <p:cNvCxnSpPr>
              <a:cxnSpLocks/>
            </p:cNvCxnSpPr>
            <p:nvPr/>
          </p:nvCxnSpPr>
          <p:spPr>
            <a:xfrm>
              <a:off x="7277688" y="4419600"/>
              <a:ext cx="342312"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715650C-50B5-5825-C52F-2F7A1AE34F91}"/>
                </a:ext>
              </a:extLst>
            </p:cNvPr>
            <p:cNvSpPr/>
            <p:nvPr/>
          </p:nvSpPr>
          <p:spPr>
            <a:xfrm>
              <a:off x="5902051" y="3791269"/>
              <a:ext cx="1435100" cy="12954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sp>
        <p:nvSpPr>
          <p:cNvPr id="12" name="TextBox 11">
            <a:extLst>
              <a:ext uri="{FF2B5EF4-FFF2-40B4-BE49-F238E27FC236}">
                <a16:creationId xmlns:a16="http://schemas.microsoft.com/office/drawing/2014/main" id="{75EA3083-D8AD-CD53-8815-6399F0ABBB7C}"/>
              </a:ext>
            </a:extLst>
          </p:cNvPr>
          <p:cNvSpPr txBox="1"/>
          <p:nvPr/>
        </p:nvSpPr>
        <p:spPr>
          <a:xfrm>
            <a:off x="7078949" y="4054733"/>
            <a:ext cx="767671" cy="369332"/>
          </a:xfrm>
          <a:prstGeom prst="rect">
            <a:avLst/>
          </a:prstGeom>
          <a:noFill/>
        </p:spPr>
        <p:txBody>
          <a:bodyPr wrap="square">
            <a:spAutoFit/>
          </a:bodyPr>
          <a:lstStyle/>
          <a:p>
            <a:r>
              <a:rPr lang="en-US" sz="1800" b="1" i="1" dirty="0">
                <a:solidFill>
                  <a:srgbClr val="FF0000"/>
                </a:solidFill>
              </a:rPr>
              <a:t>Right</a:t>
            </a:r>
            <a:endParaRPr lang="en-US" dirty="0"/>
          </a:p>
        </p:txBody>
      </p:sp>
      <p:sp>
        <p:nvSpPr>
          <p:cNvPr id="13" name="TextBox 12">
            <a:extLst>
              <a:ext uri="{FF2B5EF4-FFF2-40B4-BE49-F238E27FC236}">
                <a16:creationId xmlns:a16="http://schemas.microsoft.com/office/drawing/2014/main" id="{1635CF14-73DC-924E-0A81-7369C7D22240}"/>
              </a:ext>
            </a:extLst>
          </p:cNvPr>
          <p:cNvSpPr txBox="1"/>
          <p:nvPr/>
        </p:nvSpPr>
        <p:spPr>
          <a:xfrm>
            <a:off x="2249428" y="4913524"/>
            <a:ext cx="767671" cy="369332"/>
          </a:xfrm>
          <a:prstGeom prst="rect">
            <a:avLst/>
          </a:prstGeom>
          <a:noFill/>
        </p:spPr>
        <p:txBody>
          <a:bodyPr wrap="square">
            <a:spAutoFit/>
          </a:bodyPr>
          <a:lstStyle/>
          <a:p>
            <a:r>
              <a:rPr lang="en-US" sz="1800" b="1" i="1" dirty="0">
                <a:solidFill>
                  <a:srgbClr val="FF0000"/>
                </a:solidFill>
              </a:rPr>
              <a:t>Right</a:t>
            </a:r>
            <a:endParaRPr lang="en-US" dirty="0"/>
          </a:p>
        </p:txBody>
      </p:sp>
      <p:grpSp>
        <p:nvGrpSpPr>
          <p:cNvPr id="34" name="Group 33">
            <a:extLst>
              <a:ext uri="{FF2B5EF4-FFF2-40B4-BE49-F238E27FC236}">
                <a16:creationId xmlns:a16="http://schemas.microsoft.com/office/drawing/2014/main" id="{865814EB-4C6D-515F-4187-FB59E8B141BF}"/>
              </a:ext>
            </a:extLst>
          </p:cNvPr>
          <p:cNvGrpSpPr/>
          <p:nvPr/>
        </p:nvGrpSpPr>
        <p:grpSpPr>
          <a:xfrm>
            <a:off x="6449969" y="403492"/>
            <a:ext cx="2438400" cy="1504028"/>
            <a:chOff x="6449969" y="403492"/>
            <a:chExt cx="2438400" cy="1504028"/>
          </a:xfrm>
        </p:grpSpPr>
        <p:grpSp>
          <p:nvGrpSpPr>
            <p:cNvPr id="35" name="Group 34">
              <a:extLst>
                <a:ext uri="{FF2B5EF4-FFF2-40B4-BE49-F238E27FC236}">
                  <a16:creationId xmlns:a16="http://schemas.microsoft.com/office/drawing/2014/main" id="{183418E3-576F-A35C-9A09-D69EAC926C6D}"/>
                </a:ext>
                <a:ext uri="{C183D7F6-B498-43B3-948B-1728B52AA6E4}">
                  <adec:decorative xmlns:adec="http://schemas.microsoft.com/office/drawing/2017/decorative" val="1"/>
                </a:ext>
              </a:extLst>
            </p:cNvPr>
            <p:cNvGrpSpPr/>
            <p:nvPr/>
          </p:nvGrpSpPr>
          <p:grpSpPr>
            <a:xfrm>
              <a:off x="6449969" y="403492"/>
              <a:ext cx="2438400" cy="1248829"/>
              <a:chOff x="6076950" y="365126"/>
              <a:chExt cx="2438400" cy="1248829"/>
            </a:xfrm>
          </p:grpSpPr>
          <p:pic>
            <p:nvPicPr>
              <p:cNvPr id="37" name="Picture 4" descr="vacuum2-environment">
                <a:extLst>
                  <a:ext uri="{FF2B5EF4-FFF2-40B4-BE49-F238E27FC236}">
                    <a16:creationId xmlns:a16="http://schemas.microsoft.com/office/drawing/2014/main" id="{21103F09-741F-8E1F-532D-F2E96726DAC0}"/>
                  </a:ext>
                </a:extLst>
              </p:cNvPr>
              <p:cNvPicPr>
                <a:picLocks noChangeAspect="1" noChangeArrowheads="1"/>
              </p:cNvPicPr>
              <p:nvPr/>
            </p:nvPicPr>
            <p:blipFill>
              <a:blip r:embed="rId5" cstate="print"/>
              <a:srcRect/>
              <a:stretch>
                <a:fillRect/>
              </a:stretch>
            </p:blipFill>
            <p:spPr bwMode="auto">
              <a:xfrm>
                <a:off x="6076950" y="365126"/>
                <a:ext cx="2438400" cy="1247554"/>
              </a:xfrm>
              <a:prstGeom prst="rect">
                <a:avLst/>
              </a:prstGeom>
              <a:noFill/>
            </p:spPr>
          </p:pic>
          <p:sp>
            <p:nvSpPr>
              <p:cNvPr id="38" name="TextBox 37">
                <a:extLst>
                  <a:ext uri="{FF2B5EF4-FFF2-40B4-BE49-F238E27FC236}">
                    <a16:creationId xmlns:a16="http://schemas.microsoft.com/office/drawing/2014/main" id="{C2345C80-439B-C3B4-D5FC-63662CD580EF}"/>
                  </a:ext>
                </a:extLst>
              </p:cNvPr>
              <p:cNvSpPr txBox="1"/>
              <p:nvPr/>
            </p:nvSpPr>
            <p:spPr>
              <a:xfrm rot="1308263">
                <a:off x="7625452" y="690625"/>
                <a:ext cx="381000" cy="923330"/>
              </a:xfrm>
              <a:prstGeom prst="rect">
                <a:avLst/>
              </a:prstGeom>
              <a:noFill/>
            </p:spPr>
            <p:txBody>
              <a:bodyPr wrap="square" rtlCol="0">
                <a:spAutoFit/>
              </a:bodyPr>
              <a:lstStyle/>
              <a:p>
                <a:r>
                  <a:rPr lang="en-US" sz="5400" b="1" dirty="0">
                    <a:solidFill>
                      <a:srgbClr val="FF0000"/>
                    </a:solidFill>
                  </a:rPr>
                  <a:t>?</a:t>
                </a:r>
              </a:p>
            </p:txBody>
          </p:sp>
        </p:grpSp>
        <p:sp>
          <p:nvSpPr>
            <p:cNvPr id="36" name="TextBox 35">
              <a:extLst>
                <a:ext uri="{FF2B5EF4-FFF2-40B4-BE49-F238E27FC236}">
                  <a16:creationId xmlns:a16="http://schemas.microsoft.com/office/drawing/2014/main" id="{89FB47E0-AFC2-B411-7A2B-C207CAF8EEB0}"/>
                </a:ext>
              </a:extLst>
            </p:cNvPr>
            <p:cNvSpPr txBox="1"/>
            <p:nvPr/>
          </p:nvSpPr>
          <p:spPr>
            <a:xfrm>
              <a:off x="6867845" y="1599743"/>
              <a:ext cx="1722074" cy="307777"/>
            </a:xfrm>
            <a:prstGeom prst="rect">
              <a:avLst/>
            </a:prstGeom>
            <a:noFill/>
          </p:spPr>
          <p:txBody>
            <a:bodyPr wrap="none" rtlCol="0">
              <a:spAutoFit/>
            </a:bodyPr>
            <a:lstStyle/>
            <a:p>
              <a:r>
                <a:rPr lang="en-US" sz="1400" dirty="0"/>
                <a:t>Only local dirt sensor</a:t>
              </a:r>
            </a:p>
          </p:txBody>
        </p:sp>
      </p:grpSp>
      <p:sp>
        <p:nvSpPr>
          <p:cNvPr id="41" name="Content Placeholder 2">
            <a:extLst>
              <a:ext uri="{FF2B5EF4-FFF2-40B4-BE49-F238E27FC236}">
                <a16:creationId xmlns:a16="http://schemas.microsoft.com/office/drawing/2014/main" id="{0E726061-D5E7-FB8F-5332-8224EBBBCD62}"/>
              </a:ext>
            </a:extLst>
          </p:cNvPr>
          <p:cNvSpPr txBox="1">
            <a:spLocks/>
          </p:cNvSpPr>
          <p:nvPr/>
        </p:nvSpPr>
        <p:spPr>
          <a:xfrm>
            <a:off x="598171" y="2074253"/>
            <a:ext cx="7886700" cy="578329"/>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Use an AND-OR tree of belief states to create a </a:t>
            </a:r>
            <a:r>
              <a:rPr lang="en-US" b="1"/>
              <a:t>conditional plan.</a:t>
            </a:r>
            <a:endParaRPr lang="en-US" b="1" dirty="0"/>
          </a:p>
        </p:txBody>
      </p:sp>
    </p:spTree>
    <p:extLst>
      <p:ext uri="{BB962C8B-B14F-4D97-AF65-F5344CB8AC3E}">
        <p14:creationId xmlns:p14="http://schemas.microsoft.com/office/powerpoint/2010/main" val="1630257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FFFE7-A78C-4247-B08F-0A96C4294E7B}"/>
              </a:ext>
            </a:extLst>
          </p:cNvPr>
          <p:cNvSpPr>
            <a:spLocks noGrp="1"/>
          </p:cNvSpPr>
          <p:nvPr>
            <p:ph type="title"/>
          </p:nvPr>
        </p:nvSpPr>
        <p:spPr>
          <a:xfrm>
            <a:off x="628650" y="365126"/>
            <a:ext cx="5772150" cy="1325563"/>
          </a:xfrm>
        </p:spPr>
        <p:txBody>
          <a:bodyPr>
            <a:normAutofit/>
          </a:bodyPr>
          <a:lstStyle/>
          <a:p>
            <a:r>
              <a:rPr lang="en-US" sz="4000" dirty="0"/>
              <a:t>Solving Partially Observable Problems 4</a:t>
            </a:r>
          </a:p>
        </p:txBody>
      </p:sp>
      <p:sp>
        <p:nvSpPr>
          <p:cNvPr id="5" name="TextBox 4">
            <a:extLst>
              <a:ext uri="{FF2B5EF4-FFF2-40B4-BE49-F238E27FC236}">
                <a16:creationId xmlns:a16="http://schemas.microsoft.com/office/drawing/2014/main" id="{5329959E-6A33-490F-9B17-1F86A4B4D0F7}"/>
              </a:ext>
            </a:extLst>
          </p:cNvPr>
          <p:cNvSpPr txBox="1"/>
          <p:nvPr/>
        </p:nvSpPr>
        <p:spPr>
          <a:xfrm>
            <a:off x="1295400" y="5334000"/>
            <a:ext cx="5993115" cy="461665"/>
          </a:xfrm>
          <a:prstGeom prst="rect">
            <a:avLst/>
          </a:prstGeom>
          <a:noFill/>
        </p:spPr>
        <p:txBody>
          <a:bodyPr wrap="none" rtlCol="0">
            <a:spAutoFit/>
          </a:bodyPr>
          <a:lstStyle/>
          <a:p>
            <a:r>
              <a:rPr lang="en-US" sz="2400" b="1" dirty="0"/>
              <a:t>Plan</a:t>
            </a:r>
            <a:r>
              <a:rPr lang="en-US" sz="2400" dirty="0"/>
              <a:t>: </a:t>
            </a:r>
            <a:r>
              <a:rPr lang="en-US" sz="2400" i="1" dirty="0"/>
              <a:t>[</a:t>
            </a:r>
            <a:r>
              <a:rPr lang="en-US" sz="2400" b="1" i="1" dirty="0"/>
              <a:t>Suck, Right, </a:t>
            </a:r>
            <a:r>
              <a:rPr lang="en-US" sz="2400" b="1" dirty="0">
                <a:solidFill>
                  <a:srgbClr val="FF0000"/>
                </a:solidFill>
              </a:rPr>
              <a:t>if</a:t>
            </a:r>
            <a:r>
              <a:rPr lang="en-US" sz="2400" b="1" i="1" dirty="0">
                <a:solidFill>
                  <a:srgbClr val="FF0000"/>
                </a:solidFill>
              </a:rPr>
              <a:t> o = [B, Dirty] Suck </a:t>
            </a:r>
            <a:r>
              <a:rPr lang="en-US" sz="2400" b="1" dirty="0">
                <a:solidFill>
                  <a:srgbClr val="FF0000"/>
                </a:solidFill>
              </a:rPr>
              <a:t>else</a:t>
            </a:r>
            <a:r>
              <a:rPr lang="en-US" sz="2400" b="1" i="1" dirty="0">
                <a:solidFill>
                  <a:srgbClr val="FF0000"/>
                </a:solidFill>
              </a:rPr>
              <a:t> []</a:t>
            </a:r>
            <a:r>
              <a:rPr lang="en-US" sz="2400" i="1" dirty="0"/>
              <a:t>]</a:t>
            </a:r>
          </a:p>
        </p:txBody>
      </p:sp>
      <p:grpSp>
        <p:nvGrpSpPr>
          <p:cNvPr id="31" name="Group 30">
            <a:extLst>
              <a:ext uri="{FF2B5EF4-FFF2-40B4-BE49-F238E27FC236}">
                <a16:creationId xmlns:a16="http://schemas.microsoft.com/office/drawing/2014/main" id="{96534D5B-F35D-72F5-AF82-39AD3CCA02A7}"/>
              </a:ext>
            </a:extLst>
          </p:cNvPr>
          <p:cNvGrpSpPr/>
          <p:nvPr/>
        </p:nvGrpSpPr>
        <p:grpSpPr>
          <a:xfrm>
            <a:off x="533399" y="2514600"/>
            <a:ext cx="8353308" cy="3314343"/>
            <a:chOff x="533399" y="2514600"/>
            <a:chExt cx="8353308" cy="3314343"/>
          </a:xfrm>
        </p:grpSpPr>
        <p:grpSp>
          <p:nvGrpSpPr>
            <p:cNvPr id="11" name="Group 10" descr="Figure of an AND-OR Tree.">
              <a:extLst>
                <a:ext uri="{FF2B5EF4-FFF2-40B4-BE49-F238E27FC236}">
                  <a16:creationId xmlns:a16="http://schemas.microsoft.com/office/drawing/2014/main" id="{B3F1A244-F1A3-8522-2044-49C1A2ADC80F}"/>
                </a:ext>
              </a:extLst>
            </p:cNvPr>
            <p:cNvGrpSpPr/>
            <p:nvPr/>
          </p:nvGrpSpPr>
          <p:grpSpPr>
            <a:xfrm>
              <a:off x="533399" y="2514600"/>
              <a:ext cx="8353308" cy="3314343"/>
              <a:chOff x="533399" y="2514600"/>
              <a:chExt cx="8353308" cy="3314343"/>
            </a:xfrm>
          </p:grpSpPr>
          <p:pic>
            <p:nvPicPr>
              <p:cNvPr id="10" name="Picture 9">
                <a:extLst>
                  <a:ext uri="{FF2B5EF4-FFF2-40B4-BE49-F238E27FC236}">
                    <a16:creationId xmlns:a16="http://schemas.microsoft.com/office/drawing/2014/main" id="{FB3752C0-3A05-43FA-9DC7-1F2C5C311EC3}"/>
                  </a:ext>
                </a:extLst>
              </p:cNvPr>
              <p:cNvPicPr>
                <a:picLocks noChangeAspect="1"/>
              </p:cNvPicPr>
              <p:nvPr/>
            </p:nvPicPr>
            <p:blipFill>
              <a:blip r:embed="rId2"/>
              <a:stretch>
                <a:fillRect/>
              </a:stretch>
            </p:blipFill>
            <p:spPr>
              <a:xfrm>
                <a:off x="5880100" y="2514600"/>
                <a:ext cx="3006607" cy="2590800"/>
              </a:xfrm>
              <a:prstGeom prst="rect">
                <a:avLst/>
              </a:prstGeom>
            </p:spPr>
          </p:pic>
          <p:sp>
            <p:nvSpPr>
              <p:cNvPr id="13" name="Rectangle 12">
                <a:extLst>
                  <a:ext uri="{FF2B5EF4-FFF2-40B4-BE49-F238E27FC236}">
                    <a16:creationId xmlns:a16="http://schemas.microsoft.com/office/drawing/2014/main" id="{B4941423-AB1C-4666-9F27-F29FFFADFD5A}"/>
                  </a:ext>
                </a:extLst>
              </p:cNvPr>
              <p:cNvSpPr/>
              <p:nvPr/>
            </p:nvSpPr>
            <p:spPr>
              <a:xfrm>
                <a:off x="7419498" y="4433888"/>
                <a:ext cx="1435100" cy="671511"/>
              </a:xfrm>
              <a:prstGeom prst="rect">
                <a:avLst/>
              </a:prstGeom>
              <a:solidFill>
                <a:srgbClr val="7030A0">
                  <a:alpha val="7843"/>
                </a:srgbClr>
              </a:solidFill>
              <a:ln>
                <a:solidFill>
                  <a:srgbClr val="CC0099"/>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pic>
            <p:nvPicPr>
              <p:cNvPr id="14" name="Picture 13">
                <a:extLst>
                  <a:ext uri="{FF2B5EF4-FFF2-40B4-BE49-F238E27FC236}">
                    <a16:creationId xmlns:a16="http://schemas.microsoft.com/office/drawing/2014/main" id="{73002904-EC0A-42E1-8B4E-3165D9A349B9}"/>
                  </a:ext>
                </a:extLst>
              </p:cNvPr>
              <p:cNvPicPr>
                <a:picLocks noChangeAspect="1"/>
              </p:cNvPicPr>
              <p:nvPr/>
            </p:nvPicPr>
            <p:blipFill>
              <a:blip r:embed="rId3"/>
              <a:stretch>
                <a:fillRect/>
              </a:stretch>
            </p:blipFill>
            <p:spPr>
              <a:xfrm>
                <a:off x="1080477" y="2590800"/>
                <a:ext cx="4634523" cy="2743200"/>
              </a:xfrm>
              <a:prstGeom prst="rect">
                <a:avLst/>
              </a:prstGeom>
            </p:spPr>
          </p:pic>
          <p:sp>
            <p:nvSpPr>
              <p:cNvPr id="15" name="TextBox 14">
                <a:extLst>
                  <a:ext uri="{FF2B5EF4-FFF2-40B4-BE49-F238E27FC236}">
                    <a16:creationId xmlns:a16="http://schemas.microsoft.com/office/drawing/2014/main" id="{D8C82DCC-B37A-4B84-8659-8C6CCFE0E65D}"/>
                  </a:ext>
                </a:extLst>
              </p:cNvPr>
              <p:cNvSpPr txBox="1"/>
              <p:nvPr/>
            </p:nvSpPr>
            <p:spPr>
              <a:xfrm>
                <a:off x="960022" y="3990201"/>
                <a:ext cx="816249" cy="276999"/>
              </a:xfrm>
              <a:prstGeom prst="rect">
                <a:avLst/>
              </a:prstGeom>
              <a:solidFill>
                <a:schemeClr val="bg1"/>
              </a:solidFill>
            </p:spPr>
            <p:txBody>
              <a:bodyPr wrap="square" rtlCol="0">
                <a:spAutoFit/>
              </a:bodyPr>
              <a:lstStyle/>
              <a:p>
                <a:pPr algn="r"/>
                <a:r>
                  <a:rPr lang="en-US" sz="1200" i="1" dirty="0"/>
                  <a:t>[</a:t>
                </a:r>
                <a:r>
                  <a:rPr lang="en-US" sz="1200" i="1" dirty="0" err="1"/>
                  <a:t>A,Clean</a:t>
                </a:r>
                <a:r>
                  <a:rPr lang="en-US" sz="1200" i="1" dirty="0"/>
                  <a:t>]</a:t>
                </a:r>
              </a:p>
            </p:txBody>
          </p:sp>
          <p:sp>
            <p:nvSpPr>
              <p:cNvPr id="16" name="TextBox 15">
                <a:extLst>
                  <a:ext uri="{FF2B5EF4-FFF2-40B4-BE49-F238E27FC236}">
                    <a16:creationId xmlns:a16="http://schemas.microsoft.com/office/drawing/2014/main" id="{C0D77DE8-AA0D-4A55-A357-D6E2295F823A}"/>
                  </a:ext>
                </a:extLst>
              </p:cNvPr>
              <p:cNvSpPr txBox="1"/>
              <p:nvPr/>
            </p:nvSpPr>
            <p:spPr>
              <a:xfrm>
                <a:off x="4770022" y="3962400"/>
                <a:ext cx="816249" cy="276999"/>
              </a:xfrm>
              <a:prstGeom prst="rect">
                <a:avLst/>
              </a:prstGeom>
              <a:solidFill>
                <a:schemeClr val="bg1"/>
              </a:solidFill>
            </p:spPr>
            <p:txBody>
              <a:bodyPr wrap="square" rtlCol="0">
                <a:spAutoFit/>
              </a:bodyPr>
              <a:lstStyle/>
              <a:p>
                <a:r>
                  <a:rPr lang="en-US" sz="1200" i="1" dirty="0"/>
                  <a:t>[</a:t>
                </a:r>
                <a:r>
                  <a:rPr lang="en-US" sz="1200" i="1" dirty="0" err="1"/>
                  <a:t>B,Clean</a:t>
                </a:r>
                <a:r>
                  <a:rPr lang="en-US" sz="1200" i="1" dirty="0"/>
                  <a:t>]</a:t>
                </a:r>
              </a:p>
            </p:txBody>
          </p:sp>
          <p:sp>
            <p:nvSpPr>
              <p:cNvPr id="17" name="TextBox 16">
                <a:extLst>
                  <a:ext uri="{FF2B5EF4-FFF2-40B4-BE49-F238E27FC236}">
                    <a16:creationId xmlns:a16="http://schemas.microsoft.com/office/drawing/2014/main" id="{7107D780-4884-4BE8-9596-2CF831F32987}"/>
                  </a:ext>
                </a:extLst>
              </p:cNvPr>
              <p:cNvSpPr txBox="1"/>
              <p:nvPr/>
            </p:nvSpPr>
            <p:spPr>
              <a:xfrm>
                <a:off x="3398422" y="3962400"/>
                <a:ext cx="816249" cy="276999"/>
              </a:xfrm>
              <a:prstGeom prst="rect">
                <a:avLst/>
              </a:prstGeom>
              <a:solidFill>
                <a:schemeClr val="bg1"/>
              </a:solidFill>
            </p:spPr>
            <p:txBody>
              <a:bodyPr wrap="square" rtlCol="0">
                <a:spAutoFit/>
              </a:bodyPr>
              <a:lstStyle/>
              <a:p>
                <a:pPr algn="r"/>
                <a:r>
                  <a:rPr lang="en-US" sz="1200" i="1" dirty="0"/>
                  <a:t>[</a:t>
                </a:r>
                <a:r>
                  <a:rPr lang="en-US" sz="1200" i="1" dirty="0" err="1"/>
                  <a:t>B,Dirty</a:t>
                </a:r>
                <a:r>
                  <a:rPr lang="en-US" sz="1200" i="1" dirty="0"/>
                  <a:t>]</a:t>
                </a:r>
              </a:p>
            </p:txBody>
          </p:sp>
          <p:sp>
            <p:nvSpPr>
              <p:cNvPr id="18" name="TextBox 17">
                <a:extLst>
                  <a:ext uri="{FF2B5EF4-FFF2-40B4-BE49-F238E27FC236}">
                    <a16:creationId xmlns:a16="http://schemas.microsoft.com/office/drawing/2014/main" id="{D5BDC666-59F2-4DA5-87B7-311CEDA56EBE}"/>
                  </a:ext>
                </a:extLst>
              </p:cNvPr>
              <p:cNvSpPr txBox="1"/>
              <p:nvPr/>
            </p:nvSpPr>
            <p:spPr>
              <a:xfrm>
                <a:off x="3024475" y="3556378"/>
                <a:ext cx="439544" cy="338554"/>
              </a:xfrm>
              <a:prstGeom prst="rect">
                <a:avLst/>
              </a:prstGeom>
              <a:noFill/>
            </p:spPr>
            <p:txBody>
              <a:bodyPr wrap="none" rtlCol="0">
                <a:spAutoFit/>
              </a:bodyPr>
              <a:lstStyle/>
              <a:p>
                <a:r>
                  <a:rPr lang="en-US" sz="1600" b="1" dirty="0"/>
                  <a:t>OR</a:t>
                </a:r>
              </a:p>
            </p:txBody>
          </p:sp>
          <p:sp>
            <p:nvSpPr>
              <p:cNvPr id="19" name="TextBox 18">
                <a:extLst>
                  <a:ext uri="{FF2B5EF4-FFF2-40B4-BE49-F238E27FC236}">
                    <a16:creationId xmlns:a16="http://schemas.microsoft.com/office/drawing/2014/main" id="{7BEE92C8-0BF8-4674-AAD0-F33352146E4D}"/>
                  </a:ext>
                </a:extLst>
              </p:cNvPr>
              <p:cNvSpPr txBox="1"/>
              <p:nvPr/>
            </p:nvSpPr>
            <p:spPr>
              <a:xfrm>
                <a:off x="4205076" y="4137590"/>
                <a:ext cx="574196" cy="338554"/>
              </a:xfrm>
              <a:prstGeom prst="rect">
                <a:avLst/>
              </a:prstGeom>
              <a:noFill/>
            </p:spPr>
            <p:txBody>
              <a:bodyPr wrap="none" rtlCol="0">
                <a:spAutoFit/>
              </a:bodyPr>
              <a:lstStyle/>
              <a:p>
                <a:r>
                  <a:rPr lang="en-US" sz="1600" b="1" dirty="0"/>
                  <a:t>AND</a:t>
                </a:r>
              </a:p>
            </p:txBody>
          </p:sp>
          <p:sp>
            <p:nvSpPr>
              <p:cNvPr id="20" name="TextBox 19">
                <a:extLst>
                  <a:ext uri="{FF2B5EF4-FFF2-40B4-BE49-F238E27FC236}">
                    <a16:creationId xmlns:a16="http://schemas.microsoft.com/office/drawing/2014/main" id="{7D728E31-62E6-45E8-8BFA-F5445BDB536C}"/>
                  </a:ext>
                </a:extLst>
              </p:cNvPr>
              <p:cNvSpPr txBox="1"/>
              <p:nvPr/>
            </p:nvSpPr>
            <p:spPr>
              <a:xfrm>
                <a:off x="1905398" y="4005305"/>
                <a:ext cx="574196" cy="338554"/>
              </a:xfrm>
              <a:prstGeom prst="rect">
                <a:avLst/>
              </a:prstGeom>
              <a:noFill/>
            </p:spPr>
            <p:txBody>
              <a:bodyPr wrap="none" rtlCol="0">
                <a:spAutoFit/>
              </a:bodyPr>
              <a:lstStyle/>
              <a:p>
                <a:r>
                  <a:rPr lang="en-US" sz="1600" b="1" dirty="0"/>
                  <a:t>AND</a:t>
                </a:r>
              </a:p>
            </p:txBody>
          </p:sp>
          <p:cxnSp>
            <p:nvCxnSpPr>
              <p:cNvPr id="23" name="Straight Arrow Connector 22">
                <a:extLst>
                  <a:ext uri="{FF2B5EF4-FFF2-40B4-BE49-F238E27FC236}">
                    <a16:creationId xmlns:a16="http://schemas.microsoft.com/office/drawing/2014/main" id="{ABCAB613-601B-47FB-89A3-6A8A55BC2354}"/>
                  </a:ext>
                </a:extLst>
              </p:cNvPr>
              <p:cNvCxnSpPr>
                <a:cxnSpLocks/>
              </p:cNvCxnSpPr>
              <p:nvPr/>
            </p:nvCxnSpPr>
            <p:spPr>
              <a:xfrm flipH="1">
                <a:off x="2051268" y="3374143"/>
                <a:ext cx="767671" cy="52078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3220BD2-8063-4F23-8315-7099A3631478}"/>
                  </a:ext>
                </a:extLst>
              </p:cNvPr>
              <p:cNvCxnSpPr>
                <a:cxnSpLocks/>
              </p:cNvCxnSpPr>
              <p:nvPr/>
            </p:nvCxnSpPr>
            <p:spPr>
              <a:xfrm>
                <a:off x="2058066" y="5185479"/>
                <a:ext cx="363829" cy="17632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18CEA8FB-1F00-4A4B-9CF1-CAE2E8DEB8D8}"/>
                  </a:ext>
                </a:extLst>
              </p:cNvPr>
              <p:cNvSpPr txBox="1"/>
              <p:nvPr/>
            </p:nvSpPr>
            <p:spPr>
              <a:xfrm>
                <a:off x="2403301" y="4983985"/>
                <a:ext cx="452376" cy="523220"/>
              </a:xfrm>
              <a:prstGeom prst="rect">
                <a:avLst/>
              </a:prstGeom>
              <a:noFill/>
            </p:spPr>
            <p:txBody>
              <a:bodyPr wrap="square" rtlCol="0">
                <a:spAutoFit/>
              </a:bodyPr>
              <a:lstStyle/>
              <a:p>
                <a:r>
                  <a:rPr lang="en-US" sz="2800" dirty="0">
                    <a:solidFill>
                      <a:srgbClr val="FF0000"/>
                    </a:solidFill>
                  </a:rPr>
                  <a:t>…</a:t>
                </a:r>
              </a:p>
            </p:txBody>
          </p:sp>
          <p:sp>
            <p:nvSpPr>
              <p:cNvPr id="26" name="Arrow: Right 25">
                <a:extLst>
                  <a:ext uri="{FF2B5EF4-FFF2-40B4-BE49-F238E27FC236}">
                    <a16:creationId xmlns:a16="http://schemas.microsoft.com/office/drawing/2014/main" id="{2FDB1899-3349-4CEC-A9C1-CD174D03A15C}"/>
                  </a:ext>
                </a:extLst>
              </p:cNvPr>
              <p:cNvSpPr/>
              <p:nvPr/>
            </p:nvSpPr>
            <p:spPr>
              <a:xfrm rot="5400000">
                <a:off x="344428" y="3141900"/>
                <a:ext cx="952143" cy="574199"/>
              </a:xfrm>
              <a:prstGeom prst="rightArrow">
                <a:avLst>
                  <a:gd name="adj1" fmla="val 50000"/>
                  <a:gd name="adj2" fmla="val 34762"/>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sz="1600" dirty="0"/>
                  <a:t>predict</a:t>
                </a:r>
              </a:p>
            </p:txBody>
          </p:sp>
          <p:sp>
            <p:nvSpPr>
              <p:cNvPr id="27" name="Arrow: Right 26">
                <a:extLst>
                  <a:ext uri="{FF2B5EF4-FFF2-40B4-BE49-F238E27FC236}">
                    <a16:creationId xmlns:a16="http://schemas.microsoft.com/office/drawing/2014/main" id="{A13F12A0-22C3-4F15-B2F1-FD7A58CA0D20}"/>
                  </a:ext>
                </a:extLst>
              </p:cNvPr>
              <p:cNvSpPr/>
              <p:nvPr/>
            </p:nvSpPr>
            <p:spPr>
              <a:xfrm rot="5400000">
                <a:off x="344430" y="4094045"/>
                <a:ext cx="952143" cy="574197"/>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1600" dirty="0"/>
                  <a:t>update</a:t>
                </a:r>
              </a:p>
            </p:txBody>
          </p:sp>
          <p:sp>
            <p:nvSpPr>
              <p:cNvPr id="28" name="Arrow: Right 27">
                <a:extLst>
                  <a:ext uri="{FF2B5EF4-FFF2-40B4-BE49-F238E27FC236}">
                    <a16:creationId xmlns:a16="http://schemas.microsoft.com/office/drawing/2014/main" id="{8EEEAC75-7EF8-4397-8826-531143CCD5F7}"/>
                  </a:ext>
                </a:extLst>
              </p:cNvPr>
              <p:cNvSpPr/>
              <p:nvPr/>
            </p:nvSpPr>
            <p:spPr>
              <a:xfrm rot="5400000">
                <a:off x="573027" y="4799429"/>
                <a:ext cx="494943" cy="574199"/>
              </a:xfrm>
              <a:prstGeom prst="rightArrow">
                <a:avLst>
                  <a:gd name="adj1" fmla="val 50000"/>
                  <a:gd name="adj2" fmla="val 34762"/>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US" sz="1600" dirty="0"/>
              </a:p>
            </p:txBody>
          </p:sp>
          <p:sp>
            <p:nvSpPr>
              <p:cNvPr id="29" name="Arrow: Right 28">
                <a:extLst>
                  <a:ext uri="{FF2B5EF4-FFF2-40B4-BE49-F238E27FC236}">
                    <a16:creationId xmlns:a16="http://schemas.microsoft.com/office/drawing/2014/main" id="{1F2D30DD-23D1-4256-A4BB-A81C76C82106}"/>
                  </a:ext>
                </a:extLst>
              </p:cNvPr>
              <p:cNvSpPr/>
              <p:nvPr/>
            </p:nvSpPr>
            <p:spPr>
              <a:xfrm rot="5400000">
                <a:off x="573026" y="5294373"/>
                <a:ext cx="494943" cy="574197"/>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sz="1600" dirty="0"/>
              </a:p>
            </p:txBody>
          </p:sp>
          <p:cxnSp>
            <p:nvCxnSpPr>
              <p:cNvPr id="32" name="Straight Arrow Connector 31">
                <a:extLst>
                  <a:ext uri="{FF2B5EF4-FFF2-40B4-BE49-F238E27FC236}">
                    <a16:creationId xmlns:a16="http://schemas.microsoft.com/office/drawing/2014/main" id="{B6D2093E-389B-45D2-9E5D-C37B6563918B}"/>
                  </a:ext>
                </a:extLst>
              </p:cNvPr>
              <p:cNvCxnSpPr>
                <a:cxnSpLocks/>
              </p:cNvCxnSpPr>
              <p:nvPr/>
            </p:nvCxnSpPr>
            <p:spPr>
              <a:xfrm>
                <a:off x="1905398" y="4047332"/>
                <a:ext cx="0" cy="29652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DF414CE-F252-4E1F-ACD7-2665E3AC2AF7}"/>
                  </a:ext>
                </a:extLst>
              </p:cNvPr>
              <p:cNvCxnSpPr>
                <a:cxnSpLocks/>
              </p:cNvCxnSpPr>
              <p:nvPr/>
            </p:nvCxnSpPr>
            <p:spPr>
              <a:xfrm>
                <a:off x="8206063" y="4213702"/>
                <a:ext cx="0" cy="47224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235B935-1D94-87C9-4866-183BC71B1008}"/>
                  </a:ext>
                </a:extLst>
              </p:cNvPr>
              <p:cNvSpPr/>
              <p:nvPr/>
            </p:nvSpPr>
            <p:spPr>
              <a:xfrm>
                <a:off x="7383403" y="3786189"/>
                <a:ext cx="1503304" cy="139929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sp>
          <p:nvSpPr>
            <p:cNvPr id="30" name="TextBox 29">
              <a:extLst>
                <a:ext uri="{FF2B5EF4-FFF2-40B4-BE49-F238E27FC236}">
                  <a16:creationId xmlns:a16="http://schemas.microsoft.com/office/drawing/2014/main" id="{CA856504-8C4A-1A90-AA48-717024DB2FFF}"/>
                </a:ext>
              </a:extLst>
            </p:cNvPr>
            <p:cNvSpPr txBox="1"/>
            <p:nvPr/>
          </p:nvSpPr>
          <p:spPr>
            <a:xfrm>
              <a:off x="7593316" y="4246245"/>
              <a:ext cx="738475" cy="369332"/>
            </a:xfrm>
            <a:prstGeom prst="rect">
              <a:avLst/>
            </a:prstGeom>
            <a:noFill/>
          </p:spPr>
          <p:txBody>
            <a:bodyPr wrap="square">
              <a:spAutoFit/>
            </a:bodyPr>
            <a:lstStyle/>
            <a:p>
              <a:r>
                <a:rPr lang="en-US" sz="1800" b="1" i="1" dirty="0">
                  <a:solidFill>
                    <a:srgbClr val="FF0000"/>
                  </a:solidFill>
                </a:rPr>
                <a:t>Suck</a:t>
              </a:r>
              <a:endParaRPr lang="en-US" dirty="0"/>
            </a:p>
          </p:txBody>
        </p:sp>
      </p:grpSp>
      <p:grpSp>
        <p:nvGrpSpPr>
          <p:cNvPr id="12" name="Group 11">
            <a:extLst>
              <a:ext uri="{FF2B5EF4-FFF2-40B4-BE49-F238E27FC236}">
                <a16:creationId xmlns:a16="http://schemas.microsoft.com/office/drawing/2014/main" id="{EFEECDC3-2CF9-177C-DBB6-6BE120E02074}"/>
              </a:ext>
            </a:extLst>
          </p:cNvPr>
          <p:cNvGrpSpPr/>
          <p:nvPr/>
        </p:nvGrpSpPr>
        <p:grpSpPr>
          <a:xfrm>
            <a:off x="6449969" y="403492"/>
            <a:ext cx="2438400" cy="1504028"/>
            <a:chOff x="6449969" y="403492"/>
            <a:chExt cx="2438400" cy="1504028"/>
          </a:xfrm>
        </p:grpSpPr>
        <p:grpSp>
          <p:nvGrpSpPr>
            <p:cNvPr id="21" name="Group 20">
              <a:extLst>
                <a:ext uri="{FF2B5EF4-FFF2-40B4-BE49-F238E27FC236}">
                  <a16:creationId xmlns:a16="http://schemas.microsoft.com/office/drawing/2014/main" id="{821E5F4C-7225-1508-C8F6-500249CA21A4}"/>
                </a:ext>
                <a:ext uri="{C183D7F6-B498-43B3-948B-1728B52AA6E4}">
                  <adec:decorative xmlns:adec="http://schemas.microsoft.com/office/drawing/2017/decorative" val="1"/>
                </a:ext>
              </a:extLst>
            </p:cNvPr>
            <p:cNvGrpSpPr/>
            <p:nvPr/>
          </p:nvGrpSpPr>
          <p:grpSpPr>
            <a:xfrm>
              <a:off x="6449969" y="403492"/>
              <a:ext cx="2438400" cy="1248829"/>
              <a:chOff x="6076950" y="365126"/>
              <a:chExt cx="2438400" cy="1248829"/>
            </a:xfrm>
          </p:grpSpPr>
          <p:pic>
            <p:nvPicPr>
              <p:cNvPr id="34" name="Picture 4" descr="vacuum2-environment">
                <a:extLst>
                  <a:ext uri="{FF2B5EF4-FFF2-40B4-BE49-F238E27FC236}">
                    <a16:creationId xmlns:a16="http://schemas.microsoft.com/office/drawing/2014/main" id="{86F6F270-AB91-67E8-2DB6-C09D90BA00DD}"/>
                  </a:ext>
                </a:extLst>
              </p:cNvPr>
              <p:cNvPicPr>
                <a:picLocks noChangeAspect="1" noChangeArrowheads="1"/>
              </p:cNvPicPr>
              <p:nvPr/>
            </p:nvPicPr>
            <p:blipFill>
              <a:blip r:embed="rId4" cstate="print"/>
              <a:srcRect/>
              <a:stretch>
                <a:fillRect/>
              </a:stretch>
            </p:blipFill>
            <p:spPr bwMode="auto">
              <a:xfrm>
                <a:off x="6076950" y="365126"/>
                <a:ext cx="2438400" cy="1247554"/>
              </a:xfrm>
              <a:prstGeom prst="rect">
                <a:avLst/>
              </a:prstGeom>
              <a:noFill/>
            </p:spPr>
          </p:pic>
          <p:sp>
            <p:nvSpPr>
              <p:cNvPr id="35" name="TextBox 34">
                <a:extLst>
                  <a:ext uri="{FF2B5EF4-FFF2-40B4-BE49-F238E27FC236}">
                    <a16:creationId xmlns:a16="http://schemas.microsoft.com/office/drawing/2014/main" id="{6C3EA72F-5A2E-4C4F-E609-D4A4951EF0A7}"/>
                  </a:ext>
                </a:extLst>
              </p:cNvPr>
              <p:cNvSpPr txBox="1"/>
              <p:nvPr/>
            </p:nvSpPr>
            <p:spPr>
              <a:xfrm rot="1308263">
                <a:off x="7625452" y="690625"/>
                <a:ext cx="381000" cy="923330"/>
              </a:xfrm>
              <a:prstGeom prst="rect">
                <a:avLst/>
              </a:prstGeom>
              <a:noFill/>
            </p:spPr>
            <p:txBody>
              <a:bodyPr wrap="square" rtlCol="0">
                <a:spAutoFit/>
              </a:bodyPr>
              <a:lstStyle/>
              <a:p>
                <a:r>
                  <a:rPr lang="en-US" sz="5400" b="1" dirty="0">
                    <a:solidFill>
                      <a:srgbClr val="FF0000"/>
                    </a:solidFill>
                  </a:rPr>
                  <a:t>?</a:t>
                </a:r>
              </a:p>
            </p:txBody>
          </p:sp>
        </p:grpSp>
        <p:sp>
          <p:nvSpPr>
            <p:cNvPr id="22" name="TextBox 21">
              <a:extLst>
                <a:ext uri="{FF2B5EF4-FFF2-40B4-BE49-F238E27FC236}">
                  <a16:creationId xmlns:a16="http://schemas.microsoft.com/office/drawing/2014/main" id="{6B715C7A-4800-E106-A5A1-2D96432AC59C}"/>
                </a:ext>
              </a:extLst>
            </p:cNvPr>
            <p:cNvSpPr txBox="1"/>
            <p:nvPr/>
          </p:nvSpPr>
          <p:spPr>
            <a:xfrm>
              <a:off x="6867845" y="1599743"/>
              <a:ext cx="1722074" cy="307777"/>
            </a:xfrm>
            <a:prstGeom prst="rect">
              <a:avLst/>
            </a:prstGeom>
            <a:noFill/>
          </p:spPr>
          <p:txBody>
            <a:bodyPr wrap="none" rtlCol="0">
              <a:spAutoFit/>
            </a:bodyPr>
            <a:lstStyle/>
            <a:p>
              <a:r>
                <a:rPr lang="en-US" sz="1400" dirty="0"/>
                <a:t>Only local dirt sensor</a:t>
              </a:r>
            </a:p>
          </p:txBody>
        </p:sp>
      </p:grpSp>
      <p:sp>
        <p:nvSpPr>
          <p:cNvPr id="36" name="Content Placeholder 2">
            <a:extLst>
              <a:ext uri="{FF2B5EF4-FFF2-40B4-BE49-F238E27FC236}">
                <a16:creationId xmlns:a16="http://schemas.microsoft.com/office/drawing/2014/main" id="{51A3E0D1-1348-FE62-E752-F9FCD29BE365}"/>
              </a:ext>
            </a:extLst>
          </p:cNvPr>
          <p:cNvSpPr txBox="1">
            <a:spLocks/>
          </p:cNvSpPr>
          <p:nvPr/>
        </p:nvSpPr>
        <p:spPr>
          <a:xfrm>
            <a:off x="598171" y="2074253"/>
            <a:ext cx="7886700" cy="578329"/>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Use an AND-OR tree of belief states to create a </a:t>
            </a:r>
            <a:r>
              <a:rPr lang="en-US" b="1"/>
              <a:t>conditional plan.</a:t>
            </a:r>
            <a:endParaRPr lang="en-US" b="1" dirty="0"/>
          </a:p>
        </p:txBody>
      </p:sp>
      <p:sp>
        <p:nvSpPr>
          <p:cNvPr id="3" name="Speech Bubble: Rectangle with Corners Rounded 2">
            <a:extLst>
              <a:ext uri="{FF2B5EF4-FFF2-40B4-BE49-F238E27FC236}">
                <a16:creationId xmlns:a16="http://schemas.microsoft.com/office/drawing/2014/main" id="{6185F5F6-E095-AEEC-D637-19781DB6E986}"/>
              </a:ext>
            </a:extLst>
          </p:cNvPr>
          <p:cNvSpPr/>
          <p:nvPr/>
        </p:nvSpPr>
        <p:spPr>
          <a:xfrm>
            <a:off x="3657600" y="5901664"/>
            <a:ext cx="2479581" cy="727473"/>
          </a:xfrm>
          <a:prstGeom prst="wedgeRoundRectCallout">
            <a:avLst>
              <a:gd name="adj1" fmla="val -13610"/>
              <a:gd name="adj2" fmla="val -6753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Conditioned on the observation</a:t>
            </a:r>
          </a:p>
        </p:txBody>
      </p:sp>
    </p:spTree>
    <p:extLst>
      <p:ext uri="{BB962C8B-B14F-4D97-AF65-F5344CB8AC3E}">
        <p14:creationId xmlns:p14="http://schemas.microsoft.com/office/powerpoint/2010/main" val="22603787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89E0B-9553-41BC-905E-02092AA597D9}"/>
              </a:ext>
            </a:extLst>
          </p:cNvPr>
          <p:cNvSpPr>
            <a:spLocks noGrp="1"/>
          </p:cNvSpPr>
          <p:nvPr>
            <p:ph type="title"/>
          </p:nvPr>
        </p:nvSpPr>
        <p:spPr>
          <a:xfrm>
            <a:off x="628650" y="365126"/>
            <a:ext cx="5314950" cy="1325563"/>
          </a:xfrm>
        </p:spPr>
        <p:txBody>
          <a:bodyPr>
            <a:noAutofit/>
          </a:bodyPr>
          <a:lstStyle/>
          <a:p>
            <a:r>
              <a:rPr lang="en-US" sz="3600" dirty="0"/>
              <a:t>State Estimation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905D55-479C-478C-93E1-43A247B9C574}"/>
                  </a:ext>
                </a:extLst>
              </p:cNvPr>
              <p:cNvSpPr>
                <a:spLocks noGrp="1"/>
              </p:cNvSpPr>
              <p:nvPr>
                <p:ph idx="1"/>
              </p:nvPr>
            </p:nvSpPr>
            <p:spPr>
              <a:xfrm>
                <a:off x="633730" y="1929922"/>
                <a:ext cx="7886700" cy="4470877"/>
              </a:xfrm>
            </p:spPr>
            <p:txBody>
              <a:bodyPr>
                <a:normAutofit fontScale="62500" lnSpcReduction="20000"/>
              </a:bodyPr>
              <a:lstStyle/>
              <a:p>
                <a:r>
                  <a:rPr lang="en-US" dirty="0"/>
                  <a:t>Agents choose an </a:t>
                </a:r>
                <a:r>
                  <a:rPr lang="en-US" b="1" dirty="0"/>
                  <a:t>action</a:t>
                </a:r>
                <a:r>
                  <a:rPr lang="en-US" dirty="0"/>
                  <a:t> and then receive an </a:t>
                </a:r>
                <a:r>
                  <a:rPr lang="en-US" b="1" dirty="0"/>
                  <a:t>observation</a:t>
                </a:r>
                <a:r>
                  <a:rPr lang="en-US" dirty="0"/>
                  <a:t> from the environment.</a:t>
                </a:r>
              </a:p>
              <a:p>
                <a:r>
                  <a:rPr lang="en-US" dirty="0"/>
                  <a:t>The agent keeps track of its belief state using the following update:</a:t>
                </a:r>
              </a:p>
              <a:p>
                <a:endParaRPr lang="en-US" dirty="0"/>
              </a:p>
              <a:p>
                <a:pPr marL="0" indent="0">
                  <a:buNone/>
                </a:pPr>
                <a14:m>
                  <m:oMathPara xmlns:m="http://schemas.openxmlformats.org/officeDocument/2006/math">
                    <m:oMath>
                      <m:r>
                        <a:rPr lang="en-US" b="0" i="1" smtClean="0">
                          <a:latin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𝑈𝑝𝑑𝑎𝑡𝑒</m:t>
                      </m:r>
                      <m:d>
                        <m:dPr>
                          <m:ctrlPr>
                            <a:rPr lang="en-US" b="0" i="1" smtClean="0">
                              <a:latin typeface="Cambria Math" panose="02040503050406030204" pitchFamily="18" charset="0"/>
                            </a:rPr>
                          </m:ctrlPr>
                        </m:dPr>
                        <m:e>
                          <m:r>
                            <a:rPr lang="en-US" b="0" i="1" smtClean="0">
                              <a:latin typeface="Cambria Math" panose="02040503050406030204" pitchFamily="18" charset="0"/>
                            </a:rPr>
                            <m:t>𝑃𝑟𝑒𝑑𝑖𝑐𝑡</m:t>
                          </m:r>
                          <m:d>
                            <m:dPr>
                              <m:ctrlPr>
                                <a:rPr lang="en-US" b="0" i="1" smtClean="0">
                                  <a:latin typeface="Cambria Math" panose="02040503050406030204" pitchFamily="18" charset="0"/>
                                </a:rPr>
                              </m:ctrlPr>
                            </m:dPr>
                            <m:e>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r>
                            <a:rPr lang="en-US" b="0" i="1" smtClean="0">
                              <a:latin typeface="Cambria Math" panose="02040503050406030204" pitchFamily="18" charset="0"/>
                            </a:rPr>
                            <m:t>𝑜</m:t>
                          </m:r>
                        </m:e>
                      </m:d>
                    </m:oMath>
                  </m:oMathPara>
                </a14:m>
                <a:endParaRPr lang="en-US" b="0" dirty="0"/>
              </a:p>
              <a:p>
                <a:pPr marL="0" indent="0">
                  <a:buNone/>
                </a:pPr>
                <a:endParaRPr lang="en-US" dirty="0"/>
              </a:p>
              <a:p>
                <a:r>
                  <a:rPr lang="en-US" dirty="0"/>
                  <a:t>This process is often called</a:t>
                </a:r>
              </a:p>
              <a:p>
                <a:pPr lvl="1"/>
                <a:r>
                  <a:rPr lang="en-US" sz="2900" b="1" dirty="0"/>
                  <a:t>monitoring</a:t>
                </a:r>
                <a:r>
                  <a:rPr lang="en-US" sz="2900" dirty="0"/>
                  <a:t>,</a:t>
                </a:r>
              </a:p>
              <a:p>
                <a:pPr lvl="1"/>
                <a:r>
                  <a:rPr lang="en-US" sz="2900" b="1" dirty="0"/>
                  <a:t>filtering</a:t>
                </a:r>
                <a:r>
                  <a:rPr lang="en-US" sz="2900" dirty="0"/>
                  <a:t>, or</a:t>
                </a:r>
              </a:p>
              <a:p>
                <a:pPr lvl="1"/>
                <a:r>
                  <a:rPr lang="en-US" sz="2900" b="1" dirty="0"/>
                  <a:t>state estimation</a:t>
                </a:r>
                <a:r>
                  <a:rPr lang="en-US" sz="2900" dirty="0"/>
                  <a:t>.</a:t>
                </a:r>
              </a:p>
              <a:p>
                <a:pPr lvl="1"/>
                <a:endParaRPr lang="en-US" dirty="0"/>
              </a:p>
              <a:p>
                <a:pPr>
                  <a:lnSpc>
                    <a:spcPct val="120000"/>
                  </a:lnSpc>
                </a:pPr>
                <a:r>
                  <a:rPr lang="en-US" b="1" dirty="0"/>
                  <a:t>Issue: </a:t>
                </a:r>
                <a:r>
                  <a:rPr lang="en-US" dirty="0"/>
                  <a:t>The agent needs to be able to update its belief state following observations in </a:t>
                </a:r>
                <a:r>
                  <a:rPr lang="en-US" b="1" dirty="0"/>
                  <a:t>real time</a:t>
                </a:r>
                <a:r>
                  <a:rPr lang="en-US" dirty="0"/>
                  <a:t>! For many practical applications, there is only time to compute an </a:t>
                </a:r>
                <a:r>
                  <a:rPr lang="en-US" b="1" dirty="0"/>
                  <a:t>approximate belief state! </a:t>
                </a:r>
                <a:r>
                  <a:rPr lang="en-US" dirty="0"/>
                  <a:t>Such approximations are commonly used in control theory and reinforcement learning.</a:t>
                </a:r>
                <a:endParaRPr lang="en-US" b="1" dirty="0"/>
              </a:p>
            </p:txBody>
          </p:sp>
        </mc:Choice>
        <mc:Fallback xmlns="">
          <p:sp>
            <p:nvSpPr>
              <p:cNvPr id="3" name="Content Placeholder 2">
                <a:extLst>
                  <a:ext uri="{FF2B5EF4-FFF2-40B4-BE49-F238E27FC236}">
                    <a16:creationId xmlns:a16="http://schemas.microsoft.com/office/drawing/2014/main" id="{E0905D55-479C-478C-93E1-43A247B9C574}"/>
                  </a:ext>
                </a:extLst>
              </p:cNvPr>
              <p:cNvSpPr>
                <a:spLocks noGrp="1" noRot="1" noChangeAspect="1" noMove="1" noResize="1" noEditPoints="1" noAdjustHandles="1" noChangeArrowheads="1" noChangeShapeType="1" noTextEdit="1"/>
              </p:cNvSpPr>
              <p:nvPr>
                <p:ph idx="1"/>
              </p:nvPr>
            </p:nvSpPr>
            <p:spPr>
              <a:xfrm>
                <a:off x="633730" y="1929922"/>
                <a:ext cx="7886700" cy="4470877"/>
              </a:xfrm>
              <a:blipFill>
                <a:blip r:embed="rId2"/>
                <a:stretch>
                  <a:fillRect l="-541" t="-2319" r="-464"/>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1C911548-95D1-AAB9-8418-52BB9C9FB662}"/>
              </a:ext>
              <a:ext uri="{C183D7F6-B498-43B3-948B-1728B52AA6E4}">
                <adec:decorative xmlns:adec="http://schemas.microsoft.com/office/drawing/2017/decorative" val="1"/>
              </a:ext>
            </a:extLst>
          </p:cNvPr>
          <p:cNvGrpSpPr/>
          <p:nvPr/>
        </p:nvGrpSpPr>
        <p:grpSpPr>
          <a:xfrm>
            <a:off x="6248400" y="105570"/>
            <a:ext cx="2743200" cy="1844674"/>
            <a:chOff x="6019800" y="365126"/>
            <a:chExt cx="2743200" cy="1844674"/>
          </a:xfrm>
        </p:grpSpPr>
        <mc:AlternateContent xmlns:mc="http://schemas.openxmlformats.org/markup-compatibility/2006" xmlns:a14="http://schemas.microsoft.com/office/drawing/2010/main">
          <mc:Choice Requires="a14">
            <p:graphicFrame>
              <p:nvGraphicFramePr>
                <p:cNvPr id="5" name="Diagram 4">
                  <a:extLst>
                    <a:ext uri="{FF2B5EF4-FFF2-40B4-BE49-F238E27FC236}">
                      <a16:creationId xmlns:a16="http://schemas.microsoft.com/office/drawing/2014/main" id="{72094049-CCF2-EDE7-6495-32777D797408}"/>
                    </a:ext>
                  </a:extLst>
                </p:cNvPr>
                <p:cNvGraphicFramePr/>
                <p:nvPr>
                  <p:extLst>
                    <p:ext uri="{D42A27DB-BD31-4B8C-83A1-F6EECF244321}">
                      <p14:modId xmlns:p14="http://schemas.microsoft.com/office/powerpoint/2010/main" val="662060062"/>
                    </p:ext>
                  </p:extLst>
                </p:nvPr>
              </p:nvGraphicFramePr>
              <p:xfrm>
                <a:off x="6019800" y="365126"/>
                <a:ext cx="2743200" cy="1844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5" name="Diagram 4">
                  <a:extLst>
                    <a:ext uri="{FF2B5EF4-FFF2-40B4-BE49-F238E27FC236}">
                      <a16:creationId xmlns:a16="http://schemas.microsoft.com/office/drawing/2014/main" id="{72094049-CCF2-EDE7-6495-32777D797408}"/>
                    </a:ext>
                  </a:extLst>
                </p:cNvPr>
                <p:cNvGraphicFramePr/>
                <p:nvPr>
                  <p:extLst>
                    <p:ext uri="{D42A27DB-BD31-4B8C-83A1-F6EECF244321}">
                      <p14:modId xmlns:p14="http://schemas.microsoft.com/office/powerpoint/2010/main" val="662060062"/>
                    </p:ext>
                  </p:extLst>
                </p:nvPr>
              </p:nvGraphicFramePr>
              <p:xfrm>
                <a:off x="6019800" y="365126"/>
                <a:ext cx="2743200" cy="184467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8DD8125-3192-0391-DCBE-EF7449DE8D7C}"/>
                    </a:ext>
                  </a:extLst>
                </p:cNvPr>
                <p:cNvSpPr/>
                <p:nvPr/>
              </p:nvSpPr>
              <p:spPr>
                <a:xfrm>
                  <a:off x="7137452" y="995075"/>
                  <a:ext cx="507896" cy="584775"/>
                </a:xfrm>
                <a:prstGeom prst="rect">
                  <a:avLst/>
                </a:prstGeom>
              </p:spPr>
              <p:txBody>
                <a:bodyPr wrap="none">
                  <a:spAutoFit/>
                </a:bodyPr>
                <a:lstStyle/>
                <a:p>
                  <a:pPr/>
                  <a14:m>
                    <m:oMathPara xmlns:m="http://schemas.openxmlformats.org/officeDocument/2006/math">
                      <m:oMath>
                        <m:r>
                          <a:rPr lang="en-US" sz="3200" i="1" dirty="0">
                            <a:latin typeface="Cambria Math" panose="02040503050406030204" pitchFamily="18" charset="0"/>
                          </a:rPr>
                          <m:t>𝑏</m:t>
                        </m:r>
                      </m:oMath>
                    </m:oMathPara>
                  </a14:m>
                  <a:endParaRPr lang="en-US" sz="3200" dirty="0"/>
                </a:p>
              </p:txBody>
            </p:sp>
          </mc:Choice>
          <mc:Fallback xmlns="">
            <p:sp>
              <p:nvSpPr>
                <p:cNvPr id="5" name="Rectangle 4">
                  <a:extLst>
                    <a:ext uri="{FF2B5EF4-FFF2-40B4-BE49-F238E27FC236}">
                      <a16:creationId xmlns:a16="http://schemas.microsoft.com/office/drawing/2014/main" id="{202CEAB6-241A-4FEC-A061-87C5B44C0466}"/>
                    </a:ext>
                  </a:extLst>
                </p:cNvPr>
                <p:cNvSpPr>
                  <a:spLocks noRot="1" noChangeAspect="1" noMove="1" noResize="1" noEditPoints="1" noAdjustHandles="1" noChangeArrowheads="1" noChangeShapeType="1" noTextEdit="1"/>
                </p:cNvSpPr>
                <p:nvPr/>
              </p:nvSpPr>
              <p:spPr>
                <a:xfrm>
                  <a:off x="7137452" y="995075"/>
                  <a:ext cx="507896" cy="584775"/>
                </a:xfrm>
                <a:prstGeom prst="rect">
                  <a:avLst/>
                </a:prstGeom>
                <a:blipFill>
                  <a:blip r:embed="rId12"/>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04710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12">
            <a:extLst>
              <a:ext uri="{FF2B5EF4-FFF2-40B4-BE49-F238E27FC236}">
                <a16:creationId xmlns:a16="http://schemas.microsoft.com/office/drawing/2014/main" id="{35F0E358-1E49-4920-80D8-C3D138708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6" name="Rectangle 14">
            <a:extLst>
              <a:ext uri="{FF2B5EF4-FFF2-40B4-BE49-F238E27FC236}">
                <a16:creationId xmlns:a16="http://schemas.microsoft.com/office/drawing/2014/main" id="{E2D2362D-7010-4036-B9CA-03DFC8EB3B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16">
            <a:extLst>
              <a:ext uri="{FF2B5EF4-FFF2-40B4-BE49-F238E27FC236}">
                <a16:creationId xmlns:a16="http://schemas.microsoft.com/office/drawing/2014/main" id="{DC85BF5E-2BD6-4E5B-8EA3-420B45BB03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5542359" y="0"/>
            <a:ext cx="3601641" cy="6858000"/>
          </a:xfrm>
          <a:custGeom>
            <a:avLst/>
            <a:gdLst>
              <a:gd name="connsiteX0" fmla="*/ 0 w 4802188"/>
              <a:gd name="connsiteY0" fmla="*/ 0 h 6858000"/>
              <a:gd name="connsiteX1" fmla="*/ 4802188 w 4802188"/>
              <a:gd name="connsiteY1" fmla="*/ 0 h 6858000"/>
              <a:gd name="connsiteX2" fmla="*/ 4802188 w 4802188"/>
              <a:gd name="connsiteY2" fmla="*/ 6858000 h 6858000"/>
              <a:gd name="connsiteX3" fmla="*/ 0 w 4802188"/>
              <a:gd name="connsiteY3" fmla="*/ 6858000 h 6858000"/>
              <a:gd name="connsiteX4" fmla="*/ 4763 w 4802188"/>
              <a:gd name="connsiteY4" fmla="*/ 6791325 h 6858000"/>
              <a:gd name="connsiteX5" fmla="*/ 12700 w 4802188"/>
              <a:gd name="connsiteY5" fmla="*/ 6735762 h 6858000"/>
              <a:gd name="connsiteX6" fmla="*/ 22225 w 4802188"/>
              <a:gd name="connsiteY6" fmla="*/ 6683375 h 6858000"/>
              <a:gd name="connsiteX7" fmla="*/ 38100 w 4802188"/>
              <a:gd name="connsiteY7" fmla="*/ 6640512 h 6858000"/>
              <a:gd name="connsiteX8" fmla="*/ 53975 w 4802188"/>
              <a:gd name="connsiteY8" fmla="*/ 6597650 h 6858000"/>
              <a:gd name="connsiteX9" fmla="*/ 73025 w 4802188"/>
              <a:gd name="connsiteY9" fmla="*/ 6561137 h 6858000"/>
              <a:gd name="connsiteX10" fmla="*/ 92075 w 4802188"/>
              <a:gd name="connsiteY10" fmla="*/ 6523037 h 6858000"/>
              <a:gd name="connsiteX11" fmla="*/ 109538 w 4802188"/>
              <a:gd name="connsiteY11" fmla="*/ 6488112 h 6858000"/>
              <a:gd name="connsiteX12" fmla="*/ 127000 w 4802188"/>
              <a:gd name="connsiteY12" fmla="*/ 6448425 h 6858000"/>
              <a:gd name="connsiteX13" fmla="*/ 142875 w 4802188"/>
              <a:gd name="connsiteY13" fmla="*/ 6407150 h 6858000"/>
              <a:gd name="connsiteX14" fmla="*/ 157163 w 4802188"/>
              <a:gd name="connsiteY14" fmla="*/ 6361112 h 6858000"/>
              <a:gd name="connsiteX15" fmla="*/ 168275 w 4802188"/>
              <a:gd name="connsiteY15" fmla="*/ 6311900 h 6858000"/>
              <a:gd name="connsiteX16" fmla="*/ 176213 w 4802188"/>
              <a:gd name="connsiteY16" fmla="*/ 6251575 h 6858000"/>
              <a:gd name="connsiteX17" fmla="*/ 179388 w 4802188"/>
              <a:gd name="connsiteY17" fmla="*/ 6183312 h 6858000"/>
              <a:gd name="connsiteX18" fmla="*/ 176213 w 4802188"/>
              <a:gd name="connsiteY18" fmla="*/ 6113462 h 6858000"/>
              <a:gd name="connsiteX19" fmla="*/ 168275 w 4802188"/>
              <a:gd name="connsiteY19" fmla="*/ 6056312 h 6858000"/>
              <a:gd name="connsiteX20" fmla="*/ 157163 w 4802188"/>
              <a:gd name="connsiteY20" fmla="*/ 6003925 h 6858000"/>
              <a:gd name="connsiteX21" fmla="*/ 142875 w 4802188"/>
              <a:gd name="connsiteY21" fmla="*/ 5956300 h 6858000"/>
              <a:gd name="connsiteX22" fmla="*/ 127000 w 4802188"/>
              <a:gd name="connsiteY22" fmla="*/ 5915025 h 6858000"/>
              <a:gd name="connsiteX23" fmla="*/ 107950 w 4802188"/>
              <a:gd name="connsiteY23" fmla="*/ 5876925 h 6858000"/>
              <a:gd name="connsiteX24" fmla="*/ 88900 w 4802188"/>
              <a:gd name="connsiteY24" fmla="*/ 5840412 h 6858000"/>
              <a:gd name="connsiteX25" fmla="*/ 69850 w 4802188"/>
              <a:gd name="connsiteY25" fmla="*/ 5802312 h 6858000"/>
              <a:gd name="connsiteX26" fmla="*/ 52388 w 4802188"/>
              <a:gd name="connsiteY26" fmla="*/ 5762625 h 6858000"/>
              <a:gd name="connsiteX27" fmla="*/ 34925 w 4802188"/>
              <a:gd name="connsiteY27" fmla="*/ 5721350 h 6858000"/>
              <a:gd name="connsiteX28" fmla="*/ 20638 w 4802188"/>
              <a:gd name="connsiteY28" fmla="*/ 5675312 h 6858000"/>
              <a:gd name="connsiteX29" fmla="*/ 11113 w 4802188"/>
              <a:gd name="connsiteY29" fmla="*/ 5622925 h 6858000"/>
              <a:gd name="connsiteX30" fmla="*/ 1588 w 4802188"/>
              <a:gd name="connsiteY30" fmla="*/ 5562600 h 6858000"/>
              <a:gd name="connsiteX31" fmla="*/ 0 w 4802188"/>
              <a:gd name="connsiteY31" fmla="*/ 5494337 h 6858000"/>
              <a:gd name="connsiteX32" fmla="*/ 1588 w 4802188"/>
              <a:gd name="connsiteY32" fmla="*/ 5426075 h 6858000"/>
              <a:gd name="connsiteX33" fmla="*/ 11113 w 4802188"/>
              <a:gd name="connsiteY33" fmla="*/ 5365750 h 6858000"/>
              <a:gd name="connsiteX34" fmla="*/ 20638 w 4802188"/>
              <a:gd name="connsiteY34" fmla="*/ 5313362 h 6858000"/>
              <a:gd name="connsiteX35" fmla="*/ 34925 w 4802188"/>
              <a:gd name="connsiteY35" fmla="*/ 5268912 h 6858000"/>
              <a:gd name="connsiteX36" fmla="*/ 52388 w 4802188"/>
              <a:gd name="connsiteY36" fmla="*/ 5226050 h 6858000"/>
              <a:gd name="connsiteX37" fmla="*/ 69850 w 4802188"/>
              <a:gd name="connsiteY37" fmla="*/ 5186362 h 6858000"/>
              <a:gd name="connsiteX38" fmla="*/ 88900 w 4802188"/>
              <a:gd name="connsiteY38" fmla="*/ 5149850 h 6858000"/>
              <a:gd name="connsiteX39" fmla="*/ 107950 w 4802188"/>
              <a:gd name="connsiteY39" fmla="*/ 5114925 h 6858000"/>
              <a:gd name="connsiteX40" fmla="*/ 127000 w 4802188"/>
              <a:gd name="connsiteY40" fmla="*/ 5075237 h 6858000"/>
              <a:gd name="connsiteX41" fmla="*/ 142875 w 4802188"/>
              <a:gd name="connsiteY41" fmla="*/ 5033962 h 6858000"/>
              <a:gd name="connsiteX42" fmla="*/ 157163 w 4802188"/>
              <a:gd name="connsiteY42" fmla="*/ 4987925 h 6858000"/>
              <a:gd name="connsiteX43" fmla="*/ 168275 w 4802188"/>
              <a:gd name="connsiteY43" fmla="*/ 4935537 h 6858000"/>
              <a:gd name="connsiteX44" fmla="*/ 176213 w 4802188"/>
              <a:gd name="connsiteY44" fmla="*/ 4875212 h 6858000"/>
              <a:gd name="connsiteX45" fmla="*/ 179388 w 4802188"/>
              <a:gd name="connsiteY45" fmla="*/ 4806950 h 6858000"/>
              <a:gd name="connsiteX46" fmla="*/ 176213 w 4802188"/>
              <a:gd name="connsiteY46" fmla="*/ 4738687 h 6858000"/>
              <a:gd name="connsiteX47" fmla="*/ 168275 w 4802188"/>
              <a:gd name="connsiteY47" fmla="*/ 4678362 h 6858000"/>
              <a:gd name="connsiteX48" fmla="*/ 157163 w 4802188"/>
              <a:gd name="connsiteY48" fmla="*/ 4625975 h 6858000"/>
              <a:gd name="connsiteX49" fmla="*/ 142875 w 4802188"/>
              <a:gd name="connsiteY49" fmla="*/ 4579937 h 6858000"/>
              <a:gd name="connsiteX50" fmla="*/ 127000 w 4802188"/>
              <a:gd name="connsiteY50" fmla="*/ 4537075 h 6858000"/>
              <a:gd name="connsiteX51" fmla="*/ 107950 w 4802188"/>
              <a:gd name="connsiteY51" fmla="*/ 4498975 h 6858000"/>
              <a:gd name="connsiteX52" fmla="*/ 69850 w 4802188"/>
              <a:gd name="connsiteY52" fmla="*/ 4424362 h 6858000"/>
              <a:gd name="connsiteX53" fmla="*/ 52388 w 4802188"/>
              <a:gd name="connsiteY53" fmla="*/ 4386262 h 6858000"/>
              <a:gd name="connsiteX54" fmla="*/ 34925 w 4802188"/>
              <a:gd name="connsiteY54" fmla="*/ 4343400 h 6858000"/>
              <a:gd name="connsiteX55" fmla="*/ 20638 w 4802188"/>
              <a:gd name="connsiteY55" fmla="*/ 4297362 h 6858000"/>
              <a:gd name="connsiteX56" fmla="*/ 11113 w 4802188"/>
              <a:gd name="connsiteY56" fmla="*/ 4244975 h 6858000"/>
              <a:gd name="connsiteX57" fmla="*/ 1588 w 4802188"/>
              <a:gd name="connsiteY57" fmla="*/ 4186237 h 6858000"/>
              <a:gd name="connsiteX58" fmla="*/ 0 w 4802188"/>
              <a:gd name="connsiteY58" fmla="*/ 4116387 h 6858000"/>
              <a:gd name="connsiteX59" fmla="*/ 1588 w 4802188"/>
              <a:gd name="connsiteY59" fmla="*/ 4048125 h 6858000"/>
              <a:gd name="connsiteX60" fmla="*/ 11113 w 4802188"/>
              <a:gd name="connsiteY60" fmla="*/ 3987800 h 6858000"/>
              <a:gd name="connsiteX61" fmla="*/ 20638 w 4802188"/>
              <a:gd name="connsiteY61" fmla="*/ 3935412 h 6858000"/>
              <a:gd name="connsiteX62" fmla="*/ 34925 w 4802188"/>
              <a:gd name="connsiteY62" fmla="*/ 3890962 h 6858000"/>
              <a:gd name="connsiteX63" fmla="*/ 52388 w 4802188"/>
              <a:gd name="connsiteY63" fmla="*/ 3848100 h 6858000"/>
              <a:gd name="connsiteX64" fmla="*/ 69850 w 4802188"/>
              <a:gd name="connsiteY64" fmla="*/ 3811587 h 6858000"/>
              <a:gd name="connsiteX65" fmla="*/ 107950 w 4802188"/>
              <a:gd name="connsiteY65" fmla="*/ 3736975 h 6858000"/>
              <a:gd name="connsiteX66" fmla="*/ 127000 w 4802188"/>
              <a:gd name="connsiteY66" fmla="*/ 3697287 h 6858000"/>
              <a:gd name="connsiteX67" fmla="*/ 142875 w 4802188"/>
              <a:gd name="connsiteY67" fmla="*/ 3656012 h 6858000"/>
              <a:gd name="connsiteX68" fmla="*/ 157163 w 4802188"/>
              <a:gd name="connsiteY68" fmla="*/ 3609975 h 6858000"/>
              <a:gd name="connsiteX69" fmla="*/ 168275 w 4802188"/>
              <a:gd name="connsiteY69" fmla="*/ 3557587 h 6858000"/>
              <a:gd name="connsiteX70" fmla="*/ 176213 w 4802188"/>
              <a:gd name="connsiteY70" fmla="*/ 3497262 h 6858000"/>
              <a:gd name="connsiteX71" fmla="*/ 179388 w 4802188"/>
              <a:gd name="connsiteY71" fmla="*/ 3427412 h 6858000"/>
              <a:gd name="connsiteX72" fmla="*/ 176213 w 4802188"/>
              <a:gd name="connsiteY72" fmla="*/ 3360737 h 6858000"/>
              <a:gd name="connsiteX73" fmla="*/ 168275 w 4802188"/>
              <a:gd name="connsiteY73" fmla="*/ 3300412 h 6858000"/>
              <a:gd name="connsiteX74" fmla="*/ 157163 w 4802188"/>
              <a:gd name="connsiteY74" fmla="*/ 3248025 h 6858000"/>
              <a:gd name="connsiteX75" fmla="*/ 142875 w 4802188"/>
              <a:gd name="connsiteY75" fmla="*/ 3201987 h 6858000"/>
              <a:gd name="connsiteX76" fmla="*/ 127000 w 4802188"/>
              <a:gd name="connsiteY76" fmla="*/ 3160712 h 6858000"/>
              <a:gd name="connsiteX77" fmla="*/ 107950 w 4802188"/>
              <a:gd name="connsiteY77" fmla="*/ 3121025 h 6858000"/>
              <a:gd name="connsiteX78" fmla="*/ 88900 w 4802188"/>
              <a:gd name="connsiteY78" fmla="*/ 3084512 h 6858000"/>
              <a:gd name="connsiteX79" fmla="*/ 69850 w 4802188"/>
              <a:gd name="connsiteY79" fmla="*/ 3046412 h 6858000"/>
              <a:gd name="connsiteX80" fmla="*/ 52388 w 4802188"/>
              <a:gd name="connsiteY80" fmla="*/ 3009900 h 6858000"/>
              <a:gd name="connsiteX81" fmla="*/ 34925 w 4802188"/>
              <a:gd name="connsiteY81" fmla="*/ 2967037 h 6858000"/>
              <a:gd name="connsiteX82" fmla="*/ 20638 w 4802188"/>
              <a:gd name="connsiteY82" fmla="*/ 2922587 h 6858000"/>
              <a:gd name="connsiteX83" fmla="*/ 11113 w 4802188"/>
              <a:gd name="connsiteY83" fmla="*/ 2868612 h 6858000"/>
              <a:gd name="connsiteX84" fmla="*/ 1588 w 4802188"/>
              <a:gd name="connsiteY84" fmla="*/ 2809875 h 6858000"/>
              <a:gd name="connsiteX85" fmla="*/ 0 w 4802188"/>
              <a:gd name="connsiteY85" fmla="*/ 2741612 h 6858000"/>
              <a:gd name="connsiteX86" fmla="*/ 1588 w 4802188"/>
              <a:gd name="connsiteY86" fmla="*/ 2671762 h 6858000"/>
              <a:gd name="connsiteX87" fmla="*/ 11113 w 4802188"/>
              <a:gd name="connsiteY87" fmla="*/ 2613025 h 6858000"/>
              <a:gd name="connsiteX88" fmla="*/ 20638 w 4802188"/>
              <a:gd name="connsiteY88" fmla="*/ 2560637 h 6858000"/>
              <a:gd name="connsiteX89" fmla="*/ 34925 w 4802188"/>
              <a:gd name="connsiteY89" fmla="*/ 2513012 h 6858000"/>
              <a:gd name="connsiteX90" fmla="*/ 52388 w 4802188"/>
              <a:gd name="connsiteY90" fmla="*/ 2471737 h 6858000"/>
              <a:gd name="connsiteX91" fmla="*/ 69850 w 4802188"/>
              <a:gd name="connsiteY91" fmla="*/ 2433637 h 6858000"/>
              <a:gd name="connsiteX92" fmla="*/ 88900 w 4802188"/>
              <a:gd name="connsiteY92" fmla="*/ 2395537 h 6858000"/>
              <a:gd name="connsiteX93" fmla="*/ 107950 w 4802188"/>
              <a:gd name="connsiteY93" fmla="*/ 2359025 h 6858000"/>
              <a:gd name="connsiteX94" fmla="*/ 127000 w 4802188"/>
              <a:gd name="connsiteY94" fmla="*/ 2319337 h 6858000"/>
              <a:gd name="connsiteX95" fmla="*/ 142875 w 4802188"/>
              <a:gd name="connsiteY95" fmla="*/ 2278062 h 6858000"/>
              <a:gd name="connsiteX96" fmla="*/ 157163 w 4802188"/>
              <a:gd name="connsiteY96" fmla="*/ 2232025 h 6858000"/>
              <a:gd name="connsiteX97" fmla="*/ 168275 w 4802188"/>
              <a:gd name="connsiteY97" fmla="*/ 2179637 h 6858000"/>
              <a:gd name="connsiteX98" fmla="*/ 176213 w 4802188"/>
              <a:gd name="connsiteY98" fmla="*/ 2119312 h 6858000"/>
              <a:gd name="connsiteX99" fmla="*/ 179388 w 4802188"/>
              <a:gd name="connsiteY99" fmla="*/ 2051050 h 6858000"/>
              <a:gd name="connsiteX100" fmla="*/ 176213 w 4802188"/>
              <a:gd name="connsiteY100" fmla="*/ 1982787 h 6858000"/>
              <a:gd name="connsiteX101" fmla="*/ 168275 w 4802188"/>
              <a:gd name="connsiteY101" fmla="*/ 1922462 h 6858000"/>
              <a:gd name="connsiteX102" fmla="*/ 157163 w 4802188"/>
              <a:gd name="connsiteY102" fmla="*/ 1870075 h 6858000"/>
              <a:gd name="connsiteX103" fmla="*/ 142875 w 4802188"/>
              <a:gd name="connsiteY103" fmla="*/ 1824037 h 6858000"/>
              <a:gd name="connsiteX104" fmla="*/ 127000 w 4802188"/>
              <a:gd name="connsiteY104" fmla="*/ 1782762 h 6858000"/>
              <a:gd name="connsiteX105" fmla="*/ 107950 w 4802188"/>
              <a:gd name="connsiteY105" fmla="*/ 1743075 h 6858000"/>
              <a:gd name="connsiteX106" fmla="*/ 88900 w 4802188"/>
              <a:gd name="connsiteY106" fmla="*/ 1708150 h 6858000"/>
              <a:gd name="connsiteX107" fmla="*/ 69850 w 4802188"/>
              <a:gd name="connsiteY107" fmla="*/ 1671637 h 6858000"/>
              <a:gd name="connsiteX108" fmla="*/ 52388 w 4802188"/>
              <a:gd name="connsiteY108" fmla="*/ 1631950 h 6858000"/>
              <a:gd name="connsiteX109" fmla="*/ 34925 w 4802188"/>
              <a:gd name="connsiteY109" fmla="*/ 1589087 h 6858000"/>
              <a:gd name="connsiteX110" fmla="*/ 20638 w 4802188"/>
              <a:gd name="connsiteY110" fmla="*/ 1544637 h 6858000"/>
              <a:gd name="connsiteX111" fmla="*/ 11113 w 4802188"/>
              <a:gd name="connsiteY111" fmla="*/ 1492250 h 6858000"/>
              <a:gd name="connsiteX112" fmla="*/ 1588 w 4802188"/>
              <a:gd name="connsiteY112" fmla="*/ 1431925 h 6858000"/>
              <a:gd name="connsiteX113" fmla="*/ 0 w 4802188"/>
              <a:gd name="connsiteY113" fmla="*/ 1363662 h 6858000"/>
              <a:gd name="connsiteX114" fmla="*/ 1588 w 4802188"/>
              <a:gd name="connsiteY114" fmla="*/ 1295400 h 6858000"/>
              <a:gd name="connsiteX115" fmla="*/ 11113 w 4802188"/>
              <a:gd name="connsiteY115" fmla="*/ 1235075 h 6858000"/>
              <a:gd name="connsiteX116" fmla="*/ 20638 w 4802188"/>
              <a:gd name="connsiteY116" fmla="*/ 1182687 h 6858000"/>
              <a:gd name="connsiteX117" fmla="*/ 34925 w 4802188"/>
              <a:gd name="connsiteY117" fmla="*/ 1136650 h 6858000"/>
              <a:gd name="connsiteX118" fmla="*/ 52388 w 4802188"/>
              <a:gd name="connsiteY118" fmla="*/ 1095375 h 6858000"/>
              <a:gd name="connsiteX119" fmla="*/ 69850 w 4802188"/>
              <a:gd name="connsiteY119" fmla="*/ 1055687 h 6858000"/>
              <a:gd name="connsiteX120" fmla="*/ 88900 w 4802188"/>
              <a:gd name="connsiteY120" fmla="*/ 1017587 h 6858000"/>
              <a:gd name="connsiteX121" fmla="*/ 107950 w 4802188"/>
              <a:gd name="connsiteY121" fmla="*/ 981075 h 6858000"/>
              <a:gd name="connsiteX122" fmla="*/ 127000 w 4802188"/>
              <a:gd name="connsiteY122" fmla="*/ 942975 h 6858000"/>
              <a:gd name="connsiteX123" fmla="*/ 142875 w 4802188"/>
              <a:gd name="connsiteY123" fmla="*/ 901700 h 6858000"/>
              <a:gd name="connsiteX124" fmla="*/ 157163 w 4802188"/>
              <a:gd name="connsiteY124" fmla="*/ 854075 h 6858000"/>
              <a:gd name="connsiteX125" fmla="*/ 168275 w 4802188"/>
              <a:gd name="connsiteY125" fmla="*/ 801687 h 6858000"/>
              <a:gd name="connsiteX126" fmla="*/ 176213 w 4802188"/>
              <a:gd name="connsiteY126" fmla="*/ 744537 h 6858000"/>
              <a:gd name="connsiteX127" fmla="*/ 179388 w 4802188"/>
              <a:gd name="connsiteY127" fmla="*/ 673100 h 6858000"/>
              <a:gd name="connsiteX128" fmla="*/ 176213 w 4802188"/>
              <a:gd name="connsiteY128" fmla="*/ 606425 h 6858000"/>
              <a:gd name="connsiteX129" fmla="*/ 168275 w 4802188"/>
              <a:gd name="connsiteY129" fmla="*/ 546100 h 6858000"/>
              <a:gd name="connsiteX130" fmla="*/ 157163 w 4802188"/>
              <a:gd name="connsiteY130" fmla="*/ 496887 h 6858000"/>
              <a:gd name="connsiteX131" fmla="*/ 142875 w 4802188"/>
              <a:gd name="connsiteY131" fmla="*/ 450850 h 6858000"/>
              <a:gd name="connsiteX132" fmla="*/ 127000 w 4802188"/>
              <a:gd name="connsiteY132" fmla="*/ 409575 h 6858000"/>
              <a:gd name="connsiteX133" fmla="*/ 109538 w 4802188"/>
              <a:gd name="connsiteY133" fmla="*/ 369887 h 6858000"/>
              <a:gd name="connsiteX134" fmla="*/ 92075 w 4802188"/>
              <a:gd name="connsiteY134" fmla="*/ 334962 h 6858000"/>
              <a:gd name="connsiteX135" fmla="*/ 73025 w 4802188"/>
              <a:gd name="connsiteY135" fmla="*/ 296862 h 6858000"/>
              <a:gd name="connsiteX136" fmla="*/ 53975 w 4802188"/>
              <a:gd name="connsiteY136" fmla="*/ 260350 h 6858000"/>
              <a:gd name="connsiteX137" fmla="*/ 38100 w 4802188"/>
              <a:gd name="connsiteY137" fmla="*/ 217487 h 6858000"/>
              <a:gd name="connsiteX138" fmla="*/ 22225 w 4802188"/>
              <a:gd name="connsiteY138" fmla="*/ 174625 h 6858000"/>
              <a:gd name="connsiteX139" fmla="*/ 12700 w 4802188"/>
              <a:gd name="connsiteY139" fmla="*/ 122237 h 6858000"/>
              <a:gd name="connsiteX140" fmla="*/ 4763 w 4802188"/>
              <a:gd name="connsiteY140" fmla="*/ 666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a:solidFill>
            <a:schemeClr val="accent1">
              <a:lumMod val="50000"/>
              <a:alpha val="25000"/>
            </a:schemeClr>
          </a:solidFill>
          <a:ln w="0">
            <a:noFill/>
            <a:prstDash val="solid"/>
            <a:round/>
            <a:headEnd/>
            <a:tailEnd/>
          </a:ln>
        </p:spPr>
        <p:txBody>
          <a:bodyPr wrap="square" rtlCol="0" anchor="ctr">
            <a:noAutofit/>
          </a:bodyPr>
          <a:lstStyle/>
          <a:p>
            <a:pPr algn="ctr" defTabSz="457200"/>
            <a:endParaRPr lang="en-US" dirty="0">
              <a:solidFill>
                <a:schemeClr val="tx1"/>
              </a:solidFill>
            </a:endParaRPr>
          </a:p>
        </p:txBody>
      </p:sp>
      <p:sp>
        <p:nvSpPr>
          <p:cNvPr id="28" name="Freeform: Shape 18">
            <a:extLst>
              <a:ext uri="{FF2B5EF4-FFF2-40B4-BE49-F238E27FC236}">
                <a16:creationId xmlns:a16="http://schemas.microsoft.com/office/drawing/2014/main" id="{740D8E28-91B5-42B0-9D6C-B777D8AD90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85184" cy="6858000"/>
          </a:xfrm>
          <a:custGeom>
            <a:avLst/>
            <a:gdLst>
              <a:gd name="connsiteX0" fmla="*/ 0 w 7713579"/>
              <a:gd name="connsiteY0" fmla="*/ 0 h 6858000"/>
              <a:gd name="connsiteX1" fmla="*/ 7534191 w 7713579"/>
              <a:gd name="connsiteY1" fmla="*/ 0 h 6858000"/>
              <a:gd name="connsiteX2" fmla="*/ 7538954 w 7713579"/>
              <a:gd name="connsiteY2" fmla="*/ 66675 h 6858000"/>
              <a:gd name="connsiteX3" fmla="*/ 7546891 w 7713579"/>
              <a:gd name="connsiteY3" fmla="*/ 122237 h 6858000"/>
              <a:gd name="connsiteX4" fmla="*/ 7556416 w 7713579"/>
              <a:gd name="connsiteY4" fmla="*/ 174625 h 6858000"/>
              <a:gd name="connsiteX5" fmla="*/ 7572291 w 7713579"/>
              <a:gd name="connsiteY5" fmla="*/ 217487 h 6858000"/>
              <a:gd name="connsiteX6" fmla="*/ 7588166 w 7713579"/>
              <a:gd name="connsiteY6" fmla="*/ 260350 h 6858000"/>
              <a:gd name="connsiteX7" fmla="*/ 7607216 w 7713579"/>
              <a:gd name="connsiteY7" fmla="*/ 296862 h 6858000"/>
              <a:gd name="connsiteX8" fmla="*/ 7626266 w 7713579"/>
              <a:gd name="connsiteY8" fmla="*/ 334962 h 6858000"/>
              <a:gd name="connsiteX9" fmla="*/ 7643729 w 7713579"/>
              <a:gd name="connsiteY9" fmla="*/ 369887 h 6858000"/>
              <a:gd name="connsiteX10" fmla="*/ 7661191 w 7713579"/>
              <a:gd name="connsiteY10" fmla="*/ 409575 h 6858000"/>
              <a:gd name="connsiteX11" fmla="*/ 7677066 w 7713579"/>
              <a:gd name="connsiteY11" fmla="*/ 450850 h 6858000"/>
              <a:gd name="connsiteX12" fmla="*/ 7691354 w 7713579"/>
              <a:gd name="connsiteY12" fmla="*/ 496887 h 6858000"/>
              <a:gd name="connsiteX13" fmla="*/ 7702466 w 7713579"/>
              <a:gd name="connsiteY13" fmla="*/ 546100 h 6858000"/>
              <a:gd name="connsiteX14" fmla="*/ 7710404 w 7713579"/>
              <a:gd name="connsiteY14" fmla="*/ 606425 h 6858000"/>
              <a:gd name="connsiteX15" fmla="*/ 7713579 w 7713579"/>
              <a:gd name="connsiteY15" fmla="*/ 673100 h 6858000"/>
              <a:gd name="connsiteX16" fmla="*/ 7710404 w 7713579"/>
              <a:gd name="connsiteY16" fmla="*/ 744537 h 6858000"/>
              <a:gd name="connsiteX17" fmla="*/ 7702466 w 7713579"/>
              <a:gd name="connsiteY17" fmla="*/ 801687 h 6858000"/>
              <a:gd name="connsiteX18" fmla="*/ 7691354 w 7713579"/>
              <a:gd name="connsiteY18" fmla="*/ 854075 h 6858000"/>
              <a:gd name="connsiteX19" fmla="*/ 7677066 w 7713579"/>
              <a:gd name="connsiteY19" fmla="*/ 901700 h 6858000"/>
              <a:gd name="connsiteX20" fmla="*/ 7661191 w 7713579"/>
              <a:gd name="connsiteY20" fmla="*/ 942975 h 6858000"/>
              <a:gd name="connsiteX21" fmla="*/ 7642141 w 7713579"/>
              <a:gd name="connsiteY21" fmla="*/ 981075 h 6858000"/>
              <a:gd name="connsiteX22" fmla="*/ 7623091 w 7713579"/>
              <a:gd name="connsiteY22" fmla="*/ 1017587 h 6858000"/>
              <a:gd name="connsiteX23" fmla="*/ 7604041 w 7713579"/>
              <a:gd name="connsiteY23" fmla="*/ 1055687 h 6858000"/>
              <a:gd name="connsiteX24" fmla="*/ 7586579 w 7713579"/>
              <a:gd name="connsiteY24" fmla="*/ 1095375 h 6858000"/>
              <a:gd name="connsiteX25" fmla="*/ 7569116 w 7713579"/>
              <a:gd name="connsiteY25" fmla="*/ 1136650 h 6858000"/>
              <a:gd name="connsiteX26" fmla="*/ 7554829 w 7713579"/>
              <a:gd name="connsiteY26" fmla="*/ 1182687 h 6858000"/>
              <a:gd name="connsiteX27" fmla="*/ 7545304 w 7713579"/>
              <a:gd name="connsiteY27" fmla="*/ 1235075 h 6858000"/>
              <a:gd name="connsiteX28" fmla="*/ 7535779 w 7713579"/>
              <a:gd name="connsiteY28" fmla="*/ 1295400 h 6858000"/>
              <a:gd name="connsiteX29" fmla="*/ 7534191 w 7713579"/>
              <a:gd name="connsiteY29" fmla="*/ 1363662 h 6858000"/>
              <a:gd name="connsiteX30" fmla="*/ 7535779 w 7713579"/>
              <a:gd name="connsiteY30" fmla="*/ 1431925 h 6858000"/>
              <a:gd name="connsiteX31" fmla="*/ 7545304 w 7713579"/>
              <a:gd name="connsiteY31" fmla="*/ 1492250 h 6858000"/>
              <a:gd name="connsiteX32" fmla="*/ 7554829 w 7713579"/>
              <a:gd name="connsiteY32" fmla="*/ 1544637 h 6858000"/>
              <a:gd name="connsiteX33" fmla="*/ 7569116 w 7713579"/>
              <a:gd name="connsiteY33" fmla="*/ 1589087 h 6858000"/>
              <a:gd name="connsiteX34" fmla="*/ 7586579 w 7713579"/>
              <a:gd name="connsiteY34" fmla="*/ 1631950 h 6858000"/>
              <a:gd name="connsiteX35" fmla="*/ 7604041 w 7713579"/>
              <a:gd name="connsiteY35" fmla="*/ 1671637 h 6858000"/>
              <a:gd name="connsiteX36" fmla="*/ 7623091 w 7713579"/>
              <a:gd name="connsiteY36" fmla="*/ 1708150 h 6858000"/>
              <a:gd name="connsiteX37" fmla="*/ 7642141 w 7713579"/>
              <a:gd name="connsiteY37" fmla="*/ 1743075 h 6858000"/>
              <a:gd name="connsiteX38" fmla="*/ 7661191 w 7713579"/>
              <a:gd name="connsiteY38" fmla="*/ 1782762 h 6858000"/>
              <a:gd name="connsiteX39" fmla="*/ 7677066 w 7713579"/>
              <a:gd name="connsiteY39" fmla="*/ 1824037 h 6858000"/>
              <a:gd name="connsiteX40" fmla="*/ 7691354 w 7713579"/>
              <a:gd name="connsiteY40" fmla="*/ 1870075 h 6858000"/>
              <a:gd name="connsiteX41" fmla="*/ 7702466 w 7713579"/>
              <a:gd name="connsiteY41" fmla="*/ 1922462 h 6858000"/>
              <a:gd name="connsiteX42" fmla="*/ 7710404 w 7713579"/>
              <a:gd name="connsiteY42" fmla="*/ 1982787 h 6858000"/>
              <a:gd name="connsiteX43" fmla="*/ 7713579 w 7713579"/>
              <a:gd name="connsiteY43" fmla="*/ 2051050 h 6858000"/>
              <a:gd name="connsiteX44" fmla="*/ 7710404 w 7713579"/>
              <a:gd name="connsiteY44" fmla="*/ 2119312 h 6858000"/>
              <a:gd name="connsiteX45" fmla="*/ 7702466 w 7713579"/>
              <a:gd name="connsiteY45" fmla="*/ 2179637 h 6858000"/>
              <a:gd name="connsiteX46" fmla="*/ 7691354 w 7713579"/>
              <a:gd name="connsiteY46" fmla="*/ 2232025 h 6858000"/>
              <a:gd name="connsiteX47" fmla="*/ 7677066 w 7713579"/>
              <a:gd name="connsiteY47" fmla="*/ 2278062 h 6858000"/>
              <a:gd name="connsiteX48" fmla="*/ 7661191 w 7713579"/>
              <a:gd name="connsiteY48" fmla="*/ 2319337 h 6858000"/>
              <a:gd name="connsiteX49" fmla="*/ 7642141 w 7713579"/>
              <a:gd name="connsiteY49" fmla="*/ 2359025 h 6858000"/>
              <a:gd name="connsiteX50" fmla="*/ 7623091 w 7713579"/>
              <a:gd name="connsiteY50" fmla="*/ 2395537 h 6858000"/>
              <a:gd name="connsiteX51" fmla="*/ 7604041 w 7713579"/>
              <a:gd name="connsiteY51" fmla="*/ 2433637 h 6858000"/>
              <a:gd name="connsiteX52" fmla="*/ 7586579 w 7713579"/>
              <a:gd name="connsiteY52" fmla="*/ 2471737 h 6858000"/>
              <a:gd name="connsiteX53" fmla="*/ 7569116 w 7713579"/>
              <a:gd name="connsiteY53" fmla="*/ 2513012 h 6858000"/>
              <a:gd name="connsiteX54" fmla="*/ 7554829 w 7713579"/>
              <a:gd name="connsiteY54" fmla="*/ 2560637 h 6858000"/>
              <a:gd name="connsiteX55" fmla="*/ 7545304 w 7713579"/>
              <a:gd name="connsiteY55" fmla="*/ 2613025 h 6858000"/>
              <a:gd name="connsiteX56" fmla="*/ 7535779 w 7713579"/>
              <a:gd name="connsiteY56" fmla="*/ 2671762 h 6858000"/>
              <a:gd name="connsiteX57" fmla="*/ 7534191 w 7713579"/>
              <a:gd name="connsiteY57" fmla="*/ 2741612 h 6858000"/>
              <a:gd name="connsiteX58" fmla="*/ 7535779 w 7713579"/>
              <a:gd name="connsiteY58" fmla="*/ 2809875 h 6858000"/>
              <a:gd name="connsiteX59" fmla="*/ 7545304 w 7713579"/>
              <a:gd name="connsiteY59" fmla="*/ 2868612 h 6858000"/>
              <a:gd name="connsiteX60" fmla="*/ 7554829 w 7713579"/>
              <a:gd name="connsiteY60" fmla="*/ 2922587 h 6858000"/>
              <a:gd name="connsiteX61" fmla="*/ 7569116 w 7713579"/>
              <a:gd name="connsiteY61" fmla="*/ 2967037 h 6858000"/>
              <a:gd name="connsiteX62" fmla="*/ 7586579 w 7713579"/>
              <a:gd name="connsiteY62" fmla="*/ 3009900 h 6858000"/>
              <a:gd name="connsiteX63" fmla="*/ 7604041 w 7713579"/>
              <a:gd name="connsiteY63" fmla="*/ 3046412 h 6858000"/>
              <a:gd name="connsiteX64" fmla="*/ 7623091 w 7713579"/>
              <a:gd name="connsiteY64" fmla="*/ 3084512 h 6858000"/>
              <a:gd name="connsiteX65" fmla="*/ 7642141 w 7713579"/>
              <a:gd name="connsiteY65" fmla="*/ 3121025 h 6858000"/>
              <a:gd name="connsiteX66" fmla="*/ 7661191 w 7713579"/>
              <a:gd name="connsiteY66" fmla="*/ 3160712 h 6858000"/>
              <a:gd name="connsiteX67" fmla="*/ 7677066 w 7713579"/>
              <a:gd name="connsiteY67" fmla="*/ 3201987 h 6858000"/>
              <a:gd name="connsiteX68" fmla="*/ 7691354 w 7713579"/>
              <a:gd name="connsiteY68" fmla="*/ 3248025 h 6858000"/>
              <a:gd name="connsiteX69" fmla="*/ 7702466 w 7713579"/>
              <a:gd name="connsiteY69" fmla="*/ 3300412 h 6858000"/>
              <a:gd name="connsiteX70" fmla="*/ 7710404 w 7713579"/>
              <a:gd name="connsiteY70" fmla="*/ 3360737 h 6858000"/>
              <a:gd name="connsiteX71" fmla="*/ 7713579 w 7713579"/>
              <a:gd name="connsiteY71" fmla="*/ 3427412 h 6858000"/>
              <a:gd name="connsiteX72" fmla="*/ 7710404 w 7713579"/>
              <a:gd name="connsiteY72" fmla="*/ 3497262 h 6858000"/>
              <a:gd name="connsiteX73" fmla="*/ 7702466 w 7713579"/>
              <a:gd name="connsiteY73" fmla="*/ 3557587 h 6858000"/>
              <a:gd name="connsiteX74" fmla="*/ 7691354 w 7713579"/>
              <a:gd name="connsiteY74" fmla="*/ 3609975 h 6858000"/>
              <a:gd name="connsiteX75" fmla="*/ 7677066 w 7713579"/>
              <a:gd name="connsiteY75" fmla="*/ 3656012 h 6858000"/>
              <a:gd name="connsiteX76" fmla="*/ 7661191 w 7713579"/>
              <a:gd name="connsiteY76" fmla="*/ 3697287 h 6858000"/>
              <a:gd name="connsiteX77" fmla="*/ 7642141 w 7713579"/>
              <a:gd name="connsiteY77" fmla="*/ 3736975 h 6858000"/>
              <a:gd name="connsiteX78" fmla="*/ 7604041 w 7713579"/>
              <a:gd name="connsiteY78" fmla="*/ 3811587 h 6858000"/>
              <a:gd name="connsiteX79" fmla="*/ 7586579 w 7713579"/>
              <a:gd name="connsiteY79" fmla="*/ 3848100 h 6858000"/>
              <a:gd name="connsiteX80" fmla="*/ 7569116 w 7713579"/>
              <a:gd name="connsiteY80" fmla="*/ 3890962 h 6858000"/>
              <a:gd name="connsiteX81" fmla="*/ 7554829 w 7713579"/>
              <a:gd name="connsiteY81" fmla="*/ 3935412 h 6858000"/>
              <a:gd name="connsiteX82" fmla="*/ 7545304 w 7713579"/>
              <a:gd name="connsiteY82" fmla="*/ 3987800 h 6858000"/>
              <a:gd name="connsiteX83" fmla="*/ 7535779 w 7713579"/>
              <a:gd name="connsiteY83" fmla="*/ 4048125 h 6858000"/>
              <a:gd name="connsiteX84" fmla="*/ 7534191 w 7713579"/>
              <a:gd name="connsiteY84" fmla="*/ 4116387 h 6858000"/>
              <a:gd name="connsiteX85" fmla="*/ 7535779 w 7713579"/>
              <a:gd name="connsiteY85" fmla="*/ 4186237 h 6858000"/>
              <a:gd name="connsiteX86" fmla="*/ 7545304 w 7713579"/>
              <a:gd name="connsiteY86" fmla="*/ 4244975 h 6858000"/>
              <a:gd name="connsiteX87" fmla="*/ 7554829 w 7713579"/>
              <a:gd name="connsiteY87" fmla="*/ 4297362 h 6858000"/>
              <a:gd name="connsiteX88" fmla="*/ 7569116 w 7713579"/>
              <a:gd name="connsiteY88" fmla="*/ 4343400 h 6858000"/>
              <a:gd name="connsiteX89" fmla="*/ 7586579 w 7713579"/>
              <a:gd name="connsiteY89" fmla="*/ 4386262 h 6858000"/>
              <a:gd name="connsiteX90" fmla="*/ 7604041 w 7713579"/>
              <a:gd name="connsiteY90" fmla="*/ 4424362 h 6858000"/>
              <a:gd name="connsiteX91" fmla="*/ 7642141 w 7713579"/>
              <a:gd name="connsiteY91" fmla="*/ 4498975 h 6858000"/>
              <a:gd name="connsiteX92" fmla="*/ 7661191 w 7713579"/>
              <a:gd name="connsiteY92" fmla="*/ 4537075 h 6858000"/>
              <a:gd name="connsiteX93" fmla="*/ 7677066 w 7713579"/>
              <a:gd name="connsiteY93" fmla="*/ 4579937 h 6858000"/>
              <a:gd name="connsiteX94" fmla="*/ 7691354 w 7713579"/>
              <a:gd name="connsiteY94" fmla="*/ 4625975 h 6858000"/>
              <a:gd name="connsiteX95" fmla="*/ 7702466 w 7713579"/>
              <a:gd name="connsiteY95" fmla="*/ 4678362 h 6858000"/>
              <a:gd name="connsiteX96" fmla="*/ 7710404 w 7713579"/>
              <a:gd name="connsiteY96" fmla="*/ 4738687 h 6858000"/>
              <a:gd name="connsiteX97" fmla="*/ 7713579 w 7713579"/>
              <a:gd name="connsiteY97" fmla="*/ 4806950 h 6858000"/>
              <a:gd name="connsiteX98" fmla="*/ 7710404 w 7713579"/>
              <a:gd name="connsiteY98" fmla="*/ 4875212 h 6858000"/>
              <a:gd name="connsiteX99" fmla="*/ 7702466 w 7713579"/>
              <a:gd name="connsiteY99" fmla="*/ 4935537 h 6858000"/>
              <a:gd name="connsiteX100" fmla="*/ 7691354 w 7713579"/>
              <a:gd name="connsiteY100" fmla="*/ 4987925 h 6858000"/>
              <a:gd name="connsiteX101" fmla="*/ 7677066 w 7713579"/>
              <a:gd name="connsiteY101" fmla="*/ 5033962 h 6858000"/>
              <a:gd name="connsiteX102" fmla="*/ 7661191 w 7713579"/>
              <a:gd name="connsiteY102" fmla="*/ 5075237 h 6858000"/>
              <a:gd name="connsiteX103" fmla="*/ 7642141 w 7713579"/>
              <a:gd name="connsiteY103" fmla="*/ 5114925 h 6858000"/>
              <a:gd name="connsiteX104" fmla="*/ 7623091 w 7713579"/>
              <a:gd name="connsiteY104" fmla="*/ 5149850 h 6858000"/>
              <a:gd name="connsiteX105" fmla="*/ 7604041 w 7713579"/>
              <a:gd name="connsiteY105" fmla="*/ 5186362 h 6858000"/>
              <a:gd name="connsiteX106" fmla="*/ 7586579 w 7713579"/>
              <a:gd name="connsiteY106" fmla="*/ 5226050 h 6858000"/>
              <a:gd name="connsiteX107" fmla="*/ 7569116 w 7713579"/>
              <a:gd name="connsiteY107" fmla="*/ 5268912 h 6858000"/>
              <a:gd name="connsiteX108" fmla="*/ 7554829 w 7713579"/>
              <a:gd name="connsiteY108" fmla="*/ 5313362 h 6858000"/>
              <a:gd name="connsiteX109" fmla="*/ 7545304 w 7713579"/>
              <a:gd name="connsiteY109" fmla="*/ 5365750 h 6858000"/>
              <a:gd name="connsiteX110" fmla="*/ 7535779 w 7713579"/>
              <a:gd name="connsiteY110" fmla="*/ 5426075 h 6858000"/>
              <a:gd name="connsiteX111" fmla="*/ 7534191 w 7713579"/>
              <a:gd name="connsiteY111" fmla="*/ 5494337 h 6858000"/>
              <a:gd name="connsiteX112" fmla="*/ 7535779 w 7713579"/>
              <a:gd name="connsiteY112" fmla="*/ 5562600 h 6858000"/>
              <a:gd name="connsiteX113" fmla="*/ 7545304 w 7713579"/>
              <a:gd name="connsiteY113" fmla="*/ 5622925 h 6858000"/>
              <a:gd name="connsiteX114" fmla="*/ 7554829 w 7713579"/>
              <a:gd name="connsiteY114" fmla="*/ 5675312 h 6858000"/>
              <a:gd name="connsiteX115" fmla="*/ 7569116 w 7713579"/>
              <a:gd name="connsiteY115" fmla="*/ 5721350 h 6858000"/>
              <a:gd name="connsiteX116" fmla="*/ 7586579 w 7713579"/>
              <a:gd name="connsiteY116" fmla="*/ 5762625 h 6858000"/>
              <a:gd name="connsiteX117" fmla="*/ 7604041 w 7713579"/>
              <a:gd name="connsiteY117" fmla="*/ 5802312 h 6858000"/>
              <a:gd name="connsiteX118" fmla="*/ 7623091 w 7713579"/>
              <a:gd name="connsiteY118" fmla="*/ 5840412 h 6858000"/>
              <a:gd name="connsiteX119" fmla="*/ 7642141 w 7713579"/>
              <a:gd name="connsiteY119" fmla="*/ 5876925 h 6858000"/>
              <a:gd name="connsiteX120" fmla="*/ 7661191 w 7713579"/>
              <a:gd name="connsiteY120" fmla="*/ 5915025 h 6858000"/>
              <a:gd name="connsiteX121" fmla="*/ 7677066 w 7713579"/>
              <a:gd name="connsiteY121" fmla="*/ 5956300 h 6858000"/>
              <a:gd name="connsiteX122" fmla="*/ 7691354 w 7713579"/>
              <a:gd name="connsiteY122" fmla="*/ 6003925 h 6858000"/>
              <a:gd name="connsiteX123" fmla="*/ 7702466 w 7713579"/>
              <a:gd name="connsiteY123" fmla="*/ 6056312 h 6858000"/>
              <a:gd name="connsiteX124" fmla="*/ 7710404 w 7713579"/>
              <a:gd name="connsiteY124" fmla="*/ 6113462 h 6858000"/>
              <a:gd name="connsiteX125" fmla="*/ 7713579 w 7713579"/>
              <a:gd name="connsiteY125" fmla="*/ 6183312 h 6858000"/>
              <a:gd name="connsiteX126" fmla="*/ 7710404 w 7713579"/>
              <a:gd name="connsiteY126" fmla="*/ 6251575 h 6858000"/>
              <a:gd name="connsiteX127" fmla="*/ 7702466 w 7713579"/>
              <a:gd name="connsiteY127" fmla="*/ 6311900 h 6858000"/>
              <a:gd name="connsiteX128" fmla="*/ 7691354 w 7713579"/>
              <a:gd name="connsiteY128" fmla="*/ 6361112 h 6858000"/>
              <a:gd name="connsiteX129" fmla="*/ 7677066 w 7713579"/>
              <a:gd name="connsiteY129" fmla="*/ 6407150 h 6858000"/>
              <a:gd name="connsiteX130" fmla="*/ 7661191 w 7713579"/>
              <a:gd name="connsiteY130" fmla="*/ 6448425 h 6858000"/>
              <a:gd name="connsiteX131" fmla="*/ 7643729 w 7713579"/>
              <a:gd name="connsiteY131" fmla="*/ 6488112 h 6858000"/>
              <a:gd name="connsiteX132" fmla="*/ 7626266 w 7713579"/>
              <a:gd name="connsiteY132" fmla="*/ 6523037 h 6858000"/>
              <a:gd name="connsiteX133" fmla="*/ 7607216 w 7713579"/>
              <a:gd name="connsiteY133" fmla="*/ 6561137 h 6858000"/>
              <a:gd name="connsiteX134" fmla="*/ 7588166 w 7713579"/>
              <a:gd name="connsiteY134" fmla="*/ 6597650 h 6858000"/>
              <a:gd name="connsiteX135" fmla="*/ 7572291 w 7713579"/>
              <a:gd name="connsiteY135" fmla="*/ 6640512 h 6858000"/>
              <a:gd name="connsiteX136" fmla="*/ 7556416 w 7713579"/>
              <a:gd name="connsiteY136" fmla="*/ 6683375 h 6858000"/>
              <a:gd name="connsiteX137" fmla="*/ 7546891 w 7713579"/>
              <a:gd name="connsiteY137" fmla="*/ 6735762 h 6858000"/>
              <a:gd name="connsiteX138" fmla="*/ 7538954 w 7713579"/>
              <a:gd name="connsiteY138" fmla="*/ 6791325 h 6858000"/>
              <a:gd name="connsiteX139" fmla="*/ 7534191 w 7713579"/>
              <a:gd name="connsiteY139" fmla="*/ 6858000 h 6858000"/>
              <a:gd name="connsiteX140" fmla="*/ 0 w 7713579"/>
              <a:gd name="connsiteY140" fmla="*/ 6858000 h 6858000"/>
              <a:gd name="connsiteX141" fmla="*/ 0 w 7713579"/>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713579" h="6858000">
                <a:moveTo>
                  <a:pt x="0" y="0"/>
                </a:moveTo>
                <a:lnTo>
                  <a:pt x="7534191" y="0"/>
                </a:lnTo>
                <a:lnTo>
                  <a:pt x="7538954" y="66675"/>
                </a:lnTo>
                <a:lnTo>
                  <a:pt x="7546891" y="122237"/>
                </a:lnTo>
                <a:lnTo>
                  <a:pt x="7556416" y="174625"/>
                </a:lnTo>
                <a:lnTo>
                  <a:pt x="7572291" y="217487"/>
                </a:lnTo>
                <a:lnTo>
                  <a:pt x="7588166" y="260350"/>
                </a:lnTo>
                <a:lnTo>
                  <a:pt x="7607216" y="296862"/>
                </a:lnTo>
                <a:lnTo>
                  <a:pt x="7626266" y="334962"/>
                </a:lnTo>
                <a:lnTo>
                  <a:pt x="7643729" y="369887"/>
                </a:lnTo>
                <a:lnTo>
                  <a:pt x="7661191" y="409575"/>
                </a:lnTo>
                <a:lnTo>
                  <a:pt x="7677066" y="450850"/>
                </a:lnTo>
                <a:lnTo>
                  <a:pt x="7691354" y="496887"/>
                </a:lnTo>
                <a:lnTo>
                  <a:pt x="7702466" y="546100"/>
                </a:lnTo>
                <a:lnTo>
                  <a:pt x="7710404" y="606425"/>
                </a:lnTo>
                <a:lnTo>
                  <a:pt x="7713579" y="673100"/>
                </a:lnTo>
                <a:lnTo>
                  <a:pt x="7710404" y="744537"/>
                </a:lnTo>
                <a:lnTo>
                  <a:pt x="7702466" y="801687"/>
                </a:lnTo>
                <a:lnTo>
                  <a:pt x="7691354" y="854075"/>
                </a:lnTo>
                <a:lnTo>
                  <a:pt x="7677066" y="901700"/>
                </a:lnTo>
                <a:lnTo>
                  <a:pt x="7661191" y="942975"/>
                </a:lnTo>
                <a:lnTo>
                  <a:pt x="7642141" y="981075"/>
                </a:lnTo>
                <a:lnTo>
                  <a:pt x="7623091" y="1017587"/>
                </a:lnTo>
                <a:lnTo>
                  <a:pt x="7604041" y="1055687"/>
                </a:lnTo>
                <a:lnTo>
                  <a:pt x="7586579" y="1095375"/>
                </a:lnTo>
                <a:lnTo>
                  <a:pt x="7569116" y="1136650"/>
                </a:lnTo>
                <a:lnTo>
                  <a:pt x="7554829" y="1182687"/>
                </a:lnTo>
                <a:lnTo>
                  <a:pt x="7545304" y="1235075"/>
                </a:lnTo>
                <a:lnTo>
                  <a:pt x="7535779" y="1295400"/>
                </a:lnTo>
                <a:lnTo>
                  <a:pt x="7534191" y="1363662"/>
                </a:lnTo>
                <a:lnTo>
                  <a:pt x="7535779" y="1431925"/>
                </a:lnTo>
                <a:lnTo>
                  <a:pt x="7545304" y="1492250"/>
                </a:lnTo>
                <a:lnTo>
                  <a:pt x="7554829" y="1544637"/>
                </a:lnTo>
                <a:lnTo>
                  <a:pt x="7569116" y="1589087"/>
                </a:lnTo>
                <a:lnTo>
                  <a:pt x="7586579" y="1631950"/>
                </a:lnTo>
                <a:lnTo>
                  <a:pt x="7604041" y="1671637"/>
                </a:lnTo>
                <a:lnTo>
                  <a:pt x="7623091" y="1708150"/>
                </a:lnTo>
                <a:lnTo>
                  <a:pt x="7642141" y="1743075"/>
                </a:lnTo>
                <a:lnTo>
                  <a:pt x="7661191" y="1782762"/>
                </a:lnTo>
                <a:lnTo>
                  <a:pt x="7677066" y="1824037"/>
                </a:lnTo>
                <a:lnTo>
                  <a:pt x="7691354" y="1870075"/>
                </a:lnTo>
                <a:lnTo>
                  <a:pt x="7702466" y="1922462"/>
                </a:lnTo>
                <a:lnTo>
                  <a:pt x="7710404" y="1982787"/>
                </a:lnTo>
                <a:lnTo>
                  <a:pt x="7713579" y="2051050"/>
                </a:lnTo>
                <a:lnTo>
                  <a:pt x="7710404" y="2119312"/>
                </a:lnTo>
                <a:lnTo>
                  <a:pt x="7702466" y="2179637"/>
                </a:lnTo>
                <a:lnTo>
                  <a:pt x="7691354" y="2232025"/>
                </a:lnTo>
                <a:lnTo>
                  <a:pt x="7677066" y="2278062"/>
                </a:lnTo>
                <a:lnTo>
                  <a:pt x="7661191" y="2319337"/>
                </a:lnTo>
                <a:lnTo>
                  <a:pt x="7642141" y="2359025"/>
                </a:lnTo>
                <a:lnTo>
                  <a:pt x="7623091" y="2395537"/>
                </a:lnTo>
                <a:lnTo>
                  <a:pt x="7604041" y="2433637"/>
                </a:lnTo>
                <a:lnTo>
                  <a:pt x="7586579" y="2471737"/>
                </a:lnTo>
                <a:lnTo>
                  <a:pt x="7569116" y="2513012"/>
                </a:lnTo>
                <a:lnTo>
                  <a:pt x="7554829" y="2560637"/>
                </a:lnTo>
                <a:lnTo>
                  <a:pt x="7545304" y="2613025"/>
                </a:lnTo>
                <a:lnTo>
                  <a:pt x="7535779" y="2671762"/>
                </a:lnTo>
                <a:lnTo>
                  <a:pt x="7534191" y="2741612"/>
                </a:lnTo>
                <a:lnTo>
                  <a:pt x="7535779" y="2809875"/>
                </a:lnTo>
                <a:lnTo>
                  <a:pt x="7545304" y="2868612"/>
                </a:lnTo>
                <a:lnTo>
                  <a:pt x="7554829" y="2922587"/>
                </a:lnTo>
                <a:lnTo>
                  <a:pt x="7569116" y="2967037"/>
                </a:lnTo>
                <a:lnTo>
                  <a:pt x="7586579" y="3009900"/>
                </a:lnTo>
                <a:lnTo>
                  <a:pt x="7604041" y="3046412"/>
                </a:lnTo>
                <a:lnTo>
                  <a:pt x="7623091" y="3084512"/>
                </a:lnTo>
                <a:lnTo>
                  <a:pt x="7642141" y="3121025"/>
                </a:lnTo>
                <a:lnTo>
                  <a:pt x="7661191" y="3160712"/>
                </a:lnTo>
                <a:lnTo>
                  <a:pt x="7677066" y="3201987"/>
                </a:lnTo>
                <a:lnTo>
                  <a:pt x="7691354" y="3248025"/>
                </a:lnTo>
                <a:lnTo>
                  <a:pt x="7702466" y="3300412"/>
                </a:lnTo>
                <a:lnTo>
                  <a:pt x="7710404" y="3360737"/>
                </a:lnTo>
                <a:lnTo>
                  <a:pt x="7713579" y="3427412"/>
                </a:lnTo>
                <a:lnTo>
                  <a:pt x="7710404" y="3497262"/>
                </a:lnTo>
                <a:lnTo>
                  <a:pt x="7702466" y="3557587"/>
                </a:lnTo>
                <a:lnTo>
                  <a:pt x="7691354" y="3609975"/>
                </a:lnTo>
                <a:lnTo>
                  <a:pt x="7677066" y="3656012"/>
                </a:lnTo>
                <a:lnTo>
                  <a:pt x="7661191" y="3697287"/>
                </a:lnTo>
                <a:lnTo>
                  <a:pt x="7642141" y="3736975"/>
                </a:lnTo>
                <a:lnTo>
                  <a:pt x="7604041" y="3811587"/>
                </a:lnTo>
                <a:lnTo>
                  <a:pt x="7586579" y="3848100"/>
                </a:lnTo>
                <a:lnTo>
                  <a:pt x="7569116" y="3890962"/>
                </a:lnTo>
                <a:lnTo>
                  <a:pt x="7554829" y="3935412"/>
                </a:lnTo>
                <a:lnTo>
                  <a:pt x="7545304" y="3987800"/>
                </a:lnTo>
                <a:lnTo>
                  <a:pt x="7535779" y="4048125"/>
                </a:lnTo>
                <a:lnTo>
                  <a:pt x="7534191" y="4116387"/>
                </a:lnTo>
                <a:lnTo>
                  <a:pt x="7535779" y="4186237"/>
                </a:lnTo>
                <a:lnTo>
                  <a:pt x="7545304" y="4244975"/>
                </a:lnTo>
                <a:lnTo>
                  <a:pt x="7554829" y="4297362"/>
                </a:lnTo>
                <a:lnTo>
                  <a:pt x="7569116" y="4343400"/>
                </a:lnTo>
                <a:lnTo>
                  <a:pt x="7586579" y="4386262"/>
                </a:lnTo>
                <a:lnTo>
                  <a:pt x="7604041" y="4424362"/>
                </a:lnTo>
                <a:lnTo>
                  <a:pt x="7642141" y="4498975"/>
                </a:lnTo>
                <a:lnTo>
                  <a:pt x="7661191" y="4537075"/>
                </a:lnTo>
                <a:lnTo>
                  <a:pt x="7677066" y="4579937"/>
                </a:lnTo>
                <a:lnTo>
                  <a:pt x="7691354" y="4625975"/>
                </a:lnTo>
                <a:lnTo>
                  <a:pt x="7702466" y="4678362"/>
                </a:lnTo>
                <a:lnTo>
                  <a:pt x="7710404" y="4738687"/>
                </a:lnTo>
                <a:lnTo>
                  <a:pt x="7713579" y="4806950"/>
                </a:lnTo>
                <a:lnTo>
                  <a:pt x="7710404" y="4875212"/>
                </a:lnTo>
                <a:lnTo>
                  <a:pt x="7702466" y="4935537"/>
                </a:lnTo>
                <a:lnTo>
                  <a:pt x="7691354" y="4987925"/>
                </a:lnTo>
                <a:lnTo>
                  <a:pt x="7677066" y="5033962"/>
                </a:lnTo>
                <a:lnTo>
                  <a:pt x="7661191" y="5075237"/>
                </a:lnTo>
                <a:lnTo>
                  <a:pt x="7642141" y="5114925"/>
                </a:lnTo>
                <a:lnTo>
                  <a:pt x="7623091" y="5149850"/>
                </a:lnTo>
                <a:lnTo>
                  <a:pt x="7604041" y="5186362"/>
                </a:lnTo>
                <a:lnTo>
                  <a:pt x="7586579" y="5226050"/>
                </a:lnTo>
                <a:lnTo>
                  <a:pt x="7569116" y="5268912"/>
                </a:lnTo>
                <a:lnTo>
                  <a:pt x="7554829" y="5313362"/>
                </a:lnTo>
                <a:lnTo>
                  <a:pt x="7545304" y="5365750"/>
                </a:lnTo>
                <a:lnTo>
                  <a:pt x="7535779" y="5426075"/>
                </a:lnTo>
                <a:lnTo>
                  <a:pt x="7534191" y="5494337"/>
                </a:lnTo>
                <a:lnTo>
                  <a:pt x="7535779" y="5562600"/>
                </a:lnTo>
                <a:lnTo>
                  <a:pt x="7545304" y="5622925"/>
                </a:lnTo>
                <a:lnTo>
                  <a:pt x="7554829" y="5675312"/>
                </a:lnTo>
                <a:lnTo>
                  <a:pt x="7569116" y="5721350"/>
                </a:lnTo>
                <a:lnTo>
                  <a:pt x="7586579" y="5762625"/>
                </a:lnTo>
                <a:lnTo>
                  <a:pt x="7604041" y="5802312"/>
                </a:lnTo>
                <a:lnTo>
                  <a:pt x="7623091" y="5840412"/>
                </a:lnTo>
                <a:lnTo>
                  <a:pt x="7642141" y="5876925"/>
                </a:lnTo>
                <a:lnTo>
                  <a:pt x="7661191" y="5915025"/>
                </a:lnTo>
                <a:lnTo>
                  <a:pt x="7677066" y="5956300"/>
                </a:lnTo>
                <a:lnTo>
                  <a:pt x="7691354" y="6003925"/>
                </a:lnTo>
                <a:lnTo>
                  <a:pt x="7702466" y="6056312"/>
                </a:lnTo>
                <a:lnTo>
                  <a:pt x="7710404" y="6113462"/>
                </a:lnTo>
                <a:lnTo>
                  <a:pt x="7713579" y="6183312"/>
                </a:lnTo>
                <a:lnTo>
                  <a:pt x="7710404" y="6251575"/>
                </a:lnTo>
                <a:lnTo>
                  <a:pt x="7702466" y="6311900"/>
                </a:lnTo>
                <a:lnTo>
                  <a:pt x="7691354" y="6361112"/>
                </a:lnTo>
                <a:lnTo>
                  <a:pt x="7677066" y="6407150"/>
                </a:lnTo>
                <a:lnTo>
                  <a:pt x="7661191" y="6448425"/>
                </a:lnTo>
                <a:lnTo>
                  <a:pt x="7643729" y="6488112"/>
                </a:lnTo>
                <a:lnTo>
                  <a:pt x="7626266" y="6523037"/>
                </a:lnTo>
                <a:lnTo>
                  <a:pt x="7607216" y="6561137"/>
                </a:lnTo>
                <a:lnTo>
                  <a:pt x="7588166" y="6597650"/>
                </a:lnTo>
                <a:lnTo>
                  <a:pt x="7572291" y="6640512"/>
                </a:lnTo>
                <a:lnTo>
                  <a:pt x="7556416" y="6683375"/>
                </a:lnTo>
                <a:lnTo>
                  <a:pt x="7546891" y="6735762"/>
                </a:lnTo>
                <a:lnTo>
                  <a:pt x="7538954" y="6791325"/>
                </a:lnTo>
                <a:lnTo>
                  <a:pt x="7534191" y="6858000"/>
                </a:lnTo>
                <a:lnTo>
                  <a:pt x="0" y="6858000"/>
                </a:lnTo>
                <a:lnTo>
                  <a:pt x="0" y="0"/>
                </a:lnTo>
                <a:close/>
              </a:path>
            </a:pathLst>
          </a:cu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23E4A02A-EB10-4AC6-B332-BCB38243C263}"/>
              </a:ext>
              <a:ext uri="{C183D7F6-B498-43B3-948B-1728B52AA6E4}">
                <adec:decorative xmlns:adec="http://schemas.microsoft.com/office/drawing/2017/decorative" val="1"/>
              </a:ext>
            </a:extLst>
          </p:cNvPr>
          <p:cNvGrpSpPr/>
          <p:nvPr/>
        </p:nvGrpSpPr>
        <p:grpSpPr>
          <a:xfrm>
            <a:off x="573788" y="1235357"/>
            <a:ext cx="4417405" cy="4403442"/>
            <a:chOff x="6545179" y="2923674"/>
            <a:chExt cx="2132096" cy="2125357"/>
          </a:xfrm>
          <a:solidFill>
            <a:srgbClr val="595959">
              <a:alpha val="60000"/>
            </a:srgbClr>
          </a:solidFill>
        </p:grpSpPr>
        <p:pic>
          <p:nvPicPr>
            <p:cNvPr id="7" name="Picture 6" descr="8puzzle">
              <a:extLst>
                <a:ext uri="{FF2B5EF4-FFF2-40B4-BE49-F238E27FC236}">
                  <a16:creationId xmlns:a16="http://schemas.microsoft.com/office/drawing/2014/main" id="{8CAEE922-C4DD-463A-856E-5CBAE57933F1}"/>
                </a:ext>
              </a:extLst>
            </p:cNvPr>
            <p:cNvPicPr>
              <a:picLocks noChangeAspect="1" noChangeArrowheads="1"/>
            </p:cNvPicPr>
            <p:nvPr/>
          </p:nvPicPr>
          <p:blipFill rotWithShape="1">
            <a:blip r:embed="rId2" cstate="print"/>
            <a:srcRect r="53691" b="11894"/>
            <a:stretch/>
          </p:blipFill>
          <p:spPr bwMode="auto">
            <a:xfrm>
              <a:off x="6705600" y="3048794"/>
              <a:ext cx="1971675" cy="1905000"/>
            </a:xfrm>
            <a:prstGeom prst="rect">
              <a:avLst/>
            </a:prstGeom>
            <a:grpFill/>
          </p:spPr>
        </p:pic>
        <p:sp>
          <p:nvSpPr>
            <p:cNvPr id="8" name="Freeform: Shape 7">
              <a:extLst>
                <a:ext uri="{FF2B5EF4-FFF2-40B4-BE49-F238E27FC236}">
                  <a16:creationId xmlns:a16="http://schemas.microsoft.com/office/drawing/2014/main" id="{474DA2B6-C660-48B6-B9DD-BCCA7196377F}"/>
                </a:ext>
              </a:extLst>
            </p:cNvPr>
            <p:cNvSpPr/>
            <p:nvPr/>
          </p:nvSpPr>
          <p:spPr>
            <a:xfrm>
              <a:off x="6545179" y="2923674"/>
              <a:ext cx="2132096" cy="2125357"/>
            </a:xfrm>
            <a:custGeom>
              <a:avLst/>
              <a:gdLst>
                <a:gd name="connsiteX0" fmla="*/ 36095 w 2177716"/>
                <a:gd name="connsiteY0" fmla="*/ 794084 h 2117558"/>
                <a:gd name="connsiteX1" fmla="*/ 36095 w 2177716"/>
                <a:gd name="connsiteY1" fmla="*/ 794084 h 2117558"/>
                <a:gd name="connsiteX2" fmla="*/ 830179 w 2177716"/>
                <a:gd name="connsiteY2" fmla="*/ 794084 h 2117558"/>
                <a:gd name="connsiteX3" fmla="*/ 842210 w 2177716"/>
                <a:gd name="connsiteY3" fmla="*/ 794084 h 2117558"/>
                <a:gd name="connsiteX4" fmla="*/ 806116 w 2177716"/>
                <a:gd name="connsiteY4" fmla="*/ 0 h 2117558"/>
                <a:gd name="connsiteX5" fmla="*/ 2177716 w 2177716"/>
                <a:gd name="connsiteY5" fmla="*/ 0 h 2117558"/>
                <a:gd name="connsiteX6" fmla="*/ 2153653 w 2177716"/>
                <a:gd name="connsiteY6" fmla="*/ 2117558 h 2117558"/>
                <a:gd name="connsiteX7" fmla="*/ 0 w 2177716"/>
                <a:gd name="connsiteY7" fmla="*/ 2057400 h 2117558"/>
                <a:gd name="connsiteX8" fmla="*/ 36095 w 2177716"/>
                <a:gd name="connsiteY8" fmla="*/ 794084 h 2117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7716" h="2117558">
                  <a:moveTo>
                    <a:pt x="36095" y="794084"/>
                  </a:moveTo>
                  <a:lnTo>
                    <a:pt x="36095" y="794084"/>
                  </a:lnTo>
                  <a:lnTo>
                    <a:pt x="830179" y="794084"/>
                  </a:lnTo>
                  <a:lnTo>
                    <a:pt x="842210" y="794084"/>
                  </a:lnTo>
                  <a:lnTo>
                    <a:pt x="806116" y="0"/>
                  </a:lnTo>
                  <a:lnTo>
                    <a:pt x="2177716" y="0"/>
                  </a:lnTo>
                  <a:lnTo>
                    <a:pt x="2153653" y="2117558"/>
                  </a:lnTo>
                  <a:lnTo>
                    <a:pt x="0" y="2057400"/>
                  </a:lnTo>
                  <a:lnTo>
                    <a:pt x="36095" y="794084"/>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itle 3">
            <a:extLst>
              <a:ext uri="{FF2B5EF4-FFF2-40B4-BE49-F238E27FC236}">
                <a16:creationId xmlns:a16="http://schemas.microsoft.com/office/drawing/2014/main" id="{1DE0EE8C-4D59-48F1-B069-E38EC27F5A58}"/>
              </a:ext>
            </a:extLst>
          </p:cNvPr>
          <p:cNvSpPr>
            <a:spLocks noGrp="1"/>
          </p:cNvSpPr>
          <p:nvPr>
            <p:ph type="title"/>
          </p:nvPr>
        </p:nvSpPr>
        <p:spPr>
          <a:xfrm>
            <a:off x="6012480" y="662400"/>
            <a:ext cx="2750520" cy="2766600"/>
          </a:xfrm>
        </p:spPr>
        <p:txBody>
          <a:bodyPr vert="horz" lIns="91440" tIns="45720" rIns="91440" bIns="45720" rtlCol="0" anchor="t">
            <a:normAutofit fontScale="90000"/>
          </a:bodyPr>
          <a:lstStyle/>
          <a:p>
            <a:r>
              <a:rPr lang="en-US" sz="4400" kern="1200" dirty="0">
                <a:latin typeface="+mj-lt"/>
                <a:ea typeface="+mj-ea"/>
                <a:cs typeface="+mj-cs"/>
              </a:rPr>
              <a:t>Case Study: </a:t>
            </a:r>
            <a:br>
              <a:rPr lang="en-US" sz="4400" kern="1200" dirty="0">
                <a:latin typeface="+mj-lt"/>
                <a:ea typeface="+mj-ea"/>
                <a:cs typeface="+mj-cs"/>
              </a:rPr>
            </a:br>
            <a:br>
              <a:rPr lang="en-US" sz="4400" kern="1200" dirty="0">
                <a:latin typeface="+mj-lt"/>
                <a:ea typeface="+mj-ea"/>
                <a:cs typeface="+mj-cs"/>
              </a:rPr>
            </a:br>
            <a:r>
              <a:rPr lang="en-US" sz="4400" dirty="0"/>
              <a:t>Partially Observable 8-Puzzle</a:t>
            </a:r>
            <a:endParaRPr lang="en-US" sz="4400" kern="1200" dirty="0">
              <a:solidFill>
                <a:schemeClr val="tx1"/>
              </a:solidFill>
              <a:latin typeface="+mj-lt"/>
              <a:ea typeface="+mj-ea"/>
              <a:cs typeface="+mj-cs"/>
            </a:endParaRPr>
          </a:p>
        </p:txBody>
      </p:sp>
    </p:spTree>
    <p:extLst>
      <p:ext uri="{BB962C8B-B14F-4D97-AF65-F5344CB8AC3E}">
        <p14:creationId xmlns:p14="http://schemas.microsoft.com/office/powerpoint/2010/main" val="16168164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77B07A-CDE1-4DA3-B6DB-01E392AB2EC5}"/>
              </a:ext>
            </a:extLst>
          </p:cNvPr>
          <p:cNvSpPr>
            <a:spLocks noGrp="1"/>
          </p:cNvSpPr>
          <p:nvPr>
            <p:ph type="title"/>
          </p:nvPr>
        </p:nvSpPr>
        <p:spPr>
          <a:xfrm>
            <a:off x="628650" y="365126"/>
            <a:ext cx="4933950" cy="1325563"/>
          </a:xfrm>
        </p:spPr>
        <p:txBody>
          <a:bodyPr/>
          <a:lstStyle/>
          <a:p>
            <a:r>
              <a:rPr lang="en-US" dirty="0"/>
              <a:t>Partially Observable 8-Puzzle</a:t>
            </a:r>
          </a:p>
        </p:txBody>
      </p:sp>
      <p:sp>
        <p:nvSpPr>
          <p:cNvPr id="5" name="Content Placeholder 4">
            <a:extLst>
              <a:ext uri="{FF2B5EF4-FFF2-40B4-BE49-F238E27FC236}">
                <a16:creationId xmlns:a16="http://schemas.microsoft.com/office/drawing/2014/main" id="{0C883E69-33D5-4952-8BA7-5015B56799C3}"/>
              </a:ext>
            </a:extLst>
          </p:cNvPr>
          <p:cNvSpPr>
            <a:spLocks noGrp="1"/>
          </p:cNvSpPr>
          <p:nvPr>
            <p:ph idx="1"/>
          </p:nvPr>
        </p:nvSpPr>
        <p:spPr>
          <a:xfrm>
            <a:off x="628649" y="1825625"/>
            <a:ext cx="5848351" cy="4346575"/>
          </a:xfrm>
        </p:spPr>
        <p:txBody>
          <a:bodyPr>
            <a:normAutofit fontScale="77500" lnSpcReduction="20000"/>
          </a:bodyPr>
          <a:lstStyle/>
          <a:p>
            <a:pPr marL="0" indent="0">
              <a:buNone/>
            </a:pPr>
            <a:r>
              <a:rPr lang="en-US" dirty="0"/>
              <a:t>Give a problem description for this problem.</a:t>
            </a:r>
          </a:p>
          <a:p>
            <a:pPr marL="0" indent="0">
              <a:buNone/>
            </a:pPr>
            <a:endParaRPr lang="en-US" dirty="0"/>
          </a:p>
          <a:p>
            <a:pPr lvl="1"/>
            <a:r>
              <a:rPr lang="en-US" dirty="0"/>
              <a:t>States:</a:t>
            </a:r>
          </a:p>
          <a:p>
            <a:pPr lvl="1"/>
            <a:r>
              <a:rPr lang="en-US" dirty="0"/>
              <a:t>Initial state:</a:t>
            </a:r>
          </a:p>
          <a:p>
            <a:pPr lvl="1"/>
            <a:r>
              <a:rPr lang="en-US" dirty="0"/>
              <a:t>Actions:</a:t>
            </a:r>
          </a:p>
          <a:p>
            <a:pPr lvl="1"/>
            <a:r>
              <a:rPr lang="en-US" dirty="0"/>
              <a:t>Transition model:</a:t>
            </a:r>
          </a:p>
          <a:p>
            <a:pPr lvl="1"/>
            <a:r>
              <a:rPr lang="en-US" dirty="0"/>
              <a:t>Goal test:</a:t>
            </a:r>
          </a:p>
          <a:p>
            <a:pPr lvl="1"/>
            <a:r>
              <a:rPr lang="en-US" dirty="0"/>
              <a:t>Percept function:</a:t>
            </a:r>
          </a:p>
          <a:p>
            <a:pPr marL="0" indent="0">
              <a:buNone/>
            </a:pPr>
            <a:endParaRPr lang="en-US" dirty="0"/>
          </a:p>
          <a:p>
            <a:pPr marL="0" indent="0">
              <a:buNone/>
            </a:pPr>
            <a:r>
              <a:rPr lang="en-US" dirty="0"/>
              <a:t>This problem can be solved using an AND-OR Tree, but is there an easier solution?</a:t>
            </a:r>
          </a:p>
          <a:p>
            <a:pPr marL="514350" indent="-514350">
              <a:buFont typeface="+mj-lt"/>
              <a:buAutoNum type="arabicPeriod"/>
            </a:pPr>
            <a:endParaRPr lang="en-US" dirty="0"/>
          </a:p>
          <a:p>
            <a:pPr marL="971550" lvl="1" indent="-514350">
              <a:buFont typeface="+mj-lt"/>
              <a:buAutoNum type="alphaLcPeriod"/>
            </a:pPr>
            <a:r>
              <a:rPr lang="en-US" dirty="0"/>
              <a:t>What type of agents would we use?</a:t>
            </a:r>
          </a:p>
          <a:p>
            <a:pPr marL="971550" lvl="1" indent="-514350">
              <a:buFont typeface="+mj-lt"/>
              <a:buAutoNum type="alphaLcPeriod"/>
            </a:pPr>
            <a:r>
              <a:rPr lang="en-US" dirty="0"/>
              <a:t>What algorithms can be used?</a:t>
            </a:r>
          </a:p>
        </p:txBody>
      </p:sp>
      <p:grpSp>
        <p:nvGrpSpPr>
          <p:cNvPr id="6" name="Group 5" descr="Picture of an 8-puzzle with only the top left tile visible.">
            <a:extLst>
              <a:ext uri="{FF2B5EF4-FFF2-40B4-BE49-F238E27FC236}">
                <a16:creationId xmlns:a16="http://schemas.microsoft.com/office/drawing/2014/main" id="{DBB5C5F6-68A3-4DD2-83AC-ED9499A064A3}"/>
              </a:ext>
            </a:extLst>
          </p:cNvPr>
          <p:cNvGrpSpPr/>
          <p:nvPr/>
        </p:nvGrpSpPr>
        <p:grpSpPr>
          <a:xfrm>
            <a:off x="6477000" y="349084"/>
            <a:ext cx="2177716" cy="2117558"/>
            <a:chOff x="6545179" y="2923674"/>
            <a:chExt cx="2177716" cy="2117558"/>
          </a:xfrm>
          <a:solidFill>
            <a:srgbClr val="595959">
              <a:alpha val="60000"/>
            </a:srgbClr>
          </a:solidFill>
        </p:grpSpPr>
        <p:pic>
          <p:nvPicPr>
            <p:cNvPr id="7" name="Picture 6" descr="8puzzle">
              <a:extLst>
                <a:ext uri="{FF2B5EF4-FFF2-40B4-BE49-F238E27FC236}">
                  <a16:creationId xmlns:a16="http://schemas.microsoft.com/office/drawing/2014/main" id="{5D73636E-CBBA-4DEE-846F-F1A0C6B3B493}"/>
                </a:ext>
              </a:extLst>
            </p:cNvPr>
            <p:cNvPicPr>
              <a:picLocks noChangeAspect="1" noChangeArrowheads="1"/>
            </p:cNvPicPr>
            <p:nvPr/>
          </p:nvPicPr>
          <p:blipFill rotWithShape="1">
            <a:blip r:embed="rId3" cstate="print"/>
            <a:srcRect r="53691" b="11894"/>
            <a:stretch/>
          </p:blipFill>
          <p:spPr bwMode="auto">
            <a:xfrm>
              <a:off x="6705600" y="3048794"/>
              <a:ext cx="1971675" cy="1905000"/>
            </a:xfrm>
            <a:prstGeom prst="rect">
              <a:avLst/>
            </a:prstGeom>
            <a:grpFill/>
          </p:spPr>
        </p:pic>
        <p:sp>
          <p:nvSpPr>
            <p:cNvPr id="8" name="Freeform: Shape 7">
              <a:extLst>
                <a:ext uri="{FF2B5EF4-FFF2-40B4-BE49-F238E27FC236}">
                  <a16:creationId xmlns:a16="http://schemas.microsoft.com/office/drawing/2014/main" id="{AF8A80EB-E496-484B-8540-6335A0608DFF}"/>
                </a:ext>
              </a:extLst>
            </p:cNvPr>
            <p:cNvSpPr/>
            <p:nvPr/>
          </p:nvSpPr>
          <p:spPr>
            <a:xfrm>
              <a:off x="6545179" y="2923674"/>
              <a:ext cx="2177716" cy="2117558"/>
            </a:xfrm>
            <a:custGeom>
              <a:avLst/>
              <a:gdLst>
                <a:gd name="connsiteX0" fmla="*/ 36095 w 2177716"/>
                <a:gd name="connsiteY0" fmla="*/ 794084 h 2117558"/>
                <a:gd name="connsiteX1" fmla="*/ 36095 w 2177716"/>
                <a:gd name="connsiteY1" fmla="*/ 794084 h 2117558"/>
                <a:gd name="connsiteX2" fmla="*/ 830179 w 2177716"/>
                <a:gd name="connsiteY2" fmla="*/ 794084 h 2117558"/>
                <a:gd name="connsiteX3" fmla="*/ 842210 w 2177716"/>
                <a:gd name="connsiteY3" fmla="*/ 794084 h 2117558"/>
                <a:gd name="connsiteX4" fmla="*/ 806116 w 2177716"/>
                <a:gd name="connsiteY4" fmla="*/ 0 h 2117558"/>
                <a:gd name="connsiteX5" fmla="*/ 2177716 w 2177716"/>
                <a:gd name="connsiteY5" fmla="*/ 0 h 2117558"/>
                <a:gd name="connsiteX6" fmla="*/ 2153653 w 2177716"/>
                <a:gd name="connsiteY6" fmla="*/ 2117558 h 2117558"/>
                <a:gd name="connsiteX7" fmla="*/ 0 w 2177716"/>
                <a:gd name="connsiteY7" fmla="*/ 2057400 h 2117558"/>
                <a:gd name="connsiteX8" fmla="*/ 36095 w 2177716"/>
                <a:gd name="connsiteY8" fmla="*/ 794084 h 2117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7716" h="2117558">
                  <a:moveTo>
                    <a:pt x="36095" y="794084"/>
                  </a:moveTo>
                  <a:lnTo>
                    <a:pt x="36095" y="794084"/>
                  </a:lnTo>
                  <a:lnTo>
                    <a:pt x="830179" y="794084"/>
                  </a:lnTo>
                  <a:lnTo>
                    <a:pt x="842210" y="794084"/>
                  </a:lnTo>
                  <a:lnTo>
                    <a:pt x="806116" y="0"/>
                  </a:lnTo>
                  <a:lnTo>
                    <a:pt x="2177716" y="0"/>
                  </a:lnTo>
                  <a:lnTo>
                    <a:pt x="2153653" y="2117558"/>
                  </a:lnTo>
                  <a:lnTo>
                    <a:pt x="0" y="2057400"/>
                  </a:lnTo>
                  <a:lnTo>
                    <a:pt x="36095" y="794084"/>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0930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1" end="1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3ABB505-77D3-8EFE-A2F7-FAD786D4BF8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rcRect l="6230" t="29688" r="20"/>
          <a:stretch>
            <a:fillRect/>
          </a:stretch>
        </p:blipFill>
        <p:spPr>
          <a:xfrm>
            <a:off x="20" y="10"/>
            <a:ext cx="9143980" cy="6857990"/>
          </a:xfrm>
          <a:prstGeom prst="rect">
            <a:avLst/>
          </a:prstGeom>
        </p:spPr>
      </p:pic>
      <p:sp>
        <p:nvSpPr>
          <p:cNvPr id="29" name="Rectangle 28">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5" y="-511"/>
            <a:ext cx="4592270" cy="9144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6DF08FD7-3544-4ECB-9BBB-12B038B908A3}"/>
              </a:ext>
            </a:extLst>
          </p:cNvPr>
          <p:cNvSpPr>
            <a:spLocks noGrp="1"/>
          </p:cNvSpPr>
          <p:nvPr>
            <p:ph type="title"/>
          </p:nvPr>
        </p:nvSpPr>
        <p:spPr>
          <a:xfrm>
            <a:off x="303414" y="3091928"/>
            <a:ext cx="6808922" cy="2387600"/>
          </a:xfrm>
        </p:spPr>
        <p:txBody>
          <a:bodyPr vert="horz" lIns="91440" tIns="45720" rIns="91440" bIns="45720" rtlCol="0" anchor="b">
            <a:normAutofit/>
          </a:bodyPr>
          <a:lstStyle/>
          <a:p>
            <a:r>
              <a:rPr lang="en-US" sz="5700" b="1">
                <a:solidFill>
                  <a:schemeClr val="bg1"/>
                </a:solidFill>
                <a:effectLst>
                  <a:outerShdw blurRad="38100" dist="38100" dir="2700000" algn="tl">
                    <a:srgbClr val="000000">
                      <a:alpha val="43137"/>
                    </a:srgbClr>
                  </a:outerShdw>
                </a:effectLst>
              </a:rPr>
              <a:t>Exploration</a:t>
            </a:r>
          </a:p>
        </p:txBody>
      </p:sp>
      <p:sp>
        <p:nvSpPr>
          <p:cNvPr id="31" name="Rectangle: Rounded Corners 30">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03DE9B46-0040-4EF6-9C7A-E00DBC1C61C2}"/>
              </a:ext>
            </a:extLst>
          </p:cNvPr>
          <p:cNvSpPr>
            <a:spLocks noGrp="1"/>
          </p:cNvSpPr>
          <p:nvPr>
            <p:ph type="body" idx="1"/>
          </p:nvPr>
        </p:nvSpPr>
        <p:spPr>
          <a:xfrm>
            <a:off x="303414" y="5624945"/>
            <a:ext cx="6808922" cy="592975"/>
          </a:xfrm>
        </p:spPr>
        <p:txBody>
          <a:bodyPr vert="horz" lIns="91440" tIns="45720" rIns="91440" bIns="45720" rtlCol="0" anchor="ctr">
            <a:normAutofit fontScale="92500"/>
          </a:bodyPr>
          <a:lstStyle/>
          <a:p>
            <a:r>
              <a:rPr lang="en-US" sz="3200" dirty="0">
                <a:solidFill>
                  <a:schemeClr val="bg1"/>
                </a:solidFill>
              </a:rPr>
              <a:t>Unknown Environments and Online Search</a:t>
            </a:r>
          </a:p>
        </p:txBody>
      </p:sp>
    </p:spTree>
    <p:extLst>
      <p:ext uri="{BB962C8B-B14F-4D97-AF65-F5344CB8AC3E}">
        <p14:creationId xmlns:p14="http://schemas.microsoft.com/office/powerpoint/2010/main" val="25228959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D66669-F88A-481D-B660-36D3D3B896F6}"/>
              </a:ext>
            </a:extLst>
          </p:cNvPr>
          <p:cNvSpPr>
            <a:spLocks noGrp="1"/>
          </p:cNvSpPr>
          <p:nvPr>
            <p:ph type="title"/>
          </p:nvPr>
        </p:nvSpPr>
        <p:spPr/>
        <p:txBody>
          <a:bodyPr/>
          <a:lstStyle/>
          <a:p>
            <a:r>
              <a:rPr lang="en-US" dirty="0"/>
              <a:t>Recap: Offline Search</a:t>
            </a:r>
          </a:p>
        </p:txBody>
      </p:sp>
      <p:sp>
        <p:nvSpPr>
          <p:cNvPr id="5" name="Content Placeholder 4">
            <a:extLst>
              <a:ext uri="{FF2B5EF4-FFF2-40B4-BE49-F238E27FC236}">
                <a16:creationId xmlns:a16="http://schemas.microsoft.com/office/drawing/2014/main" id="{36F2D4E4-8EDB-4A8F-BC83-2065F739A00B}"/>
              </a:ext>
            </a:extLst>
          </p:cNvPr>
          <p:cNvSpPr>
            <a:spLocks noGrp="1"/>
          </p:cNvSpPr>
          <p:nvPr>
            <p:ph idx="1"/>
          </p:nvPr>
        </p:nvSpPr>
        <p:spPr>
          <a:xfrm>
            <a:off x="628650" y="1828800"/>
            <a:ext cx="7886700" cy="4283073"/>
          </a:xfrm>
        </p:spPr>
        <p:txBody>
          <a:bodyPr>
            <a:normAutofit fontScale="85000" lnSpcReduction="20000"/>
          </a:bodyPr>
          <a:lstStyle/>
          <a:p>
            <a:r>
              <a:rPr lang="en-US" b="1" dirty="0"/>
              <a:t>Offline search aka planning</a:t>
            </a:r>
            <a:r>
              <a:rPr lang="en-US" dirty="0"/>
              <a:t>: Create a plan using the state space and the transition model before taking any action. </a:t>
            </a:r>
          </a:p>
          <a:p>
            <a:r>
              <a:rPr lang="en-US" dirty="0"/>
              <a:t>The </a:t>
            </a:r>
            <a:r>
              <a:rPr lang="en-US" b="1" dirty="0"/>
              <a:t>plan</a:t>
            </a:r>
            <a:r>
              <a:rPr lang="en-US" dirty="0"/>
              <a:t> can be </a:t>
            </a:r>
          </a:p>
          <a:p>
            <a:pPr lvl="1"/>
            <a:r>
              <a:rPr lang="en-US" b="1" dirty="0"/>
              <a:t>a sequence of actions, </a:t>
            </a:r>
            <a:r>
              <a:rPr lang="en-US" dirty="0"/>
              <a:t>or </a:t>
            </a:r>
          </a:p>
          <a:p>
            <a:pPr lvl="1"/>
            <a:r>
              <a:rPr lang="en-US" b="1" dirty="0"/>
              <a:t>a conditional plan</a:t>
            </a:r>
            <a:r>
              <a:rPr lang="en-US" dirty="0"/>
              <a:t> that uses observations to account for uncertainty or imperfect observability.</a:t>
            </a:r>
          </a:p>
          <a:p>
            <a:r>
              <a:rPr lang="en-US" dirty="0"/>
              <a:t>The agent plans using search with the known transition function to predict the consequence of actions. </a:t>
            </a:r>
          </a:p>
          <a:p>
            <a:endParaRPr lang="en-US" dirty="0"/>
          </a:p>
          <a:p>
            <a:r>
              <a:rPr lang="en-US" b="1" dirty="0"/>
              <a:t>Issue</a:t>
            </a:r>
            <a:r>
              <a:rPr lang="en-US" dirty="0"/>
              <a:t>: In an </a:t>
            </a:r>
            <a:r>
              <a:rPr lang="en-US" b="1" dirty="0"/>
              <a:t>unknown environment,</a:t>
            </a:r>
            <a:r>
              <a:rPr lang="en-US" dirty="0"/>
              <a:t> we do not know the transition function. </a:t>
            </a:r>
          </a:p>
          <a:p>
            <a:r>
              <a:rPr lang="en-US" dirty="0"/>
              <a:t>We cannot predict outcomes of actions; therefore, we cannot plan using offline search!</a:t>
            </a:r>
          </a:p>
        </p:txBody>
      </p:sp>
    </p:spTree>
    <p:extLst>
      <p:ext uri="{BB962C8B-B14F-4D97-AF65-F5344CB8AC3E}">
        <p14:creationId xmlns:p14="http://schemas.microsoft.com/office/powerpoint/2010/main" val="1036678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0F393-6E74-0ADD-B143-6DA71FA0CC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14B3D2-FCFF-919B-9551-421D6DBC98BC}"/>
              </a:ext>
            </a:extLst>
          </p:cNvPr>
          <p:cNvSpPr>
            <a:spLocks noGrp="1"/>
          </p:cNvSpPr>
          <p:nvPr>
            <p:ph type="title"/>
          </p:nvPr>
        </p:nvSpPr>
        <p:spPr/>
        <p:txBody>
          <a:bodyPr/>
          <a:lstStyle/>
          <a:p>
            <a:r>
              <a:rPr lang="en-US" dirty="0"/>
              <a:t>Online Search</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489EDE4-CF17-9191-0221-7A80A6169A78}"/>
                  </a:ext>
                </a:extLst>
              </p:cNvPr>
              <p:cNvSpPr>
                <a:spLocks noGrp="1"/>
              </p:cNvSpPr>
              <p:nvPr>
                <p:ph idx="1"/>
              </p:nvPr>
            </p:nvSpPr>
            <p:spPr>
              <a:xfrm>
                <a:off x="628650" y="1524001"/>
                <a:ext cx="7886700" cy="4648200"/>
              </a:xfrm>
            </p:spPr>
            <p:txBody>
              <a:bodyPr>
                <a:normAutofit fontScale="77500" lnSpcReduction="20000"/>
              </a:bodyPr>
              <a:lstStyle/>
              <a:p>
                <a:r>
                  <a:rPr lang="en-US" b="1" dirty="0"/>
                  <a:t>Online search </a:t>
                </a:r>
                <a:r>
                  <a:rPr lang="en-US" dirty="0"/>
                  <a:t>does not use planning! It explores the real world one action at a time. Offline prediction and update are replaced by “act” and “observe.” </a:t>
                </a:r>
              </a:p>
              <a:p>
                <a:pPr marL="0" indent="0">
                  <a:buNone/>
                </a:pPr>
                <a:endParaRPr lang="en-US" dirty="0"/>
              </a:p>
              <a:p>
                <a:endParaRPr lang="en-US" dirty="0"/>
              </a:p>
              <a:p>
                <a:endParaRPr lang="en-US" dirty="0"/>
              </a:p>
              <a:p>
                <a:endParaRPr lang="en-US" dirty="0"/>
              </a:p>
              <a:p>
                <a:r>
                  <a:rPr lang="en-US" dirty="0"/>
                  <a:t>Useful for</a:t>
                </a:r>
              </a:p>
              <a:p>
                <a:pPr lvl="1"/>
                <a:r>
                  <a:rPr lang="en-US" b="1" dirty="0"/>
                  <a:t>Unknown environment</a:t>
                </a:r>
                <a:r>
                  <a:rPr lang="en-US" dirty="0"/>
                  <a:t>: The agent has no complete model of how the environment works. It needs to explore an unknown state space and/or what actions do. I.e., it needs to </a:t>
                </a:r>
                <a:r>
                  <a:rPr lang="en-US" b="1" dirty="0"/>
                  <a:t>learn the transition function </a:t>
                </a:r>
                <a:br>
                  <a:rPr lang="en-US" b="1" dirty="0"/>
                </a:b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 :</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a:p>
                <a:pPr lvl="1"/>
                <a:r>
                  <a:rPr lang="en-US" b="1" dirty="0"/>
                  <a:t>Real-time problems</a:t>
                </a:r>
                <a:r>
                  <a:rPr lang="en-US" dirty="0"/>
                  <a:t>: When offline computation takes too long, and there is a penalty for sitting around and thinking.</a:t>
                </a:r>
              </a:p>
              <a:p>
                <a:pPr lvl="1"/>
                <a:r>
                  <a:rPr lang="en-US" b="1" dirty="0"/>
                  <a:t>Nondeterministic domain</a:t>
                </a:r>
                <a:r>
                  <a:rPr lang="en-US" dirty="0"/>
                  <a:t>: Conditional plans become very large. Only focus on what happens instead of planning for everything!</a:t>
                </a:r>
              </a:p>
            </p:txBody>
          </p:sp>
        </mc:Choice>
        <mc:Fallback xmlns="">
          <p:sp>
            <p:nvSpPr>
              <p:cNvPr id="5" name="Content Placeholder 4">
                <a:extLst>
                  <a:ext uri="{FF2B5EF4-FFF2-40B4-BE49-F238E27FC236}">
                    <a16:creationId xmlns:a16="http://schemas.microsoft.com/office/drawing/2014/main" id="{6489EDE4-CF17-9191-0221-7A80A6169A78}"/>
                  </a:ext>
                </a:extLst>
              </p:cNvPr>
              <p:cNvSpPr>
                <a:spLocks noGrp="1" noRot="1" noChangeAspect="1" noMove="1" noResize="1" noEditPoints="1" noAdjustHandles="1" noChangeArrowheads="1" noChangeShapeType="1" noTextEdit="1"/>
              </p:cNvSpPr>
              <p:nvPr>
                <p:ph idx="1"/>
              </p:nvPr>
            </p:nvSpPr>
            <p:spPr>
              <a:xfrm>
                <a:off x="628650" y="1524001"/>
                <a:ext cx="7886700" cy="4648200"/>
              </a:xfrm>
              <a:blipFill>
                <a:blip r:embed="rId2"/>
                <a:stretch>
                  <a:fillRect l="-850" t="-2752" r="-1005"/>
                </a:stretch>
              </a:blipFill>
            </p:spPr>
            <p:txBody>
              <a:bodyPr/>
              <a:lstStyle/>
              <a:p>
                <a:r>
                  <a:rPr lang="en-US">
                    <a:noFill/>
                  </a:rPr>
                  <a:t> </a:t>
                </a:r>
              </a:p>
            </p:txBody>
          </p:sp>
        </mc:Fallback>
      </mc:AlternateContent>
      <p:grpSp>
        <p:nvGrpSpPr>
          <p:cNvPr id="9" name="Group 8" descr="A sequence of act, observe, act, etc.">
            <a:extLst>
              <a:ext uri="{FF2B5EF4-FFF2-40B4-BE49-F238E27FC236}">
                <a16:creationId xmlns:a16="http://schemas.microsoft.com/office/drawing/2014/main" id="{A132169D-F6E1-B6C1-D3C7-25E966433B86}"/>
              </a:ext>
            </a:extLst>
          </p:cNvPr>
          <p:cNvGrpSpPr/>
          <p:nvPr/>
        </p:nvGrpSpPr>
        <p:grpSpPr>
          <a:xfrm>
            <a:off x="1236902" y="2463800"/>
            <a:ext cx="6670196" cy="990600"/>
            <a:chOff x="1524000" y="4318000"/>
            <a:chExt cx="6670196" cy="990600"/>
          </a:xfrm>
        </p:grpSpPr>
        <p:graphicFrame>
          <p:nvGraphicFramePr>
            <p:cNvPr id="7" name="Diagram 6">
              <a:extLst>
                <a:ext uri="{FF2B5EF4-FFF2-40B4-BE49-F238E27FC236}">
                  <a16:creationId xmlns:a16="http://schemas.microsoft.com/office/drawing/2014/main" id="{E7513F51-76E8-32C3-F495-C79C347C748C}"/>
                </a:ext>
              </a:extLst>
            </p:cNvPr>
            <p:cNvGraphicFramePr/>
            <p:nvPr/>
          </p:nvGraphicFramePr>
          <p:xfrm>
            <a:off x="1524000" y="4343400"/>
            <a:ext cx="6096000" cy="96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0E3501F0-6D88-24A9-511E-787FBC15EE0A}"/>
                </a:ext>
              </a:extLst>
            </p:cNvPr>
            <p:cNvSpPr txBox="1"/>
            <p:nvPr/>
          </p:nvSpPr>
          <p:spPr>
            <a:xfrm>
              <a:off x="7620000" y="4318000"/>
              <a:ext cx="574196" cy="769441"/>
            </a:xfrm>
            <a:prstGeom prst="rect">
              <a:avLst/>
            </a:prstGeom>
            <a:noFill/>
          </p:spPr>
          <p:txBody>
            <a:bodyPr wrap="none" rtlCol="0">
              <a:spAutoFit/>
            </a:bodyPr>
            <a:lstStyle/>
            <a:p>
              <a:r>
                <a:rPr lang="en-US" sz="4400" dirty="0"/>
                <a:t>…</a:t>
              </a:r>
            </a:p>
          </p:txBody>
        </p:sp>
      </p:grpSp>
    </p:spTree>
    <p:extLst>
      <p:ext uri="{BB962C8B-B14F-4D97-AF65-F5344CB8AC3E}">
        <p14:creationId xmlns:p14="http://schemas.microsoft.com/office/powerpoint/2010/main" val="1633053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D77CF-01C3-4042-9B1D-6090012DC6F8}"/>
              </a:ext>
            </a:extLst>
          </p:cNvPr>
          <p:cNvSpPr>
            <a:spLocks noGrp="1"/>
          </p:cNvSpPr>
          <p:nvPr>
            <p:ph type="title"/>
          </p:nvPr>
        </p:nvSpPr>
        <p:spPr/>
        <p:txBody>
          <a:bodyPr/>
          <a:lstStyle/>
          <a:p>
            <a:r>
              <a:rPr lang="en-US" dirty="0"/>
              <a:t>Design Considerations for</a:t>
            </a:r>
            <a:br>
              <a:rPr lang="en-US" dirty="0"/>
            </a:br>
            <a:r>
              <a:rPr lang="en-US" dirty="0"/>
              <a:t>Online Search</a:t>
            </a:r>
          </a:p>
        </p:txBody>
      </p:sp>
      <p:sp>
        <p:nvSpPr>
          <p:cNvPr id="3" name="Content Placeholder 2">
            <a:extLst>
              <a:ext uri="{FF2B5EF4-FFF2-40B4-BE49-F238E27FC236}">
                <a16:creationId xmlns:a16="http://schemas.microsoft.com/office/drawing/2014/main" id="{9F9BC170-BDB8-47E2-887E-CFAB6D558BF9}"/>
              </a:ext>
            </a:extLst>
          </p:cNvPr>
          <p:cNvSpPr>
            <a:spLocks noGrp="1"/>
          </p:cNvSpPr>
          <p:nvPr>
            <p:ph idx="1"/>
          </p:nvPr>
        </p:nvSpPr>
        <p:spPr/>
        <p:txBody>
          <a:bodyPr>
            <a:normAutofit fontScale="77500" lnSpcReduction="20000"/>
          </a:bodyPr>
          <a:lstStyle/>
          <a:p>
            <a:r>
              <a:rPr lang="en-US" b="1" dirty="0"/>
              <a:t>Knowledge</a:t>
            </a:r>
            <a:r>
              <a:rPr lang="en-US" dirty="0"/>
              <a:t>: What does the agent already know about the outcome of actions? E.g., </a:t>
            </a:r>
          </a:p>
          <a:p>
            <a:pPr lvl="1"/>
            <a:r>
              <a:rPr lang="en-US" sz="2200" dirty="0"/>
              <a:t>Does go north and then south lead to the same location?</a:t>
            </a:r>
          </a:p>
          <a:p>
            <a:pPr lvl="1"/>
            <a:r>
              <a:rPr lang="en-US" sz="2200" dirty="0"/>
              <a:t>Where are the walls in the maze?</a:t>
            </a:r>
          </a:p>
          <a:p>
            <a:pPr marL="0" indent="0">
              <a:buNone/>
            </a:pPr>
            <a:r>
              <a:rPr lang="en-US" sz="2600" dirty="0"/>
              <a:t>    Often a part or all of the transition function is unknown!</a:t>
            </a:r>
          </a:p>
          <a:p>
            <a:endParaRPr lang="en-US" b="1" dirty="0"/>
          </a:p>
          <a:p>
            <a:r>
              <a:rPr lang="en-US" b="1" dirty="0"/>
              <a:t>We need a safely explorable state space/world</a:t>
            </a:r>
            <a:r>
              <a:rPr lang="en-US" dirty="0"/>
              <a:t>: There are </a:t>
            </a:r>
            <a:r>
              <a:rPr lang="en-US" b="1" dirty="0">
                <a:solidFill>
                  <a:srgbClr val="FF0000"/>
                </a:solidFill>
              </a:rPr>
              <a:t>no irreversible actions</a:t>
            </a:r>
            <a:r>
              <a:rPr lang="en-US" b="1" dirty="0"/>
              <a:t> </a:t>
            </a:r>
            <a:r>
              <a:rPr lang="en-US" dirty="0"/>
              <a:t>(e.g., traps, cliffs) or the agent needs to be able to avoid these actions during exploration using percepts.</a:t>
            </a:r>
          </a:p>
          <a:p>
            <a:endParaRPr lang="en-US" dirty="0"/>
          </a:p>
          <a:p>
            <a:r>
              <a:rPr lang="en-US" b="1" dirty="0"/>
              <a:t>Exploration order is important</a:t>
            </a:r>
            <a:r>
              <a:rPr lang="en-US" dirty="0"/>
              <a:t>: Expanding nodes in </a:t>
            </a:r>
            <a:r>
              <a:rPr lang="en-US" b="1" dirty="0">
                <a:solidFill>
                  <a:srgbClr val="FF0000"/>
                </a:solidFill>
              </a:rPr>
              <a:t>local order </a:t>
            </a:r>
            <a:r>
              <a:rPr lang="en-US" dirty="0"/>
              <a:t>(= close by) is more efficient if you must execute the actions to get observations: Use depth-first search with backtracking instead of BFS or A* Search.</a:t>
            </a:r>
          </a:p>
          <a:p>
            <a:endParaRPr lang="en-US" dirty="0"/>
          </a:p>
          <a:p>
            <a:endParaRPr lang="en-US" dirty="0"/>
          </a:p>
        </p:txBody>
      </p:sp>
      <p:grpSp>
        <p:nvGrpSpPr>
          <p:cNvPr id="6" name="Group 5">
            <a:extLst>
              <a:ext uri="{FF2B5EF4-FFF2-40B4-BE49-F238E27FC236}">
                <a16:creationId xmlns:a16="http://schemas.microsoft.com/office/drawing/2014/main" id="{71071978-3C4A-E3E6-F25E-858A0EF1C414}"/>
              </a:ext>
            </a:extLst>
          </p:cNvPr>
          <p:cNvGrpSpPr/>
          <p:nvPr/>
        </p:nvGrpSpPr>
        <p:grpSpPr>
          <a:xfrm>
            <a:off x="7391400" y="2223759"/>
            <a:ext cx="1371600" cy="646331"/>
            <a:chOff x="7391400" y="2223759"/>
            <a:chExt cx="1371600" cy="646331"/>
          </a:xfrm>
        </p:grpSpPr>
        <p:sp>
          <p:nvSpPr>
            <p:cNvPr id="4" name="Right Brace 3">
              <a:extLst>
                <a:ext uri="{FF2B5EF4-FFF2-40B4-BE49-F238E27FC236}">
                  <a16:creationId xmlns:a16="http://schemas.microsoft.com/office/drawing/2014/main" id="{7B693761-FBBD-D145-99BA-01D704C3EA9A}"/>
                </a:ext>
                <a:ext uri="{C183D7F6-B498-43B3-948B-1728B52AA6E4}">
                  <adec:decorative xmlns:adec="http://schemas.microsoft.com/office/drawing/2017/decorative" val="1"/>
                </a:ext>
              </a:extLst>
            </p:cNvPr>
            <p:cNvSpPr/>
            <p:nvPr/>
          </p:nvSpPr>
          <p:spPr>
            <a:xfrm>
              <a:off x="7391400" y="2304366"/>
              <a:ext cx="152400" cy="51503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929D1851-3360-30C1-573B-EA4D9DCE1DE6}"/>
                </a:ext>
              </a:extLst>
            </p:cNvPr>
            <p:cNvSpPr txBox="1"/>
            <p:nvPr/>
          </p:nvSpPr>
          <p:spPr>
            <a:xfrm>
              <a:off x="7620000" y="2223759"/>
              <a:ext cx="1143000" cy="646331"/>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dirty="0"/>
                <a:t>Transition function</a:t>
              </a:r>
            </a:p>
          </p:txBody>
        </p:sp>
      </p:grpSp>
    </p:spTree>
    <p:extLst>
      <p:ext uri="{BB962C8B-B14F-4D97-AF65-F5344CB8AC3E}">
        <p14:creationId xmlns:p14="http://schemas.microsoft.com/office/powerpoint/2010/main" val="822203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06802-F881-48BB-B947-245B8B743088}"/>
              </a:ext>
            </a:extLst>
          </p:cNvPr>
          <p:cNvSpPr>
            <a:spLocks noGrp="1"/>
          </p:cNvSpPr>
          <p:nvPr>
            <p:ph type="title"/>
          </p:nvPr>
        </p:nvSpPr>
        <p:spPr>
          <a:xfrm>
            <a:off x="628650" y="242878"/>
            <a:ext cx="7886700" cy="1325563"/>
          </a:xfrm>
        </p:spPr>
        <p:txBody>
          <a:bodyPr>
            <a:normAutofit/>
          </a:bodyPr>
          <a:lstStyle/>
          <a:p>
            <a:r>
              <a:rPr lang="en-US" sz="3600" dirty="0"/>
              <a:t>Online Search: A Model-based Reflex Agent to Learn the Transition Model</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A4CC798-F7CC-4932-9665-53EE83AC2773}"/>
                  </a:ext>
                </a:extLst>
              </p:cNvPr>
              <p:cNvSpPr txBox="1"/>
              <p:nvPr/>
            </p:nvSpPr>
            <p:spPr>
              <a:xfrm>
                <a:off x="664745" y="1371600"/>
                <a:ext cx="7543800" cy="954107"/>
              </a:xfrm>
              <a:prstGeom prst="rect">
                <a:avLst/>
              </a:prstGeom>
              <a:noFill/>
            </p:spPr>
            <p:txBody>
              <a:bodyPr wrap="square" rtlCol="0">
                <a:spAutoFit/>
              </a:bodyPr>
              <a:lstStyle/>
              <a:p>
                <a:r>
                  <a:rPr lang="en-US" sz="1400" b="1" dirty="0"/>
                  <a:t>Setting</a:t>
                </a:r>
                <a:r>
                  <a:rPr lang="en-US" sz="1400" dirty="0"/>
                  <a:t>: Environment is deterministic and fully observable (= the percept is the full state) but the transition model function </a:t>
                </a:r>
                <a14:m>
                  <m:oMath xmlns:m="http://schemas.openxmlformats.org/officeDocument/2006/math">
                    <m:r>
                      <a:rPr lang="en-US" sz="1400" i="1" dirty="0" smtClean="0">
                        <a:latin typeface="Cambria Math" panose="02040503050406030204" pitchFamily="18" charset="0"/>
                      </a:rPr>
                      <m:t>𝑟𝑒𝑠𝑢𝑙𝑡</m:t>
                    </m:r>
                    <m:r>
                      <a:rPr lang="en-US" sz="1400" b="0" i="1" dirty="0" smtClean="0">
                        <a:latin typeface="Cambria Math" panose="02040503050406030204" pitchFamily="18" charset="0"/>
                      </a:rPr>
                      <m:t>()</m:t>
                    </m:r>
                  </m:oMath>
                </a14:m>
                <a:r>
                  <a:rPr lang="en-US" sz="1400" dirty="0"/>
                  <a:t> is unknown.</a:t>
                </a:r>
              </a:p>
              <a:p>
                <a:r>
                  <a:rPr lang="en-US" sz="1400" b="1" dirty="0"/>
                  <a:t>Approach</a:t>
                </a:r>
                <a:r>
                  <a:rPr lang="en-US" sz="1400" dirty="0"/>
                  <a:t>: The agent builds the map </a:t>
                </a:r>
                <a14:m>
                  <m:oMath xmlns:m="http://schemas.openxmlformats.org/officeDocument/2006/math">
                    <m:r>
                      <a:rPr lang="en-US" sz="1400" i="1" dirty="0" smtClean="0">
                        <a:latin typeface="Cambria Math" panose="02040503050406030204" pitchFamily="18" charset="0"/>
                      </a:rPr>
                      <m:t>𝑟𝑒𝑠𝑢𝑙𝑡</m:t>
                    </m:r>
                    <m:d>
                      <m:dPr>
                        <m:ctrlPr>
                          <a:rPr lang="en-US" sz="1400" b="0" i="1" dirty="0" smtClean="0">
                            <a:latin typeface="Cambria Math" panose="02040503050406030204" pitchFamily="18" charset="0"/>
                          </a:rPr>
                        </m:ctrlPr>
                      </m:dPr>
                      <m:e>
                        <m:r>
                          <a:rPr lang="en-US" sz="1400" b="0" i="1" dirty="0" smtClean="0">
                            <a:latin typeface="Cambria Math" panose="02040503050406030204" pitchFamily="18" charset="0"/>
                          </a:rPr>
                          <m:t>𝑠</m:t>
                        </m:r>
                        <m:r>
                          <a:rPr lang="en-US" sz="1400" b="0" i="1" dirty="0" smtClean="0">
                            <a:latin typeface="Cambria Math" panose="02040503050406030204" pitchFamily="18" charset="0"/>
                          </a:rPr>
                          <m:t>, </m:t>
                        </m:r>
                        <m:r>
                          <a:rPr lang="en-US" sz="1400" b="0" i="1" dirty="0" smtClean="0">
                            <a:latin typeface="Cambria Math" panose="02040503050406030204" pitchFamily="18" charset="0"/>
                          </a:rPr>
                          <m:t>𝑎</m:t>
                        </m:r>
                      </m:e>
                    </m:d>
                    <m:r>
                      <a:rPr lang="en-US" sz="1400" b="0" i="1" dirty="0" smtClean="0">
                        <a:latin typeface="Cambria Math" panose="02040503050406030204" pitchFamily="18" charset="0"/>
                      </a:rPr>
                      <m:t>→</m:t>
                    </m:r>
                    <m:r>
                      <a:rPr lang="en-US" sz="1400" b="0" i="1" dirty="0" smtClean="0">
                        <a:latin typeface="Cambria Math" panose="02040503050406030204" pitchFamily="18" charset="0"/>
                      </a:rPr>
                      <m:t>𝑠</m:t>
                    </m:r>
                    <m:r>
                      <a:rPr lang="en-US" sz="1400" b="0" i="1" dirty="0" smtClean="0">
                        <a:latin typeface="Cambria Math" panose="02040503050406030204" pitchFamily="18" charset="0"/>
                      </a:rPr>
                      <m:t>′</m:t>
                    </m:r>
                  </m:oMath>
                </a14:m>
                <a:r>
                  <a:rPr lang="en-US" sz="1400" dirty="0"/>
                  <a:t> by trying all actions and backtracks when all actions in a state have been explored (this is a form of iterative DFS called backtracking DFS).</a:t>
                </a:r>
              </a:p>
            </p:txBody>
          </p:sp>
        </mc:Choice>
        <mc:Fallback xmlns="">
          <p:sp>
            <p:nvSpPr>
              <p:cNvPr id="3" name="TextBox 2">
                <a:extLst>
                  <a:ext uri="{FF2B5EF4-FFF2-40B4-BE49-F238E27FC236}">
                    <a16:creationId xmlns:a16="http://schemas.microsoft.com/office/drawing/2014/main" id="{9A4CC798-F7CC-4932-9665-53EE83AC2773}"/>
                  </a:ext>
                </a:extLst>
              </p:cNvPr>
              <p:cNvSpPr txBox="1">
                <a:spLocks noRot="1" noChangeAspect="1" noMove="1" noResize="1" noEditPoints="1" noAdjustHandles="1" noChangeArrowheads="1" noChangeShapeType="1" noTextEdit="1"/>
              </p:cNvSpPr>
              <p:nvPr/>
            </p:nvSpPr>
            <p:spPr>
              <a:xfrm>
                <a:off x="664745" y="1371600"/>
                <a:ext cx="7543800" cy="954107"/>
              </a:xfrm>
              <a:prstGeom prst="rect">
                <a:avLst/>
              </a:prstGeom>
              <a:blipFill>
                <a:blip r:embed="rId2"/>
                <a:stretch>
                  <a:fillRect l="-242" t="-1274" b="-5096"/>
                </a:stretch>
              </a:blipFill>
            </p:spPr>
            <p:txBody>
              <a:bodyPr/>
              <a:lstStyle/>
              <a:p>
                <a:r>
                  <a:rPr lang="en-US">
                    <a:noFill/>
                  </a:rPr>
                  <a:t> </a:t>
                </a:r>
              </a:p>
            </p:txBody>
          </p:sp>
        </mc:Fallback>
      </mc:AlternateContent>
      <p:pic>
        <p:nvPicPr>
          <p:cNvPr id="4" name="Content Placeholder 3" descr="The Online DFS-Agent algorithm.">
            <a:extLst>
              <a:ext uri="{FF2B5EF4-FFF2-40B4-BE49-F238E27FC236}">
                <a16:creationId xmlns:a16="http://schemas.microsoft.com/office/drawing/2014/main" id="{5AA15F9E-CC23-4755-8DFC-0FC677B45F2E}"/>
              </a:ext>
            </a:extLst>
          </p:cNvPr>
          <p:cNvPicPr>
            <a:picLocks noGrp="1" noChangeAspect="1"/>
          </p:cNvPicPr>
          <p:nvPr>
            <p:ph idx="1"/>
          </p:nvPr>
        </p:nvPicPr>
        <p:blipFill>
          <a:blip r:embed="rId3"/>
          <a:stretch>
            <a:fillRect/>
          </a:stretch>
        </p:blipFill>
        <p:spPr>
          <a:xfrm>
            <a:off x="862865" y="2565976"/>
            <a:ext cx="7315200" cy="4027563"/>
          </a:xfrm>
          <a:prstGeom prst="rect">
            <a:avLst/>
          </a:prstGeom>
        </p:spPr>
        <p:style>
          <a:lnRef idx="2">
            <a:schemeClr val="accent2"/>
          </a:lnRef>
          <a:fillRef idx="1">
            <a:schemeClr val="lt1"/>
          </a:fillRef>
          <a:effectRef idx="0">
            <a:schemeClr val="accent2"/>
          </a:effectRef>
          <a:fontRef idx="minor">
            <a:schemeClr val="dk1"/>
          </a:fontRef>
        </p:style>
      </p:pic>
      <p:grpSp>
        <p:nvGrpSpPr>
          <p:cNvPr id="14" name="Group 13">
            <a:extLst>
              <a:ext uri="{FF2B5EF4-FFF2-40B4-BE49-F238E27FC236}">
                <a16:creationId xmlns:a16="http://schemas.microsoft.com/office/drawing/2014/main" id="{37E480B1-DA16-6F5D-72A3-898E6084EFCE}"/>
              </a:ext>
            </a:extLst>
          </p:cNvPr>
          <p:cNvGrpSpPr/>
          <p:nvPr/>
        </p:nvGrpSpPr>
        <p:grpSpPr>
          <a:xfrm>
            <a:off x="5867401" y="2349287"/>
            <a:ext cx="3047999" cy="1828799"/>
            <a:chOff x="5867401" y="2349287"/>
            <a:chExt cx="3047999" cy="1828799"/>
          </a:xfrm>
        </p:grpSpPr>
        <p:sp>
          <p:nvSpPr>
            <p:cNvPr id="6" name="Speech Bubble: Rectangle 5">
              <a:extLst>
                <a:ext uri="{FF2B5EF4-FFF2-40B4-BE49-F238E27FC236}">
                  <a16:creationId xmlns:a16="http://schemas.microsoft.com/office/drawing/2014/main" id="{A677F34E-6960-4A5B-A687-612E284E84D8}"/>
                </a:ext>
                <a:ext uri="{C183D7F6-B498-43B3-948B-1728B52AA6E4}">
                  <adec:decorative xmlns:adec="http://schemas.microsoft.com/office/drawing/2017/decorative" val="1"/>
                </a:ext>
              </a:extLst>
            </p:cNvPr>
            <p:cNvSpPr/>
            <p:nvPr/>
          </p:nvSpPr>
          <p:spPr>
            <a:xfrm>
              <a:off x="6289669" y="2349287"/>
              <a:ext cx="2625731" cy="433378"/>
            </a:xfrm>
            <a:prstGeom prst="wedgeRectCallout">
              <a:avLst>
                <a:gd name="adj1" fmla="val -57822"/>
                <a:gd name="adj2" fmla="val 1418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Learn the result function </a:t>
              </a:r>
              <a:br>
                <a:rPr lang="en-US" sz="1400" dirty="0"/>
              </a:br>
              <a:r>
                <a:rPr lang="en-US" sz="1400" dirty="0"/>
                <a:t>(= transition function)</a:t>
              </a:r>
            </a:p>
          </p:txBody>
        </p:sp>
        <p:sp>
          <p:nvSpPr>
            <p:cNvPr id="7" name="Speech Bubble: Rectangle 6">
              <a:extLst>
                <a:ext uri="{FF2B5EF4-FFF2-40B4-BE49-F238E27FC236}">
                  <a16:creationId xmlns:a16="http://schemas.microsoft.com/office/drawing/2014/main" id="{6BFA9E24-CDF4-499C-B79E-D25B4DEEFFA0}"/>
                </a:ext>
                <a:ext uri="{C183D7F6-B498-43B3-948B-1728B52AA6E4}">
                  <adec:decorative xmlns:adec="http://schemas.microsoft.com/office/drawing/2017/decorative" val="1"/>
                </a:ext>
              </a:extLst>
            </p:cNvPr>
            <p:cNvSpPr/>
            <p:nvPr/>
          </p:nvSpPr>
          <p:spPr>
            <a:xfrm>
              <a:off x="6604841" y="3124200"/>
              <a:ext cx="2310559" cy="195216"/>
            </a:xfrm>
            <a:prstGeom prst="wedgeRectCallout">
              <a:avLst>
                <a:gd name="adj1" fmla="val -65482"/>
                <a:gd name="adj2" fmla="val 11972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Untried is the “frontier”</a:t>
              </a:r>
            </a:p>
          </p:txBody>
        </p:sp>
        <p:sp>
          <p:nvSpPr>
            <p:cNvPr id="9" name="Speech Bubble: Rectangle 8">
              <a:extLst>
                <a:ext uri="{FF2B5EF4-FFF2-40B4-BE49-F238E27FC236}">
                  <a16:creationId xmlns:a16="http://schemas.microsoft.com/office/drawing/2014/main" id="{5D6DE63B-7E58-8AD2-7B97-D5D7DF14275A}"/>
                </a:ext>
              </a:extLst>
            </p:cNvPr>
            <p:cNvSpPr/>
            <p:nvPr/>
          </p:nvSpPr>
          <p:spPr>
            <a:xfrm>
              <a:off x="5867401" y="3880120"/>
              <a:ext cx="3047999" cy="297966"/>
            </a:xfrm>
            <a:prstGeom prst="wedgeRectCallout">
              <a:avLst>
                <a:gd name="adj1" fmla="val -58636"/>
                <a:gd name="adj2" fmla="val -11554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Unbacktracked</a:t>
              </a:r>
              <a:r>
                <a:rPr lang="en-US" sz="1400" dirty="0"/>
                <a:t>  stores the current path</a:t>
              </a:r>
            </a:p>
          </p:txBody>
        </p:sp>
      </p:grpSp>
      <p:cxnSp>
        <p:nvCxnSpPr>
          <p:cNvPr id="12" name="Straight Arrow Connector 11">
            <a:extLst>
              <a:ext uri="{FF2B5EF4-FFF2-40B4-BE49-F238E27FC236}">
                <a16:creationId xmlns:a16="http://schemas.microsoft.com/office/drawing/2014/main" id="{C2F511DD-D427-9D4A-5E93-7175C6C4EA69}"/>
              </a:ext>
            </a:extLst>
          </p:cNvPr>
          <p:cNvCxnSpPr>
            <a:cxnSpLocks/>
          </p:cNvCxnSpPr>
          <p:nvPr/>
        </p:nvCxnSpPr>
        <p:spPr>
          <a:xfrm flipH="1">
            <a:off x="4419600" y="1568441"/>
            <a:ext cx="1554639" cy="109745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nvGrpSpPr>
          <p:cNvPr id="15" name="Group 14">
            <a:extLst>
              <a:ext uri="{FF2B5EF4-FFF2-40B4-BE49-F238E27FC236}">
                <a16:creationId xmlns:a16="http://schemas.microsoft.com/office/drawing/2014/main" id="{14FAE760-D425-6E5B-8DA0-B06544ADB556}"/>
              </a:ext>
            </a:extLst>
          </p:cNvPr>
          <p:cNvGrpSpPr/>
          <p:nvPr/>
        </p:nvGrpSpPr>
        <p:grpSpPr>
          <a:xfrm>
            <a:off x="5974239" y="4431013"/>
            <a:ext cx="2514600" cy="2021123"/>
            <a:chOff x="5974239" y="4431013"/>
            <a:chExt cx="2514600" cy="2021123"/>
          </a:xfrm>
        </p:grpSpPr>
        <p:sp>
          <p:nvSpPr>
            <p:cNvPr id="8" name="Speech Bubble: Rectangle 7">
              <a:extLst>
                <a:ext uri="{FF2B5EF4-FFF2-40B4-BE49-F238E27FC236}">
                  <a16:creationId xmlns:a16="http://schemas.microsoft.com/office/drawing/2014/main" id="{3660A609-47DE-4ADF-9921-B26FBA231117}"/>
                </a:ext>
              </a:extLst>
            </p:cNvPr>
            <p:cNvSpPr/>
            <p:nvPr/>
          </p:nvSpPr>
          <p:spPr>
            <a:xfrm>
              <a:off x="5974239" y="4431013"/>
              <a:ext cx="2188586" cy="307777"/>
            </a:xfrm>
            <a:prstGeom prst="wedgeRectCallout">
              <a:avLst>
                <a:gd name="adj1" fmla="val -194524"/>
                <a:gd name="adj2" fmla="val 59352"/>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Record found transitions</a:t>
              </a:r>
            </a:p>
          </p:txBody>
        </p:sp>
        <p:sp>
          <p:nvSpPr>
            <p:cNvPr id="5" name="Speech Bubble: Rectangle 4">
              <a:extLst>
                <a:ext uri="{FF2B5EF4-FFF2-40B4-BE49-F238E27FC236}">
                  <a16:creationId xmlns:a16="http://schemas.microsoft.com/office/drawing/2014/main" id="{73C008A6-9391-B6CA-C148-56E208B88D2C}"/>
                </a:ext>
              </a:extLst>
            </p:cNvPr>
            <p:cNvSpPr/>
            <p:nvPr/>
          </p:nvSpPr>
          <p:spPr>
            <a:xfrm>
              <a:off x="5974239" y="4924147"/>
              <a:ext cx="2514600" cy="468163"/>
            </a:xfrm>
            <a:prstGeom prst="wedgeRectCallout">
              <a:avLst>
                <a:gd name="adj1" fmla="val -104936"/>
                <a:gd name="adj2" fmla="val -49584"/>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Keep breadcrumbs to go back later </a:t>
              </a:r>
            </a:p>
          </p:txBody>
        </p:sp>
        <p:sp>
          <p:nvSpPr>
            <p:cNvPr id="11" name="Speech Bubble: Rectangle 10">
              <a:extLst>
                <a:ext uri="{FF2B5EF4-FFF2-40B4-BE49-F238E27FC236}">
                  <a16:creationId xmlns:a16="http://schemas.microsoft.com/office/drawing/2014/main" id="{01DBBD67-E82D-F0DF-B1CA-DBCBF9218126}"/>
                </a:ext>
              </a:extLst>
            </p:cNvPr>
            <p:cNvSpPr/>
            <p:nvPr/>
          </p:nvSpPr>
          <p:spPr>
            <a:xfrm>
              <a:off x="5974239" y="5983973"/>
              <a:ext cx="2514600" cy="468163"/>
            </a:xfrm>
            <a:prstGeom prst="wedgeRectCallout">
              <a:avLst>
                <a:gd name="adj1" fmla="val -105332"/>
                <a:gd name="adj2" fmla="val -102659"/>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Use breadcrumbs to walk back</a:t>
              </a:r>
            </a:p>
          </p:txBody>
        </p:sp>
      </p:grpSp>
      <p:sp>
        <p:nvSpPr>
          <p:cNvPr id="10" name="TextBox 9">
            <a:extLst>
              <a:ext uri="{FF2B5EF4-FFF2-40B4-BE49-F238E27FC236}">
                <a16:creationId xmlns:a16="http://schemas.microsoft.com/office/drawing/2014/main" id="{CAB4B935-B050-0209-7CDD-53C79DD0CE86}"/>
              </a:ext>
            </a:extLst>
          </p:cNvPr>
          <p:cNvSpPr txBox="1"/>
          <p:nvPr/>
        </p:nvSpPr>
        <p:spPr>
          <a:xfrm>
            <a:off x="3352800" y="3559685"/>
            <a:ext cx="4343400" cy="215444"/>
          </a:xfrm>
          <a:prstGeom prst="rect">
            <a:avLst/>
          </a:prstGeom>
          <a:solidFill>
            <a:schemeClr val="bg1"/>
          </a:solidFill>
        </p:spPr>
        <p:txBody>
          <a:bodyPr wrap="square" lIns="0" tIns="0" rIns="0" bIns="0" rtlCol="0">
            <a:spAutoFit/>
          </a:bodyPr>
          <a:lstStyle/>
          <a:p>
            <a:r>
              <a:rPr lang="en-US" sz="1400" dirty="0">
                <a:latin typeface="Cambria Math" panose="02040503050406030204" pitchFamily="18" charset="0"/>
                <a:ea typeface="Cambria Math" panose="02040503050406030204" pitchFamily="18" charset="0"/>
              </a:rPr>
              <a:t>a stack with the current path</a:t>
            </a:r>
          </a:p>
        </p:txBody>
      </p:sp>
    </p:spTree>
    <p:extLst>
      <p:ext uri="{BB962C8B-B14F-4D97-AF65-F5344CB8AC3E}">
        <p14:creationId xmlns:p14="http://schemas.microsoft.com/office/powerpoint/2010/main" val="3681005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930DE-21B3-4377-14BA-D0C4D7F1AA20}"/>
              </a:ext>
            </a:extLst>
          </p:cNvPr>
          <p:cNvSpPr>
            <a:spLocks noGrp="1"/>
          </p:cNvSpPr>
          <p:nvPr>
            <p:ph type="title"/>
          </p:nvPr>
        </p:nvSpPr>
        <p:spPr/>
        <p:txBody>
          <a:bodyPr/>
          <a:lstStyle/>
          <a:p>
            <a:r>
              <a:rPr lang="en-US" dirty="0"/>
              <a:t>Case Study: DFS with Backtracking for an unknown Maze</a:t>
            </a:r>
          </a:p>
        </p:txBody>
      </p:sp>
      <p:sp>
        <p:nvSpPr>
          <p:cNvPr id="3" name="Content Placeholder 2">
            <a:extLst>
              <a:ext uri="{FF2B5EF4-FFF2-40B4-BE49-F238E27FC236}">
                <a16:creationId xmlns:a16="http://schemas.microsoft.com/office/drawing/2014/main" id="{8B60217F-5C3A-594C-DED6-128AE3AB977E}"/>
              </a:ext>
            </a:extLst>
          </p:cNvPr>
          <p:cNvSpPr>
            <a:spLocks noGrp="1"/>
          </p:cNvSpPr>
          <p:nvPr>
            <p:ph idx="1"/>
          </p:nvPr>
        </p:nvSpPr>
        <p:spPr>
          <a:xfrm>
            <a:off x="610964" y="2062789"/>
            <a:ext cx="2327371" cy="4252423"/>
          </a:xfrm>
        </p:spPr>
        <p:txBody>
          <a:bodyPr>
            <a:normAutofit fontScale="47500" lnSpcReduction="20000"/>
          </a:bodyPr>
          <a:lstStyle/>
          <a:p>
            <a:r>
              <a:rPr lang="en-US" dirty="0"/>
              <a:t>We don’t have a map (transition function) of the maze. We can only see adjacent squares.</a:t>
            </a:r>
          </a:p>
          <a:p>
            <a:r>
              <a:rPr lang="en-US" dirty="0"/>
              <a:t>We cannot plan, so we must explore by walking around! </a:t>
            </a:r>
          </a:p>
          <a:p>
            <a:r>
              <a:rPr lang="en-US" dirty="0"/>
              <a:t>A simple method is </a:t>
            </a:r>
            <a:r>
              <a:rPr lang="en-US" b="1" dirty="0"/>
              <a:t>backtracking DFS </a:t>
            </a:r>
            <a:r>
              <a:rPr lang="en-US" dirty="0"/>
              <a:t>that only stores the current path for backtracking (on a stack) to get back to untied actions when we run into a dead end (think leaving breadcrumbs or a string).</a:t>
            </a:r>
          </a:p>
          <a:p>
            <a:r>
              <a:rPr lang="en-US" dirty="0"/>
              <a:t>This is an iterative implementation of DFS without a reached data structure. </a:t>
            </a:r>
            <a:r>
              <a:rPr lang="en-US" dirty="0" err="1"/>
              <a:t>Unbacktaced</a:t>
            </a:r>
            <a:r>
              <a:rPr lang="en-US" dirty="0"/>
              <a:t> represents the currently explored path, and untried represents the frontier. DFS memory management applies. </a:t>
            </a:r>
          </a:p>
        </p:txBody>
      </p:sp>
      <p:grpSp>
        <p:nvGrpSpPr>
          <p:cNvPr id="7" name="Group 6" descr="Visualization of an unkown maze that is only partially explored using the DFS backtracking algorithm.">
            <a:extLst>
              <a:ext uri="{FF2B5EF4-FFF2-40B4-BE49-F238E27FC236}">
                <a16:creationId xmlns:a16="http://schemas.microsoft.com/office/drawing/2014/main" id="{C71899B9-D1DA-5F2D-4EE7-7F72A30A1312}"/>
              </a:ext>
            </a:extLst>
          </p:cNvPr>
          <p:cNvGrpSpPr/>
          <p:nvPr/>
        </p:nvGrpSpPr>
        <p:grpSpPr>
          <a:xfrm>
            <a:off x="3177839" y="1600200"/>
            <a:ext cx="5623847" cy="4923155"/>
            <a:chOff x="3177839" y="1600200"/>
            <a:chExt cx="5623847" cy="4923155"/>
          </a:xfrm>
        </p:grpSpPr>
        <p:grpSp>
          <p:nvGrpSpPr>
            <p:cNvPr id="29" name="Group 28">
              <a:extLst>
                <a:ext uri="{FF2B5EF4-FFF2-40B4-BE49-F238E27FC236}">
                  <a16:creationId xmlns:a16="http://schemas.microsoft.com/office/drawing/2014/main" id="{B3B428A0-70E0-87D8-CC15-0DE5F80789FB}"/>
                </a:ext>
              </a:extLst>
            </p:cNvPr>
            <p:cNvGrpSpPr/>
            <p:nvPr/>
          </p:nvGrpSpPr>
          <p:grpSpPr>
            <a:xfrm>
              <a:off x="3177839" y="1600200"/>
              <a:ext cx="5623847" cy="4923155"/>
              <a:chOff x="1353736" y="2310112"/>
              <a:chExt cx="4970864" cy="4286816"/>
            </a:xfrm>
          </p:grpSpPr>
          <p:grpSp>
            <p:nvGrpSpPr>
              <p:cNvPr id="9" name="Group 8">
                <a:extLst>
                  <a:ext uri="{FF2B5EF4-FFF2-40B4-BE49-F238E27FC236}">
                    <a16:creationId xmlns:a16="http://schemas.microsoft.com/office/drawing/2014/main" id="{11D7EC42-0EB6-D409-79A6-5ED61F5C9639}"/>
                  </a:ext>
                </a:extLst>
              </p:cNvPr>
              <p:cNvGrpSpPr/>
              <p:nvPr/>
            </p:nvGrpSpPr>
            <p:grpSpPr>
              <a:xfrm>
                <a:off x="3133060" y="3057573"/>
                <a:ext cx="2997283" cy="3358116"/>
                <a:chOff x="3035576" y="2855155"/>
                <a:chExt cx="2997283" cy="3358116"/>
              </a:xfrm>
            </p:grpSpPr>
            <p:pic>
              <p:nvPicPr>
                <p:cNvPr id="4" name="Picture 2">
                  <a:extLst>
                    <a:ext uri="{FF2B5EF4-FFF2-40B4-BE49-F238E27FC236}">
                      <a16:creationId xmlns:a16="http://schemas.microsoft.com/office/drawing/2014/main" id="{981DD39B-CE16-F9D3-8069-CF80E1DFD271}"/>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artisticPencilSketch/>
                          </a14:imgEffect>
                        </a14:imgLayer>
                      </a14:imgProps>
                    </a:ext>
                  </a:extLst>
                </a:blip>
                <a:srcRect/>
                <a:stretch>
                  <a:fillRect/>
                </a:stretch>
              </p:blipFill>
              <p:spPr bwMode="auto">
                <a:xfrm>
                  <a:off x="3072331" y="3208814"/>
                  <a:ext cx="2960528" cy="3004457"/>
                </a:xfrm>
                <a:prstGeom prst="rect">
                  <a:avLst/>
                </a:prstGeom>
                <a:noFill/>
                <a:ln w="9525">
                  <a:noFill/>
                  <a:miter lim="800000"/>
                  <a:headEnd/>
                  <a:tailEnd/>
                </a:ln>
              </p:spPr>
            </p:pic>
            <p:sp>
              <p:nvSpPr>
                <p:cNvPr id="6" name="TextBox 5">
                  <a:extLst>
                    <a:ext uri="{FF2B5EF4-FFF2-40B4-BE49-F238E27FC236}">
                      <a16:creationId xmlns:a16="http://schemas.microsoft.com/office/drawing/2014/main" id="{B325BB4E-11D4-683A-0211-7B2CD04D1CB4}"/>
                    </a:ext>
                  </a:extLst>
                </p:cNvPr>
                <p:cNvSpPr txBox="1"/>
                <p:nvPr/>
              </p:nvSpPr>
              <p:spPr>
                <a:xfrm>
                  <a:off x="3035576" y="2855155"/>
                  <a:ext cx="889451" cy="369332"/>
                </a:xfrm>
                <a:prstGeom prst="rect">
                  <a:avLst/>
                </a:prstGeom>
                <a:noFill/>
              </p:spPr>
              <p:txBody>
                <a:bodyPr wrap="square" rtlCol="0">
                  <a:spAutoFit/>
                </a:bodyPr>
                <a:lstStyle/>
                <a:p>
                  <a:r>
                    <a:rPr lang="en-US" dirty="0"/>
                    <a:t>Start</a:t>
                  </a:r>
                </a:p>
              </p:txBody>
            </p:sp>
            <p:sp>
              <p:nvSpPr>
                <p:cNvPr id="5" name="Down Arrow 10">
                  <a:extLst>
                    <a:ext uri="{FF2B5EF4-FFF2-40B4-BE49-F238E27FC236}">
                      <a16:creationId xmlns:a16="http://schemas.microsoft.com/office/drawing/2014/main" id="{B2CB48DC-D1A2-74EE-28B4-C084144222D8}"/>
                    </a:ext>
                  </a:extLst>
                </p:cNvPr>
                <p:cNvSpPr/>
                <p:nvPr/>
              </p:nvSpPr>
              <p:spPr>
                <a:xfrm>
                  <a:off x="3842790" y="3771433"/>
                  <a:ext cx="164474" cy="22255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EBDAC7AA-7E6F-F262-1B13-13C88A184693}"/>
                  </a:ext>
                </a:extLst>
              </p:cNvPr>
              <p:cNvSpPr/>
              <p:nvPr/>
            </p:nvSpPr>
            <p:spPr>
              <a:xfrm flipH="1" flipV="1">
                <a:off x="2971800" y="4191000"/>
                <a:ext cx="3352800" cy="2405928"/>
              </a:xfrm>
              <a:prstGeom prst="rect">
                <a:avLst/>
              </a:prstGeom>
              <a:solidFill>
                <a:srgbClr val="A5A5A5">
                  <a:alpha val="8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64B83EC-3C77-6C28-04C3-219141F6EE1C}"/>
                  </a:ext>
                </a:extLst>
              </p:cNvPr>
              <p:cNvSpPr/>
              <p:nvPr/>
            </p:nvSpPr>
            <p:spPr>
              <a:xfrm>
                <a:off x="4586398" y="3185240"/>
                <a:ext cx="1738202" cy="1005760"/>
              </a:xfrm>
              <a:prstGeom prst="rect">
                <a:avLst/>
              </a:prstGeom>
              <a:solidFill>
                <a:srgbClr val="A5A5A5">
                  <a:alpha val="8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8" name="Speech Bubble: Rectangle with Corners Rounded 17">
                <a:extLst>
                  <a:ext uri="{FF2B5EF4-FFF2-40B4-BE49-F238E27FC236}">
                    <a16:creationId xmlns:a16="http://schemas.microsoft.com/office/drawing/2014/main" id="{FF40D14A-6207-FA6C-8399-D6928A71E349}"/>
                  </a:ext>
                </a:extLst>
              </p:cNvPr>
              <p:cNvSpPr/>
              <p:nvPr/>
            </p:nvSpPr>
            <p:spPr>
              <a:xfrm>
                <a:off x="1353736" y="4566041"/>
                <a:ext cx="1371600" cy="1295400"/>
              </a:xfrm>
              <a:prstGeom prst="wedgeRoundRectCallout">
                <a:avLst>
                  <a:gd name="adj1" fmla="val 78740"/>
                  <a:gd name="adj2" fmla="val -16962"/>
                  <a:gd name="adj3" fmla="val 16667"/>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The transition function is unknown.</a:t>
                </a:r>
              </a:p>
            </p:txBody>
          </p:sp>
          <p:sp>
            <p:nvSpPr>
              <p:cNvPr id="19" name="Speech Bubble: Rectangle with Corners Rounded 18">
                <a:extLst>
                  <a:ext uri="{FF2B5EF4-FFF2-40B4-BE49-F238E27FC236}">
                    <a16:creationId xmlns:a16="http://schemas.microsoft.com/office/drawing/2014/main" id="{2698D873-C2CE-BF74-2FBA-3103EA4C7A8E}"/>
                  </a:ext>
                </a:extLst>
              </p:cNvPr>
              <p:cNvSpPr/>
              <p:nvPr/>
            </p:nvSpPr>
            <p:spPr>
              <a:xfrm>
                <a:off x="4647708" y="2310112"/>
                <a:ext cx="1575345" cy="549459"/>
              </a:xfrm>
              <a:prstGeom prst="wedgeRoundRectCallout">
                <a:avLst>
                  <a:gd name="adj1" fmla="val -64592"/>
                  <a:gd name="adj2" fmla="val 226533"/>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err="1"/>
                  <a:t>Unbacktracked</a:t>
                </a:r>
                <a:r>
                  <a:rPr lang="en-US" dirty="0"/>
                  <a:t> (= current path)</a:t>
                </a:r>
              </a:p>
            </p:txBody>
          </p:sp>
          <p:sp>
            <p:nvSpPr>
              <p:cNvPr id="20" name="Rectangle 19">
                <a:extLst>
                  <a:ext uri="{FF2B5EF4-FFF2-40B4-BE49-F238E27FC236}">
                    <a16:creationId xmlns:a16="http://schemas.microsoft.com/office/drawing/2014/main" id="{053F28B0-D61F-49B7-010B-0FEC2A646CB2}"/>
                  </a:ext>
                </a:extLst>
              </p:cNvPr>
              <p:cNvSpPr/>
              <p:nvPr/>
            </p:nvSpPr>
            <p:spPr>
              <a:xfrm>
                <a:off x="3334289" y="4030980"/>
                <a:ext cx="164474" cy="147570"/>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40D8F16-F186-72F8-7E98-AE00F15CD9F8}"/>
                  </a:ext>
                </a:extLst>
              </p:cNvPr>
              <p:cNvSpPr/>
              <p:nvPr/>
            </p:nvSpPr>
            <p:spPr>
              <a:xfrm>
                <a:off x="4421924" y="3590245"/>
                <a:ext cx="164474" cy="147570"/>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3" name="Speech Bubble: Rectangle with Corners Rounded 22">
                <a:extLst>
                  <a:ext uri="{FF2B5EF4-FFF2-40B4-BE49-F238E27FC236}">
                    <a16:creationId xmlns:a16="http://schemas.microsoft.com/office/drawing/2014/main" id="{F2FF66E3-831D-3F5B-D86E-AA7B84CF5EEB}"/>
                  </a:ext>
                </a:extLst>
              </p:cNvPr>
              <p:cNvSpPr/>
              <p:nvPr/>
            </p:nvSpPr>
            <p:spPr>
              <a:xfrm>
                <a:off x="1568352" y="3479363"/>
                <a:ext cx="915910" cy="489520"/>
              </a:xfrm>
              <a:prstGeom prst="wedgeRoundRectCallout">
                <a:avLst>
                  <a:gd name="adj1" fmla="val 147072"/>
                  <a:gd name="adj2" fmla="val 73534"/>
                  <a:gd name="adj3" fmla="val 16667"/>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untried </a:t>
                </a:r>
                <a:br>
                  <a:rPr lang="en-US" sz="1400" dirty="0"/>
                </a:br>
                <a:r>
                  <a:rPr lang="en-US" sz="1400" dirty="0"/>
                  <a:t>(~ frontier)</a:t>
                </a:r>
              </a:p>
            </p:txBody>
          </p:sp>
        </p:grpSp>
        <p:cxnSp>
          <p:nvCxnSpPr>
            <p:cNvPr id="33" name="Straight Arrow Connector 32">
              <a:extLst>
                <a:ext uri="{FF2B5EF4-FFF2-40B4-BE49-F238E27FC236}">
                  <a16:creationId xmlns:a16="http://schemas.microsoft.com/office/drawing/2014/main" id="{15AA9B3E-B2DD-6789-E617-1E490CA57809}"/>
                </a:ext>
              </a:extLst>
            </p:cNvPr>
            <p:cNvCxnSpPr/>
            <p:nvPr/>
          </p:nvCxnSpPr>
          <p:spPr>
            <a:xfrm>
              <a:off x="6172200" y="35052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8F88CAE7-F488-41F8-7E06-9E609E32C4C2}"/>
                </a:ext>
              </a:extLst>
            </p:cNvPr>
            <p:cNvCxnSpPr/>
            <p:nvPr/>
          </p:nvCxnSpPr>
          <p:spPr>
            <a:xfrm>
              <a:off x="6400800" y="35052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9" name="Straight Arrow Connector 38">
              <a:extLst>
                <a:ext uri="{FF2B5EF4-FFF2-40B4-BE49-F238E27FC236}">
                  <a16:creationId xmlns:a16="http://schemas.microsoft.com/office/drawing/2014/main" id="{05D00005-AF6A-8DAE-1E67-D794C6E17958}"/>
                </a:ext>
              </a:extLst>
            </p:cNvPr>
            <p:cNvCxnSpPr>
              <a:cxnSpLocks/>
            </p:cNvCxnSpPr>
            <p:nvPr/>
          </p:nvCxnSpPr>
          <p:spPr>
            <a:xfrm flipH="1">
              <a:off x="6324600" y="31242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0" name="Straight Arrow Connector 39">
              <a:extLst>
                <a:ext uri="{FF2B5EF4-FFF2-40B4-BE49-F238E27FC236}">
                  <a16:creationId xmlns:a16="http://schemas.microsoft.com/office/drawing/2014/main" id="{CDAF2800-6D6B-0023-C177-0B8DDA92F067}"/>
                </a:ext>
              </a:extLst>
            </p:cNvPr>
            <p:cNvCxnSpPr>
              <a:cxnSpLocks/>
            </p:cNvCxnSpPr>
            <p:nvPr/>
          </p:nvCxnSpPr>
          <p:spPr>
            <a:xfrm flipH="1">
              <a:off x="6096000" y="31242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1" name="Straight Arrow Connector 40">
              <a:extLst>
                <a:ext uri="{FF2B5EF4-FFF2-40B4-BE49-F238E27FC236}">
                  <a16:creationId xmlns:a16="http://schemas.microsoft.com/office/drawing/2014/main" id="{E8726560-378C-E41A-AFD9-9DEACB719840}"/>
                </a:ext>
              </a:extLst>
            </p:cNvPr>
            <p:cNvCxnSpPr>
              <a:cxnSpLocks/>
            </p:cNvCxnSpPr>
            <p:nvPr/>
          </p:nvCxnSpPr>
          <p:spPr>
            <a:xfrm flipH="1">
              <a:off x="5867400" y="31242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2" name="Straight Arrow Connector 41">
              <a:extLst>
                <a:ext uri="{FF2B5EF4-FFF2-40B4-BE49-F238E27FC236}">
                  <a16:creationId xmlns:a16="http://schemas.microsoft.com/office/drawing/2014/main" id="{1B6D4A18-31D0-5384-2926-B089F57FA062}"/>
                </a:ext>
              </a:extLst>
            </p:cNvPr>
            <p:cNvCxnSpPr>
              <a:cxnSpLocks/>
            </p:cNvCxnSpPr>
            <p:nvPr/>
          </p:nvCxnSpPr>
          <p:spPr>
            <a:xfrm flipH="1">
              <a:off x="5638800" y="35052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3" name="Straight Arrow Connector 42">
              <a:extLst>
                <a:ext uri="{FF2B5EF4-FFF2-40B4-BE49-F238E27FC236}">
                  <a16:creationId xmlns:a16="http://schemas.microsoft.com/office/drawing/2014/main" id="{0103F723-C237-3033-7601-434D9478FA4D}"/>
                </a:ext>
              </a:extLst>
            </p:cNvPr>
            <p:cNvCxnSpPr>
              <a:cxnSpLocks/>
            </p:cNvCxnSpPr>
            <p:nvPr/>
          </p:nvCxnSpPr>
          <p:spPr>
            <a:xfrm flipH="1">
              <a:off x="5410200" y="35052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4" name="Straight Arrow Connector 43">
              <a:extLst>
                <a:ext uri="{FF2B5EF4-FFF2-40B4-BE49-F238E27FC236}">
                  <a16:creationId xmlns:a16="http://schemas.microsoft.com/office/drawing/2014/main" id="{EA732D93-1DC3-8D74-47E3-35010E3D6499}"/>
                </a:ext>
              </a:extLst>
            </p:cNvPr>
            <p:cNvCxnSpPr>
              <a:cxnSpLocks/>
            </p:cNvCxnSpPr>
            <p:nvPr/>
          </p:nvCxnSpPr>
          <p:spPr>
            <a:xfrm rot="5400000" flipH="1">
              <a:off x="6438900" y="33147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5" name="Straight Arrow Connector 44">
              <a:extLst>
                <a:ext uri="{FF2B5EF4-FFF2-40B4-BE49-F238E27FC236}">
                  <a16:creationId xmlns:a16="http://schemas.microsoft.com/office/drawing/2014/main" id="{EFBF7C60-935B-4F30-127B-BC792B653734}"/>
                </a:ext>
              </a:extLst>
            </p:cNvPr>
            <p:cNvCxnSpPr>
              <a:cxnSpLocks/>
            </p:cNvCxnSpPr>
            <p:nvPr/>
          </p:nvCxnSpPr>
          <p:spPr>
            <a:xfrm rot="5400000" flipH="1">
              <a:off x="5372100" y="33147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6" name="Straight Arrow Connector 45">
              <a:extLst>
                <a:ext uri="{FF2B5EF4-FFF2-40B4-BE49-F238E27FC236}">
                  <a16:creationId xmlns:a16="http://schemas.microsoft.com/office/drawing/2014/main" id="{23E4DCDF-D015-5DAD-A161-1CFF11B757FF}"/>
                </a:ext>
              </a:extLst>
            </p:cNvPr>
            <p:cNvCxnSpPr>
              <a:cxnSpLocks/>
            </p:cNvCxnSpPr>
            <p:nvPr/>
          </p:nvCxnSpPr>
          <p:spPr>
            <a:xfrm rot="5400000" flipH="1">
              <a:off x="5372100" y="30099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7" name="Straight Arrow Connector 46">
              <a:extLst>
                <a:ext uri="{FF2B5EF4-FFF2-40B4-BE49-F238E27FC236}">
                  <a16:creationId xmlns:a16="http://schemas.microsoft.com/office/drawing/2014/main" id="{CF98C148-67DB-901D-66D3-7A2B8E0988EA}"/>
                </a:ext>
              </a:extLst>
            </p:cNvPr>
            <p:cNvCxnSpPr>
              <a:cxnSpLocks/>
            </p:cNvCxnSpPr>
            <p:nvPr/>
          </p:nvCxnSpPr>
          <p:spPr>
            <a:xfrm rot="16200000" flipH="1" flipV="1">
              <a:off x="5753100" y="33147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pSp>
          <p:nvGrpSpPr>
            <p:cNvPr id="12" name="Group 11">
              <a:extLst>
                <a:ext uri="{FF2B5EF4-FFF2-40B4-BE49-F238E27FC236}">
                  <a16:creationId xmlns:a16="http://schemas.microsoft.com/office/drawing/2014/main" id="{D8B48120-1F4B-2DC6-DDD1-D7B8F15A7DC7}"/>
                </a:ext>
              </a:extLst>
            </p:cNvPr>
            <p:cNvGrpSpPr/>
            <p:nvPr/>
          </p:nvGrpSpPr>
          <p:grpSpPr>
            <a:xfrm>
              <a:off x="3548135" y="1963295"/>
              <a:ext cx="896208" cy="369332"/>
              <a:chOff x="3870530" y="1691688"/>
              <a:chExt cx="896208" cy="369332"/>
            </a:xfrm>
          </p:grpSpPr>
          <p:sp>
            <p:nvSpPr>
              <p:cNvPr id="8" name="Down Arrow 10">
                <a:extLst>
                  <a:ext uri="{FF2B5EF4-FFF2-40B4-BE49-F238E27FC236}">
                    <a16:creationId xmlns:a16="http://schemas.microsoft.com/office/drawing/2014/main" id="{B469D13D-46CE-E6E4-EF85-D035FFA027FA}"/>
                  </a:ext>
                </a:extLst>
              </p:cNvPr>
              <p:cNvSpPr/>
              <p:nvPr/>
            </p:nvSpPr>
            <p:spPr>
              <a:xfrm>
                <a:off x="3870530" y="1775202"/>
                <a:ext cx="186080" cy="2555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FA07F4F-7D1B-1B81-0A79-7C06287BDF2B}"/>
                  </a:ext>
                </a:extLst>
              </p:cNvPr>
              <p:cNvSpPr txBox="1"/>
              <p:nvPr/>
            </p:nvSpPr>
            <p:spPr>
              <a:xfrm>
                <a:off x="4029870" y="1691688"/>
                <a:ext cx="736868" cy="369332"/>
              </a:xfrm>
              <a:prstGeom prst="rect">
                <a:avLst/>
              </a:prstGeom>
              <a:noFill/>
            </p:spPr>
            <p:txBody>
              <a:bodyPr wrap="none" rtlCol="0">
                <a:spAutoFit/>
              </a:bodyPr>
              <a:lstStyle/>
              <a:p>
                <a:r>
                  <a:rPr lang="en-US" dirty="0"/>
                  <a:t>Agent</a:t>
                </a:r>
              </a:p>
            </p:txBody>
          </p:sp>
        </p:grpSp>
      </p:grpSp>
    </p:spTree>
    <p:extLst>
      <p:ext uri="{BB962C8B-B14F-4D97-AF65-F5344CB8AC3E}">
        <p14:creationId xmlns:p14="http://schemas.microsoft.com/office/powerpoint/2010/main" val="305792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976F0-7ACF-E357-4A4D-78722616574C}"/>
              </a:ext>
            </a:extLst>
          </p:cNvPr>
          <p:cNvSpPr>
            <a:spLocks noGrp="1"/>
          </p:cNvSpPr>
          <p:nvPr>
            <p:ph type="title"/>
          </p:nvPr>
        </p:nvSpPr>
        <p:spPr/>
        <p:txBody>
          <a:bodyPr>
            <a:normAutofit/>
          </a:bodyPr>
          <a:lstStyle/>
          <a:p>
            <a:r>
              <a:rPr lang="en-US" sz="3600" dirty="0"/>
              <a:t>Review: </a:t>
            </a:r>
            <a:br>
              <a:rPr lang="en-US" sz="3600" dirty="0"/>
            </a:br>
            <a:r>
              <a:rPr lang="en-US" sz="3200" dirty="0"/>
              <a:t>Environment State vs. Agent State vs. Model</a:t>
            </a:r>
            <a:endParaRPr lang="en-US" sz="3600" dirty="0"/>
          </a:p>
        </p:txBody>
      </p:sp>
      <p:sp>
        <p:nvSpPr>
          <p:cNvPr id="3" name="Content Placeholder 2">
            <a:extLst>
              <a:ext uri="{FF2B5EF4-FFF2-40B4-BE49-F238E27FC236}">
                <a16:creationId xmlns:a16="http://schemas.microsoft.com/office/drawing/2014/main" id="{0945D4A0-FC2D-A296-50BB-437645074A3E}"/>
              </a:ext>
            </a:extLst>
          </p:cNvPr>
          <p:cNvSpPr>
            <a:spLocks noGrp="1"/>
          </p:cNvSpPr>
          <p:nvPr>
            <p:ph idx="1"/>
          </p:nvPr>
        </p:nvSpPr>
        <p:spPr>
          <a:xfrm>
            <a:off x="628650" y="1704405"/>
            <a:ext cx="6915150" cy="4620195"/>
          </a:xfrm>
        </p:spPr>
        <p:txBody>
          <a:bodyPr>
            <a:normAutofit fontScale="47500" lnSpcReduction="20000"/>
          </a:bodyPr>
          <a:lstStyle/>
          <a:p>
            <a:r>
              <a:rPr lang="en-US" dirty="0"/>
              <a:t>The complete factored </a:t>
            </a:r>
            <a:r>
              <a:rPr lang="en-US" b="1" dirty="0"/>
              <a:t>environment state </a:t>
            </a:r>
            <a:r>
              <a:rPr lang="en-US" dirty="0"/>
              <a:t>description represents the true state of the world and is necessary and sufficient to apply the transition function. E.g.,</a:t>
            </a:r>
            <a:endParaRPr lang="en-US" sz="2000" dirty="0"/>
          </a:p>
          <a:p>
            <a:endParaRPr lang="en-US" dirty="0"/>
          </a:p>
          <a:p>
            <a:endParaRPr lang="en-US" dirty="0"/>
          </a:p>
          <a:p>
            <a:endParaRPr lang="en-US" dirty="0"/>
          </a:p>
          <a:p>
            <a:endParaRPr lang="en-US" dirty="0"/>
          </a:p>
          <a:p>
            <a:endParaRPr lang="en-US" b="1" dirty="0"/>
          </a:p>
          <a:p>
            <a:r>
              <a:rPr lang="en-US" b="1" dirty="0"/>
              <a:t>Full observability</a:t>
            </a:r>
            <a:r>
              <a:rPr lang="en-US" dirty="0"/>
              <a:t>: The agent does not need to store the environment state since it is the percept. The agent may </a:t>
            </a:r>
            <a:r>
              <a:rPr lang="en-US" b="1" dirty="0"/>
              <a:t>store additional information </a:t>
            </a:r>
            <a:r>
              <a:rPr lang="en-US" dirty="0"/>
              <a:t>it uses to decide on the next action. E.g.,</a:t>
            </a:r>
          </a:p>
          <a:p>
            <a:pPr lvl="1"/>
            <a:r>
              <a:rPr lang="en-US" sz="2100" dirty="0"/>
              <a:t>The step in its internal “program” used by a planning agent to execute the next planned action. </a:t>
            </a:r>
          </a:p>
          <a:p>
            <a:pPr lvl="1"/>
            <a:endParaRPr lang="en-US" dirty="0"/>
          </a:p>
          <a:p>
            <a:r>
              <a:rPr lang="en-US" b="1" dirty="0"/>
              <a:t>Partial observability</a:t>
            </a:r>
            <a:r>
              <a:rPr lang="en-US" dirty="0"/>
              <a:t>: The agent has an </a:t>
            </a:r>
            <a:r>
              <a:rPr lang="en-US" b="1" dirty="0"/>
              <a:t>agent state </a:t>
            </a:r>
            <a:r>
              <a:rPr lang="en-US" dirty="0"/>
              <a:t>representing what the agent knows and uses it to decide on actions. The agent uses actions and observations to update its agent state to estimate the environment state. E.g.,</a:t>
            </a:r>
          </a:p>
          <a:p>
            <a:pPr lvl="1"/>
            <a:r>
              <a:rPr lang="en-US" sz="2100" dirty="0"/>
              <a:t>Remember prior observations that are not in the current percept: Tile A was clean at the last visit.</a:t>
            </a:r>
          </a:p>
          <a:p>
            <a:pPr lvl="1"/>
            <a:r>
              <a:rPr lang="en-US" sz="2100" dirty="0"/>
              <a:t>Estimates for unobserved </a:t>
            </a:r>
            <a:r>
              <a:rPr lang="en-US" sz="2100" dirty="0" err="1"/>
              <a:t>fluents</a:t>
            </a:r>
            <a:r>
              <a:rPr lang="en-US" sz="2100" dirty="0"/>
              <a:t>.</a:t>
            </a:r>
          </a:p>
          <a:p>
            <a:pPr lvl="1"/>
            <a:r>
              <a:rPr lang="en-US" sz="2100" dirty="0"/>
              <a:t>The agent’s current </a:t>
            </a:r>
            <a:r>
              <a:rPr lang="en-US" sz="2100" b="1" dirty="0"/>
              <a:t>belief state</a:t>
            </a:r>
            <a:r>
              <a:rPr lang="en-US" sz="2100" dirty="0"/>
              <a:t>.</a:t>
            </a:r>
          </a:p>
          <a:p>
            <a:pPr lvl="1"/>
            <a:endParaRPr lang="en-US" sz="2100" dirty="0"/>
          </a:p>
          <a:p>
            <a:r>
              <a:rPr lang="en-US" sz="2500" b="1" dirty="0"/>
              <a:t>Model</a:t>
            </a:r>
            <a:r>
              <a:rPr lang="en-US" sz="2500" dirty="0"/>
              <a:t>: The </a:t>
            </a:r>
            <a:r>
              <a:rPr lang="en-US" sz="2400" dirty="0"/>
              <a:t>agent’s internal knowledge about how the environment behaves.</a:t>
            </a:r>
            <a:endParaRPr lang="en-US" sz="2100" dirty="0"/>
          </a:p>
          <a:p>
            <a:pPr lvl="1"/>
            <a:r>
              <a:rPr lang="en-US" sz="2100" dirty="0"/>
              <a:t>A partial or full transition model that can predict the next state given a state and an action. </a:t>
            </a:r>
          </a:p>
          <a:p>
            <a:pPr lvl="1"/>
            <a:r>
              <a:rPr lang="en-US" sz="2100" dirty="0"/>
              <a:t>Full transition models can be used for planning.</a:t>
            </a:r>
          </a:p>
        </p:txBody>
      </p:sp>
      <p:grpSp>
        <p:nvGrpSpPr>
          <p:cNvPr id="13" name="Group 12">
            <a:extLst>
              <a:ext uri="{FF2B5EF4-FFF2-40B4-BE49-F238E27FC236}">
                <a16:creationId xmlns:a16="http://schemas.microsoft.com/office/drawing/2014/main" id="{AC87ABBE-5730-7497-B17D-57ADB9406732}"/>
              </a:ext>
            </a:extLst>
          </p:cNvPr>
          <p:cNvGrpSpPr/>
          <p:nvPr/>
        </p:nvGrpSpPr>
        <p:grpSpPr>
          <a:xfrm>
            <a:off x="2133600" y="2209800"/>
            <a:ext cx="3733799" cy="1042733"/>
            <a:chOff x="2514600" y="2702920"/>
            <a:chExt cx="3733799" cy="1042733"/>
          </a:xfrm>
        </p:grpSpPr>
        <p:grpSp>
          <p:nvGrpSpPr>
            <p:cNvPr id="4" name="Group 3">
              <a:extLst>
                <a:ext uri="{FF2B5EF4-FFF2-40B4-BE49-F238E27FC236}">
                  <a16:creationId xmlns:a16="http://schemas.microsoft.com/office/drawing/2014/main" id="{A15B4262-B162-FE8C-A656-6A3610E1B878}"/>
                </a:ext>
              </a:extLst>
            </p:cNvPr>
            <p:cNvGrpSpPr/>
            <p:nvPr/>
          </p:nvGrpSpPr>
          <p:grpSpPr>
            <a:xfrm>
              <a:off x="2514600" y="2702920"/>
              <a:ext cx="1836571" cy="1030880"/>
              <a:chOff x="6117293" y="182383"/>
              <a:chExt cx="3171982" cy="1798817"/>
            </a:xfrm>
          </p:grpSpPr>
          <p:pic>
            <p:nvPicPr>
              <p:cNvPr id="5" name="Picture 4">
                <a:extLst>
                  <a:ext uri="{FF2B5EF4-FFF2-40B4-BE49-F238E27FC236}">
                    <a16:creationId xmlns:a16="http://schemas.microsoft.com/office/drawing/2014/main" id="{3514FD7C-623C-D28D-39C0-B87F06C3BFE8}"/>
                  </a:ext>
                  <a:ext uri="{C183D7F6-B498-43B3-948B-1728B52AA6E4}">
                    <adec:decorative xmlns:adec="http://schemas.microsoft.com/office/drawing/2017/decorative" val="1"/>
                  </a:ext>
                </a:extLst>
              </p:cNvPr>
              <p:cNvPicPr>
                <a:picLocks noChangeAspect="1" noChangeArrowheads="1"/>
              </p:cNvPicPr>
              <p:nvPr/>
            </p:nvPicPr>
            <p:blipFill>
              <a:blip r:embed="rId2" cstate="print"/>
              <a:srcRect/>
              <a:stretch>
                <a:fillRect/>
              </a:stretch>
            </p:blipFill>
            <p:spPr bwMode="auto">
              <a:xfrm>
                <a:off x="6117293" y="733646"/>
                <a:ext cx="2438400" cy="1247554"/>
              </a:xfrm>
              <a:prstGeom prst="rect">
                <a:avLst/>
              </a:prstGeom>
              <a:noFill/>
            </p:spPr>
          </p:pic>
          <p:grpSp>
            <p:nvGrpSpPr>
              <p:cNvPr id="6" name="Group 5">
                <a:extLst>
                  <a:ext uri="{FF2B5EF4-FFF2-40B4-BE49-F238E27FC236}">
                    <a16:creationId xmlns:a16="http://schemas.microsoft.com/office/drawing/2014/main" id="{13A06E8B-FDB8-FD95-062E-FC83744BF48F}"/>
                  </a:ext>
                </a:extLst>
              </p:cNvPr>
              <p:cNvGrpSpPr/>
              <p:nvPr/>
            </p:nvGrpSpPr>
            <p:grpSpPr>
              <a:xfrm>
                <a:off x="7222193" y="182383"/>
                <a:ext cx="2067082" cy="485424"/>
                <a:chOff x="7222193" y="182383"/>
                <a:chExt cx="2067082" cy="485424"/>
              </a:xfrm>
            </p:grpSpPr>
            <p:grpSp>
              <p:nvGrpSpPr>
                <p:cNvPr id="7" name="Group 6">
                  <a:extLst>
                    <a:ext uri="{FF2B5EF4-FFF2-40B4-BE49-F238E27FC236}">
                      <a16:creationId xmlns:a16="http://schemas.microsoft.com/office/drawing/2014/main" id="{28EBC26C-D4C8-93CD-0C26-051C1B146063}"/>
                    </a:ext>
                  </a:extLst>
                </p:cNvPr>
                <p:cNvGrpSpPr/>
                <p:nvPr/>
              </p:nvGrpSpPr>
              <p:grpSpPr>
                <a:xfrm rot="5400000">
                  <a:off x="7132003" y="272573"/>
                  <a:ext cx="408979" cy="228600"/>
                  <a:chOff x="339924" y="1249999"/>
                  <a:chExt cx="408979" cy="228600"/>
                </a:xfrm>
              </p:grpSpPr>
              <p:sp>
                <p:nvSpPr>
                  <p:cNvPr id="9" name="Isosceles Triangle 8">
                    <a:extLst>
                      <a:ext uri="{FF2B5EF4-FFF2-40B4-BE49-F238E27FC236}">
                        <a16:creationId xmlns:a16="http://schemas.microsoft.com/office/drawing/2014/main" id="{6735B52D-F890-17B0-A1AB-4CE41EA65250}"/>
                      </a:ext>
                    </a:extLst>
                  </p:cNvPr>
                  <p:cNvSpPr/>
                  <p:nvPr/>
                </p:nvSpPr>
                <p:spPr>
                  <a:xfrm rot="16200000">
                    <a:off x="485776" y="1177372"/>
                    <a:ext cx="152400" cy="373855"/>
                  </a:xfrm>
                  <a:prstGeom prst="triangle">
                    <a:avLst>
                      <a:gd name="adj" fmla="val 53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600"/>
                  </a:p>
                </p:txBody>
              </p:sp>
              <p:sp>
                <p:nvSpPr>
                  <p:cNvPr id="10" name="Rectangle 9">
                    <a:extLst>
                      <a:ext uri="{FF2B5EF4-FFF2-40B4-BE49-F238E27FC236}">
                        <a16:creationId xmlns:a16="http://schemas.microsoft.com/office/drawing/2014/main" id="{666B975D-0122-8FB5-B1A1-0D30102658D6}"/>
                      </a:ext>
                    </a:extLst>
                  </p:cNvPr>
                  <p:cNvSpPr/>
                  <p:nvPr/>
                </p:nvSpPr>
                <p:spPr>
                  <a:xfrm>
                    <a:off x="339924" y="1249999"/>
                    <a:ext cx="323850" cy="228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600"/>
                  </a:p>
                </p:txBody>
              </p:sp>
            </p:grpSp>
            <p:sp>
              <p:nvSpPr>
                <p:cNvPr id="8" name="TextBox 7">
                  <a:extLst>
                    <a:ext uri="{FF2B5EF4-FFF2-40B4-BE49-F238E27FC236}">
                      <a16:creationId xmlns:a16="http://schemas.microsoft.com/office/drawing/2014/main" id="{5287871F-2BF5-0158-0479-3638A54E9D73}"/>
                    </a:ext>
                  </a:extLst>
                </p:cNvPr>
                <p:cNvSpPr txBox="1"/>
                <p:nvPr/>
              </p:nvSpPr>
              <p:spPr>
                <a:xfrm>
                  <a:off x="7412693" y="238168"/>
                  <a:ext cx="1876582" cy="429639"/>
                </a:xfrm>
                <a:prstGeom prst="rect">
                  <a:avLst/>
                </a:prstGeom>
                <a:noFill/>
              </p:spPr>
              <p:txBody>
                <a:bodyPr wrap="square" rtlCol="0">
                  <a:spAutoFit/>
                </a:bodyPr>
                <a:lstStyle/>
                <a:p>
                  <a:r>
                    <a:rPr lang="en-US" sz="1000" dirty="0"/>
                    <a:t>Full observability</a:t>
                  </a:r>
                </a:p>
              </p:txBody>
            </p:sp>
          </p:grpSp>
        </p:grpSp>
        <p:sp>
          <p:nvSpPr>
            <p:cNvPr id="11" name="Arrow: Right 10">
              <a:extLst>
                <a:ext uri="{FF2B5EF4-FFF2-40B4-BE49-F238E27FC236}">
                  <a16:creationId xmlns:a16="http://schemas.microsoft.com/office/drawing/2014/main" id="{2EC2B22B-077A-38D5-6699-D1020AC8303C}"/>
                </a:ext>
              </a:extLst>
            </p:cNvPr>
            <p:cNvSpPr/>
            <p:nvPr/>
          </p:nvSpPr>
          <p:spPr>
            <a:xfrm>
              <a:off x="4191000" y="3124200"/>
              <a:ext cx="441658" cy="3638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 name="TextBox 11">
              <a:extLst>
                <a:ext uri="{FF2B5EF4-FFF2-40B4-BE49-F238E27FC236}">
                  <a16:creationId xmlns:a16="http://schemas.microsoft.com/office/drawing/2014/main" id="{E452A69F-B76D-F233-7F7B-4E8CE106251C}"/>
                </a:ext>
              </a:extLst>
            </p:cNvPr>
            <p:cNvSpPr txBox="1"/>
            <p:nvPr/>
          </p:nvSpPr>
          <p:spPr>
            <a:xfrm>
              <a:off x="4953000" y="3006989"/>
              <a:ext cx="1295399"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dirty="0" err="1"/>
                <a:t>A_dirty</a:t>
              </a:r>
              <a:r>
                <a:rPr lang="en-US" sz="1400" dirty="0"/>
                <a:t> = True</a:t>
              </a:r>
            </a:p>
            <a:p>
              <a:r>
                <a:rPr lang="en-US" sz="1400" dirty="0" err="1"/>
                <a:t>B_dirty</a:t>
              </a:r>
              <a:r>
                <a:rPr lang="en-US" sz="1400" dirty="0"/>
                <a:t> = True</a:t>
              </a:r>
            </a:p>
            <a:p>
              <a:r>
                <a:rPr lang="en-US" sz="1400" dirty="0"/>
                <a:t>Location = A</a:t>
              </a:r>
            </a:p>
          </p:txBody>
        </p:sp>
      </p:grpSp>
      <p:grpSp>
        <p:nvGrpSpPr>
          <p:cNvPr id="16" name="Group 15">
            <a:extLst>
              <a:ext uri="{FF2B5EF4-FFF2-40B4-BE49-F238E27FC236}">
                <a16:creationId xmlns:a16="http://schemas.microsoft.com/office/drawing/2014/main" id="{A1A61557-43D3-9263-AE1F-34CAC1D945A6}"/>
              </a:ext>
            </a:extLst>
          </p:cNvPr>
          <p:cNvGrpSpPr/>
          <p:nvPr/>
        </p:nvGrpSpPr>
        <p:grpSpPr>
          <a:xfrm>
            <a:off x="7359396" y="4094345"/>
            <a:ext cx="1632204" cy="1066800"/>
            <a:chOff x="7359396" y="4094345"/>
            <a:chExt cx="1632204" cy="1066800"/>
          </a:xfrm>
        </p:grpSpPr>
        <p:sp>
          <p:nvSpPr>
            <p:cNvPr id="14" name="Right Brace 13">
              <a:extLst>
                <a:ext uri="{FF2B5EF4-FFF2-40B4-BE49-F238E27FC236}">
                  <a16:creationId xmlns:a16="http://schemas.microsoft.com/office/drawing/2014/main" id="{0C354B64-E199-187E-6360-09BFAEB4E54A}"/>
                </a:ext>
              </a:extLst>
            </p:cNvPr>
            <p:cNvSpPr/>
            <p:nvPr/>
          </p:nvSpPr>
          <p:spPr>
            <a:xfrm>
              <a:off x="7359396" y="4094345"/>
              <a:ext cx="228600" cy="1066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74E63827-0492-4CC3-1A4C-525E61B19F86}"/>
                </a:ext>
              </a:extLst>
            </p:cNvPr>
            <p:cNvSpPr txBox="1"/>
            <p:nvPr/>
          </p:nvSpPr>
          <p:spPr>
            <a:xfrm>
              <a:off x="7696200" y="4150691"/>
              <a:ext cx="1295400" cy="9541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sz="1400" dirty="0"/>
                <a:t>Use observations + knowledge to make decisions</a:t>
              </a:r>
            </a:p>
          </p:txBody>
        </p:sp>
      </p:grpSp>
    </p:spTree>
    <p:extLst>
      <p:ext uri="{BB962C8B-B14F-4D97-AF65-F5344CB8AC3E}">
        <p14:creationId xmlns:p14="http://schemas.microsoft.com/office/powerpoint/2010/main" val="1069097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313C7-9AF1-4761-868F-E85D90428FC0}"/>
              </a:ext>
            </a:extLst>
          </p:cNvPr>
          <p:cNvSpPr>
            <a:spLocks noGrp="1"/>
          </p:cNvSpPr>
          <p:nvPr>
            <p:ph type="title"/>
          </p:nvPr>
        </p:nvSpPr>
        <p:spPr>
          <a:xfrm>
            <a:off x="3724072" y="629268"/>
            <a:ext cx="4732020" cy="1286160"/>
          </a:xfrm>
        </p:spPr>
        <p:txBody>
          <a:bodyPr anchor="b">
            <a:normAutofit/>
          </a:bodyPr>
          <a:lstStyle/>
          <a:p>
            <a:r>
              <a:rPr lang="en-US" sz="2800" dirty="0"/>
              <a:t>Important concepts that you should be able to explain and use now…</a:t>
            </a:r>
          </a:p>
        </p:txBody>
      </p:sp>
      <p:sp>
        <p:nvSpPr>
          <p:cNvPr id="3" name="Content Placeholder 2">
            <a:extLst>
              <a:ext uri="{FF2B5EF4-FFF2-40B4-BE49-F238E27FC236}">
                <a16:creationId xmlns:a16="http://schemas.microsoft.com/office/drawing/2014/main" id="{EA3774A9-3326-4C00-884E-0E82913902EC}"/>
              </a:ext>
            </a:extLst>
          </p:cNvPr>
          <p:cNvSpPr>
            <a:spLocks noGrp="1"/>
          </p:cNvSpPr>
          <p:nvPr>
            <p:ph idx="1"/>
          </p:nvPr>
        </p:nvSpPr>
        <p:spPr>
          <a:xfrm>
            <a:off x="3724073" y="2438400"/>
            <a:ext cx="4939867" cy="3785419"/>
          </a:xfrm>
        </p:spPr>
        <p:txBody>
          <a:bodyPr>
            <a:normAutofit fontScale="92500"/>
          </a:bodyPr>
          <a:lstStyle/>
          <a:p>
            <a:r>
              <a:rPr lang="en-US" sz="1700" dirty="0"/>
              <a:t>Difference between solution types:</a:t>
            </a:r>
          </a:p>
          <a:p>
            <a:pPr marL="800100" lvl="1" indent="-342900">
              <a:buFont typeface="+mj-lt"/>
              <a:buAutoNum type="alphaLcPeriod"/>
            </a:pPr>
            <a:r>
              <a:rPr lang="en-US" sz="1700" dirty="0"/>
              <a:t>a fixed action sequence (a plan),</a:t>
            </a:r>
          </a:p>
          <a:p>
            <a:pPr marL="800100" lvl="1" indent="-342900">
              <a:buFont typeface="+mj-lt"/>
              <a:buAutoNum type="alphaLcPeriod"/>
            </a:pPr>
            <a:r>
              <a:rPr lang="en-US" sz="1700" dirty="0"/>
              <a:t> a </a:t>
            </a:r>
            <a:r>
              <a:rPr lang="en-US" sz="1700" b="1" dirty="0"/>
              <a:t>conditional plan </a:t>
            </a:r>
            <a:r>
              <a:rPr lang="en-US" sz="1700" dirty="0"/>
              <a:t>(also called a strategy or policy), and</a:t>
            </a:r>
          </a:p>
          <a:p>
            <a:pPr marL="800100" lvl="1" indent="-342900">
              <a:buFont typeface="+mj-lt"/>
              <a:buAutoNum type="alphaLcPeriod"/>
            </a:pPr>
            <a:r>
              <a:rPr lang="en-US" sz="1700" b="1" dirty="0"/>
              <a:t>exploration</a:t>
            </a:r>
            <a:r>
              <a:rPr lang="en-US" sz="1700" dirty="0"/>
              <a:t>.</a:t>
            </a:r>
          </a:p>
          <a:p>
            <a:r>
              <a:rPr lang="en-US" sz="1700" dirty="0"/>
              <a:t>What are </a:t>
            </a:r>
            <a:r>
              <a:rPr lang="en-US" sz="1700" b="1" dirty="0"/>
              <a:t>belief states</a:t>
            </a:r>
            <a:r>
              <a:rPr lang="en-US" sz="1700" dirty="0"/>
              <a:t>?</a:t>
            </a:r>
          </a:p>
          <a:p>
            <a:r>
              <a:rPr lang="en-US" sz="1700" dirty="0"/>
              <a:t>How actions can be used to coerce the world into known states.</a:t>
            </a:r>
          </a:p>
          <a:p>
            <a:r>
              <a:rPr lang="en-US" sz="1700" dirty="0"/>
              <a:t>How actions and observations (from </a:t>
            </a:r>
            <a:r>
              <a:rPr lang="en-US" sz="1700" b="1" dirty="0"/>
              <a:t>percept functions</a:t>
            </a:r>
            <a:r>
              <a:rPr lang="en-US" sz="1700" dirty="0"/>
              <a:t>) can be used to learn about the state: State estimation with repeated predict and update steps.</a:t>
            </a:r>
          </a:p>
          <a:p>
            <a:r>
              <a:rPr lang="en-US" sz="1700" dirty="0"/>
              <a:t>The use of AND-OR trees to solve small problems.</a:t>
            </a:r>
          </a:p>
          <a:p>
            <a:r>
              <a:rPr lang="en-US" sz="1700" dirty="0"/>
              <a:t>Large problems are hard!</a:t>
            </a:r>
          </a:p>
        </p:txBody>
      </p:sp>
      <p:pic>
        <p:nvPicPr>
          <p:cNvPr id="5" name="Picture 4">
            <a:extLst>
              <a:ext uri="{FF2B5EF4-FFF2-40B4-BE49-F238E27FC236}">
                <a16:creationId xmlns:a16="http://schemas.microsoft.com/office/drawing/2014/main" id="{B586A7B6-C475-452B-BF7B-D1447DB2D03A}"/>
              </a:ext>
              <a:ext uri="{C183D7F6-B498-43B3-948B-1728B52AA6E4}">
                <adec:decorative xmlns:adec="http://schemas.microsoft.com/office/drawing/2017/decorative" val="1"/>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Lst>
          </a:blip>
          <a:srcRect l="65222" r="3855" b="2"/>
          <a:stretch/>
        </p:blipFill>
        <p:spPr>
          <a:xfrm>
            <a:off x="20" y="10"/>
            <a:ext cx="3476673" cy="6857990"/>
          </a:xfrm>
          <a:prstGeom prst="rect">
            <a:avLst/>
          </a:prstGeom>
          <a:effectLst/>
        </p:spPr>
      </p:pic>
      <p:cxnSp>
        <p:nvCxnSpPr>
          <p:cNvPr id="22" name="Straight Connector 13">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6882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460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Custom 3">
      <a:dk1>
        <a:sysClr val="windowText" lastClr="000000"/>
      </a:dk1>
      <a:lt1>
        <a:sysClr val="window" lastClr="FFFFFF"/>
      </a:lt1>
      <a:dk2>
        <a:srgbClr val="0E2841"/>
      </a:dk2>
      <a:lt2>
        <a:srgbClr val="E8E8E8"/>
      </a:lt2>
      <a:accent1>
        <a:srgbClr val="156082"/>
      </a:accent1>
      <a:accent2>
        <a:srgbClr val="BE4D14"/>
      </a:accent2>
      <a:accent3>
        <a:srgbClr val="196B24"/>
      </a:accent3>
      <a:accent4>
        <a:srgbClr val="0B769F"/>
      </a:accent4>
      <a:accent5>
        <a:srgbClr val="A02B93"/>
      </a:accent5>
      <a:accent6>
        <a:srgbClr val="377620"/>
      </a:accent6>
      <a:hlink>
        <a:srgbClr val="467886"/>
      </a:hlink>
      <a:folHlink>
        <a:srgbClr val="96607D"/>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5666</TotalTime>
  <Words>3330</Words>
  <Application>Microsoft Office PowerPoint</Application>
  <PresentationFormat>On-screen Show (4:3)</PresentationFormat>
  <Paragraphs>437</Paragraphs>
  <Slides>40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Cambria Math</vt:lpstr>
      <vt:lpstr>Office Theme</vt:lpstr>
      <vt:lpstr>CS 5/7320  Artificial Intelligence  Search with Uncertainty AIMA Chapters 4.3-4.5</vt:lpstr>
      <vt:lpstr>Recap: Solving Search Problems under Certainty</vt:lpstr>
      <vt:lpstr>Sources and Consequence  of Uncertainty</vt:lpstr>
      <vt:lpstr>Types of uncertainty in the environment*</vt:lpstr>
      <vt:lpstr>Nondeterministic Actions</vt:lpstr>
      <vt:lpstr>Definition: Nondeterministic Actions</vt:lpstr>
      <vt:lpstr>Example: Erratic Vacuum World</vt:lpstr>
      <vt:lpstr>Example:  Erratic Vacuum World</vt:lpstr>
      <vt:lpstr>Transition Model as an AND-OR Search Tree</vt:lpstr>
      <vt:lpstr>Search the AND-OR Tree</vt:lpstr>
      <vt:lpstr>Recursive AND-OR Tree Search (DFS)</vt:lpstr>
      <vt:lpstr>An Agent using the Conditional Plan</vt:lpstr>
      <vt:lpstr>Search With  No Observations</vt:lpstr>
      <vt:lpstr>Sensorless Problems</vt:lpstr>
      <vt:lpstr>Definition: Belief State</vt:lpstr>
      <vt:lpstr>Actions to Coerce the  World into Known States</vt:lpstr>
      <vt:lpstr>Actions to Coerce the  World into Known States </vt:lpstr>
      <vt:lpstr>Actions to Coerce the  World into Known States</vt:lpstr>
      <vt:lpstr>The Reachable Belief State Space</vt:lpstr>
      <vt:lpstr>Finding a Plan</vt:lpstr>
      <vt:lpstr>Case Study</vt:lpstr>
      <vt:lpstr>Partially Observable Environments</vt:lpstr>
      <vt:lpstr>Percepts and Observability</vt:lpstr>
      <vt:lpstr>Use Observations to Learn About the State</vt:lpstr>
      <vt:lpstr>Example: Deterministic local sensing vacuum world</vt:lpstr>
      <vt:lpstr>Solving Partially Observable Problems</vt:lpstr>
      <vt:lpstr>Solving Partially Observable Problems 2</vt:lpstr>
      <vt:lpstr>Solving Partially Observable Problems 3</vt:lpstr>
      <vt:lpstr>Solving Partially Observable Problems 4</vt:lpstr>
      <vt:lpstr>State Estimation</vt:lpstr>
      <vt:lpstr>Case Study:   Partially Observable 8-Puzzle</vt:lpstr>
      <vt:lpstr>Partially Observable 8-Puzzle</vt:lpstr>
      <vt:lpstr>Exploration</vt:lpstr>
      <vt:lpstr>Recap: Offline Search</vt:lpstr>
      <vt:lpstr>Online Search</vt:lpstr>
      <vt:lpstr>Design Considerations for Online Search</vt:lpstr>
      <vt:lpstr>Online Search: A Model-based Reflex Agent to Learn the Transition Model</vt:lpstr>
      <vt:lpstr>Case Study: DFS with Backtracking for an unknown Maze</vt:lpstr>
      <vt:lpstr>Review:  Environment State vs. Agent State vs. Model</vt:lpstr>
      <vt:lpstr>Important concepts that you should be able to explain and use now…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5/732  Artificial Intelligence  Search with Uncertainty</dc:title>
  <dc:creator>michael</dc:creator>
  <cp:lastModifiedBy>Hahsler, Michael</cp:lastModifiedBy>
  <cp:revision>96</cp:revision>
  <dcterms:created xsi:type="dcterms:W3CDTF">2021-02-12T23:04:30Z</dcterms:created>
  <dcterms:modified xsi:type="dcterms:W3CDTF">2026-10-14T19:03:46Z</dcterms:modified>
</cp:coreProperties>
</file>