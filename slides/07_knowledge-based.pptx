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80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4"/>
  </p:notesMasterIdLst>
  <p:sldIdLst>
    <p:sldId id="372" r:id="rId2"/>
    <p:sldId id="409" r:id="rId3"/>
    <p:sldId id="387" r:id="rId4"/>
    <p:sldId id="379" r:id="rId5"/>
    <p:sldId id="259" r:id="rId6"/>
    <p:sldId id="376" r:id="rId7"/>
    <p:sldId id="393" r:id="rId8"/>
    <p:sldId id="408" r:id="rId9"/>
    <p:sldId id="404" r:id="rId10"/>
    <p:sldId id="394" r:id="rId11"/>
    <p:sldId id="486" r:id="rId12"/>
    <p:sldId id="405" r:id="rId13"/>
    <p:sldId id="396" r:id="rId14"/>
    <p:sldId id="392" r:id="rId15"/>
    <p:sldId id="407" r:id="rId16"/>
    <p:sldId id="406" r:id="rId17"/>
    <p:sldId id="395" r:id="rId18"/>
    <p:sldId id="384" r:id="rId19"/>
    <p:sldId id="385" r:id="rId20"/>
    <p:sldId id="386" r:id="rId21"/>
    <p:sldId id="487" r:id="rId22"/>
    <p:sldId id="403" r:id="rId23"/>
    <p:sldId id="400" r:id="rId24"/>
    <p:sldId id="360" r:id="rId25"/>
    <p:sldId id="401" r:id="rId26"/>
    <p:sldId id="281" r:id="rId27"/>
    <p:sldId id="371" r:id="rId28"/>
    <p:sldId id="282" r:id="rId29"/>
    <p:sldId id="377" r:id="rId30"/>
    <p:sldId id="370" r:id="rId31"/>
    <p:sldId id="272" r:id="rId32"/>
    <p:sldId id="280" r:id="rId33"/>
    <p:sldId id="365" r:id="rId34"/>
    <p:sldId id="361" r:id="rId35"/>
    <p:sldId id="362" r:id="rId36"/>
    <p:sldId id="363" r:id="rId37"/>
    <p:sldId id="364" r:id="rId38"/>
    <p:sldId id="367" r:id="rId39"/>
    <p:sldId id="368" r:id="rId40"/>
    <p:sldId id="382" r:id="rId41"/>
    <p:sldId id="383" r:id="rId42"/>
    <p:sldId id="330" r:id="rId43"/>
    <p:sldId id="373" r:id="rId44"/>
    <p:sldId id="260" r:id="rId45"/>
    <p:sldId id="261" r:id="rId46"/>
    <p:sldId id="266" r:id="rId47"/>
    <p:sldId id="268" r:id="rId48"/>
    <p:sldId id="270" r:id="rId49"/>
    <p:sldId id="271" r:id="rId50"/>
    <p:sldId id="374" r:id="rId51"/>
    <p:sldId id="326" r:id="rId52"/>
    <p:sldId id="378" r:id="rId5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6C34C04-4B42-4188-AA53-14322E6C83C1}">
          <p14:sldIdLst>
            <p14:sldId id="372"/>
            <p14:sldId id="409"/>
            <p14:sldId id="387"/>
            <p14:sldId id="379"/>
            <p14:sldId id="259"/>
            <p14:sldId id="376"/>
            <p14:sldId id="393"/>
          </p14:sldIdLst>
        </p14:section>
        <p14:section name="Logical and Probabilistic Reasoning Agents" id="{95EF1AD8-152E-456E-82BE-0D651FAF965C}">
          <p14:sldIdLst>
            <p14:sldId id="408"/>
            <p14:sldId id="404"/>
            <p14:sldId id="394"/>
            <p14:sldId id="486"/>
            <p14:sldId id="405"/>
            <p14:sldId id="396"/>
            <p14:sldId id="392"/>
          </p14:sldIdLst>
        </p14:section>
        <p14:section name="Large Language Models" id="{1664374C-FB97-4EAC-ACA0-010019395C59}">
          <p14:sldIdLst>
            <p14:sldId id="407"/>
            <p14:sldId id="406"/>
            <p14:sldId id="395"/>
            <p14:sldId id="384"/>
            <p14:sldId id="385"/>
            <p14:sldId id="386"/>
            <p14:sldId id="487"/>
            <p14:sldId id="403"/>
          </p14:sldIdLst>
        </p14:section>
        <p14:section name="Appendix: Logic" id="{EF800037-9E2E-4C8D-9AD5-DD5213A1D2F9}">
          <p14:sldIdLst>
            <p14:sldId id="400"/>
            <p14:sldId id="360"/>
            <p14:sldId id="401"/>
            <p14:sldId id="281"/>
            <p14:sldId id="371"/>
            <p14:sldId id="282"/>
            <p14:sldId id="377"/>
            <p14:sldId id="370"/>
            <p14:sldId id="272"/>
            <p14:sldId id="280"/>
            <p14:sldId id="365"/>
            <p14:sldId id="361"/>
            <p14:sldId id="362"/>
            <p14:sldId id="363"/>
            <p14:sldId id="364"/>
            <p14:sldId id="367"/>
            <p14:sldId id="368"/>
            <p14:sldId id="382"/>
            <p14:sldId id="383"/>
            <p14:sldId id="330"/>
            <p14:sldId id="373"/>
            <p14:sldId id="260"/>
            <p14:sldId id="261"/>
            <p14:sldId id="266"/>
            <p14:sldId id="268"/>
            <p14:sldId id="270"/>
            <p14:sldId id="271"/>
            <p14:sldId id="374"/>
            <p14:sldId id="326"/>
            <p14:sldId id="3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4472C4"/>
    <a:srgbClr val="AE5A21"/>
    <a:srgbClr val="CC0099"/>
    <a:srgbClr val="0000FF"/>
    <a:srgbClr val="33CCFF"/>
    <a:srgbClr val="FFCC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82" autoAdjust="0"/>
    <p:restoredTop sz="96577" autoAdjust="0"/>
  </p:normalViewPr>
  <p:slideViewPr>
    <p:cSldViewPr>
      <p:cViewPr varScale="1">
        <p:scale>
          <a:sx n="155" d="100"/>
          <a:sy n="155" d="100"/>
        </p:scale>
        <p:origin x="18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9" d="100"/>
        <a:sy n="5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0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AFE723-49AB-449E-B50F-EA8C2BF37A40}" type="doc">
      <dgm:prSet loTypeId="urn:microsoft.com/office/officeart/2005/8/layout/pyramid2" loCatId="pyramid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E3FCFC-BB2B-4439-83FF-36BF448BD06A}">
      <dgm:prSet/>
      <dgm:spPr/>
      <dgm:t>
        <a:bodyPr/>
        <a:lstStyle/>
        <a:p>
          <a:r>
            <a:rPr lang="en-US" dirty="0"/>
            <a:t>Utility-based agents</a:t>
          </a:r>
        </a:p>
      </dgm:t>
    </dgm:pt>
    <dgm:pt modelId="{766B9DF4-1C2B-47FF-8B2C-C87F104DADB1}" type="parTrans" cxnId="{5D1D656F-442B-41DC-B5FB-EC817B242166}">
      <dgm:prSet/>
      <dgm:spPr/>
      <dgm:t>
        <a:bodyPr/>
        <a:lstStyle/>
        <a:p>
          <a:endParaRPr lang="en-US"/>
        </a:p>
      </dgm:t>
    </dgm:pt>
    <dgm:pt modelId="{B179EBFF-74FB-4F9A-8211-FCA2E7054372}" type="sibTrans" cxnId="{5D1D656F-442B-41DC-B5FB-EC817B242166}">
      <dgm:prSet/>
      <dgm:spPr/>
      <dgm:t>
        <a:bodyPr/>
        <a:lstStyle/>
        <a:p>
          <a:endParaRPr lang="en-US"/>
        </a:p>
      </dgm:t>
    </dgm:pt>
    <dgm:pt modelId="{83B41E69-333C-420C-BE24-7412C78078A0}">
      <dgm:prSet/>
      <dgm:spPr/>
      <dgm:t>
        <a:bodyPr/>
        <a:lstStyle/>
        <a:p>
          <a:r>
            <a:rPr lang="en-US"/>
            <a:t>Simple reflex agents</a:t>
          </a:r>
          <a:endParaRPr lang="en-US" dirty="0"/>
        </a:p>
      </dgm:t>
    </dgm:pt>
    <dgm:pt modelId="{CD0808E1-62F1-42F3-B0B9-76A7FF862A23}" type="parTrans" cxnId="{AABD6FDE-5BBB-469A-864E-D15AACD350E8}">
      <dgm:prSet/>
      <dgm:spPr/>
      <dgm:t>
        <a:bodyPr/>
        <a:lstStyle/>
        <a:p>
          <a:endParaRPr lang="en-US"/>
        </a:p>
      </dgm:t>
    </dgm:pt>
    <dgm:pt modelId="{B97B47CC-D836-4357-8FE0-0228F8261E47}" type="sibTrans" cxnId="{AABD6FDE-5BBB-469A-864E-D15AACD350E8}">
      <dgm:prSet/>
      <dgm:spPr/>
      <dgm:t>
        <a:bodyPr/>
        <a:lstStyle/>
        <a:p>
          <a:endParaRPr lang="en-US"/>
        </a:p>
      </dgm:t>
    </dgm:pt>
    <dgm:pt modelId="{A961D3C2-FCC5-41AA-942B-B9A11E84A7FC}">
      <dgm:prSet/>
      <dgm:spPr/>
      <dgm:t>
        <a:bodyPr/>
        <a:lstStyle/>
        <a:p>
          <a:r>
            <a:rPr lang="en-US" dirty="0"/>
            <a:t>Goal-based agents</a:t>
          </a:r>
        </a:p>
      </dgm:t>
    </dgm:pt>
    <dgm:pt modelId="{43381F9A-2939-4072-9FE0-CC4B57BCCDB3}" type="parTrans" cxnId="{6B42274A-1F6A-4F30-ABF9-F9E1D521E09C}">
      <dgm:prSet/>
      <dgm:spPr/>
      <dgm:t>
        <a:bodyPr/>
        <a:lstStyle/>
        <a:p>
          <a:endParaRPr lang="en-US"/>
        </a:p>
      </dgm:t>
    </dgm:pt>
    <dgm:pt modelId="{DF69E99E-2046-4701-93B5-B7A014CC0A99}" type="sibTrans" cxnId="{6B42274A-1F6A-4F30-ABF9-F9E1D521E09C}">
      <dgm:prSet/>
      <dgm:spPr/>
      <dgm:t>
        <a:bodyPr/>
        <a:lstStyle/>
        <a:p>
          <a:endParaRPr lang="en-US"/>
        </a:p>
      </dgm:t>
    </dgm:pt>
    <dgm:pt modelId="{3FA1C433-C911-46BA-A591-2B3A5AF1361F}">
      <dgm:prSet/>
      <dgm:spPr/>
      <dgm:t>
        <a:bodyPr/>
        <a:lstStyle/>
        <a:p>
          <a:r>
            <a:rPr lang="en-US"/>
            <a:t>Model-based reflex agents</a:t>
          </a:r>
          <a:endParaRPr lang="en-US" dirty="0"/>
        </a:p>
      </dgm:t>
    </dgm:pt>
    <dgm:pt modelId="{2BBFE6E3-37F8-4618-9894-6A0583820894}" type="parTrans" cxnId="{8DD365E2-3BE6-4CF1-833F-42E307DFC473}">
      <dgm:prSet/>
      <dgm:spPr/>
      <dgm:t>
        <a:bodyPr/>
        <a:lstStyle/>
        <a:p>
          <a:endParaRPr lang="en-US"/>
        </a:p>
      </dgm:t>
    </dgm:pt>
    <dgm:pt modelId="{9ECBCE8D-FE96-44B5-9DED-E937F9C00A0A}" type="sibTrans" cxnId="{8DD365E2-3BE6-4CF1-833F-42E307DFC473}">
      <dgm:prSet/>
      <dgm:spPr/>
      <dgm:t>
        <a:bodyPr/>
        <a:lstStyle/>
        <a:p>
          <a:endParaRPr lang="en-US"/>
        </a:p>
      </dgm:t>
    </dgm:pt>
    <dgm:pt modelId="{8E76272A-CE3E-4D12-B983-8FB136F6A52B}" type="pres">
      <dgm:prSet presAssocID="{39AFE723-49AB-449E-B50F-EA8C2BF37A40}" presName="compositeShape" presStyleCnt="0">
        <dgm:presLayoutVars>
          <dgm:dir/>
          <dgm:resizeHandles/>
        </dgm:presLayoutVars>
      </dgm:prSet>
      <dgm:spPr/>
    </dgm:pt>
    <dgm:pt modelId="{421772EB-A28C-4249-9248-E9285A7294E2}" type="pres">
      <dgm:prSet presAssocID="{39AFE723-49AB-449E-B50F-EA8C2BF37A40}" presName="pyramid" presStyleLbl="node1" presStyleIdx="0" presStyleCnt="1" custAng="10800000"/>
      <dgm:spPr/>
    </dgm:pt>
    <dgm:pt modelId="{67A66B3D-BAEA-4734-81A4-3FA61A2837F6}" type="pres">
      <dgm:prSet presAssocID="{39AFE723-49AB-449E-B50F-EA8C2BF37A40}" presName="theList" presStyleCnt="0"/>
      <dgm:spPr/>
    </dgm:pt>
    <dgm:pt modelId="{128154D5-B7B6-4090-B776-DC63838EC167}" type="pres">
      <dgm:prSet presAssocID="{A0E3FCFC-BB2B-4439-83FF-36BF448BD06A}" presName="aNode" presStyleLbl="fgAcc1" presStyleIdx="0" presStyleCnt="4">
        <dgm:presLayoutVars>
          <dgm:bulletEnabled val="1"/>
        </dgm:presLayoutVars>
      </dgm:prSet>
      <dgm:spPr/>
    </dgm:pt>
    <dgm:pt modelId="{5956F3D9-764E-468B-BBEC-69595642B66D}" type="pres">
      <dgm:prSet presAssocID="{A0E3FCFC-BB2B-4439-83FF-36BF448BD06A}" presName="aSpace" presStyleCnt="0"/>
      <dgm:spPr/>
    </dgm:pt>
    <dgm:pt modelId="{E9E54B10-0E80-4EC7-BDC9-1B1E1CD3F5FC}" type="pres">
      <dgm:prSet presAssocID="{A961D3C2-FCC5-41AA-942B-B9A11E84A7FC}" presName="aNode" presStyleLbl="fgAcc1" presStyleIdx="1" presStyleCnt="4">
        <dgm:presLayoutVars>
          <dgm:bulletEnabled val="1"/>
        </dgm:presLayoutVars>
      </dgm:prSet>
      <dgm:spPr/>
    </dgm:pt>
    <dgm:pt modelId="{2533FDDA-1140-4423-8215-A249C25D2753}" type="pres">
      <dgm:prSet presAssocID="{A961D3C2-FCC5-41AA-942B-B9A11E84A7FC}" presName="aSpace" presStyleCnt="0"/>
      <dgm:spPr/>
    </dgm:pt>
    <dgm:pt modelId="{B5BCA4F7-7F6F-43C2-84D5-1C28E4BBCA24}" type="pres">
      <dgm:prSet presAssocID="{3FA1C433-C911-46BA-A591-2B3A5AF1361F}" presName="aNode" presStyleLbl="fgAcc1" presStyleIdx="2" presStyleCnt="4">
        <dgm:presLayoutVars>
          <dgm:bulletEnabled val="1"/>
        </dgm:presLayoutVars>
      </dgm:prSet>
      <dgm:spPr/>
    </dgm:pt>
    <dgm:pt modelId="{53133F68-D5DF-411C-9C30-07A43607D1F3}" type="pres">
      <dgm:prSet presAssocID="{3FA1C433-C911-46BA-A591-2B3A5AF1361F}" presName="aSpace" presStyleCnt="0"/>
      <dgm:spPr/>
    </dgm:pt>
    <dgm:pt modelId="{54EC23F3-F115-4CD3-9500-0768D2AE6E17}" type="pres">
      <dgm:prSet presAssocID="{83B41E69-333C-420C-BE24-7412C78078A0}" presName="aNode" presStyleLbl="fgAcc1" presStyleIdx="3" presStyleCnt="4">
        <dgm:presLayoutVars>
          <dgm:bulletEnabled val="1"/>
        </dgm:presLayoutVars>
      </dgm:prSet>
      <dgm:spPr/>
    </dgm:pt>
    <dgm:pt modelId="{6655755C-E94F-4B60-8554-ED3FF4C2751D}" type="pres">
      <dgm:prSet presAssocID="{83B41E69-333C-420C-BE24-7412C78078A0}" presName="aSpace" presStyleCnt="0"/>
      <dgm:spPr/>
    </dgm:pt>
  </dgm:ptLst>
  <dgm:cxnLst>
    <dgm:cxn modelId="{BF411309-3728-401B-B2E2-18B9E61AD4AC}" type="presOf" srcId="{39AFE723-49AB-449E-B50F-EA8C2BF37A40}" destId="{8E76272A-CE3E-4D12-B983-8FB136F6A52B}" srcOrd="0" destOrd="0" presId="urn:microsoft.com/office/officeart/2005/8/layout/pyramid2"/>
    <dgm:cxn modelId="{920EA31B-541E-49E6-809A-BCBB111A1103}" type="presOf" srcId="{A0E3FCFC-BB2B-4439-83FF-36BF448BD06A}" destId="{128154D5-B7B6-4090-B776-DC63838EC167}" srcOrd="0" destOrd="0" presId="urn:microsoft.com/office/officeart/2005/8/layout/pyramid2"/>
    <dgm:cxn modelId="{434AD221-AB5B-46B2-99A0-00E3ECBF59EE}" type="presOf" srcId="{A961D3C2-FCC5-41AA-942B-B9A11E84A7FC}" destId="{E9E54B10-0E80-4EC7-BDC9-1B1E1CD3F5FC}" srcOrd="0" destOrd="0" presId="urn:microsoft.com/office/officeart/2005/8/layout/pyramid2"/>
    <dgm:cxn modelId="{6B42274A-1F6A-4F30-ABF9-F9E1D521E09C}" srcId="{39AFE723-49AB-449E-B50F-EA8C2BF37A40}" destId="{A961D3C2-FCC5-41AA-942B-B9A11E84A7FC}" srcOrd="1" destOrd="0" parTransId="{43381F9A-2939-4072-9FE0-CC4B57BCCDB3}" sibTransId="{DF69E99E-2046-4701-93B5-B7A014CC0A99}"/>
    <dgm:cxn modelId="{2EE2DC6A-1EE2-4C45-84DD-742A29B2986D}" type="presOf" srcId="{3FA1C433-C911-46BA-A591-2B3A5AF1361F}" destId="{B5BCA4F7-7F6F-43C2-84D5-1C28E4BBCA24}" srcOrd="0" destOrd="0" presId="urn:microsoft.com/office/officeart/2005/8/layout/pyramid2"/>
    <dgm:cxn modelId="{5D1D656F-442B-41DC-B5FB-EC817B242166}" srcId="{39AFE723-49AB-449E-B50F-EA8C2BF37A40}" destId="{A0E3FCFC-BB2B-4439-83FF-36BF448BD06A}" srcOrd="0" destOrd="0" parTransId="{766B9DF4-1C2B-47FF-8B2C-C87F104DADB1}" sibTransId="{B179EBFF-74FB-4F9A-8211-FCA2E7054372}"/>
    <dgm:cxn modelId="{93D348BB-E399-4FB3-8121-AADDE2F2F3BC}" type="presOf" srcId="{83B41E69-333C-420C-BE24-7412C78078A0}" destId="{54EC23F3-F115-4CD3-9500-0768D2AE6E17}" srcOrd="0" destOrd="0" presId="urn:microsoft.com/office/officeart/2005/8/layout/pyramid2"/>
    <dgm:cxn modelId="{AABD6FDE-5BBB-469A-864E-D15AACD350E8}" srcId="{39AFE723-49AB-449E-B50F-EA8C2BF37A40}" destId="{83B41E69-333C-420C-BE24-7412C78078A0}" srcOrd="3" destOrd="0" parTransId="{CD0808E1-62F1-42F3-B0B9-76A7FF862A23}" sibTransId="{B97B47CC-D836-4357-8FE0-0228F8261E47}"/>
    <dgm:cxn modelId="{8DD365E2-3BE6-4CF1-833F-42E307DFC473}" srcId="{39AFE723-49AB-449E-B50F-EA8C2BF37A40}" destId="{3FA1C433-C911-46BA-A591-2B3A5AF1361F}" srcOrd="2" destOrd="0" parTransId="{2BBFE6E3-37F8-4618-9894-6A0583820894}" sibTransId="{9ECBCE8D-FE96-44B5-9DED-E937F9C00A0A}"/>
    <dgm:cxn modelId="{CE4C16C8-42C6-47BD-8A40-5E40AEF78345}" type="presParOf" srcId="{8E76272A-CE3E-4D12-B983-8FB136F6A52B}" destId="{421772EB-A28C-4249-9248-E9285A7294E2}" srcOrd="0" destOrd="0" presId="urn:microsoft.com/office/officeart/2005/8/layout/pyramid2"/>
    <dgm:cxn modelId="{C6CC6D46-78F8-433E-B09A-58F090B2D8AE}" type="presParOf" srcId="{8E76272A-CE3E-4D12-B983-8FB136F6A52B}" destId="{67A66B3D-BAEA-4734-81A4-3FA61A2837F6}" srcOrd="1" destOrd="0" presId="urn:microsoft.com/office/officeart/2005/8/layout/pyramid2"/>
    <dgm:cxn modelId="{E0DCF367-FA15-426B-AC84-1DA1AF10DD50}" type="presParOf" srcId="{67A66B3D-BAEA-4734-81A4-3FA61A2837F6}" destId="{128154D5-B7B6-4090-B776-DC63838EC167}" srcOrd="0" destOrd="0" presId="urn:microsoft.com/office/officeart/2005/8/layout/pyramid2"/>
    <dgm:cxn modelId="{966C702C-A5E8-40A7-82BA-BF82257B9AF4}" type="presParOf" srcId="{67A66B3D-BAEA-4734-81A4-3FA61A2837F6}" destId="{5956F3D9-764E-468B-BBEC-69595642B66D}" srcOrd="1" destOrd="0" presId="urn:microsoft.com/office/officeart/2005/8/layout/pyramid2"/>
    <dgm:cxn modelId="{3AFCA90A-2D3B-4996-BBAF-57C16663BFC3}" type="presParOf" srcId="{67A66B3D-BAEA-4734-81A4-3FA61A2837F6}" destId="{E9E54B10-0E80-4EC7-BDC9-1B1E1CD3F5FC}" srcOrd="2" destOrd="0" presId="urn:microsoft.com/office/officeart/2005/8/layout/pyramid2"/>
    <dgm:cxn modelId="{4B7DFE7B-FEE8-41D8-ADA2-B7D3C55EE716}" type="presParOf" srcId="{67A66B3D-BAEA-4734-81A4-3FA61A2837F6}" destId="{2533FDDA-1140-4423-8215-A249C25D2753}" srcOrd="3" destOrd="0" presId="urn:microsoft.com/office/officeart/2005/8/layout/pyramid2"/>
    <dgm:cxn modelId="{5CA14DAA-7480-46BA-92F7-BCE363E8F8C0}" type="presParOf" srcId="{67A66B3D-BAEA-4734-81A4-3FA61A2837F6}" destId="{B5BCA4F7-7F6F-43C2-84D5-1C28E4BBCA24}" srcOrd="4" destOrd="0" presId="urn:microsoft.com/office/officeart/2005/8/layout/pyramid2"/>
    <dgm:cxn modelId="{27DA79F0-2BB0-47DF-9B4F-F0D382BA6389}" type="presParOf" srcId="{67A66B3D-BAEA-4734-81A4-3FA61A2837F6}" destId="{53133F68-D5DF-411C-9C30-07A43607D1F3}" srcOrd="5" destOrd="0" presId="urn:microsoft.com/office/officeart/2005/8/layout/pyramid2"/>
    <dgm:cxn modelId="{4F7F22DC-E7BD-4FEC-9BA2-62932197447B}" type="presParOf" srcId="{67A66B3D-BAEA-4734-81A4-3FA61A2837F6}" destId="{54EC23F3-F115-4CD3-9500-0768D2AE6E17}" srcOrd="6" destOrd="0" presId="urn:microsoft.com/office/officeart/2005/8/layout/pyramid2"/>
    <dgm:cxn modelId="{98C07E9B-82C9-4BD7-A0AE-C8CDB00B6325}" type="presParOf" srcId="{67A66B3D-BAEA-4734-81A4-3FA61A2837F6}" destId="{6655755C-E94F-4B60-8554-ED3FF4C2751D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885064-3782-4453-948C-7ADBB6C7339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325C7D5C-3238-4A43-AB56-DF69266F663D}">
      <dgm:prSet phldrT="[Text]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Knowledge-Based Agents</a:t>
          </a:r>
        </a:p>
      </dgm:t>
    </dgm:pt>
    <dgm:pt modelId="{BAEBABFA-0C3C-4D5D-8525-19F15555B1ED}" type="parTrans" cxnId="{0039BDE5-DAA3-4602-9E40-631E0243D4EC}">
      <dgm:prSet/>
      <dgm:spPr/>
      <dgm:t>
        <a:bodyPr/>
        <a:lstStyle/>
        <a:p>
          <a:endParaRPr lang="en-US"/>
        </a:p>
      </dgm:t>
    </dgm:pt>
    <dgm:pt modelId="{878DC8CD-0BEE-4D04-9650-2609471D61F2}" type="sibTrans" cxnId="{0039BDE5-DAA3-4602-9E40-631E0243D4EC}">
      <dgm:prSet/>
      <dgm:spPr/>
      <dgm:t>
        <a:bodyPr/>
        <a:lstStyle/>
        <a:p>
          <a:endParaRPr lang="en-US"/>
        </a:p>
      </dgm:t>
    </dgm:pt>
    <dgm:pt modelId="{9E214E60-5A9E-4034-A939-32CBE9FE7F67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Logical Agents</a:t>
          </a:r>
        </a:p>
      </dgm:t>
    </dgm:pt>
    <dgm:pt modelId="{02A4BFC8-457D-4E0D-A31E-A34A60D9FEF3}" type="parTrans" cxnId="{C38FC5BF-F703-45FA-B631-F4DD2FDA6A77}">
      <dgm:prSet/>
      <dgm:spPr/>
      <dgm:t>
        <a:bodyPr/>
        <a:lstStyle/>
        <a:p>
          <a:endParaRPr lang="en-US"/>
        </a:p>
      </dgm:t>
    </dgm:pt>
    <dgm:pt modelId="{8CFFFCCF-C700-404F-9404-68AA9A48401F}" type="sibTrans" cxnId="{C38FC5BF-F703-45FA-B631-F4DD2FDA6A77}">
      <dgm:prSet/>
      <dgm:spPr/>
      <dgm:t>
        <a:bodyPr/>
        <a:lstStyle/>
        <a:p>
          <a:endParaRPr lang="en-US"/>
        </a:p>
      </dgm:t>
    </dgm:pt>
    <dgm:pt modelId="{950397D1-4181-45F4-852F-38712A3C6D62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Large Language Models</a:t>
          </a:r>
        </a:p>
      </dgm:t>
    </dgm:pt>
    <dgm:pt modelId="{6D49EEFC-CB4A-4F0B-83A2-2D262767DB23}" type="parTrans" cxnId="{274C0891-7EA8-42BB-BB59-17545E0C0B09}">
      <dgm:prSet/>
      <dgm:spPr/>
      <dgm:t>
        <a:bodyPr/>
        <a:lstStyle/>
        <a:p>
          <a:endParaRPr lang="en-US"/>
        </a:p>
      </dgm:t>
    </dgm:pt>
    <dgm:pt modelId="{997CBA52-261E-406D-B8BE-61EE54512554}" type="sibTrans" cxnId="{274C0891-7EA8-42BB-BB59-17545E0C0B09}">
      <dgm:prSet/>
      <dgm:spPr/>
      <dgm:t>
        <a:bodyPr/>
        <a:lstStyle/>
        <a:p>
          <a:endParaRPr lang="en-US"/>
        </a:p>
      </dgm:t>
    </dgm:pt>
    <dgm:pt modelId="{FF028075-DDB0-4496-85C7-DAC6FF065094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Probabilistic Reasoning Agents</a:t>
          </a:r>
        </a:p>
      </dgm:t>
    </dgm:pt>
    <dgm:pt modelId="{2B2A136F-9240-4940-ADDF-6EB9A2C0266B}" type="parTrans" cxnId="{CFFCAF8C-C111-45B6-8171-987A486B8708}">
      <dgm:prSet/>
      <dgm:spPr/>
      <dgm:t>
        <a:bodyPr/>
        <a:lstStyle/>
        <a:p>
          <a:endParaRPr lang="en-US"/>
        </a:p>
      </dgm:t>
    </dgm:pt>
    <dgm:pt modelId="{DCAE8440-0DD2-4172-830D-D800F6858EC2}" type="sibTrans" cxnId="{CFFCAF8C-C111-45B6-8171-987A486B8708}">
      <dgm:prSet/>
      <dgm:spPr/>
      <dgm:t>
        <a:bodyPr/>
        <a:lstStyle/>
        <a:p>
          <a:endParaRPr lang="en-US"/>
        </a:p>
      </dgm:t>
    </dgm:pt>
    <dgm:pt modelId="{9A1E0479-F7EC-45AF-97BB-D6C00E9D89F0}" type="pres">
      <dgm:prSet presAssocID="{8B885064-3782-4453-948C-7ADBB6C73392}" presName="CompostProcess" presStyleCnt="0">
        <dgm:presLayoutVars>
          <dgm:dir/>
          <dgm:resizeHandles val="exact"/>
        </dgm:presLayoutVars>
      </dgm:prSet>
      <dgm:spPr/>
    </dgm:pt>
    <dgm:pt modelId="{347E1BBF-4D20-4EFA-8FBA-2CB51FC12354}" type="pres">
      <dgm:prSet presAssocID="{8B885064-3782-4453-948C-7ADBB6C73392}" presName="arrow" presStyleLbl="bgShp" presStyleIdx="0" presStyleCnt="1"/>
      <dgm:spPr/>
    </dgm:pt>
    <dgm:pt modelId="{0A5A5E69-5A3B-42B5-9E06-9553909709B0}" type="pres">
      <dgm:prSet presAssocID="{8B885064-3782-4453-948C-7ADBB6C73392}" presName="linearProcess" presStyleCnt="0"/>
      <dgm:spPr/>
    </dgm:pt>
    <dgm:pt modelId="{87A44C12-88B0-4110-A615-593B33661A2F}" type="pres">
      <dgm:prSet presAssocID="{325C7D5C-3238-4A43-AB56-DF69266F663D}" presName="textNode" presStyleLbl="node1" presStyleIdx="0" presStyleCnt="4">
        <dgm:presLayoutVars>
          <dgm:bulletEnabled val="1"/>
        </dgm:presLayoutVars>
      </dgm:prSet>
      <dgm:spPr/>
    </dgm:pt>
    <dgm:pt modelId="{82B1F723-A366-4F1D-82EA-B034E06F303E}" type="pres">
      <dgm:prSet presAssocID="{878DC8CD-0BEE-4D04-9650-2609471D61F2}" presName="sibTrans" presStyleCnt="0"/>
      <dgm:spPr/>
    </dgm:pt>
    <dgm:pt modelId="{C6028030-79D6-4C56-83A0-FFCC4FFD9531}" type="pres">
      <dgm:prSet presAssocID="{9E214E60-5A9E-4034-A939-32CBE9FE7F67}" presName="textNode" presStyleLbl="node1" presStyleIdx="1" presStyleCnt="4">
        <dgm:presLayoutVars>
          <dgm:bulletEnabled val="1"/>
        </dgm:presLayoutVars>
      </dgm:prSet>
      <dgm:spPr/>
    </dgm:pt>
    <dgm:pt modelId="{97BBD157-D73B-4644-8F4E-2042BE60E512}" type="pres">
      <dgm:prSet presAssocID="{8CFFFCCF-C700-404F-9404-68AA9A48401F}" presName="sibTrans" presStyleCnt="0"/>
      <dgm:spPr/>
    </dgm:pt>
    <dgm:pt modelId="{DDCFE056-7DBC-41D4-9B2A-043DC107776E}" type="pres">
      <dgm:prSet presAssocID="{FF028075-DDB0-4496-85C7-DAC6FF065094}" presName="textNode" presStyleLbl="node1" presStyleIdx="2" presStyleCnt="4">
        <dgm:presLayoutVars>
          <dgm:bulletEnabled val="1"/>
        </dgm:presLayoutVars>
      </dgm:prSet>
      <dgm:spPr/>
    </dgm:pt>
    <dgm:pt modelId="{97310F02-A7E6-425E-B0ED-B45C35AAC04B}" type="pres">
      <dgm:prSet presAssocID="{DCAE8440-0DD2-4172-830D-D800F6858EC2}" presName="sibTrans" presStyleCnt="0"/>
      <dgm:spPr/>
    </dgm:pt>
    <dgm:pt modelId="{2E3B89D9-371F-4849-B1A1-13AE09760E56}" type="pres">
      <dgm:prSet presAssocID="{950397D1-4181-45F4-852F-38712A3C6D62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1D83C53-F80D-477D-A49F-155965EAD2F3}" type="presOf" srcId="{8B885064-3782-4453-948C-7ADBB6C73392}" destId="{9A1E0479-F7EC-45AF-97BB-D6C00E9D89F0}" srcOrd="0" destOrd="0" presId="urn:microsoft.com/office/officeart/2005/8/layout/hProcess9"/>
    <dgm:cxn modelId="{E12BB078-C2A5-4D01-BB87-A135C1298326}" type="presOf" srcId="{FF028075-DDB0-4496-85C7-DAC6FF065094}" destId="{DDCFE056-7DBC-41D4-9B2A-043DC107776E}" srcOrd="0" destOrd="0" presId="urn:microsoft.com/office/officeart/2005/8/layout/hProcess9"/>
    <dgm:cxn modelId="{CFFCAF8C-C111-45B6-8171-987A486B8708}" srcId="{8B885064-3782-4453-948C-7ADBB6C73392}" destId="{FF028075-DDB0-4496-85C7-DAC6FF065094}" srcOrd="2" destOrd="0" parTransId="{2B2A136F-9240-4940-ADDF-6EB9A2C0266B}" sibTransId="{DCAE8440-0DD2-4172-830D-D800F6858EC2}"/>
    <dgm:cxn modelId="{274C0891-7EA8-42BB-BB59-17545E0C0B09}" srcId="{8B885064-3782-4453-948C-7ADBB6C73392}" destId="{950397D1-4181-45F4-852F-38712A3C6D62}" srcOrd="3" destOrd="0" parTransId="{6D49EEFC-CB4A-4F0B-83A2-2D262767DB23}" sibTransId="{997CBA52-261E-406D-B8BE-61EE54512554}"/>
    <dgm:cxn modelId="{88160CA0-B31E-497C-AE1A-3B8710F63CD4}" type="presOf" srcId="{950397D1-4181-45F4-852F-38712A3C6D62}" destId="{2E3B89D9-371F-4849-B1A1-13AE09760E56}" srcOrd="0" destOrd="0" presId="urn:microsoft.com/office/officeart/2005/8/layout/hProcess9"/>
    <dgm:cxn modelId="{06305EB4-0DAF-4124-81C9-D3C9760935E4}" type="presOf" srcId="{325C7D5C-3238-4A43-AB56-DF69266F663D}" destId="{87A44C12-88B0-4110-A615-593B33661A2F}" srcOrd="0" destOrd="0" presId="urn:microsoft.com/office/officeart/2005/8/layout/hProcess9"/>
    <dgm:cxn modelId="{C38FC5BF-F703-45FA-B631-F4DD2FDA6A77}" srcId="{8B885064-3782-4453-948C-7ADBB6C73392}" destId="{9E214E60-5A9E-4034-A939-32CBE9FE7F67}" srcOrd="1" destOrd="0" parTransId="{02A4BFC8-457D-4E0D-A31E-A34A60D9FEF3}" sibTransId="{8CFFFCCF-C700-404F-9404-68AA9A48401F}"/>
    <dgm:cxn modelId="{0039BDE5-DAA3-4602-9E40-631E0243D4EC}" srcId="{8B885064-3782-4453-948C-7ADBB6C73392}" destId="{325C7D5C-3238-4A43-AB56-DF69266F663D}" srcOrd="0" destOrd="0" parTransId="{BAEBABFA-0C3C-4D5D-8525-19F15555B1ED}" sibTransId="{878DC8CD-0BEE-4D04-9650-2609471D61F2}"/>
    <dgm:cxn modelId="{793B99EA-7A85-4A9B-9743-07B3D97B3F00}" type="presOf" srcId="{9E214E60-5A9E-4034-A939-32CBE9FE7F67}" destId="{C6028030-79D6-4C56-83A0-FFCC4FFD9531}" srcOrd="0" destOrd="0" presId="urn:microsoft.com/office/officeart/2005/8/layout/hProcess9"/>
    <dgm:cxn modelId="{AAE56218-FF42-4F5D-8BD1-D9531EBEBB8B}" type="presParOf" srcId="{9A1E0479-F7EC-45AF-97BB-D6C00E9D89F0}" destId="{347E1BBF-4D20-4EFA-8FBA-2CB51FC12354}" srcOrd="0" destOrd="0" presId="urn:microsoft.com/office/officeart/2005/8/layout/hProcess9"/>
    <dgm:cxn modelId="{7C936FB3-60E3-4241-96A1-447D6652052F}" type="presParOf" srcId="{9A1E0479-F7EC-45AF-97BB-D6C00E9D89F0}" destId="{0A5A5E69-5A3B-42B5-9E06-9553909709B0}" srcOrd="1" destOrd="0" presId="urn:microsoft.com/office/officeart/2005/8/layout/hProcess9"/>
    <dgm:cxn modelId="{A110DB56-92FE-4A1E-BD80-402D6CDDC34E}" type="presParOf" srcId="{0A5A5E69-5A3B-42B5-9E06-9553909709B0}" destId="{87A44C12-88B0-4110-A615-593B33661A2F}" srcOrd="0" destOrd="0" presId="urn:microsoft.com/office/officeart/2005/8/layout/hProcess9"/>
    <dgm:cxn modelId="{2CD00821-027D-4461-91B0-F2C13B366F1B}" type="presParOf" srcId="{0A5A5E69-5A3B-42B5-9E06-9553909709B0}" destId="{82B1F723-A366-4F1D-82EA-B034E06F303E}" srcOrd="1" destOrd="0" presId="urn:microsoft.com/office/officeart/2005/8/layout/hProcess9"/>
    <dgm:cxn modelId="{7447FA25-E4C3-4244-97C3-376A75C9902F}" type="presParOf" srcId="{0A5A5E69-5A3B-42B5-9E06-9553909709B0}" destId="{C6028030-79D6-4C56-83A0-FFCC4FFD9531}" srcOrd="2" destOrd="0" presId="urn:microsoft.com/office/officeart/2005/8/layout/hProcess9"/>
    <dgm:cxn modelId="{5B8FFB21-34AB-4513-A882-1E0CFB8E2006}" type="presParOf" srcId="{0A5A5E69-5A3B-42B5-9E06-9553909709B0}" destId="{97BBD157-D73B-4644-8F4E-2042BE60E512}" srcOrd="3" destOrd="0" presId="urn:microsoft.com/office/officeart/2005/8/layout/hProcess9"/>
    <dgm:cxn modelId="{410C8326-F9DB-43AD-9140-DA5F4719C730}" type="presParOf" srcId="{0A5A5E69-5A3B-42B5-9E06-9553909709B0}" destId="{DDCFE056-7DBC-41D4-9B2A-043DC107776E}" srcOrd="4" destOrd="0" presId="urn:microsoft.com/office/officeart/2005/8/layout/hProcess9"/>
    <dgm:cxn modelId="{7401366B-9BB7-4025-9249-A6EE901296AB}" type="presParOf" srcId="{0A5A5E69-5A3B-42B5-9E06-9553909709B0}" destId="{97310F02-A7E6-425E-B0ED-B45C35AAC04B}" srcOrd="5" destOrd="0" presId="urn:microsoft.com/office/officeart/2005/8/layout/hProcess9"/>
    <dgm:cxn modelId="{DD7AA19A-902B-4003-995A-5602688B3D9C}" type="presParOf" srcId="{0A5A5E69-5A3B-42B5-9E06-9553909709B0}" destId="{2E3B89D9-371F-4849-B1A1-13AE09760E56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885064-3782-4453-948C-7ADBB6C7339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325C7D5C-3238-4A43-AB56-DF69266F663D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Knowledge-Based Agents</a:t>
          </a:r>
        </a:p>
      </dgm:t>
    </dgm:pt>
    <dgm:pt modelId="{BAEBABFA-0C3C-4D5D-8525-19F15555B1ED}" type="parTrans" cxnId="{0039BDE5-DAA3-4602-9E40-631E0243D4EC}">
      <dgm:prSet/>
      <dgm:spPr/>
      <dgm:t>
        <a:bodyPr/>
        <a:lstStyle/>
        <a:p>
          <a:endParaRPr lang="en-US"/>
        </a:p>
      </dgm:t>
    </dgm:pt>
    <dgm:pt modelId="{878DC8CD-0BEE-4D04-9650-2609471D61F2}" type="sibTrans" cxnId="{0039BDE5-DAA3-4602-9E40-631E0243D4EC}">
      <dgm:prSet/>
      <dgm:spPr/>
      <dgm:t>
        <a:bodyPr/>
        <a:lstStyle/>
        <a:p>
          <a:endParaRPr lang="en-US"/>
        </a:p>
      </dgm:t>
    </dgm:pt>
    <dgm:pt modelId="{9E214E60-5A9E-4034-A939-32CBE9FE7F67}">
      <dgm:prSet phldrT="[Text]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Logical Agents</a:t>
          </a:r>
        </a:p>
      </dgm:t>
    </dgm:pt>
    <dgm:pt modelId="{02A4BFC8-457D-4E0D-A31E-A34A60D9FEF3}" type="parTrans" cxnId="{C38FC5BF-F703-45FA-B631-F4DD2FDA6A77}">
      <dgm:prSet/>
      <dgm:spPr/>
      <dgm:t>
        <a:bodyPr/>
        <a:lstStyle/>
        <a:p>
          <a:endParaRPr lang="en-US"/>
        </a:p>
      </dgm:t>
    </dgm:pt>
    <dgm:pt modelId="{8CFFFCCF-C700-404F-9404-68AA9A48401F}" type="sibTrans" cxnId="{C38FC5BF-F703-45FA-B631-F4DD2FDA6A77}">
      <dgm:prSet/>
      <dgm:spPr/>
      <dgm:t>
        <a:bodyPr/>
        <a:lstStyle/>
        <a:p>
          <a:endParaRPr lang="en-US"/>
        </a:p>
      </dgm:t>
    </dgm:pt>
    <dgm:pt modelId="{950397D1-4181-45F4-852F-38712A3C6D62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Large Language Models</a:t>
          </a:r>
        </a:p>
      </dgm:t>
    </dgm:pt>
    <dgm:pt modelId="{6D49EEFC-CB4A-4F0B-83A2-2D262767DB23}" type="parTrans" cxnId="{274C0891-7EA8-42BB-BB59-17545E0C0B09}">
      <dgm:prSet/>
      <dgm:spPr/>
      <dgm:t>
        <a:bodyPr/>
        <a:lstStyle/>
        <a:p>
          <a:endParaRPr lang="en-US"/>
        </a:p>
      </dgm:t>
    </dgm:pt>
    <dgm:pt modelId="{997CBA52-261E-406D-B8BE-61EE54512554}" type="sibTrans" cxnId="{274C0891-7EA8-42BB-BB59-17545E0C0B09}">
      <dgm:prSet/>
      <dgm:spPr/>
      <dgm:t>
        <a:bodyPr/>
        <a:lstStyle/>
        <a:p>
          <a:endParaRPr lang="en-US"/>
        </a:p>
      </dgm:t>
    </dgm:pt>
    <dgm:pt modelId="{FF028075-DDB0-4496-85C7-DAC6FF065094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Probabilistic Reasoning Agents</a:t>
          </a:r>
          <a:endParaRPr lang="en-US" dirty="0"/>
        </a:p>
      </dgm:t>
    </dgm:pt>
    <dgm:pt modelId="{2B2A136F-9240-4940-ADDF-6EB9A2C0266B}" type="parTrans" cxnId="{CFFCAF8C-C111-45B6-8171-987A486B8708}">
      <dgm:prSet/>
      <dgm:spPr/>
      <dgm:t>
        <a:bodyPr/>
        <a:lstStyle/>
        <a:p>
          <a:endParaRPr lang="en-US"/>
        </a:p>
      </dgm:t>
    </dgm:pt>
    <dgm:pt modelId="{DCAE8440-0DD2-4172-830D-D800F6858EC2}" type="sibTrans" cxnId="{CFFCAF8C-C111-45B6-8171-987A486B8708}">
      <dgm:prSet/>
      <dgm:spPr/>
      <dgm:t>
        <a:bodyPr/>
        <a:lstStyle/>
        <a:p>
          <a:endParaRPr lang="en-US"/>
        </a:p>
      </dgm:t>
    </dgm:pt>
    <dgm:pt modelId="{9A1E0479-F7EC-45AF-97BB-D6C00E9D89F0}" type="pres">
      <dgm:prSet presAssocID="{8B885064-3782-4453-948C-7ADBB6C73392}" presName="CompostProcess" presStyleCnt="0">
        <dgm:presLayoutVars>
          <dgm:dir/>
          <dgm:resizeHandles val="exact"/>
        </dgm:presLayoutVars>
      </dgm:prSet>
      <dgm:spPr/>
    </dgm:pt>
    <dgm:pt modelId="{347E1BBF-4D20-4EFA-8FBA-2CB51FC12354}" type="pres">
      <dgm:prSet presAssocID="{8B885064-3782-4453-948C-7ADBB6C73392}" presName="arrow" presStyleLbl="bgShp" presStyleIdx="0" presStyleCnt="1"/>
      <dgm:spPr/>
    </dgm:pt>
    <dgm:pt modelId="{0A5A5E69-5A3B-42B5-9E06-9553909709B0}" type="pres">
      <dgm:prSet presAssocID="{8B885064-3782-4453-948C-7ADBB6C73392}" presName="linearProcess" presStyleCnt="0"/>
      <dgm:spPr/>
    </dgm:pt>
    <dgm:pt modelId="{87A44C12-88B0-4110-A615-593B33661A2F}" type="pres">
      <dgm:prSet presAssocID="{325C7D5C-3238-4A43-AB56-DF69266F663D}" presName="textNode" presStyleLbl="node1" presStyleIdx="0" presStyleCnt="4">
        <dgm:presLayoutVars>
          <dgm:bulletEnabled val="1"/>
        </dgm:presLayoutVars>
      </dgm:prSet>
      <dgm:spPr/>
    </dgm:pt>
    <dgm:pt modelId="{82B1F723-A366-4F1D-82EA-B034E06F303E}" type="pres">
      <dgm:prSet presAssocID="{878DC8CD-0BEE-4D04-9650-2609471D61F2}" presName="sibTrans" presStyleCnt="0"/>
      <dgm:spPr/>
    </dgm:pt>
    <dgm:pt modelId="{C6028030-79D6-4C56-83A0-FFCC4FFD9531}" type="pres">
      <dgm:prSet presAssocID="{9E214E60-5A9E-4034-A939-32CBE9FE7F67}" presName="textNode" presStyleLbl="node1" presStyleIdx="1" presStyleCnt="4">
        <dgm:presLayoutVars>
          <dgm:bulletEnabled val="1"/>
        </dgm:presLayoutVars>
      </dgm:prSet>
      <dgm:spPr/>
    </dgm:pt>
    <dgm:pt modelId="{97BBD157-D73B-4644-8F4E-2042BE60E512}" type="pres">
      <dgm:prSet presAssocID="{8CFFFCCF-C700-404F-9404-68AA9A48401F}" presName="sibTrans" presStyleCnt="0"/>
      <dgm:spPr/>
    </dgm:pt>
    <dgm:pt modelId="{DDCFE056-7DBC-41D4-9B2A-043DC107776E}" type="pres">
      <dgm:prSet presAssocID="{FF028075-DDB0-4496-85C7-DAC6FF065094}" presName="textNode" presStyleLbl="node1" presStyleIdx="2" presStyleCnt="4">
        <dgm:presLayoutVars>
          <dgm:bulletEnabled val="1"/>
        </dgm:presLayoutVars>
      </dgm:prSet>
      <dgm:spPr/>
    </dgm:pt>
    <dgm:pt modelId="{97310F02-A7E6-425E-B0ED-B45C35AAC04B}" type="pres">
      <dgm:prSet presAssocID="{DCAE8440-0DD2-4172-830D-D800F6858EC2}" presName="sibTrans" presStyleCnt="0"/>
      <dgm:spPr/>
    </dgm:pt>
    <dgm:pt modelId="{2E3B89D9-371F-4849-B1A1-13AE09760E56}" type="pres">
      <dgm:prSet presAssocID="{950397D1-4181-45F4-852F-38712A3C6D62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1D83C53-F80D-477D-A49F-155965EAD2F3}" type="presOf" srcId="{8B885064-3782-4453-948C-7ADBB6C73392}" destId="{9A1E0479-F7EC-45AF-97BB-D6C00E9D89F0}" srcOrd="0" destOrd="0" presId="urn:microsoft.com/office/officeart/2005/8/layout/hProcess9"/>
    <dgm:cxn modelId="{E12BB078-C2A5-4D01-BB87-A135C1298326}" type="presOf" srcId="{FF028075-DDB0-4496-85C7-DAC6FF065094}" destId="{DDCFE056-7DBC-41D4-9B2A-043DC107776E}" srcOrd="0" destOrd="0" presId="urn:microsoft.com/office/officeart/2005/8/layout/hProcess9"/>
    <dgm:cxn modelId="{CFFCAF8C-C111-45B6-8171-987A486B8708}" srcId="{8B885064-3782-4453-948C-7ADBB6C73392}" destId="{FF028075-DDB0-4496-85C7-DAC6FF065094}" srcOrd="2" destOrd="0" parTransId="{2B2A136F-9240-4940-ADDF-6EB9A2C0266B}" sibTransId="{DCAE8440-0DD2-4172-830D-D800F6858EC2}"/>
    <dgm:cxn modelId="{274C0891-7EA8-42BB-BB59-17545E0C0B09}" srcId="{8B885064-3782-4453-948C-7ADBB6C73392}" destId="{950397D1-4181-45F4-852F-38712A3C6D62}" srcOrd="3" destOrd="0" parTransId="{6D49EEFC-CB4A-4F0B-83A2-2D262767DB23}" sibTransId="{997CBA52-261E-406D-B8BE-61EE54512554}"/>
    <dgm:cxn modelId="{88160CA0-B31E-497C-AE1A-3B8710F63CD4}" type="presOf" srcId="{950397D1-4181-45F4-852F-38712A3C6D62}" destId="{2E3B89D9-371F-4849-B1A1-13AE09760E56}" srcOrd="0" destOrd="0" presId="urn:microsoft.com/office/officeart/2005/8/layout/hProcess9"/>
    <dgm:cxn modelId="{06305EB4-0DAF-4124-81C9-D3C9760935E4}" type="presOf" srcId="{325C7D5C-3238-4A43-AB56-DF69266F663D}" destId="{87A44C12-88B0-4110-A615-593B33661A2F}" srcOrd="0" destOrd="0" presId="urn:microsoft.com/office/officeart/2005/8/layout/hProcess9"/>
    <dgm:cxn modelId="{C38FC5BF-F703-45FA-B631-F4DD2FDA6A77}" srcId="{8B885064-3782-4453-948C-7ADBB6C73392}" destId="{9E214E60-5A9E-4034-A939-32CBE9FE7F67}" srcOrd="1" destOrd="0" parTransId="{02A4BFC8-457D-4E0D-A31E-A34A60D9FEF3}" sibTransId="{8CFFFCCF-C700-404F-9404-68AA9A48401F}"/>
    <dgm:cxn modelId="{0039BDE5-DAA3-4602-9E40-631E0243D4EC}" srcId="{8B885064-3782-4453-948C-7ADBB6C73392}" destId="{325C7D5C-3238-4A43-AB56-DF69266F663D}" srcOrd="0" destOrd="0" parTransId="{BAEBABFA-0C3C-4D5D-8525-19F15555B1ED}" sibTransId="{878DC8CD-0BEE-4D04-9650-2609471D61F2}"/>
    <dgm:cxn modelId="{793B99EA-7A85-4A9B-9743-07B3D97B3F00}" type="presOf" srcId="{9E214E60-5A9E-4034-A939-32CBE9FE7F67}" destId="{C6028030-79D6-4C56-83A0-FFCC4FFD9531}" srcOrd="0" destOrd="0" presId="urn:microsoft.com/office/officeart/2005/8/layout/hProcess9"/>
    <dgm:cxn modelId="{AAE56218-FF42-4F5D-8BD1-D9531EBEBB8B}" type="presParOf" srcId="{9A1E0479-F7EC-45AF-97BB-D6C00E9D89F0}" destId="{347E1BBF-4D20-4EFA-8FBA-2CB51FC12354}" srcOrd="0" destOrd="0" presId="urn:microsoft.com/office/officeart/2005/8/layout/hProcess9"/>
    <dgm:cxn modelId="{7C936FB3-60E3-4241-96A1-447D6652052F}" type="presParOf" srcId="{9A1E0479-F7EC-45AF-97BB-D6C00E9D89F0}" destId="{0A5A5E69-5A3B-42B5-9E06-9553909709B0}" srcOrd="1" destOrd="0" presId="urn:microsoft.com/office/officeart/2005/8/layout/hProcess9"/>
    <dgm:cxn modelId="{A110DB56-92FE-4A1E-BD80-402D6CDDC34E}" type="presParOf" srcId="{0A5A5E69-5A3B-42B5-9E06-9553909709B0}" destId="{87A44C12-88B0-4110-A615-593B33661A2F}" srcOrd="0" destOrd="0" presId="urn:microsoft.com/office/officeart/2005/8/layout/hProcess9"/>
    <dgm:cxn modelId="{2CD00821-027D-4461-91B0-F2C13B366F1B}" type="presParOf" srcId="{0A5A5E69-5A3B-42B5-9E06-9553909709B0}" destId="{82B1F723-A366-4F1D-82EA-B034E06F303E}" srcOrd="1" destOrd="0" presId="urn:microsoft.com/office/officeart/2005/8/layout/hProcess9"/>
    <dgm:cxn modelId="{7447FA25-E4C3-4244-97C3-376A75C9902F}" type="presParOf" srcId="{0A5A5E69-5A3B-42B5-9E06-9553909709B0}" destId="{C6028030-79D6-4C56-83A0-FFCC4FFD9531}" srcOrd="2" destOrd="0" presId="urn:microsoft.com/office/officeart/2005/8/layout/hProcess9"/>
    <dgm:cxn modelId="{5B8FFB21-34AB-4513-A882-1E0CFB8E2006}" type="presParOf" srcId="{0A5A5E69-5A3B-42B5-9E06-9553909709B0}" destId="{97BBD157-D73B-4644-8F4E-2042BE60E512}" srcOrd="3" destOrd="0" presId="urn:microsoft.com/office/officeart/2005/8/layout/hProcess9"/>
    <dgm:cxn modelId="{410C8326-F9DB-43AD-9140-DA5F4719C730}" type="presParOf" srcId="{0A5A5E69-5A3B-42B5-9E06-9553909709B0}" destId="{DDCFE056-7DBC-41D4-9B2A-043DC107776E}" srcOrd="4" destOrd="0" presId="urn:microsoft.com/office/officeart/2005/8/layout/hProcess9"/>
    <dgm:cxn modelId="{7401366B-9BB7-4025-9249-A6EE901296AB}" type="presParOf" srcId="{0A5A5E69-5A3B-42B5-9E06-9553909709B0}" destId="{97310F02-A7E6-425E-B0ED-B45C35AAC04B}" srcOrd="5" destOrd="0" presId="urn:microsoft.com/office/officeart/2005/8/layout/hProcess9"/>
    <dgm:cxn modelId="{DD7AA19A-902B-4003-995A-5602688B3D9C}" type="presParOf" srcId="{0A5A5E69-5A3B-42B5-9E06-9553909709B0}" destId="{2E3B89D9-371F-4849-B1A1-13AE09760E56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885064-3782-4453-948C-7ADBB6C7339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325C7D5C-3238-4A43-AB56-DF69266F663D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Knowledge-Based Agents</a:t>
          </a:r>
        </a:p>
      </dgm:t>
    </dgm:pt>
    <dgm:pt modelId="{BAEBABFA-0C3C-4D5D-8525-19F15555B1ED}" type="parTrans" cxnId="{0039BDE5-DAA3-4602-9E40-631E0243D4EC}">
      <dgm:prSet/>
      <dgm:spPr/>
      <dgm:t>
        <a:bodyPr/>
        <a:lstStyle/>
        <a:p>
          <a:endParaRPr lang="en-US"/>
        </a:p>
      </dgm:t>
    </dgm:pt>
    <dgm:pt modelId="{878DC8CD-0BEE-4D04-9650-2609471D61F2}" type="sibTrans" cxnId="{0039BDE5-DAA3-4602-9E40-631E0243D4EC}">
      <dgm:prSet/>
      <dgm:spPr/>
      <dgm:t>
        <a:bodyPr/>
        <a:lstStyle/>
        <a:p>
          <a:endParaRPr lang="en-US"/>
        </a:p>
      </dgm:t>
    </dgm:pt>
    <dgm:pt modelId="{9E214E60-5A9E-4034-A939-32CBE9FE7F67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Logical Agents</a:t>
          </a:r>
        </a:p>
      </dgm:t>
    </dgm:pt>
    <dgm:pt modelId="{02A4BFC8-457D-4E0D-A31E-A34A60D9FEF3}" type="parTrans" cxnId="{C38FC5BF-F703-45FA-B631-F4DD2FDA6A77}">
      <dgm:prSet/>
      <dgm:spPr/>
      <dgm:t>
        <a:bodyPr/>
        <a:lstStyle/>
        <a:p>
          <a:endParaRPr lang="en-US"/>
        </a:p>
      </dgm:t>
    </dgm:pt>
    <dgm:pt modelId="{8CFFFCCF-C700-404F-9404-68AA9A48401F}" type="sibTrans" cxnId="{C38FC5BF-F703-45FA-B631-F4DD2FDA6A77}">
      <dgm:prSet/>
      <dgm:spPr/>
      <dgm:t>
        <a:bodyPr/>
        <a:lstStyle/>
        <a:p>
          <a:endParaRPr lang="en-US"/>
        </a:p>
      </dgm:t>
    </dgm:pt>
    <dgm:pt modelId="{950397D1-4181-45F4-852F-38712A3C6D62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Large Language Models</a:t>
          </a:r>
        </a:p>
      </dgm:t>
    </dgm:pt>
    <dgm:pt modelId="{6D49EEFC-CB4A-4F0B-83A2-2D262767DB23}" type="parTrans" cxnId="{274C0891-7EA8-42BB-BB59-17545E0C0B09}">
      <dgm:prSet/>
      <dgm:spPr/>
      <dgm:t>
        <a:bodyPr/>
        <a:lstStyle/>
        <a:p>
          <a:endParaRPr lang="en-US"/>
        </a:p>
      </dgm:t>
    </dgm:pt>
    <dgm:pt modelId="{997CBA52-261E-406D-B8BE-61EE54512554}" type="sibTrans" cxnId="{274C0891-7EA8-42BB-BB59-17545E0C0B09}">
      <dgm:prSet/>
      <dgm:spPr/>
      <dgm:t>
        <a:bodyPr/>
        <a:lstStyle/>
        <a:p>
          <a:endParaRPr lang="en-US"/>
        </a:p>
      </dgm:t>
    </dgm:pt>
    <dgm:pt modelId="{FF028075-DDB0-4496-85C7-DAC6FF065094}">
      <dgm:prSet phldrT="[Text]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Probabilistic Reasoning Agents</a:t>
          </a:r>
        </a:p>
      </dgm:t>
    </dgm:pt>
    <dgm:pt modelId="{2B2A136F-9240-4940-ADDF-6EB9A2C0266B}" type="parTrans" cxnId="{CFFCAF8C-C111-45B6-8171-987A486B8708}">
      <dgm:prSet/>
      <dgm:spPr/>
      <dgm:t>
        <a:bodyPr/>
        <a:lstStyle/>
        <a:p>
          <a:endParaRPr lang="en-US"/>
        </a:p>
      </dgm:t>
    </dgm:pt>
    <dgm:pt modelId="{DCAE8440-0DD2-4172-830D-D800F6858EC2}" type="sibTrans" cxnId="{CFFCAF8C-C111-45B6-8171-987A486B8708}">
      <dgm:prSet/>
      <dgm:spPr/>
      <dgm:t>
        <a:bodyPr/>
        <a:lstStyle/>
        <a:p>
          <a:endParaRPr lang="en-US"/>
        </a:p>
      </dgm:t>
    </dgm:pt>
    <dgm:pt modelId="{9A1E0479-F7EC-45AF-97BB-D6C00E9D89F0}" type="pres">
      <dgm:prSet presAssocID="{8B885064-3782-4453-948C-7ADBB6C73392}" presName="CompostProcess" presStyleCnt="0">
        <dgm:presLayoutVars>
          <dgm:dir/>
          <dgm:resizeHandles val="exact"/>
        </dgm:presLayoutVars>
      </dgm:prSet>
      <dgm:spPr/>
    </dgm:pt>
    <dgm:pt modelId="{347E1BBF-4D20-4EFA-8FBA-2CB51FC12354}" type="pres">
      <dgm:prSet presAssocID="{8B885064-3782-4453-948C-7ADBB6C73392}" presName="arrow" presStyleLbl="bgShp" presStyleIdx="0" presStyleCnt="1"/>
      <dgm:spPr/>
    </dgm:pt>
    <dgm:pt modelId="{0A5A5E69-5A3B-42B5-9E06-9553909709B0}" type="pres">
      <dgm:prSet presAssocID="{8B885064-3782-4453-948C-7ADBB6C73392}" presName="linearProcess" presStyleCnt="0"/>
      <dgm:spPr/>
    </dgm:pt>
    <dgm:pt modelId="{87A44C12-88B0-4110-A615-593B33661A2F}" type="pres">
      <dgm:prSet presAssocID="{325C7D5C-3238-4A43-AB56-DF69266F663D}" presName="textNode" presStyleLbl="node1" presStyleIdx="0" presStyleCnt="4">
        <dgm:presLayoutVars>
          <dgm:bulletEnabled val="1"/>
        </dgm:presLayoutVars>
      </dgm:prSet>
      <dgm:spPr/>
    </dgm:pt>
    <dgm:pt modelId="{82B1F723-A366-4F1D-82EA-B034E06F303E}" type="pres">
      <dgm:prSet presAssocID="{878DC8CD-0BEE-4D04-9650-2609471D61F2}" presName="sibTrans" presStyleCnt="0"/>
      <dgm:spPr/>
    </dgm:pt>
    <dgm:pt modelId="{C6028030-79D6-4C56-83A0-FFCC4FFD9531}" type="pres">
      <dgm:prSet presAssocID="{9E214E60-5A9E-4034-A939-32CBE9FE7F67}" presName="textNode" presStyleLbl="node1" presStyleIdx="1" presStyleCnt="4">
        <dgm:presLayoutVars>
          <dgm:bulletEnabled val="1"/>
        </dgm:presLayoutVars>
      </dgm:prSet>
      <dgm:spPr/>
    </dgm:pt>
    <dgm:pt modelId="{97BBD157-D73B-4644-8F4E-2042BE60E512}" type="pres">
      <dgm:prSet presAssocID="{8CFFFCCF-C700-404F-9404-68AA9A48401F}" presName="sibTrans" presStyleCnt="0"/>
      <dgm:spPr/>
    </dgm:pt>
    <dgm:pt modelId="{DDCFE056-7DBC-41D4-9B2A-043DC107776E}" type="pres">
      <dgm:prSet presAssocID="{FF028075-DDB0-4496-85C7-DAC6FF065094}" presName="textNode" presStyleLbl="node1" presStyleIdx="2" presStyleCnt="4">
        <dgm:presLayoutVars>
          <dgm:bulletEnabled val="1"/>
        </dgm:presLayoutVars>
      </dgm:prSet>
      <dgm:spPr/>
    </dgm:pt>
    <dgm:pt modelId="{97310F02-A7E6-425E-B0ED-B45C35AAC04B}" type="pres">
      <dgm:prSet presAssocID="{DCAE8440-0DD2-4172-830D-D800F6858EC2}" presName="sibTrans" presStyleCnt="0"/>
      <dgm:spPr/>
    </dgm:pt>
    <dgm:pt modelId="{2E3B89D9-371F-4849-B1A1-13AE09760E56}" type="pres">
      <dgm:prSet presAssocID="{950397D1-4181-45F4-852F-38712A3C6D62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1D83C53-F80D-477D-A49F-155965EAD2F3}" type="presOf" srcId="{8B885064-3782-4453-948C-7ADBB6C73392}" destId="{9A1E0479-F7EC-45AF-97BB-D6C00E9D89F0}" srcOrd="0" destOrd="0" presId="urn:microsoft.com/office/officeart/2005/8/layout/hProcess9"/>
    <dgm:cxn modelId="{E12BB078-C2A5-4D01-BB87-A135C1298326}" type="presOf" srcId="{FF028075-DDB0-4496-85C7-DAC6FF065094}" destId="{DDCFE056-7DBC-41D4-9B2A-043DC107776E}" srcOrd="0" destOrd="0" presId="urn:microsoft.com/office/officeart/2005/8/layout/hProcess9"/>
    <dgm:cxn modelId="{CFFCAF8C-C111-45B6-8171-987A486B8708}" srcId="{8B885064-3782-4453-948C-7ADBB6C73392}" destId="{FF028075-DDB0-4496-85C7-DAC6FF065094}" srcOrd="2" destOrd="0" parTransId="{2B2A136F-9240-4940-ADDF-6EB9A2C0266B}" sibTransId="{DCAE8440-0DD2-4172-830D-D800F6858EC2}"/>
    <dgm:cxn modelId="{274C0891-7EA8-42BB-BB59-17545E0C0B09}" srcId="{8B885064-3782-4453-948C-7ADBB6C73392}" destId="{950397D1-4181-45F4-852F-38712A3C6D62}" srcOrd="3" destOrd="0" parTransId="{6D49EEFC-CB4A-4F0B-83A2-2D262767DB23}" sibTransId="{997CBA52-261E-406D-B8BE-61EE54512554}"/>
    <dgm:cxn modelId="{88160CA0-B31E-497C-AE1A-3B8710F63CD4}" type="presOf" srcId="{950397D1-4181-45F4-852F-38712A3C6D62}" destId="{2E3B89D9-371F-4849-B1A1-13AE09760E56}" srcOrd="0" destOrd="0" presId="urn:microsoft.com/office/officeart/2005/8/layout/hProcess9"/>
    <dgm:cxn modelId="{06305EB4-0DAF-4124-81C9-D3C9760935E4}" type="presOf" srcId="{325C7D5C-3238-4A43-AB56-DF69266F663D}" destId="{87A44C12-88B0-4110-A615-593B33661A2F}" srcOrd="0" destOrd="0" presId="urn:microsoft.com/office/officeart/2005/8/layout/hProcess9"/>
    <dgm:cxn modelId="{C38FC5BF-F703-45FA-B631-F4DD2FDA6A77}" srcId="{8B885064-3782-4453-948C-7ADBB6C73392}" destId="{9E214E60-5A9E-4034-A939-32CBE9FE7F67}" srcOrd="1" destOrd="0" parTransId="{02A4BFC8-457D-4E0D-A31E-A34A60D9FEF3}" sibTransId="{8CFFFCCF-C700-404F-9404-68AA9A48401F}"/>
    <dgm:cxn modelId="{0039BDE5-DAA3-4602-9E40-631E0243D4EC}" srcId="{8B885064-3782-4453-948C-7ADBB6C73392}" destId="{325C7D5C-3238-4A43-AB56-DF69266F663D}" srcOrd="0" destOrd="0" parTransId="{BAEBABFA-0C3C-4D5D-8525-19F15555B1ED}" sibTransId="{878DC8CD-0BEE-4D04-9650-2609471D61F2}"/>
    <dgm:cxn modelId="{793B99EA-7A85-4A9B-9743-07B3D97B3F00}" type="presOf" srcId="{9E214E60-5A9E-4034-A939-32CBE9FE7F67}" destId="{C6028030-79D6-4C56-83A0-FFCC4FFD9531}" srcOrd="0" destOrd="0" presId="urn:microsoft.com/office/officeart/2005/8/layout/hProcess9"/>
    <dgm:cxn modelId="{AAE56218-FF42-4F5D-8BD1-D9531EBEBB8B}" type="presParOf" srcId="{9A1E0479-F7EC-45AF-97BB-D6C00E9D89F0}" destId="{347E1BBF-4D20-4EFA-8FBA-2CB51FC12354}" srcOrd="0" destOrd="0" presId="urn:microsoft.com/office/officeart/2005/8/layout/hProcess9"/>
    <dgm:cxn modelId="{7C936FB3-60E3-4241-96A1-447D6652052F}" type="presParOf" srcId="{9A1E0479-F7EC-45AF-97BB-D6C00E9D89F0}" destId="{0A5A5E69-5A3B-42B5-9E06-9553909709B0}" srcOrd="1" destOrd="0" presId="urn:microsoft.com/office/officeart/2005/8/layout/hProcess9"/>
    <dgm:cxn modelId="{A110DB56-92FE-4A1E-BD80-402D6CDDC34E}" type="presParOf" srcId="{0A5A5E69-5A3B-42B5-9E06-9553909709B0}" destId="{87A44C12-88B0-4110-A615-593B33661A2F}" srcOrd="0" destOrd="0" presId="urn:microsoft.com/office/officeart/2005/8/layout/hProcess9"/>
    <dgm:cxn modelId="{2CD00821-027D-4461-91B0-F2C13B366F1B}" type="presParOf" srcId="{0A5A5E69-5A3B-42B5-9E06-9553909709B0}" destId="{82B1F723-A366-4F1D-82EA-B034E06F303E}" srcOrd="1" destOrd="0" presId="urn:microsoft.com/office/officeart/2005/8/layout/hProcess9"/>
    <dgm:cxn modelId="{7447FA25-E4C3-4244-97C3-376A75C9902F}" type="presParOf" srcId="{0A5A5E69-5A3B-42B5-9E06-9553909709B0}" destId="{C6028030-79D6-4C56-83A0-FFCC4FFD9531}" srcOrd="2" destOrd="0" presId="urn:microsoft.com/office/officeart/2005/8/layout/hProcess9"/>
    <dgm:cxn modelId="{5B8FFB21-34AB-4513-A882-1E0CFB8E2006}" type="presParOf" srcId="{0A5A5E69-5A3B-42B5-9E06-9553909709B0}" destId="{97BBD157-D73B-4644-8F4E-2042BE60E512}" srcOrd="3" destOrd="0" presId="urn:microsoft.com/office/officeart/2005/8/layout/hProcess9"/>
    <dgm:cxn modelId="{410C8326-F9DB-43AD-9140-DA5F4719C730}" type="presParOf" srcId="{0A5A5E69-5A3B-42B5-9E06-9553909709B0}" destId="{DDCFE056-7DBC-41D4-9B2A-043DC107776E}" srcOrd="4" destOrd="0" presId="urn:microsoft.com/office/officeart/2005/8/layout/hProcess9"/>
    <dgm:cxn modelId="{7401366B-9BB7-4025-9249-A6EE901296AB}" type="presParOf" srcId="{0A5A5E69-5A3B-42B5-9E06-9553909709B0}" destId="{97310F02-A7E6-425E-B0ED-B45C35AAC04B}" srcOrd="5" destOrd="0" presId="urn:microsoft.com/office/officeart/2005/8/layout/hProcess9"/>
    <dgm:cxn modelId="{DD7AA19A-902B-4003-995A-5602688B3D9C}" type="presParOf" srcId="{0A5A5E69-5A3B-42B5-9E06-9553909709B0}" destId="{2E3B89D9-371F-4849-B1A1-13AE09760E56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885064-3782-4453-948C-7ADBB6C73392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325C7D5C-3238-4A43-AB56-DF69266F663D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Knowledge-Based Agents</a:t>
          </a:r>
        </a:p>
      </dgm:t>
    </dgm:pt>
    <dgm:pt modelId="{BAEBABFA-0C3C-4D5D-8525-19F15555B1ED}" type="parTrans" cxnId="{0039BDE5-DAA3-4602-9E40-631E0243D4EC}">
      <dgm:prSet/>
      <dgm:spPr/>
      <dgm:t>
        <a:bodyPr/>
        <a:lstStyle/>
        <a:p>
          <a:endParaRPr lang="en-US"/>
        </a:p>
      </dgm:t>
    </dgm:pt>
    <dgm:pt modelId="{878DC8CD-0BEE-4D04-9650-2609471D61F2}" type="sibTrans" cxnId="{0039BDE5-DAA3-4602-9E40-631E0243D4EC}">
      <dgm:prSet/>
      <dgm:spPr/>
      <dgm:t>
        <a:bodyPr/>
        <a:lstStyle/>
        <a:p>
          <a:endParaRPr lang="en-US"/>
        </a:p>
      </dgm:t>
    </dgm:pt>
    <dgm:pt modelId="{9E214E60-5A9E-4034-A939-32CBE9FE7F67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Logical Agents</a:t>
          </a:r>
        </a:p>
      </dgm:t>
    </dgm:pt>
    <dgm:pt modelId="{02A4BFC8-457D-4E0D-A31E-A34A60D9FEF3}" type="parTrans" cxnId="{C38FC5BF-F703-45FA-B631-F4DD2FDA6A77}">
      <dgm:prSet/>
      <dgm:spPr/>
      <dgm:t>
        <a:bodyPr/>
        <a:lstStyle/>
        <a:p>
          <a:endParaRPr lang="en-US"/>
        </a:p>
      </dgm:t>
    </dgm:pt>
    <dgm:pt modelId="{8CFFFCCF-C700-404F-9404-68AA9A48401F}" type="sibTrans" cxnId="{C38FC5BF-F703-45FA-B631-F4DD2FDA6A77}">
      <dgm:prSet/>
      <dgm:spPr/>
      <dgm:t>
        <a:bodyPr/>
        <a:lstStyle/>
        <a:p>
          <a:endParaRPr lang="en-US"/>
        </a:p>
      </dgm:t>
    </dgm:pt>
    <dgm:pt modelId="{950397D1-4181-45F4-852F-38712A3C6D62}">
      <dgm:prSet phldrT="[Text]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Large Language Models</a:t>
          </a:r>
        </a:p>
      </dgm:t>
    </dgm:pt>
    <dgm:pt modelId="{6D49EEFC-CB4A-4F0B-83A2-2D262767DB23}" type="parTrans" cxnId="{274C0891-7EA8-42BB-BB59-17545E0C0B09}">
      <dgm:prSet/>
      <dgm:spPr/>
      <dgm:t>
        <a:bodyPr/>
        <a:lstStyle/>
        <a:p>
          <a:endParaRPr lang="en-US"/>
        </a:p>
      </dgm:t>
    </dgm:pt>
    <dgm:pt modelId="{997CBA52-261E-406D-B8BE-61EE54512554}" type="sibTrans" cxnId="{274C0891-7EA8-42BB-BB59-17545E0C0B09}">
      <dgm:prSet/>
      <dgm:spPr/>
      <dgm:t>
        <a:bodyPr/>
        <a:lstStyle/>
        <a:p>
          <a:endParaRPr lang="en-US"/>
        </a:p>
      </dgm:t>
    </dgm:pt>
    <dgm:pt modelId="{FF028075-DDB0-4496-85C7-DAC6FF065094}">
      <dgm:prSet phldrT="[Text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Probabilistic Reasoning Agents</a:t>
          </a:r>
          <a:endParaRPr lang="en-US" dirty="0"/>
        </a:p>
      </dgm:t>
    </dgm:pt>
    <dgm:pt modelId="{2B2A136F-9240-4940-ADDF-6EB9A2C0266B}" type="parTrans" cxnId="{CFFCAF8C-C111-45B6-8171-987A486B8708}">
      <dgm:prSet/>
      <dgm:spPr/>
      <dgm:t>
        <a:bodyPr/>
        <a:lstStyle/>
        <a:p>
          <a:endParaRPr lang="en-US"/>
        </a:p>
      </dgm:t>
    </dgm:pt>
    <dgm:pt modelId="{DCAE8440-0DD2-4172-830D-D800F6858EC2}" type="sibTrans" cxnId="{CFFCAF8C-C111-45B6-8171-987A486B8708}">
      <dgm:prSet/>
      <dgm:spPr/>
      <dgm:t>
        <a:bodyPr/>
        <a:lstStyle/>
        <a:p>
          <a:endParaRPr lang="en-US"/>
        </a:p>
      </dgm:t>
    </dgm:pt>
    <dgm:pt modelId="{9A1E0479-F7EC-45AF-97BB-D6C00E9D89F0}" type="pres">
      <dgm:prSet presAssocID="{8B885064-3782-4453-948C-7ADBB6C73392}" presName="CompostProcess" presStyleCnt="0">
        <dgm:presLayoutVars>
          <dgm:dir/>
          <dgm:resizeHandles val="exact"/>
        </dgm:presLayoutVars>
      </dgm:prSet>
      <dgm:spPr/>
    </dgm:pt>
    <dgm:pt modelId="{347E1BBF-4D20-4EFA-8FBA-2CB51FC12354}" type="pres">
      <dgm:prSet presAssocID="{8B885064-3782-4453-948C-7ADBB6C73392}" presName="arrow" presStyleLbl="bgShp" presStyleIdx="0" presStyleCnt="1"/>
      <dgm:spPr/>
    </dgm:pt>
    <dgm:pt modelId="{0A5A5E69-5A3B-42B5-9E06-9553909709B0}" type="pres">
      <dgm:prSet presAssocID="{8B885064-3782-4453-948C-7ADBB6C73392}" presName="linearProcess" presStyleCnt="0"/>
      <dgm:spPr/>
    </dgm:pt>
    <dgm:pt modelId="{87A44C12-88B0-4110-A615-593B33661A2F}" type="pres">
      <dgm:prSet presAssocID="{325C7D5C-3238-4A43-AB56-DF69266F663D}" presName="textNode" presStyleLbl="node1" presStyleIdx="0" presStyleCnt="4">
        <dgm:presLayoutVars>
          <dgm:bulletEnabled val="1"/>
        </dgm:presLayoutVars>
      </dgm:prSet>
      <dgm:spPr/>
    </dgm:pt>
    <dgm:pt modelId="{82B1F723-A366-4F1D-82EA-B034E06F303E}" type="pres">
      <dgm:prSet presAssocID="{878DC8CD-0BEE-4D04-9650-2609471D61F2}" presName="sibTrans" presStyleCnt="0"/>
      <dgm:spPr/>
    </dgm:pt>
    <dgm:pt modelId="{C6028030-79D6-4C56-83A0-FFCC4FFD9531}" type="pres">
      <dgm:prSet presAssocID="{9E214E60-5A9E-4034-A939-32CBE9FE7F67}" presName="textNode" presStyleLbl="node1" presStyleIdx="1" presStyleCnt="4">
        <dgm:presLayoutVars>
          <dgm:bulletEnabled val="1"/>
        </dgm:presLayoutVars>
      </dgm:prSet>
      <dgm:spPr/>
    </dgm:pt>
    <dgm:pt modelId="{97BBD157-D73B-4644-8F4E-2042BE60E512}" type="pres">
      <dgm:prSet presAssocID="{8CFFFCCF-C700-404F-9404-68AA9A48401F}" presName="sibTrans" presStyleCnt="0"/>
      <dgm:spPr/>
    </dgm:pt>
    <dgm:pt modelId="{DDCFE056-7DBC-41D4-9B2A-043DC107776E}" type="pres">
      <dgm:prSet presAssocID="{FF028075-DDB0-4496-85C7-DAC6FF065094}" presName="textNode" presStyleLbl="node1" presStyleIdx="2" presStyleCnt="4">
        <dgm:presLayoutVars>
          <dgm:bulletEnabled val="1"/>
        </dgm:presLayoutVars>
      </dgm:prSet>
      <dgm:spPr/>
    </dgm:pt>
    <dgm:pt modelId="{97310F02-A7E6-425E-B0ED-B45C35AAC04B}" type="pres">
      <dgm:prSet presAssocID="{DCAE8440-0DD2-4172-830D-D800F6858EC2}" presName="sibTrans" presStyleCnt="0"/>
      <dgm:spPr/>
    </dgm:pt>
    <dgm:pt modelId="{2E3B89D9-371F-4849-B1A1-13AE09760E56}" type="pres">
      <dgm:prSet presAssocID="{950397D1-4181-45F4-852F-38712A3C6D62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F1D83C53-F80D-477D-A49F-155965EAD2F3}" type="presOf" srcId="{8B885064-3782-4453-948C-7ADBB6C73392}" destId="{9A1E0479-F7EC-45AF-97BB-D6C00E9D89F0}" srcOrd="0" destOrd="0" presId="urn:microsoft.com/office/officeart/2005/8/layout/hProcess9"/>
    <dgm:cxn modelId="{E12BB078-C2A5-4D01-BB87-A135C1298326}" type="presOf" srcId="{FF028075-DDB0-4496-85C7-DAC6FF065094}" destId="{DDCFE056-7DBC-41D4-9B2A-043DC107776E}" srcOrd="0" destOrd="0" presId="urn:microsoft.com/office/officeart/2005/8/layout/hProcess9"/>
    <dgm:cxn modelId="{CFFCAF8C-C111-45B6-8171-987A486B8708}" srcId="{8B885064-3782-4453-948C-7ADBB6C73392}" destId="{FF028075-DDB0-4496-85C7-DAC6FF065094}" srcOrd="2" destOrd="0" parTransId="{2B2A136F-9240-4940-ADDF-6EB9A2C0266B}" sibTransId="{DCAE8440-0DD2-4172-830D-D800F6858EC2}"/>
    <dgm:cxn modelId="{274C0891-7EA8-42BB-BB59-17545E0C0B09}" srcId="{8B885064-3782-4453-948C-7ADBB6C73392}" destId="{950397D1-4181-45F4-852F-38712A3C6D62}" srcOrd="3" destOrd="0" parTransId="{6D49EEFC-CB4A-4F0B-83A2-2D262767DB23}" sibTransId="{997CBA52-261E-406D-B8BE-61EE54512554}"/>
    <dgm:cxn modelId="{88160CA0-B31E-497C-AE1A-3B8710F63CD4}" type="presOf" srcId="{950397D1-4181-45F4-852F-38712A3C6D62}" destId="{2E3B89D9-371F-4849-B1A1-13AE09760E56}" srcOrd="0" destOrd="0" presId="urn:microsoft.com/office/officeart/2005/8/layout/hProcess9"/>
    <dgm:cxn modelId="{06305EB4-0DAF-4124-81C9-D3C9760935E4}" type="presOf" srcId="{325C7D5C-3238-4A43-AB56-DF69266F663D}" destId="{87A44C12-88B0-4110-A615-593B33661A2F}" srcOrd="0" destOrd="0" presId="urn:microsoft.com/office/officeart/2005/8/layout/hProcess9"/>
    <dgm:cxn modelId="{C38FC5BF-F703-45FA-B631-F4DD2FDA6A77}" srcId="{8B885064-3782-4453-948C-7ADBB6C73392}" destId="{9E214E60-5A9E-4034-A939-32CBE9FE7F67}" srcOrd="1" destOrd="0" parTransId="{02A4BFC8-457D-4E0D-A31E-A34A60D9FEF3}" sibTransId="{8CFFFCCF-C700-404F-9404-68AA9A48401F}"/>
    <dgm:cxn modelId="{0039BDE5-DAA3-4602-9E40-631E0243D4EC}" srcId="{8B885064-3782-4453-948C-7ADBB6C73392}" destId="{325C7D5C-3238-4A43-AB56-DF69266F663D}" srcOrd="0" destOrd="0" parTransId="{BAEBABFA-0C3C-4D5D-8525-19F15555B1ED}" sibTransId="{878DC8CD-0BEE-4D04-9650-2609471D61F2}"/>
    <dgm:cxn modelId="{793B99EA-7A85-4A9B-9743-07B3D97B3F00}" type="presOf" srcId="{9E214E60-5A9E-4034-A939-32CBE9FE7F67}" destId="{C6028030-79D6-4C56-83A0-FFCC4FFD9531}" srcOrd="0" destOrd="0" presId="urn:microsoft.com/office/officeart/2005/8/layout/hProcess9"/>
    <dgm:cxn modelId="{AAE56218-FF42-4F5D-8BD1-D9531EBEBB8B}" type="presParOf" srcId="{9A1E0479-F7EC-45AF-97BB-D6C00E9D89F0}" destId="{347E1BBF-4D20-4EFA-8FBA-2CB51FC12354}" srcOrd="0" destOrd="0" presId="urn:microsoft.com/office/officeart/2005/8/layout/hProcess9"/>
    <dgm:cxn modelId="{7C936FB3-60E3-4241-96A1-447D6652052F}" type="presParOf" srcId="{9A1E0479-F7EC-45AF-97BB-D6C00E9D89F0}" destId="{0A5A5E69-5A3B-42B5-9E06-9553909709B0}" srcOrd="1" destOrd="0" presId="urn:microsoft.com/office/officeart/2005/8/layout/hProcess9"/>
    <dgm:cxn modelId="{A110DB56-92FE-4A1E-BD80-402D6CDDC34E}" type="presParOf" srcId="{0A5A5E69-5A3B-42B5-9E06-9553909709B0}" destId="{87A44C12-88B0-4110-A615-593B33661A2F}" srcOrd="0" destOrd="0" presId="urn:microsoft.com/office/officeart/2005/8/layout/hProcess9"/>
    <dgm:cxn modelId="{2CD00821-027D-4461-91B0-F2C13B366F1B}" type="presParOf" srcId="{0A5A5E69-5A3B-42B5-9E06-9553909709B0}" destId="{82B1F723-A366-4F1D-82EA-B034E06F303E}" srcOrd="1" destOrd="0" presId="urn:microsoft.com/office/officeart/2005/8/layout/hProcess9"/>
    <dgm:cxn modelId="{7447FA25-E4C3-4244-97C3-376A75C9902F}" type="presParOf" srcId="{0A5A5E69-5A3B-42B5-9E06-9553909709B0}" destId="{C6028030-79D6-4C56-83A0-FFCC4FFD9531}" srcOrd="2" destOrd="0" presId="urn:microsoft.com/office/officeart/2005/8/layout/hProcess9"/>
    <dgm:cxn modelId="{5B8FFB21-34AB-4513-A882-1E0CFB8E2006}" type="presParOf" srcId="{0A5A5E69-5A3B-42B5-9E06-9553909709B0}" destId="{97BBD157-D73B-4644-8F4E-2042BE60E512}" srcOrd="3" destOrd="0" presId="urn:microsoft.com/office/officeart/2005/8/layout/hProcess9"/>
    <dgm:cxn modelId="{410C8326-F9DB-43AD-9140-DA5F4719C730}" type="presParOf" srcId="{0A5A5E69-5A3B-42B5-9E06-9553909709B0}" destId="{DDCFE056-7DBC-41D4-9B2A-043DC107776E}" srcOrd="4" destOrd="0" presId="urn:microsoft.com/office/officeart/2005/8/layout/hProcess9"/>
    <dgm:cxn modelId="{7401366B-9BB7-4025-9249-A6EE901296AB}" type="presParOf" srcId="{0A5A5E69-5A3B-42B5-9E06-9553909709B0}" destId="{97310F02-A7E6-425E-B0ED-B45C35AAC04B}" srcOrd="5" destOrd="0" presId="urn:microsoft.com/office/officeart/2005/8/layout/hProcess9"/>
    <dgm:cxn modelId="{DD7AA19A-902B-4003-995A-5602688B3D9C}" type="presParOf" srcId="{0A5A5E69-5A3B-42B5-9E06-9553909709B0}" destId="{2E3B89D9-371F-4849-B1A1-13AE09760E56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50BCDB-BBC0-4C27-BF93-04398148C9D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F0A003A-6DD9-4F05-BF2F-63CD47C516E9}">
      <dgm:prSet/>
      <dgm:spPr/>
      <dgm:t>
        <a:bodyPr/>
        <a:lstStyle/>
        <a:p>
          <a:r>
            <a:rPr lang="en-US" b="1" dirty="0"/>
            <a:t>Logic</a:t>
          </a:r>
          <a:r>
            <a:rPr lang="en-US" dirty="0"/>
            <a:t> is a formal system for representing and manipulating facts (i.e., knowledge) so that true conclusions may be drawn</a:t>
          </a:r>
        </a:p>
      </dgm:t>
    </dgm:pt>
    <dgm:pt modelId="{629730F7-4E1E-4D45-A038-59A58CBD3D6F}" type="parTrans" cxnId="{803C48FD-06C9-4A0B-8C43-6400BE39226F}">
      <dgm:prSet/>
      <dgm:spPr/>
      <dgm:t>
        <a:bodyPr/>
        <a:lstStyle/>
        <a:p>
          <a:endParaRPr lang="en-US"/>
        </a:p>
      </dgm:t>
    </dgm:pt>
    <dgm:pt modelId="{77C4F69D-30FE-4582-8506-29E443FFA6A1}" type="sibTrans" cxnId="{803C48FD-06C9-4A0B-8C43-6400BE39226F}">
      <dgm:prSet/>
      <dgm:spPr/>
      <dgm:t>
        <a:bodyPr/>
        <a:lstStyle/>
        <a:p>
          <a:endParaRPr lang="en-US"/>
        </a:p>
      </dgm:t>
    </dgm:pt>
    <dgm:pt modelId="{0128F8B8-0712-4E4F-80F5-FDEF1C72BDBB}">
      <dgm:prSet/>
      <dgm:spPr/>
      <dgm:t>
        <a:bodyPr/>
        <a:lstStyle/>
        <a:p>
          <a:r>
            <a:rPr lang="en-US" b="1"/>
            <a:t>Syntax:</a:t>
          </a:r>
          <a:r>
            <a:rPr lang="en-US"/>
            <a:t> rules for constructing valid sentences</a:t>
          </a:r>
        </a:p>
      </dgm:t>
    </dgm:pt>
    <dgm:pt modelId="{5092B5A9-ED46-4180-AB65-25DDC47CA63C}" type="parTrans" cxnId="{7972551F-83D5-4176-99F8-744CBA96EA1B}">
      <dgm:prSet/>
      <dgm:spPr/>
      <dgm:t>
        <a:bodyPr/>
        <a:lstStyle/>
        <a:p>
          <a:endParaRPr lang="en-US"/>
        </a:p>
      </dgm:t>
    </dgm:pt>
    <dgm:pt modelId="{E6BF6A87-2711-41AA-96F8-5790E195FDD0}" type="sibTrans" cxnId="{7972551F-83D5-4176-99F8-744CBA96EA1B}">
      <dgm:prSet/>
      <dgm:spPr/>
      <dgm:t>
        <a:bodyPr/>
        <a:lstStyle/>
        <a:p>
          <a:endParaRPr lang="en-US"/>
        </a:p>
      </dgm:t>
    </dgm:pt>
    <dgm:pt modelId="{ACC17579-CCC2-4167-B109-FD271B01F6D3}">
      <dgm:prSet/>
      <dgm:spPr/>
      <dgm:t>
        <a:bodyPr/>
        <a:lstStyle/>
        <a:p>
          <a:r>
            <a:rPr lang="en-US"/>
            <a:t>E.g., x + 2 </a:t>
          </a:r>
          <a:r>
            <a:rPr lang="en-US">
              <a:sym typeface="Symbol" panose="05050102010706020507" pitchFamily="18" charset="2"/>
            </a:rPr>
            <a:t></a:t>
          </a:r>
          <a:r>
            <a:rPr lang="en-US"/>
            <a:t> y is a valid arithmetic sentence, </a:t>
          </a:r>
          <a:r>
            <a:rPr lang="en-US">
              <a:sym typeface="Symbol" panose="05050102010706020507" pitchFamily="18" charset="2"/>
            </a:rPr>
            <a:t></a:t>
          </a:r>
          <a:r>
            <a:rPr lang="en-US"/>
            <a:t>x2y + is not</a:t>
          </a:r>
        </a:p>
      </dgm:t>
    </dgm:pt>
    <dgm:pt modelId="{BADA898E-4C5E-43D0-AD80-4669DF24884D}" type="parTrans" cxnId="{F1534B76-AED2-4523-8D9A-E15467426558}">
      <dgm:prSet/>
      <dgm:spPr/>
      <dgm:t>
        <a:bodyPr/>
        <a:lstStyle/>
        <a:p>
          <a:endParaRPr lang="en-US"/>
        </a:p>
      </dgm:t>
    </dgm:pt>
    <dgm:pt modelId="{C2946A33-088B-46AC-B860-8F7416326872}" type="sibTrans" cxnId="{F1534B76-AED2-4523-8D9A-E15467426558}">
      <dgm:prSet/>
      <dgm:spPr/>
      <dgm:t>
        <a:bodyPr/>
        <a:lstStyle/>
        <a:p>
          <a:endParaRPr lang="en-US"/>
        </a:p>
      </dgm:t>
    </dgm:pt>
    <dgm:pt modelId="{897FC9AA-169E-4730-A19A-2E032574A73A}">
      <dgm:prSet/>
      <dgm:spPr/>
      <dgm:t>
        <a:bodyPr/>
        <a:lstStyle/>
        <a:p>
          <a:r>
            <a:rPr lang="en-US" b="1"/>
            <a:t>Semantics:</a:t>
          </a:r>
          <a:r>
            <a:rPr lang="en-US"/>
            <a:t> “meaning” of sentences, or relationship between logical sentences and the real world</a:t>
          </a:r>
        </a:p>
      </dgm:t>
    </dgm:pt>
    <dgm:pt modelId="{D43BC6A5-D3C2-4688-B9B7-0A34D247A4BB}" type="parTrans" cxnId="{4E3629D5-F492-439A-8547-EB84E75B24BD}">
      <dgm:prSet/>
      <dgm:spPr/>
      <dgm:t>
        <a:bodyPr/>
        <a:lstStyle/>
        <a:p>
          <a:endParaRPr lang="en-US"/>
        </a:p>
      </dgm:t>
    </dgm:pt>
    <dgm:pt modelId="{A005ECF9-3EE1-4F22-8BDA-1F76D8506F24}" type="sibTrans" cxnId="{4E3629D5-F492-439A-8547-EB84E75B24BD}">
      <dgm:prSet/>
      <dgm:spPr/>
      <dgm:t>
        <a:bodyPr/>
        <a:lstStyle/>
        <a:p>
          <a:endParaRPr lang="en-US"/>
        </a:p>
      </dgm:t>
    </dgm:pt>
    <dgm:pt modelId="{4ADC3103-2640-4E4E-8092-D5410C83FF12}">
      <dgm:prSet/>
      <dgm:spPr/>
      <dgm:t>
        <a:bodyPr/>
        <a:lstStyle/>
        <a:p>
          <a:r>
            <a:rPr lang="en-US"/>
            <a:t>Specifically, semantics defines truth of sentences</a:t>
          </a:r>
        </a:p>
      </dgm:t>
    </dgm:pt>
    <dgm:pt modelId="{6C81134E-D9D7-4A90-AE4C-9B0C12DE68C0}" type="parTrans" cxnId="{73F4E6E5-A632-46B3-A942-D107D01CD092}">
      <dgm:prSet/>
      <dgm:spPr/>
      <dgm:t>
        <a:bodyPr/>
        <a:lstStyle/>
        <a:p>
          <a:endParaRPr lang="en-US"/>
        </a:p>
      </dgm:t>
    </dgm:pt>
    <dgm:pt modelId="{971B4059-0E8E-460B-B492-010A07C7531B}" type="sibTrans" cxnId="{73F4E6E5-A632-46B3-A942-D107D01CD092}">
      <dgm:prSet/>
      <dgm:spPr/>
      <dgm:t>
        <a:bodyPr/>
        <a:lstStyle/>
        <a:p>
          <a:endParaRPr lang="en-US"/>
        </a:p>
      </dgm:t>
    </dgm:pt>
    <dgm:pt modelId="{7898AFD2-353D-4849-AB93-E552441AB5E8}">
      <dgm:prSet/>
      <dgm:spPr/>
      <dgm:t>
        <a:bodyPr/>
        <a:lstStyle/>
        <a:p>
          <a:r>
            <a:rPr lang="en-US"/>
            <a:t>E.g., x + 2 </a:t>
          </a:r>
          <a:r>
            <a:rPr lang="en-US">
              <a:sym typeface="Symbol" panose="05050102010706020507" pitchFamily="18" charset="2"/>
            </a:rPr>
            <a:t></a:t>
          </a:r>
          <a:r>
            <a:rPr lang="en-US"/>
            <a:t> y is true in a world where x = 5 </a:t>
          </a:r>
          <a:br>
            <a:rPr lang="en-US"/>
          </a:br>
          <a:r>
            <a:rPr lang="en-US"/>
            <a:t>and y = 7</a:t>
          </a:r>
        </a:p>
      </dgm:t>
    </dgm:pt>
    <dgm:pt modelId="{DA481100-B0FA-4C8D-9C29-27D2C7C227FB}" type="parTrans" cxnId="{BF7C5DCF-1C2F-4C78-8636-B8155F77CBFD}">
      <dgm:prSet/>
      <dgm:spPr/>
      <dgm:t>
        <a:bodyPr/>
        <a:lstStyle/>
        <a:p>
          <a:endParaRPr lang="en-US"/>
        </a:p>
      </dgm:t>
    </dgm:pt>
    <dgm:pt modelId="{0D6D8697-09D2-4703-AF39-3F6DC7389D47}" type="sibTrans" cxnId="{BF7C5DCF-1C2F-4C78-8636-B8155F77CBFD}">
      <dgm:prSet/>
      <dgm:spPr/>
      <dgm:t>
        <a:bodyPr/>
        <a:lstStyle/>
        <a:p>
          <a:endParaRPr lang="en-US"/>
        </a:p>
      </dgm:t>
    </dgm:pt>
    <dgm:pt modelId="{E8F09E6A-6DD3-4026-AA27-BC129E925E49}" type="pres">
      <dgm:prSet presAssocID="{8D50BCDB-BBC0-4C27-BF93-04398148C9DB}" presName="root" presStyleCnt="0">
        <dgm:presLayoutVars>
          <dgm:dir/>
          <dgm:resizeHandles val="exact"/>
        </dgm:presLayoutVars>
      </dgm:prSet>
      <dgm:spPr/>
    </dgm:pt>
    <dgm:pt modelId="{0E9CEF21-0142-4EC9-95E3-C745C8638CBD}" type="pres">
      <dgm:prSet presAssocID="{5F0A003A-6DD9-4F05-BF2F-63CD47C516E9}" presName="compNode" presStyleCnt="0"/>
      <dgm:spPr/>
    </dgm:pt>
    <dgm:pt modelId="{75296850-7E8D-4BE9-B382-C6EDAAAB89E7}" type="pres">
      <dgm:prSet presAssocID="{5F0A003A-6DD9-4F05-BF2F-63CD47C516E9}" presName="bgRect" presStyleLbl="bgShp" presStyleIdx="0" presStyleCnt="3"/>
      <dgm:spPr/>
    </dgm:pt>
    <dgm:pt modelId="{BC773A63-25E8-4FE5-B7DC-CDA799647BF8}" type="pres">
      <dgm:prSet presAssocID="{5F0A003A-6DD9-4F05-BF2F-63CD47C516E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2996C4A-9F12-4323-9DC5-0EC353433C55}" type="pres">
      <dgm:prSet presAssocID="{5F0A003A-6DD9-4F05-BF2F-63CD47C516E9}" presName="spaceRect" presStyleCnt="0"/>
      <dgm:spPr/>
    </dgm:pt>
    <dgm:pt modelId="{C2A6A3E7-80A4-4FDA-B121-839A3CFFE3B3}" type="pres">
      <dgm:prSet presAssocID="{5F0A003A-6DD9-4F05-BF2F-63CD47C516E9}" presName="parTx" presStyleLbl="revTx" presStyleIdx="0" presStyleCnt="5">
        <dgm:presLayoutVars>
          <dgm:chMax val="0"/>
          <dgm:chPref val="0"/>
        </dgm:presLayoutVars>
      </dgm:prSet>
      <dgm:spPr/>
    </dgm:pt>
    <dgm:pt modelId="{62814BB3-6192-46C1-8BA4-DE7CBB216E09}" type="pres">
      <dgm:prSet presAssocID="{77C4F69D-30FE-4582-8506-29E443FFA6A1}" presName="sibTrans" presStyleCnt="0"/>
      <dgm:spPr/>
    </dgm:pt>
    <dgm:pt modelId="{1575F464-0411-4E62-8E69-E336861E7E25}" type="pres">
      <dgm:prSet presAssocID="{0128F8B8-0712-4E4F-80F5-FDEF1C72BDBB}" presName="compNode" presStyleCnt="0"/>
      <dgm:spPr/>
    </dgm:pt>
    <dgm:pt modelId="{2C3E9214-0017-46E8-BB6B-0361D379F9A4}" type="pres">
      <dgm:prSet presAssocID="{0128F8B8-0712-4E4F-80F5-FDEF1C72BDBB}" presName="bgRect" presStyleLbl="bgShp" presStyleIdx="1" presStyleCnt="3"/>
      <dgm:spPr/>
    </dgm:pt>
    <dgm:pt modelId="{762A0BE6-B372-47B5-B22D-F7ECAB32F0F0}" type="pres">
      <dgm:prSet presAssocID="{0128F8B8-0712-4E4F-80F5-FDEF1C72BDB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0CDD26F1-6EDA-4227-95D9-51711B8CF10F}" type="pres">
      <dgm:prSet presAssocID="{0128F8B8-0712-4E4F-80F5-FDEF1C72BDBB}" presName="spaceRect" presStyleCnt="0"/>
      <dgm:spPr/>
    </dgm:pt>
    <dgm:pt modelId="{CED0D2D6-69F0-4939-91B3-FB9B4E78F06F}" type="pres">
      <dgm:prSet presAssocID="{0128F8B8-0712-4E4F-80F5-FDEF1C72BDBB}" presName="parTx" presStyleLbl="revTx" presStyleIdx="1" presStyleCnt="5">
        <dgm:presLayoutVars>
          <dgm:chMax val="0"/>
          <dgm:chPref val="0"/>
        </dgm:presLayoutVars>
      </dgm:prSet>
      <dgm:spPr/>
    </dgm:pt>
    <dgm:pt modelId="{BFFC4D19-EF81-4E5E-A3AE-FDABAB6305DE}" type="pres">
      <dgm:prSet presAssocID="{0128F8B8-0712-4E4F-80F5-FDEF1C72BDBB}" presName="desTx" presStyleLbl="revTx" presStyleIdx="2" presStyleCnt="5">
        <dgm:presLayoutVars/>
      </dgm:prSet>
      <dgm:spPr/>
    </dgm:pt>
    <dgm:pt modelId="{6A6D88F7-F4E1-4EC1-852D-B97D67AE6CC2}" type="pres">
      <dgm:prSet presAssocID="{E6BF6A87-2711-41AA-96F8-5790E195FDD0}" presName="sibTrans" presStyleCnt="0"/>
      <dgm:spPr/>
    </dgm:pt>
    <dgm:pt modelId="{81189BAF-A6B1-4247-9977-81C6D8F46B6A}" type="pres">
      <dgm:prSet presAssocID="{897FC9AA-169E-4730-A19A-2E032574A73A}" presName="compNode" presStyleCnt="0"/>
      <dgm:spPr/>
    </dgm:pt>
    <dgm:pt modelId="{A9A8DD4C-B478-4FC6-AF08-B458D9A5C90B}" type="pres">
      <dgm:prSet presAssocID="{897FC9AA-169E-4730-A19A-2E032574A73A}" presName="bgRect" presStyleLbl="bgShp" presStyleIdx="2" presStyleCnt="3"/>
      <dgm:spPr/>
    </dgm:pt>
    <dgm:pt modelId="{026A74E9-D16C-4EBC-B9BE-4CD1B48EB808}" type="pres">
      <dgm:prSet presAssocID="{897FC9AA-169E-4730-A19A-2E032574A73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9D5A495-04A0-47AF-A824-33CD1D477F0A}" type="pres">
      <dgm:prSet presAssocID="{897FC9AA-169E-4730-A19A-2E032574A73A}" presName="spaceRect" presStyleCnt="0"/>
      <dgm:spPr/>
    </dgm:pt>
    <dgm:pt modelId="{F0DA0DF3-CBA3-4BAB-82F5-5901221B6DFA}" type="pres">
      <dgm:prSet presAssocID="{897FC9AA-169E-4730-A19A-2E032574A73A}" presName="parTx" presStyleLbl="revTx" presStyleIdx="3" presStyleCnt="5">
        <dgm:presLayoutVars>
          <dgm:chMax val="0"/>
          <dgm:chPref val="0"/>
        </dgm:presLayoutVars>
      </dgm:prSet>
      <dgm:spPr/>
    </dgm:pt>
    <dgm:pt modelId="{B6485A47-A547-471B-9A0F-31B3CBE82201}" type="pres">
      <dgm:prSet presAssocID="{897FC9AA-169E-4730-A19A-2E032574A73A}" presName="desTx" presStyleLbl="revTx" presStyleIdx="4" presStyleCnt="5">
        <dgm:presLayoutVars/>
      </dgm:prSet>
      <dgm:spPr/>
    </dgm:pt>
  </dgm:ptLst>
  <dgm:cxnLst>
    <dgm:cxn modelId="{7972551F-83D5-4176-99F8-744CBA96EA1B}" srcId="{8D50BCDB-BBC0-4C27-BF93-04398148C9DB}" destId="{0128F8B8-0712-4E4F-80F5-FDEF1C72BDBB}" srcOrd="1" destOrd="0" parTransId="{5092B5A9-ED46-4180-AB65-25DDC47CA63C}" sibTransId="{E6BF6A87-2711-41AA-96F8-5790E195FDD0}"/>
    <dgm:cxn modelId="{F1534B76-AED2-4523-8D9A-E15467426558}" srcId="{0128F8B8-0712-4E4F-80F5-FDEF1C72BDBB}" destId="{ACC17579-CCC2-4167-B109-FD271B01F6D3}" srcOrd="0" destOrd="0" parTransId="{BADA898E-4C5E-43D0-AD80-4669DF24884D}" sibTransId="{C2946A33-088B-46AC-B860-8F7416326872}"/>
    <dgm:cxn modelId="{0EA76283-A583-47E3-AF83-2804CB03089F}" type="presOf" srcId="{8D50BCDB-BBC0-4C27-BF93-04398148C9DB}" destId="{E8F09E6A-6DD3-4026-AA27-BC129E925E49}" srcOrd="0" destOrd="0" presId="urn:microsoft.com/office/officeart/2018/2/layout/IconVerticalSolidList"/>
    <dgm:cxn modelId="{A2C08B8E-65E7-4266-813B-A660D81C569D}" type="presOf" srcId="{4ADC3103-2640-4E4E-8092-D5410C83FF12}" destId="{B6485A47-A547-471B-9A0F-31B3CBE82201}" srcOrd="0" destOrd="0" presId="urn:microsoft.com/office/officeart/2018/2/layout/IconVerticalSolidList"/>
    <dgm:cxn modelId="{5E0B669A-9A02-4EE2-88C4-18EA515B9EE2}" type="presOf" srcId="{ACC17579-CCC2-4167-B109-FD271B01F6D3}" destId="{BFFC4D19-EF81-4E5E-A3AE-FDABAB6305DE}" srcOrd="0" destOrd="0" presId="urn:microsoft.com/office/officeart/2018/2/layout/IconVerticalSolidList"/>
    <dgm:cxn modelId="{5CC2DCA6-BA39-45D4-94FB-1B171F5357A2}" type="presOf" srcId="{0128F8B8-0712-4E4F-80F5-FDEF1C72BDBB}" destId="{CED0D2D6-69F0-4939-91B3-FB9B4E78F06F}" srcOrd="0" destOrd="0" presId="urn:microsoft.com/office/officeart/2018/2/layout/IconVerticalSolidList"/>
    <dgm:cxn modelId="{52C8BBAC-BFF8-4557-86F2-BB7E14194B3F}" type="presOf" srcId="{7898AFD2-353D-4849-AB93-E552441AB5E8}" destId="{B6485A47-A547-471B-9A0F-31B3CBE82201}" srcOrd="0" destOrd="1" presId="urn:microsoft.com/office/officeart/2018/2/layout/IconVerticalSolidList"/>
    <dgm:cxn modelId="{BF7C5DCF-1C2F-4C78-8636-B8155F77CBFD}" srcId="{897FC9AA-169E-4730-A19A-2E032574A73A}" destId="{7898AFD2-353D-4849-AB93-E552441AB5E8}" srcOrd="1" destOrd="0" parTransId="{DA481100-B0FA-4C8D-9C29-27D2C7C227FB}" sibTransId="{0D6D8697-09D2-4703-AF39-3F6DC7389D47}"/>
    <dgm:cxn modelId="{4E3629D5-F492-439A-8547-EB84E75B24BD}" srcId="{8D50BCDB-BBC0-4C27-BF93-04398148C9DB}" destId="{897FC9AA-169E-4730-A19A-2E032574A73A}" srcOrd="2" destOrd="0" parTransId="{D43BC6A5-D3C2-4688-B9B7-0A34D247A4BB}" sibTransId="{A005ECF9-3EE1-4F22-8BDA-1F76D8506F24}"/>
    <dgm:cxn modelId="{125585E5-2B91-4351-B335-02C4831ADA36}" type="presOf" srcId="{897FC9AA-169E-4730-A19A-2E032574A73A}" destId="{F0DA0DF3-CBA3-4BAB-82F5-5901221B6DFA}" srcOrd="0" destOrd="0" presId="urn:microsoft.com/office/officeart/2018/2/layout/IconVerticalSolidList"/>
    <dgm:cxn modelId="{73F4E6E5-A632-46B3-A942-D107D01CD092}" srcId="{897FC9AA-169E-4730-A19A-2E032574A73A}" destId="{4ADC3103-2640-4E4E-8092-D5410C83FF12}" srcOrd="0" destOrd="0" parTransId="{6C81134E-D9D7-4A90-AE4C-9B0C12DE68C0}" sibTransId="{971B4059-0E8E-460B-B492-010A07C7531B}"/>
    <dgm:cxn modelId="{CDAFAEF8-EFEF-423D-A388-6099C51D74E5}" type="presOf" srcId="{5F0A003A-6DD9-4F05-BF2F-63CD47C516E9}" destId="{C2A6A3E7-80A4-4FDA-B121-839A3CFFE3B3}" srcOrd="0" destOrd="0" presId="urn:microsoft.com/office/officeart/2018/2/layout/IconVerticalSolidList"/>
    <dgm:cxn modelId="{803C48FD-06C9-4A0B-8C43-6400BE39226F}" srcId="{8D50BCDB-BBC0-4C27-BF93-04398148C9DB}" destId="{5F0A003A-6DD9-4F05-BF2F-63CD47C516E9}" srcOrd="0" destOrd="0" parTransId="{629730F7-4E1E-4D45-A038-59A58CBD3D6F}" sibTransId="{77C4F69D-30FE-4582-8506-29E443FFA6A1}"/>
    <dgm:cxn modelId="{412A4ABE-E9BF-4027-994E-A550DAEF2D3A}" type="presParOf" srcId="{E8F09E6A-6DD3-4026-AA27-BC129E925E49}" destId="{0E9CEF21-0142-4EC9-95E3-C745C8638CBD}" srcOrd="0" destOrd="0" presId="urn:microsoft.com/office/officeart/2018/2/layout/IconVerticalSolidList"/>
    <dgm:cxn modelId="{B738E82F-F523-4D51-BEEA-644A79FE1AD1}" type="presParOf" srcId="{0E9CEF21-0142-4EC9-95E3-C745C8638CBD}" destId="{75296850-7E8D-4BE9-B382-C6EDAAAB89E7}" srcOrd="0" destOrd="0" presId="urn:microsoft.com/office/officeart/2018/2/layout/IconVerticalSolidList"/>
    <dgm:cxn modelId="{EFD09E94-B7A9-4C9D-9CC3-6E1E4674A76E}" type="presParOf" srcId="{0E9CEF21-0142-4EC9-95E3-C745C8638CBD}" destId="{BC773A63-25E8-4FE5-B7DC-CDA799647BF8}" srcOrd="1" destOrd="0" presId="urn:microsoft.com/office/officeart/2018/2/layout/IconVerticalSolidList"/>
    <dgm:cxn modelId="{6C10E299-3E3F-42D2-8568-51106D26DF96}" type="presParOf" srcId="{0E9CEF21-0142-4EC9-95E3-C745C8638CBD}" destId="{42996C4A-9F12-4323-9DC5-0EC353433C55}" srcOrd="2" destOrd="0" presId="urn:microsoft.com/office/officeart/2018/2/layout/IconVerticalSolidList"/>
    <dgm:cxn modelId="{58595DA0-8EC6-49D0-B124-2EBE198261F9}" type="presParOf" srcId="{0E9CEF21-0142-4EC9-95E3-C745C8638CBD}" destId="{C2A6A3E7-80A4-4FDA-B121-839A3CFFE3B3}" srcOrd="3" destOrd="0" presId="urn:microsoft.com/office/officeart/2018/2/layout/IconVerticalSolidList"/>
    <dgm:cxn modelId="{403B08C1-C1A4-49BB-B546-5601A9293BB6}" type="presParOf" srcId="{E8F09E6A-6DD3-4026-AA27-BC129E925E49}" destId="{62814BB3-6192-46C1-8BA4-DE7CBB216E09}" srcOrd="1" destOrd="0" presId="urn:microsoft.com/office/officeart/2018/2/layout/IconVerticalSolidList"/>
    <dgm:cxn modelId="{E7956277-12B4-4719-BB42-33808D26F368}" type="presParOf" srcId="{E8F09E6A-6DD3-4026-AA27-BC129E925E49}" destId="{1575F464-0411-4E62-8E69-E336861E7E25}" srcOrd="2" destOrd="0" presId="urn:microsoft.com/office/officeart/2018/2/layout/IconVerticalSolidList"/>
    <dgm:cxn modelId="{E4184F8F-FE49-451C-97D7-77697C497921}" type="presParOf" srcId="{1575F464-0411-4E62-8E69-E336861E7E25}" destId="{2C3E9214-0017-46E8-BB6B-0361D379F9A4}" srcOrd="0" destOrd="0" presId="urn:microsoft.com/office/officeart/2018/2/layout/IconVerticalSolidList"/>
    <dgm:cxn modelId="{E9DA665F-84B1-4F6B-9C5E-BBBB9F8B5B71}" type="presParOf" srcId="{1575F464-0411-4E62-8E69-E336861E7E25}" destId="{762A0BE6-B372-47B5-B22D-F7ECAB32F0F0}" srcOrd="1" destOrd="0" presId="urn:microsoft.com/office/officeart/2018/2/layout/IconVerticalSolidList"/>
    <dgm:cxn modelId="{16993329-584B-4DBB-992D-CB002BF181A9}" type="presParOf" srcId="{1575F464-0411-4E62-8E69-E336861E7E25}" destId="{0CDD26F1-6EDA-4227-95D9-51711B8CF10F}" srcOrd="2" destOrd="0" presId="urn:microsoft.com/office/officeart/2018/2/layout/IconVerticalSolidList"/>
    <dgm:cxn modelId="{63ACFA14-AEB9-4614-95DA-AD7A4108A962}" type="presParOf" srcId="{1575F464-0411-4E62-8E69-E336861E7E25}" destId="{CED0D2D6-69F0-4939-91B3-FB9B4E78F06F}" srcOrd="3" destOrd="0" presId="urn:microsoft.com/office/officeart/2018/2/layout/IconVerticalSolidList"/>
    <dgm:cxn modelId="{1F6075F0-B73E-4C34-8A25-64DDF6F891EA}" type="presParOf" srcId="{1575F464-0411-4E62-8E69-E336861E7E25}" destId="{BFFC4D19-EF81-4E5E-A3AE-FDABAB6305DE}" srcOrd="4" destOrd="0" presId="urn:microsoft.com/office/officeart/2018/2/layout/IconVerticalSolidList"/>
    <dgm:cxn modelId="{555ED80E-9000-441B-8475-3B0A57735198}" type="presParOf" srcId="{E8F09E6A-6DD3-4026-AA27-BC129E925E49}" destId="{6A6D88F7-F4E1-4EC1-852D-B97D67AE6CC2}" srcOrd="3" destOrd="0" presId="urn:microsoft.com/office/officeart/2018/2/layout/IconVerticalSolidList"/>
    <dgm:cxn modelId="{82EE0472-CBAA-4DB6-9003-80DD8E6B88DE}" type="presParOf" srcId="{E8F09E6A-6DD3-4026-AA27-BC129E925E49}" destId="{81189BAF-A6B1-4247-9977-81C6D8F46B6A}" srcOrd="4" destOrd="0" presId="urn:microsoft.com/office/officeart/2018/2/layout/IconVerticalSolidList"/>
    <dgm:cxn modelId="{01CB28D7-C7DF-423A-9BE2-A0BDB22BFA6A}" type="presParOf" srcId="{81189BAF-A6B1-4247-9977-81C6D8F46B6A}" destId="{A9A8DD4C-B478-4FC6-AF08-B458D9A5C90B}" srcOrd="0" destOrd="0" presId="urn:microsoft.com/office/officeart/2018/2/layout/IconVerticalSolidList"/>
    <dgm:cxn modelId="{A1818662-21F5-4AC3-A164-3523EACFD8E8}" type="presParOf" srcId="{81189BAF-A6B1-4247-9977-81C6D8F46B6A}" destId="{026A74E9-D16C-4EBC-B9BE-4CD1B48EB808}" srcOrd="1" destOrd="0" presId="urn:microsoft.com/office/officeart/2018/2/layout/IconVerticalSolidList"/>
    <dgm:cxn modelId="{DB8D022C-5FF6-4468-A3FA-390F69FAF78E}" type="presParOf" srcId="{81189BAF-A6B1-4247-9977-81C6D8F46B6A}" destId="{E9D5A495-04A0-47AF-A824-33CD1D477F0A}" srcOrd="2" destOrd="0" presId="urn:microsoft.com/office/officeart/2018/2/layout/IconVerticalSolidList"/>
    <dgm:cxn modelId="{E0E88D3D-FAD1-4EE6-8B98-5D7630CF87D0}" type="presParOf" srcId="{81189BAF-A6B1-4247-9977-81C6D8F46B6A}" destId="{F0DA0DF3-CBA3-4BAB-82F5-5901221B6DFA}" srcOrd="3" destOrd="0" presId="urn:microsoft.com/office/officeart/2018/2/layout/IconVerticalSolidList"/>
    <dgm:cxn modelId="{577CFAB3-88F1-41C2-825E-339F64F9829B}" type="presParOf" srcId="{81189BAF-A6B1-4247-9977-81C6D8F46B6A}" destId="{B6485A47-A547-471B-9A0F-31B3CBE82201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5239D66-CC37-4D15-9EF1-BA275068932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B0C255-ED85-44AA-B0DC-B73815BDAD80}">
      <dgm:prSet/>
      <dgm:spPr/>
      <dgm:t>
        <a:bodyPr/>
        <a:lstStyle/>
        <a:p>
          <a:r>
            <a:rPr lang="en-US" dirty="0"/>
            <a:t>A sentence is </a:t>
          </a:r>
          <a:r>
            <a:rPr lang="en-US" b="1" dirty="0">
              <a:solidFill>
                <a:schemeClr val="bg1"/>
              </a:solidFill>
            </a:rPr>
            <a:t>valid</a:t>
          </a:r>
          <a:r>
            <a:rPr lang="en-US" dirty="0"/>
            <a:t> if it is true in </a:t>
          </a:r>
          <a:r>
            <a:rPr lang="en-US" b="1" dirty="0"/>
            <a:t>all</a:t>
          </a:r>
          <a:r>
            <a:rPr lang="en-US" dirty="0"/>
            <a:t> models/worlds</a:t>
          </a:r>
        </a:p>
      </dgm:t>
    </dgm:pt>
    <dgm:pt modelId="{59A4934C-7A85-4C3A-B3DE-F4D49BAED53A}" type="parTrans" cxnId="{4D054140-6D18-4489-B3FF-E1BB91BA5A9F}">
      <dgm:prSet/>
      <dgm:spPr/>
      <dgm:t>
        <a:bodyPr/>
        <a:lstStyle/>
        <a:p>
          <a:endParaRPr lang="en-US"/>
        </a:p>
      </dgm:t>
    </dgm:pt>
    <dgm:pt modelId="{5134F427-615B-4E07-A104-03EE6B3DD624}" type="sibTrans" cxnId="{4D054140-6D18-4489-B3FF-E1BB91BA5A9F}">
      <dgm:prSet/>
      <dgm:spPr/>
      <dgm:t>
        <a:bodyPr/>
        <a:lstStyle/>
        <a:p>
          <a:endParaRPr lang="en-US"/>
        </a:p>
      </dgm:t>
    </dgm:pt>
    <dgm:pt modelId="{00AE36E0-954F-4A13-B5EF-E6F2577D50F9}">
      <dgm:prSet/>
      <dgm:spPr/>
      <dgm:t>
        <a:bodyPr/>
        <a:lstStyle/>
        <a:p>
          <a:pPr>
            <a:buNone/>
          </a:pPr>
          <a:r>
            <a:rPr lang="en-US" dirty="0"/>
            <a:t>e.g.,  </a:t>
          </a:r>
          <a:r>
            <a:rPr lang="en-US" i="1" dirty="0"/>
            <a:t>True</a:t>
          </a:r>
          <a:r>
            <a:rPr lang="en-US" dirty="0"/>
            <a:t>, A </a:t>
          </a:r>
          <a:r>
            <a:rPr lang="en-US" dirty="0">
              <a:sym typeface="Symbol" panose="05050102010706020507" pitchFamily="18" charset="2"/>
            </a:rPr>
            <a:t></a:t>
          </a:r>
          <a:r>
            <a:rPr lang="en-US" dirty="0"/>
            <a:t>A, A </a:t>
          </a:r>
          <a:r>
            <a:rPr lang="en-US" dirty="0">
              <a:sym typeface="Symbol" panose="05050102010706020507" pitchFamily="18" charset="2"/>
            </a:rPr>
            <a:t></a:t>
          </a:r>
          <a:r>
            <a:rPr lang="en-US" dirty="0"/>
            <a:t> A, (A </a:t>
          </a:r>
          <a:r>
            <a:rPr lang="en-US" dirty="0">
              <a:sym typeface="Symbol" panose="05050102010706020507" pitchFamily="18" charset="2"/>
            </a:rPr>
            <a:t></a:t>
          </a:r>
          <a:r>
            <a:rPr lang="en-US" dirty="0"/>
            <a:t> (A </a:t>
          </a:r>
          <a:r>
            <a:rPr lang="en-US" dirty="0">
              <a:sym typeface="Symbol" panose="05050102010706020507" pitchFamily="18" charset="2"/>
            </a:rPr>
            <a:t></a:t>
          </a:r>
          <a:r>
            <a:rPr lang="en-US" dirty="0"/>
            <a:t> B)) </a:t>
          </a:r>
          <a:r>
            <a:rPr lang="en-US" dirty="0">
              <a:sym typeface="Symbol" panose="05050102010706020507" pitchFamily="18" charset="2"/>
            </a:rPr>
            <a:t></a:t>
          </a:r>
          <a:r>
            <a:rPr lang="en-US" dirty="0"/>
            <a:t> B</a:t>
          </a:r>
          <a:br>
            <a:rPr lang="en-US" dirty="0"/>
          </a:br>
          <a:r>
            <a:rPr lang="en-US" dirty="0"/>
            <a:t>are called tautologies and are useful to deduct new sentences.</a:t>
          </a:r>
        </a:p>
      </dgm:t>
    </dgm:pt>
    <dgm:pt modelId="{7795A135-3858-4D85-A074-DE2FA0CF05CE}" type="parTrans" cxnId="{C196A049-9692-49A4-921F-0DF655118023}">
      <dgm:prSet/>
      <dgm:spPr/>
      <dgm:t>
        <a:bodyPr/>
        <a:lstStyle/>
        <a:p>
          <a:endParaRPr lang="en-US"/>
        </a:p>
      </dgm:t>
    </dgm:pt>
    <dgm:pt modelId="{B054B51F-6CBE-4434-A2C0-25F0061D2358}" type="sibTrans" cxnId="{C196A049-9692-49A4-921F-0DF655118023}">
      <dgm:prSet/>
      <dgm:spPr/>
      <dgm:t>
        <a:bodyPr/>
        <a:lstStyle/>
        <a:p>
          <a:endParaRPr lang="en-US"/>
        </a:p>
      </dgm:t>
    </dgm:pt>
    <dgm:pt modelId="{2561B5F5-C1A3-4F17-95B8-AEB29E3DE704}">
      <dgm:prSet/>
      <dgm:spPr/>
      <dgm:t>
        <a:bodyPr/>
        <a:lstStyle/>
        <a:p>
          <a:r>
            <a:rPr lang="en-US" dirty="0"/>
            <a:t>A sentence is </a:t>
          </a:r>
          <a:r>
            <a:rPr lang="en-US" b="1" dirty="0"/>
            <a:t>satisfiable</a:t>
          </a:r>
          <a:r>
            <a:rPr lang="en-US" dirty="0"/>
            <a:t> if it is true in </a:t>
          </a:r>
          <a:r>
            <a:rPr lang="en-US" b="1" dirty="0"/>
            <a:t>some</a:t>
          </a:r>
          <a:r>
            <a:rPr lang="en-US" dirty="0"/>
            <a:t> model</a:t>
          </a:r>
        </a:p>
      </dgm:t>
    </dgm:pt>
    <dgm:pt modelId="{0796BF6C-9CA1-44BF-82C6-0855B715FCD1}" type="parTrans" cxnId="{9F185BD1-47B1-41E6-89EC-4A8689B97BB4}">
      <dgm:prSet/>
      <dgm:spPr/>
      <dgm:t>
        <a:bodyPr/>
        <a:lstStyle/>
        <a:p>
          <a:endParaRPr lang="en-US"/>
        </a:p>
      </dgm:t>
    </dgm:pt>
    <dgm:pt modelId="{3E65D322-358B-4273-9485-0CD85EB5B097}" type="sibTrans" cxnId="{9F185BD1-47B1-41E6-89EC-4A8689B97BB4}">
      <dgm:prSet/>
      <dgm:spPr/>
      <dgm:t>
        <a:bodyPr/>
        <a:lstStyle/>
        <a:p>
          <a:endParaRPr lang="en-US"/>
        </a:p>
      </dgm:t>
    </dgm:pt>
    <dgm:pt modelId="{835E0B8B-1A6D-4040-A3CD-1F9F370967B9}">
      <dgm:prSet/>
      <dgm:spPr/>
      <dgm:t>
        <a:bodyPr/>
        <a:lstStyle/>
        <a:p>
          <a:pPr>
            <a:buNone/>
          </a:pPr>
          <a:r>
            <a:rPr lang="en-US" dirty="0"/>
            <a:t>e.g.,  A</a:t>
          </a:r>
          <a:r>
            <a:rPr lang="en-US" dirty="0">
              <a:sym typeface="Symbol" panose="05050102010706020507" pitchFamily="18" charset="2"/>
            </a:rPr>
            <a:t></a:t>
          </a:r>
          <a:r>
            <a:rPr lang="en-US" dirty="0"/>
            <a:t>B, C</a:t>
          </a:r>
          <a:br>
            <a:rPr lang="en-US" dirty="0"/>
          </a:br>
          <a:r>
            <a:rPr lang="en-US" dirty="0"/>
            <a:t>useful to find new facts that satisfy all current possible worlds.</a:t>
          </a:r>
        </a:p>
      </dgm:t>
    </dgm:pt>
    <dgm:pt modelId="{5D44F58A-C844-46C1-8C7A-82140026A982}" type="parTrans" cxnId="{179A9A5E-8884-4E61-A982-AD76158DB024}">
      <dgm:prSet/>
      <dgm:spPr/>
      <dgm:t>
        <a:bodyPr/>
        <a:lstStyle/>
        <a:p>
          <a:endParaRPr lang="en-US"/>
        </a:p>
      </dgm:t>
    </dgm:pt>
    <dgm:pt modelId="{D9A0EBE3-B25E-475C-91C8-151B8E9553A8}" type="sibTrans" cxnId="{179A9A5E-8884-4E61-A982-AD76158DB024}">
      <dgm:prSet/>
      <dgm:spPr/>
      <dgm:t>
        <a:bodyPr/>
        <a:lstStyle/>
        <a:p>
          <a:endParaRPr lang="en-US"/>
        </a:p>
      </dgm:t>
    </dgm:pt>
    <dgm:pt modelId="{39A4CA56-7115-4B25-8CA6-45A2866FB05B}">
      <dgm:prSet/>
      <dgm:spPr/>
      <dgm:t>
        <a:bodyPr/>
        <a:lstStyle/>
        <a:p>
          <a:r>
            <a:rPr lang="en-US" dirty="0"/>
            <a:t>A sentence is </a:t>
          </a:r>
          <a:r>
            <a:rPr lang="en-US" b="1" dirty="0"/>
            <a:t>unsatisfiable</a:t>
          </a:r>
          <a:r>
            <a:rPr lang="en-US" dirty="0"/>
            <a:t> if it is true in no models</a:t>
          </a:r>
        </a:p>
      </dgm:t>
    </dgm:pt>
    <dgm:pt modelId="{4591DC99-F9BE-431E-8648-C015B40A0BD4}" type="parTrans" cxnId="{76A6AC68-C34E-4332-A71C-7C6F69B83838}">
      <dgm:prSet/>
      <dgm:spPr/>
      <dgm:t>
        <a:bodyPr/>
        <a:lstStyle/>
        <a:p>
          <a:endParaRPr lang="en-US"/>
        </a:p>
      </dgm:t>
    </dgm:pt>
    <dgm:pt modelId="{03EC07A8-0644-40EE-9BF4-334E8E3AB9BE}" type="sibTrans" cxnId="{76A6AC68-C34E-4332-A71C-7C6F69B83838}">
      <dgm:prSet/>
      <dgm:spPr/>
      <dgm:t>
        <a:bodyPr/>
        <a:lstStyle/>
        <a:p>
          <a:endParaRPr lang="en-US"/>
        </a:p>
      </dgm:t>
    </dgm:pt>
    <dgm:pt modelId="{AF42DA39-5580-435F-9119-9F60CBA00190}">
      <dgm:prSet/>
      <dgm:spPr/>
      <dgm:t>
        <a:bodyPr/>
        <a:lstStyle/>
        <a:p>
          <a:pPr>
            <a:buNone/>
          </a:pPr>
          <a:r>
            <a:rPr lang="en-US" dirty="0"/>
            <a:t>e.g., A</a:t>
          </a:r>
          <a:r>
            <a:rPr lang="en-US" dirty="0">
              <a:sym typeface="Symbol" panose="05050102010706020507" pitchFamily="18" charset="2"/>
            </a:rPr>
            <a:t></a:t>
          </a:r>
          <a:r>
            <a:rPr lang="en-US" dirty="0"/>
            <a:t>A</a:t>
          </a:r>
        </a:p>
      </dgm:t>
    </dgm:pt>
    <dgm:pt modelId="{875A38F9-A114-41E1-A22B-9E6D7573FA45}" type="parTrans" cxnId="{F88AE15F-EF2F-4E48-8666-33D294D208B7}">
      <dgm:prSet/>
      <dgm:spPr/>
      <dgm:t>
        <a:bodyPr/>
        <a:lstStyle/>
        <a:p>
          <a:endParaRPr lang="en-US"/>
        </a:p>
      </dgm:t>
    </dgm:pt>
    <dgm:pt modelId="{F2A81323-EF9B-4B66-9D1B-1FD9B72EC53F}" type="sibTrans" cxnId="{F88AE15F-EF2F-4E48-8666-33D294D208B7}">
      <dgm:prSet/>
      <dgm:spPr/>
      <dgm:t>
        <a:bodyPr/>
        <a:lstStyle/>
        <a:p>
          <a:endParaRPr lang="en-US"/>
        </a:p>
      </dgm:t>
    </dgm:pt>
    <dgm:pt modelId="{04E99D99-54A3-41EF-8045-FA9338ECA604}" type="pres">
      <dgm:prSet presAssocID="{A5239D66-CC37-4D15-9EF1-BA2750689328}" presName="Name0" presStyleCnt="0">
        <dgm:presLayoutVars>
          <dgm:dir/>
          <dgm:animLvl val="lvl"/>
          <dgm:resizeHandles val="exact"/>
        </dgm:presLayoutVars>
      </dgm:prSet>
      <dgm:spPr/>
    </dgm:pt>
    <dgm:pt modelId="{C20CBC04-CAA6-461D-A11F-0B16D1B3E9A1}" type="pres">
      <dgm:prSet presAssocID="{37B0C255-ED85-44AA-B0DC-B73815BDAD80}" presName="linNode" presStyleCnt="0"/>
      <dgm:spPr/>
    </dgm:pt>
    <dgm:pt modelId="{F16C5245-CA57-40C3-BF13-600617EE2B81}" type="pres">
      <dgm:prSet presAssocID="{37B0C255-ED85-44AA-B0DC-B73815BDAD8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103DA5A-FFC5-4C04-8D1B-F979D46BF580}" type="pres">
      <dgm:prSet presAssocID="{37B0C255-ED85-44AA-B0DC-B73815BDAD80}" presName="descendantText" presStyleLbl="alignAccFollowNode1" presStyleIdx="0" presStyleCnt="3">
        <dgm:presLayoutVars>
          <dgm:bulletEnabled val="1"/>
        </dgm:presLayoutVars>
      </dgm:prSet>
      <dgm:spPr/>
    </dgm:pt>
    <dgm:pt modelId="{85862658-B8A0-4E42-9A00-E2CDDAE6A592}" type="pres">
      <dgm:prSet presAssocID="{5134F427-615B-4E07-A104-03EE6B3DD624}" presName="sp" presStyleCnt="0"/>
      <dgm:spPr/>
    </dgm:pt>
    <dgm:pt modelId="{0280EDA2-E28D-4A93-A934-771F6D5865D6}" type="pres">
      <dgm:prSet presAssocID="{2561B5F5-C1A3-4F17-95B8-AEB29E3DE704}" presName="linNode" presStyleCnt="0"/>
      <dgm:spPr/>
    </dgm:pt>
    <dgm:pt modelId="{01011F8A-1F82-4995-B713-07763DC517A3}" type="pres">
      <dgm:prSet presAssocID="{2561B5F5-C1A3-4F17-95B8-AEB29E3DE70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1122C6AF-3263-4F64-951F-4BC2754F8A76}" type="pres">
      <dgm:prSet presAssocID="{2561B5F5-C1A3-4F17-95B8-AEB29E3DE704}" presName="descendantText" presStyleLbl="alignAccFollowNode1" presStyleIdx="1" presStyleCnt="3">
        <dgm:presLayoutVars>
          <dgm:bulletEnabled val="1"/>
        </dgm:presLayoutVars>
      </dgm:prSet>
      <dgm:spPr/>
    </dgm:pt>
    <dgm:pt modelId="{ECD58988-DA37-4949-A98F-1C460C0EF0B7}" type="pres">
      <dgm:prSet presAssocID="{3E65D322-358B-4273-9485-0CD85EB5B097}" presName="sp" presStyleCnt="0"/>
      <dgm:spPr/>
    </dgm:pt>
    <dgm:pt modelId="{FC4B7985-ADCF-468E-8C4C-86C5A1EB494B}" type="pres">
      <dgm:prSet presAssocID="{39A4CA56-7115-4B25-8CA6-45A2866FB05B}" presName="linNode" presStyleCnt="0"/>
      <dgm:spPr/>
    </dgm:pt>
    <dgm:pt modelId="{E9B57FF1-AF4A-4F4E-A00A-E23398002350}" type="pres">
      <dgm:prSet presAssocID="{39A4CA56-7115-4B25-8CA6-45A2866FB05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02F7C1E3-94D8-458B-A97B-7CAB3C4516F9}" type="pres">
      <dgm:prSet presAssocID="{39A4CA56-7115-4B25-8CA6-45A2866FB05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1CE3C2D-237D-48BA-B075-7CE7B5E058FA}" type="presOf" srcId="{2561B5F5-C1A3-4F17-95B8-AEB29E3DE704}" destId="{01011F8A-1F82-4995-B713-07763DC517A3}" srcOrd="0" destOrd="0" presId="urn:microsoft.com/office/officeart/2005/8/layout/vList5"/>
    <dgm:cxn modelId="{4D054140-6D18-4489-B3FF-E1BB91BA5A9F}" srcId="{A5239D66-CC37-4D15-9EF1-BA2750689328}" destId="{37B0C255-ED85-44AA-B0DC-B73815BDAD80}" srcOrd="0" destOrd="0" parTransId="{59A4934C-7A85-4C3A-B3DE-F4D49BAED53A}" sibTransId="{5134F427-615B-4E07-A104-03EE6B3DD624}"/>
    <dgm:cxn modelId="{179A9A5E-8884-4E61-A982-AD76158DB024}" srcId="{2561B5F5-C1A3-4F17-95B8-AEB29E3DE704}" destId="{835E0B8B-1A6D-4040-A3CD-1F9F370967B9}" srcOrd="0" destOrd="0" parTransId="{5D44F58A-C844-46C1-8C7A-82140026A982}" sibTransId="{D9A0EBE3-B25E-475C-91C8-151B8E9553A8}"/>
    <dgm:cxn modelId="{F88AE15F-EF2F-4E48-8666-33D294D208B7}" srcId="{39A4CA56-7115-4B25-8CA6-45A2866FB05B}" destId="{AF42DA39-5580-435F-9119-9F60CBA00190}" srcOrd="0" destOrd="0" parTransId="{875A38F9-A114-41E1-A22B-9E6D7573FA45}" sibTransId="{F2A81323-EF9B-4B66-9D1B-1FD9B72EC53F}"/>
    <dgm:cxn modelId="{76A6AC68-C34E-4332-A71C-7C6F69B83838}" srcId="{A5239D66-CC37-4D15-9EF1-BA2750689328}" destId="{39A4CA56-7115-4B25-8CA6-45A2866FB05B}" srcOrd="2" destOrd="0" parTransId="{4591DC99-F9BE-431E-8648-C015B40A0BD4}" sibTransId="{03EC07A8-0644-40EE-9BF4-334E8E3AB9BE}"/>
    <dgm:cxn modelId="{C196A049-9692-49A4-921F-0DF655118023}" srcId="{37B0C255-ED85-44AA-B0DC-B73815BDAD80}" destId="{00AE36E0-954F-4A13-B5EF-E6F2577D50F9}" srcOrd="0" destOrd="0" parTransId="{7795A135-3858-4D85-A074-DE2FA0CF05CE}" sibTransId="{B054B51F-6CBE-4434-A2C0-25F0061D2358}"/>
    <dgm:cxn modelId="{E8E4427F-A14D-48C0-92B4-6080D50A0BC9}" type="presOf" srcId="{37B0C255-ED85-44AA-B0DC-B73815BDAD80}" destId="{F16C5245-CA57-40C3-BF13-600617EE2B81}" srcOrd="0" destOrd="0" presId="urn:microsoft.com/office/officeart/2005/8/layout/vList5"/>
    <dgm:cxn modelId="{3B204387-FA87-421F-A3F6-3DF8795A3F20}" type="presOf" srcId="{A5239D66-CC37-4D15-9EF1-BA2750689328}" destId="{04E99D99-54A3-41EF-8045-FA9338ECA604}" srcOrd="0" destOrd="0" presId="urn:microsoft.com/office/officeart/2005/8/layout/vList5"/>
    <dgm:cxn modelId="{C43C52A1-4F45-4C80-826D-C21B836CFF3C}" type="presOf" srcId="{AF42DA39-5580-435F-9119-9F60CBA00190}" destId="{02F7C1E3-94D8-458B-A97B-7CAB3C4516F9}" srcOrd="0" destOrd="0" presId="urn:microsoft.com/office/officeart/2005/8/layout/vList5"/>
    <dgm:cxn modelId="{9F185BD1-47B1-41E6-89EC-4A8689B97BB4}" srcId="{A5239D66-CC37-4D15-9EF1-BA2750689328}" destId="{2561B5F5-C1A3-4F17-95B8-AEB29E3DE704}" srcOrd="1" destOrd="0" parTransId="{0796BF6C-9CA1-44BF-82C6-0855B715FCD1}" sibTransId="{3E65D322-358B-4273-9485-0CD85EB5B097}"/>
    <dgm:cxn modelId="{7D4678E4-AF9E-4518-A568-F48476EA2378}" type="presOf" srcId="{835E0B8B-1A6D-4040-A3CD-1F9F370967B9}" destId="{1122C6AF-3263-4F64-951F-4BC2754F8A76}" srcOrd="0" destOrd="0" presId="urn:microsoft.com/office/officeart/2005/8/layout/vList5"/>
    <dgm:cxn modelId="{690D30FB-0CAD-4BF0-86E5-D6221D2E7610}" type="presOf" srcId="{00AE36E0-954F-4A13-B5EF-E6F2577D50F9}" destId="{B103DA5A-FFC5-4C04-8D1B-F979D46BF580}" srcOrd="0" destOrd="0" presId="urn:microsoft.com/office/officeart/2005/8/layout/vList5"/>
    <dgm:cxn modelId="{8DBA2CFF-A4C2-4A76-BA5C-95C2EF1DDFFD}" type="presOf" srcId="{39A4CA56-7115-4B25-8CA6-45A2866FB05B}" destId="{E9B57FF1-AF4A-4F4E-A00A-E23398002350}" srcOrd="0" destOrd="0" presId="urn:microsoft.com/office/officeart/2005/8/layout/vList5"/>
    <dgm:cxn modelId="{2A53BC3E-74D0-4254-BBAA-6060DA1E0EB3}" type="presParOf" srcId="{04E99D99-54A3-41EF-8045-FA9338ECA604}" destId="{C20CBC04-CAA6-461D-A11F-0B16D1B3E9A1}" srcOrd="0" destOrd="0" presId="urn:microsoft.com/office/officeart/2005/8/layout/vList5"/>
    <dgm:cxn modelId="{D79994D1-A3E0-4089-851E-F6DFC510AB90}" type="presParOf" srcId="{C20CBC04-CAA6-461D-A11F-0B16D1B3E9A1}" destId="{F16C5245-CA57-40C3-BF13-600617EE2B81}" srcOrd="0" destOrd="0" presId="urn:microsoft.com/office/officeart/2005/8/layout/vList5"/>
    <dgm:cxn modelId="{DF19C899-C380-43E0-8F67-5CAAB0251948}" type="presParOf" srcId="{C20CBC04-CAA6-461D-A11F-0B16D1B3E9A1}" destId="{B103DA5A-FFC5-4C04-8D1B-F979D46BF580}" srcOrd="1" destOrd="0" presId="urn:microsoft.com/office/officeart/2005/8/layout/vList5"/>
    <dgm:cxn modelId="{B9C556CD-6B3C-4862-8C61-BF4EA9FDE12F}" type="presParOf" srcId="{04E99D99-54A3-41EF-8045-FA9338ECA604}" destId="{85862658-B8A0-4E42-9A00-E2CDDAE6A592}" srcOrd="1" destOrd="0" presId="urn:microsoft.com/office/officeart/2005/8/layout/vList5"/>
    <dgm:cxn modelId="{4F671015-31E2-44C0-A64D-DB6DA3D8FA7A}" type="presParOf" srcId="{04E99D99-54A3-41EF-8045-FA9338ECA604}" destId="{0280EDA2-E28D-4A93-A934-771F6D5865D6}" srcOrd="2" destOrd="0" presId="urn:microsoft.com/office/officeart/2005/8/layout/vList5"/>
    <dgm:cxn modelId="{199CE575-CA9C-467C-94D3-EA2B049CC86D}" type="presParOf" srcId="{0280EDA2-E28D-4A93-A934-771F6D5865D6}" destId="{01011F8A-1F82-4995-B713-07763DC517A3}" srcOrd="0" destOrd="0" presId="urn:microsoft.com/office/officeart/2005/8/layout/vList5"/>
    <dgm:cxn modelId="{7F429EED-68D6-4243-AD0B-F8F13EE22310}" type="presParOf" srcId="{0280EDA2-E28D-4A93-A934-771F6D5865D6}" destId="{1122C6AF-3263-4F64-951F-4BC2754F8A76}" srcOrd="1" destOrd="0" presId="urn:microsoft.com/office/officeart/2005/8/layout/vList5"/>
    <dgm:cxn modelId="{684942BA-108E-46BD-A964-94A2CAE62C40}" type="presParOf" srcId="{04E99D99-54A3-41EF-8045-FA9338ECA604}" destId="{ECD58988-DA37-4949-A98F-1C460C0EF0B7}" srcOrd="3" destOrd="0" presId="urn:microsoft.com/office/officeart/2005/8/layout/vList5"/>
    <dgm:cxn modelId="{EBFBBCD0-D167-4D8E-90C5-94B75C9298F8}" type="presParOf" srcId="{04E99D99-54A3-41EF-8045-FA9338ECA604}" destId="{FC4B7985-ADCF-468E-8C4C-86C5A1EB494B}" srcOrd="4" destOrd="0" presId="urn:microsoft.com/office/officeart/2005/8/layout/vList5"/>
    <dgm:cxn modelId="{3A7CA286-AA4C-4431-BA91-2EB2CC217B79}" type="presParOf" srcId="{FC4B7985-ADCF-468E-8C4C-86C5A1EB494B}" destId="{E9B57FF1-AF4A-4F4E-A00A-E23398002350}" srcOrd="0" destOrd="0" presId="urn:microsoft.com/office/officeart/2005/8/layout/vList5"/>
    <dgm:cxn modelId="{21E06416-E0F4-4ECE-989F-0F8AD46385A1}" type="presParOf" srcId="{FC4B7985-ADCF-468E-8C4C-86C5A1EB494B}" destId="{02F7C1E3-94D8-458B-A97B-7CAB3C4516F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8CA8907-E32D-46A7-84D9-06D43E82CC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FF7690-4E06-444D-ABC8-24C683307CE3}">
      <dgm:prSet/>
      <dgm:spPr/>
      <dgm:t>
        <a:bodyPr/>
        <a:lstStyle/>
        <a:p>
          <a:r>
            <a:rPr lang="en-US" dirty="0"/>
            <a:t>A </a:t>
          </a:r>
          <a:r>
            <a:rPr lang="en-US" b="1" dirty="0"/>
            <a:t>model</a:t>
          </a:r>
          <a:r>
            <a:rPr lang="en-US" dirty="0"/>
            <a:t> specifies a “</a:t>
          </a:r>
          <a:r>
            <a:rPr lang="en-US"/>
            <a:t>possible world” with the true/false status of each proposition symbol in the knowledge base</a:t>
          </a:r>
        </a:p>
      </dgm:t>
    </dgm:pt>
    <dgm:pt modelId="{33D95D03-50DB-4F11-96F4-9C3CAC2B20A9}" type="parTrans" cxnId="{D385247B-FFBA-43E6-B115-303FBE8A73D1}">
      <dgm:prSet/>
      <dgm:spPr/>
      <dgm:t>
        <a:bodyPr/>
        <a:lstStyle/>
        <a:p>
          <a:endParaRPr lang="en-US"/>
        </a:p>
      </dgm:t>
    </dgm:pt>
    <dgm:pt modelId="{D80665D2-315E-4900-9980-E0D7C6ECEC3C}" type="sibTrans" cxnId="{D385247B-FFBA-43E6-B115-303FBE8A73D1}">
      <dgm:prSet/>
      <dgm:spPr/>
      <dgm:t>
        <a:bodyPr/>
        <a:lstStyle/>
        <a:p>
          <a:endParaRPr lang="en-US"/>
        </a:p>
      </dgm:t>
    </dgm:pt>
    <dgm:pt modelId="{69F23981-B1D7-4464-B81F-9126DB292CEA}">
      <dgm:prSet/>
      <dgm:spPr/>
      <dgm:t>
        <a:bodyPr/>
        <a:lstStyle/>
        <a:p>
          <a:r>
            <a:rPr lang="en-US" dirty="0"/>
            <a:t>E.g.,  </a:t>
          </a:r>
          <a:r>
            <a:rPr lang="en-US" b="1" dirty="0"/>
            <a:t>P</a:t>
          </a:r>
          <a:r>
            <a:rPr lang="en-US" dirty="0"/>
            <a:t> is true and  </a:t>
          </a:r>
          <a:r>
            <a:rPr lang="en-US" b="1" dirty="0"/>
            <a:t>Q</a:t>
          </a:r>
          <a:r>
            <a:rPr lang="en-US" dirty="0"/>
            <a:t> is true</a:t>
          </a:r>
        </a:p>
      </dgm:t>
    </dgm:pt>
    <dgm:pt modelId="{62FAB4AD-4E73-400C-95B4-CB7848BDD85C}" type="parTrans" cxnId="{38DE929C-7082-4894-BEB8-45483806E45C}">
      <dgm:prSet/>
      <dgm:spPr/>
      <dgm:t>
        <a:bodyPr/>
        <a:lstStyle/>
        <a:p>
          <a:endParaRPr lang="en-US"/>
        </a:p>
      </dgm:t>
    </dgm:pt>
    <dgm:pt modelId="{2A1F5FE2-1D8E-46EA-8748-3ABFFA2FBDAC}" type="sibTrans" cxnId="{38DE929C-7082-4894-BEB8-45483806E45C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F6D8340-D276-420D-A4AB-A1E5A7BF47D9}">
          <dgm:prSet/>
          <dgm:spPr/>
          <dgm:t>
            <a:bodyPr/>
            <a:lstStyle/>
            <a:p>
              <a:r>
                <a:rPr lang="en-US" dirty="0"/>
                <a:t>With two symbols, there are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b="0" i="1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e>
                    <m: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  <m:r>
                    <a:rPr lang="en-US" b="0" i="1" smtClean="0">
                      <a:latin typeface="Cambria Math" panose="02040503050406030204" pitchFamily="18" charset="0"/>
                    </a:rPr>
                    <m:t>=4</m:t>
                  </m:r>
                </m:oMath>
              </a14:m>
              <a:r>
                <a:rPr lang="en-US" dirty="0"/>
                <a:t> possible worlds/models, and they can be enumerated exhaustively using:</a:t>
              </a:r>
            </a:p>
          </dgm:t>
        </dgm:pt>
      </mc:Choice>
      <mc:Fallback xmlns="">
        <dgm:pt modelId="{EF6D8340-D276-420D-A4AB-A1E5A7BF47D9}">
          <dgm:prSet/>
          <dgm:spPr/>
          <dgm:t>
            <a:bodyPr/>
            <a:lstStyle/>
            <a:p>
              <a:r>
                <a:rPr lang="en-US" dirty="0"/>
                <a:t>With two symbols, there are </a:t>
              </a:r>
              <a:r>
                <a:rPr lang="en-US" b="0" i="0">
                  <a:latin typeface="Cambria Math" panose="02040503050406030204" pitchFamily="18" charset="0"/>
                </a:rPr>
                <a:t>2^2=4</a:t>
              </a:r>
              <a:r>
                <a:rPr lang="en-US" dirty="0"/>
                <a:t> possible worlds/models, and they can be enumerated exhaustively using:</a:t>
              </a:r>
            </a:p>
          </dgm:t>
        </dgm:pt>
      </mc:Fallback>
    </mc:AlternateContent>
    <dgm:pt modelId="{2DCAA3F6-BDA0-4EF3-B67D-D305F28E9085}" type="parTrans" cxnId="{3E2AB396-2ADC-4293-A6AC-E86FB34CD119}">
      <dgm:prSet/>
      <dgm:spPr/>
      <dgm:t>
        <a:bodyPr/>
        <a:lstStyle/>
        <a:p>
          <a:endParaRPr lang="en-US"/>
        </a:p>
      </dgm:t>
    </dgm:pt>
    <dgm:pt modelId="{A5EF78CA-BADF-4DB6-83B2-43EDD00EC251}" type="sibTrans" cxnId="{3E2AB396-2ADC-4293-A6AC-E86FB34CD119}">
      <dgm:prSet/>
      <dgm:spPr/>
      <dgm:t>
        <a:bodyPr/>
        <a:lstStyle/>
        <a:p>
          <a:endParaRPr lang="en-US"/>
        </a:p>
      </dgm:t>
    </dgm:pt>
    <dgm:pt modelId="{994620EC-3F28-4D70-824D-2A7A5AC4A8D3}" type="pres">
      <dgm:prSet presAssocID="{A8CA8907-E32D-46A7-84D9-06D43E82CC64}" presName="linear" presStyleCnt="0">
        <dgm:presLayoutVars>
          <dgm:animLvl val="lvl"/>
          <dgm:resizeHandles val="exact"/>
        </dgm:presLayoutVars>
      </dgm:prSet>
      <dgm:spPr/>
    </dgm:pt>
    <dgm:pt modelId="{755C8529-702E-47E4-8348-F050DDC4A99C}" type="pres">
      <dgm:prSet presAssocID="{3DFF7690-4E06-444D-ABC8-24C683307CE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172844F-D89C-439F-85B7-E5506FCD37AC}" type="pres">
      <dgm:prSet presAssocID="{3DFF7690-4E06-444D-ABC8-24C683307CE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385247B-FFBA-43E6-B115-303FBE8A73D1}" srcId="{A8CA8907-E32D-46A7-84D9-06D43E82CC64}" destId="{3DFF7690-4E06-444D-ABC8-24C683307CE3}" srcOrd="0" destOrd="0" parTransId="{33D95D03-50DB-4F11-96F4-9C3CAC2B20A9}" sibTransId="{D80665D2-315E-4900-9980-E0D7C6ECEC3C}"/>
    <dgm:cxn modelId="{2F884188-D5B6-480A-A540-CC255434FB7E}" type="presOf" srcId="{3DFF7690-4E06-444D-ABC8-24C683307CE3}" destId="{755C8529-702E-47E4-8348-F050DDC4A99C}" srcOrd="0" destOrd="0" presId="urn:microsoft.com/office/officeart/2005/8/layout/vList2"/>
    <dgm:cxn modelId="{3E2AB396-2ADC-4293-A6AC-E86FB34CD119}" srcId="{3DFF7690-4E06-444D-ABC8-24C683307CE3}" destId="{EF6D8340-D276-420D-A4AB-A1E5A7BF47D9}" srcOrd="1" destOrd="0" parTransId="{2DCAA3F6-BDA0-4EF3-B67D-D305F28E9085}" sibTransId="{A5EF78CA-BADF-4DB6-83B2-43EDD00EC251}"/>
    <dgm:cxn modelId="{7DA06297-DCE8-45C2-BB12-A3532E043814}" type="presOf" srcId="{EF6D8340-D276-420D-A4AB-A1E5A7BF47D9}" destId="{E172844F-D89C-439F-85B7-E5506FCD37AC}" srcOrd="0" destOrd="1" presId="urn:microsoft.com/office/officeart/2005/8/layout/vList2"/>
    <dgm:cxn modelId="{9A295A9A-C0E1-44D7-B968-0E61F4648E21}" type="presOf" srcId="{69F23981-B1D7-4464-B81F-9126DB292CEA}" destId="{E172844F-D89C-439F-85B7-E5506FCD37AC}" srcOrd="0" destOrd="0" presId="urn:microsoft.com/office/officeart/2005/8/layout/vList2"/>
    <dgm:cxn modelId="{38DE929C-7082-4894-BEB8-45483806E45C}" srcId="{3DFF7690-4E06-444D-ABC8-24C683307CE3}" destId="{69F23981-B1D7-4464-B81F-9126DB292CEA}" srcOrd="0" destOrd="0" parTransId="{62FAB4AD-4E73-400C-95B4-CB7848BDD85C}" sibTransId="{2A1F5FE2-1D8E-46EA-8748-3ABFFA2FBDAC}"/>
    <dgm:cxn modelId="{6F8C4AAF-9DFC-43E9-A458-58C822A42C9B}" type="presOf" srcId="{A8CA8907-E32D-46A7-84D9-06D43E82CC64}" destId="{994620EC-3F28-4D70-824D-2A7A5AC4A8D3}" srcOrd="0" destOrd="0" presId="urn:microsoft.com/office/officeart/2005/8/layout/vList2"/>
    <dgm:cxn modelId="{5C80242B-C599-4013-A87F-B48EA73A13B6}" type="presParOf" srcId="{994620EC-3F28-4D70-824D-2A7A5AC4A8D3}" destId="{755C8529-702E-47E4-8348-F050DDC4A99C}" srcOrd="0" destOrd="0" presId="urn:microsoft.com/office/officeart/2005/8/layout/vList2"/>
    <dgm:cxn modelId="{C579A25F-D24C-41FA-9C9C-60898F94AEAE}" type="presParOf" srcId="{994620EC-3F28-4D70-824D-2A7A5AC4A8D3}" destId="{E172844F-D89C-439F-85B7-E5506FCD37A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A8CA8907-E32D-46A7-84D9-06D43E82CC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FF7690-4E06-444D-ABC8-24C683307CE3}">
      <dgm:prSet/>
      <dgm:spPr/>
      <dgm:t>
        <a:bodyPr/>
        <a:lstStyle/>
        <a:p>
          <a:r>
            <a:rPr lang="en-US" dirty="0"/>
            <a:t>A </a:t>
          </a:r>
          <a:r>
            <a:rPr lang="en-US" b="1" dirty="0"/>
            <a:t>model</a:t>
          </a:r>
          <a:r>
            <a:rPr lang="en-US" dirty="0"/>
            <a:t> specifies a “</a:t>
          </a:r>
          <a:r>
            <a:rPr lang="en-US"/>
            <a:t>possible world” with the true/false status of each proposition symbol in the knowledge base</a:t>
          </a:r>
        </a:p>
      </dgm:t>
    </dgm:pt>
    <dgm:pt modelId="{33D95D03-50DB-4F11-96F4-9C3CAC2B20A9}" type="parTrans" cxnId="{D385247B-FFBA-43E6-B115-303FBE8A73D1}">
      <dgm:prSet/>
      <dgm:spPr/>
      <dgm:t>
        <a:bodyPr/>
        <a:lstStyle/>
        <a:p>
          <a:endParaRPr lang="en-US"/>
        </a:p>
      </dgm:t>
    </dgm:pt>
    <dgm:pt modelId="{D80665D2-315E-4900-9980-E0D7C6ECEC3C}" type="sibTrans" cxnId="{D385247B-FFBA-43E6-B115-303FBE8A73D1}">
      <dgm:prSet/>
      <dgm:spPr/>
      <dgm:t>
        <a:bodyPr/>
        <a:lstStyle/>
        <a:p>
          <a:endParaRPr lang="en-US"/>
        </a:p>
      </dgm:t>
    </dgm:pt>
    <dgm:pt modelId="{69F23981-B1D7-4464-B81F-9126DB292CEA}">
      <dgm:prSet/>
      <dgm:spPr>
        <a:blipFill>
          <a:blip xmlns:r="http://schemas.openxmlformats.org/officeDocument/2006/relationships" r:embed="rId1"/>
          <a:stretch>
            <a:fillRect t="-8387" r="-155" b="-1032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62FAB4AD-4E73-400C-95B4-CB7848BDD85C}" type="parTrans" cxnId="{38DE929C-7082-4894-BEB8-45483806E45C}">
      <dgm:prSet/>
      <dgm:spPr/>
      <dgm:t>
        <a:bodyPr/>
        <a:lstStyle/>
        <a:p>
          <a:endParaRPr lang="en-US"/>
        </a:p>
      </dgm:t>
    </dgm:pt>
    <dgm:pt modelId="{2A1F5FE2-1D8E-46EA-8748-3ABFFA2FBDAC}" type="sibTrans" cxnId="{38DE929C-7082-4894-BEB8-45483806E45C}">
      <dgm:prSet/>
      <dgm:spPr/>
      <dgm:t>
        <a:bodyPr/>
        <a:lstStyle/>
        <a:p>
          <a:endParaRPr lang="en-US"/>
        </a:p>
      </dgm:t>
    </dgm:pt>
    <dgm:pt modelId="{EF6D8340-D276-420D-A4AB-A1E5A7BF47D9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DCAA3F6-BDA0-4EF3-B67D-D305F28E9085}" type="parTrans" cxnId="{3E2AB396-2ADC-4293-A6AC-E86FB34CD119}">
      <dgm:prSet/>
      <dgm:spPr/>
      <dgm:t>
        <a:bodyPr/>
        <a:lstStyle/>
        <a:p>
          <a:endParaRPr lang="en-US"/>
        </a:p>
      </dgm:t>
    </dgm:pt>
    <dgm:pt modelId="{A5EF78CA-BADF-4DB6-83B2-43EDD00EC251}" type="sibTrans" cxnId="{3E2AB396-2ADC-4293-A6AC-E86FB34CD119}">
      <dgm:prSet/>
      <dgm:spPr/>
      <dgm:t>
        <a:bodyPr/>
        <a:lstStyle/>
        <a:p>
          <a:endParaRPr lang="en-US"/>
        </a:p>
      </dgm:t>
    </dgm:pt>
    <dgm:pt modelId="{994620EC-3F28-4D70-824D-2A7A5AC4A8D3}" type="pres">
      <dgm:prSet presAssocID="{A8CA8907-E32D-46A7-84D9-06D43E82CC64}" presName="linear" presStyleCnt="0">
        <dgm:presLayoutVars>
          <dgm:animLvl val="lvl"/>
          <dgm:resizeHandles val="exact"/>
        </dgm:presLayoutVars>
      </dgm:prSet>
      <dgm:spPr/>
    </dgm:pt>
    <dgm:pt modelId="{755C8529-702E-47E4-8348-F050DDC4A99C}" type="pres">
      <dgm:prSet presAssocID="{3DFF7690-4E06-444D-ABC8-24C683307CE3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E172844F-D89C-439F-85B7-E5506FCD37AC}" type="pres">
      <dgm:prSet presAssocID="{3DFF7690-4E06-444D-ABC8-24C683307CE3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D385247B-FFBA-43E6-B115-303FBE8A73D1}" srcId="{A8CA8907-E32D-46A7-84D9-06D43E82CC64}" destId="{3DFF7690-4E06-444D-ABC8-24C683307CE3}" srcOrd="0" destOrd="0" parTransId="{33D95D03-50DB-4F11-96F4-9C3CAC2B20A9}" sibTransId="{D80665D2-315E-4900-9980-E0D7C6ECEC3C}"/>
    <dgm:cxn modelId="{2F884188-D5B6-480A-A540-CC255434FB7E}" type="presOf" srcId="{3DFF7690-4E06-444D-ABC8-24C683307CE3}" destId="{755C8529-702E-47E4-8348-F050DDC4A99C}" srcOrd="0" destOrd="0" presId="urn:microsoft.com/office/officeart/2005/8/layout/vList2"/>
    <dgm:cxn modelId="{3E2AB396-2ADC-4293-A6AC-E86FB34CD119}" srcId="{3DFF7690-4E06-444D-ABC8-24C683307CE3}" destId="{EF6D8340-D276-420D-A4AB-A1E5A7BF47D9}" srcOrd="1" destOrd="0" parTransId="{2DCAA3F6-BDA0-4EF3-B67D-D305F28E9085}" sibTransId="{A5EF78CA-BADF-4DB6-83B2-43EDD00EC251}"/>
    <dgm:cxn modelId="{7DA06297-DCE8-45C2-BB12-A3532E043814}" type="presOf" srcId="{EF6D8340-D276-420D-A4AB-A1E5A7BF47D9}" destId="{E172844F-D89C-439F-85B7-E5506FCD37AC}" srcOrd="0" destOrd="1" presId="urn:microsoft.com/office/officeart/2005/8/layout/vList2"/>
    <dgm:cxn modelId="{9A295A9A-C0E1-44D7-B968-0E61F4648E21}" type="presOf" srcId="{69F23981-B1D7-4464-B81F-9126DB292CEA}" destId="{E172844F-D89C-439F-85B7-E5506FCD37AC}" srcOrd="0" destOrd="0" presId="urn:microsoft.com/office/officeart/2005/8/layout/vList2"/>
    <dgm:cxn modelId="{38DE929C-7082-4894-BEB8-45483806E45C}" srcId="{3DFF7690-4E06-444D-ABC8-24C683307CE3}" destId="{69F23981-B1D7-4464-B81F-9126DB292CEA}" srcOrd="0" destOrd="0" parTransId="{62FAB4AD-4E73-400C-95B4-CB7848BDD85C}" sibTransId="{2A1F5FE2-1D8E-46EA-8748-3ABFFA2FBDAC}"/>
    <dgm:cxn modelId="{6F8C4AAF-9DFC-43E9-A458-58C822A42C9B}" type="presOf" srcId="{A8CA8907-E32D-46A7-84D9-06D43E82CC64}" destId="{994620EC-3F28-4D70-824D-2A7A5AC4A8D3}" srcOrd="0" destOrd="0" presId="urn:microsoft.com/office/officeart/2005/8/layout/vList2"/>
    <dgm:cxn modelId="{5C80242B-C599-4013-A87F-B48EA73A13B6}" type="presParOf" srcId="{994620EC-3F28-4D70-824D-2A7A5AC4A8D3}" destId="{755C8529-702E-47E4-8348-F050DDC4A99C}" srcOrd="0" destOrd="0" presId="urn:microsoft.com/office/officeart/2005/8/layout/vList2"/>
    <dgm:cxn modelId="{C579A25F-D24C-41FA-9C9C-60898F94AEAE}" type="presParOf" srcId="{994620EC-3F28-4D70-824D-2A7A5AC4A8D3}" destId="{E172844F-D89C-439F-85B7-E5506FCD37AC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772EB-A28C-4249-9248-E9285A7294E2}">
      <dsp:nvSpPr>
        <dsp:cNvPr id="0" name=""/>
        <dsp:cNvSpPr/>
      </dsp:nvSpPr>
      <dsp:spPr>
        <a:xfrm rot="10800000">
          <a:off x="520460" y="0"/>
          <a:ext cx="4064416" cy="4064416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28154D5-B7B6-4090-B776-DC63838EC167}">
      <dsp:nvSpPr>
        <dsp:cNvPr id="0" name=""/>
        <dsp:cNvSpPr/>
      </dsp:nvSpPr>
      <dsp:spPr>
        <a:xfrm>
          <a:off x="2552668" y="406838"/>
          <a:ext cx="2641870" cy="7223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Utility-based agents</a:t>
          </a:r>
        </a:p>
      </dsp:txBody>
      <dsp:txXfrm>
        <a:off x="2587932" y="442102"/>
        <a:ext cx="2571342" cy="651858"/>
      </dsp:txXfrm>
    </dsp:sp>
    <dsp:sp modelId="{E9E54B10-0E80-4EC7-BDC9-1B1E1CD3F5FC}">
      <dsp:nvSpPr>
        <dsp:cNvPr id="0" name=""/>
        <dsp:cNvSpPr/>
      </dsp:nvSpPr>
      <dsp:spPr>
        <a:xfrm>
          <a:off x="2552668" y="1219523"/>
          <a:ext cx="2641870" cy="7223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Goal-based agents</a:t>
          </a:r>
        </a:p>
      </dsp:txBody>
      <dsp:txXfrm>
        <a:off x="2587932" y="1254787"/>
        <a:ext cx="2571342" cy="651858"/>
      </dsp:txXfrm>
    </dsp:sp>
    <dsp:sp modelId="{B5BCA4F7-7F6F-43C2-84D5-1C28E4BBCA24}">
      <dsp:nvSpPr>
        <dsp:cNvPr id="0" name=""/>
        <dsp:cNvSpPr/>
      </dsp:nvSpPr>
      <dsp:spPr>
        <a:xfrm>
          <a:off x="2552668" y="2032208"/>
          <a:ext cx="2641870" cy="7223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Model-based reflex agents</a:t>
          </a:r>
          <a:endParaRPr lang="en-US" sz="1800" kern="1200" dirty="0"/>
        </a:p>
      </dsp:txBody>
      <dsp:txXfrm>
        <a:off x="2587932" y="2067472"/>
        <a:ext cx="2571342" cy="651858"/>
      </dsp:txXfrm>
    </dsp:sp>
    <dsp:sp modelId="{54EC23F3-F115-4CD3-9500-0768D2AE6E17}">
      <dsp:nvSpPr>
        <dsp:cNvPr id="0" name=""/>
        <dsp:cNvSpPr/>
      </dsp:nvSpPr>
      <dsp:spPr>
        <a:xfrm>
          <a:off x="2552668" y="2844892"/>
          <a:ext cx="2641870" cy="72238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Simple reflex agents</a:t>
          </a:r>
          <a:endParaRPr lang="en-US" sz="1800" kern="1200" dirty="0"/>
        </a:p>
      </dsp:txBody>
      <dsp:txXfrm>
        <a:off x="2587932" y="2880156"/>
        <a:ext cx="2571342" cy="651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E1BBF-4D20-4EFA-8FBA-2CB51FC12354}">
      <dsp:nvSpPr>
        <dsp:cNvPr id="0" name=""/>
        <dsp:cNvSpPr/>
      </dsp:nvSpPr>
      <dsp:spPr>
        <a:xfrm>
          <a:off x="591502" y="0"/>
          <a:ext cx="6703695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44C12-88B0-4110-A615-593B33661A2F}">
      <dsp:nvSpPr>
        <dsp:cNvPr id="0" name=""/>
        <dsp:cNvSpPr/>
      </dsp:nvSpPr>
      <dsp:spPr>
        <a:xfrm>
          <a:off x="3947" y="1305401"/>
          <a:ext cx="1898507" cy="1740535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Knowledge-Based Agents</a:t>
          </a:r>
        </a:p>
      </dsp:txBody>
      <dsp:txXfrm>
        <a:off x="88913" y="1390367"/>
        <a:ext cx="1728575" cy="1570603"/>
      </dsp:txXfrm>
    </dsp:sp>
    <dsp:sp modelId="{C6028030-79D6-4C56-83A0-FFCC4FFD9531}">
      <dsp:nvSpPr>
        <dsp:cNvPr id="0" name=""/>
        <dsp:cNvSpPr/>
      </dsp:nvSpPr>
      <dsp:spPr>
        <a:xfrm>
          <a:off x="1997379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Logical Agents</a:t>
          </a:r>
        </a:p>
      </dsp:txBody>
      <dsp:txXfrm>
        <a:off x="2082345" y="1390367"/>
        <a:ext cx="1728575" cy="1570603"/>
      </dsp:txXfrm>
    </dsp:sp>
    <dsp:sp modelId="{DDCFE056-7DBC-41D4-9B2A-043DC107776E}">
      <dsp:nvSpPr>
        <dsp:cNvPr id="0" name=""/>
        <dsp:cNvSpPr/>
      </dsp:nvSpPr>
      <dsp:spPr>
        <a:xfrm>
          <a:off x="3990812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Probabilistic Reasoning Agents</a:t>
          </a:r>
        </a:p>
      </dsp:txBody>
      <dsp:txXfrm>
        <a:off x="4075778" y="1390367"/>
        <a:ext cx="1728575" cy="1570603"/>
      </dsp:txXfrm>
    </dsp:sp>
    <dsp:sp modelId="{2E3B89D9-371F-4849-B1A1-13AE09760E56}">
      <dsp:nvSpPr>
        <dsp:cNvPr id="0" name=""/>
        <dsp:cNvSpPr/>
      </dsp:nvSpPr>
      <dsp:spPr>
        <a:xfrm>
          <a:off x="5984245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Large Language Models</a:t>
          </a:r>
        </a:p>
      </dsp:txBody>
      <dsp:txXfrm>
        <a:off x="6069211" y="1390367"/>
        <a:ext cx="1728575" cy="15706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E1BBF-4D20-4EFA-8FBA-2CB51FC12354}">
      <dsp:nvSpPr>
        <dsp:cNvPr id="0" name=""/>
        <dsp:cNvSpPr/>
      </dsp:nvSpPr>
      <dsp:spPr>
        <a:xfrm>
          <a:off x="591502" y="0"/>
          <a:ext cx="6703695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44C12-88B0-4110-A615-593B33661A2F}">
      <dsp:nvSpPr>
        <dsp:cNvPr id="0" name=""/>
        <dsp:cNvSpPr/>
      </dsp:nvSpPr>
      <dsp:spPr>
        <a:xfrm>
          <a:off x="3947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Knowledge-Based Agents</a:t>
          </a:r>
        </a:p>
      </dsp:txBody>
      <dsp:txXfrm>
        <a:off x="88913" y="1390367"/>
        <a:ext cx="1728575" cy="1570603"/>
      </dsp:txXfrm>
    </dsp:sp>
    <dsp:sp modelId="{C6028030-79D6-4C56-83A0-FFCC4FFD9531}">
      <dsp:nvSpPr>
        <dsp:cNvPr id="0" name=""/>
        <dsp:cNvSpPr/>
      </dsp:nvSpPr>
      <dsp:spPr>
        <a:xfrm>
          <a:off x="1997379" y="1305401"/>
          <a:ext cx="1898507" cy="1740535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Logical Agents</a:t>
          </a:r>
        </a:p>
      </dsp:txBody>
      <dsp:txXfrm>
        <a:off x="2082345" y="1390367"/>
        <a:ext cx="1728575" cy="1570603"/>
      </dsp:txXfrm>
    </dsp:sp>
    <dsp:sp modelId="{DDCFE056-7DBC-41D4-9B2A-043DC107776E}">
      <dsp:nvSpPr>
        <dsp:cNvPr id="0" name=""/>
        <dsp:cNvSpPr/>
      </dsp:nvSpPr>
      <dsp:spPr>
        <a:xfrm>
          <a:off x="3990812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Probabilistic Reasoning Agents</a:t>
          </a:r>
          <a:endParaRPr lang="en-US" sz="2400" kern="1200" dirty="0"/>
        </a:p>
      </dsp:txBody>
      <dsp:txXfrm>
        <a:off x="4075778" y="1390367"/>
        <a:ext cx="1728575" cy="1570603"/>
      </dsp:txXfrm>
    </dsp:sp>
    <dsp:sp modelId="{2E3B89D9-371F-4849-B1A1-13AE09760E56}">
      <dsp:nvSpPr>
        <dsp:cNvPr id="0" name=""/>
        <dsp:cNvSpPr/>
      </dsp:nvSpPr>
      <dsp:spPr>
        <a:xfrm>
          <a:off x="5984245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Large Language Models</a:t>
          </a:r>
        </a:p>
      </dsp:txBody>
      <dsp:txXfrm>
        <a:off x="6069211" y="1390367"/>
        <a:ext cx="1728575" cy="15706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E1BBF-4D20-4EFA-8FBA-2CB51FC12354}">
      <dsp:nvSpPr>
        <dsp:cNvPr id="0" name=""/>
        <dsp:cNvSpPr/>
      </dsp:nvSpPr>
      <dsp:spPr>
        <a:xfrm>
          <a:off x="591502" y="0"/>
          <a:ext cx="6703695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44C12-88B0-4110-A615-593B33661A2F}">
      <dsp:nvSpPr>
        <dsp:cNvPr id="0" name=""/>
        <dsp:cNvSpPr/>
      </dsp:nvSpPr>
      <dsp:spPr>
        <a:xfrm>
          <a:off x="3947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Knowledge-Based Agents</a:t>
          </a:r>
        </a:p>
      </dsp:txBody>
      <dsp:txXfrm>
        <a:off x="88913" y="1390367"/>
        <a:ext cx="1728575" cy="1570603"/>
      </dsp:txXfrm>
    </dsp:sp>
    <dsp:sp modelId="{C6028030-79D6-4C56-83A0-FFCC4FFD9531}">
      <dsp:nvSpPr>
        <dsp:cNvPr id="0" name=""/>
        <dsp:cNvSpPr/>
      </dsp:nvSpPr>
      <dsp:spPr>
        <a:xfrm>
          <a:off x="1997379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Logical Agents</a:t>
          </a:r>
        </a:p>
      </dsp:txBody>
      <dsp:txXfrm>
        <a:off x="2082345" y="1390367"/>
        <a:ext cx="1728575" cy="1570603"/>
      </dsp:txXfrm>
    </dsp:sp>
    <dsp:sp modelId="{DDCFE056-7DBC-41D4-9B2A-043DC107776E}">
      <dsp:nvSpPr>
        <dsp:cNvPr id="0" name=""/>
        <dsp:cNvSpPr/>
      </dsp:nvSpPr>
      <dsp:spPr>
        <a:xfrm>
          <a:off x="3990812" y="1305401"/>
          <a:ext cx="1898507" cy="1740535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Probabilistic Reasoning Agents</a:t>
          </a:r>
        </a:p>
      </dsp:txBody>
      <dsp:txXfrm>
        <a:off x="4075778" y="1390367"/>
        <a:ext cx="1728575" cy="1570603"/>
      </dsp:txXfrm>
    </dsp:sp>
    <dsp:sp modelId="{2E3B89D9-371F-4849-B1A1-13AE09760E56}">
      <dsp:nvSpPr>
        <dsp:cNvPr id="0" name=""/>
        <dsp:cNvSpPr/>
      </dsp:nvSpPr>
      <dsp:spPr>
        <a:xfrm>
          <a:off x="5984245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Large Language Models</a:t>
          </a:r>
        </a:p>
      </dsp:txBody>
      <dsp:txXfrm>
        <a:off x="6069211" y="1390367"/>
        <a:ext cx="1728575" cy="15706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E1BBF-4D20-4EFA-8FBA-2CB51FC12354}">
      <dsp:nvSpPr>
        <dsp:cNvPr id="0" name=""/>
        <dsp:cNvSpPr/>
      </dsp:nvSpPr>
      <dsp:spPr>
        <a:xfrm>
          <a:off x="591502" y="0"/>
          <a:ext cx="6703695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A44C12-88B0-4110-A615-593B33661A2F}">
      <dsp:nvSpPr>
        <dsp:cNvPr id="0" name=""/>
        <dsp:cNvSpPr/>
      </dsp:nvSpPr>
      <dsp:spPr>
        <a:xfrm>
          <a:off x="3947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Knowledge-Based Agents</a:t>
          </a:r>
        </a:p>
      </dsp:txBody>
      <dsp:txXfrm>
        <a:off x="88913" y="1390367"/>
        <a:ext cx="1728575" cy="1570603"/>
      </dsp:txXfrm>
    </dsp:sp>
    <dsp:sp modelId="{C6028030-79D6-4C56-83A0-FFCC4FFD9531}">
      <dsp:nvSpPr>
        <dsp:cNvPr id="0" name=""/>
        <dsp:cNvSpPr/>
      </dsp:nvSpPr>
      <dsp:spPr>
        <a:xfrm>
          <a:off x="1997379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Logical Agents</a:t>
          </a:r>
        </a:p>
      </dsp:txBody>
      <dsp:txXfrm>
        <a:off x="2082345" y="1390367"/>
        <a:ext cx="1728575" cy="1570603"/>
      </dsp:txXfrm>
    </dsp:sp>
    <dsp:sp modelId="{DDCFE056-7DBC-41D4-9B2A-043DC107776E}">
      <dsp:nvSpPr>
        <dsp:cNvPr id="0" name=""/>
        <dsp:cNvSpPr/>
      </dsp:nvSpPr>
      <dsp:spPr>
        <a:xfrm>
          <a:off x="3990812" y="1305401"/>
          <a:ext cx="1898507" cy="1740535"/>
        </a:xfrm>
        <a:prstGeom prst="roundRect">
          <a:avLst/>
        </a:prstGeom>
        <a:solidFill>
          <a:schemeClr val="accent3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Probabilistic Reasoning Agents</a:t>
          </a:r>
          <a:endParaRPr lang="en-US" sz="2400" kern="1200" dirty="0"/>
        </a:p>
      </dsp:txBody>
      <dsp:txXfrm>
        <a:off x="4075778" y="1390367"/>
        <a:ext cx="1728575" cy="1570603"/>
      </dsp:txXfrm>
    </dsp:sp>
    <dsp:sp modelId="{2E3B89D9-371F-4849-B1A1-13AE09760E56}">
      <dsp:nvSpPr>
        <dsp:cNvPr id="0" name=""/>
        <dsp:cNvSpPr/>
      </dsp:nvSpPr>
      <dsp:spPr>
        <a:xfrm>
          <a:off x="5984245" y="1305401"/>
          <a:ext cx="1898507" cy="1740535"/>
        </a:xfrm>
        <a:prstGeom prst="roundRect">
          <a:avLst/>
        </a:prstGeom>
        <a:solidFill>
          <a:schemeClr val="accent2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Large Language Models</a:t>
          </a:r>
        </a:p>
      </dsp:txBody>
      <dsp:txXfrm>
        <a:off x="6069211" y="1390367"/>
        <a:ext cx="1728575" cy="15706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96850-7E8D-4BE9-B382-C6EDAAAB89E7}">
      <dsp:nvSpPr>
        <dsp:cNvPr id="0" name=""/>
        <dsp:cNvSpPr/>
      </dsp:nvSpPr>
      <dsp:spPr>
        <a:xfrm>
          <a:off x="0" y="559"/>
          <a:ext cx="7879842" cy="13096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773A63-25E8-4FE5-B7DC-CDA799647BF8}">
      <dsp:nvSpPr>
        <dsp:cNvPr id="0" name=""/>
        <dsp:cNvSpPr/>
      </dsp:nvSpPr>
      <dsp:spPr>
        <a:xfrm>
          <a:off x="396173" y="295234"/>
          <a:ext cx="720315" cy="7203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6A3E7-80A4-4FDA-B121-839A3CFFE3B3}">
      <dsp:nvSpPr>
        <dsp:cNvPr id="0" name=""/>
        <dsp:cNvSpPr/>
      </dsp:nvSpPr>
      <dsp:spPr>
        <a:xfrm>
          <a:off x="1512662" y="559"/>
          <a:ext cx="6367179" cy="1309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06" tIns="138606" rIns="138606" bIns="1386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Logic</a:t>
          </a:r>
          <a:r>
            <a:rPr lang="en-US" sz="1800" kern="1200" dirty="0"/>
            <a:t> is a formal system for representing and manipulating facts (i.e., knowledge) so that true conclusions may be drawn</a:t>
          </a:r>
        </a:p>
      </dsp:txBody>
      <dsp:txXfrm>
        <a:off x="1512662" y="559"/>
        <a:ext cx="6367179" cy="1309664"/>
      </dsp:txXfrm>
    </dsp:sp>
    <dsp:sp modelId="{2C3E9214-0017-46E8-BB6B-0361D379F9A4}">
      <dsp:nvSpPr>
        <dsp:cNvPr id="0" name=""/>
        <dsp:cNvSpPr/>
      </dsp:nvSpPr>
      <dsp:spPr>
        <a:xfrm>
          <a:off x="0" y="1637640"/>
          <a:ext cx="7879842" cy="130966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A0BE6-B372-47B5-B22D-F7ECAB32F0F0}">
      <dsp:nvSpPr>
        <dsp:cNvPr id="0" name=""/>
        <dsp:cNvSpPr/>
      </dsp:nvSpPr>
      <dsp:spPr>
        <a:xfrm>
          <a:off x="396173" y="1932315"/>
          <a:ext cx="720315" cy="7203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0D2D6-69F0-4939-91B3-FB9B4E78F06F}">
      <dsp:nvSpPr>
        <dsp:cNvPr id="0" name=""/>
        <dsp:cNvSpPr/>
      </dsp:nvSpPr>
      <dsp:spPr>
        <a:xfrm>
          <a:off x="1512662" y="1637640"/>
          <a:ext cx="3545928" cy="1309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06" tIns="138606" rIns="138606" bIns="1386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Syntax:</a:t>
          </a:r>
          <a:r>
            <a:rPr lang="en-US" sz="1800" kern="1200"/>
            <a:t> rules for constructing valid sentences</a:t>
          </a:r>
        </a:p>
      </dsp:txBody>
      <dsp:txXfrm>
        <a:off x="1512662" y="1637640"/>
        <a:ext cx="3545928" cy="1309664"/>
      </dsp:txXfrm>
    </dsp:sp>
    <dsp:sp modelId="{BFFC4D19-EF81-4E5E-A3AE-FDABAB6305DE}">
      <dsp:nvSpPr>
        <dsp:cNvPr id="0" name=""/>
        <dsp:cNvSpPr/>
      </dsp:nvSpPr>
      <dsp:spPr>
        <a:xfrm>
          <a:off x="5058591" y="1637640"/>
          <a:ext cx="2821250" cy="1309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06" tIns="138606" rIns="138606" bIns="13860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E.g., x + 2 </a:t>
          </a:r>
          <a:r>
            <a:rPr lang="en-US" sz="1300" kern="1200">
              <a:sym typeface="Symbol" panose="05050102010706020507" pitchFamily="18" charset="2"/>
            </a:rPr>
            <a:t></a:t>
          </a:r>
          <a:r>
            <a:rPr lang="en-US" sz="1300" kern="1200"/>
            <a:t> y is a valid arithmetic sentence, </a:t>
          </a:r>
          <a:r>
            <a:rPr lang="en-US" sz="1300" kern="1200">
              <a:sym typeface="Symbol" panose="05050102010706020507" pitchFamily="18" charset="2"/>
            </a:rPr>
            <a:t></a:t>
          </a:r>
          <a:r>
            <a:rPr lang="en-US" sz="1300" kern="1200"/>
            <a:t>x2y + is not</a:t>
          </a:r>
        </a:p>
      </dsp:txBody>
      <dsp:txXfrm>
        <a:off x="5058591" y="1637640"/>
        <a:ext cx="2821250" cy="1309664"/>
      </dsp:txXfrm>
    </dsp:sp>
    <dsp:sp modelId="{A9A8DD4C-B478-4FC6-AF08-B458D9A5C90B}">
      <dsp:nvSpPr>
        <dsp:cNvPr id="0" name=""/>
        <dsp:cNvSpPr/>
      </dsp:nvSpPr>
      <dsp:spPr>
        <a:xfrm>
          <a:off x="0" y="3274721"/>
          <a:ext cx="7879842" cy="130966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A74E9-D16C-4EBC-B9BE-4CD1B48EB808}">
      <dsp:nvSpPr>
        <dsp:cNvPr id="0" name=""/>
        <dsp:cNvSpPr/>
      </dsp:nvSpPr>
      <dsp:spPr>
        <a:xfrm>
          <a:off x="396173" y="3569396"/>
          <a:ext cx="720315" cy="72031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A0DF3-CBA3-4BAB-82F5-5901221B6DFA}">
      <dsp:nvSpPr>
        <dsp:cNvPr id="0" name=""/>
        <dsp:cNvSpPr/>
      </dsp:nvSpPr>
      <dsp:spPr>
        <a:xfrm>
          <a:off x="1512662" y="3274721"/>
          <a:ext cx="3545928" cy="1309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06" tIns="138606" rIns="138606" bIns="13860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Semantics:</a:t>
          </a:r>
          <a:r>
            <a:rPr lang="en-US" sz="1800" kern="1200"/>
            <a:t> “meaning” of sentences, or relationship between logical sentences and the real world</a:t>
          </a:r>
        </a:p>
      </dsp:txBody>
      <dsp:txXfrm>
        <a:off x="1512662" y="3274721"/>
        <a:ext cx="3545928" cy="1309664"/>
      </dsp:txXfrm>
    </dsp:sp>
    <dsp:sp modelId="{B6485A47-A547-471B-9A0F-31B3CBE82201}">
      <dsp:nvSpPr>
        <dsp:cNvPr id="0" name=""/>
        <dsp:cNvSpPr/>
      </dsp:nvSpPr>
      <dsp:spPr>
        <a:xfrm>
          <a:off x="5058591" y="3274721"/>
          <a:ext cx="2821250" cy="1309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06" tIns="138606" rIns="138606" bIns="13860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Specifically, semantics defines truth of sentences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E.g., x + 2 </a:t>
          </a:r>
          <a:r>
            <a:rPr lang="en-US" sz="1300" kern="1200">
              <a:sym typeface="Symbol" panose="05050102010706020507" pitchFamily="18" charset="2"/>
            </a:rPr>
            <a:t></a:t>
          </a:r>
          <a:r>
            <a:rPr lang="en-US" sz="1300" kern="1200"/>
            <a:t> y is true in a world where x = 5 </a:t>
          </a:r>
          <a:br>
            <a:rPr lang="en-US" sz="1300" kern="1200"/>
          </a:br>
          <a:r>
            <a:rPr lang="en-US" sz="1300" kern="1200"/>
            <a:t>and y = 7</a:t>
          </a:r>
        </a:p>
      </dsp:txBody>
      <dsp:txXfrm>
        <a:off x="5058591" y="3274721"/>
        <a:ext cx="2821250" cy="130966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3DA5A-FFC5-4C04-8D1B-F979D46BF580}">
      <dsp:nvSpPr>
        <dsp:cNvPr id="0" name=""/>
        <dsp:cNvSpPr/>
      </dsp:nvSpPr>
      <dsp:spPr>
        <a:xfrm rot="5400000">
          <a:off x="4802041" y="-1820475"/>
          <a:ext cx="1121829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e.g.,  </a:t>
          </a:r>
          <a:r>
            <a:rPr lang="en-US" sz="2100" i="1" kern="1200" dirty="0"/>
            <a:t>True</a:t>
          </a:r>
          <a:r>
            <a:rPr lang="en-US" sz="2100" kern="1200" dirty="0"/>
            <a:t>, A </a:t>
          </a:r>
          <a:r>
            <a:rPr lang="en-US" sz="2100" kern="1200" dirty="0">
              <a:sym typeface="Symbol" panose="05050102010706020507" pitchFamily="18" charset="2"/>
            </a:rPr>
            <a:t></a:t>
          </a:r>
          <a:r>
            <a:rPr lang="en-US" sz="2100" kern="1200" dirty="0"/>
            <a:t>A, A </a:t>
          </a:r>
          <a:r>
            <a:rPr lang="en-US" sz="2100" kern="1200" dirty="0">
              <a:sym typeface="Symbol" panose="05050102010706020507" pitchFamily="18" charset="2"/>
            </a:rPr>
            <a:t></a:t>
          </a:r>
          <a:r>
            <a:rPr lang="en-US" sz="2100" kern="1200" dirty="0"/>
            <a:t> A, (A </a:t>
          </a:r>
          <a:r>
            <a:rPr lang="en-US" sz="2100" kern="1200" dirty="0">
              <a:sym typeface="Symbol" panose="05050102010706020507" pitchFamily="18" charset="2"/>
            </a:rPr>
            <a:t></a:t>
          </a:r>
          <a:r>
            <a:rPr lang="en-US" sz="2100" kern="1200" dirty="0"/>
            <a:t> (A </a:t>
          </a:r>
          <a:r>
            <a:rPr lang="en-US" sz="2100" kern="1200" dirty="0">
              <a:sym typeface="Symbol" panose="05050102010706020507" pitchFamily="18" charset="2"/>
            </a:rPr>
            <a:t></a:t>
          </a:r>
          <a:r>
            <a:rPr lang="en-US" sz="2100" kern="1200" dirty="0"/>
            <a:t> B)) </a:t>
          </a:r>
          <a:r>
            <a:rPr lang="en-US" sz="2100" kern="1200" dirty="0">
              <a:sym typeface="Symbol" panose="05050102010706020507" pitchFamily="18" charset="2"/>
            </a:rPr>
            <a:t></a:t>
          </a:r>
          <a:r>
            <a:rPr lang="en-US" sz="2100" kern="1200" dirty="0"/>
            <a:t> B</a:t>
          </a:r>
          <a:br>
            <a:rPr lang="en-US" sz="2100" kern="1200" dirty="0"/>
          </a:br>
          <a:r>
            <a:rPr lang="en-US" sz="2100" kern="1200" dirty="0"/>
            <a:t>are called tautologies and are useful to deduct new sentences.</a:t>
          </a:r>
        </a:p>
      </dsp:txBody>
      <dsp:txXfrm rot="-5400000">
        <a:off x="2839212" y="197117"/>
        <a:ext cx="4992725" cy="1012303"/>
      </dsp:txXfrm>
    </dsp:sp>
    <dsp:sp modelId="{F16C5245-CA57-40C3-BF13-600617EE2B81}">
      <dsp:nvSpPr>
        <dsp:cNvPr id="0" name=""/>
        <dsp:cNvSpPr/>
      </dsp:nvSpPr>
      <dsp:spPr>
        <a:xfrm>
          <a:off x="0" y="2124"/>
          <a:ext cx="2839212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sentence is </a:t>
          </a:r>
          <a:r>
            <a:rPr lang="en-US" sz="2400" b="1" kern="1200" dirty="0">
              <a:solidFill>
                <a:schemeClr val="bg1"/>
              </a:solidFill>
            </a:rPr>
            <a:t>valid</a:t>
          </a:r>
          <a:r>
            <a:rPr lang="en-US" sz="2400" kern="1200" dirty="0"/>
            <a:t> if it is true in </a:t>
          </a:r>
          <a:r>
            <a:rPr lang="en-US" sz="2400" b="1" kern="1200" dirty="0"/>
            <a:t>all</a:t>
          </a:r>
          <a:r>
            <a:rPr lang="en-US" sz="2400" kern="1200" dirty="0"/>
            <a:t> models/worlds</a:t>
          </a:r>
        </a:p>
      </dsp:txBody>
      <dsp:txXfrm>
        <a:off x="68454" y="70578"/>
        <a:ext cx="2702304" cy="1265378"/>
      </dsp:txXfrm>
    </dsp:sp>
    <dsp:sp modelId="{1122C6AF-3263-4F64-951F-4BC2754F8A76}">
      <dsp:nvSpPr>
        <dsp:cNvPr id="0" name=""/>
        <dsp:cNvSpPr/>
      </dsp:nvSpPr>
      <dsp:spPr>
        <a:xfrm rot="5400000">
          <a:off x="4802041" y="-348074"/>
          <a:ext cx="1121829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e.g.,  A</a:t>
          </a:r>
          <a:r>
            <a:rPr lang="en-US" sz="2100" kern="1200" dirty="0">
              <a:sym typeface="Symbol" panose="05050102010706020507" pitchFamily="18" charset="2"/>
            </a:rPr>
            <a:t></a:t>
          </a:r>
          <a:r>
            <a:rPr lang="en-US" sz="2100" kern="1200" dirty="0"/>
            <a:t>B, C</a:t>
          </a:r>
          <a:br>
            <a:rPr lang="en-US" sz="2100" kern="1200" dirty="0"/>
          </a:br>
          <a:r>
            <a:rPr lang="en-US" sz="2100" kern="1200" dirty="0"/>
            <a:t>useful to find new facts that satisfy all current possible worlds.</a:t>
          </a:r>
        </a:p>
      </dsp:txBody>
      <dsp:txXfrm rot="-5400000">
        <a:off x="2839212" y="1669518"/>
        <a:ext cx="4992725" cy="1012303"/>
      </dsp:txXfrm>
    </dsp:sp>
    <dsp:sp modelId="{01011F8A-1F82-4995-B713-07763DC517A3}">
      <dsp:nvSpPr>
        <dsp:cNvPr id="0" name=""/>
        <dsp:cNvSpPr/>
      </dsp:nvSpPr>
      <dsp:spPr>
        <a:xfrm>
          <a:off x="0" y="1474525"/>
          <a:ext cx="2839212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sentence is </a:t>
          </a:r>
          <a:r>
            <a:rPr lang="en-US" sz="2400" b="1" kern="1200" dirty="0"/>
            <a:t>satisfiable</a:t>
          </a:r>
          <a:r>
            <a:rPr lang="en-US" sz="2400" kern="1200" dirty="0"/>
            <a:t> if it is true in </a:t>
          </a:r>
          <a:r>
            <a:rPr lang="en-US" sz="2400" b="1" kern="1200" dirty="0"/>
            <a:t>some</a:t>
          </a:r>
          <a:r>
            <a:rPr lang="en-US" sz="2400" kern="1200" dirty="0"/>
            <a:t> model</a:t>
          </a:r>
        </a:p>
      </dsp:txBody>
      <dsp:txXfrm>
        <a:off x="68454" y="1542979"/>
        <a:ext cx="2702304" cy="1265378"/>
      </dsp:txXfrm>
    </dsp:sp>
    <dsp:sp modelId="{02F7C1E3-94D8-458B-A97B-7CAB3C4516F9}">
      <dsp:nvSpPr>
        <dsp:cNvPr id="0" name=""/>
        <dsp:cNvSpPr/>
      </dsp:nvSpPr>
      <dsp:spPr>
        <a:xfrm rot="5400000">
          <a:off x="4802041" y="1124325"/>
          <a:ext cx="1121829" cy="504748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100" kern="1200" dirty="0"/>
            <a:t>e.g., A</a:t>
          </a:r>
          <a:r>
            <a:rPr lang="en-US" sz="2100" kern="1200" dirty="0">
              <a:sym typeface="Symbol" panose="05050102010706020507" pitchFamily="18" charset="2"/>
            </a:rPr>
            <a:t></a:t>
          </a:r>
          <a:r>
            <a:rPr lang="en-US" sz="2100" kern="1200" dirty="0"/>
            <a:t>A</a:t>
          </a:r>
        </a:p>
      </dsp:txBody>
      <dsp:txXfrm rot="-5400000">
        <a:off x="2839212" y="3141918"/>
        <a:ext cx="4992725" cy="1012303"/>
      </dsp:txXfrm>
    </dsp:sp>
    <dsp:sp modelId="{E9B57FF1-AF4A-4F4E-A00A-E23398002350}">
      <dsp:nvSpPr>
        <dsp:cNvPr id="0" name=""/>
        <dsp:cNvSpPr/>
      </dsp:nvSpPr>
      <dsp:spPr>
        <a:xfrm>
          <a:off x="0" y="2946926"/>
          <a:ext cx="2839212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sentence is </a:t>
          </a:r>
          <a:r>
            <a:rPr lang="en-US" sz="2400" b="1" kern="1200" dirty="0"/>
            <a:t>unsatisfiable</a:t>
          </a:r>
          <a:r>
            <a:rPr lang="en-US" sz="2400" kern="1200" dirty="0"/>
            <a:t> if it is true in no models</a:t>
          </a:r>
        </a:p>
      </dsp:txBody>
      <dsp:txXfrm>
        <a:off x="68454" y="3015380"/>
        <a:ext cx="2702304" cy="126537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5C8529-702E-47E4-8348-F050DDC4A99C}">
      <dsp:nvSpPr>
        <dsp:cNvPr id="0" name=""/>
        <dsp:cNvSpPr/>
      </dsp:nvSpPr>
      <dsp:spPr>
        <a:xfrm>
          <a:off x="0" y="4767"/>
          <a:ext cx="7886700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</a:t>
          </a:r>
          <a:r>
            <a:rPr lang="en-US" sz="2400" b="1" kern="1200" dirty="0"/>
            <a:t>model</a:t>
          </a:r>
          <a:r>
            <a:rPr lang="en-US" sz="2400" kern="1200" dirty="0"/>
            <a:t> specifies a “</a:t>
          </a:r>
          <a:r>
            <a:rPr lang="en-US" sz="2400" kern="1200"/>
            <a:t>possible world” with the true/false status of each proposition symbol in the knowledge base</a:t>
          </a:r>
        </a:p>
      </dsp:txBody>
      <dsp:txXfrm>
        <a:off x="46606" y="51373"/>
        <a:ext cx="7793488" cy="861507"/>
      </dsp:txXfrm>
    </dsp:sp>
    <dsp:sp modelId="{E172844F-D89C-439F-85B7-E5506FCD37AC}">
      <dsp:nvSpPr>
        <dsp:cNvPr id="0" name=""/>
        <dsp:cNvSpPr/>
      </dsp:nvSpPr>
      <dsp:spPr>
        <a:xfrm>
          <a:off x="0" y="959487"/>
          <a:ext cx="7886700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403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E.g.,  </a:t>
          </a:r>
          <a:r>
            <a:rPr lang="en-US" sz="1900" b="1" kern="1200" dirty="0"/>
            <a:t>P</a:t>
          </a:r>
          <a:r>
            <a:rPr lang="en-US" sz="1900" kern="1200" dirty="0"/>
            <a:t> is true and  </a:t>
          </a:r>
          <a:r>
            <a:rPr lang="en-US" sz="1900" b="1" kern="1200" dirty="0"/>
            <a:t>Q</a:t>
          </a:r>
          <a:r>
            <a:rPr lang="en-US" sz="1900" kern="1200" dirty="0"/>
            <a:t> is true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With two symbols, there are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sz="1900" b="0" i="1" kern="1200" smtClean="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sz="1900" b="0" i="1" kern="1200" smtClean="0">
                      <a:latin typeface="Cambria Math" panose="02040503050406030204" pitchFamily="18" charset="0"/>
                    </a:rPr>
                    <m:t>2</m:t>
                  </m:r>
                </m:e>
                <m:sup>
                  <m:r>
                    <a:rPr lang="en-US" sz="1900" b="0" i="1" kern="1200" smtClean="0">
                      <a:latin typeface="Cambria Math" panose="02040503050406030204" pitchFamily="18" charset="0"/>
                    </a:rPr>
                    <m:t>2</m:t>
                  </m:r>
                </m:sup>
              </m:sSup>
              <m:r>
                <a:rPr lang="en-US" sz="1900" b="0" i="1" kern="1200" smtClean="0">
                  <a:latin typeface="Cambria Math" panose="02040503050406030204" pitchFamily="18" charset="0"/>
                </a:rPr>
                <m:t>=4</m:t>
              </m:r>
            </m:oMath>
          </a14:m>
          <a:r>
            <a:rPr lang="en-US" sz="1900" kern="1200" dirty="0"/>
            <a:t> possible worlds/models, and they can be enumerated exhaustively using:</a:t>
          </a:r>
        </a:p>
      </dsp:txBody>
      <dsp:txXfrm>
        <a:off x="0" y="959487"/>
        <a:ext cx="7886700" cy="9439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41436E8-D6C9-439C-8057-F594059D4145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FBD67E5-DBC4-4CEE-B749-873FCECA15D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91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829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05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77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885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9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26FDB-2EAA-4928-AF32-DAB919F695A6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6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826FDB-2EAA-4928-AF32-DAB919F695A6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/>
              <a:t>If </a:t>
            </a:r>
            <a:r>
              <a:rPr lang="en-US" sz="1200" b="0" i="0" dirty="0">
                <a:solidFill>
                  <a:srgbClr val="CC0099"/>
                </a:solidFill>
              </a:rPr>
              <a:t>a</a:t>
            </a:r>
            <a:r>
              <a:rPr lang="en-US" sz="1200" b="0" i="0" dirty="0">
                <a:solidFill>
                  <a:srgbClr val="CC0099"/>
                </a:solidFill>
                <a:cs typeface="Calibri" panose="020F0502020204030204" pitchFamily="34" charset="0"/>
              </a:rPr>
              <a:t>╞</a:t>
            </a:r>
            <a:r>
              <a:rPr lang="en-US" sz="1200" b="0" i="0" dirty="0">
                <a:solidFill>
                  <a:srgbClr val="CC0099"/>
                </a:solidFill>
              </a:rPr>
              <a:t> </a:t>
            </a:r>
            <a:r>
              <a:rPr lang="en-US" sz="1200" b="0" i="0" dirty="0">
                <a:solidFill>
                  <a:srgbClr val="CC0099"/>
                </a:solidFill>
                <a:cs typeface="Calibri" panose="020F0502020204030204" pitchFamily="34" charset="0"/>
              </a:rPr>
              <a:t>b,</a:t>
            </a:r>
            <a:r>
              <a:rPr lang="en-US" sz="1200" b="0" i="0" baseline="0" dirty="0">
                <a:solidFill>
                  <a:srgbClr val="CC0099"/>
                </a:solidFill>
                <a:cs typeface="Calibri" panose="020F0502020204030204" pitchFamily="34" charset="0"/>
              </a:rPr>
              <a:t> a is a </a:t>
            </a:r>
            <a:r>
              <a:rPr lang="en-US" sz="1200" b="0" i="1" baseline="0" dirty="0">
                <a:solidFill>
                  <a:srgbClr val="CC0099"/>
                </a:solidFill>
                <a:cs typeface="Calibri" panose="020F0502020204030204" pitchFamily="34" charset="0"/>
              </a:rPr>
              <a:t>stronger</a:t>
            </a:r>
            <a:r>
              <a:rPr lang="en-US" sz="1200" b="0" i="0" baseline="0" dirty="0">
                <a:solidFill>
                  <a:srgbClr val="CC0099"/>
                </a:solidFill>
                <a:cs typeface="Calibri" panose="020F0502020204030204" pitchFamily="34" charset="0"/>
              </a:rPr>
              <a:t> assertion than b (a rules out more possible worlds)</a:t>
            </a:r>
            <a:endParaRPr lang="en-US" sz="1200" b="0" i="0" dirty="0">
              <a:solidFill>
                <a:srgbClr val="CC0099"/>
              </a:solidFill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Co-NP: class of problems for which the “no” answer is easy to check, e.g.,</a:t>
            </a:r>
            <a:r>
              <a:rPr lang="en-US" baseline="0" dirty="0"/>
              <a:t> “Is this formula </a:t>
            </a:r>
            <a:r>
              <a:rPr lang="en-US" baseline="0" dirty="0" err="1"/>
              <a:t>unsatisfiable</a:t>
            </a:r>
            <a:r>
              <a:rPr lang="en-US" baseline="0" dirty="0"/>
              <a:t>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BD67E5-DBC4-4CEE-B749-873FCECA15D7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DFCE81-ED3B-4626-8C28-1345F07C10AE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272FE-22A1-4627-9B37-0D8B985E52EC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F4F2E-4562-45B4-80D0-90A308DD9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D3337-BE32-40BE-BC0D-89946828D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00A60-9E41-4B40-9B4D-FF2D435A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8D32F-E49B-4A3D-BBB0-F201B9679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1ED3C-90AC-4802-810A-167E9E37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3568-F4F1-42BE-88FE-451F250082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39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F929-B9FE-4387-9B1A-8ABB00F7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E3794-7F34-4B81-924C-32170F73C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0A6FF-A4F7-463C-AA97-6AEBF3EF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858A4-F699-495B-B02A-14A852D10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F5F2B-7CC2-4CA3-8F78-E8F8FDB1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B932-E4F7-4433-81A3-A393C99432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14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2D64-4C18-443C-85A8-B60852F3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3DB32-06BF-430E-83E5-FC206FB39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1A96B-1794-415E-8013-BA96244D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841D-0C72-49C0-A677-7C71483C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CA6BC-3B69-4314-9C59-CD3E42BB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11DC-A7E0-4CA5-8866-D923CB9F49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8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B5BC-597D-443C-8F8D-7647F8DF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AE1C6-26C6-4EA5-BBFF-094A1C7C5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CBA89-8A56-4329-976B-04E4C8880E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93F7B-288D-423A-BE76-1C66CCFE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51B1A-E90D-4E5D-A85E-FABF208CE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41E7AE-F87D-4F45-9BDE-3347EE10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BAB3C-07CD-43CF-B670-F35D8C86D54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0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DCBC-AB42-401D-A7CD-67343B8C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6DD15-A66E-49BF-8AAA-AC408DBE5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B87D0-359B-4FC7-A0D0-014E9F9C8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51B350-BFB7-412D-AB21-E40536193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736B8-0097-45B5-8664-E2D0D287FB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A8333-96D7-4D5B-87E1-6631EE7C6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A8D5A8-937A-4848-ACC1-95A4B114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88F770-DC00-4B15-91A7-0A42C5AA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221C-BF9F-4D3D-BBAF-EF1E4EE7E8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7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F113-D51D-47A4-BBAA-759ACBBEA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843DF-56BE-438E-8FB8-642110B01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4EE55-787D-40E9-8B85-078A97350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26CCA6-A1F4-4196-8660-4BC5588C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CB5CE4-A434-46B1-B6BA-692E9185A1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8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8E4908-AD05-4CA7-BA4A-B37377B6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C87AE7-3512-495F-B465-6101456C8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DF5DE-5565-4B0B-A8EC-F420735F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4D5C4-CECE-416A-8C4D-7684F935E5A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44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8CCBB-052A-46F4-ADCA-EFAC8B7B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5E3C-F155-44E6-BC88-A0529F119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7442C-E11F-48D5-A9A7-4C2CF31DE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4B458-D045-4D4E-9E87-B65EC7A9E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009F8-BD8B-4853-8A66-D4620441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17AA7-0E8F-4A6A-B338-DE36F5179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E15F9-7F34-4354-8CE0-B483BC0FF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84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6F22A-067C-4B78-9246-5A2B43C86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77980-C05C-4373-BFA0-EB9AFD04F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A4536-F17B-49C7-BABF-1C0D4A19B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CEC271-56DC-4264-8145-83A07805D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167E4-4EAA-4222-A089-EC90F07A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46D46-ECF4-4F9F-8212-670BA997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9770B3-5566-4A18-A3A6-EB77F17F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97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1CB6E-16C0-4373-B67B-74DBD10D8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6D9CD-AF43-4144-BF91-E3DABAC5B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9F1DA-BCDB-4D2E-BAF9-60FF216C5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65730-3E2F-40C1-A3CC-71EE241C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8786D-98A5-463C-803C-1F613D5C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FE4C2-7D1A-4227-A6BC-118556D63A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36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8223B-5296-422E-B6B2-6F028A6692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BF535-2B6A-4FEF-B5BD-98D9EC71E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07CDC-B750-4970-A583-04F8474B0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04EA6-F614-4074-9EEA-7CF364F1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53545-4A36-42F8-A650-63303793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A5481-E13C-4EC8-BCCF-5A8019A96E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51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27C9EC-A840-4334-A448-8E94E5C00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A7AC2-45E5-4FE5-AF45-5779BEB66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3118B-8B6C-4D6E-BE72-7C1A0138D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A563F-9806-4173-8509-C1FA76842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651B-CC80-4EEB-88F2-1EC42BDF2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725EE-4730-4994-8EC6-CB961C4A59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249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jpeg"/><Relationship Id="rId7" Type="http://schemas.openxmlformats.org/officeDocument/2006/relationships/hyperlink" Target="http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www.flickr.com/photos/90958025@N03" TargetMode="External"/><Relationship Id="rId4" Type="http://schemas.openxmlformats.org/officeDocument/2006/relationships/hyperlink" Target="https://www.flickr.com/photos/90958025@N03/8384110298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.hahsler.net/Introduction_to_Artificial_Intelligence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.hahsler.net/Introduction_to_Artificial_Intelligence/" TargetMode="Externa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7.04821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0.xml"/><Relationship Id="rId13" Type="http://schemas.openxmlformats.org/officeDocument/2006/relationships/image" Target="../media/image110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11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diagramLayout" Target="../diagrams/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7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8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0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Exercise Plays Vital Role Maintaining Brain Health">
            <a:extLst>
              <a:ext uri="{FF2B5EF4-FFF2-40B4-BE49-F238E27FC236}">
                <a16:creationId xmlns:a16="http://schemas.microsoft.com/office/drawing/2014/main" id="{037BAEBD-9D41-40E6-866C-54BC13DC52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2" r="20156" b="4002"/>
          <a:stretch/>
        </p:blipFill>
        <p:spPr bwMode="auto">
          <a:xfrm>
            <a:off x="2641851" y="10"/>
            <a:ext cx="650214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892" y="1024129"/>
            <a:ext cx="2578608" cy="133974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5/7320 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Artificial Intelligence 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Knowledge-Based Agents</a:t>
            </a:r>
            <a:b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/>
              <a:t>AIMA Chapters 7-9</a:t>
            </a:r>
            <a:endParaRPr 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ubtitle 1">
            <a:extLst>
              <a:ext uri="{FF2B5EF4-FFF2-40B4-BE49-F238E27FC236}">
                <a16:creationId xmlns:a16="http://schemas.microsoft.com/office/drawing/2014/main" id="{29FF388E-0F48-4536-8FB3-868DF1C3A4CC}"/>
              </a:ext>
            </a:extLst>
          </p:cNvPr>
          <p:cNvSpPr txBox="1">
            <a:spLocks/>
          </p:cNvSpPr>
          <p:nvPr/>
        </p:nvSpPr>
        <p:spPr>
          <a:xfrm>
            <a:off x="269462" y="2619755"/>
            <a:ext cx="2579180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spcBef>
                <a:spcPts val="1000"/>
              </a:spcBef>
              <a:buNone/>
            </a:pPr>
            <a:r>
              <a:rPr lang="en-US" sz="1500" dirty="0"/>
              <a:t>Slides by Michael Hahsler </a:t>
            </a:r>
            <a:br>
              <a:rPr lang="en-US" sz="1500" dirty="0"/>
            </a:br>
            <a:endParaRPr lang="en-US" sz="1500" dirty="0"/>
          </a:p>
          <a:p>
            <a:pPr marL="0" indent="0" defTabSz="914400">
              <a:spcBef>
                <a:spcPts val="1000"/>
              </a:spcBef>
              <a:buNone/>
            </a:pPr>
            <a:r>
              <a:rPr lang="en-US" sz="1200" dirty="0"/>
              <a:t>based on slides by Svetlana </a:t>
            </a:r>
            <a:r>
              <a:rPr lang="en-US" sz="1200" dirty="0" err="1"/>
              <a:t>Lazepnik</a:t>
            </a:r>
            <a:br>
              <a:rPr lang="en-US" sz="1200" dirty="0"/>
            </a:br>
            <a:r>
              <a:rPr lang="en-US" sz="1200" dirty="0"/>
              <a:t>with figures from the AIMA textbook	</a:t>
            </a:r>
            <a:endParaRPr lang="en-US" sz="15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1BAD84-DB88-4182-8F87-B57E55A207BD}"/>
              </a:ext>
            </a:extLst>
          </p:cNvPr>
          <p:cNvSpPr txBox="1"/>
          <p:nvPr/>
        </p:nvSpPr>
        <p:spPr>
          <a:xfrm>
            <a:off x="4571859" y="6298644"/>
            <a:ext cx="32374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0" i="0" strike="noStrike" dirty="0">
                <a:solidFill>
                  <a:schemeClr val="tx1">
                    <a:lumMod val="65000"/>
                  </a:schemeClr>
                </a:solidFill>
                <a:effectLst/>
                <a:latin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Image: "Exercise Plays Vital Role Maintaining </a:t>
            </a:r>
            <a:br>
              <a:rPr lang="en-US" sz="1100" b="0" i="0" strike="noStrike" dirty="0">
                <a:solidFill>
                  <a:schemeClr val="tx1">
                    <a:lumMod val="65000"/>
                  </a:schemeClr>
                </a:solidFill>
                <a:effectLst/>
                <a:latin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100" b="0" i="0" strike="noStrike" dirty="0">
                <a:solidFill>
                  <a:schemeClr val="tx1">
                    <a:lumMod val="65000"/>
                  </a:schemeClr>
                </a:solidFill>
                <a:effectLst/>
                <a:latin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Brain Health"</a:t>
            </a:r>
            <a:r>
              <a:rPr lang="en-US" sz="1100" b="0" i="0" dirty="0">
                <a:solidFill>
                  <a:schemeClr val="tx1">
                    <a:lumMod val="65000"/>
                  </a:schemeClr>
                </a:solidFill>
                <a:effectLst/>
                <a:latin typeface="Calibri" panose="020F0502020204030204" pitchFamily="34" charset="0"/>
              </a:rPr>
              <a:t>  by </a:t>
            </a:r>
            <a:r>
              <a:rPr lang="en-US" sz="1100" b="0" i="0" strike="noStrike" dirty="0">
                <a:solidFill>
                  <a:schemeClr val="tx1">
                    <a:lumMod val="65000"/>
                  </a:schemeClr>
                </a:solidFill>
                <a:effectLst/>
                <a:latin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Health Blog</a:t>
            </a:r>
            <a:r>
              <a:rPr lang="en-US" sz="1100" b="0" i="0" dirty="0">
                <a:solidFill>
                  <a:schemeClr val="tx1">
                    <a:lumMod val="65000"/>
                  </a:schemeClr>
                </a:solidFill>
                <a:effectLst/>
                <a:latin typeface="Calibri" panose="020F0502020204030204" pitchFamily="34" charset="0"/>
              </a:rPr>
              <a:t> </a:t>
            </a:r>
            <a:endParaRPr lang="en-US" sz="1100" dirty="0">
              <a:solidFill>
                <a:schemeClr val="tx1">
                  <a:lumMod val="6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4BA633-87CF-A8B2-C31C-EFA540A8E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664886" y="5243763"/>
            <a:ext cx="1209654" cy="1440289"/>
            <a:chOff x="7162798" y="4191000"/>
            <a:chExt cx="1676402" cy="19812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07065FD-3377-1B31-793E-AEA102D400EA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DEBF6E1C-99D9-0570-DEB5-5AC41C642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84684" y="4213372"/>
              <a:ext cx="1632631" cy="163263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7C6FB5-DE4F-A1CE-2779-6B36B1A971C9}"/>
                </a:ext>
              </a:extLst>
            </p:cNvPr>
            <p:cNvSpPr/>
            <p:nvPr/>
          </p:nvSpPr>
          <p:spPr>
            <a:xfrm>
              <a:off x="7162798" y="5812970"/>
              <a:ext cx="1664630" cy="35923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Online Material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69C183-FD8C-0084-1F83-C8EA37508122}"/>
              </a:ext>
            </a:extLst>
          </p:cNvPr>
          <p:cNvGrpSpPr/>
          <p:nvPr/>
        </p:nvGrpSpPr>
        <p:grpSpPr>
          <a:xfrm>
            <a:off x="433443" y="6298644"/>
            <a:ext cx="3880301" cy="430887"/>
            <a:chOff x="433443" y="6298644"/>
            <a:chExt cx="3880301" cy="4308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0B4CDC4-05E9-2D92-97BB-234616B25C86}"/>
                </a:ext>
              </a:extLst>
            </p:cNvPr>
            <p:cNvSpPr txBox="1"/>
            <p:nvPr/>
          </p:nvSpPr>
          <p:spPr>
            <a:xfrm>
              <a:off x="1296223" y="6298644"/>
              <a:ext cx="3017521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</a:rPr>
                <a:t>This work is licensed under a 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Creative Commons Attribution-</a:t>
              </a:r>
              <a:r>
                <a:rPr lang="en-US" sz="1100" b="0" i="0" strike="noStrike" dirty="0" err="1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ShareAlike</a:t>
              </a:r>
              <a:r>
                <a:rPr lang="en-US" sz="1100" b="0" i="0" strike="noStrike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  <a:hlinkClick r:id="rId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4.0 International License</a:t>
              </a:r>
              <a:r>
                <a:rPr lang="en-US" sz="11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Calibri" panose="020F0502020204030204" pitchFamily="34" charset="0"/>
                </a:rPr>
                <a:t>.</a:t>
              </a:r>
              <a:endParaRPr lang="en-US" sz="1100" dirty="0">
                <a:solidFill>
                  <a:schemeClr val="tx1">
                    <a:lumMod val="50000"/>
                  </a:schemeClr>
                </a:solidFill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B7D9D40E-A82F-D863-26DF-BB12CD155E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443" y="6371111"/>
              <a:ext cx="894434" cy="3129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C6F4-EAEE-3A2C-E0D3-13A2225B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Types So Far</a:t>
            </a:r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A31C02F7-5C7D-7144-139C-8CA2E991D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0392266"/>
              </p:ext>
            </p:extLst>
          </p:nvPr>
        </p:nvGraphicFramePr>
        <p:xfrm>
          <a:off x="2057400" y="1524000"/>
          <a:ext cx="5715000" cy="4064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3A72C2-3233-1D0F-8071-D60FE2C38B53}"/>
              </a:ext>
            </a:extLst>
          </p:cNvPr>
          <p:cNvSpPr txBox="1"/>
          <p:nvPr/>
        </p:nvSpPr>
        <p:spPr>
          <a:xfrm>
            <a:off x="611806" y="5846543"/>
            <a:ext cx="7886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will introduce a different class of agents that relies on reasoning using knowledge. </a:t>
            </a:r>
          </a:p>
        </p:txBody>
      </p:sp>
    </p:spTree>
    <p:extLst>
      <p:ext uri="{BB962C8B-B14F-4D97-AF65-F5344CB8AC3E}">
        <p14:creationId xmlns:p14="http://schemas.microsoft.com/office/powerpoint/2010/main" val="1928471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2A7C6-15BC-C9D5-E9E1-8402BE75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D9D45A-DBCC-78B1-7955-6C5FCC400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40616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2780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C578-9625-44B8-AF64-9CEF4228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Reality vs. 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65D05-68B7-4A70-8C8D-AFBC2F08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422753"/>
            <a:ext cx="7886700" cy="207012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Facts: </a:t>
            </a:r>
            <a:r>
              <a:rPr lang="en-US" dirty="0"/>
              <a:t>Sentences we know to be true.</a:t>
            </a:r>
            <a:endParaRPr lang="en-US" b="1" dirty="0"/>
          </a:p>
          <a:p>
            <a:r>
              <a:rPr lang="en-US" b="1" dirty="0"/>
              <a:t>Possible worlds</a:t>
            </a:r>
            <a:r>
              <a:rPr lang="en-US" dirty="0"/>
              <a:t>: all worlds/models which are consistent with the facts we know (compare with belief state).</a:t>
            </a:r>
          </a:p>
          <a:p>
            <a:r>
              <a:rPr lang="en-US" b="1" dirty="0"/>
              <a:t>Learning</a:t>
            </a:r>
            <a:r>
              <a:rPr lang="en-US" dirty="0"/>
              <a:t> new facts reduces the number of possible worlds.</a:t>
            </a:r>
          </a:p>
          <a:p>
            <a:r>
              <a:rPr lang="en-US" b="1" dirty="0"/>
              <a:t>Entailment: </a:t>
            </a:r>
            <a:r>
              <a:rPr lang="en-US" dirty="0"/>
              <a:t>A new sentence logically follows from what we already know.</a:t>
            </a:r>
          </a:p>
          <a:p>
            <a:r>
              <a:rPr lang="en-US" b="1" dirty="0"/>
              <a:t>Reasoning</a:t>
            </a:r>
            <a:r>
              <a:rPr lang="en-US" dirty="0"/>
              <a:t>: The agent can reason about what will happen in the real world.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40EDD8A-5E62-C560-2E9E-469518FA3BCC}"/>
              </a:ext>
            </a:extLst>
          </p:cNvPr>
          <p:cNvGrpSpPr/>
          <p:nvPr/>
        </p:nvGrpSpPr>
        <p:grpSpPr>
          <a:xfrm>
            <a:off x="304800" y="1298072"/>
            <a:ext cx="8458200" cy="3018836"/>
            <a:chOff x="304800" y="1298072"/>
            <a:chExt cx="8458200" cy="3018836"/>
          </a:xfrm>
        </p:grpSpPr>
        <p:grpSp>
          <p:nvGrpSpPr>
            <p:cNvPr id="6" name="Group 5" descr="A diagram showing how real world aspects are represented as sentences and how entailment can be used to create new sentences that provide knowledge about the real world.">
              <a:extLst>
                <a:ext uri="{FF2B5EF4-FFF2-40B4-BE49-F238E27FC236}">
                  <a16:creationId xmlns:a16="http://schemas.microsoft.com/office/drawing/2014/main" id="{AFA56959-8849-6FF1-27F3-69D76E118B19}"/>
                </a:ext>
              </a:extLst>
            </p:cNvPr>
            <p:cNvGrpSpPr/>
            <p:nvPr/>
          </p:nvGrpSpPr>
          <p:grpSpPr>
            <a:xfrm>
              <a:off x="304800" y="1298072"/>
              <a:ext cx="8458200" cy="3018836"/>
              <a:chOff x="304800" y="1298072"/>
              <a:chExt cx="8458200" cy="301883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BF91B6D-86A1-4EC3-86B7-31180718A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4800" y="1524000"/>
                <a:ext cx="8458200" cy="2792908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EFA40A-0546-40AF-BD76-C6771F1F278D}"/>
                  </a:ext>
                </a:extLst>
              </p:cNvPr>
              <p:cNvSpPr txBox="1"/>
              <p:nvPr/>
            </p:nvSpPr>
            <p:spPr>
              <a:xfrm>
                <a:off x="721549" y="1796534"/>
                <a:ext cx="1221809" cy="369332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Knowledge</a:t>
                </a:r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7C76E13-1940-4A02-9752-8E2F6CD8EA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76600" y="1981200"/>
                <a:ext cx="0" cy="160020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FC7EBB-48FF-4535-B610-B33016725762}"/>
                  </a:ext>
                </a:extLst>
              </p:cNvPr>
              <p:cNvSpPr txBox="1"/>
              <p:nvPr/>
            </p:nvSpPr>
            <p:spPr>
              <a:xfrm rot="5400000">
                <a:off x="2987257" y="2499951"/>
                <a:ext cx="91723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Learning</a:t>
                </a:r>
              </a:p>
            </p:txBody>
          </p:sp>
          <p:sp>
            <p:nvSpPr>
              <p:cNvPr id="9" name="Speech Bubble: Oval 8">
                <a:extLst>
                  <a:ext uri="{FF2B5EF4-FFF2-40B4-BE49-F238E27FC236}">
                    <a16:creationId xmlns:a16="http://schemas.microsoft.com/office/drawing/2014/main" id="{CFE86566-CCC2-ECB3-8AA9-35012028A5C8}"/>
                  </a:ext>
                </a:extLst>
              </p:cNvPr>
              <p:cNvSpPr/>
              <p:nvPr/>
            </p:nvSpPr>
            <p:spPr>
              <a:xfrm>
                <a:off x="3304308" y="1298072"/>
                <a:ext cx="1066800" cy="346011"/>
              </a:xfrm>
              <a:prstGeom prst="wedgeEllipseCallout">
                <a:avLst>
                  <a:gd name="adj1" fmla="val -58378"/>
                  <a:gd name="adj2" fmla="val 81694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Facts</a:t>
                </a: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2434BBF-65CF-1E73-671D-1922DBFB58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00" y="1796534"/>
              <a:ext cx="1981200" cy="8823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C37CBA0-B0D1-395A-4CE7-11BB37A46683}"/>
                </a:ext>
              </a:extLst>
            </p:cNvPr>
            <p:cNvCxnSpPr>
              <a:cxnSpLocks/>
            </p:cNvCxnSpPr>
            <p:nvPr/>
          </p:nvCxnSpPr>
          <p:spPr>
            <a:xfrm>
              <a:off x="6400800" y="2031285"/>
              <a:ext cx="0" cy="147391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735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Knowledge-Based Agents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662363"/>
            <a:ext cx="8229600" cy="2586037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Knowledge base (KB) = </a:t>
            </a:r>
            <a:r>
              <a:rPr lang="en-US" sz="2000" b="1" dirty="0">
                <a:solidFill>
                  <a:schemeClr val="accent2"/>
                </a:solidFill>
              </a:rPr>
              <a:t>set of facts.</a:t>
            </a:r>
            <a:r>
              <a:rPr lang="en-US" sz="2000" dirty="0"/>
              <a:t> E.g., set of </a:t>
            </a:r>
            <a:r>
              <a:rPr lang="en-US" sz="2000" b="1" dirty="0">
                <a:solidFill>
                  <a:schemeClr val="accent2"/>
                </a:solidFill>
              </a:rPr>
              <a:t>sentences</a:t>
            </a:r>
            <a:r>
              <a:rPr lang="en-US" sz="2000" dirty="0"/>
              <a:t> in a </a:t>
            </a:r>
            <a:r>
              <a:rPr lang="en-US" sz="2000" b="1" dirty="0">
                <a:solidFill>
                  <a:schemeClr val="accent2"/>
                </a:solidFill>
              </a:rPr>
              <a:t>formal language</a:t>
            </a:r>
            <a:r>
              <a:rPr lang="en-US" sz="2000" dirty="0"/>
              <a:t> that are known to be true.</a:t>
            </a:r>
          </a:p>
          <a:p>
            <a:r>
              <a:rPr lang="en-US" sz="2000" b="1" dirty="0">
                <a:solidFill>
                  <a:schemeClr val="accent2"/>
                </a:solidFill>
              </a:rPr>
              <a:t>Separation</a:t>
            </a:r>
            <a:r>
              <a:rPr lang="en-US" sz="2000" dirty="0"/>
              <a:t> between data (knowledge) and program (inference). </a:t>
            </a:r>
          </a:p>
          <a:p>
            <a:r>
              <a:rPr lang="en-US" sz="2000" b="1" dirty="0">
                <a:solidFill>
                  <a:schemeClr val="accent2"/>
                </a:solidFill>
              </a:rPr>
              <a:t>Declarative</a:t>
            </a:r>
            <a:r>
              <a:rPr lang="en-US" sz="2000" dirty="0"/>
              <a:t> approach to building an agent: Define</a:t>
            </a:r>
            <a:r>
              <a:rPr lang="en-US" sz="1800" dirty="0"/>
              <a:t> what it needs to know in its KB. Use an off-the-shelf inference engine. </a:t>
            </a:r>
          </a:p>
          <a:p>
            <a:r>
              <a:rPr lang="en-US" sz="2000" dirty="0"/>
              <a:t>The concepts of </a:t>
            </a:r>
            <a:r>
              <a:rPr lang="en-US" sz="2000" b="1" dirty="0">
                <a:solidFill>
                  <a:schemeClr val="accent2"/>
                </a:solidFill>
              </a:rPr>
              <a:t>goals or utility </a:t>
            </a:r>
            <a:r>
              <a:rPr lang="en-US" sz="2000" dirty="0"/>
              <a:t>can be incorporated into the knowledge base as facts.</a:t>
            </a:r>
          </a:p>
          <a:p>
            <a:r>
              <a:rPr lang="en-US" sz="2000" b="1" dirty="0">
                <a:solidFill>
                  <a:schemeClr val="accent2"/>
                </a:solidFill>
              </a:rPr>
              <a:t>Actions</a:t>
            </a:r>
            <a:r>
              <a:rPr lang="en-US" sz="2000" dirty="0"/>
              <a:t> are based on knowledge (sentences + inferred sentences).</a:t>
            </a:r>
          </a:p>
        </p:txBody>
      </p:sp>
      <p:grpSp>
        <p:nvGrpSpPr>
          <p:cNvPr id="3" name="Group 2" descr="A diagram showing the separation of the knowledge base and the inference engine.">
            <a:extLst>
              <a:ext uri="{FF2B5EF4-FFF2-40B4-BE49-F238E27FC236}">
                <a16:creationId xmlns:a16="http://schemas.microsoft.com/office/drawing/2014/main" id="{81ECC210-F826-8703-51BE-5AE43D2BD2F4}"/>
              </a:ext>
            </a:extLst>
          </p:cNvPr>
          <p:cNvGrpSpPr/>
          <p:nvPr/>
        </p:nvGrpSpPr>
        <p:grpSpPr>
          <a:xfrm>
            <a:off x="838200" y="1739295"/>
            <a:ext cx="7668961" cy="1461105"/>
            <a:chOff x="838200" y="1739295"/>
            <a:chExt cx="7668961" cy="1461105"/>
          </a:xfrm>
        </p:grpSpPr>
        <p:sp>
          <p:nvSpPr>
            <p:cNvPr id="7" name="Rectangle 6"/>
            <p:cNvSpPr/>
            <p:nvPr/>
          </p:nvSpPr>
          <p:spPr bwMode="auto">
            <a:xfrm>
              <a:off x="838200" y="2667000"/>
              <a:ext cx="26670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Inference engine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 bwMode="auto">
            <a:xfrm>
              <a:off x="3733800" y="2894012"/>
              <a:ext cx="1447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1" name="Rectangle 20"/>
            <p:cNvSpPr/>
            <p:nvPr/>
          </p:nvSpPr>
          <p:spPr>
            <a:xfrm>
              <a:off x="5222737" y="2601624"/>
              <a:ext cx="3284424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b="0" dirty="0"/>
                <a:t>Domain-independent algorithms that</a:t>
              </a:r>
              <a:br>
                <a:rPr lang="en-US" sz="1600" b="0" dirty="0"/>
              </a:br>
              <a:r>
                <a:rPr lang="en-US" sz="1600" b="0" dirty="0"/>
                <a:t>find new sentences using entailment.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 bwMode="auto">
            <a:xfrm>
              <a:off x="3695700" y="2352468"/>
              <a:ext cx="1447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3" name="Rectangle 22"/>
            <p:cNvSpPr/>
            <p:nvPr/>
          </p:nvSpPr>
          <p:spPr>
            <a:xfrm>
              <a:off x="5143500" y="2175721"/>
              <a:ext cx="237276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0" dirty="0"/>
                <a:t>Domain-specific content</a:t>
              </a:r>
            </a:p>
          </p:txBody>
        </p:sp>
        <p:sp>
          <p:nvSpPr>
            <p:cNvPr id="2" name="Cylinder 1">
              <a:extLst>
                <a:ext uri="{FF2B5EF4-FFF2-40B4-BE49-F238E27FC236}">
                  <a16:creationId xmlns:a16="http://schemas.microsoft.com/office/drawing/2014/main" id="{8475278E-F5B8-47FE-8837-86D2EFE260DD}"/>
                </a:ext>
              </a:extLst>
            </p:cNvPr>
            <p:cNvSpPr/>
            <p:nvPr/>
          </p:nvSpPr>
          <p:spPr>
            <a:xfrm>
              <a:off x="1414463" y="1739295"/>
              <a:ext cx="1447800" cy="1040191"/>
            </a:xfrm>
            <a:prstGeom prst="can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/>
                <a:t>Knowledge base</a:t>
              </a:r>
              <a:endParaRPr lang="en-US" b="1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9244-F439-4ECF-A211-2DB43D37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Knowledge-based Agent</a:t>
            </a:r>
          </a:p>
        </p:txBody>
      </p:sp>
      <p:grpSp>
        <p:nvGrpSpPr>
          <p:cNvPr id="8" name="Group 7" descr="The agent function for a knowledge-based agent.">
            <a:extLst>
              <a:ext uri="{FF2B5EF4-FFF2-40B4-BE49-F238E27FC236}">
                <a16:creationId xmlns:a16="http://schemas.microsoft.com/office/drawing/2014/main" id="{1D2FAECB-E49F-59FE-97E4-08BEB639BA63}"/>
              </a:ext>
            </a:extLst>
          </p:cNvPr>
          <p:cNvGrpSpPr/>
          <p:nvPr/>
        </p:nvGrpSpPr>
        <p:grpSpPr>
          <a:xfrm>
            <a:off x="546775" y="4109081"/>
            <a:ext cx="8151664" cy="2348070"/>
            <a:chOff x="546775" y="4109081"/>
            <a:chExt cx="8151664" cy="234807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6A7726-3470-46C0-A48C-6E0D536DB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6775" y="4109081"/>
              <a:ext cx="5320625" cy="234807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7389A12-594F-47A5-9C9C-D27A51B2B3ED}"/>
                </a:ext>
              </a:extLst>
            </p:cNvPr>
            <p:cNvSpPr txBox="1"/>
            <p:nvPr/>
          </p:nvSpPr>
          <p:spPr>
            <a:xfrm>
              <a:off x="6729362" y="4312465"/>
              <a:ext cx="1962150" cy="58477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Memorize percept at time t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A0C361-D473-48AF-8A54-418E444C5164}"/>
                </a:ext>
              </a:extLst>
            </p:cNvPr>
            <p:cNvSpPr txBox="1"/>
            <p:nvPr/>
          </p:nvSpPr>
          <p:spPr>
            <a:xfrm>
              <a:off x="6736289" y="5747915"/>
              <a:ext cx="1962150" cy="58477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Record action taken at time 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33C7BB-A826-4B54-B7D8-13D8AF95F7C2}"/>
                </a:ext>
              </a:extLst>
            </p:cNvPr>
            <p:cNvSpPr txBox="1"/>
            <p:nvPr/>
          </p:nvSpPr>
          <p:spPr>
            <a:xfrm>
              <a:off x="6736289" y="5020602"/>
              <a:ext cx="1962150" cy="58477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Ask for logical action given the knowledge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DC2667E-4858-4252-AD75-979D1961FE0D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H="1">
              <a:off x="5334000" y="4604853"/>
              <a:ext cx="1395362" cy="56194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7028319-FF24-4693-9B50-887BF3051ADC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>
              <a:off x="5029200" y="5312990"/>
              <a:ext cx="1707089" cy="10936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5F9FCE7-AA78-48B8-9205-AB949B5B5D9C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 flipH="1" flipV="1">
              <a:off x="5181600" y="5674327"/>
              <a:ext cx="1554689" cy="3659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A1176F-BA1C-82D3-D7A7-CF283B23DAC2}"/>
              </a:ext>
            </a:extLst>
          </p:cNvPr>
          <p:cNvGrpSpPr/>
          <p:nvPr/>
        </p:nvGrpSpPr>
        <p:grpSpPr>
          <a:xfrm>
            <a:off x="628651" y="1294336"/>
            <a:ext cx="7772400" cy="2730555"/>
            <a:chOff x="609600" y="1207501"/>
            <a:chExt cx="7772400" cy="273055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AD5E56-963B-B9B7-47D8-51647716FF08}"/>
                </a:ext>
              </a:extLst>
            </p:cNvPr>
            <p:cNvGrpSpPr/>
            <p:nvPr/>
          </p:nvGrpSpPr>
          <p:grpSpPr>
            <a:xfrm>
              <a:off x="609600" y="1207501"/>
              <a:ext cx="7772400" cy="2730555"/>
              <a:chOff x="609600" y="1207501"/>
              <a:chExt cx="7772400" cy="2730555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958160F0-6AF5-22F3-E87E-A817B16A12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609600" y="1207501"/>
                <a:ext cx="7772400" cy="2730555"/>
                <a:chOff x="609600" y="1207501"/>
                <a:chExt cx="7772400" cy="2730555"/>
              </a:xfrm>
            </p:grpSpPr>
            <p:pic>
              <p:nvPicPr>
                <p:cNvPr id="14" name="Picture 13">
                  <a:extLst>
                    <a:ext uri="{FF2B5EF4-FFF2-40B4-BE49-F238E27FC236}">
                      <a16:creationId xmlns:a16="http://schemas.microsoft.com/office/drawing/2014/main" id="{60C4D7EF-87A7-4D4B-5FA0-5F6FDF52DF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09600" y="1371600"/>
                  <a:ext cx="7772400" cy="2566456"/>
                </a:xfrm>
                <a:prstGeom prst="rect">
                  <a:avLst/>
                </a:prstGeom>
              </p:spPr>
            </p:pic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E0C8F7BA-2035-C7D5-E8E3-35E46F514B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52800" y="1798095"/>
                  <a:ext cx="0" cy="1436103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A9C8390-91F3-977E-1381-6460DC9157C7}"/>
                    </a:ext>
                  </a:extLst>
                </p:cNvPr>
                <p:cNvSpPr txBox="1"/>
                <p:nvPr/>
              </p:nvSpPr>
              <p:spPr>
                <a:xfrm rot="5400000">
                  <a:off x="2926878" y="2222116"/>
                  <a:ext cx="138163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>
                      <a:solidFill>
                        <a:schemeClr val="accent2"/>
                      </a:solidFill>
                    </a:rPr>
                    <a:t>Learning from precepts (tell)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EAC6722-A3DC-CA31-F654-42B27FA2A567}"/>
                    </a:ext>
                  </a:extLst>
                </p:cNvPr>
                <p:cNvSpPr txBox="1"/>
                <p:nvPr/>
              </p:nvSpPr>
              <p:spPr>
                <a:xfrm rot="5400000">
                  <a:off x="6072390" y="2202352"/>
                  <a:ext cx="120480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b="1" dirty="0">
                      <a:solidFill>
                        <a:schemeClr val="accent2"/>
                      </a:solidFill>
                    </a:rPr>
                    <a:t>Ask KB for best action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0F3D41F-FCEE-00C3-601C-76FC0168DE4F}"/>
                    </a:ext>
                  </a:extLst>
                </p:cNvPr>
                <p:cNvSpPr txBox="1"/>
                <p:nvPr/>
              </p:nvSpPr>
              <p:spPr>
                <a:xfrm>
                  <a:off x="3910085" y="2005429"/>
                  <a:ext cx="1595757" cy="338554"/>
                </a:xfrm>
                <a:prstGeom prst="rect">
                  <a:avLst/>
                </a:prstGeom>
              </p:spPr>
              <p:style>
                <a:lnRef idx="2">
                  <a:schemeClr val="accent2">
                    <a:shade val="15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>
                      <a:solidFill>
                        <a:schemeClr val="bg1"/>
                      </a:solidFill>
                    </a:rPr>
                    <a:t>Inference engine</a:t>
                  </a:r>
                </a:p>
              </p:txBody>
            </p:sp>
            <p:sp>
              <p:nvSpPr>
                <p:cNvPr id="36" name="Flowchart: Magnetic Disk 35">
                  <a:extLst>
                    <a:ext uri="{FF2B5EF4-FFF2-40B4-BE49-F238E27FC236}">
                      <a16:creationId xmlns:a16="http://schemas.microsoft.com/office/drawing/2014/main" id="{9EAFB566-B86E-45BA-6C30-842627C799A3}"/>
                    </a:ext>
                  </a:extLst>
                </p:cNvPr>
                <p:cNvSpPr/>
                <p:nvPr/>
              </p:nvSpPr>
              <p:spPr>
                <a:xfrm>
                  <a:off x="648112" y="1207501"/>
                  <a:ext cx="1342409" cy="792705"/>
                </a:xfrm>
                <a:prstGeom prst="flowChartMagneticDisk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KB – prior knowledge</a:t>
                  </a:r>
                </a:p>
              </p:txBody>
            </p:sp>
          </p:grp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BA867ED-B3CE-BFDC-76F2-EC03A1B32C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34618" y="1641121"/>
                <a:ext cx="1804182" cy="0"/>
              </a:xfrm>
              <a:prstGeom prst="straightConnector1">
                <a:avLst/>
              </a:prstGeom>
              <a:ln w="57150"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865DFF9-79E9-20CA-BBF1-3A6493EA09EA}"/>
                </a:ext>
              </a:extLst>
            </p:cNvPr>
            <p:cNvCxnSpPr>
              <a:cxnSpLocks/>
            </p:cNvCxnSpPr>
            <p:nvPr/>
          </p:nvCxnSpPr>
          <p:spPr>
            <a:xfrm>
              <a:off x="6359145" y="1799853"/>
              <a:ext cx="0" cy="144568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144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Languages to Represent Knowledge</a:t>
            </a:r>
          </a:p>
        </p:txBody>
      </p:sp>
      <p:grpSp>
        <p:nvGrpSpPr>
          <p:cNvPr id="10" name="Group 9" descr="A table listing different languages used to represent knowlege. The languages are logic based, probability theory and natural language.">
            <a:extLst>
              <a:ext uri="{FF2B5EF4-FFF2-40B4-BE49-F238E27FC236}">
                <a16:creationId xmlns:a16="http://schemas.microsoft.com/office/drawing/2014/main" id="{CF86383B-2596-B951-6E5C-58535139642A}"/>
              </a:ext>
            </a:extLst>
          </p:cNvPr>
          <p:cNvGrpSpPr/>
          <p:nvPr/>
        </p:nvGrpSpPr>
        <p:grpSpPr>
          <a:xfrm>
            <a:off x="381000" y="1524000"/>
            <a:ext cx="8382000" cy="2875751"/>
            <a:chOff x="381000" y="1524000"/>
            <a:chExt cx="8382000" cy="287575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66ABFD7-3370-4CE3-A3D4-94A70A5AF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0" y="1524000"/>
              <a:ext cx="8382000" cy="2290976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AC5B94A-8EEC-2B3B-3736-8498A95B47B6}"/>
                </a:ext>
              </a:extLst>
            </p:cNvPr>
            <p:cNvGrpSpPr/>
            <p:nvPr/>
          </p:nvGrpSpPr>
          <p:grpSpPr>
            <a:xfrm>
              <a:off x="404436" y="3720055"/>
              <a:ext cx="8229600" cy="679696"/>
              <a:chOff x="404436" y="3720055"/>
              <a:chExt cx="8229600" cy="679696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AB136D-66B9-A975-086A-D7B2D61B5DB7}"/>
                  </a:ext>
                </a:extLst>
              </p:cNvPr>
              <p:cNvSpPr txBox="1"/>
              <p:nvPr/>
            </p:nvSpPr>
            <p:spPr>
              <a:xfrm>
                <a:off x="652086" y="3814976"/>
                <a:ext cx="79819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Natural Language        word patterns representing </a:t>
                </a:r>
                <a:b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      facts, objects, relations, …                 ???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097C8C-EBC1-6D92-3D3B-A5974704F6DE}"/>
                  </a:ext>
                </a:extLst>
              </p:cNvPr>
              <p:cNvSpPr txBox="1"/>
              <p:nvPr/>
            </p:nvSpPr>
            <p:spPr>
              <a:xfrm>
                <a:off x="404436" y="3720055"/>
                <a:ext cx="2999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+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656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F23F2-0285-6301-91FD-BF066409D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Exercise Plays Vital Role Maintaining Brain Health">
            <a:extLst>
              <a:ext uri="{FF2B5EF4-FFF2-40B4-BE49-F238E27FC236}">
                <a16:creationId xmlns:a16="http://schemas.microsoft.com/office/drawing/2014/main" id="{02E04B0F-95F6-396B-0D30-C42790C2F4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5" y="10"/>
            <a:ext cx="9143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0EEE1-E588-2603-D954-56C591622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162" y="4343400"/>
            <a:ext cx="7543800" cy="140689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dirty="0">
                <a:solidFill>
                  <a:srgbClr val="FFFFFF"/>
                </a:solidFill>
              </a:rPr>
              <a:t>Knowledge-based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05003-46E4-0DE3-3B8D-A95F39785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873695"/>
            <a:ext cx="7543800" cy="5271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2400" dirty="0">
                <a:solidFill>
                  <a:srgbClr val="FFFFFF"/>
                </a:solidFill>
              </a:rPr>
              <a:t>Logical and Probabilistic Reasoning Agents</a:t>
            </a:r>
          </a:p>
        </p:txBody>
      </p:sp>
    </p:spTree>
    <p:extLst>
      <p:ext uri="{BB962C8B-B14F-4D97-AF65-F5344CB8AC3E}">
        <p14:creationId xmlns:p14="http://schemas.microsoft.com/office/powerpoint/2010/main" val="3745478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4F654-914A-7515-10BB-A23C140A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2FD5-42B3-4813-E1B0-C87192337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ED0ED25-5F78-F2C4-89AF-E39D8E2BB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91002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359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Agents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B88BB-0A60-383B-9F60-7A41B6263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886201"/>
            <a:ext cx="7886700" cy="260667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Facts are logical sentences that are known to be true.</a:t>
            </a:r>
          </a:p>
          <a:p>
            <a:r>
              <a:rPr lang="en-US" dirty="0"/>
              <a:t>Inference: Generate new sentences that are entailed by all known sentences.</a:t>
            </a:r>
          </a:p>
          <a:p>
            <a:r>
              <a:rPr lang="en-US" dirty="0"/>
              <a:t>Implementation: Typically using Prolog </a:t>
            </a:r>
          </a:p>
          <a:p>
            <a:pPr lvl="1"/>
            <a:r>
              <a:rPr lang="en-US" dirty="0"/>
              <a:t>Declarative logic programing language.</a:t>
            </a:r>
          </a:p>
          <a:p>
            <a:pPr lvl="1"/>
            <a:r>
              <a:rPr lang="en-US" dirty="0"/>
              <a:t>Runs queries over the program (= the knowledge base)</a:t>
            </a:r>
          </a:p>
          <a:p>
            <a:r>
              <a:rPr lang="en-US" dirty="0"/>
              <a:t>Synonyms: Symbolic AI, Expert Systems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Issues:</a:t>
            </a:r>
          </a:p>
          <a:p>
            <a:pPr lvl="1"/>
            <a:r>
              <a:rPr lang="en-US" dirty="0"/>
              <a:t>Inference is computationally very expensive.</a:t>
            </a:r>
          </a:p>
          <a:p>
            <a:pPr lvl="1"/>
            <a:r>
              <a:rPr lang="en-US" dirty="0"/>
              <a:t>Logic cannot deal with uncertainty.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ABFD7-3370-4CE3-A3D4-94A70A5AF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0"/>
            <a:ext cx="8382000" cy="22909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F2A674-3771-B596-4A5C-67250D2ED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0987" y="2438400"/>
            <a:ext cx="6481813" cy="52322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86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CD2877-1046-6123-CF1E-BE9F2D85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15" y="2931914"/>
            <a:ext cx="7886700" cy="8760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Code example</a:t>
            </a:r>
            <a:r>
              <a:rPr lang="en-US" sz="3200" dirty="0">
                <a:latin typeface="+mn-lt"/>
              </a:rPr>
              <a:t>: 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A Simple Prolog Knowledge Base</a:t>
            </a:r>
            <a:br>
              <a:rPr lang="en-US" sz="3200" dirty="0">
                <a:latin typeface="+mn-lt"/>
              </a:rPr>
            </a:br>
            <a:r>
              <a:rPr lang="en-US" sz="3200" dirty="0">
                <a:latin typeface="+mn-lt"/>
              </a:rPr>
              <a:t>The n-Queens Problem as a Logic Problem</a:t>
            </a:r>
            <a:br>
              <a:rPr lang="en-US" sz="3200" dirty="0">
                <a:latin typeface="+mn-lt"/>
              </a:rPr>
            </a:br>
            <a:endParaRPr lang="en-US" sz="3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484FF-058C-4694-424C-0B3B26DF9F45}"/>
              </a:ext>
            </a:extLst>
          </p:cNvPr>
          <p:cNvSpPr txBox="1"/>
          <p:nvPr/>
        </p:nvSpPr>
        <p:spPr>
          <a:xfrm>
            <a:off x="893299" y="5365946"/>
            <a:ext cx="6608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See Code on </a:t>
            </a:r>
            <a:r>
              <a:rPr lang="en-US" sz="1050" dirty="0">
                <a:hlinkClick r:id="rId2"/>
              </a:rPr>
              <a:t>https://michael.hahsler.net/Introduction_to_Artificial_Intelligence/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193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9F632-8097-1021-2215-8103D694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2CCA3-4B93-BFBE-61D2-30DEAB4C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68134B-2B7E-5468-9515-AA0C4C8A3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584601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168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Reasoning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ABFD7-3370-4CE3-A3D4-94A70A5AF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0"/>
            <a:ext cx="8382000" cy="229097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AF2A674-3771-B596-4A5C-67250D2ED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0987" y="3116761"/>
            <a:ext cx="6634213" cy="293641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7E0161-09BD-3B71-7250-E8FE07892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068494"/>
            <a:ext cx="7886700" cy="1801529"/>
          </a:xfrm>
        </p:spPr>
        <p:txBody>
          <a:bodyPr>
            <a:normAutofit/>
          </a:bodyPr>
          <a:lstStyle/>
          <a:p>
            <a:r>
              <a:rPr lang="en-US" dirty="0"/>
              <a:t>Replaces true/false with a probability.</a:t>
            </a:r>
          </a:p>
          <a:p>
            <a:r>
              <a:rPr lang="en-US" dirty="0"/>
              <a:t>This is the basis for</a:t>
            </a:r>
          </a:p>
          <a:p>
            <a:pPr lvl="1"/>
            <a:r>
              <a:rPr lang="en-US" dirty="0"/>
              <a:t>Probabilistic reasoning under uncertainty</a:t>
            </a:r>
          </a:p>
          <a:p>
            <a:pPr lvl="1"/>
            <a:r>
              <a:rPr lang="en-US" dirty="0"/>
              <a:t>Decision theory</a:t>
            </a:r>
          </a:p>
          <a:p>
            <a:pPr lvl="1"/>
            <a:r>
              <a:rPr lang="en-US" dirty="0"/>
              <a:t>Machine Learning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4A6F6-9FA1-53CC-EAF7-09306D51B7FA}"/>
              </a:ext>
            </a:extLst>
          </p:cNvPr>
          <p:cNvSpPr txBox="1"/>
          <p:nvPr/>
        </p:nvSpPr>
        <p:spPr>
          <a:xfrm>
            <a:off x="2593105" y="6123542"/>
            <a:ext cx="4043413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 will talk about these topics a lot more</a:t>
            </a:r>
          </a:p>
        </p:txBody>
      </p:sp>
    </p:spTree>
    <p:extLst>
      <p:ext uri="{BB962C8B-B14F-4D97-AF65-F5344CB8AC3E}">
        <p14:creationId xmlns:p14="http://schemas.microsoft.com/office/powerpoint/2010/main" val="1438923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F512-D5AE-9798-0F51-6F74D2F6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86" y="280558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Conclusion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6CAC1-53F7-DCF0-642D-B47B66609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1752600"/>
            <a:ext cx="4000647" cy="4487479"/>
          </a:xfrm>
        </p:spPr>
        <p:txBody>
          <a:bodyPr anchor="ctr">
            <a:normAutofit lnSpcReduction="10000"/>
          </a:bodyPr>
          <a:lstStyle/>
          <a:p>
            <a:r>
              <a:rPr lang="en-US" sz="1800" dirty="0"/>
              <a:t>The </a:t>
            </a:r>
            <a:r>
              <a:rPr lang="en-US" sz="1800" b="1" dirty="0"/>
              <a:t>clear separation between knowledge and inference engine</a:t>
            </a:r>
            <a:r>
              <a:rPr lang="en-US" sz="1800" dirty="0"/>
              <a:t> is very useful.</a:t>
            </a:r>
          </a:p>
          <a:p>
            <a:r>
              <a:rPr lang="en-US" sz="1800" b="1" dirty="0"/>
              <a:t>Pure logic </a:t>
            </a:r>
            <a:r>
              <a:rPr lang="en-US" sz="1800" dirty="0"/>
              <a:t>is often not flexible enough. The fullest realization of knowledge-based agents using logic was in the field of expert systems or knowledge-based systems in the 1970s and 1980s.</a:t>
            </a:r>
          </a:p>
          <a:p>
            <a:r>
              <a:rPr lang="en-US" sz="1800" b="1" dirty="0"/>
              <a:t>Pretrained Large Language Models </a:t>
            </a:r>
            <a:r>
              <a:rPr lang="en-US" sz="1800" dirty="0"/>
              <a:t>are an interesting new application of knowledge-based agents based on natural language.</a:t>
            </a:r>
          </a:p>
          <a:p>
            <a:r>
              <a:rPr lang="en-US" sz="1800" dirty="0"/>
              <a:t>In one of the following chapters, we will talk about </a:t>
            </a:r>
            <a:r>
              <a:rPr lang="en-US" sz="1800" b="1" dirty="0"/>
              <a:t>probability theory,</a:t>
            </a:r>
            <a:r>
              <a:rPr lang="en-US" sz="1800" dirty="0"/>
              <a:t> the standard language to reason under uncertainty, and forms the basis of machine learning.</a:t>
            </a:r>
          </a:p>
        </p:txBody>
      </p:sp>
      <p:pic>
        <p:nvPicPr>
          <p:cNvPr id="5" name="Picture 4" descr="Complex maths formulae on a blackboard">
            <a:extLst>
              <a:ext uri="{FF2B5EF4-FFF2-40B4-BE49-F238E27FC236}">
                <a16:creationId xmlns:a16="http://schemas.microsoft.com/office/drawing/2014/main" id="{6B68BF71-85BE-4C36-7D62-640F5E53F5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02" r="21781" b="2"/>
          <a:stretch/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8086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Exercise Plays Vital Role Maintaining Brain Health">
            <a:extLst>
              <a:ext uri="{FF2B5EF4-FFF2-40B4-BE49-F238E27FC236}">
                <a16:creationId xmlns:a16="http://schemas.microsoft.com/office/drawing/2014/main" id="{05168C2A-1665-111F-5B91-53221F31C0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5" y="10"/>
            <a:ext cx="9143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9143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305BDD-7D5C-4C25-0801-920539363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162" y="4343400"/>
            <a:ext cx="7543800" cy="140689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dirty="0">
                <a:solidFill>
                  <a:srgbClr val="FFFFFF"/>
                </a:solidFill>
              </a:rPr>
              <a:t>Knowledge-Based Agents using Natural Language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CDD92E-3832-B13A-C2CE-068FB045E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873695"/>
            <a:ext cx="7543800" cy="5271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2400" dirty="0">
                <a:solidFill>
                  <a:srgbClr val="FFFFFF"/>
                </a:solidFill>
              </a:rPr>
              <a:t>Large Language Models</a:t>
            </a: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C50E2CBA-05BC-D940-E5D2-69478510F217}"/>
              </a:ext>
            </a:extLst>
          </p:cNvPr>
          <p:cNvSpPr/>
          <p:nvPr/>
        </p:nvSpPr>
        <p:spPr>
          <a:xfrm>
            <a:off x="228600" y="2207602"/>
            <a:ext cx="2057400" cy="1526198"/>
          </a:xfrm>
          <a:prstGeom prst="wedgeEllipseCallout">
            <a:avLst>
              <a:gd name="adj1" fmla="val 56467"/>
              <a:gd name="adj2" fmla="val 8457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 am a Large Language Model</a:t>
            </a:r>
          </a:p>
        </p:txBody>
      </p:sp>
    </p:spTree>
    <p:extLst>
      <p:ext uri="{BB962C8B-B14F-4D97-AF65-F5344CB8AC3E}">
        <p14:creationId xmlns:p14="http://schemas.microsoft.com/office/powerpoint/2010/main" val="2531379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DB0CC-1E4D-0276-DF39-CD1E412F6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780D9-BB3D-1069-69BA-D7639F56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6DB192-D69E-45DA-1C13-FCADFAE64E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773628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8247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- Large Language Models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F86383B-2596-B951-6E5C-585351396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23220" y="1524000"/>
            <a:ext cx="8439780" cy="3031499"/>
            <a:chOff x="323220" y="1524000"/>
            <a:chExt cx="8439780" cy="303149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66ABFD7-3370-4CE3-A3D4-94A70A5AF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0" y="1524000"/>
              <a:ext cx="8382000" cy="2290976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AC5B94A-8EEC-2B3B-3736-8498A95B47B6}"/>
                </a:ext>
              </a:extLst>
            </p:cNvPr>
            <p:cNvGrpSpPr/>
            <p:nvPr/>
          </p:nvGrpSpPr>
          <p:grpSpPr>
            <a:xfrm>
              <a:off x="323220" y="3886200"/>
              <a:ext cx="6306180" cy="669299"/>
              <a:chOff x="323220" y="3886200"/>
              <a:chExt cx="6306180" cy="669299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BAB136D-66B9-A975-086A-D7B2D61B5DB7}"/>
                  </a:ext>
                </a:extLst>
              </p:cNvPr>
              <p:cNvSpPr txBox="1"/>
              <p:nvPr/>
            </p:nvSpPr>
            <p:spPr>
              <a:xfrm>
                <a:off x="630999" y="3970724"/>
                <a:ext cx="599840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Natural Language        word patterns representing </a:t>
                </a:r>
                <a:b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US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      facts, objects, relations, …                 ???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097C8C-EBC1-6D92-3D3B-A5974704F6DE}"/>
                  </a:ext>
                </a:extLst>
              </p:cNvPr>
              <p:cNvSpPr txBox="1"/>
              <p:nvPr/>
            </p:nvSpPr>
            <p:spPr>
              <a:xfrm>
                <a:off x="323220" y="3886200"/>
                <a:ext cx="29998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FF0000"/>
                    </a:solidFill>
                  </a:rPr>
                  <a:t>+</a:t>
                </a: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AF2A674-3771-B596-4A5C-67250D2ED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" y="3954343"/>
            <a:ext cx="6248400" cy="686776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D6A3B0-5ADE-BA97-B04F-2B902C96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363" y="5181600"/>
            <a:ext cx="7886700" cy="914400"/>
          </a:xfrm>
        </p:spPr>
        <p:txBody>
          <a:bodyPr>
            <a:normAutofit fontScale="92500"/>
          </a:bodyPr>
          <a:lstStyle/>
          <a:p>
            <a:r>
              <a:rPr lang="en-US" dirty="0"/>
              <a:t>Extract knowledge from large text corpora.</a:t>
            </a:r>
          </a:p>
          <a:p>
            <a:r>
              <a:rPr lang="en-US" dirty="0"/>
              <a:t>Store knowledge compressed as parameters in a deep neural network.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07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C578-9625-44B8-AF64-9CEF42283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5127"/>
            <a:ext cx="8153400" cy="558076"/>
          </a:xfrm>
        </p:spPr>
        <p:txBody>
          <a:bodyPr>
            <a:normAutofit/>
          </a:bodyPr>
          <a:lstStyle/>
          <a:p>
            <a:r>
              <a:rPr lang="en-US" sz="2800" dirty="0"/>
              <a:t>Using Natural Language for Knowledge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65D05-68B7-4A70-8C8D-AFBC2F08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918846"/>
            <a:ext cx="7886700" cy="161292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user formulates a question about the real world as a natural language </a:t>
            </a:r>
            <a:r>
              <a:rPr lang="en-US" b="1" dirty="0"/>
              <a:t>prompt</a:t>
            </a:r>
            <a:r>
              <a:rPr lang="en-US" dirty="0"/>
              <a:t> (a sequence of tokens).</a:t>
            </a:r>
          </a:p>
          <a:p>
            <a:r>
              <a:rPr lang="en-US" dirty="0"/>
              <a:t> The LLM </a:t>
            </a:r>
            <a:r>
              <a:rPr lang="en-US" b="1" dirty="0"/>
              <a:t>generates text </a:t>
            </a:r>
            <a:r>
              <a:rPr lang="en-US" dirty="0"/>
              <a:t>using a pretrained model that represents its knowledge base.</a:t>
            </a:r>
          </a:p>
          <a:p>
            <a:r>
              <a:rPr lang="en-US" dirty="0"/>
              <a:t>The text (hopefully) is useful in the real world. The </a:t>
            </a:r>
            <a:r>
              <a:rPr lang="en-US" b="1" dirty="0"/>
              <a:t>objective function </a:t>
            </a:r>
            <a:r>
              <a:rPr lang="en-US" dirty="0"/>
              <a:t>is not clear. Maybe it is implied in the prompt?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855321-8D1D-90A5-586C-7D82C0312A11}"/>
              </a:ext>
            </a:extLst>
          </p:cNvPr>
          <p:cNvGrpSpPr/>
          <p:nvPr/>
        </p:nvGrpSpPr>
        <p:grpSpPr>
          <a:xfrm>
            <a:off x="304800" y="1105360"/>
            <a:ext cx="8458200" cy="3813486"/>
            <a:chOff x="304800" y="1105360"/>
            <a:chExt cx="8458200" cy="3813486"/>
          </a:xfrm>
        </p:grpSpPr>
        <p:grpSp>
          <p:nvGrpSpPr>
            <p:cNvPr id="5" name="Group 4" descr="A diagram showing how LLMs fit the structure knowledge representation used by knowledge-based agents.">
              <a:extLst>
                <a:ext uri="{FF2B5EF4-FFF2-40B4-BE49-F238E27FC236}">
                  <a16:creationId xmlns:a16="http://schemas.microsoft.com/office/drawing/2014/main" id="{B266BC1B-424E-E5E2-C00B-C85CCB7C6F6F}"/>
                </a:ext>
              </a:extLst>
            </p:cNvPr>
            <p:cNvGrpSpPr/>
            <p:nvPr/>
          </p:nvGrpSpPr>
          <p:grpSpPr>
            <a:xfrm>
              <a:off x="304800" y="1105360"/>
              <a:ext cx="8458200" cy="3813486"/>
              <a:chOff x="304800" y="1105360"/>
              <a:chExt cx="8458200" cy="3813486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BF91B6D-86A1-4EC3-86B7-31180718A5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04800" y="2020164"/>
                <a:ext cx="8458200" cy="2792908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87C76E13-1940-4A02-9752-8E2F6CD8EA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0792" y="2562548"/>
                <a:ext cx="0" cy="366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4" name="Flowchart: Multidocument 13">
                <a:extLst>
                  <a:ext uri="{FF2B5EF4-FFF2-40B4-BE49-F238E27FC236}">
                    <a16:creationId xmlns:a16="http://schemas.microsoft.com/office/drawing/2014/main" id="{587D664C-62DD-B249-E25E-723233B2179A}"/>
                  </a:ext>
                </a:extLst>
              </p:cNvPr>
              <p:cNvSpPr/>
              <p:nvPr/>
            </p:nvSpPr>
            <p:spPr>
              <a:xfrm>
                <a:off x="2929292" y="3039254"/>
                <a:ext cx="1143000" cy="610191"/>
              </a:xfrm>
              <a:prstGeom prst="flowChartMultidocumen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Prompts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7D32E6D-586F-B355-E331-F1089D35FE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6704" y="3649445"/>
                <a:ext cx="0" cy="366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7" name="Flowchart: Multidocument 16">
                <a:extLst>
                  <a:ext uri="{FF2B5EF4-FFF2-40B4-BE49-F238E27FC236}">
                    <a16:creationId xmlns:a16="http://schemas.microsoft.com/office/drawing/2014/main" id="{D4139DBB-ACD7-C8DA-CB8D-D19E855EB49C}"/>
                  </a:ext>
                </a:extLst>
              </p:cNvPr>
              <p:cNvSpPr/>
              <p:nvPr/>
            </p:nvSpPr>
            <p:spPr>
              <a:xfrm>
                <a:off x="5861235" y="2857772"/>
                <a:ext cx="1143000" cy="903574"/>
              </a:xfrm>
              <a:prstGeom prst="flowChartMultidocumen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Text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97A8A1B-AF90-62D1-5F1B-1F50136C3B7C}"/>
                  </a:ext>
                </a:extLst>
              </p:cNvPr>
              <p:cNvSpPr txBox="1"/>
              <p:nvPr/>
            </p:nvSpPr>
            <p:spPr>
              <a:xfrm>
                <a:off x="4136197" y="2606150"/>
                <a:ext cx="1158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Generates</a:t>
                </a:r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CE970966-C578-FE62-E5B4-343595585F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0" y="3696493"/>
                <a:ext cx="0" cy="3898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649024D-198D-0681-81BD-6BE64DAD75A7}"/>
                  </a:ext>
                </a:extLst>
              </p:cNvPr>
              <p:cNvGrpSpPr/>
              <p:nvPr/>
            </p:nvGrpSpPr>
            <p:grpSpPr>
              <a:xfrm>
                <a:off x="4136197" y="2400536"/>
                <a:ext cx="1224990" cy="305455"/>
                <a:chOff x="5867400" y="1524000"/>
                <a:chExt cx="936306" cy="566145"/>
              </a:xfrm>
            </p:grpSpPr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C19A48D-5C1C-807E-C6A8-7757A8BA99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7400" y="1528600"/>
                  <a:ext cx="936306" cy="545017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F6DBA013-DF20-0788-AE43-DE9F38386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1955" y="1524000"/>
                  <a:ext cx="901751" cy="566145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" name="Flowchart: Magnetic Disk 5">
                <a:extLst>
                  <a:ext uri="{FF2B5EF4-FFF2-40B4-BE49-F238E27FC236}">
                    <a16:creationId xmlns:a16="http://schemas.microsoft.com/office/drawing/2014/main" id="{3C351FF7-F61B-1563-9441-F70A4B3FD7C1}"/>
                  </a:ext>
                </a:extLst>
              </p:cNvPr>
              <p:cNvSpPr/>
              <p:nvPr/>
            </p:nvSpPr>
            <p:spPr>
              <a:xfrm>
                <a:off x="964414" y="2190097"/>
                <a:ext cx="757533" cy="533400"/>
              </a:xfrm>
              <a:prstGeom prst="flowChartMagneticDisk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KB</a:t>
                </a: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B61D950E-E7EF-DC8A-C21E-B0E434EC17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77000" y="2514600"/>
                <a:ext cx="10391" cy="29439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84CB2650-18BF-5E77-72FF-746A963C41EB}"/>
                  </a:ext>
                </a:extLst>
              </p:cNvPr>
              <p:cNvGrpSpPr/>
              <p:nvPr/>
            </p:nvGrpSpPr>
            <p:grpSpPr>
              <a:xfrm>
                <a:off x="4072292" y="4334377"/>
                <a:ext cx="1224990" cy="305455"/>
                <a:chOff x="5867400" y="1524000"/>
                <a:chExt cx="936306" cy="566145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DB55F67-8628-B3C2-DD28-003667B6C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7400" y="1528600"/>
                  <a:ext cx="936306" cy="545017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B43803D-A81E-4123-00F0-7D67D1A0C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01955" y="1524000"/>
                  <a:ext cx="901751" cy="566145"/>
                </a:xfrm>
                <a:prstGeom prst="line">
                  <a:avLst/>
                </a:prstGeom>
              </p:spPr>
              <p:style>
                <a:lnRef idx="3">
                  <a:schemeClr val="accent2"/>
                </a:lnRef>
                <a:fillRef idx="0">
                  <a:schemeClr val="accent2"/>
                </a:fillRef>
                <a:effectRef idx="2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C9567E1-1F33-CD80-A6FF-2B7E24C4BB52}"/>
                  </a:ext>
                </a:extLst>
              </p:cNvPr>
              <p:cNvSpPr txBox="1"/>
              <p:nvPr/>
            </p:nvSpPr>
            <p:spPr>
              <a:xfrm>
                <a:off x="4278703" y="4549514"/>
                <a:ext cx="9011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Useful?</a:t>
                </a:r>
              </a:p>
            </p:txBody>
          </p:sp>
          <p:sp>
            <p:nvSpPr>
              <p:cNvPr id="32" name="Speech Bubble: Rectangle with Corners Rounded 31">
                <a:extLst>
                  <a:ext uri="{FF2B5EF4-FFF2-40B4-BE49-F238E27FC236}">
                    <a16:creationId xmlns:a16="http://schemas.microsoft.com/office/drawing/2014/main" id="{3B77A4D0-1B69-8099-AA4C-9EE2F0618A4C}"/>
                  </a:ext>
                </a:extLst>
              </p:cNvPr>
              <p:cNvSpPr/>
              <p:nvPr/>
            </p:nvSpPr>
            <p:spPr>
              <a:xfrm>
                <a:off x="762000" y="1105360"/>
                <a:ext cx="3810000" cy="936173"/>
              </a:xfrm>
              <a:prstGeom prst="wedgeRoundRectCallout">
                <a:avLst>
                  <a:gd name="adj1" fmla="val -36361"/>
                  <a:gd name="adj2" fmla="val 75333"/>
                  <a:gd name="adj3" fmla="val 16667"/>
                </a:avLst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Pretrained model knows words relationship, grammar, and facts stored as parameters in a network.</a:t>
                </a:r>
              </a:p>
            </p:txBody>
          </p:sp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26C09F6-1C95-E0CD-22D8-7F75C715994B}"/>
                </a:ext>
              </a:extLst>
            </p:cNvPr>
            <p:cNvCxnSpPr>
              <a:cxnSpLocks/>
            </p:cNvCxnSpPr>
            <p:nvPr/>
          </p:nvCxnSpPr>
          <p:spPr>
            <a:xfrm>
              <a:off x="3969223" y="2286000"/>
              <a:ext cx="1804182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48554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365126"/>
            <a:ext cx="7886700" cy="865223"/>
          </a:xfrm>
        </p:spPr>
        <p:txBody>
          <a:bodyPr/>
          <a:lstStyle/>
          <a:p>
            <a:r>
              <a:rPr lang="en-US" dirty="0"/>
              <a:t>LLM as a Knowledge-Based Agents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4392922"/>
            <a:ext cx="8229600" cy="18554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Current text generators are:</a:t>
            </a:r>
          </a:p>
          <a:p>
            <a:r>
              <a:rPr lang="en-US" sz="2000" dirty="0"/>
              <a:t>Pretrained decoder-only transformer models (e.g., GPT stands for Generative Pre-trained Transformer). The knowledge base is not updated during interactions.</a:t>
            </a:r>
          </a:p>
          <a:p>
            <a:r>
              <a:rPr lang="en-US" sz="2000" dirty="0"/>
              <a:t>Tokens are created autoregressively. One token is generated at a time based on all the previous tokens using the transformer attention mechanism.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2A4221-1517-D162-FC9B-0127AAD03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21548" y="1293003"/>
            <a:ext cx="8243819" cy="2440797"/>
            <a:chOff x="721548" y="1293003"/>
            <a:chExt cx="8243819" cy="2440797"/>
          </a:xfrm>
        </p:grpSpPr>
        <p:sp>
          <p:nvSpPr>
            <p:cNvPr id="7" name="Rectangle 6"/>
            <p:cNvSpPr/>
            <p:nvPr/>
          </p:nvSpPr>
          <p:spPr bwMode="auto">
            <a:xfrm>
              <a:off x="838200" y="3200400"/>
              <a:ext cx="2667000" cy="5334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/>
                <a:t>Text Generator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 bwMode="auto">
            <a:xfrm>
              <a:off x="3733800" y="3427412"/>
              <a:ext cx="1447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1" name="Rectangle 20"/>
            <p:cNvSpPr/>
            <p:nvPr/>
          </p:nvSpPr>
          <p:spPr>
            <a:xfrm>
              <a:off x="5280164" y="3242846"/>
              <a:ext cx="296196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</a:rPr>
                <a:t>Domain-independent algorithms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 bwMode="auto">
            <a:xfrm>
              <a:off x="3695700" y="2758817"/>
              <a:ext cx="1447800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3" name="Rectangle 22"/>
            <p:cNvSpPr/>
            <p:nvPr/>
          </p:nvSpPr>
          <p:spPr>
            <a:xfrm>
              <a:off x="5388335" y="2832785"/>
              <a:ext cx="291746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400" b="0" dirty="0"/>
                <a:t>Domain-specific content </a:t>
              </a:r>
              <a:r>
                <a:rPr lang="en-US" sz="1400" dirty="0"/>
                <a:t>(fine tuning)</a:t>
              </a:r>
            </a:p>
          </p:txBody>
        </p:sp>
        <p:sp>
          <p:nvSpPr>
            <p:cNvPr id="2" name="Cylinder 1">
              <a:extLst>
                <a:ext uri="{FF2B5EF4-FFF2-40B4-BE49-F238E27FC236}">
                  <a16:creationId xmlns:a16="http://schemas.microsoft.com/office/drawing/2014/main" id="{8475278E-F5B8-47FE-8837-86D2EFE260DD}"/>
                </a:ext>
              </a:extLst>
            </p:cNvPr>
            <p:cNvSpPr/>
            <p:nvPr/>
          </p:nvSpPr>
          <p:spPr>
            <a:xfrm>
              <a:off x="1215794" y="2267103"/>
              <a:ext cx="1780185" cy="1014123"/>
            </a:xfrm>
            <a:prstGeom prst="can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/>
                <a:t>pretrained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dirty="0"/>
                <a:t>Knowledge base</a:t>
              </a:r>
              <a:endParaRPr lang="en-US" b="1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C87447-58A4-8421-4FAF-68F10991E678}"/>
                </a:ext>
              </a:extLst>
            </p:cNvPr>
            <p:cNvSpPr txBox="1"/>
            <p:nvPr/>
          </p:nvSpPr>
          <p:spPr>
            <a:xfrm>
              <a:off x="5269667" y="2463942"/>
              <a:ext cx="36957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accent2"/>
                  </a:solidFill>
                </a:rPr>
                <a:t>Domain-independent content </a:t>
              </a:r>
              <a:r>
                <a:rPr lang="en-US" sz="1400" dirty="0"/>
                <a:t>(pre-training)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E7764B-32CF-CB59-3FDE-99F94BCB9C89}"/>
                </a:ext>
              </a:extLst>
            </p:cNvPr>
            <p:cNvSpPr txBox="1"/>
            <p:nvPr/>
          </p:nvSpPr>
          <p:spPr>
            <a:xfrm>
              <a:off x="6441779" y="2571420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+</a:t>
              </a:r>
            </a:p>
          </p:txBody>
        </p:sp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AAF97496-F031-9DC4-52A0-EF0B30BA83B4}"/>
                </a:ext>
              </a:extLst>
            </p:cNvPr>
            <p:cNvSpPr/>
            <p:nvPr/>
          </p:nvSpPr>
          <p:spPr>
            <a:xfrm>
              <a:off x="721548" y="1293003"/>
              <a:ext cx="3012251" cy="669640"/>
            </a:xfrm>
            <a:prstGeom prst="wedgeRoundRectCallout">
              <a:avLst>
                <a:gd name="adj1" fmla="val -2232"/>
                <a:gd name="adj2" fmla="val 114087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Learned word relationships, grammar, facts.</a:t>
              </a:r>
            </a:p>
          </p:txBody>
        </p:sp>
        <p:sp>
          <p:nvSpPr>
            <p:cNvPr id="5" name="Left Brace 4">
              <a:extLst>
                <a:ext uri="{FF2B5EF4-FFF2-40B4-BE49-F238E27FC236}">
                  <a16:creationId xmlns:a16="http://schemas.microsoft.com/office/drawing/2014/main" id="{34FFD677-E3E0-6CA0-32A7-141816E2889A}"/>
                </a:ext>
              </a:extLst>
            </p:cNvPr>
            <p:cNvSpPr/>
            <p:nvPr/>
          </p:nvSpPr>
          <p:spPr>
            <a:xfrm>
              <a:off x="5171993" y="2402974"/>
              <a:ext cx="108171" cy="711685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884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29244-F439-4ECF-A211-2DB43D37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as a Generic Knowledge-based Agent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460337-536F-5A7C-ABBF-77FFACCF7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743182"/>
            <a:ext cx="7886700" cy="59330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chatbot repeatedly calls the agent function till the agent function returns the ‘end’ token.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C8D4A3-2B23-9BB7-0E51-04CDFDFAD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28650" y="1274346"/>
            <a:ext cx="6215975" cy="4240662"/>
            <a:chOff x="628650" y="1274346"/>
            <a:chExt cx="6215975" cy="424066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6A7726-3470-46C0-A48C-6E0D536DB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50" y="2057400"/>
              <a:ext cx="6215975" cy="27432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399D650-CD04-EB7D-87B7-6683F0AA492A}"/>
                </a:ext>
              </a:extLst>
            </p:cNvPr>
            <p:cNvGrpSpPr/>
            <p:nvPr/>
          </p:nvGrpSpPr>
          <p:grpSpPr>
            <a:xfrm>
              <a:off x="914400" y="3155731"/>
              <a:ext cx="5548559" cy="251219"/>
              <a:chOff x="5867400" y="1524000"/>
              <a:chExt cx="936306" cy="566145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F48B94B-33FA-318E-D981-C9EAA5777B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7400" y="1528600"/>
                <a:ext cx="936306" cy="545017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569AD22D-6C0F-1626-729A-26B1733D18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01955" y="1524000"/>
                <a:ext cx="901751" cy="566145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BA257B3-FAA4-5490-415D-5BC4555CD905}"/>
                </a:ext>
              </a:extLst>
            </p:cNvPr>
            <p:cNvGrpSpPr/>
            <p:nvPr/>
          </p:nvGrpSpPr>
          <p:grpSpPr>
            <a:xfrm>
              <a:off x="880533" y="3773661"/>
              <a:ext cx="5548559" cy="251219"/>
              <a:chOff x="5867400" y="1524000"/>
              <a:chExt cx="936306" cy="566145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D02B948-2F00-3743-2352-12F32A7B16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7400" y="1528600"/>
                <a:ext cx="936306" cy="545017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AAFDB867-ACE2-3998-1383-E1AD68A7EA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01955" y="1524000"/>
                <a:ext cx="901751" cy="566145"/>
              </a:xfrm>
              <a:prstGeom prst="line">
                <a:avLst/>
              </a:prstGeom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" name="Speech Bubble: Rectangle with Corners Rounded 2">
              <a:extLst>
                <a:ext uri="{FF2B5EF4-FFF2-40B4-BE49-F238E27FC236}">
                  <a16:creationId xmlns:a16="http://schemas.microsoft.com/office/drawing/2014/main" id="{F65479AC-3320-A100-73BB-D93D1543344E}"/>
                </a:ext>
              </a:extLst>
            </p:cNvPr>
            <p:cNvSpPr/>
            <p:nvPr/>
          </p:nvSpPr>
          <p:spPr>
            <a:xfrm>
              <a:off x="3276600" y="1274346"/>
              <a:ext cx="1981200" cy="645336"/>
            </a:xfrm>
            <a:prstGeom prst="wedgeRoundRectCallout">
              <a:avLst>
                <a:gd name="adj1" fmla="val -35941"/>
                <a:gd name="adj2" fmla="val 90381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Prompt + already generated tokens</a:t>
              </a:r>
            </a:p>
          </p:txBody>
        </p:sp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F44D03C1-345D-3D93-794D-401AAF79F029}"/>
                </a:ext>
              </a:extLst>
            </p:cNvPr>
            <p:cNvSpPr/>
            <p:nvPr/>
          </p:nvSpPr>
          <p:spPr>
            <a:xfrm>
              <a:off x="2743200" y="5029200"/>
              <a:ext cx="1390534" cy="485808"/>
            </a:xfrm>
            <a:prstGeom prst="wedgeRoundRectCallout">
              <a:avLst>
                <a:gd name="adj1" fmla="val -65825"/>
                <a:gd name="adj2" fmla="val -152231"/>
                <a:gd name="adj3" fmla="val 16667"/>
              </a:avLst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Next token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4944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03831-BEA3-8727-30FD-294664BF5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12F2D6-321D-CEF8-E821-8B859819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115" y="2931914"/>
            <a:ext cx="7886700" cy="87603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+mn-lt"/>
              </a:rPr>
              <a:t>Code example</a:t>
            </a:r>
            <a:r>
              <a:rPr lang="en-US" sz="3200" dirty="0">
                <a:latin typeface="+mn-lt"/>
              </a:rPr>
              <a:t>: </a:t>
            </a:r>
            <a:br>
              <a:rPr lang="en-US" sz="3200">
                <a:latin typeface="+mn-lt"/>
              </a:rPr>
            </a:br>
            <a:r>
              <a:rPr lang="en-US" sz="3200">
                <a:latin typeface="+mn-lt"/>
              </a:rPr>
              <a:t>Large </a:t>
            </a:r>
            <a:r>
              <a:rPr lang="en-US" sz="3200" dirty="0">
                <a:latin typeface="+mn-lt"/>
              </a:rPr>
              <a:t>Language Models</a:t>
            </a:r>
            <a:br>
              <a:rPr lang="en-US" sz="3200" dirty="0">
                <a:latin typeface="+mn-lt"/>
              </a:rPr>
            </a:br>
            <a:endParaRPr lang="en-US" sz="3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D24ECB-30E7-6706-F5B5-9AFDE9CFE15F}"/>
              </a:ext>
            </a:extLst>
          </p:cNvPr>
          <p:cNvSpPr txBox="1"/>
          <p:nvPr/>
        </p:nvSpPr>
        <p:spPr>
          <a:xfrm>
            <a:off x="893299" y="5365946"/>
            <a:ext cx="660829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See Code on </a:t>
            </a:r>
            <a:r>
              <a:rPr lang="en-US" sz="1050" dirty="0">
                <a:hlinkClick r:id="rId2"/>
              </a:rPr>
              <a:t>https://michael.hahsler.net/Introduction_to_Artificial_Intelligence/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48557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D49A39EE-61D7-118D-8084-9721766877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93" r="2" b="2"/>
          <a:stretch/>
        </p:blipFill>
        <p:spPr>
          <a:xfrm>
            <a:off x="1891769" y="0"/>
            <a:ext cx="7252231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7B2EBF-5C40-7D83-CA81-58009F749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4476750" cy="1899912"/>
          </a:xfrm>
        </p:spPr>
        <p:txBody>
          <a:bodyPr>
            <a:normAutofit/>
          </a:bodyPr>
          <a:lstStyle/>
          <a:p>
            <a:r>
              <a:rPr lang="en-US" sz="3500"/>
              <a:t>Many Open Questions about LLMs</a:t>
            </a:r>
            <a:endParaRPr lang="en-US" sz="35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BB87D-4474-6062-170D-03806CA78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33600"/>
            <a:ext cx="3105150" cy="4359275"/>
          </a:xfrm>
        </p:spPr>
        <p:txBody>
          <a:bodyPr>
            <a:normAutofit fontScale="85000" lnSpcReduction="20000"/>
          </a:bodyPr>
          <a:lstStyle/>
          <a:p>
            <a:r>
              <a:rPr lang="en-US" sz="1600" dirty="0"/>
              <a:t>Correlation is not causation: </a:t>
            </a:r>
            <a:r>
              <a:rPr lang="en-US" sz="1600" b="1" dirty="0"/>
              <a:t>Can LLMs reason </a:t>
            </a:r>
            <a:r>
              <a:rPr lang="en-US" sz="1600" dirty="0"/>
              <a:t>to solve problems?</a:t>
            </a:r>
          </a:p>
          <a:p>
            <a:r>
              <a:rPr lang="en-US" sz="1600" dirty="0"/>
              <a:t>Leaky data makes it hard to evaluate true </a:t>
            </a:r>
            <a:r>
              <a:rPr lang="en-US" sz="1600" b="1" dirty="0"/>
              <a:t>reasoning performance</a:t>
            </a:r>
            <a:r>
              <a:rPr lang="en-US" sz="1600" dirty="0"/>
              <a:t>.</a:t>
            </a:r>
          </a:p>
          <a:p>
            <a:r>
              <a:rPr lang="en-US" sz="1600" dirty="0"/>
              <a:t>Generative stochasticity leads to </a:t>
            </a:r>
            <a:r>
              <a:rPr lang="en-US" sz="1600" b="1" dirty="0"/>
              <a:t>hallucinations</a:t>
            </a:r>
            <a:r>
              <a:rPr lang="en-US" sz="1600" dirty="0"/>
              <a:t>: LLM makes up facts.</a:t>
            </a:r>
          </a:p>
          <a:p>
            <a:r>
              <a:rPr lang="en-US" sz="1600" dirty="0"/>
              <a:t>Autoregression is an exponentially </a:t>
            </a:r>
            <a:r>
              <a:rPr lang="en-US" sz="1600" b="1" dirty="0"/>
              <a:t>diverging</a:t>
            </a:r>
            <a:r>
              <a:rPr lang="en-US" sz="1600" dirty="0"/>
              <a:t> diffusion process.</a:t>
            </a:r>
          </a:p>
          <a:p>
            <a:r>
              <a:rPr lang="en-US" sz="1600" dirty="0"/>
              <a:t>The training data contains </a:t>
            </a:r>
            <a:r>
              <a:rPr lang="en-US" sz="1600" b="1" dirty="0"/>
              <a:t>biases</a:t>
            </a:r>
            <a:r>
              <a:rPr lang="en-US" sz="1600" dirty="0"/>
              <a:t>, nonsense, and harmful content.</a:t>
            </a:r>
          </a:p>
          <a:p>
            <a:r>
              <a:rPr lang="en-US" sz="1600" b="1" dirty="0"/>
              <a:t>Security</a:t>
            </a:r>
            <a:r>
              <a:rPr lang="en-US" sz="1600" dirty="0"/>
              <a:t>: LLM can leak sensitive information it was trained on.</a:t>
            </a:r>
          </a:p>
          <a:p>
            <a:r>
              <a:rPr lang="en-US" sz="1600" b="1" dirty="0"/>
              <a:t> Rights laundering: </a:t>
            </a:r>
            <a:r>
              <a:rPr lang="en-US" sz="1600" dirty="0"/>
              <a:t>Copyrighted or licensed material can be included in the training data.</a:t>
            </a:r>
            <a:endParaRPr lang="en-US" sz="1600" b="1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Reading: </a:t>
            </a:r>
            <a:r>
              <a:rPr lang="en-US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[2307.04821] Amplifying Limitations, Harms and Risks of Large Language Models (arxiv.org)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51894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lose-up of hopscotch on a sidewalk">
            <a:extLst>
              <a:ext uri="{FF2B5EF4-FFF2-40B4-BE49-F238E27FC236}">
                <a16:creationId xmlns:a16="http://schemas.microsoft.com/office/drawing/2014/main" id="{79DBE3EC-FDB3-EA0A-AE6D-0375F7BA03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045" t="9091" r="12046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275865" y="-511"/>
            <a:ext cx="4592270" cy="9144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931F5C-E9D2-3AAC-EE80-970931DB4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414" y="3091928"/>
            <a:ext cx="680892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5700" dirty="0">
                <a:solidFill>
                  <a:schemeClr val="bg1"/>
                </a:solidFill>
              </a:rPr>
              <a:t>Appendix: Logic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7339422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AC044A-585C-771A-1AFF-BF4DB9E76B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3414" y="5624945"/>
            <a:ext cx="680892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Bef>
                <a:spcPts val="1000"/>
              </a:spcBef>
            </a:pPr>
            <a:r>
              <a:rPr lang="en-US" sz="2400" dirty="0">
                <a:solidFill>
                  <a:schemeClr val="bg1"/>
                </a:solidFill>
              </a:rPr>
              <a:t>Details on Propositional and First-Order Logic</a:t>
            </a:r>
          </a:p>
        </p:txBody>
      </p:sp>
    </p:spTree>
    <p:extLst>
      <p:ext uri="{BB962C8B-B14F-4D97-AF65-F5344CB8AC3E}">
        <p14:creationId xmlns:p14="http://schemas.microsoft.com/office/powerpoint/2010/main" val="1100315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1312"/>
            <a:ext cx="7879842" cy="1010264"/>
          </a:xfrm>
        </p:spPr>
        <p:txBody>
          <a:bodyPr anchor="ctr">
            <a:normAutofit/>
          </a:bodyPr>
          <a:lstStyle/>
          <a:p>
            <a:r>
              <a:rPr lang="en-US" dirty="0"/>
              <a:t>Logic to Represent Knowledge</a:t>
            </a:r>
          </a:p>
        </p:txBody>
      </p:sp>
      <p:graphicFrame>
        <p:nvGraphicFramePr>
          <p:cNvPr id="6" name="Content Placeholder 2" descr="Logic has syntac and semantics.">
            <a:extLst>
              <a:ext uri="{FF2B5EF4-FFF2-40B4-BE49-F238E27FC236}">
                <a16:creationId xmlns:a16="http://schemas.microsoft.com/office/drawing/2014/main" id="{942315BB-9E95-4290-9277-FBBAD5C8E3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02165"/>
              </p:ext>
            </p:extLst>
          </p:nvPr>
        </p:nvGraphicFramePr>
        <p:xfrm>
          <a:off x="628650" y="1650222"/>
          <a:ext cx="7879842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ABFD7-3370-4CE3-A3D4-94A70A5AF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0"/>
            <a:ext cx="8382000" cy="2290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EF65A7-DD1C-47CE-BEEC-E51162873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62000" y="2371832"/>
            <a:ext cx="6400800" cy="371368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224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Propositional Logic: </a:t>
            </a:r>
            <a:br>
              <a:rPr lang="en-US" sz="3600" dirty="0"/>
            </a:br>
            <a:r>
              <a:rPr lang="en-US" sz="3600" dirty="0"/>
              <a:t>Syntax in Backus-Naur Form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248A0-1C49-4BC2-BEEB-C74CC0B0D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04" b="21800"/>
          <a:stretch/>
        </p:blipFill>
        <p:spPr>
          <a:xfrm>
            <a:off x="762000" y="2362200"/>
            <a:ext cx="7696200" cy="350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EEF84D-1880-4245-B6F5-8CA5F0EDA0D0}"/>
              </a:ext>
            </a:extLst>
          </p:cNvPr>
          <p:cNvSpPr txBox="1"/>
          <p:nvPr/>
        </p:nvSpPr>
        <p:spPr>
          <a:xfrm>
            <a:off x="6890791" y="3581399"/>
            <a:ext cx="205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Negation</a:t>
            </a:r>
          </a:p>
          <a:p>
            <a:r>
              <a:rPr lang="en-US" sz="2000" dirty="0"/>
              <a:t>Conjunction</a:t>
            </a:r>
          </a:p>
          <a:p>
            <a:r>
              <a:rPr lang="en-US" sz="2000" dirty="0"/>
              <a:t>Disjunction</a:t>
            </a:r>
          </a:p>
          <a:p>
            <a:r>
              <a:rPr lang="en-US" sz="2000" dirty="0"/>
              <a:t>Implication</a:t>
            </a:r>
          </a:p>
          <a:p>
            <a:r>
              <a:rPr lang="en-US" sz="2000" dirty="0"/>
              <a:t>Biconditional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62C9E-F4E5-4449-85F7-5951EE1838F5}"/>
              </a:ext>
            </a:extLst>
          </p:cNvPr>
          <p:cNvSpPr txBox="1"/>
          <p:nvPr/>
        </p:nvSpPr>
        <p:spPr>
          <a:xfrm>
            <a:off x="6814591" y="2787133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Symbols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5CCD6B-33F6-BC0F-587D-0CB20E35B4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1905000"/>
            <a:ext cx="8077200" cy="42672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Validity and Satisfiability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6A4EB672-C4F5-477D-B826-94BCD667D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49662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Worlds, Models and Truth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Content Placeholder 1">
                <a:extLst>
                  <a:ext uri="{FF2B5EF4-FFF2-40B4-BE49-F238E27FC236}">
                    <a16:creationId xmlns:a16="http://schemas.microsoft.com/office/drawing/2014/main" id="{FCE5F694-337A-4B16-BD03-0B49C379FF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70042555"/>
                  </p:ext>
                </p:extLst>
              </p:nvPr>
            </p:nvGraphicFramePr>
            <p:xfrm>
              <a:off x="628650" y="1520825"/>
              <a:ext cx="7886700" cy="19081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2" name="Content Placeholder 1">
                <a:extLst>
                  <a:ext uri="{FF2B5EF4-FFF2-40B4-BE49-F238E27FC236}">
                    <a16:creationId xmlns:a16="http://schemas.microsoft.com/office/drawing/2014/main" id="{FCE5F694-337A-4B16-BD03-0B49C379FF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870042555"/>
                  </p:ext>
                </p:extLst>
              </p:nvPr>
            </p:nvGraphicFramePr>
            <p:xfrm>
              <a:off x="628650" y="1520825"/>
              <a:ext cx="7886700" cy="19081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  <p:pic>
        <p:nvPicPr>
          <p:cNvPr id="4" name="Picture 5">
            <a:extLst>
              <a:ext uri="{FF2B5EF4-FFF2-40B4-BE49-F238E27FC236}">
                <a16:creationId xmlns:a16="http://schemas.microsoft.com/office/drawing/2014/main" id="{7ADE30F1-CA79-42F6-B28E-7815A6FAF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/>
          <a:srcRect l="37500" t="30208" r="7813" b="50000"/>
          <a:stretch>
            <a:fillRect/>
          </a:stretch>
        </p:blipFill>
        <p:spPr bwMode="auto">
          <a:xfrm>
            <a:off x="838200" y="4267200"/>
            <a:ext cx="6934200" cy="18823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19676F-2C85-4824-941B-C563D681EB4B}"/>
              </a:ext>
            </a:extLst>
          </p:cNvPr>
          <p:cNvSpPr/>
          <p:nvPr/>
        </p:nvSpPr>
        <p:spPr>
          <a:xfrm>
            <a:off x="990600" y="3429000"/>
            <a:ext cx="7315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truth table </a:t>
            </a:r>
            <a:r>
              <a:rPr lang="en-US" dirty="0"/>
              <a:t>specifies the truth value of a composite sentence for each possible assignments of truth values to its atoms. Each row is a model.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50BF6F7-7510-4F71-AF84-F2D8C0DB6AA9}"/>
                  </a:ext>
                </a:extLst>
              </p:cNvPr>
              <p:cNvSpPr/>
              <p:nvPr/>
            </p:nvSpPr>
            <p:spPr>
              <a:xfrm>
                <a:off x="914400" y="6260068"/>
                <a:ext cx="76962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We have 3 possible worlds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50BF6F7-7510-4F71-AF84-F2D8C0DB6A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6260068"/>
                <a:ext cx="7696200" cy="369332"/>
              </a:xfrm>
              <a:prstGeom prst="rect">
                <a:avLst/>
              </a:prstGeom>
              <a:blipFill>
                <a:blip r:embed="rId13"/>
                <a:stretch>
                  <a:fillRect l="-63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0747A65-8988-43B9-8A4C-503B4645E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4724400"/>
            <a:ext cx="838200" cy="612775"/>
          </a:xfrm>
          <a:prstGeom prst="rect">
            <a:avLst/>
          </a:prstGeom>
          <a:solidFill>
            <a:srgbClr val="4472C4">
              <a:alpha val="1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69883-8584-45A1-8103-08F5420D0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0" y="5715000"/>
            <a:ext cx="838200" cy="304799"/>
          </a:xfrm>
          <a:prstGeom prst="rect">
            <a:avLst/>
          </a:prstGeom>
          <a:solidFill>
            <a:srgbClr val="4472C4">
              <a:alpha val="1490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Logic: Semantics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CE2A7-65D6-481B-94B4-7CD1335D4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Rules for evaluating truth with respect to a model: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>
                <a:sym typeface="Symbol" panose="05050102010706020507" pitchFamily="18" charset="2"/>
              </a:rPr>
              <a:t></a:t>
            </a:r>
            <a:r>
              <a:rPr lang="en-US" b="1" dirty="0"/>
              <a:t>P</a:t>
            </a:r>
            <a:r>
              <a:rPr lang="en-US" dirty="0"/>
              <a:t>	  is true         </a:t>
            </a:r>
            <a:r>
              <a:rPr lang="en-US" dirty="0" err="1"/>
              <a:t>iff</a:t>
            </a:r>
            <a:r>
              <a:rPr lang="en-US" dirty="0"/>
              <a:t>     </a:t>
            </a:r>
            <a:r>
              <a:rPr lang="en-US" b="1" dirty="0"/>
              <a:t>P </a:t>
            </a:r>
            <a:r>
              <a:rPr lang="en-US" dirty="0"/>
              <a:t>         is false  </a:t>
            </a:r>
          </a:p>
          <a:p>
            <a:pPr lvl="0"/>
            <a:r>
              <a:rPr lang="en-US" b="1" dirty="0"/>
              <a:t>P </a:t>
            </a:r>
            <a:r>
              <a:rPr lang="en-US" b="1" dirty="0">
                <a:sym typeface="Symbol" panose="05050102010706020507" pitchFamily="18" charset="2"/>
              </a:rPr>
              <a:t></a:t>
            </a:r>
            <a:r>
              <a:rPr lang="en-US" b="1" dirty="0"/>
              <a:t> Q    </a:t>
            </a:r>
            <a:r>
              <a:rPr lang="en-US" dirty="0"/>
              <a:t>is true     </a:t>
            </a:r>
            <a:r>
              <a:rPr lang="en-US" dirty="0" err="1"/>
              <a:t>iff</a:t>
            </a:r>
            <a:r>
              <a:rPr lang="en-US" dirty="0"/>
              <a:t>     </a:t>
            </a:r>
            <a:r>
              <a:rPr lang="en-US" b="1" dirty="0"/>
              <a:t>P</a:t>
            </a:r>
            <a:r>
              <a:rPr lang="en-US" dirty="0"/>
              <a:t>          is true    and    </a:t>
            </a:r>
            <a:r>
              <a:rPr lang="en-US" b="1" dirty="0"/>
              <a:t>Q</a:t>
            </a:r>
            <a:r>
              <a:rPr lang="en-US" b="1" baseline="-25000" dirty="0"/>
              <a:t>           </a:t>
            </a:r>
            <a:r>
              <a:rPr lang="en-US" b="1" dirty="0"/>
              <a:t>   </a:t>
            </a:r>
            <a:r>
              <a:rPr lang="en-US" dirty="0"/>
              <a:t>is true</a:t>
            </a:r>
          </a:p>
          <a:p>
            <a:pPr lvl="0"/>
            <a:r>
              <a:rPr lang="en-US" b="1" dirty="0"/>
              <a:t>P </a:t>
            </a:r>
            <a:r>
              <a:rPr lang="en-US" b="1" dirty="0">
                <a:sym typeface="Symbol" panose="05050102010706020507" pitchFamily="18" charset="2"/>
              </a:rPr>
              <a:t></a:t>
            </a:r>
            <a:r>
              <a:rPr lang="en-US" b="1" dirty="0"/>
              <a:t> Q    </a:t>
            </a:r>
            <a:r>
              <a:rPr lang="en-US" dirty="0"/>
              <a:t>is true     </a:t>
            </a:r>
            <a:r>
              <a:rPr lang="en-US" dirty="0" err="1"/>
              <a:t>iff</a:t>
            </a:r>
            <a:r>
              <a:rPr lang="en-US" dirty="0"/>
              <a:t>     </a:t>
            </a:r>
            <a:r>
              <a:rPr lang="en-US" b="1" dirty="0"/>
              <a:t>P  </a:t>
            </a:r>
            <a:r>
              <a:rPr lang="en-US" dirty="0"/>
              <a:t>        is true    or       </a:t>
            </a:r>
            <a:r>
              <a:rPr lang="en-US" b="1" dirty="0"/>
              <a:t>Q          </a:t>
            </a:r>
            <a:r>
              <a:rPr lang="en-US" dirty="0"/>
              <a:t>is true</a:t>
            </a:r>
          </a:p>
          <a:p>
            <a:pPr lvl="0"/>
            <a:r>
              <a:rPr lang="en-US" b="1" dirty="0"/>
              <a:t>P </a:t>
            </a:r>
            <a:r>
              <a:rPr lang="en-US" b="1" dirty="0">
                <a:sym typeface="Symbol" panose="05050102010706020507" pitchFamily="18" charset="2"/>
              </a:rPr>
              <a:t></a:t>
            </a:r>
            <a:r>
              <a:rPr lang="en-US" b="1" dirty="0"/>
              <a:t> Q </a:t>
            </a:r>
            <a:r>
              <a:rPr lang="en-US" dirty="0"/>
              <a:t> is true     </a:t>
            </a:r>
            <a:r>
              <a:rPr lang="en-US" dirty="0" err="1"/>
              <a:t>iff</a:t>
            </a:r>
            <a:r>
              <a:rPr lang="en-US" dirty="0"/>
              <a:t>     </a:t>
            </a:r>
            <a:r>
              <a:rPr lang="en-US" b="1" dirty="0"/>
              <a:t>P</a:t>
            </a:r>
            <a:r>
              <a:rPr lang="en-US" dirty="0"/>
              <a:t>          is false   or       </a:t>
            </a:r>
            <a:r>
              <a:rPr lang="en-US" b="1" dirty="0"/>
              <a:t>Q</a:t>
            </a:r>
            <a:r>
              <a:rPr lang="en-US" dirty="0"/>
              <a:t>          is true</a:t>
            </a:r>
          </a:p>
          <a:p>
            <a:pPr lvl="0"/>
            <a:endParaRPr lang="en-US" b="1" dirty="0"/>
          </a:p>
          <a:p>
            <a:pPr marL="0" lv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862BB04-FC39-4CF2-A696-1F226F038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5048250" y="2457450"/>
            <a:ext cx="152400" cy="37719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A4D3E-DEE8-42AB-8600-C2B4E85E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667250" y="443865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CD815D6-1051-470C-97D9-8C15909BB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524000" y="3505200"/>
            <a:ext cx="152400" cy="1676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7D9762-2D3E-46BC-8A2F-22C683177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6800" y="443865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Sentence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C90BEC-70CC-C497-5F79-8401726B8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3400" y="2438400"/>
            <a:ext cx="6705600" cy="180975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118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625263" y="1524000"/>
            <a:ext cx="78867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Two sentences are </a:t>
            </a:r>
            <a:r>
              <a:rPr lang="en-US" sz="2400" dirty="0">
                <a:solidFill>
                  <a:srgbClr val="FF0000"/>
                </a:solidFill>
              </a:rPr>
              <a:t>logically equivalent </a:t>
            </a:r>
            <a:r>
              <a:rPr lang="en-US" sz="2400" dirty="0" err="1"/>
              <a:t>iff</a:t>
            </a:r>
            <a:r>
              <a:rPr lang="en-US" sz="2400" dirty="0"/>
              <a:t> (read if, and only if) they are true in same models</a:t>
            </a:r>
          </a:p>
        </p:txBody>
      </p:sp>
      <p:pic>
        <p:nvPicPr>
          <p:cNvPr id="33796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3594" t="39583" r="3125" b="15625"/>
          <a:stretch>
            <a:fillRect/>
          </a:stretch>
        </p:blipFill>
        <p:spPr bwMode="auto">
          <a:xfrm>
            <a:off x="1066800" y="2438400"/>
            <a:ext cx="7162800" cy="380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4D9B3F-FCC0-FDE1-A874-C4358EDA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000" y="2362200"/>
            <a:ext cx="7749963" cy="40386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Entailment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5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b="1" dirty="0"/>
                  <a:t>Entailment</a:t>
                </a:r>
                <a:r>
                  <a:rPr lang="en-US" sz="2800" dirty="0"/>
                  <a:t> means that a sentence </a:t>
                </a:r>
                <a:r>
                  <a:rPr lang="en-US" sz="2800" dirty="0">
                    <a:solidFill>
                      <a:srgbClr val="FF0000"/>
                    </a:solidFill>
                  </a:rPr>
                  <a:t>follows from </a:t>
                </a:r>
                <a:r>
                  <a:rPr lang="en-US" sz="2800" dirty="0"/>
                  <a:t>the premises contained in the knowledge base:</a:t>
                </a:r>
                <a:br>
                  <a:rPr lang="en-US" sz="2800" dirty="0"/>
                </a:br>
                <a:endParaRPr lang="en-US" sz="800" dirty="0"/>
              </a:p>
              <a:p>
                <a:pPr algn="ctr">
                  <a:buFontTx/>
                  <a:buNone/>
                </a:pPr>
                <a:r>
                  <a:rPr lang="en-US" sz="2800" b="1" i="1" dirty="0"/>
                  <a:t>KB</a:t>
                </a:r>
                <a:r>
                  <a:rPr lang="en-US" sz="2800" b="1" dirty="0"/>
                  <a:t> </a:t>
                </a:r>
                <a:r>
                  <a:rPr lang="en-US" sz="2800" b="1" dirty="0">
                    <a:cs typeface="Calibri" panose="020F0502020204030204" pitchFamily="34" charset="0"/>
                  </a:rPr>
                  <a:t>╞</a:t>
                </a:r>
                <a:r>
                  <a:rPr lang="en-US" sz="2800" b="1" dirty="0"/>
                  <a:t> </a:t>
                </a:r>
                <a:r>
                  <a:rPr lang="el-GR" sz="2800" b="1" i="1" dirty="0">
                    <a:cs typeface="Calibri" panose="020F0502020204030204" pitchFamily="34" charset="0"/>
                  </a:rPr>
                  <a:t>α</a:t>
                </a:r>
                <a:endParaRPr lang="en-US" sz="800" dirty="0"/>
              </a:p>
              <a:p>
                <a:r>
                  <a:rPr lang="en-US" sz="2800" dirty="0"/>
                  <a:t>The knowledge base </a:t>
                </a:r>
                <a:r>
                  <a:rPr lang="en-US" sz="2800" i="1" dirty="0"/>
                  <a:t>KB</a:t>
                </a:r>
                <a:r>
                  <a:rPr lang="en-US" sz="2800" dirty="0"/>
                  <a:t> entails sentence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iff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is true in all models where </a:t>
                </a:r>
                <a:r>
                  <a:rPr lang="en-US" sz="2800" i="1" dirty="0"/>
                  <a:t>KB</a:t>
                </a:r>
                <a:r>
                  <a:rPr lang="en-US" sz="2800" dirty="0"/>
                  <a:t> is true</a:t>
                </a:r>
                <a:endParaRPr lang="en-US" sz="1800" dirty="0"/>
              </a:p>
              <a:p>
                <a:pPr lvl="1"/>
                <a:r>
                  <a:rPr lang="en-US" sz="2400" dirty="0"/>
                  <a:t>E.g., KB with x = 0  entails sentence  x * y = 0</a:t>
                </a:r>
              </a:p>
              <a:p>
                <a:r>
                  <a:rPr lang="en-US" sz="2700" dirty="0"/>
                  <a:t>Tests for entailment</a:t>
                </a:r>
              </a:p>
              <a:p>
                <a:pPr lvl="2"/>
                <a:r>
                  <a:rPr lang="en-US" sz="2200" b="1" i="1" dirty="0"/>
                  <a:t>KB</a:t>
                </a:r>
                <a:r>
                  <a:rPr lang="en-US" sz="2200" b="1" dirty="0"/>
                  <a:t> ╞ α </a:t>
                </a:r>
                <a:r>
                  <a:rPr lang="en-US" sz="2200" dirty="0" err="1"/>
                  <a:t>iff</a:t>
                </a:r>
                <a:r>
                  <a:rPr lang="en-US" sz="2200" dirty="0"/>
                  <a:t> </a:t>
                </a:r>
                <a:r>
                  <a:rPr lang="en-US" sz="2200" b="1" dirty="0"/>
                  <a:t>(</a:t>
                </a:r>
                <a:r>
                  <a:rPr lang="en-US" sz="2200" b="1" i="1" dirty="0"/>
                  <a:t>KB</a:t>
                </a:r>
                <a:r>
                  <a:rPr lang="en-US" sz="2200" b="1" dirty="0"/>
                  <a:t> </a:t>
                </a:r>
                <a:r>
                  <a:rPr lang="en-US" sz="2200" b="1" dirty="0">
                    <a:sym typeface="Symbol" pitchFamily="18" charset="2"/>
                  </a:rPr>
                  <a:t> </a:t>
                </a:r>
                <a:r>
                  <a:rPr lang="en-US" sz="2200" b="1" dirty="0"/>
                  <a:t>α)</a:t>
                </a:r>
                <a:r>
                  <a:rPr lang="en-US" sz="2200" dirty="0"/>
                  <a:t> is </a:t>
                </a:r>
                <a:r>
                  <a:rPr lang="en-US" sz="2200" i="1" dirty="0"/>
                  <a:t>valid</a:t>
                </a:r>
                <a:endParaRPr lang="en-US" sz="2200" dirty="0"/>
              </a:p>
              <a:p>
                <a:pPr lvl="2"/>
                <a:r>
                  <a:rPr lang="en-US" sz="2200" b="1" i="1" dirty="0"/>
                  <a:t>KB</a:t>
                </a:r>
                <a:r>
                  <a:rPr lang="en-US" sz="2200" b="1" dirty="0"/>
                  <a:t> ╞ α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iff</a:t>
                </a:r>
                <a:r>
                  <a:rPr lang="en-US" sz="2200" dirty="0"/>
                  <a:t> </a:t>
                </a:r>
                <a:r>
                  <a:rPr lang="en-US" sz="2200" b="1" dirty="0"/>
                  <a:t>(</a:t>
                </a:r>
                <a:r>
                  <a:rPr lang="en-US" sz="2200" b="1" i="1" dirty="0"/>
                  <a:t>KB</a:t>
                </a:r>
                <a:r>
                  <a:rPr lang="en-US" sz="2200" b="1" dirty="0"/>
                  <a:t> </a:t>
                </a:r>
                <a:r>
                  <a:rPr lang="en-US" sz="2200" b="1" dirty="0">
                    <a:sym typeface="Symbol" pitchFamily="18" charset="2"/>
                  </a:rPr>
                  <a:t></a:t>
                </a:r>
                <a:r>
                  <a:rPr lang="en-US" sz="2200" b="1" dirty="0"/>
                  <a:t>α) </a:t>
                </a:r>
                <a:r>
                  <a:rPr lang="en-US" sz="2200" dirty="0"/>
                  <a:t>is </a:t>
                </a:r>
                <a:r>
                  <a:rPr lang="en-US" sz="2200" i="1" dirty="0" err="1"/>
                  <a:t>unsatisfiable</a:t>
                </a:r>
                <a:endParaRPr lang="en-US" sz="2200" i="1" dirty="0"/>
              </a:p>
            </p:txBody>
          </p:sp>
        </mc:Choice>
        <mc:Fallback xmlns="">
          <p:sp>
            <p:nvSpPr>
              <p:cNvPr id="1843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241" r="-1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Inference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Logical inference:</a:t>
            </a:r>
            <a:r>
              <a:rPr lang="en-US" sz="2800" dirty="0"/>
              <a:t> a procedure for generating sentences that follow from (</a:t>
            </a:r>
            <a:r>
              <a:rPr lang="en-US" sz="2800" dirty="0" err="1"/>
              <a:t>ar</a:t>
            </a:r>
            <a:r>
              <a:rPr lang="en-US" sz="2800" dirty="0"/>
              <a:t> entailed by) a knowledge base KB.</a:t>
            </a:r>
          </a:p>
          <a:p>
            <a:endParaRPr lang="en-US" sz="2800" dirty="0"/>
          </a:p>
          <a:p>
            <a:r>
              <a:rPr lang="en-US" sz="2800" dirty="0"/>
              <a:t>An inference procedure is </a:t>
            </a:r>
            <a:r>
              <a:rPr lang="en-US" sz="2800" b="1" dirty="0">
                <a:solidFill>
                  <a:srgbClr val="FF0000"/>
                </a:solidFill>
              </a:rPr>
              <a:t>sound</a:t>
            </a:r>
            <a:r>
              <a:rPr lang="en-US" sz="2800" dirty="0"/>
              <a:t> if it derives a sentence α </a:t>
            </a:r>
            <a:r>
              <a:rPr lang="en-US" sz="2800" dirty="0" err="1"/>
              <a:t>iff</a:t>
            </a:r>
            <a:r>
              <a:rPr lang="en-US" sz="2800" dirty="0"/>
              <a:t> KB╞ α. </a:t>
            </a:r>
            <a:r>
              <a:rPr lang="en-US" sz="2800" dirty="0" err="1"/>
              <a:t>I.e</a:t>
            </a:r>
            <a:r>
              <a:rPr lang="en-US" sz="2800" dirty="0"/>
              <a:t>, it only derives </a:t>
            </a:r>
            <a:r>
              <a:rPr lang="en-US" sz="2800" b="1" dirty="0"/>
              <a:t>true sentences</a:t>
            </a:r>
            <a:r>
              <a:rPr lang="en-US" sz="2800" dirty="0"/>
              <a:t>.</a:t>
            </a:r>
            <a:endParaRPr lang="en-US" sz="2800" b="1" dirty="0">
              <a:highlight>
                <a:srgbClr val="FFFF00"/>
              </a:highlight>
            </a:endParaRPr>
          </a:p>
          <a:p>
            <a:endParaRPr lang="en-US" sz="2800" dirty="0"/>
          </a:p>
          <a:p>
            <a:r>
              <a:rPr lang="en-US" sz="2800" dirty="0"/>
              <a:t>An inference procedure is </a:t>
            </a:r>
            <a:r>
              <a:rPr lang="en-US" sz="2800" b="1" dirty="0">
                <a:solidFill>
                  <a:srgbClr val="FF0000"/>
                </a:solidFill>
              </a:rPr>
              <a:t>complete</a:t>
            </a:r>
            <a:r>
              <a:rPr lang="en-US" sz="2800" dirty="0"/>
              <a:t> if it can derive </a:t>
            </a:r>
            <a:r>
              <a:rPr lang="en-US" sz="2800" b="1" dirty="0"/>
              <a:t>all</a:t>
            </a:r>
            <a:r>
              <a:rPr lang="en-US" sz="2800" dirty="0"/>
              <a:t> α  for which </a:t>
            </a:r>
            <a:r>
              <a:rPr lang="en-US" sz="2800" i="1" dirty="0"/>
              <a:t>KB</a:t>
            </a:r>
            <a:r>
              <a:rPr lang="en-US" sz="2800" dirty="0"/>
              <a:t>╞ α</a:t>
            </a:r>
            <a:r>
              <a:rPr lang="en-US" sz="2400" dirty="0"/>
              <a:t>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How can we check whether a sentence α is entailed by KB?</a:t>
            </a:r>
          </a:p>
          <a:p>
            <a:endParaRPr lang="en-US" sz="2400" dirty="0"/>
          </a:p>
          <a:p>
            <a:r>
              <a:rPr lang="en-US" sz="2400" dirty="0"/>
              <a:t>How about we </a:t>
            </a:r>
            <a:r>
              <a:rPr lang="en-US" sz="2400" b="1" dirty="0"/>
              <a:t>enumerate all possible models of the KB</a:t>
            </a:r>
            <a:r>
              <a:rPr lang="en-US" sz="2400" dirty="0"/>
              <a:t> (truth assignments of all its symbols), and check that α is true in every model in which KB is true?</a:t>
            </a:r>
          </a:p>
          <a:p>
            <a:pPr lvl="1"/>
            <a:r>
              <a:rPr lang="en-US" sz="2400" dirty="0"/>
              <a:t>This is sound: All produced answer are correct.</a:t>
            </a:r>
          </a:p>
          <a:p>
            <a:pPr lvl="1"/>
            <a:r>
              <a:rPr lang="en-US" sz="2400" dirty="0"/>
              <a:t>This is complete: It will produce all correct answers.</a:t>
            </a:r>
          </a:p>
          <a:p>
            <a:pPr lvl="1"/>
            <a:r>
              <a:rPr lang="en-US" sz="2400" b="1" dirty="0"/>
              <a:t>Problem</a:t>
            </a:r>
            <a:r>
              <a:rPr lang="en-US" sz="2400" dirty="0"/>
              <a:t>: if KB contains </a:t>
            </a:r>
            <a:r>
              <a:rPr lang="en-US" sz="2400" i="1" dirty="0"/>
              <a:t>n</a:t>
            </a:r>
            <a:r>
              <a:rPr lang="en-US" sz="2400" dirty="0"/>
              <a:t> symbols, the truth table will be of size </a:t>
            </a:r>
            <a:r>
              <a:rPr lang="en-US" sz="2400" i="1" dirty="0"/>
              <a:t>2</a:t>
            </a:r>
            <a:r>
              <a:rPr lang="en-US" sz="2400" i="1" baseline="30000" dirty="0"/>
              <a:t>n</a:t>
            </a:r>
          </a:p>
          <a:p>
            <a:endParaRPr lang="en-US" sz="2400" dirty="0"/>
          </a:p>
          <a:p>
            <a:r>
              <a:rPr lang="en-US" sz="2400" dirty="0"/>
              <a:t>Better idea: use </a:t>
            </a:r>
            <a:r>
              <a:rPr lang="en-US" sz="2400" b="1" i="1" dirty="0"/>
              <a:t>inference rules</a:t>
            </a:r>
            <a:r>
              <a:rPr lang="en-US" sz="2400" dirty="0"/>
              <a:t>, or sound procedures to generate new sentences or </a:t>
            </a:r>
            <a:r>
              <a:rPr lang="en-US" sz="2400" i="1" dirty="0"/>
              <a:t>conclusions</a:t>
            </a:r>
            <a:r>
              <a:rPr lang="en-US" sz="2400" dirty="0"/>
              <a:t>  given the </a:t>
            </a:r>
            <a:r>
              <a:rPr lang="en-US" sz="2400" i="1" dirty="0"/>
              <a:t>premises</a:t>
            </a:r>
            <a:r>
              <a:rPr lang="en-US" sz="2400" dirty="0"/>
              <a:t> in the KB. </a:t>
            </a:r>
          </a:p>
          <a:p>
            <a:r>
              <a:rPr lang="en-US" sz="2400" dirty="0"/>
              <a:t>Look at the textbook for inference rules and resolution.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Modus Ponens</a:t>
                </a:r>
              </a:p>
              <a:p>
                <a:endParaRPr lang="en-US" dirty="0"/>
              </a:p>
              <a:p>
                <a:pPr>
                  <a:buNone/>
                </a:pP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means: If the KB contains the sentences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b="0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b="0" dirty="0"/>
                  <a:t> is true.</a:t>
                </a:r>
                <a:endParaRPr lang="en-US" dirty="0"/>
              </a:p>
              <a:p>
                <a:r>
                  <a:rPr lang="en-US" dirty="0"/>
                  <a:t>And-elimination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0747373"/>
              </p:ext>
            </p:extLst>
          </p:nvPr>
        </p:nvGraphicFramePr>
        <p:xfrm>
          <a:off x="3472296" y="2381250"/>
          <a:ext cx="1402948" cy="907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47640" imgH="419040" progId="Equation.3">
                  <p:embed/>
                </p:oleObj>
              </mc:Choice>
              <mc:Fallback>
                <p:oleObj name="Equation" r:id="rId5" imgW="64764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2296" y="2381250"/>
                        <a:ext cx="1402948" cy="9077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441479"/>
              </p:ext>
            </p:extLst>
          </p:nvPr>
        </p:nvGraphicFramePr>
        <p:xfrm>
          <a:off x="3505200" y="4876800"/>
          <a:ext cx="966147" cy="907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9040" imgH="393480" progId="Equation.3">
                  <p:embed/>
                </p:oleObj>
              </mc:Choice>
              <mc:Fallback>
                <p:oleObj name="Equation" r:id="rId7" imgW="41904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876800"/>
                        <a:ext cx="966147" cy="9077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auto">
          <a:xfrm rot="10800000">
            <a:off x="5029200" y="2667000"/>
            <a:ext cx="129540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Straight Arrow Connecto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 bwMode="auto">
          <a:xfrm rot="10800000">
            <a:off x="5029200" y="3112532"/>
            <a:ext cx="129540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553200" y="251460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premises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2895600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conclusion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And-introduction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Or-introduction</a:t>
            </a:r>
          </a:p>
        </p:txBody>
      </p:sp>
      <p:graphicFrame>
        <p:nvGraphicFramePr>
          <p:cNvPr id="5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441487"/>
              </p:ext>
            </p:extLst>
          </p:nvPr>
        </p:nvGraphicFramePr>
        <p:xfrm>
          <a:off x="3979863" y="4648200"/>
          <a:ext cx="1430337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9040" imgH="419040" progId="Equation.3">
                  <p:embed/>
                </p:oleObj>
              </mc:Choice>
              <mc:Fallback>
                <p:oleObj name="Equation" r:id="rId3" imgW="419040" imgH="4190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9863" y="4648200"/>
                        <a:ext cx="1430337" cy="1430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80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1547412"/>
              </p:ext>
            </p:extLst>
          </p:nvPr>
        </p:nvGraphicFramePr>
        <p:xfrm>
          <a:off x="3935413" y="2286000"/>
          <a:ext cx="1432258" cy="143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9040" imgH="419040" progId="Equation.3">
                  <p:embed/>
                </p:oleObj>
              </mc:Choice>
              <mc:Fallback>
                <p:oleObj name="Equation" r:id="rId5" imgW="419040" imgH="419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2286000"/>
                        <a:ext cx="1432258" cy="1430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Double negative elimination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Unit resolution</a:t>
            </a:r>
          </a:p>
        </p:txBody>
      </p:sp>
      <p:graphicFrame>
        <p:nvGraphicFramePr>
          <p:cNvPr id="4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754737"/>
              </p:ext>
            </p:extLst>
          </p:nvPr>
        </p:nvGraphicFramePr>
        <p:xfrm>
          <a:off x="3290888" y="4918075"/>
          <a:ext cx="2214562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393480" progId="Equation.3">
                  <p:embed/>
                </p:oleObj>
              </mc:Choice>
              <mc:Fallback>
                <p:oleObj name="Equation" r:id="rId3" imgW="685800" imgH="39348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4918075"/>
                        <a:ext cx="2214562" cy="127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8004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691432"/>
              </p:ext>
            </p:extLst>
          </p:nvPr>
        </p:nvGraphicFramePr>
        <p:xfrm>
          <a:off x="3665538" y="2479675"/>
          <a:ext cx="13112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6080" imgH="393480" progId="Equation.3">
                  <p:embed/>
                </p:oleObj>
              </mc:Choice>
              <mc:Fallback>
                <p:oleObj name="Equation" r:id="rId5" imgW="4060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538" y="2479675"/>
                        <a:ext cx="1311275" cy="1270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3276600"/>
            <a:ext cx="7886700" cy="2849563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pPr lvl="1">
              <a:buNone/>
            </a:pPr>
            <a:r>
              <a:rPr lang="el-GR" dirty="0">
                <a:cs typeface="Calibri" panose="020F0502020204030204" pitchFamily="34" charset="0"/>
                <a:sym typeface="Symbol"/>
              </a:rPr>
              <a:t></a:t>
            </a:r>
            <a:r>
              <a:rPr lang="en-US" dirty="0">
                <a:cs typeface="Calibri" panose="020F0502020204030204" pitchFamily="34" charset="0"/>
                <a:sym typeface="Symbol"/>
              </a:rPr>
              <a:t>: “The weather is dry”</a:t>
            </a:r>
          </a:p>
          <a:p>
            <a:pPr lvl="1">
              <a:buNone/>
            </a:pPr>
            <a:r>
              <a:rPr lang="el-GR" dirty="0">
                <a:cs typeface="Calibri" panose="020F0502020204030204" pitchFamily="34" charset="0"/>
                <a:sym typeface="Symbol"/>
              </a:rPr>
              <a:t></a:t>
            </a:r>
            <a:r>
              <a:rPr lang="en-US" dirty="0">
                <a:cs typeface="Calibri" panose="020F0502020204030204" pitchFamily="34" charset="0"/>
                <a:sym typeface="Symbol"/>
              </a:rPr>
              <a:t>: “The weather is rainy”</a:t>
            </a:r>
            <a:endParaRPr lang="en-US" dirty="0">
              <a:cs typeface="Calibri" panose="020F0502020204030204" pitchFamily="34" charset="0"/>
            </a:endParaRPr>
          </a:p>
          <a:p>
            <a:pPr lvl="1">
              <a:buNone/>
            </a:pP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γ</a:t>
            </a:r>
            <a:r>
              <a:rPr lang="en-US" dirty="0">
                <a:cs typeface="Calibri" panose="020F0502020204030204" pitchFamily="34" charset="0"/>
              </a:rPr>
              <a:t>: “I carry an umbrella”</a:t>
            </a:r>
          </a:p>
          <a:p>
            <a:pPr lvl="1">
              <a:buNone/>
            </a:pPr>
            <a:endParaRPr lang="en-US" dirty="0"/>
          </a:p>
        </p:txBody>
      </p:sp>
      <p:graphicFrame>
        <p:nvGraphicFramePr>
          <p:cNvPr id="129026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398636"/>
              </p:ext>
            </p:extLst>
          </p:nvPr>
        </p:nvGraphicFramePr>
        <p:xfrm>
          <a:off x="822325" y="1600200"/>
          <a:ext cx="295275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419040" progId="Equation.3">
                  <p:embed/>
                </p:oleObj>
              </mc:Choice>
              <mc:Fallback>
                <p:oleObj name="Equation" r:id="rId3" imgW="91440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325" y="1600200"/>
                        <a:ext cx="2952750" cy="135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027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407080"/>
              </p:ext>
            </p:extLst>
          </p:nvPr>
        </p:nvGraphicFramePr>
        <p:xfrm>
          <a:off x="5434013" y="1600200"/>
          <a:ext cx="2871787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840" imgH="419040" progId="Equation.3">
                  <p:embed/>
                </p:oleObj>
              </mc:Choice>
              <mc:Fallback>
                <p:oleObj name="Equation" r:id="rId5" imgW="888840" imgH="419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3" y="1600200"/>
                        <a:ext cx="2871787" cy="135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27525" y="1981200"/>
            <a:ext cx="5052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0" dirty="0"/>
              <a:t>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838200"/>
          </a:xfrm>
        </p:spPr>
        <p:txBody>
          <a:bodyPr/>
          <a:lstStyle/>
          <a:p>
            <a:r>
              <a:rPr lang="en-US" dirty="0"/>
              <a:t>Resolution is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3017837"/>
            <a:ext cx="8077200" cy="284956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To prove </a:t>
            </a:r>
            <a:r>
              <a:rPr lang="en-US" sz="2400" dirty="0">
                <a:solidFill>
                  <a:srgbClr val="CC0099"/>
                </a:solidFill>
              </a:rPr>
              <a:t>KB╞ α</a:t>
            </a:r>
            <a:r>
              <a:rPr lang="en-US" sz="2400" dirty="0"/>
              <a:t>, assume </a:t>
            </a:r>
            <a:r>
              <a:rPr lang="en-US" sz="2400" dirty="0">
                <a:solidFill>
                  <a:srgbClr val="CC0099"/>
                </a:solidFill>
              </a:rPr>
              <a:t>KB </a:t>
            </a:r>
            <a:r>
              <a:rPr lang="en-US" sz="2400" b="1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sz="2400" dirty="0">
                <a:solidFill>
                  <a:srgbClr val="CC0099"/>
                </a:solidFill>
              </a:rPr>
              <a:t> </a:t>
            </a:r>
            <a:r>
              <a:rPr lang="en-US" sz="2400" b="1" dirty="0">
                <a:solidFill>
                  <a:srgbClr val="CC0099"/>
                </a:solidFill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CC0099"/>
                </a:solidFill>
              </a:rPr>
              <a:t> α </a:t>
            </a:r>
            <a:r>
              <a:rPr lang="en-US" sz="2400" dirty="0"/>
              <a:t>and derive a contradiction</a:t>
            </a:r>
          </a:p>
          <a:p>
            <a:r>
              <a:rPr lang="en-US" sz="2400" dirty="0"/>
              <a:t>Rewrite </a:t>
            </a:r>
            <a:r>
              <a:rPr lang="en-US" sz="2400" dirty="0">
                <a:solidFill>
                  <a:srgbClr val="CC0099"/>
                </a:solidFill>
              </a:rPr>
              <a:t>KB </a:t>
            </a:r>
            <a:r>
              <a:rPr lang="en-US" sz="2400" b="1" dirty="0">
                <a:solidFill>
                  <a:srgbClr val="CC0099"/>
                </a:solidFill>
                <a:sym typeface="Symbol" pitchFamily="18" charset="2"/>
              </a:rPr>
              <a:t></a:t>
            </a:r>
            <a:r>
              <a:rPr lang="en-US" sz="2400" dirty="0">
                <a:solidFill>
                  <a:srgbClr val="CC0099"/>
                </a:solidFill>
              </a:rPr>
              <a:t> </a:t>
            </a:r>
            <a:r>
              <a:rPr lang="en-US" sz="2400" b="1" dirty="0">
                <a:solidFill>
                  <a:srgbClr val="CC0099"/>
                </a:solidFill>
                <a:sym typeface="Symbol" pitchFamily="18" charset="2"/>
              </a:rPr>
              <a:t></a:t>
            </a:r>
            <a:r>
              <a:rPr lang="en-US" sz="2400" dirty="0">
                <a:solidFill>
                  <a:srgbClr val="CC0099"/>
                </a:solidFill>
              </a:rPr>
              <a:t> α </a:t>
            </a:r>
            <a:r>
              <a:rPr lang="en-US" sz="2400" dirty="0"/>
              <a:t>as a conjunction of </a:t>
            </a:r>
            <a:r>
              <a:rPr lang="en-US" sz="2400" i="1" dirty="0"/>
              <a:t>clauses</a:t>
            </a:r>
            <a:r>
              <a:rPr lang="en-US" sz="2400" dirty="0"/>
              <a:t>, </a:t>
            </a:r>
            <a:br>
              <a:rPr lang="en-US" sz="2400" dirty="0"/>
            </a:br>
            <a:r>
              <a:rPr lang="en-US" sz="2400" dirty="0"/>
              <a:t>or disjunctions of </a:t>
            </a:r>
            <a:r>
              <a:rPr lang="en-US" sz="2400" i="1" dirty="0"/>
              <a:t>literals</a:t>
            </a:r>
            <a:r>
              <a:rPr lang="en-US" sz="2400" dirty="0"/>
              <a:t> </a:t>
            </a:r>
          </a:p>
          <a:p>
            <a:pPr lvl="1"/>
            <a:r>
              <a:rPr lang="en-US" sz="2000" i="1" dirty="0"/>
              <a:t>Conjunctive normal form </a:t>
            </a:r>
            <a:r>
              <a:rPr lang="en-US" sz="2000" dirty="0"/>
              <a:t>(CNF)</a:t>
            </a:r>
          </a:p>
          <a:p>
            <a:r>
              <a:rPr lang="en-US" sz="2400" dirty="0"/>
              <a:t>Keep applying resolution to clauses that contain </a:t>
            </a:r>
            <a:r>
              <a:rPr lang="en-US" sz="2400" i="1" dirty="0"/>
              <a:t>complementary literals </a:t>
            </a:r>
            <a:r>
              <a:rPr lang="en-US" sz="2400" dirty="0"/>
              <a:t>and adding resulting clauses </a:t>
            </a:r>
            <a:br>
              <a:rPr lang="en-US" sz="2400" dirty="0"/>
            </a:br>
            <a:r>
              <a:rPr lang="en-US" sz="2400" dirty="0"/>
              <a:t>to the list</a:t>
            </a:r>
          </a:p>
          <a:p>
            <a:pPr lvl="1"/>
            <a:r>
              <a:rPr lang="en-US" sz="2000" dirty="0"/>
              <a:t>If there are no new clauses to be added, then KB does not entail α</a:t>
            </a:r>
          </a:p>
          <a:p>
            <a:pPr lvl="1"/>
            <a:r>
              <a:rPr lang="en-US" sz="2000" dirty="0"/>
              <a:t>If two clauses resolve to form an </a:t>
            </a:r>
            <a:r>
              <a:rPr lang="en-US" sz="2000" i="1" dirty="0"/>
              <a:t>empty clause</a:t>
            </a:r>
            <a:r>
              <a:rPr lang="en-US" sz="2000" dirty="0"/>
              <a:t>, we have a contradiction and </a:t>
            </a:r>
            <a:r>
              <a:rPr lang="en-US" sz="2000" dirty="0">
                <a:solidFill>
                  <a:srgbClr val="CC0099"/>
                </a:solidFill>
              </a:rPr>
              <a:t>KB╞ α</a:t>
            </a:r>
          </a:p>
        </p:txBody>
      </p:sp>
      <p:graphicFrame>
        <p:nvGraphicFramePr>
          <p:cNvPr id="129026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820134"/>
              </p:ext>
            </p:extLst>
          </p:nvPr>
        </p:nvGraphicFramePr>
        <p:xfrm>
          <a:off x="3067050" y="1512887"/>
          <a:ext cx="295275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419040" progId="Equation.3">
                  <p:embed/>
                </p:oleObj>
              </mc:Choice>
              <mc:Fallback>
                <p:oleObj name="Equation" r:id="rId3" imgW="914400" imgH="419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1512887"/>
                        <a:ext cx="2952750" cy="1352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of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Propositional inference is </a:t>
            </a:r>
            <a:r>
              <a:rPr lang="en-US" b="1" i="1" dirty="0"/>
              <a:t>co-NP-complete</a:t>
            </a:r>
          </a:p>
          <a:p>
            <a:pPr lvl="1"/>
            <a:r>
              <a:rPr lang="en-US" i="1" dirty="0"/>
              <a:t>Complement </a:t>
            </a:r>
            <a:r>
              <a:rPr lang="en-US" dirty="0"/>
              <a:t>of the SAT problem: α ╞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 </a:t>
            </a:r>
            <a:r>
              <a:rPr lang="en-US" dirty="0">
                <a:cs typeface="Calibri" panose="020F0502020204030204" pitchFamily="34" charset="0"/>
              </a:rPr>
              <a:t>if and only if the sentence </a:t>
            </a:r>
            <a:r>
              <a:rPr lang="en-US" dirty="0"/>
              <a:t>α </a:t>
            </a:r>
            <a:r>
              <a:rPr lang="en-US" b="1" dirty="0">
                <a:sym typeface="Symbol" pitchFamily="18" charset="2"/>
              </a:rPr>
              <a:t></a:t>
            </a:r>
            <a:r>
              <a:rPr lang="en-US" dirty="0"/>
              <a:t> </a:t>
            </a:r>
            <a:r>
              <a:rPr lang="en-US" b="1" dirty="0">
                <a:sym typeface="Symbol" pitchFamily="18" charset="2"/>
              </a:rPr>
              <a:t>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β </a:t>
            </a:r>
            <a:r>
              <a:rPr lang="en-US" dirty="0">
                <a:cs typeface="Calibri" panose="020F0502020204030204" pitchFamily="34" charset="0"/>
              </a:rPr>
              <a:t>is </a:t>
            </a:r>
            <a:r>
              <a:rPr lang="en-US" i="1" dirty="0" err="1">
                <a:cs typeface="Calibri" panose="020F0502020204030204" pitchFamily="34" charset="0"/>
              </a:rPr>
              <a:t>unsatisfiable</a:t>
            </a:r>
            <a:endParaRPr lang="en-US" i="1" dirty="0"/>
          </a:p>
          <a:p>
            <a:pPr lvl="1"/>
            <a:r>
              <a:rPr lang="en-US" dirty="0"/>
              <a:t>Every known inference algorithm has worst-case exponential run time complexity.</a:t>
            </a:r>
          </a:p>
          <a:p>
            <a:endParaRPr lang="en-US" dirty="0"/>
          </a:p>
          <a:p>
            <a:r>
              <a:rPr lang="en-US" dirty="0"/>
              <a:t>Efficient inference is only possible for restricted cases </a:t>
            </a:r>
          </a:p>
          <a:p>
            <a:pPr lvl="1"/>
            <a:r>
              <a:rPr lang="en-US" dirty="0"/>
              <a:t>e.g., Horn clauses are disjunctions of literals with at most one positive literal.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16B1-C2AC-4FB7-A71E-01A526A0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Wumpus World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FFBE72-B33A-4C9F-A4A2-836861E97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360726"/>
            <a:ext cx="7005441" cy="3149679"/>
          </a:xfrm>
          <a:prstGeom prst="rect">
            <a:avLst/>
          </a:prstGeom>
        </p:spPr>
      </p:pic>
      <p:pic>
        <p:nvPicPr>
          <p:cNvPr id="5" name="Picture 4" descr="A figure showing the 4-by-4 wumpus world.">
            <a:extLst>
              <a:ext uri="{FF2B5EF4-FFF2-40B4-BE49-F238E27FC236}">
                <a16:creationId xmlns:a16="http://schemas.microsoft.com/office/drawing/2014/main" id="{9BF49D0A-87B7-452A-B0A8-C3B26D130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995" y="347595"/>
            <a:ext cx="2889398" cy="268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953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16B1-C2AC-4FB7-A71E-01A526A0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Wumpus World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57998B-2C70-4155-B400-75A1975571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47800"/>
                <a:ext cx="5467350" cy="47291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Initial KB </a:t>
                </a:r>
                <a:r>
                  <a:rPr lang="en-US" dirty="0"/>
                  <a:t>needs to contain rules like these for each square: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𝐵𝑟𝑒𝑒𝑧𝑒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𝑃𝑖𝑡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𝑃𝑖𝑡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2,1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𝐵𝑟𝑒𝑒𝑧𝑒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𝑃𝑖𝑡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𝑃𝑖𝑡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𝑃𝑖𝑡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2,2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Stench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⟺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2,1</m:t>
                          </m:r>
                        </m:e>
                      </m:d>
                    </m:oMath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Percepts</a:t>
                </a:r>
                <a:r>
                  <a:rPr lang="en-US" dirty="0"/>
                  <a:t> at (1,1) are no breeze or stench. Add the following facts to the KB: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𝐵𝑟𝑒𝑒𝑧𝑒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𝑆𝑡𝑒𝑛𝑐ℎ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Inference</a:t>
                </a:r>
                <a:r>
                  <a:rPr lang="en-US" dirty="0"/>
                  <a:t> will tell us that the following facts are entailed: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𝑃𝑖𝑡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(1,2)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𝑃𝑖𝑡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(2,1)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(1,2)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2,1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This means that (1,2) and (2,1) are safe.</a:t>
                </a: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57998B-2C70-4155-B400-75A1975571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47800"/>
                <a:ext cx="5467350" cy="4729163"/>
              </a:xfrm>
              <a:blipFill>
                <a:blip r:embed="rId2"/>
                <a:stretch>
                  <a:fillRect l="-1338" t="-1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D454507F-F69E-E92C-6546-001A90DE1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1676400"/>
            <a:ext cx="304800" cy="14478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F8CC8-26FA-F614-67DA-273A6D5C931B}"/>
              </a:ext>
            </a:extLst>
          </p:cNvPr>
          <p:cNvSpPr txBox="1"/>
          <p:nvPr/>
        </p:nvSpPr>
        <p:spPr>
          <a:xfrm>
            <a:off x="6628765" y="1555682"/>
            <a:ext cx="2064173" cy="17543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 have to enumerate all possible scenarios in propositional logic! First-order logic can help.</a:t>
            </a:r>
          </a:p>
        </p:txBody>
      </p:sp>
    </p:spTree>
    <p:extLst>
      <p:ext uri="{BB962C8B-B14F-4D97-AF65-F5344CB8AC3E}">
        <p14:creationId xmlns:p14="http://schemas.microsoft.com/office/powerpoint/2010/main" val="20102851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Logical agents apply </a:t>
            </a:r>
            <a:r>
              <a:rPr lang="en-US" sz="2400" dirty="0">
                <a:solidFill>
                  <a:srgbClr val="FF0000"/>
                </a:solidFill>
              </a:rPr>
              <a:t>inference</a:t>
            </a:r>
            <a:r>
              <a:rPr lang="en-US" sz="2400" dirty="0"/>
              <a:t> to a </a:t>
            </a:r>
            <a:r>
              <a:rPr lang="en-US" sz="2400" dirty="0">
                <a:solidFill>
                  <a:srgbClr val="FF0000"/>
                </a:solidFill>
              </a:rPr>
              <a:t>knowledge base </a:t>
            </a:r>
            <a:r>
              <a:rPr lang="en-US" sz="2400" dirty="0"/>
              <a:t>to derive new information and make decisions.
Basic concepts of logic: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</a:rPr>
              <a:t>syntax</a:t>
            </a:r>
            <a:r>
              <a:rPr lang="en-US" sz="2000" dirty="0"/>
              <a:t>: formal structure of sentences
</a:t>
            </a:r>
            <a:r>
              <a:rPr lang="en-US" sz="2000" dirty="0">
                <a:solidFill>
                  <a:srgbClr val="FF0000"/>
                </a:solidFill>
              </a:rPr>
              <a:t>semantics</a:t>
            </a:r>
            <a:r>
              <a:rPr lang="en-US" sz="2000" dirty="0"/>
              <a:t>: truth of sentences in models
</a:t>
            </a:r>
            <a:r>
              <a:rPr lang="en-US" sz="2000" dirty="0">
                <a:solidFill>
                  <a:srgbClr val="FF0000"/>
                </a:solidFill>
              </a:rPr>
              <a:t>entailment</a:t>
            </a:r>
            <a:r>
              <a:rPr lang="en-US" sz="2000" dirty="0"/>
              <a:t>: necessary truth of one sentence given another
</a:t>
            </a:r>
            <a:r>
              <a:rPr lang="en-US" sz="2000" dirty="0">
                <a:solidFill>
                  <a:srgbClr val="FF0000"/>
                </a:solidFill>
              </a:rPr>
              <a:t>inference</a:t>
            </a:r>
            <a:r>
              <a:rPr lang="en-US" sz="2000" dirty="0"/>
              <a:t>: deriving sentences from other sentences
</a:t>
            </a:r>
            <a:r>
              <a:rPr lang="en-US" sz="2000" dirty="0">
                <a:solidFill>
                  <a:srgbClr val="FF0000"/>
                </a:solidFill>
              </a:rPr>
              <a:t>soundness</a:t>
            </a:r>
            <a:r>
              <a:rPr lang="en-US" sz="2000" dirty="0"/>
              <a:t>: derivations produce only entailed sentences
</a:t>
            </a:r>
            <a:r>
              <a:rPr lang="en-US" sz="2000" dirty="0">
                <a:solidFill>
                  <a:srgbClr val="FF0000"/>
                </a:solidFill>
              </a:rPr>
              <a:t>completeness</a:t>
            </a:r>
            <a:r>
              <a:rPr lang="en-US" sz="2000" dirty="0"/>
              <a:t>: derivations can produce all entailed sentences</a:t>
            </a:r>
          </a:p>
          <a:p>
            <a:r>
              <a:rPr lang="en-US" sz="2400" dirty="0"/>
              <a:t>Resolution is complete for propositional logic.</a:t>
            </a:r>
          </a:p>
          <a:p>
            <a:r>
              <a:rPr lang="en-US" sz="2400" dirty="0"/>
              <a:t>Algorithms use forward, backward chaining, are linear in time, and complete for special clauses (definite clauses).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Propositional Logic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3736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Suppose you want to say “All humans are mortal”</a:t>
            </a:r>
          </a:p>
          <a:p>
            <a:pPr lvl="1"/>
            <a:r>
              <a:rPr lang="en-US" sz="2000" dirty="0"/>
              <a:t>In propositional logic, you would need ~6.7 billion statements of the form: </a:t>
            </a:r>
            <a:br>
              <a:rPr lang="en-US" sz="2000" dirty="0"/>
            </a:br>
            <a:r>
              <a:rPr lang="en-US" sz="2000" dirty="0"/>
              <a:t>		</a:t>
            </a:r>
            <a:r>
              <a:rPr lang="en-US" sz="2000" dirty="0" err="1"/>
              <a:t>Michael_Is_Human</a:t>
            </a:r>
            <a:r>
              <a:rPr lang="en-US" sz="2000" dirty="0"/>
              <a:t> and </a:t>
            </a:r>
            <a:r>
              <a:rPr lang="en-US" sz="2000" dirty="0" err="1"/>
              <a:t>Michael_Is_Mortal</a:t>
            </a:r>
            <a:r>
              <a:rPr lang="en-US" sz="2000" dirty="0"/>
              <a:t>,</a:t>
            </a:r>
          </a:p>
          <a:p>
            <a:pPr marL="342900" lvl="1" indent="0">
              <a:buNone/>
            </a:pPr>
            <a:r>
              <a:rPr lang="en-US" sz="2000" dirty="0"/>
              <a:t>		</a:t>
            </a:r>
            <a:r>
              <a:rPr lang="en-US" sz="2000" dirty="0" err="1"/>
              <a:t>Sarah_Is_Human</a:t>
            </a:r>
            <a:r>
              <a:rPr lang="en-US" sz="2000" dirty="0"/>
              <a:t> and </a:t>
            </a:r>
            <a:r>
              <a:rPr lang="en-US" sz="2000" dirty="0" err="1"/>
              <a:t>Sarah_Is_Mortal</a:t>
            </a:r>
            <a:r>
              <a:rPr lang="en-US" sz="2000" dirty="0"/>
              <a:t>, …</a:t>
            </a:r>
          </a:p>
          <a:p>
            <a:pPr marL="3429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Suppose you want to say “Some people can run a marathon”</a:t>
            </a:r>
          </a:p>
          <a:p>
            <a:pPr lvl="1"/>
            <a:r>
              <a:rPr lang="en-US" sz="2000" dirty="0"/>
              <a:t>You would need a disjunction of ~6.7 billion statements:</a:t>
            </a:r>
          </a:p>
          <a:p>
            <a:pPr marL="342900" lvl="1" indent="0">
              <a:buNone/>
            </a:pPr>
            <a:br>
              <a:rPr lang="en-US" sz="2000" dirty="0"/>
            </a:br>
            <a:r>
              <a:rPr lang="en-US" dirty="0"/>
              <a:t>		</a:t>
            </a:r>
            <a:r>
              <a:rPr lang="en-US" sz="1600" dirty="0" err="1"/>
              <a:t>Michael_Can_Run_A_Marathon</a:t>
            </a:r>
            <a:r>
              <a:rPr lang="en-US" sz="1600" dirty="0"/>
              <a:t> or … or </a:t>
            </a:r>
            <a:r>
              <a:rPr lang="en-US" sz="1600" dirty="0" err="1"/>
              <a:t>Sarah_Can_Run_A_Marathon</a:t>
            </a: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First-Order Logic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FF719B-4CDC-4E01-A12B-BDED407B9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343400"/>
            <a:ext cx="7886700" cy="18335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First-order Logic adds </a:t>
            </a:r>
            <a:r>
              <a:rPr lang="en-US" b="1" dirty="0"/>
              <a:t>objects</a:t>
            </a:r>
            <a:r>
              <a:rPr lang="en-US" dirty="0"/>
              <a:t> and </a:t>
            </a:r>
            <a:r>
              <a:rPr lang="en-US" b="1" dirty="0"/>
              <a:t>relations </a:t>
            </a:r>
            <a:r>
              <a:rPr lang="en-US" dirty="0"/>
              <a:t>to the facts of propositional logic.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addresses the issues of propositional logic, which needs to store a fact for each instance of and object individually.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6ABFD7-3370-4CE3-A3D4-94A70A5AF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24000"/>
            <a:ext cx="8382000" cy="2290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EF65A7-DD1C-47CE-BEEC-E51162873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71800" y="2590800"/>
            <a:ext cx="1447800" cy="381000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7170">
            <a:extLst>
              <a:ext uri="{FF2B5EF4-FFF2-40B4-BE49-F238E27FC236}">
                <a16:creationId xmlns:a16="http://schemas.microsoft.com/office/drawing/2014/main" id="{942E28D6-FA8B-4F49-A0EC-3617A8B46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365126"/>
            <a:ext cx="3556183" cy="2476627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of FOL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6515E-3A8F-4954-ADC1-8C4EC47B3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1603439"/>
            <a:ext cx="5414954" cy="4721162"/>
          </a:xfrm>
          <a:prstGeom prst="rect">
            <a:avLst/>
          </a:prstGeom>
        </p:spPr>
      </p:pic>
      <p:sp>
        <p:nvSpPr>
          <p:cNvPr id="7172" name="TextBox 7171">
            <a:extLst>
              <a:ext uri="{FF2B5EF4-FFF2-40B4-BE49-F238E27FC236}">
                <a16:creationId xmlns:a16="http://schemas.microsoft.com/office/drawing/2014/main" id="{4879452D-AFA8-45E6-94FC-23E19498AA4B}"/>
              </a:ext>
            </a:extLst>
          </p:cNvPr>
          <p:cNvSpPr txBox="1"/>
          <p:nvPr/>
        </p:nvSpPr>
        <p:spPr>
          <a:xfrm>
            <a:off x="5486399" y="4165506"/>
            <a:ext cx="914400" cy="37776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Objects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3EED00-17C7-45DD-BB97-076AAF4522FD}"/>
              </a:ext>
            </a:extLst>
          </p:cNvPr>
          <p:cNvSpPr txBox="1"/>
          <p:nvPr/>
        </p:nvSpPr>
        <p:spPr>
          <a:xfrm>
            <a:off x="5735454" y="4802277"/>
            <a:ext cx="2794183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Relations. Predicate is/returns True or False</a:t>
            </a:r>
          </a:p>
        </p:txBody>
      </p:sp>
      <p:cxnSp>
        <p:nvCxnSpPr>
          <p:cNvPr id="7174" name="Straight Arrow Connector 7173">
            <a:extLst>
              <a:ext uri="{FF2B5EF4-FFF2-40B4-BE49-F238E27FC236}">
                <a16:creationId xmlns:a16="http://schemas.microsoft.com/office/drawing/2014/main" id="{0375161A-2899-4102-8929-D74F6CEB4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172" idx="1"/>
          </p:cNvCxnSpPr>
          <p:nvPr/>
        </p:nvCxnSpPr>
        <p:spPr>
          <a:xfrm flipH="1">
            <a:off x="3657602" y="4354387"/>
            <a:ext cx="1828797" cy="843965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C158C6F-3C10-4C2B-9F1C-4E3BF1F7B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5226833" y="5125443"/>
            <a:ext cx="508621" cy="380008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41D5614-5370-4FBA-84F6-226AC7EED0E2}"/>
              </a:ext>
            </a:extLst>
          </p:cNvPr>
          <p:cNvSpPr txBox="1"/>
          <p:nvPr/>
        </p:nvSpPr>
        <p:spPr>
          <a:xfrm>
            <a:off x="5816417" y="5791200"/>
            <a:ext cx="2794183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returns an object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1A83F1E-550E-4B9D-A74D-E53090A1A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85" idx="1"/>
          </p:cNvCxnSpPr>
          <p:nvPr/>
        </p:nvCxnSpPr>
        <p:spPr>
          <a:xfrm flipH="1" flipV="1">
            <a:off x="3886200" y="5848043"/>
            <a:ext cx="1930217" cy="127823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Universal Quantification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/>
              <a:t>x P(x)</a:t>
            </a:r>
            <a:br>
              <a:rPr lang="en-US" sz="2400" b="1" dirty="0"/>
            </a:br>
            <a:endParaRPr lang="en-US" sz="1600" dirty="0"/>
          </a:p>
          <a:p>
            <a:r>
              <a:rPr lang="en-US" sz="2400" dirty="0"/>
              <a:t>Example: “Everyone at SMU is smart”</a:t>
            </a:r>
          </a:p>
          <a:p>
            <a:pPr lvl="1">
              <a:buNone/>
            </a:pPr>
            <a:r>
              <a:rPr lang="en-US" sz="2000" b="1" dirty="0">
                <a:sym typeface="Symbol" pitchFamily="18" charset="2"/>
              </a:rPr>
              <a:t></a:t>
            </a:r>
            <a:r>
              <a:rPr lang="en-US" sz="2000" b="1" dirty="0"/>
              <a:t>x At(</a:t>
            </a:r>
            <a:r>
              <a:rPr lang="en-US" sz="2000" b="1" dirty="0" err="1"/>
              <a:t>x,SMU</a:t>
            </a:r>
            <a:r>
              <a:rPr lang="en-US" sz="2000" b="1" dirty="0"/>
              <a:t>) </a:t>
            </a:r>
            <a:r>
              <a:rPr lang="en-US" sz="2000" b="1" dirty="0">
                <a:sym typeface="Symbol" pitchFamily="18" charset="2"/>
              </a:rPr>
              <a:t> </a:t>
            </a:r>
            <a:r>
              <a:rPr lang="en-US" sz="2000" b="1" dirty="0"/>
              <a:t>Smart(x)</a:t>
            </a:r>
          </a:p>
          <a:p>
            <a:pPr lvl="1">
              <a:buNone/>
            </a:pPr>
            <a:r>
              <a:rPr lang="en-US" sz="2000" dirty="0">
                <a:sym typeface="Symbol" pitchFamily="18" charset="2"/>
              </a:rPr>
              <a:t>Why not </a:t>
            </a:r>
            <a:r>
              <a:rPr lang="en-US" sz="2000" b="1" dirty="0">
                <a:sym typeface="Symbol" pitchFamily="18" charset="2"/>
              </a:rPr>
              <a:t></a:t>
            </a:r>
            <a:r>
              <a:rPr lang="en-US" sz="2000" b="1" dirty="0"/>
              <a:t>x At(</a:t>
            </a:r>
            <a:r>
              <a:rPr lang="en-US" sz="2000" b="1" dirty="0" err="1"/>
              <a:t>x,SMU</a:t>
            </a:r>
            <a:r>
              <a:rPr lang="en-US" sz="2000" b="1" dirty="0"/>
              <a:t>) </a:t>
            </a:r>
            <a:r>
              <a:rPr lang="en-US" sz="2000" b="1" dirty="0">
                <a:sym typeface="Symbol" pitchFamily="18" charset="2"/>
              </a:rPr>
              <a:t> </a:t>
            </a:r>
            <a:r>
              <a:rPr lang="en-US" sz="2000" b="1" dirty="0"/>
              <a:t>Smart(x)</a:t>
            </a:r>
            <a:r>
              <a:rPr lang="en-US" sz="2000" dirty="0"/>
              <a:t>?</a:t>
            </a:r>
            <a:br>
              <a:rPr lang="en-US" sz="2000" dirty="0"/>
            </a:br>
            <a:endParaRPr lang="en-US" sz="2000" dirty="0">
              <a:sym typeface="Symbol" pitchFamily="18" charset="2"/>
            </a:endParaRPr>
          </a:p>
          <a:p>
            <a:r>
              <a:rPr lang="en-US" sz="2400" dirty="0"/>
              <a:t>Roughly speaking, equivalent to the </a:t>
            </a:r>
            <a:r>
              <a:rPr lang="en-US" sz="2400" dirty="0">
                <a:solidFill>
                  <a:srgbClr val="FF0000"/>
                </a:solidFill>
              </a:rPr>
              <a:t>conjunction</a:t>
            </a:r>
            <a:r>
              <a:rPr lang="en-US" sz="2400" dirty="0"/>
              <a:t> of all possible instantiations of the variable:</a:t>
            </a:r>
          </a:p>
          <a:p>
            <a:pPr lvl="1">
              <a:buNone/>
            </a:pPr>
            <a:r>
              <a:rPr lang="en-US" sz="2000" b="1" dirty="0"/>
              <a:t>[At(John, SMU) </a:t>
            </a:r>
            <a:r>
              <a:rPr lang="en-US" sz="2000" b="1" dirty="0">
                <a:sym typeface="Symbol" pitchFamily="18" charset="2"/>
              </a:rPr>
              <a:t> </a:t>
            </a:r>
            <a:r>
              <a:rPr lang="en-US" sz="2000" b="1" dirty="0"/>
              <a:t>Smart(John)] </a:t>
            </a:r>
            <a:r>
              <a:rPr lang="en-US" sz="2000" b="1" dirty="0">
                <a:sym typeface="Symbol" pitchFamily="18" charset="2"/>
              </a:rPr>
              <a:t></a:t>
            </a:r>
            <a:r>
              <a:rPr lang="en-US" sz="2000" b="1" dirty="0"/>
              <a:t> ...</a:t>
            </a:r>
          </a:p>
          <a:p>
            <a:pPr lvl="1">
              <a:buNone/>
            </a:pPr>
            <a:r>
              <a:rPr lang="en-US" sz="2000" b="1" dirty="0"/>
              <a:t>[At(Richard, SMU) </a:t>
            </a:r>
            <a:r>
              <a:rPr lang="en-US" sz="2000" b="1" dirty="0">
                <a:sym typeface="Symbol" pitchFamily="18" charset="2"/>
              </a:rPr>
              <a:t></a:t>
            </a:r>
            <a:r>
              <a:rPr lang="en-US" sz="2000" b="1" dirty="0"/>
              <a:t>  Smart(Richard)] </a:t>
            </a:r>
            <a:r>
              <a:rPr lang="en-US" sz="2000" b="1" dirty="0">
                <a:sym typeface="Symbol" pitchFamily="18" charset="2"/>
              </a:rPr>
              <a:t></a:t>
            </a:r>
            <a:r>
              <a:rPr lang="en-US" sz="2000" b="1" dirty="0"/>
              <a:t> ...</a:t>
            </a:r>
            <a:br>
              <a:rPr lang="en-US" sz="2000" b="1" dirty="0"/>
            </a:br>
            <a:endParaRPr lang="en-US" sz="2000" b="1" dirty="0"/>
          </a:p>
          <a:p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/>
              <a:t>x P(x) </a:t>
            </a:r>
            <a:r>
              <a:rPr lang="en-US" sz="2400" dirty="0"/>
              <a:t>is true in a model m </a:t>
            </a:r>
            <a:r>
              <a:rPr lang="en-US" sz="2400" dirty="0" err="1"/>
              <a:t>iff</a:t>
            </a:r>
            <a:r>
              <a:rPr lang="en-US" sz="2400" dirty="0"/>
              <a:t> </a:t>
            </a:r>
            <a:r>
              <a:rPr lang="en-US" sz="2400" b="1" dirty="0"/>
              <a:t>P(x)</a:t>
            </a:r>
            <a:r>
              <a:rPr lang="en-US" sz="2400" dirty="0"/>
              <a:t> is true with </a:t>
            </a:r>
            <a:r>
              <a:rPr lang="en-US" sz="2400" b="1" dirty="0"/>
              <a:t>x</a:t>
            </a:r>
            <a:r>
              <a:rPr lang="en-US" sz="2400" dirty="0"/>
              <a:t> being each possible object in the model</a:t>
            </a:r>
          </a:p>
          <a:p>
            <a:pPr lvl="4"/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Existential Quantification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>
                <a:sym typeface="Symbol" pitchFamily="18" charset="2"/>
              </a:rPr>
              <a:t></a:t>
            </a:r>
            <a:r>
              <a:rPr lang="en-US" sz="2400" b="1" dirty="0"/>
              <a:t>x P(x)</a:t>
            </a:r>
          </a:p>
          <a:p>
            <a:pPr lvl="4"/>
            <a:endParaRPr lang="en-US" sz="1600" dirty="0"/>
          </a:p>
          <a:p>
            <a:r>
              <a:rPr lang="en-US" sz="2400" dirty="0"/>
              <a:t>Example: “Someone at SMU is smart”</a:t>
            </a:r>
          </a:p>
          <a:p>
            <a:pPr lvl="1">
              <a:buNone/>
            </a:pPr>
            <a:r>
              <a:rPr lang="en-US" sz="2000" b="1" dirty="0">
                <a:sym typeface="Symbol" pitchFamily="18" charset="2"/>
              </a:rPr>
              <a:t></a:t>
            </a:r>
            <a:r>
              <a:rPr lang="en-US" sz="2000" b="1" dirty="0"/>
              <a:t>x At(</a:t>
            </a:r>
            <a:r>
              <a:rPr lang="en-US" sz="2000" b="1" dirty="0" err="1"/>
              <a:t>x,SMU</a:t>
            </a:r>
            <a:r>
              <a:rPr lang="en-US" sz="2000" b="1" dirty="0"/>
              <a:t>) </a:t>
            </a:r>
            <a:r>
              <a:rPr lang="en-US" sz="2000" b="1" dirty="0">
                <a:sym typeface="Symbol" pitchFamily="18" charset="2"/>
              </a:rPr>
              <a:t></a:t>
            </a:r>
            <a:r>
              <a:rPr lang="en-US" sz="2000" b="1" dirty="0"/>
              <a:t> Smart(x)</a:t>
            </a:r>
          </a:p>
          <a:p>
            <a:pPr lvl="1">
              <a:buNone/>
            </a:pPr>
            <a:r>
              <a:rPr lang="en-US" sz="2000" dirty="0"/>
              <a:t>Why not </a:t>
            </a:r>
            <a:r>
              <a:rPr lang="en-US" sz="2000" b="1" dirty="0">
                <a:sym typeface="Symbol" pitchFamily="18" charset="2"/>
              </a:rPr>
              <a:t></a:t>
            </a:r>
            <a:r>
              <a:rPr lang="en-US" sz="2000" b="1" dirty="0"/>
              <a:t>x At(</a:t>
            </a:r>
            <a:r>
              <a:rPr lang="en-US" sz="2000" b="1" dirty="0" err="1"/>
              <a:t>x,SMU</a:t>
            </a:r>
            <a:r>
              <a:rPr lang="en-US" sz="2000" b="1" dirty="0"/>
              <a:t>) </a:t>
            </a:r>
            <a:r>
              <a:rPr lang="en-US" sz="2000" b="1" dirty="0">
                <a:sym typeface="Symbol" pitchFamily="18" charset="2"/>
              </a:rPr>
              <a:t></a:t>
            </a:r>
            <a:r>
              <a:rPr lang="en-US" sz="2000" b="1" dirty="0"/>
              <a:t> Smart(x)</a:t>
            </a:r>
            <a:r>
              <a:rPr lang="en-US" sz="2000" dirty="0"/>
              <a:t>?</a:t>
            </a:r>
          </a:p>
          <a:p>
            <a:pPr lvl="4"/>
            <a:endParaRPr lang="en-US" sz="1600" dirty="0">
              <a:sym typeface="Symbol" pitchFamily="18" charset="2"/>
            </a:endParaRPr>
          </a:p>
          <a:p>
            <a:r>
              <a:rPr lang="en-US" sz="2400" dirty="0"/>
              <a:t>Roughly speaking, equivalent to the </a:t>
            </a:r>
            <a:r>
              <a:rPr lang="en-US" sz="2400" dirty="0">
                <a:solidFill>
                  <a:srgbClr val="FF0000"/>
                </a:solidFill>
              </a:rPr>
              <a:t>disjunction</a:t>
            </a:r>
            <a:r>
              <a:rPr lang="en-US" sz="2400" dirty="0"/>
              <a:t> of all possible instantiations:</a:t>
            </a:r>
          </a:p>
          <a:p>
            <a:pPr lvl="1">
              <a:buFontTx/>
              <a:buNone/>
            </a:pPr>
            <a:r>
              <a:rPr lang="en-US" sz="2000" b="1" dirty="0"/>
              <a:t>[At(</a:t>
            </a:r>
            <a:r>
              <a:rPr lang="en-US" sz="2000" b="1" dirty="0" err="1"/>
              <a:t>John,SMU</a:t>
            </a:r>
            <a:r>
              <a:rPr lang="en-US" sz="2000" b="1" dirty="0"/>
              <a:t>) </a:t>
            </a:r>
            <a:r>
              <a:rPr lang="en-US" sz="2000" b="1" dirty="0">
                <a:sym typeface="Symbol" pitchFamily="18" charset="2"/>
              </a:rPr>
              <a:t></a:t>
            </a:r>
            <a:r>
              <a:rPr lang="en-US" sz="2000" b="1" dirty="0"/>
              <a:t> Smart(John)] </a:t>
            </a:r>
            <a:r>
              <a:rPr lang="en-US" sz="2000" b="1" dirty="0">
                <a:sym typeface="Symbol" pitchFamily="18" charset="2"/>
              </a:rPr>
              <a:t></a:t>
            </a:r>
            <a:endParaRPr lang="en-US" sz="2000" b="1" dirty="0"/>
          </a:p>
          <a:p>
            <a:pPr lvl="1">
              <a:buFontTx/>
              <a:buNone/>
            </a:pPr>
            <a:r>
              <a:rPr lang="en-US" sz="2000" b="1" dirty="0">
                <a:sym typeface="Symbol" pitchFamily="18" charset="2"/>
              </a:rPr>
              <a:t>[</a:t>
            </a:r>
            <a:r>
              <a:rPr lang="en-US" sz="2000" b="1" dirty="0"/>
              <a:t>At(</a:t>
            </a:r>
            <a:r>
              <a:rPr lang="en-US" sz="2000" b="1" dirty="0" err="1"/>
              <a:t>Richard,SMU</a:t>
            </a:r>
            <a:r>
              <a:rPr lang="en-US" sz="2000" b="1" dirty="0"/>
              <a:t>) </a:t>
            </a:r>
            <a:r>
              <a:rPr lang="en-US" sz="2000" b="1" dirty="0">
                <a:sym typeface="Symbol" pitchFamily="18" charset="2"/>
              </a:rPr>
              <a:t> </a:t>
            </a:r>
            <a:r>
              <a:rPr lang="en-US" sz="2000" b="1" dirty="0"/>
              <a:t>Smart(Richard)] </a:t>
            </a:r>
            <a:r>
              <a:rPr lang="en-US" sz="2000" b="1" dirty="0">
                <a:sym typeface="Symbol" pitchFamily="18" charset="2"/>
              </a:rPr>
              <a:t> …</a:t>
            </a:r>
            <a:r>
              <a:rPr lang="en-US" sz="2000" b="1" dirty="0"/>
              <a:t> </a:t>
            </a:r>
            <a:r>
              <a:rPr lang="en-US" sz="2000" dirty="0"/>
              <a:t>
</a:t>
            </a:r>
          </a:p>
          <a:p>
            <a:r>
              <a:rPr lang="en-US" sz="2400" b="1" dirty="0">
                <a:sym typeface="Symbol" pitchFamily="18" charset="2"/>
              </a:rPr>
              <a:t></a:t>
            </a:r>
            <a:r>
              <a:rPr lang="en-US" sz="2400" b="1" dirty="0"/>
              <a:t>x P(x) </a:t>
            </a:r>
            <a:r>
              <a:rPr lang="en-US" sz="2400" dirty="0"/>
              <a:t>is true in a model m </a:t>
            </a:r>
            <a:r>
              <a:rPr lang="en-US" sz="2400" dirty="0" err="1"/>
              <a:t>iff</a:t>
            </a:r>
            <a:r>
              <a:rPr lang="en-US" sz="2400" dirty="0"/>
              <a:t> </a:t>
            </a:r>
            <a:r>
              <a:rPr lang="en-US" sz="2400" b="1" dirty="0"/>
              <a:t>P(x)</a:t>
            </a:r>
            <a:r>
              <a:rPr lang="en-US" sz="2400" dirty="0"/>
              <a:t> is true with </a:t>
            </a:r>
            <a:r>
              <a:rPr lang="en-US" sz="2400" b="1" dirty="0"/>
              <a:t>x</a:t>
            </a:r>
            <a:r>
              <a:rPr lang="en-US" sz="2400" dirty="0"/>
              <a:t> being some possible object in the model</a:t>
            </a:r>
          </a:p>
          <a:p>
            <a:pPr lvl="4"/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of Quantifiers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>
                <a:sym typeface="Symbol" pitchFamily="18" charset="2"/>
              </a:rPr>
              <a:t>x y</a:t>
            </a:r>
            <a:r>
              <a:rPr lang="en-US" sz="2400" dirty="0"/>
              <a:t> is the same as </a:t>
            </a:r>
            <a:r>
              <a:rPr lang="en-US" sz="2400" b="1" dirty="0">
                <a:sym typeface="Symbol" pitchFamily="18" charset="2"/>
              </a:rPr>
              <a:t>y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x</a:t>
            </a:r>
            <a:endParaRPr lang="en-US" sz="2400" b="1" dirty="0"/>
          </a:p>
          <a:p>
            <a:r>
              <a:rPr lang="en-US" sz="2400" b="1" dirty="0">
                <a:sym typeface="Symbol" pitchFamily="18" charset="2"/>
              </a:rPr>
              <a:t>x y</a:t>
            </a:r>
            <a:r>
              <a:rPr lang="en-US" sz="2400" b="1" dirty="0"/>
              <a:t> </a:t>
            </a:r>
            <a:r>
              <a:rPr lang="en-US" sz="2400" dirty="0"/>
              <a:t>is the same as </a:t>
            </a:r>
            <a:r>
              <a:rPr lang="en-US" sz="2400" b="1" dirty="0">
                <a:sym typeface="Symbol" pitchFamily="18" charset="2"/>
              </a:rPr>
              <a:t>y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x</a:t>
            </a:r>
            <a:r>
              <a:rPr lang="en-US" sz="2400" b="1" dirty="0"/>
              <a:t> </a:t>
            </a:r>
            <a:endParaRPr lang="en-US" sz="2400" dirty="0"/>
          </a:p>
          <a:p>
            <a:r>
              <a:rPr lang="en-US" sz="2400" b="1" dirty="0">
                <a:sym typeface="Symbol" pitchFamily="18" charset="2"/>
              </a:rPr>
              <a:t></a:t>
            </a:r>
            <a:r>
              <a:rPr lang="en-US" sz="2400" b="1" dirty="0"/>
              <a:t>x </a:t>
            </a:r>
            <a:r>
              <a:rPr lang="en-US" sz="2400" b="1" dirty="0">
                <a:sym typeface="Symbol" pitchFamily="18" charset="2"/>
              </a:rPr>
              <a:t>y</a:t>
            </a:r>
            <a:r>
              <a:rPr lang="en-US" sz="2400" b="1" dirty="0"/>
              <a:t> </a:t>
            </a:r>
            <a:r>
              <a:rPr lang="en-US" sz="2400" dirty="0"/>
              <a:t>is not the same as </a:t>
            </a:r>
            <a:r>
              <a:rPr lang="en-US" sz="2400" b="1" dirty="0">
                <a:sym typeface="Symbol" pitchFamily="18" charset="2"/>
              </a:rPr>
              <a:t>y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x</a:t>
            </a:r>
            <a:endParaRPr lang="en-US" sz="2400" b="1" dirty="0"/>
          </a:p>
          <a:p>
            <a:pPr lvl="1">
              <a:buNone/>
            </a:pPr>
            <a:r>
              <a:rPr lang="en-US" sz="2000" b="1" dirty="0">
                <a:sym typeface="Symbol" pitchFamily="18" charset="2"/>
              </a:rPr>
              <a:t></a:t>
            </a:r>
            <a:r>
              <a:rPr lang="en-US" sz="2000" b="1" dirty="0"/>
              <a:t>x </a:t>
            </a:r>
            <a:r>
              <a:rPr lang="en-US" sz="2000" b="1" dirty="0">
                <a:sym typeface="Symbol" pitchFamily="18" charset="2"/>
              </a:rPr>
              <a:t>y</a:t>
            </a:r>
            <a:r>
              <a:rPr lang="en-US" sz="2000" b="1" dirty="0"/>
              <a:t> Loves(</a:t>
            </a:r>
            <a:r>
              <a:rPr lang="en-US" sz="2000" b="1" dirty="0" err="1"/>
              <a:t>x,y</a:t>
            </a:r>
            <a:r>
              <a:rPr lang="en-US" sz="2000" b="1" dirty="0"/>
              <a:t>)</a:t>
            </a:r>
            <a:r>
              <a:rPr lang="en-US" sz="2000" dirty="0"/>
              <a:t> </a:t>
            </a:r>
          </a:p>
          <a:p>
            <a:pPr lvl="1">
              <a:buNone/>
            </a:pPr>
            <a:r>
              <a:rPr lang="en-US" sz="2000" dirty="0"/>
              <a:t>	“There is a person who loves everyone”</a:t>
            </a:r>
          </a:p>
          <a:p>
            <a:pPr lvl="1">
              <a:buNone/>
            </a:pPr>
            <a:r>
              <a:rPr lang="en-US" sz="2000" b="1" dirty="0">
                <a:sym typeface="Symbol" pitchFamily="18" charset="2"/>
              </a:rPr>
              <a:t>y</a:t>
            </a:r>
            <a:r>
              <a:rPr lang="en-US" sz="2000" b="1" dirty="0"/>
              <a:t> </a:t>
            </a:r>
            <a:r>
              <a:rPr lang="en-US" sz="2000" b="1" dirty="0">
                <a:sym typeface="Symbol" pitchFamily="18" charset="2"/>
              </a:rPr>
              <a:t></a:t>
            </a:r>
            <a:r>
              <a:rPr lang="en-US" sz="2000" b="1" dirty="0"/>
              <a:t>x Loves(</a:t>
            </a:r>
            <a:r>
              <a:rPr lang="en-US" sz="2000" b="1" dirty="0" err="1"/>
              <a:t>x,y</a:t>
            </a:r>
            <a:r>
              <a:rPr lang="en-US" sz="2000" b="1" dirty="0"/>
              <a:t>)</a:t>
            </a:r>
            <a:endParaRPr lang="en-US" sz="2000" dirty="0"/>
          </a:p>
          <a:p>
            <a:pPr lvl="1">
              <a:buNone/>
            </a:pPr>
            <a:r>
              <a:rPr lang="en-US" sz="2000" dirty="0"/>
              <a:t>	“Everyone is loved by at least one person”</a:t>
            </a:r>
          </a:p>
          <a:p>
            <a:endParaRPr lang="en-US" sz="2400" dirty="0"/>
          </a:p>
          <a:p>
            <a:r>
              <a:rPr lang="en-US" sz="2400" b="1" dirty="0"/>
              <a:t>Quantifier duality: </a:t>
            </a:r>
            <a:r>
              <a:rPr lang="en-US" sz="2400" dirty="0"/>
              <a:t>each quantifier can be expressed using the other with the help of negation</a:t>
            </a:r>
          </a:p>
          <a:p>
            <a:pPr lvl="1">
              <a:buNone/>
            </a:pPr>
            <a:r>
              <a:rPr lang="en-US" sz="2000" b="1" dirty="0">
                <a:sym typeface="Symbol" pitchFamily="18" charset="2"/>
              </a:rPr>
              <a:t>x</a:t>
            </a:r>
            <a:r>
              <a:rPr lang="en-US" sz="2000" b="1" dirty="0"/>
              <a:t> Likes(</a:t>
            </a:r>
            <a:r>
              <a:rPr lang="en-US" sz="2000" b="1" dirty="0" err="1"/>
              <a:t>x,IceCream</a:t>
            </a:r>
            <a:r>
              <a:rPr lang="en-US" sz="2000" b="1" dirty="0"/>
              <a:t>)	</a:t>
            </a:r>
            <a:r>
              <a:rPr lang="en-US" sz="2000" b="1" dirty="0">
                <a:sym typeface="Symbol" pitchFamily="18" charset="2"/>
              </a:rPr>
              <a:t></a:t>
            </a:r>
            <a:r>
              <a:rPr lang="en-US" sz="2000" b="1" dirty="0"/>
              <a:t>x </a:t>
            </a:r>
            <a:r>
              <a:rPr lang="en-US" sz="2000" b="1" dirty="0">
                <a:sym typeface="Symbol" pitchFamily="18" charset="2"/>
              </a:rPr>
              <a:t></a:t>
            </a:r>
            <a:r>
              <a:rPr lang="en-US" sz="2000" b="1" dirty="0"/>
              <a:t>Likes(</a:t>
            </a:r>
            <a:r>
              <a:rPr lang="en-US" sz="2000" b="1" dirty="0" err="1"/>
              <a:t>x,IceCream</a:t>
            </a:r>
            <a:r>
              <a:rPr lang="en-US" sz="2000" b="1" dirty="0"/>
              <a:t>)</a:t>
            </a:r>
          </a:p>
          <a:p>
            <a:pPr lvl="1">
              <a:buNone/>
            </a:pPr>
            <a:r>
              <a:rPr lang="en-US" sz="2000" b="1" dirty="0">
                <a:sym typeface="Symbol" pitchFamily="18" charset="2"/>
              </a:rPr>
              <a:t></a:t>
            </a:r>
            <a:r>
              <a:rPr lang="en-US" sz="2000" b="1" dirty="0"/>
              <a:t>x Likes(</a:t>
            </a:r>
            <a:r>
              <a:rPr lang="en-US" sz="2000" b="1" dirty="0" err="1"/>
              <a:t>x,Broccoli</a:t>
            </a:r>
            <a:r>
              <a:rPr lang="en-US" sz="2000" b="1" dirty="0"/>
              <a:t>)</a:t>
            </a:r>
            <a:r>
              <a:rPr lang="en-US" sz="2000" b="1" dirty="0">
                <a:sym typeface="Symbol" pitchFamily="18" charset="2"/>
              </a:rPr>
              <a:t>	x</a:t>
            </a:r>
            <a:r>
              <a:rPr lang="en-US" sz="2000" b="1" dirty="0"/>
              <a:t> </a:t>
            </a:r>
            <a:r>
              <a:rPr lang="en-US" sz="2000" b="1" dirty="0">
                <a:sym typeface="Symbol" pitchFamily="18" charset="2"/>
              </a:rPr>
              <a:t></a:t>
            </a:r>
            <a:r>
              <a:rPr lang="en-US" sz="2000" b="1" dirty="0"/>
              <a:t>Likes(</a:t>
            </a:r>
            <a:r>
              <a:rPr lang="en-US" sz="2000" b="1" dirty="0" err="1"/>
              <a:t>x,Broccoli</a:t>
            </a:r>
            <a:r>
              <a:rPr lang="en-US" sz="2000" b="1" dirty="0"/>
              <a:t>)</a:t>
            </a:r>
          </a:p>
        </p:txBody>
      </p:sp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86200" y="5257800"/>
            <a:ext cx="3124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86200" y="5562600"/>
            <a:ext cx="312420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  <p:bldP spid="4" grpId="0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Equality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Term</a:t>
            </a:r>
            <a:r>
              <a:rPr lang="en-US" sz="2800" b="1" baseline="-25000" dirty="0"/>
              <a:t>1</a:t>
            </a:r>
            <a:r>
              <a:rPr lang="en-US" sz="2800" b="1" dirty="0"/>
              <a:t> = Term</a:t>
            </a:r>
            <a:r>
              <a:rPr lang="en-US" sz="2800" b="1" baseline="-25000" dirty="0"/>
              <a:t>2</a:t>
            </a:r>
            <a:r>
              <a:rPr lang="en-US" sz="2800" dirty="0"/>
              <a:t> is true under a given model if and only if </a:t>
            </a:r>
            <a:r>
              <a:rPr lang="en-US" sz="2800" b="1" dirty="0"/>
              <a:t>Term</a:t>
            </a:r>
            <a:r>
              <a:rPr lang="en-US" sz="2800" b="1" baseline="-25000" dirty="0"/>
              <a:t>1</a:t>
            </a:r>
            <a:r>
              <a:rPr lang="en-US" sz="2800" dirty="0"/>
              <a:t> and </a:t>
            </a:r>
            <a:r>
              <a:rPr lang="en-US" sz="2800" b="1" dirty="0"/>
              <a:t>Term</a:t>
            </a:r>
            <a:r>
              <a:rPr lang="en-US" sz="2800" b="1" baseline="-25000" dirty="0"/>
              <a:t>2</a:t>
            </a:r>
            <a:r>
              <a:rPr lang="en-US" sz="2800" dirty="0"/>
              <a:t> refer to the same object</a:t>
            </a:r>
          </a:p>
          <a:p>
            <a:pPr lvl="4"/>
            <a:endParaRPr lang="en-US" sz="1800" dirty="0"/>
          </a:p>
          <a:p>
            <a:r>
              <a:rPr lang="en-US" sz="2800" dirty="0"/>
              <a:t>E.g., definition of </a:t>
            </a:r>
            <a:r>
              <a:rPr lang="en-US" sz="2800" b="1" dirty="0"/>
              <a:t>Sibling</a:t>
            </a:r>
            <a:r>
              <a:rPr lang="en-US" sz="2800" dirty="0"/>
              <a:t> in terms of </a:t>
            </a:r>
            <a:r>
              <a:rPr lang="en-US" sz="2800" b="1" dirty="0"/>
              <a:t>Parent</a:t>
            </a:r>
            <a:r>
              <a:rPr lang="en-US" sz="2800" dirty="0"/>
              <a:t>:</a:t>
            </a:r>
          </a:p>
          <a:p>
            <a:pPr lvl="1">
              <a:buFontTx/>
              <a:buNone/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 err="1"/>
              <a:t>x,y</a:t>
            </a:r>
            <a:r>
              <a:rPr lang="en-US" sz="2400" b="1" dirty="0">
                <a:sym typeface="Symbol" pitchFamily="18" charset="2"/>
              </a:rPr>
              <a:t> </a:t>
            </a:r>
            <a:r>
              <a:rPr lang="en-US" sz="2400" b="1" dirty="0"/>
              <a:t>Sibling(</a:t>
            </a:r>
            <a:r>
              <a:rPr lang="en-US" sz="2400" b="1" dirty="0" err="1"/>
              <a:t>x,y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 </a:t>
            </a:r>
            <a:br>
              <a:rPr lang="en-US" sz="2400" b="1" dirty="0">
                <a:sym typeface="Symbol" pitchFamily="18" charset="2"/>
              </a:rPr>
            </a:br>
            <a:r>
              <a:rPr lang="en-US" sz="2400" b="1" dirty="0"/>
              <a:t>[</a:t>
            </a:r>
            <a:r>
              <a:rPr lang="en-US" sz="2400" b="1" dirty="0">
                <a:sym typeface="Symbol" pitchFamily="18" charset="2"/>
              </a:rPr>
              <a:t></a:t>
            </a:r>
            <a:r>
              <a:rPr lang="en-US" sz="2400" b="1" dirty="0"/>
              <a:t>(x = y) </a:t>
            </a:r>
            <a:r>
              <a:rPr lang="en-US" sz="2400" b="1" dirty="0">
                <a:sym typeface="Symbol" pitchFamily="18" charset="2"/>
              </a:rPr>
              <a:t> 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</a:t>
            </a:r>
            <a:r>
              <a:rPr lang="en-US" sz="2400" b="1" dirty="0" err="1"/>
              <a:t>m,f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</a:t>
            </a:r>
            <a:r>
              <a:rPr lang="en-US" sz="2400" b="1" dirty="0"/>
              <a:t> (m = f) </a:t>
            </a:r>
            <a:r>
              <a:rPr lang="en-US" sz="2400" b="1" dirty="0">
                <a:sym typeface="Symbol" pitchFamily="18" charset="2"/>
              </a:rPr>
              <a:t> </a:t>
            </a:r>
            <a:r>
              <a:rPr lang="en-US" sz="2400" b="1" dirty="0"/>
              <a:t>Parent(</a:t>
            </a:r>
            <a:r>
              <a:rPr lang="en-US" sz="2400" b="1" dirty="0" err="1"/>
              <a:t>m,x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 </a:t>
            </a:r>
            <a:r>
              <a:rPr lang="en-US" sz="2400" b="1" dirty="0"/>
              <a:t>Parent(</a:t>
            </a:r>
            <a:r>
              <a:rPr lang="en-US" sz="2400" b="1" dirty="0" err="1"/>
              <a:t>f,x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</a:t>
            </a:r>
            <a:r>
              <a:rPr lang="en-US" sz="2400" b="1" dirty="0"/>
              <a:t> Parent(</a:t>
            </a:r>
            <a:r>
              <a:rPr lang="en-US" sz="2400" b="1" dirty="0" err="1"/>
              <a:t>m,y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</a:t>
            </a:r>
            <a:r>
              <a:rPr lang="en-US" sz="2400" b="1" dirty="0"/>
              <a:t>  Parent(</a:t>
            </a:r>
            <a:r>
              <a:rPr lang="en-US" sz="2400" b="1" dirty="0" err="1"/>
              <a:t>f,y</a:t>
            </a:r>
            <a:r>
              <a:rPr lang="en-US" sz="2400" b="1" dirty="0"/>
              <a:t>)]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Kinship Domain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Brothers are siblings</a:t>
            </a:r>
          </a:p>
          <a:p>
            <a:pPr lvl="1">
              <a:buFontTx/>
              <a:buNone/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 err="1"/>
              <a:t>x,y</a:t>
            </a:r>
            <a:r>
              <a:rPr lang="en-US" sz="2400" b="1" dirty="0"/>
              <a:t> Brother(</a:t>
            </a:r>
            <a:r>
              <a:rPr lang="en-US" sz="2400" b="1" dirty="0" err="1"/>
              <a:t>x,y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</a:t>
            </a:r>
            <a:r>
              <a:rPr lang="en-US" sz="2400" b="1" dirty="0"/>
              <a:t> Sibling(</a:t>
            </a:r>
            <a:r>
              <a:rPr lang="en-US" sz="2400" b="1" dirty="0" err="1"/>
              <a:t>x,y</a:t>
            </a:r>
            <a:r>
              <a:rPr lang="en-US" sz="2400" b="1" dirty="0"/>
              <a:t>)</a:t>
            </a:r>
          </a:p>
          <a:p>
            <a:r>
              <a:rPr lang="en-US" sz="2800" dirty="0"/>
              <a:t>“Sibling” is symmetric</a:t>
            </a:r>
          </a:p>
          <a:p>
            <a:pPr lvl="1">
              <a:buFontTx/>
              <a:buNone/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 err="1"/>
              <a:t>x,y</a:t>
            </a:r>
            <a:r>
              <a:rPr lang="en-US" sz="2400" b="1" dirty="0"/>
              <a:t> Sibling(</a:t>
            </a:r>
            <a:r>
              <a:rPr lang="en-US" sz="2400" b="1" dirty="0" err="1"/>
              <a:t>x,y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 </a:t>
            </a:r>
            <a:r>
              <a:rPr lang="en-US" sz="2400" b="1" dirty="0"/>
              <a:t>Sibling(</a:t>
            </a:r>
            <a:r>
              <a:rPr lang="en-US" sz="2400" b="1" dirty="0" err="1"/>
              <a:t>y,x</a:t>
            </a:r>
            <a:r>
              <a:rPr lang="en-US" sz="2400" b="1" dirty="0"/>
              <a:t>)</a:t>
            </a:r>
          </a:p>
          <a:p>
            <a:r>
              <a:rPr lang="en-US" sz="2800" dirty="0"/>
              <a:t>One's mother is one's female parent</a:t>
            </a:r>
          </a:p>
          <a:p>
            <a:pPr lvl="1">
              <a:buFontTx/>
              <a:buNone/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 err="1"/>
              <a:t>m,c</a:t>
            </a:r>
            <a:r>
              <a:rPr lang="en-US" sz="2400" b="1" dirty="0"/>
              <a:t> (Mother(c) = m) </a:t>
            </a:r>
            <a:r>
              <a:rPr lang="en-US" sz="2400" b="1" dirty="0">
                <a:sym typeface="Symbol" pitchFamily="18" charset="2"/>
              </a:rPr>
              <a:t></a:t>
            </a:r>
            <a:r>
              <a:rPr lang="en-US" sz="2400" b="1" dirty="0"/>
              <a:t> (Female(m) </a:t>
            </a:r>
            <a:r>
              <a:rPr lang="en-US" sz="2400" b="1" dirty="0">
                <a:sym typeface="Symbol" pitchFamily="18" charset="2"/>
              </a:rPr>
              <a:t> </a:t>
            </a:r>
            <a:r>
              <a:rPr lang="en-US" sz="2400" b="1" dirty="0"/>
              <a:t>Parent(</a:t>
            </a:r>
            <a:r>
              <a:rPr lang="en-US" sz="2400" b="1" dirty="0" err="1"/>
              <a:t>m,c</a:t>
            </a:r>
            <a:r>
              <a:rPr lang="en-US" sz="2400" b="1" dirty="0"/>
              <a:t>))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The Set Domain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/>
              <a:t>s Set(s) </a:t>
            </a:r>
            <a:r>
              <a:rPr lang="en-US" sz="2400" b="1" dirty="0">
                <a:sym typeface="Symbol" pitchFamily="18" charset="2"/>
              </a:rPr>
              <a:t></a:t>
            </a:r>
            <a:r>
              <a:rPr lang="en-US" sz="2400" b="1" dirty="0"/>
              <a:t> (s = {}) </a:t>
            </a:r>
            <a:r>
              <a:rPr lang="en-US" sz="2400" b="1" dirty="0">
                <a:sym typeface="Symbol" pitchFamily="18" charset="2"/>
              </a:rPr>
              <a:t></a:t>
            </a:r>
            <a:r>
              <a:rPr lang="en-US" sz="2400" b="1" dirty="0"/>
              <a:t> (</a:t>
            </a:r>
            <a:r>
              <a:rPr lang="en-US" sz="2400" b="1" dirty="0">
                <a:sym typeface="Symbol" pitchFamily="18" charset="2"/>
              </a:rPr>
              <a:t></a:t>
            </a:r>
            <a:r>
              <a:rPr lang="en-US" sz="2400" b="1" dirty="0"/>
              <a:t>x,s</a:t>
            </a:r>
            <a:r>
              <a:rPr lang="en-US" sz="2400" b="1" baseline="-25000" dirty="0"/>
              <a:t>2</a:t>
            </a:r>
            <a:r>
              <a:rPr lang="en-US" sz="2400" b="1" dirty="0"/>
              <a:t> Set(s</a:t>
            </a:r>
            <a:r>
              <a:rPr lang="en-US" sz="2400" b="1" baseline="-25000" dirty="0"/>
              <a:t>2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</a:t>
            </a:r>
            <a:r>
              <a:rPr lang="en-US" sz="2400" b="1" dirty="0"/>
              <a:t> s = {x|s</a:t>
            </a:r>
            <a:r>
              <a:rPr lang="en-US" sz="2400" b="1" baseline="-25000" dirty="0"/>
              <a:t>2</a:t>
            </a:r>
            <a:r>
              <a:rPr lang="en-US" sz="2400" b="1" dirty="0"/>
              <a:t>})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</a:t>
            </a:r>
            <a:r>
              <a:rPr lang="en-US" sz="2400" b="1" dirty="0" err="1"/>
              <a:t>x,s</a:t>
            </a:r>
            <a:r>
              <a:rPr lang="en-US" sz="2400" b="1" dirty="0"/>
              <a:t> {</a:t>
            </a:r>
            <a:r>
              <a:rPr lang="en-US" sz="2400" b="1" dirty="0" err="1"/>
              <a:t>x|s</a:t>
            </a:r>
            <a:r>
              <a:rPr lang="en-US" sz="2400" b="1" dirty="0"/>
              <a:t>} = {}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 err="1"/>
              <a:t>x,s</a:t>
            </a:r>
            <a:r>
              <a:rPr lang="en-US" sz="2400" b="1" dirty="0"/>
              <a:t> 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 </a:t>
            </a:r>
            <a:r>
              <a:rPr lang="en-US" sz="2400" b="1" dirty="0">
                <a:sym typeface="Symbol" pitchFamily="18" charset="2"/>
              </a:rPr>
              <a:t></a:t>
            </a:r>
            <a:r>
              <a:rPr lang="en-US" sz="2400" b="1" dirty="0"/>
              <a:t> s = {</a:t>
            </a:r>
            <a:r>
              <a:rPr lang="en-US" sz="2400" b="1" dirty="0" err="1"/>
              <a:t>x|s</a:t>
            </a:r>
            <a:r>
              <a:rPr lang="en-US" sz="2400" b="1" dirty="0"/>
              <a:t>}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 err="1"/>
              <a:t>x,s</a:t>
            </a:r>
            <a:r>
              <a:rPr lang="en-US" sz="2400" b="1" dirty="0"/>
              <a:t> 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 </a:t>
            </a:r>
            <a:r>
              <a:rPr lang="en-US" sz="2400" b="1" dirty="0">
                <a:sym typeface="Symbol" pitchFamily="18" charset="2"/>
              </a:rPr>
              <a:t></a:t>
            </a:r>
            <a:r>
              <a:rPr lang="en-US" sz="2400" b="1" dirty="0"/>
              <a:t> [ </a:t>
            </a:r>
            <a:r>
              <a:rPr lang="en-US" sz="2400" b="1" dirty="0">
                <a:sym typeface="Symbol" pitchFamily="18" charset="2"/>
              </a:rPr>
              <a:t></a:t>
            </a:r>
            <a:r>
              <a:rPr lang="en-US" sz="2400" b="1" dirty="0"/>
              <a:t>y,s</a:t>
            </a:r>
            <a:r>
              <a:rPr lang="en-US" sz="2400" b="1" baseline="-25000" dirty="0"/>
              <a:t>2</a:t>
            </a:r>
            <a:r>
              <a:rPr lang="en-US" sz="2400" b="1" dirty="0"/>
              <a:t> (s = {y|s</a:t>
            </a:r>
            <a:r>
              <a:rPr lang="en-US" sz="2400" b="1" baseline="-25000" dirty="0"/>
              <a:t>2</a:t>
            </a:r>
            <a:r>
              <a:rPr lang="en-US" sz="2400" b="1" dirty="0"/>
              <a:t>} </a:t>
            </a:r>
            <a:r>
              <a:rPr lang="en-US" sz="2400" b="1" dirty="0">
                <a:sym typeface="Symbol" pitchFamily="18" charset="2"/>
              </a:rPr>
              <a:t> </a:t>
            </a:r>
            <a:r>
              <a:rPr lang="en-US" sz="2400" b="1" dirty="0"/>
              <a:t>(x = y </a:t>
            </a:r>
            <a:r>
              <a:rPr lang="en-US" sz="2400" b="1" dirty="0">
                <a:sym typeface="Symbol" pitchFamily="18" charset="2"/>
              </a:rPr>
              <a:t></a:t>
            </a:r>
            <a:r>
              <a:rPr lang="en-US" sz="2400" b="1" dirty="0"/>
              <a:t> 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</a:t>
            </a:r>
            <a:r>
              <a:rPr lang="en-US" sz="2400" b="1" baseline="-25000" dirty="0"/>
              <a:t>2</a:t>
            </a:r>
            <a:r>
              <a:rPr lang="en-US" sz="2400" b="1" dirty="0"/>
              <a:t>))]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/>
              <a:t>s</a:t>
            </a:r>
            <a:r>
              <a:rPr lang="en-US" sz="2400" b="1" baseline="-25000" dirty="0"/>
              <a:t>1</a:t>
            </a:r>
            <a:r>
              <a:rPr lang="en-US" sz="2400" b="1" dirty="0"/>
              <a:t>,s</a:t>
            </a:r>
            <a:r>
              <a:rPr lang="en-US" sz="2400" b="1" baseline="-25000" dirty="0"/>
              <a:t>2</a:t>
            </a:r>
            <a:r>
              <a:rPr lang="en-US" sz="2400" b="1" dirty="0"/>
              <a:t> s</a:t>
            </a:r>
            <a:r>
              <a:rPr lang="en-US" sz="2400" b="1" baseline="-25000" dirty="0"/>
              <a:t>1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</a:t>
            </a:r>
            <a:r>
              <a:rPr lang="en-US" sz="2400" b="1" dirty="0"/>
              <a:t> s</a:t>
            </a:r>
            <a:r>
              <a:rPr lang="en-US" sz="2400" b="1" baseline="-25000" dirty="0"/>
              <a:t>2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</a:t>
            </a:r>
            <a:r>
              <a:rPr lang="en-US" sz="2400" b="1" dirty="0"/>
              <a:t> (</a:t>
            </a: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/>
              <a:t>x </a:t>
            </a:r>
            <a:r>
              <a:rPr lang="en-US" sz="2400" b="1" dirty="0" err="1"/>
              <a:t>x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</a:t>
            </a:r>
            <a:r>
              <a:rPr lang="en-US" sz="2400" b="1" baseline="-25000" dirty="0"/>
              <a:t>1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</a:t>
            </a:r>
            <a:r>
              <a:rPr lang="en-US" sz="2400" b="1" dirty="0"/>
              <a:t> 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</a:t>
            </a:r>
            <a:r>
              <a:rPr lang="en-US" sz="2400" b="1" baseline="-25000" dirty="0"/>
              <a:t>2</a:t>
            </a:r>
            <a:r>
              <a:rPr lang="en-US" sz="2400" b="1" dirty="0"/>
              <a:t>)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/>
              <a:t>s</a:t>
            </a:r>
            <a:r>
              <a:rPr lang="en-US" sz="2400" b="1" baseline="-25000" dirty="0"/>
              <a:t>1</a:t>
            </a:r>
            <a:r>
              <a:rPr lang="en-US" sz="2400" b="1" dirty="0"/>
              <a:t>,s</a:t>
            </a:r>
            <a:r>
              <a:rPr lang="en-US" sz="2400" b="1" baseline="-25000" dirty="0"/>
              <a:t>2</a:t>
            </a:r>
            <a:r>
              <a:rPr lang="en-US" sz="2400" b="1" dirty="0"/>
              <a:t> (s</a:t>
            </a:r>
            <a:r>
              <a:rPr lang="en-US" sz="2400" b="1" baseline="-25000" dirty="0"/>
              <a:t>1</a:t>
            </a:r>
            <a:r>
              <a:rPr lang="en-US" sz="2400" b="1" dirty="0"/>
              <a:t> = s</a:t>
            </a:r>
            <a:r>
              <a:rPr lang="en-US" sz="2400" b="1" baseline="-25000" dirty="0"/>
              <a:t>2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</a:t>
            </a:r>
            <a:r>
              <a:rPr lang="en-US" sz="2400" b="1" dirty="0"/>
              <a:t> (s</a:t>
            </a:r>
            <a:r>
              <a:rPr lang="en-US" sz="2400" b="1" baseline="-25000" dirty="0"/>
              <a:t>1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</a:t>
            </a:r>
            <a:r>
              <a:rPr lang="en-US" sz="2400" b="1" dirty="0"/>
              <a:t> s</a:t>
            </a:r>
            <a:r>
              <a:rPr lang="en-US" sz="2400" b="1" baseline="-25000" dirty="0"/>
              <a:t>2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 </a:t>
            </a:r>
            <a:r>
              <a:rPr lang="en-US" sz="2400" b="1" dirty="0"/>
              <a:t>s</a:t>
            </a:r>
            <a:r>
              <a:rPr lang="en-US" sz="2400" b="1" baseline="-25000" dirty="0"/>
              <a:t>2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</a:t>
            </a:r>
            <a:r>
              <a:rPr lang="en-US" sz="2400" b="1" dirty="0"/>
              <a:t> s</a:t>
            </a:r>
            <a:r>
              <a:rPr lang="en-US" sz="2400" b="1" baseline="-25000" dirty="0"/>
              <a:t>1</a:t>
            </a:r>
            <a:r>
              <a:rPr lang="en-US" sz="2400" b="1" dirty="0"/>
              <a:t>)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/>
              <a:t>x,s</a:t>
            </a:r>
            <a:r>
              <a:rPr lang="en-US" sz="2400" b="1" baseline="-25000" dirty="0"/>
              <a:t>1</a:t>
            </a:r>
            <a:r>
              <a:rPr lang="en-US" sz="2400" b="1" dirty="0"/>
              <a:t>,s</a:t>
            </a:r>
            <a:r>
              <a:rPr lang="en-US" sz="2400" b="1" baseline="-25000" dirty="0"/>
              <a:t>2</a:t>
            </a:r>
            <a:r>
              <a:rPr lang="en-US" sz="2400" b="1" dirty="0"/>
              <a:t> 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(s</a:t>
            </a:r>
            <a:r>
              <a:rPr lang="en-US" sz="2400" b="1" baseline="-25000" dirty="0"/>
              <a:t>1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</a:t>
            </a:r>
            <a:r>
              <a:rPr lang="en-US" sz="2400" b="1" dirty="0"/>
              <a:t> s</a:t>
            </a:r>
            <a:r>
              <a:rPr lang="en-US" sz="2400" b="1" baseline="-25000" dirty="0"/>
              <a:t>2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 </a:t>
            </a:r>
            <a:r>
              <a:rPr lang="en-US" sz="2400" b="1" dirty="0"/>
              <a:t>(x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</a:t>
            </a:r>
            <a:r>
              <a:rPr lang="en-US" sz="2400" b="1" baseline="-25000" dirty="0"/>
              <a:t>1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</a:t>
            </a:r>
            <a:r>
              <a:rPr lang="en-US" sz="2400" b="1" dirty="0"/>
              <a:t> 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</a:t>
            </a:r>
            <a:r>
              <a:rPr lang="en-US" sz="2400" b="1" baseline="-25000" dirty="0"/>
              <a:t>2</a:t>
            </a:r>
            <a:r>
              <a:rPr lang="en-US" sz="2400" b="1" dirty="0"/>
              <a:t>)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ym typeface="Symbol" pitchFamily="18" charset="2"/>
              </a:rPr>
              <a:t></a:t>
            </a:r>
            <a:r>
              <a:rPr lang="en-US" sz="2400" b="1" dirty="0"/>
              <a:t>x,s</a:t>
            </a:r>
            <a:r>
              <a:rPr lang="en-US" sz="2400" b="1" baseline="-25000" dirty="0"/>
              <a:t>1</a:t>
            </a:r>
            <a:r>
              <a:rPr lang="en-US" sz="2400" b="1" dirty="0"/>
              <a:t>,s</a:t>
            </a:r>
            <a:r>
              <a:rPr lang="en-US" sz="2400" b="1" baseline="-25000" dirty="0"/>
              <a:t>2</a:t>
            </a:r>
            <a:r>
              <a:rPr lang="en-US" sz="2400" b="1" dirty="0"/>
              <a:t> 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(s</a:t>
            </a:r>
            <a:r>
              <a:rPr lang="en-US" sz="2400" b="1" baseline="-25000" dirty="0"/>
              <a:t>1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 </a:t>
            </a:r>
            <a:r>
              <a:rPr lang="en-US" sz="2400" b="1" dirty="0"/>
              <a:t>s</a:t>
            </a:r>
            <a:r>
              <a:rPr lang="en-US" sz="2400" b="1" baseline="-25000" dirty="0"/>
              <a:t>2</a:t>
            </a:r>
            <a:r>
              <a:rPr lang="en-US" sz="2400" b="1" dirty="0"/>
              <a:t>) </a:t>
            </a:r>
            <a:r>
              <a:rPr lang="en-US" sz="2400" b="1" dirty="0">
                <a:sym typeface="Symbol" pitchFamily="18" charset="2"/>
              </a:rPr>
              <a:t></a:t>
            </a:r>
            <a:r>
              <a:rPr lang="en-US" sz="2400" b="1" dirty="0"/>
              <a:t> (x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</a:t>
            </a:r>
            <a:r>
              <a:rPr lang="en-US" sz="2400" b="1" baseline="-25000" dirty="0"/>
              <a:t>1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</a:t>
            </a:r>
            <a:r>
              <a:rPr lang="en-US" sz="2400" b="1" dirty="0"/>
              <a:t> x </a:t>
            </a:r>
            <a:r>
              <a:rPr lang="en-US" sz="2400" b="1" dirty="0">
                <a:sym typeface="Symbol" pitchFamily="18" charset="2"/>
              </a:rPr>
              <a:t></a:t>
            </a:r>
            <a:r>
              <a:rPr lang="en-US" sz="2400" b="1" dirty="0"/>
              <a:t> s</a:t>
            </a:r>
            <a:r>
              <a:rPr lang="en-US" sz="2400" b="1" baseline="-25000" dirty="0"/>
              <a:t>2</a:t>
            </a:r>
            <a:r>
              <a:rPr lang="en-US" sz="2400" b="1" dirty="0"/>
              <a:t>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8B9A6-8D1A-43CF-A4D6-E33D41047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in FOL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00717-DC99-4B43-9738-B105168D7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Inference in FOL is complicated!</a:t>
            </a:r>
          </a:p>
          <a:p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Reduction to propositional logic </a:t>
            </a:r>
            <a:r>
              <a:rPr lang="en-US" dirty="0"/>
              <a:t>and then use propositional logic inference.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Directly do inference on FOL (or a subset like definite clauses)</a:t>
            </a:r>
          </a:p>
          <a:p>
            <a:pPr lvl="1"/>
            <a:r>
              <a:rPr lang="en-US" dirty="0"/>
              <a:t>Unification: Combine two sentences into one.</a:t>
            </a:r>
          </a:p>
          <a:p>
            <a:pPr lvl="1"/>
            <a:r>
              <a:rPr lang="en-US" dirty="0"/>
              <a:t>Forward Chaining for FOL</a:t>
            </a:r>
          </a:p>
          <a:p>
            <a:pPr lvl="1"/>
            <a:r>
              <a:rPr lang="en-US" dirty="0"/>
              <a:t>Backward Chaining for FOL</a:t>
            </a:r>
          </a:p>
          <a:p>
            <a:pPr lvl="1"/>
            <a:r>
              <a:rPr lang="en-US" dirty="0"/>
              <a:t>Logical programming (e.g., Prolog)</a:t>
            </a:r>
          </a:p>
        </p:txBody>
      </p:sp>
    </p:spTree>
    <p:extLst>
      <p:ext uri="{BB962C8B-B14F-4D97-AF65-F5344CB8AC3E}">
        <p14:creationId xmlns:p14="http://schemas.microsoft.com/office/powerpoint/2010/main" val="3078431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B769F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1476</TotalTime>
  <Words>3162</Words>
  <Application>Microsoft Office PowerPoint</Application>
  <PresentationFormat>On-screen Show (4:3)</PresentationFormat>
  <Paragraphs>379</Paragraphs>
  <Slides>52</Slides>
  <Notes>33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Symbol</vt:lpstr>
      <vt:lpstr>Office Theme</vt:lpstr>
      <vt:lpstr>Equation</vt:lpstr>
      <vt:lpstr>CS 5/7320  Artificial Intelligence   Knowledge-Based Agents AIMA Chapters 7-9</vt:lpstr>
      <vt:lpstr>Agent Types So Far</vt:lpstr>
      <vt:lpstr>Outline</vt:lpstr>
      <vt:lpstr>Reality vs. Knowledge Representation</vt:lpstr>
      <vt:lpstr>Knowledge-Based Agents</vt:lpstr>
      <vt:lpstr>Generic Knowledge-based Agent</vt:lpstr>
      <vt:lpstr>Different Languages to Represent Knowledge</vt:lpstr>
      <vt:lpstr>Knowledge-based Agents</vt:lpstr>
      <vt:lpstr>Outline</vt:lpstr>
      <vt:lpstr>Logical Agents </vt:lpstr>
      <vt:lpstr>Code example:  A Simple Prolog Knowledge Base The n-Queens Problem as a Logic Problem </vt:lpstr>
      <vt:lpstr>Outline</vt:lpstr>
      <vt:lpstr>Probabilistic Reasoning</vt:lpstr>
      <vt:lpstr>Conclusion</vt:lpstr>
      <vt:lpstr>Knowledge-Based Agents using Natural Language</vt:lpstr>
      <vt:lpstr>Outline</vt:lpstr>
      <vt:lpstr>LLMs - Large Language Models</vt:lpstr>
      <vt:lpstr>Using Natural Language for Knowledge Representation</vt:lpstr>
      <vt:lpstr>LLM as a Knowledge-Based Agents</vt:lpstr>
      <vt:lpstr>LLM as a Generic Knowledge-based Agent</vt:lpstr>
      <vt:lpstr>Code example:  Large Language Models </vt:lpstr>
      <vt:lpstr>Many Open Questions about LLMs</vt:lpstr>
      <vt:lpstr>Appendix: Logic</vt:lpstr>
      <vt:lpstr>Logic to Represent Knowledge</vt:lpstr>
      <vt:lpstr>Propositional Logic</vt:lpstr>
      <vt:lpstr>Propositional Logic:  Syntax in Backus-Naur Form</vt:lpstr>
      <vt:lpstr>Validity and Satisfiability</vt:lpstr>
      <vt:lpstr>Possible Worlds, Models and Truth Tables</vt:lpstr>
      <vt:lpstr>Propositional Logic: Semantics</vt:lpstr>
      <vt:lpstr>Logical Equivalence</vt:lpstr>
      <vt:lpstr>Entailment</vt:lpstr>
      <vt:lpstr>Inference</vt:lpstr>
      <vt:lpstr>Inference</vt:lpstr>
      <vt:lpstr>Inference Rules</vt:lpstr>
      <vt:lpstr>Inference Rules</vt:lpstr>
      <vt:lpstr>Inference Rules</vt:lpstr>
      <vt:lpstr>Resolution</vt:lpstr>
      <vt:lpstr>Resolution is Complete</vt:lpstr>
      <vt:lpstr>Complexity of Inference</vt:lpstr>
      <vt:lpstr>Example: Wumpus World</vt:lpstr>
      <vt:lpstr>Example: Wumpus World</vt:lpstr>
      <vt:lpstr>Summary</vt:lpstr>
      <vt:lpstr>Limitations of Propositional Logic</vt:lpstr>
      <vt:lpstr>First-Order Logic</vt:lpstr>
      <vt:lpstr>Syntax of FOL</vt:lpstr>
      <vt:lpstr>Universal Quantification</vt:lpstr>
      <vt:lpstr>Existential Quantification</vt:lpstr>
      <vt:lpstr>Properties of Quantifiers</vt:lpstr>
      <vt:lpstr>Equality</vt:lpstr>
      <vt:lpstr>Example: The Kinship Domain</vt:lpstr>
      <vt:lpstr>Example: The Set Domain</vt:lpstr>
      <vt:lpstr>Inference in FOL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 Artificial Intelligence   Logic</dc:title>
  <dc:creator>michael</dc:creator>
  <cp:lastModifiedBy>Hahsler, Michael</cp:lastModifiedBy>
  <cp:revision>58</cp:revision>
  <dcterms:created xsi:type="dcterms:W3CDTF">2020-10-08T15:56:48Z</dcterms:created>
  <dcterms:modified xsi:type="dcterms:W3CDTF">2026-10-23T16:31:04Z</dcterms:modified>
</cp:coreProperties>
</file>